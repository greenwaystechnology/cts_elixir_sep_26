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kick1"/>
          <p:cNvSpPr txBox="1"/>
          <p:nvPr/>
        </p:nvSpPr>
        <p:spPr>
          <a:xfrm>
            <a:off x="548640" y="86868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spc="300">
                <a:solidFill>
                  <a:srgbClr val="9B72CF"/>
                </a:solidFill>
                <a:latin typeface="Calibri"/>
              </a:rPr>
              <a:t>ELIXIR · COLLECTIONS</a:t>
            </a:r>
          </a:p>
        </p:txBody>
      </p:sp>
      <p:sp>
        <p:nvSpPr>
          <p:cNvPr id="3" name="a0ud200_t2"/>
          <p:cNvSpPr txBox="1"/>
          <p:nvPr/>
        </p:nvSpPr>
        <p:spPr>
          <a:xfrm>
            <a:off x="548640" y="1188720"/>
            <a:ext cx="521208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Collections</a:t>
            </a:r>
          </a:p>
        </p:txBody>
      </p:sp>
      <p:sp>
        <p:nvSpPr>
          <p:cNvPr id="4" name="a0fd500_sub3"/>
          <p:cNvSpPr txBox="1"/>
          <p:nvPr/>
        </p:nvSpPr>
        <p:spPr>
          <a:xfrm>
            <a:off x="548640" y="267004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Tuples, lists, keyword lists, maps and sets — how to change them, walk them, match them, and choose.</a:t>
            </a:r>
          </a:p>
        </p:txBody>
      </p:sp>
      <p:sp>
        <p:nvSpPr>
          <p:cNvPr id="5" name="a0ud800_pill4"/>
          <p:cNvSpPr/>
          <p:nvPr/>
        </p:nvSpPr>
        <p:spPr>
          <a:xfrm>
            <a:off x="548640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{ }</a:t>
            </a:r>
          </a:p>
        </p:txBody>
      </p:sp>
      <p:sp>
        <p:nvSpPr>
          <p:cNvPr id="6" name="a0ud950_pill5"/>
          <p:cNvSpPr/>
          <p:nvPr/>
        </p:nvSpPr>
        <p:spPr>
          <a:xfrm>
            <a:off x="1572768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[ ]</a:t>
            </a:r>
          </a:p>
        </p:txBody>
      </p:sp>
      <p:sp>
        <p:nvSpPr>
          <p:cNvPr id="7" name="a0ud1100_pill6"/>
          <p:cNvSpPr/>
          <p:nvPr/>
        </p:nvSpPr>
        <p:spPr>
          <a:xfrm>
            <a:off x="2596896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%{ }</a:t>
            </a:r>
          </a:p>
        </p:txBody>
      </p:sp>
      <p:sp>
        <p:nvSpPr>
          <p:cNvPr id="8" name="a0ud1250_pill7"/>
          <p:cNvSpPr/>
          <p:nvPr/>
        </p:nvSpPr>
        <p:spPr>
          <a:xfrm>
            <a:off x="3621024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MapSet</a:t>
            </a:r>
          </a:p>
        </p:txBody>
      </p:sp>
      <p:sp>
        <p:nvSpPr>
          <p:cNvPr id="9" name="a0fd1400_nt8"/>
          <p:cNvSpPr txBox="1"/>
          <p:nvPr/>
        </p:nvSpPr>
        <p:spPr>
          <a:xfrm>
            <a:off x="548640" y="395020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Session 8 · deck 2 measured what they hold; this deck, what they cost to use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ROADMAP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we cover today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097280"/>
            <a:ext cx="502920" cy="29260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097280"/>
            <a:ext cx="3931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#</a:t>
            </a:r>
          </a:p>
        </p:txBody>
      </p:sp>
      <p:sp>
        <p:nvSpPr>
          <p:cNvPr id="6" name="a1wd110_td5"/>
          <p:cNvSpPr/>
          <p:nvPr/>
        </p:nvSpPr>
        <p:spPr>
          <a:xfrm>
            <a:off x="457200" y="1389888"/>
            <a:ext cx="502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10_tdt6"/>
          <p:cNvSpPr txBox="1"/>
          <p:nvPr/>
        </p:nvSpPr>
        <p:spPr>
          <a:xfrm>
            <a:off x="530352" y="1389888"/>
            <a:ext cx="3931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01</a:t>
            </a:r>
          </a:p>
        </p:txBody>
      </p:sp>
      <p:sp>
        <p:nvSpPr>
          <p:cNvPr id="8" name="a1wd220_td7"/>
          <p:cNvSpPr/>
          <p:nvPr/>
        </p:nvSpPr>
        <p:spPr>
          <a:xfrm>
            <a:off x="457200" y="1682495"/>
            <a:ext cx="502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20_tdt8"/>
          <p:cNvSpPr txBox="1"/>
          <p:nvPr/>
        </p:nvSpPr>
        <p:spPr>
          <a:xfrm>
            <a:off x="530352" y="1682495"/>
            <a:ext cx="3931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02</a:t>
            </a:r>
          </a:p>
        </p:txBody>
      </p:sp>
      <p:sp>
        <p:nvSpPr>
          <p:cNvPr id="10" name="a1wd330_td9"/>
          <p:cNvSpPr/>
          <p:nvPr/>
        </p:nvSpPr>
        <p:spPr>
          <a:xfrm>
            <a:off x="457200" y="1975104"/>
            <a:ext cx="502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30_tdt10"/>
          <p:cNvSpPr txBox="1"/>
          <p:nvPr/>
        </p:nvSpPr>
        <p:spPr>
          <a:xfrm>
            <a:off x="530352" y="1975104"/>
            <a:ext cx="3931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03</a:t>
            </a:r>
          </a:p>
        </p:txBody>
      </p:sp>
      <p:sp>
        <p:nvSpPr>
          <p:cNvPr id="12" name="a1wd440_td11"/>
          <p:cNvSpPr/>
          <p:nvPr/>
        </p:nvSpPr>
        <p:spPr>
          <a:xfrm>
            <a:off x="457200" y="2267712"/>
            <a:ext cx="502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40_tdt12"/>
          <p:cNvSpPr txBox="1"/>
          <p:nvPr/>
        </p:nvSpPr>
        <p:spPr>
          <a:xfrm>
            <a:off x="530352" y="2267712"/>
            <a:ext cx="3931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04</a:t>
            </a:r>
          </a:p>
        </p:txBody>
      </p:sp>
      <p:sp>
        <p:nvSpPr>
          <p:cNvPr id="14" name="a1wd550_td13"/>
          <p:cNvSpPr/>
          <p:nvPr/>
        </p:nvSpPr>
        <p:spPr>
          <a:xfrm>
            <a:off x="457200" y="2560320"/>
            <a:ext cx="502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550_tdt14"/>
          <p:cNvSpPr txBox="1"/>
          <p:nvPr/>
        </p:nvSpPr>
        <p:spPr>
          <a:xfrm>
            <a:off x="530352" y="2560320"/>
            <a:ext cx="3931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05</a:t>
            </a:r>
          </a:p>
        </p:txBody>
      </p:sp>
      <p:sp>
        <p:nvSpPr>
          <p:cNvPr id="16" name="a1wd660_td15"/>
          <p:cNvSpPr/>
          <p:nvPr/>
        </p:nvSpPr>
        <p:spPr>
          <a:xfrm>
            <a:off x="457200" y="2852928"/>
            <a:ext cx="502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660_tdt16"/>
          <p:cNvSpPr txBox="1"/>
          <p:nvPr/>
        </p:nvSpPr>
        <p:spPr>
          <a:xfrm>
            <a:off x="530352" y="2852928"/>
            <a:ext cx="3931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06</a:t>
            </a:r>
          </a:p>
        </p:txBody>
      </p:sp>
      <p:sp>
        <p:nvSpPr>
          <p:cNvPr id="18" name="a1wd770_td17"/>
          <p:cNvSpPr/>
          <p:nvPr/>
        </p:nvSpPr>
        <p:spPr>
          <a:xfrm>
            <a:off x="457200" y="3145536"/>
            <a:ext cx="502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770_tdt18"/>
          <p:cNvSpPr txBox="1"/>
          <p:nvPr/>
        </p:nvSpPr>
        <p:spPr>
          <a:xfrm>
            <a:off x="530352" y="3145536"/>
            <a:ext cx="3931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07</a:t>
            </a:r>
          </a:p>
        </p:txBody>
      </p:sp>
      <p:sp>
        <p:nvSpPr>
          <p:cNvPr id="20" name="a1wd880_td19"/>
          <p:cNvSpPr/>
          <p:nvPr/>
        </p:nvSpPr>
        <p:spPr>
          <a:xfrm>
            <a:off x="457200" y="3438144"/>
            <a:ext cx="502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880_tdt20"/>
          <p:cNvSpPr txBox="1"/>
          <p:nvPr/>
        </p:nvSpPr>
        <p:spPr>
          <a:xfrm>
            <a:off x="530352" y="3438144"/>
            <a:ext cx="3931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08</a:t>
            </a:r>
          </a:p>
        </p:txBody>
      </p:sp>
      <p:sp>
        <p:nvSpPr>
          <p:cNvPr id="22" name="a1f_th21"/>
          <p:cNvSpPr/>
          <p:nvPr/>
        </p:nvSpPr>
        <p:spPr>
          <a:xfrm>
            <a:off x="960120" y="1097280"/>
            <a:ext cx="2148840" cy="29260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f_tht22"/>
          <p:cNvSpPr txBox="1"/>
          <p:nvPr/>
        </p:nvSpPr>
        <p:spPr>
          <a:xfrm>
            <a:off x="1033272" y="1097280"/>
            <a:ext cx="2039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Part</a:t>
            </a:r>
          </a:p>
        </p:txBody>
      </p:sp>
      <p:sp>
        <p:nvSpPr>
          <p:cNvPr id="24" name="a1wd110_td23"/>
          <p:cNvSpPr/>
          <p:nvPr/>
        </p:nvSpPr>
        <p:spPr>
          <a:xfrm>
            <a:off x="960120" y="1389888"/>
            <a:ext cx="2148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110_tdt24"/>
          <p:cNvSpPr txBox="1"/>
          <p:nvPr/>
        </p:nvSpPr>
        <p:spPr>
          <a:xfrm>
            <a:off x="1033272" y="1389888"/>
            <a:ext cx="2039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The landscape</a:t>
            </a:r>
          </a:p>
        </p:txBody>
      </p:sp>
      <p:sp>
        <p:nvSpPr>
          <p:cNvPr id="26" name="a1wd220_td25"/>
          <p:cNvSpPr/>
          <p:nvPr/>
        </p:nvSpPr>
        <p:spPr>
          <a:xfrm>
            <a:off x="960120" y="1682495"/>
            <a:ext cx="2148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220_tdt26"/>
          <p:cNvSpPr txBox="1"/>
          <p:nvPr/>
        </p:nvSpPr>
        <p:spPr>
          <a:xfrm>
            <a:off x="1033272" y="1682495"/>
            <a:ext cx="2039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Tuples</a:t>
            </a:r>
          </a:p>
        </p:txBody>
      </p:sp>
      <p:sp>
        <p:nvSpPr>
          <p:cNvPr id="28" name="a1wd330_td27"/>
          <p:cNvSpPr/>
          <p:nvPr/>
        </p:nvSpPr>
        <p:spPr>
          <a:xfrm>
            <a:off x="960120" y="1975104"/>
            <a:ext cx="2148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330_tdt28"/>
          <p:cNvSpPr txBox="1"/>
          <p:nvPr/>
        </p:nvSpPr>
        <p:spPr>
          <a:xfrm>
            <a:off x="1033272" y="1975104"/>
            <a:ext cx="2039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Lists &amp; keyword lists</a:t>
            </a:r>
          </a:p>
        </p:txBody>
      </p:sp>
      <p:sp>
        <p:nvSpPr>
          <p:cNvPr id="30" name="a1wd440_td29"/>
          <p:cNvSpPr/>
          <p:nvPr/>
        </p:nvSpPr>
        <p:spPr>
          <a:xfrm>
            <a:off x="960120" y="2267712"/>
            <a:ext cx="2148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440_tdt30"/>
          <p:cNvSpPr txBox="1"/>
          <p:nvPr/>
        </p:nvSpPr>
        <p:spPr>
          <a:xfrm>
            <a:off x="1033272" y="2267712"/>
            <a:ext cx="2039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Maps &amp; structs</a:t>
            </a:r>
          </a:p>
        </p:txBody>
      </p:sp>
      <p:sp>
        <p:nvSpPr>
          <p:cNvPr id="32" name="a1wd550_td31"/>
          <p:cNvSpPr/>
          <p:nvPr/>
        </p:nvSpPr>
        <p:spPr>
          <a:xfrm>
            <a:off x="960120" y="2560320"/>
            <a:ext cx="2148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550_tdt32"/>
          <p:cNvSpPr txBox="1"/>
          <p:nvPr/>
        </p:nvSpPr>
        <p:spPr>
          <a:xfrm>
            <a:off x="1033272" y="2560320"/>
            <a:ext cx="2039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Sets, ranges, nesting</a:t>
            </a:r>
          </a:p>
        </p:txBody>
      </p:sp>
      <p:sp>
        <p:nvSpPr>
          <p:cNvPr id="34" name="a1wd660_td33"/>
          <p:cNvSpPr/>
          <p:nvPr/>
        </p:nvSpPr>
        <p:spPr>
          <a:xfrm>
            <a:off x="960120" y="2852928"/>
            <a:ext cx="2148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660_tdt34"/>
          <p:cNvSpPr txBox="1"/>
          <p:nvPr/>
        </p:nvSpPr>
        <p:spPr>
          <a:xfrm>
            <a:off x="1033272" y="2852928"/>
            <a:ext cx="2039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Iterating</a:t>
            </a:r>
          </a:p>
        </p:txBody>
      </p:sp>
      <p:sp>
        <p:nvSpPr>
          <p:cNvPr id="36" name="a1wd770_td35"/>
          <p:cNvSpPr/>
          <p:nvPr/>
        </p:nvSpPr>
        <p:spPr>
          <a:xfrm>
            <a:off x="960120" y="3145536"/>
            <a:ext cx="2148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770_tdt36"/>
          <p:cNvSpPr txBox="1"/>
          <p:nvPr/>
        </p:nvSpPr>
        <p:spPr>
          <a:xfrm>
            <a:off x="1033272" y="3145536"/>
            <a:ext cx="2039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Pattern matching</a:t>
            </a:r>
          </a:p>
        </p:txBody>
      </p:sp>
      <p:sp>
        <p:nvSpPr>
          <p:cNvPr id="38" name="a1wd880_td37"/>
          <p:cNvSpPr/>
          <p:nvPr/>
        </p:nvSpPr>
        <p:spPr>
          <a:xfrm>
            <a:off x="960120" y="3438144"/>
            <a:ext cx="2148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880_tdt38"/>
          <p:cNvSpPr txBox="1"/>
          <p:nvPr/>
        </p:nvSpPr>
        <p:spPr>
          <a:xfrm>
            <a:off x="1033272" y="3438144"/>
            <a:ext cx="2039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Choosing</a:t>
            </a:r>
          </a:p>
        </p:txBody>
      </p:sp>
      <p:sp>
        <p:nvSpPr>
          <p:cNvPr id="40" name="a1f_th39"/>
          <p:cNvSpPr/>
          <p:nvPr/>
        </p:nvSpPr>
        <p:spPr>
          <a:xfrm>
            <a:off x="3108960" y="1097280"/>
            <a:ext cx="3657600" cy="29260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f_tht40"/>
          <p:cNvSpPr txBox="1"/>
          <p:nvPr/>
        </p:nvSpPr>
        <p:spPr>
          <a:xfrm>
            <a:off x="3182112" y="1097280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What it answers</a:t>
            </a:r>
          </a:p>
        </p:txBody>
      </p:sp>
      <p:sp>
        <p:nvSpPr>
          <p:cNvPr id="42" name="a1wd110_td41"/>
          <p:cNvSpPr/>
          <p:nvPr/>
        </p:nvSpPr>
        <p:spPr>
          <a:xfrm>
            <a:off x="3108960" y="1389888"/>
            <a:ext cx="3657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110_tdt42"/>
          <p:cNvSpPr txBox="1"/>
          <p:nvPr/>
        </p:nvSpPr>
        <p:spPr>
          <a:xfrm>
            <a:off x="3182112" y="1389888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What does "update" mean when nothing can change?</a:t>
            </a:r>
          </a:p>
        </p:txBody>
      </p:sp>
      <p:sp>
        <p:nvSpPr>
          <p:cNvPr id="44" name="a1wd220_td43"/>
          <p:cNvSpPr/>
          <p:nvPr/>
        </p:nvSpPr>
        <p:spPr>
          <a:xfrm>
            <a:off x="3108960" y="1682495"/>
            <a:ext cx="3657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220_tdt44"/>
          <p:cNvSpPr txBox="1"/>
          <p:nvPr/>
        </p:nvSpPr>
        <p:spPr>
          <a:xfrm>
            <a:off x="3182112" y="1682495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When is a fixed shape the right answer?</a:t>
            </a:r>
          </a:p>
        </p:txBody>
      </p:sp>
      <p:sp>
        <p:nvSpPr>
          <p:cNvPr id="46" name="a1wd330_td45"/>
          <p:cNvSpPr/>
          <p:nvPr/>
        </p:nvSpPr>
        <p:spPr>
          <a:xfrm>
            <a:off x="3108960" y="1975104"/>
            <a:ext cx="3657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330_tdt46"/>
          <p:cNvSpPr txBox="1"/>
          <p:nvPr/>
        </p:nvSpPr>
        <p:spPr>
          <a:xfrm>
            <a:off x="3182112" y="1975104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Why is the front free and the back expensive?</a:t>
            </a:r>
          </a:p>
        </p:txBody>
      </p:sp>
      <p:sp>
        <p:nvSpPr>
          <p:cNvPr id="48" name="a1wd440_td47"/>
          <p:cNvSpPr/>
          <p:nvPr/>
        </p:nvSpPr>
        <p:spPr>
          <a:xfrm>
            <a:off x="3108960" y="2267712"/>
            <a:ext cx="3657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440_tdt48"/>
          <p:cNvSpPr txBox="1"/>
          <p:nvPr/>
        </p:nvSpPr>
        <p:spPr>
          <a:xfrm>
            <a:off x="3182112" y="2267712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How do you read, add, update and remove by key?</a:t>
            </a:r>
          </a:p>
        </p:txBody>
      </p:sp>
      <p:sp>
        <p:nvSpPr>
          <p:cNvPr id="50" name="a1wd550_td49"/>
          <p:cNvSpPr/>
          <p:nvPr/>
        </p:nvSpPr>
        <p:spPr>
          <a:xfrm>
            <a:off x="3108960" y="2560320"/>
            <a:ext cx="3657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550_tdt50"/>
          <p:cNvSpPr txBox="1"/>
          <p:nvPr/>
        </p:nvSpPr>
        <p:spPr>
          <a:xfrm>
            <a:off x="3182112" y="2560320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How do you dedupe, count, and reach three levels down?</a:t>
            </a:r>
          </a:p>
        </p:txBody>
      </p:sp>
      <p:sp>
        <p:nvSpPr>
          <p:cNvPr id="52" name="a1wd660_td51"/>
          <p:cNvSpPr/>
          <p:nvPr/>
        </p:nvSpPr>
        <p:spPr>
          <a:xfrm>
            <a:off x="3108960" y="2852928"/>
            <a:ext cx="3657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wd660_tdt52"/>
          <p:cNvSpPr txBox="1"/>
          <p:nvPr/>
        </p:nvSpPr>
        <p:spPr>
          <a:xfrm>
            <a:off x="3182112" y="2852928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How do you walk any collection?</a:t>
            </a:r>
          </a:p>
        </p:txBody>
      </p:sp>
      <p:sp>
        <p:nvSpPr>
          <p:cNvPr id="54" name="a1wd770_td53"/>
          <p:cNvSpPr/>
          <p:nvPr/>
        </p:nvSpPr>
        <p:spPr>
          <a:xfrm>
            <a:off x="3108960" y="3145536"/>
            <a:ext cx="3657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770_tdt54"/>
          <p:cNvSpPr txBox="1"/>
          <p:nvPr/>
        </p:nvSpPr>
        <p:spPr>
          <a:xfrm>
            <a:off x="3182112" y="3145536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How do you take a collection apart?</a:t>
            </a:r>
          </a:p>
        </p:txBody>
      </p:sp>
      <p:sp>
        <p:nvSpPr>
          <p:cNvPr id="56" name="a1wd880_td55"/>
          <p:cNvSpPr/>
          <p:nvPr/>
        </p:nvSpPr>
        <p:spPr>
          <a:xfrm>
            <a:off x="3108960" y="3438144"/>
            <a:ext cx="3657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880_tdt56"/>
          <p:cNvSpPr txBox="1"/>
          <p:nvPr/>
        </p:nvSpPr>
        <p:spPr>
          <a:xfrm>
            <a:off x="3182112" y="3438144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Which one, for this job — measured?</a:t>
            </a:r>
          </a:p>
        </p:txBody>
      </p:sp>
      <p:sp>
        <p:nvSpPr>
          <p:cNvPr id="58" name="a1f_th57"/>
          <p:cNvSpPr/>
          <p:nvPr/>
        </p:nvSpPr>
        <p:spPr>
          <a:xfrm>
            <a:off x="6766560" y="1097280"/>
            <a:ext cx="1920240" cy="29260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1f_tht58"/>
          <p:cNvSpPr txBox="1"/>
          <p:nvPr/>
        </p:nvSpPr>
        <p:spPr>
          <a:xfrm>
            <a:off x="6839712" y="109728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Keywords</a:t>
            </a:r>
          </a:p>
        </p:txBody>
      </p:sp>
      <p:sp>
        <p:nvSpPr>
          <p:cNvPr id="60" name="a1wd110_td59"/>
          <p:cNvSpPr/>
          <p:nvPr/>
        </p:nvSpPr>
        <p:spPr>
          <a:xfrm>
            <a:off x="6766560" y="1389888"/>
            <a:ext cx="1920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1wd110_tdt60"/>
          <p:cNvSpPr txBox="1"/>
          <p:nvPr/>
        </p:nvSpPr>
        <p:spPr>
          <a:xfrm>
            <a:off x="6839712" y="1389888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immutable CRUD</a:t>
            </a:r>
          </a:p>
        </p:txBody>
      </p:sp>
      <p:sp>
        <p:nvSpPr>
          <p:cNvPr id="62" name="a1wd220_td61"/>
          <p:cNvSpPr/>
          <p:nvPr/>
        </p:nvSpPr>
        <p:spPr>
          <a:xfrm>
            <a:off x="6766560" y="1682495"/>
            <a:ext cx="1920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1wd220_tdt62"/>
          <p:cNvSpPr txBox="1"/>
          <p:nvPr/>
        </p:nvSpPr>
        <p:spPr>
          <a:xfrm>
            <a:off x="6839712" y="1682495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elem put_elem</a:t>
            </a:r>
          </a:p>
        </p:txBody>
      </p:sp>
      <p:sp>
        <p:nvSpPr>
          <p:cNvPr id="64" name="a1wd330_td63"/>
          <p:cNvSpPr/>
          <p:nvPr/>
        </p:nvSpPr>
        <p:spPr>
          <a:xfrm>
            <a:off x="6766560" y="1975104"/>
            <a:ext cx="1920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1wd330_tdt64"/>
          <p:cNvSpPr txBox="1"/>
          <p:nvPr/>
        </p:nvSpPr>
        <p:spPr>
          <a:xfrm>
            <a:off x="6839712" y="1975104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[h | t] ++ opts</a:t>
            </a:r>
          </a:p>
        </p:txBody>
      </p:sp>
      <p:sp>
        <p:nvSpPr>
          <p:cNvPr id="66" name="a1wd440_td65"/>
          <p:cNvSpPr/>
          <p:nvPr/>
        </p:nvSpPr>
        <p:spPr>
          <a:xfrm>
            <a:off x="6766560" y="2267712"/>
            <a:ext cx="1920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a1wd440_tdt66"/>
          <p:cNvSpPr txBox="1"/>
          <p:nvPr/>
        </p:nvSpPr>
        <p:spPr>
          <a:xfrm>
            <a:off x="6839712" y="2267712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%{m | k: v}</a:t>
            </a:r>
          </a:p>
        </p:txBody>
      </p:sp>
      <p:sp>
        <p:nvSpPr>
          <p:cNvPr id="68" name="a1wd550_td67"/>
          <p:cNvSpPr/>
          <p:nvPr/>
        </p:nvSpPr>
        <p:spPr>
          <a:xfrm>
            <a:off x="6766560" y="2560320"/>
            <a:ext cx="1920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a1wd550_tdt68"/>
          <p:cNvSpPr txBox="1"/>
          <p:nvPr/>
        </p:nvSpPr>
        <p:spPr>
          <a:xfrm>
            <a:off x="6839712" y="256032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MapSet put_in</a:t>
            </a:r>
          </a:p>
        </p:txBody>
      </p:sp>
      <p:sp>
        <p:nvSpPr>
          <p:cNvPr id="70" name="a1wd660_td69"/>
          <p:cNvSpPr/>
          <p:nvPr/>
        </p:nvSpPr>
        <p:spPr>
          <a:xfrm>
            <a:off x="6766560" y="2852928"/>
            <a:ext cx="1920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a1wd660_tdt70"/>
          <p:cNvSpPr txBox="1"/>
          <p:nvPr/>
        </p:nvSpPr>
        <p:spPr>
          <a:xfrm>
            <a:off x="6839712" y="2852928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Enum for Stream</a:t>
            </a:r>
          </a:p>
        </p:txBody>
      </p:sp>
      <p:sp>
        <p:nvSpPr>
          <p:cNvPr id="72" name="a1wd770_td71"/>
          <p:cNvSpPr/>
          <p:nvPr/>
        </p:nvSpPr>
        <p:spPr>
          <a:xfrm>
            <a:off x="6766560" y="3145536"/>
            <a:ext cx="1920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a1wd770_tdt72"/>
          <p:cNvSpPr txBox="1"/>
          <p:nvPr/>
        </p:nvSpPr>
        <p:spPr>
          <a:xfrm>
            <a:off x="6839712" y="3145536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[h | t] %{^k =&gt; v}</a:t>
            </a:r>
          </a:p>
        </p:txBody>
      </p:sp>
      <p:sp>
        <p:nvSpPr>
          <p:cNvPr id="74" name="a1wd880_td73"/>
          <p:cNvSpPr/>
          <p:nvPr/>
        </p:nvSpPr>
        <p:spPr>
          <a:xfrm>
            <a:off x="6766560" y="3438144"/>
            <a:ext cx="1920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a1wd880_tdt74"/>
          <p:cNvSpPr txBox="1"/>
          <p:nvPr/>
        </p:nvSpPr>
        <p:spPr>
          <a:xfrm>
            <a:off x="6839712" y="3438144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O(1) O(n)</a:t>
            </a:r>
          </a:p>
        </p:txBody>
      </p:sp>
      <p:sp>
        <p:nvSpPr>
          <p:cNvPr id="76" name="a2f_nb75"/>
          <p:cNvSpPr/>
          <p:nvPr/>
        </p:nvSpPr>
        <p:spPr>
          <a:xfrm>
            <a:off x="457200" y="387705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a2f_nacc76"/>
          <p:cNvSpPr/>
          <p:nvPr/>
        </p:nvSpPr>
        <p:spPr>
          <a:xfrm>
            <a:off x="457200" y="3877056"/>
            <a:ext cx="50292" cy="56692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a2f_nt77"/>
          <p:cNvSpPr txBox="1"/>
          <p:nvPr/>
        </p:nvSpPr>
        <p:spPr>
          <a:xfrm>
            <a:off x="658368" y="3877056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Every collection in Elixir is immutable. So the question is never "how do I change this list?" — it is "what does it cost to make the next one?" That cost is different for each shape, and it is what should decide which shape you pick.</a:t>
            </a:r>
          </a:p>
        </p:txBody>
      </p:sp>
      <p:sp>
        <p:nvSpPr>
          <p:cNvPr id="79" name="ft7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80" name="ft7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01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The landscape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Seven shapes of data, all immutable.
An update is a new value sharing the old.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immutable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structural sharing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one CRUD table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THE LANDSCAPE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Seven collections, one page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Deck 2 measured how much each one holds. Today: how you reach into it, and what it is for.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25880"/>
            <a:ext cx="1143000" cy="30632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tht5"/>
          <p:cNvSpPr txBox="1"/>
          <p:nvPr/>
        </p:nvSpPr>
        <p:spPr>
          <a:xfrm>
            <a:off x="530352" y="1325880"/>
            <a:ext cx="103327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Collection</a:t>
            </a:r>
          </a:p>
        </p:txBody>
      </p:sp>
      <p:sp>
        <p:nvSpPr>
          <p:cNvPr id="7" name="a1wd100_td6"/>
          <p:cNvSpPr/>
          <p:nvPr/>
        </p:nvSpPr>
        <p:spPr>
          <a:xfrm>
            <a:off x="457200" y="1632204"/>
            <a:ext cx="11430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d100_tdt7"/>
          <p:cNvSpPr txBox="1"/>
          <p:nvPr/>
        </p:nvSpPr>
        <p:spPr>
          <a:xfrm>
            <a:off x="530352" y="1632204"/>
            <a:ext cx="103327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Tuple</a:t>
            </a:r>
          </a:p>
        </p:txBody>
      </p:sp>
      <p:sp>
        <p:nvSpPr>
          <p:cNvPr id="9" name="a1wd200_td8"/>
          <p:cNvSpPr/>
          <p:nvPr/>
        </p:nvSpPr>
        <p:spPr>
          <a:xfrm>
            <a:off x="457200" y="1938528"/>
            <a:ext cx="11430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wd200_tdt9"/>
          <p:cNvSpPr txBox="1"/>
          <p:nvPr/>
        </p:nvSpPr>
        <p:spPr>
          <a:xfrm>
            <a:off x="530352" y="1938528"/>
            <a:ext cx="103327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List</a:t>
            </a:r>
          </a:p>
        </p:txBody>
      </p:sp>
      <p:sp>
        <p:nvSpPr>
          <p:cNvPr id="11" name="a1wd300_td10"/>
          <p:cNvSpPr/>
          <p:nvPr/>
        </p:nvSpPr>
        <p:spPr>
          <a:xfrm>
            <a:off x="457200" y="2244852"/>
            <a:ext cx="11430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wd300_tdt11"/>
          <p:cNvSpPr txBox="1"/>
          <p:nvPr/>
        </p:nvSpPr>
        <p:spPr>
          <a:xfrm>
            <a:off x="530352" y="2244852"/>
            <a:ext cx="103327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Keyword list</a:t>
            </a:r>
          </a:p>
        </p:txBody>
      </p:sp>
      <p:sp>
        <p:nvSpPr>
          <p:cNvPr id="13" name="a1wd400_td12"/>
          <p:cNvSpPr/>
          <p:nvPr/>
        </p:nvSpPr>
        <p:spPr>
          <a:xfrm>
            <a:off x="457200" y="2551176"/>
            <a:ext cx="11430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400_tdt13"/>
          <p:cNvSpPr txBox="1"/>
          <p:nvPr/>
        </p:nvSpPr>
        <p:spPr>
          <a:xfrm>
            <a:off x="530352" y="2551176"/>
            <a:ext cx="103327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Map</a:t>
            </a:r>
          </a:p>
        </p:txBody>
      </p:sp>
      <p:sp>
        <p:nvSpPr>
          <p:cNvPr id="15" name="a1wd500_td14"/>
          <p:cNvSpPr/>
          <p:nvPr/>
        </p:nvSpPr>
        <p:spPr>
          <a:xfrm>
            <a:off x="457200" y="2857500"/>
            <a:ext cx="11430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500_tdt15"/>
          <p:cNvSpPr txBox="1"/>
          <p:nvPr/>
        </p:nvSpPr>
        <p:spPr>
          <a:xfrm>
            <a:off x="530352" y="2857500"/>
            <a:ext cx="103327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Struct</a:t>
            </a:r>
          </a:p>
        </p:txBody>
      </p:sp>
      <p:sp>
        <p:nvSpPr>
          <p:cNvPr id="17" name="a1wd600_td16"/>
          <p:cNvSpPr/>
          <p:nvPr/>
        </p:nvSpPr>
        <p:spPr>
          <a:xfrm>
            <a:off x="457200" y="3163824"/>
            <a:ext cx="11430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600_tdt17"/>
          <p:cNvSpPr txBox="1"/>
          <p:nvPr/>
        </p:nvSpPr>
        <p:spPr>
          <a:xfrm>
            <a:off x="530352" y="3163824"/>
            <a:ext cx="103327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MapSet</a:t>
            </a:r>
          </a:p>
        </p:txBody>
      </p:sp>
      <p:sp>
        <p:nvSpPr>
          <p:cNvPr id="19" name="a1wd700_td18"/>
          <p:cNvSpPr/>
          <p:nvPr/>
        </p:nvSpPr>
        <p:spPr>
          <a:xfrm>
            <a:off x="457200" y="3470148"/>
            <a:ext cx="11430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wd700_tdt19"/>
          <p:cNvSpPr txBox="1"/>
          <p:nvPr/>
        </p:nvSpPr>
        <p:spPr>
          <a:xfrm>
            <a:off x="530352" y="3470148"/>
            <a:ext cx="103327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Range</a:t>
            </a:r>
          </a:p>
        </p:txBody>
      </p:sp>
      <p:sp>
        <p:nvSpPr>
          <p:cNvPr id="21" name="a1f_th20"/>
          <p:cNvSpPr/>
          <p:nvPr/>
        </p:nvSpPr>
        <p:spPr>
          <a:xfrm>
            <a:off x="1600200" y="1325880"/>
            <a:ext cx="1463040" cy="30632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f_tht21"/>
          <p:cNvSpPr txBox="1"/>
          <p:nvPr/>
        </p:nvSpPr>
        <p:spPr>
          <a:xfrm>
            <a:off x="1673352" y="1325880"/>
            <a:ext cx="13533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Literal</a:t>
            </a:r>
          </a:p>
        </p:txBody>
      </p:sp>
      <p:sp>
        <p:nvSpPr>
          <p:cNvPr id="23" name="a1wd100_td22"/>
          <p:cNvSpPr/>
          <p:nvPr/>
        </p:nvSpPr>
        <p:spPr>
          <a:xfrm>
            <a:off x="1600200" y="1632204"/>
            <a:ext cx="14630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wd100_tdt23"/>
          <p:cNvSpPr txBox="1"/>
          <p:nvPr/>
        </p:nvSpPr>
        <p:spPr>
          <a:xfrm>
            <a:off x="1673352" y="1632204"/>
            <a:ext cx="13533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{:ok, 42}</a:t>
            </a:r>
          </a:p>
        </p:txBody>
      </p:sp>
      <p:sp>
        <p:nvSpPr>
          <p:cNvPr id="25" name="a1wd200_td24"/>
          <p:cNvSpPr/>
          <p:nvPr/>
        </p:nvSpPr>
        <p:spPr>
          <a:xfrm>
            <a:off x="1600200" y="1938528"/>
            <a:ext cx="14630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wd200_tdt25"/>
          <p:cNvSpPr txBox="1"/>
          <p:nvPr/>
        </p:nvSpPr>
        <p:spPr>
          <a:xfrm>
            <a:off x="1673352" y="1938528"/>
            <a:ext cx="13533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[1, 2, 3]</a:t>
            </a:r>
          </a:p>
        </p:txBody>
      </p:sp>
      <p:sp>
        <p:nvSpPr>
          <p:cNvPr id="27" name="a1wd300_td26"/>
          <p:cNvSpPr/>
          <p:nvPr/>
        </p:nvSpPr>
        <p:spPr>
          <a:xfrm>
            <a:off x="1600200" y="2244852"/>
            <a:ext cx="14630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300_tdt27"/>
          <p:cNvSpPr txBox="1"/>
          <p:nvPr/>
        </p:nvSpPr>
        <p:spPr>
          <a:xfrm>
            <a:off x="1673352" y="2244852"/>
            <a:ext cx="13533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[retries: 3]</a:t>
            </a:r>
          </a:p>
        </p:txBody>
      </p:sp>
      <p:sp>
        <p:nvSpPr>
          <p:cNvPr id="29" name="a1wd400_td28"/>
          <p:cNvSpPr/>
          <p:nvPr/>
        </p:nvSpPr>
        <p:spPr>
          <a:xfrm>
            <a:off x="1600200" y="2551176"/>
            <a:ext cx="14630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wd400_tdt29"/>
          <p:cNvSpPr txBox="1"/>
          <p:nvPr/>
        </p:nvSpPr>
        <p:spPr>
          <a:xfrm>
            <a:off x="1673352" y="2551176"/>
            <a:ext cx="13533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%{id: 1}</a:t>
            </a:r>
          </a:p>
        </p:txBody>
      </p:sp>
      <p:sp>
        <p:nvSpPr>
          <p:cNvPr id="31" name="a1wd500_td30"/>
          <p:cNvSpPr/>
          <p:nvPr/>
        </p:nvSpPr>
        <p:spPr>
          <a:xfrm>
            <a:off x="1600200" y="2857500"/>
            <a:ext cx="14630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500_tdt31"/>
          <p:cNvSpPr txBox="1"/>
          <p:nvPr/>
        </p:nvSpPr>
        <p:spPr>
          <a:xfrm>
            <a:off x="1673352" y="2857500"/>
            <a:ext cx="13533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%Account{}</a:t>
            </a:r>
          </a:p>
        </p:txBody>
      </p:sp>
      <p:sp>
        <p:nvSpPr>
          <p:cNvPr id="33" name="a1wd600_td32"/>
          <p:cNvSpPr/>
          <p:nvPr/>
        </p:nvSpPr>
        <p:spPr>
          <a:xfrm>
            <a:off x="1600200" y="3163824"/>
            <a:ext cx="14630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wd600_tdt33"/>
          <p:cNvSpPr txBox="1"/>
          <p:nvPr/>
        </p:nvSpPr>
        <p:spPr>
          <a:xfrm>
            <a:off x="1673352" y="3163824"/>
            <a:ext cx="13533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MapSet.new([1])</a:t>
            </a:r>
          </a:p>
        </p:txBody>
      </p:sp>
      <p:sp>
        <p:nvSpPr>
          <p:cNvPr id="35" name="a1wd700_td34"/>
          <p:cNvSpPr/>
          <p:nvPr/>
        </p:nvSpPr>
        <p:spPr>
          <a:xfrm>
            <a:off x="1600200" y="3470148"/>
            <a:ext cx="14630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1wd700_tdt35"/>
          <p:cNvSpPr txBox="1"/>
          <p:nvPr/>
        </p:nvSpPr>
        <p:spPr>
          <a:xfrm>
            <a:off x="1673352" y="3470148"/>
            <a:ext cx="13533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1..10//2</a:t>
            </a:r>
          </a:p>
        </p:txBody>
      </p:sp>
      <p:sp>
        <p:nvSpPr>
          <p:cNvPr id="37" name="a1f_th36"/>
          <p:cNvSpPr/>
          <p:nvPr/>
        </p:nvSpPr>
        <p:spPr>
          <a:xfrm>
            <a:off x="3063240" y="1325880"/>
            <a:ext cx="1874519" cy="30632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1f_tht37"/>
          <p:cNvSpPr txBox="1"/>
          <p:nvPr/>
        </p:nvSpPr>
        <p:spPr>
          <a:xfrm>
            <a:off x="3136392" y="1325880"/>
            <a:ext cx="176479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Built as</a:t>
            </a:r>
          </a:p>
        </p:txBody>
      </p:sp>
      <p:sp>
        <p:nvSpPr>
          <p:cNvPr id="39" name="a1wd100_td38"/>
          <p:cNvSpPr/>
          <p:nvPr/>
        </p:nvSpPr>
        <p:spPr>
          <a:xfrm>
            <a:off x="3063240" y="1632204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1wd100_tdt39"/>
          <p:cNvSpPr txBox="1"/>
          <p:nvPr/>
        </p:nvSpPr>
        <p:spPr>
          <a:xfrm>
            <a:off x="3136392" y="1632204"/>
            <a:ext cx="176479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one contiguous block</a:t>
            </a:r>
          </a:p>
        </p:txBody>
      </p:sp>
      <p:sp>
        <p:nvSpPr>
          <p:cNvPr id="41" name="a1wd200_td40"/>
          <p:cNvSpPr/>
          <p:nvPr/>
        </p:nvSpPr>
        <p:spPr>
          <a:xfrm>
            <a:off x="3063240" y="1938528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1wd200_tdt41"/>
          <p:cNvSpPr txBox="1"/>
          <p:nvPr/>
        </p:nvSpPr>
        <p:spPr>
          <a:xfrm>
            <a:off x="3136392" y="1938528"/>
            <a:ext cx="176479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linked cells, 2 words each</a:t>
            </a:r>
          </a:p>
        </p:txBody>
      </p:sp>
      <p:sp>
        <p:nvSpPr>
          <p:cNvPr id="43" name="a1wd300_td42"/>
          <p:cNvSpPr/>
          <p:nvPr/>
        </p:nvSpPr>
        <p:spPr>
          <a:xfrm>
            <a:off x="3063240" y="2244852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1wd300_tdt43"/>
          <p:cNvSpPr txBox="1"/>
          <p:nvPr/>
        </p:nvSpPr>
        <p:spPr>
          <a:xfrm>
            <a:off x="3136392" y="2244852"/>
            <a:ext cx="176479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list of {atom, value}</a:t>
            </a:r>
          </a:p>
        </p:txBody>
      </p:sp>
      <p:sp>
        <p:nvSpPr>
          <p:cNvPr id="45" name="a1wd400_td44"/>
          <p:cNvSpPr/>
          <p:nvPr/>
        </p:nvSpPr>
        <p:spPr>
          <a:xfrm>
            <a:off x="3063240" y="2551176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1wd400_tdt45"/>
          <p:cNvSpPr txBox="1"/>
          <p:nvPr/>
        </p:nvSpPr>
        <p:spPr>
          <a:xfrm>
            <a:off x="3136392" y="2551176"/>
            <a:ext cx="176479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flat to 32 keys, then a tree</a:t>
            </a:r>
          </a:p>
        </p:txBody>
      </p:sp>
      <p:sp>
        <p:nvSpPr>
          <p:cNvPr id="47" name="a1wd500_td46"/>
          <p:cNvSpPr/>
          <p:nvPr/>
        </p:nvSpPr>
        <p:spPr>
          <a:xfrm>
            <a:off x="3063240" y="2857500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1wd500_tdt47"/>
          <p:cNvSpPr txBox="1"/>
          <p:nvPr/>
        </p:nvSpPr>
        <p:spPr>
          <a:xfrm>
            <a:off x="3136392" y="2857500"/>
            <a:ext cx="176479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map + __struct__</a:t>
            </a:r>
          </a:p>
        </p:txBody>
      </p:sp>
      <p:sp>
        <p:nvSpPr>
          <p:cNvPr id="49" name="a1wd600_td48"/>
          <p:cNvSpPr/>
          <p:nvPr/>
        </p:nvSpPr>
        <p:spPr>
          <a:xfrm>
            <a:off x="3063240" y="3163824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1wd600_tdt49"/>
          <p:cNvSpPr txBox="1"/>
          <p:nvPr/>
        </p:nvSpPr>
        <p:spPr>
          <a:xfrm>
            <a:off x="3136392" y="3163824"/>
            <a:ext cx="176479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map of its members</a:t>
            </a:r>
          </a:p>
        </p:txBody>
      </p:sp>
      <p:sp>
        <p:nvSpPr>
          <p:cNvPr id="51" name="a1wd700_td50"/>
          <p:cNvSpPr/>
          <p:nvPr/>
        </p:nvSpPr>
        <p:spPr>
          <a:xfrm>
            <a:off x="3063240" y="3470148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1wd700_tdt51"/>
          <p:cNvSpPr txBox="1"/>
          <p:nvPr/>
        </p:nvSpPr>
        <p:spPr>
          <a:xfrm>
            <a:off x="3136392" y="3470148"/>
            <a:ext cx="176479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three integers</a:t>
            </a:r>
          </a:p>
        </p:txBody>
      </p:sp>
      <p:sp>
        <p:nvSpPr>
          <p:cNvPr id="53" name="a1f_th52"/>
          <p:cNvSpPr/>
          <p:nvPr/>
        </p:nvSpPr>
        <p:spPr>
          <a:xfrm>
            <a:off x="4937760" y="1325880"/>
            <a:ext cx="1691640" cy="30632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1f_tht53"/>
          <p:cNvSpPr txBox="1"/>
          <p:nvPr/>
        </p:nvSpPr>
        <p:spPr>
          <a:xfrm>
            <a:off x="5010912" y="1325880"/>
            <a:ext cx="15819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Reach an element by</a:t>
            </a:r>
          </a:p>
        </p:txBody>
      </p:sp>
      <p:sp>
        <p:nvSpPr>
          <p:cNvPr id="55" name="a1wd100_td54"/>
          <p:cNvSpPr/>
          <p:nvPr/>
        </p:nvSpPr>
        <p:spPr>
          <a:xfrm>
            <a:off x="4937760" y="1632204"/>
            <a:ext cx="16916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a1wd100_tdt55"/>
          <p:cNvSpPr txBox="1"/>
          <p:nvPr/>
        </p:nvSpPr>
        <p:spPr>
          <a:xfrm>
            <a:off x="5010912" y="1632204"/>
            <a:ext cx="15819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position — O(1)</a:t>
            </a:r>
          </a:p>
        </p:txBody>
      </p:sp>
      <p:sp>
        <p:nvSpPr>
          <p:cNvPr id="57" name="a1wd200_td56"/>
          <p:cNvSpPr/>
          <p:nvPr/>
        </p:nvSpPr>
        <p:spPr>
          <a:xfrm>
            <a:off x="4937760" y="1938528"/>
            <a:ext cx="16916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a1wd200_tdt57"/>
          <p:cNvSpPr txBox="1"/>
          <p:nvPr/>
        </p:nvSpPr>
        <p:spPr>
          <a:xfrm>
            <a:off x="5010912" y="1938528"/>
            <a:ext cx="15819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walking — O(n)</a:t>
            </a:r>
          </a:p>
        </p:txBody>
      </p:sp>
      <p:sp>
        <p:nvSpPr>
          <p:cNvPr id="59" name="a1wd300_td58"/>
          <p:cNvSpPr/>
          <p:nvPr/>
        </p:nvSpPr>
        <p:spPr>
          <a:xfrm>
            <a:off x="4937760" y="2244852"/>
            <a:ext cx="16916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a1wd300_tdt59"/>
          <p:cNvSpPr txBox="1"/>
          <p:nvPr/>
        </p:nvSpPr>
        <p:spPr>
          <a:xfrm>
            <a:off x="5010912" y="2244852"/>
            <a:ext cx="15819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walking — O(n)</a:t>
            </a:r>
          </a:p>
        </p:txBody>
      </p:sp>
      <p:sp>
        <p:nvSpPr>
          <p:cNvPr id="61" name="a1wd400_td60"/>
          <p:cNvSpPr/>
          <p:nvPr/>
        </p:nvSpPr>
        <p:spPr>
          <a:xfrm>
            <a:off x="4937760" y="2551176"/>
            <a:ext cx="16916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a1wd400_tdt61"/>
          <p:cNvSpPr txBox="1"/>
          <p:nvPr/>
        </p:nvSpPr>
        <p:spPr>
          <a:xfrm>
            <a:off x="5010912" y="2551176"/>
            <a:ext cx="15819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key — near O(1)</a:t>
            </a:r>
          </a:p>
        </p:txBody>
      </p:sp>
      <p:sp>
        <p:nvSpPr>
          <p:cNvPr id="63" name="a1wd500_td62"/>
          <p:cNvSpPr/>
          <p:nvPr/>
        </p:nvSpPr>
        <p:spPr>
          <a:xfrm>
            <a:off x="4937760" y="2857500"/>
            <a:ext cx="16916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a1wd500_tdt63"/>
          <p:cNvSpPr txBox="1"/>
          <p:nvPr/>
        </p:nvSpPr>
        <p:spPr>
          <a:xfrm>
            <a:off x="5010912" y="2857500"/>
            <a:ext cx="15819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field — a.balance</a:t>
            </a:r>
          </a:p>
        </p:txBody>
      </p:sp>
      <p:sp>
        <p:nvSpPr>
          <p:cNvPr id="65" name="a1wd600_td64"/>
          <p:cNvSpPr/>
          <p:nvPr/>
        </p:nvSpPr>
        <p:spPr>
          <a:xfrm>
            <a:off x="4937760" y="3163824"/>
            <a:ext cx="16916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a1wd600_tdt65"/>
          <p:cNvSpPr txBox="1"/>
          <p:nvPr/>
        </p:nvSpPr>
        <p:spPr>
          <a:xfrm>
            <a:off x="5010912" y="3163824"/>
            <a:ext cx="15819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membership</a:t>
            </a:r>
          </a:p>
        </p:txBody>
      </p:sp>
      <p:sp>
        <p:nvSpPr>
          <p:cNvPr id="67" name="a1wd700_td66"/>
          <p:cNvSpPr/>
          <p:nvPr/>
        </p:nvSpPr>
        <p:spPr>
          <a:xfrm>
            <a:off x="4937760" y="3470148"/>
            <a:ext cx="16916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a1wd700_tdt67"/>
          <p:cNvSpPr txBox="1"/>
          <p:nvPr/>
        </p:nvSpPr>
        <p:spPr>
          <a:xfrm>
            <a:off x="5010912" y="3470148"/>
            <a:ext cx="15819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computed, not stored</a:t>
            </a:r>
          </a:p>
        </p:txBody>
      </p:sp>
      <p:sp>
        <p:nvSpPr>
          <p:cNvPr id="69" name="a1f_th68"/>
          <p:cNvSpPr/>
          <p:nvPr/>
        </p:nvSpPr>
        <p:spPr>
          <a:xfrm>
            <a:off x="6629400" y="1325880"/>
            <a:ext cx="2057400" cy="30632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a1f_tht69"/>
          <p:cNvSpPr txBox="1"/>
          <p:nvPr/>
        </p:nvSpPr>
        <p:spPr>
          <a:xfrm>
            <a:off x="6702552" y="1325880"/>
            <a:ext cx="19476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Use it for</a:t>
            </a:r>
          </a:p>
        </p:txBody>
      </p:sp>
      <p:sp>
        <p:nvSpPr>
          <p:cNvPr id="71" name="a1wd100_td70"/>
          <p:cNvSpPr/>
          <p:nvPr/>
        </p:nvSpPr>
        <p:spPr>
          <a:xfrm>
            <a:off x="6629400" y="1632204"/>
            <a:ext cx="20574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a1wd100_tdt71"/>
          <p:cNvSpPr txBox="1"/>
          <p:nvPr/>
        </p:nvSpPr>
        <p:spPr>
          <a:xfrm>
            <a:off x="6702552" y="1632204"/>
            <a:ext cx="19476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fixed shape: {:ok, v}</a:t>
            </a:r>
          </a:p>
        </p:txBody>
      </p:sp>
      <p:sp>
        <p:nvSpPr>
          <p:cNvPr id="73" name="a1wd200_td72"/>
          <p:cNvSpPr/>
          <p:nvPr/>
        </p:nvSpPr>
        <p:spPr>
          <a:xfrm>
            <a:off x="6629400" y="1938528"/>
            <a:ext cx="20574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a1wd200_tdt73"/>
          <p:cNvSpPr txBox="1"/>
          <p:nvPr/>
        </p:nvSpPr>
        <p:spPr>
          <a:xfrm>
            <a:off x="6702552" y="1938528"/>
            <a:ext cx="19476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sequences you walk in order</a:t>
            </a:r>
          </a:p>
        </p:txBody>
      </p:sp>
      <p:sp>
        <p:nvSpPr>
          <p:cNvPr id="75" name="a1wd300_td74"/>
          <p:cNvSpPr/>
          <p:nvPr/>
        </p:nvSpPr>
        <p:spPr>
          <a:xfrm>
            <a:off x="6629400" y="2244852"/>
            <a:ext cx="20574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a1wd300_tdt75"/>
          <p:cNvSpPr txBox="1"/>
          <p:nvPr/>
        </p:nvSpPr>
        <p:spPr>
          <a:xfrm>
            <a:off x="6702552" y="2244852"/>
            <a:ext cx="19476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options: ordered, keys repeat</a:t>
            </a:r>
          </a:p>
        </p:txBody>
      </p:sp>
      <p:sp>
        <p:nvSpPr>
          <p:cNvPr id="77" name="a1wd400_td76"/>
          <p:cNvSpPr/>
          <p:nvPr/>
        </p:nvSpPr>
        <p:spPr>
          <a:xfrm>
            <a:off x="6629400" y="2551176"/>
            <a:ext cx="20574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a1wd400_tdt77"/>
          <p:cNvSpPr txBox="1"/>
          <p:nvPr/>
        </p:nvSpPr>
        <p:spPr>
          <a:xfrm>
            <a:off x="6702552" y="2551176"/>
            <a:ext cx="19476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lookup by key; records</a:t>
            </a:r>
          </a:p>
        </p:txBody>
      </p:sp>
      <p:sp>
        <p:nvSpPr>
          <p:cNvPr id="79" name="a1wd500_td78"/>
          <p:cNvSpPr/>
          <p:nvPr/>
        </p:nvSpPr>
        <p:spPr>
          <a:xfrm>
            <a:off x="6629400" y="2857500"/>
            <a:ext cx="20574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a1wd500_tdt79"/>
          <p:cNvSpPr txBox="1"/>
          <p:nvPr/>
        </p:nvSpPr>
        <p:spPr>
          <a:xfrm>
            <a:off x="6702552" y="2857500"/>
            <a:ext cx="19476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record with known fields</a:t>
            </a:r>
          </a:p>
        </p:txBody>
      </p:sp>
      <p:sp>
        <p:nvSpPr>
          <p:cNvPr id="81" name="a1wd600_td80"/>
          <p:cNvSpPr/>
          <p:nvPr/>
        </p:nvSpPr>
        <p:spPr>
          <a:xfrm>
            <a:off x="6629400" y="3163824"/>
            <a:ext cx="20574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a1wd600_tdt81"/>
          <p:cNvSpPr txBox="1"/>
          <p:nvPr/>
        </p:nvSpPr>
        <p:spPr>
          <a:xfrm>
            <a:off x="6702552" y="3163824"/>
            <a:ext cx="19476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unique values, set algebra</a:t>
            </a:r>
          </a:p>
        </p:txBody>
      </p:sp>
      <p:sp>
        <p:nvSpPr>
          <p:cNvPr id="83" name="a1wd700_td82"/>
          <p:cNvSpPr/>
          <p:nvPr/>
        </p:nvSpPr>
        <p:spPr>
          <a:xfrm>
            <a:off x="6629400" y="3470148"/>
            <a:ext cx="20574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a1wd700_tdt83"/>
          <p:cNvSpPr txBox="1"/>
          <p:nvPr/>
        </p:nvSpPr>
        <p:spPr>
          <a:xfrm>
            <a:off x="6702552" y="3470148"/>
            <a:ext cx="19476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integer sequences</a:t>
            </a:r>
          </a:p>
        </p:txBody>
      </p:sp>
      <p:sp>
        <p:nvSpPr>
          <p:cNvPr id="85" name="a2f_nb84"/>
          <p:cNvSpPr/>
          <p:nvPr/>
        </p:nvSpPr>
        <p:spPr>
          <a:xfrm>
            <a:off x="457200" y="3904487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a2f_nacc85"/>
          <p:cNvSpPr/>
          <p:nvPr/>
        </p:nvSpPr>
        <p:spPr>
          <a:xfrm>
            <a:off x="457200" y="3904487"/>
            <a:ext cx="50292" cy="512064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a2f_nt86"/>
          <p:cNvSpPr txBox="1"/>
          <p:nvPr/>
        </p:nvSpPr>
        <p:spPr>
          <a:xfrm>
            <a:off x="658368" y="3904487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i  </a:t>
            </a:r>
            <a:r>
              <a:rPr sz="1150" b="0">
                <a:solidFill>
                  <a:srgbClr val="334155"/>
                </a:solidFill>
                <a:latin typeface="Calibri"/>
              </a:rPr>
              <a:t>Four of these are really two. A keyword list is a list; a struct and a MapSet are maps. They inherit their parent's costs — which is why the list and the map get most of today.</a:t>
            </a:r>
          </a:p>
        </p:txBody>
      </p:sp>
      <p:sp>
        <p:nvSpPr>
          <p:cNvPr id="88" name="ft8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89" name="ft8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THE LANDSCAPE · IMMUTABLE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An update returns a new collection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old one is untouched — and the new one reuses as much of it as it can.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160520" cy="2514600"/>
          </a:xfrm>
          <a:prstGeom prst="roundRect">
            <a:avLst>
              <a:gd name="adj" fmla="val 290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probe_collections.exs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list  = [1, 2, 3]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56816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list2 = [0 | list]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30552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list    #=&gt; [1, 2, 3]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304288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list2   #=&gt; [0, 1, 2, 3]</a:t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478024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651760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map = %{a: 1}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825496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Map.put(map, :b, 2)  #=&gt; %{a: 1, b: 2}</a:t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2999232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map                  #=&gt; %{a: 1}</a:t>
            </a:r>
          </a:p>
        </p:txBody>
      </p:sp>
      <p:sp>
        <p:nvSpPr>
          <p:cNvPr id="15" name="a1wd480_code14"/>
          <p:cNvSpPr txBox="1"/>
          <p:nvPr/>
        </p:nvSpPr>
        <p:spPr>
          <a:xfrm>
            <a:off x="621792" y="3172968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6" name="a1wd540_code15"/>
          <p:cNvSpPr txBox="1"/>
          <p:nvPr/>
        </p:nvSpPr>
        <p:spPr>
          <a:xfrm>
            <a:off x="621792" y="3346704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:erts_debug.same(tl(list2), list)</a:t>
            </a:r>
          </a:p>
        </p:txBody>
      </p:sp>
      <p:sp>
        <p:nvSpPr>
          <p:cNvPr id="17" name="a1wd600_code16"/>
          <p:cNvSpPr txBox="1"/>
          <p:nvPr/>
        </p:nvSpPr>
        <p:spPr>
          <a:xfrm>
            <a:off x="621792" y="3520439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true — the SAME cells, not a copy</a:t>
            </a:r>
          </a:p>
        </p:txBody>
      </p:sp>
      <p:sp>
        <p:nvSpPr>
          <p:cNvPr id="18" name="a2f_tl17"/>
          <p:cNvSpPr txBox="1"/>
          <p:nvPr/>
        </p:nvSpPr>
        <p:spPr>
          <a:xfrm>
            <a:off x="4800600" y="1344168"/>
            <a:ext cx="3886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4B275F"/>
                </a:solidFill>
                <a:latin typeface="Calibri"/>
              </a:rPr>
              <a:t>REAL · :erts_debug.size/1 on {old, new}</a:t>
            </a:r>
          </a:p>
        </p:txBody>
      </p:sp>
      <p:sp>
        <p:nvSpPr>
          <p:cNvPr id="19" name="a2f_th18"/>
          <p:cNvSpPr/>
          <p:nvPr/>
        </p:nvSpPr>
        <p:spPr>
          <a:xfrm>
            <a:off x="4800600" y="1618488"/>
            <a:ext cx="2148840" cy="2926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f_tht19"/>
          <p:cNvSpPr txBox="1"/>
          <p:nvPr/>
        </p:nvSpPr>
        <p:spPr>
          <a:xfrm>
            <a:off x="4873752" y="1618488"/>
            <a:ext cx="2039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Update, 1,000 elements</a:t>
            </a:r>
          </a:p>
        </p:txBody>
      </p:sp>
      <p:sp>
        <p:nvSpPr>
          <p:cNvPr id="21" name="a2wd120_td20"/>
          <p:cNvSpPr/>
          <p:nvPr/>
        </p:nvSpPr>
        <p:spPr>
          <a:xfrm>
            <a:off x="4800600" y="1911095"/>
            <a:ext cx="2148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2wd120_tdt21"/>
          <p:cNvSpPr txBox="1"/>
          <p:nvPr/>
        </p:nvSpPr>
        <p:spPr>
          <a:xfrm>
            <a:off x="4873752" y="1911095"/>
            <a:ext cx="2039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[0 | list]</a:t>
            </a:r>
          </a:p>
        </p:txBody>
      </p:sp>
      <p:sp>
        <p:nvSpPr>
          <p:cNvPr id="23" name="a2wd240_td22"/>
          <p:cNvSpPr/>
          <p:nvPr/>
        </p:nvSpPr>
        <p:spPr>
          <a:xfrm>
            <a:off x="4800600" y="2203704"/>
            <a:ext cx="2148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2wd240_tdt23"/>
          <p:cNvSpPr txBox="1"/>
          <p:nvPr/>
        </p:nvSpPr>
        <p:spPr>
          <a:xfrm>
            <a:off x="4873752" y="2203704"/>
            <a:ext cx="2039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list ++ [1001]</a:t>
            </a:r>
          </a:p>
        </p:txBody>
      </p:sp>
      <p:sp>
        <p:nvSpPr>
          <p:cNvPr id="25" name="a2wd360_td24"/>
          <p:cNvSpPr/>
          <p:nvPr/>
        </p:nvSpPr>
        <p:spPr>
          <a:xfrm>
            <a:off x="4800600" y="2496312"/>
            <a:ext cx="2148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wd360_tdt25"/>
          <p:cNvSpPr txBox="1"/>
          <p:nvPr/>
        </p:nvSpPr>
        <p:spPr>
          <a:xfrm>
            <a:off x="4873752" y="2496312"/>
            <a:ext cx="2039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put_elem(tuple, 500, 1)</a:t>
            </a:r>
          </a:p>
        </p:txBody>
      </p:sp>
      <p:sp>
        <p:nvSpPr>
          <p:cNvPr id="27" name="a2wd480_td26"/>
          <p:cNvSpPr/>
          <p:nvPr/>
        </p:nvSpPr>
        <p:spPr>
          <a:xfrm>
            <a:off x="4800600" y="2788920"/>
            <a:ext cx="2148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2wd480_tdt27"/>
          <p:cNvSpPr txBox="1"/>
          <p:nvPr/>
        </p:nvSpPr>
        <p:spPr>
          <a:xfrm>
            <a:off x="4873752" y="2788920"/>
            <a:ext cx="2039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Map.put — new key</a:t>
            </a:r>
          </a:p>
        </p:txBody>
      </p:sp>
      <p:sp>
        <p:nvSpPr>
          <p:cNvPr id="29" name="a2wd600_td28"/>
          <p:cNvSpPr/>
          <p:nvPr/>
        </p:nvSpPr>
        <p:spPr>
          <a:xfrm>
            <a:off x="4800600" y="3081528"/>
            <a:ext cx="2148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2wd600_tdt29"/>
          <p:cNvSpPr txBox="1"/>
          <p:nvPr/>
        </p:nvSpPr>
        <p:spPr>
          <a:xfrm>
            <a:off x="4873752" y="3081528"/>
            <a:ext cx="2039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Map.put — existing key</a:t>
            </a:r>
          </a:p>
        </p:txBody>
      </p:sp>
      <p:sp>
        <p:nvSpPr>
          <p:cNvPr id="31" name="a2wd720_td30"/>
          <p:cNvSpPr/>
          <p:nvPr/>
        </p:nvSpPr>
        <p:spPr>
          <a:xfrm>
            <a:off x="4800600" y="3374136"/>
            <a:ext cx="2148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2wd720_tdt31"/>
          <p:cNvSpPr txBox="1"/>
          <p:nvPr/>
        </p:nvSpPr>
        <p:spPr>
          <a:xfrm>
            <a:off x="4873752" y="3374136"/>
            <a:ext cx="2039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Map.put — 20-key map</a:t>
            </a:r>
          </a:p>
        </p:txBody>
      </p:sp>
      <p:sp>
        <p:nvSpPr>
          <p:cNvPr id="33" name="a2f_th32"/>
          <p:cNvSpPr/>
          <p:nvPr/>
        </p:nvSpPr>
        <p:spPr>
          <a:xfrm>
            <a:off x="6949440" y="1618488"/>
            <a:ext cx="960120" cy="2926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2f_tht33"/>
          <p:cNvSpPr txBox="1"/>
          <p:nvPr/>
        </p:nvSpPr>
        <p:spPr>
          <a:xfrm>
            <a:off x="7022592" y="1618488"/>
            <a:ext cx="8503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35" name="a2wd120_td34"/>
          <p:cNvSpPr/>
          <p:nvPr/>
        </p:nvSpPr>
        <p:spPr>
          <a:xfrm>
            <a:off x="6949440" y="1911095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2wd120_tdt35"/>
          <p:cNvSpPr txBox="1"/>
          <p:nvPr/>
        </p:nvSpPr>
        <p:spPr>
          <a:xfrm>
            <a:off x="7022592" y="1911095"/>
            <a:ext cx="8503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2</a:t>
            </a:r>
          </a:p>
        </p:txBody>
      </p:sp>
      <p:sp>
        <p:nvSpPr>
          <p:cNvPr id="37" name="a2wd240_td36"/>
          <p:cNvSpPr/>
          <p:nvPr/>
        </p:nvSpPr>
        <p:spPr>
          <a:xfrm>
            <a:off x="6949440" y="2203704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2wd240_tdt37"/>
          <p:cNvSpPr txBox="1"/>
          <p:nvPr/>
        </p:nvSpPr>
        <p:spPr>
          <a:xfrm>
            <a:off x="7022592" y="2203704"/>
            <a:ext cx="8503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2,002</a:t>
            </a:r>
          </a:p>
        </p:txBody>
      </p:sp>
      <p:sp>
        <p:nvSpPr>
          <p:cNvPr id="39" name="a2wd360_td38"/>
          <p:cNvSpPr/>
          <p:nvPr/>
        </p:nvSpPr>
        <p:spPr>
          <a:xfrm>
            <a:off x="6949440" y="2496312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2wd360_tdt39"/>
          <p:cNvSpPr txBox="1"/>
          <p:nvPr/>
        </p:nvSpPr>
        <p:spPr>
          <a:xfrm>
            <a:off x="7022592" y="2496312"/>
            <a:ext cx="8503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1,001</a:t>
            </a:r>
          </a:p>
        </p:txBody>
      </p:sp>
      <p:sp>
        <p:nvSpPr>
          <p:cNvPr id="41" name="a2wd480_td40"/>
          <p:cNvSpPr/>
          <p:nvPr/>
        </p:nvSpPr>
        <p:spPr>
          <a:xfrm>
            <a:off x="6949440" y="2788920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2wd480_tdt41"/>
          <p:cNvSpPr txBox="1"/>
          <p:nvPr/>
        </p:nvSpPr>
        <p:spPr>
          <a:xfrm>
            <a:off x="7022592" y="2788920"/>
            <a:ext cx="8503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39</a:t>
            </a:r>
          </a:p>
        </p:txBody>
      </p:sp>
      <p:sp>
        <p:nvSpPr>
          <p:cNvPr id="43" name="a2wd600_td42"/>
          <p:cNvSpPr/>
          <p:nvPr/>
        </p:nvSpPr>
        <p:spPr>
          <a:xfrm>
            <a:off x="6949440" y="3081528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2wd600_tdt43"/>
          <p:cNvSpPr txBox="1"/>
          <p:nvPr/>
        </p:nvSpPr>
        <p:spPr>
          <a:xfrm>
            <a:off x="7022592" y="3081528"/>
            <a:ext cx="8503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44</a:t>
            </a:r>
          </a:p>
        </p:txBody>
      </p:sp>
      <p:sp>
        <p:nvSpPr>
          <p:cNvPr id="45" name="a2wd720_td44"/>
          <p:cNvSpPr/>
          <p:nvPr/>
        </p:nvSpPr>
        <p:spPr>
          <a:xfrm>
            <a:off x="6949440" y="3374136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2wd720_tdt45"/>
          <p:cNvSpPr txBox="1"/>
          <p:nvPr/>
        </p:nvSpPr>
        <p:spPr>
          <a:xfrm>
            <a:off x="7022592" y="3374136"/>
            <a:ext cx="8503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23 of 44</a:t>
            </a:r>
          </a:p>
        </p:txBody>
      </p:sp>
      <p:sp>
        <p:nvSpPr>
          <p:cNvPr id="47" name="a2f_th46"/>
          <p:cNvSpPr/>
          <p:nvPr/>
        </p:nvSpPr>
        <p:spPr>
          <a:xfrm>
            <a:off x="7909560" y="1618488"/>
            <a:ext cx="777240" cy="2926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2f_tht47"/>
          <p:cNvSpPr txBox="1"/>
          <p:nvPr/>
        </p:nvSpPr>
        <p:spPr>
          <a:xfrm>
            <a:off x="7982712" y="1618488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Shared</a:t>
            </a:r>
          </a:p>
        </p:txBody>
      </p:sp>
      <p:sp>
        <p:nvSpPr>
          <p:cNvPr id="49" name="a2wd120_td48"/>
          <p:cNvSpPr/>
          <p:nvPr/>
        </p:nvSpPr>
        <p:spPr>
          <a:xfrm>
            <a:off x="7909560" y="1911095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2wd120_tdt49"/>
          <p:cNvSpPr txBox="1"/>
          <p:nvPr/>
        </p:nvSpPr>
        <p:spPr>
          <a:xfrm>
            <a:off x="7982712" y="1911095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99.9%</a:t>
            </a:r>
          </a:p>
        </p:txBody>
      </p:sp>
      <p:sp>
        <p:nvSpPr>
          <p:cNvPr id="51" name="a2wd240_td50"/>
          <p:cNvSpPr/>
          <p:nvPr/>
        </p:nvSpPr>
        <p:spPr>
          <a:xfrm>
            <a:off x="7909560" y="2203704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2wd240_tdt51"/>
          <p:cNvSpPr txBox="1"/>
          <p:nvPr/>
        </p:nvSpPr>
        <p:spPr>
          <a:xfrm>
            <a:off x="7982712" y="2203704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0%</a:t>
            </a:r>
          </a:p>
        </p:txBody>
      </p:sp>
      <p:sp>
        <p:nvSpPr>
          <p:cNvPr id="53" name="a2wd360_td52"/>
          <p:cNvSpPr/>
          <p:nvPr/>
        </p:nvSpPr>
        <p:spPr>
          <a:xfrm>
            <a:off x="7909560" y="2496312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2wd360_tdt53"/>
          <p:cNvSpPr txBox="1"/>
          <p:nvPr/>
        </p:nvSpPr>
        <p:spPr>
          <a:xfrm>
            <a:off x="7982712" y="2496312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0%</a:t>
            </a:r>
          </a:p>
        </p:txBody>
      </p:sp>
      <p:sp>
        <p:nvSpPr>
          <p:cNvPr id="55" name="a2wd480_td54"/>
          <p:cNvSpPr/>
          <p:nvPr/>
        </p:nvSpPr>
        <p:spPr>
          <a:xfrm>
            <a:off x="7909560" y="2788920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a2wd480_tdt55"/>
          <p:cNvSpPr txBox="1"/>
          <p:nvPr/>
        </p:nvSpPr>
        <p:spPr>
          <a:xfrm>
            <a:off x="7982712" y="2788920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99.0%</a:t>
            </a:r>
          </a:p>
        </p:txBody>
      </p:sp>
      <p:sp>
        <p:nvSpPr>
          <p:cNvPr id="57" name="a2wd600_td56"/>
          <p:cNvSpPr/>
          <p:nvPr/>
        </p:nvSpPr>
        <p:spPr>
          <a:xfrm>
            <a:off x="7909560" y="3081528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a2wd600_tdt57"/>
          <p:cNvSpPr txBox="1"/>
          <p:nvPr/>
        </p:nvSpPr>
        <p:spPr>
          <a:xfrm>
            <a:off x="7982712" y="3081528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98.8%</a:t>
            </a:r>
          </a:p>
        </p:txBody>
      </p:sp>
      <p:sp>
        <p:nvSpPr>
          <p:cNvPr id="59" name="a2wd720_td58"/>
          <p:cNvSpPr/>
          <p:nvPr/>
        </p:nvSpPr>
        <p:spPr>
          <a:xfrm>
            <a:off x="7909560" y="3374136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a2wd720_tdt59"/>
          <p:cNvSpPr txBox="1"/>
          <p:nvPr/>
        </p:nvSpPr>
        <p:spPr>
          <a:xfrm>
            <a:off x="7982712" y="3374136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47.7%</a:t>
            </a:r>
          </a:p>
        </p:txBody>
      </p:sp>
      <p:sp>
        <p:nvSpPr>
          <p:cNvPr id="61" name="a3f_nb60"/>
          <p:cNvSpPr/>
          <p:nvPr/>
        </p:nvSpPr>
        <p:spPr>
          <a:xfrm>
            <a:off x="457200" y="3986783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a3f_nacc61"/>
          <p:cNvSpPr/>
          <p:nvPr/>
        </p:nvSpPr>
        <p:spPr>
          <a:xfrm>
            <a:off x="457200" y="3986783"/>
            <a:ext cx="50292" cy="5486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3f_nt62"/>
          <p:cNvSpPr txBox="1"/>
          <p:nvPr/>
        </p:nvSpPr>
        <p:spPr>
          <a:xfrm>
            <a:off x="658368" y="3986783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Immutability is cheap because the new version points into the old one. The updates that copy everything are the ones that must: appending to a list rebuilds every cell before the end, and changing one slot of a tuple copies the whole block.</a:t>
            </a:r>
          </a:p>
        </p:txBody>
      </p:sp>
      <p:sp>
        <p:nvSpPr>
          <p:cNvPr id="64" name="ft6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65" name="ft6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THE LANDSCAPE · CRUD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Create, read, update, delete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Every function here RETURNS the new collection. None of them changes its argument.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25880"/>
            <a:ext cx="777240" cy="36576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tht5"/>
          <p:cNvSpPr txBox="1"/>
          <p:nvPr/>
        </p:nvSpPr>
        <p:spPr>
          <a:xfrm>
            <a:off x="530352" y="1325880"/>
            <a:ext cx="6675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a1wd110_td6"/>
          <p:cNvSpPr/>
          <p:nvPr/>
        </p:nvSpPr>
        <p:spPr>
          <a:xfrm>
            <a:off x="457200" y="1691640"/>
            <a:ext cx="777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d110_tdt7"/>
          <p:cNvSpPr txBox="1"/>
          <p:nvPr/>
        </p:nvSpPr>
        <p:spPr>
          <a:xfrm>
            <a:off x="530352" y="1691640"/>
            <a:ext cx="6675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Create</a:t>
            </a:r>
          </a:p>
        </p:txBody>
      </p:sp>
      <p:sp>
        <p:nvSpPr>
          <p:cNvPr id="9" name="a1wd220_td8"/>
          <p:cNvSpPr/>
          <p:nvPr/>
        </p:nvSpPr>
        <p:spPr>
          <a:xfrm>
            <a:off x="457200" y="2057400"/>
            <a:ext cx="777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wd220_tdt9"/>
          <p:cNvSpPr txBox="1"/>
          <p:nvPr/>
        </p:nvSpPr>
        <p:spPr>
          <a:xfrm>
            <a:off x="530352" y="2057400"/>
            <a:ext cx="6675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Read</a:t>
            </a:r>
          </a:p>
        </p:txBody>
      </p:sp>
      <p:sp>
        <p:nvSpPr>
          <p:cNvPr id="11" name="a1wd330_td10"/>
          <p:cNvSpPr/>
          <p:nvPr/>
        </p:nvSpPr>
        <p:spPr>
          <a:xfrm>
            <a:off x="457200" y="2423160"/>
            <a:ext cx="777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wd330_tdt11"/>
          <p:cNvSpPr txBox="1"/>
          <p:nvPr/>
        </p:nvSpPr>
        <p:spPr>
          <a:xfrm>
            <a:off x="530352" y="2423160"/>
            <a:ext cx="6675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Add</a:t>
            </a:r>
          </a:p>
        </p:txBody>
      </p:sp>
      <p:sp>
        <p:nvSpPr>
          <p:cNvPr id="13" name="a1wd440_td12"/>
          <p:cNvSpPr/>
          <p:nvPr/>
        </p:nvSpPr>
        <p:spPr>
          <a:xfrm>
            <a:off x="457200" y="2788920"/>
            <a:ext cx="777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440_tdt13"/>
          <p:cNvSpPr txBox="1"/>
          <p:nvPr/>
        </p:nvSpPr>
        <p:spPr>
          <a:xfrm>
            <a:off x="530352" y="2788920"/>
            <a:ext cx="6675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Update</a:t>
            </a:r>
          </a:p>
        </p:txBody>
      </p:sp>
      <p:sp>
        <p:nvSpPr>
          <p:cNvPr id="15" name="a1wd550_td14"/>
          <p:cNvSpPr/>
          <p:nvPr/>
        </p:nvSpPr>
        <p:spPr>
          <a:xfrm>
            <a:off x="457200" y="3154680"/>
            <a:ext cx="777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550_tdt15"/>
          <p:cNvSpPr txBox="1"/>
          <p:nvPr/>
        </p:nvSpPr>
        <p:spPr>
          <a:xfrm>
            <a:off x="530352" y="3154680"/>
            <a:ext cx="6675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Remove</a:t>
            </a:r>
          </a:p>
        </p:txBody>
      </p:sp>
      <p:sp>
        <p:nvSpPr>
          <p:cNvPr id="17" name="a1wd660_td16"/>
          <p:cNvSpPr/>
          <p:nvPr/>
        </p:nvSpPr>
        <p:spPr>
          <a:xfrm>
            <a:off x="457200" y="3520440"/>
            <a:ext cx="777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660_tdt17"/>
          <p:cNvSpPr txBox="1"/>
          <p:nvPr/>
        </p:nvSpPr>
        <p:spPr>
          <a:xfrm>
            <a:off x="530352" y="3520440"/>
            <a:ext cx="6675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Size</a:t>
            </a:r>
          </a:p>
        </p:txBody>
      </p:sp>
      <p:sp>
        <p:nvSpPr>
          <p:cNvPr id="19" name="a1f_th18"/>
          <p:cNvSpPr/>
          <p:nvPr/>
        </p:nvSpPr>
        <p:spPr>
          <a:xfrm>
            <a:off x="1234440" y="1325880"/>
            <a:ext cx="1508760" cy="36576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f_tht19"/>
          <p:cNvSpPr txBox="1"/>
          <p:nvPr/>
        </p:nvSpPr>
        <p:spPr>
          <a:xfrm>
            <a:off x="1307592" y="1325880"/>
            <a:ext cx="13990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List</a:t>
            </a:r>
          </a:p>
        </p:txBody>
      </p:sp>
      <p:sp>
        <p:nvSpPr>
          <p:cNvPr id="21" name="a1wd110_td20"/>
          <p:cNvSpPr/>
          <p:nvPr/>
        </p:nvSpPr>
        <p:spPr>
          <a:xfrm>
            <a:off x="1234440" y="1691640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110_tdt21"/>
          <p:cNvSpPr txBox="1"/>
          <p:nvPr/>
        </p:nvSpPr>
        <p:spPr>
          <a:xfrm>
            <a:off x="1307592" y="1691640"/>
            <a:ext cx="13990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[1, 2]</a:t>
            </a:r>
          </a:p>
        </p:txBody>
      </p:sp>
      <p:sp>
        <p:nvSpPr>
          <p:cNvPr id="23" name="a1wd220_td22"/>
          <p:cNvSpPr/>
          <p:nvPr/>
        </p:nvSpPr>
        <p:spPr>
          <a:xfrm>
            <a:off x="1234440" y="2057400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wd220_tdt23"/>
          <p:cNvSpPr txBox="1"/>
          <p:nvPr/>
        </p:nvSpPr>
        <p:spPr>
          <a:xfrm>
            <a:off x="1307592" y="2057400"/>
            <a:ext cx="13990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hd/1 · Enum.at/2</a:t>
            </a:r>
          </a:p>
        </p:txBody>
      </p:sp>
      <p:sp>
        <p:nvSpPr>
          <p:cNvPr id="25" name="a1wd330_td24"/>
          <p:cNvSpPr/>
          <p:nvPr/>
        </p:nvSpPr>
        <p:spPr>
          <a:xfrm>
            <a:off x="1234440" y="2423160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wd330_tdt25"/>
          <p:cNvSpPr txBox="1"/>
          <p:nvPr/>
        </p:nvSpPr>
        <p:spPr>
          <a:xfrm>
            <a:off x="1307592" y="2423160"/>
            <a:ext cx="13990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[x | list]</a:t>
            </a:r>
          </a:p>
        </p:txBody>
      </p:sp>
      <p:sp>
        <p:nvSpPr>
          <p:cNvPr id="27" name="a1wd440_td26"/>
          <p:cNvSpPr/>
          <p:nvPr/>
        </p:nvSpPr>
        <p:spPr>
          <a:xfrm>
            <a:off x="1234440" y="2788920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440_tdt27"/>
          <p:cNvSpPr txBox="1"/>
          <p:nvPr/>
        </p:nvSpPr>
        <p:spPr>
          <a:xfrm>
            <a:off x="1307592" y="2788920"/>
            <a:ext cx="13990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List.update_at/3</a:t>
            </a:r>
          </a:p>
        </p:txBody>
      </p:sp>
      <p:sp>
        <p:nvSpPr>
          <p:cNvPr id="29" name="a1wd550_td28"/>
          <p:cNvSpPr/>
          <p:nvPr/>
        </p:nvSpPr>
        <p:spPr>
          <a:xfrm>
            <a:off x="1234440" y="3154680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wd550_tdt29"/>
          <p:cNvSpPr txBox="1"/>
          <p:nvPr/>
        </p:nvSpPr>
        <p:spPr>
          <a:xfrm>
            <a:off x="1307592" y="3154680"/>
            <a:ext cx="13990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List.delete/2 · --</a:t>
            </a:r>
          </a:p>
        </p:txBody>
      </p:sp>
      <p:sp>
        <p:nvSpPr>
          <p:cNvPr id="31" name="a1wd660_td30"/>
          <p:cNvSpPr/>
          <p:nvPr/>
        </p:nvSpPr>
        <p:spPr>
          <a:xfrm>
            <a:off x="1234440" y="3520440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660_tdt31"/>
          <p:cNvSpPr txBox="1"/>
          <p:nvPr/>
        </p:nvSpPr>
        <p:spPr>
          <a:xfrm>
            <a:off x="1307592" y="3520440"/>
            <a:ext cx="13990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length/1 — O(n)</a:t>
            </a:r>
          </a:p>
        </p:txBody>
      </p:sp>
      <p:sp>
        <p:nvSpPr>
          <p:cNvPr id="33" name="a1f_th32"/>
          <p:cNvSpPr/>
          <p:nvPr/>
        </p:nvSpPr>
        <p:spPr>
          <a:xfrm>
            <a:off x="2743200" y="1325880"/>
            <a:ext cx="1417320" cy="36576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f_tht33"/>
          <p:cNvSpPr txBox="1"/>
          <p:nvPr/>
        </p:nvSpPr>
        <p:spPr>
          <a:xfrm>
            <a:off x="2816352" y="1325880"/>
            <a:ext cx="13075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Keyword list</a:t>
            </a:r>
          </a:p>
        </p:txBody>
      </p:sp>
      <p:sp>
        <p:nvSpPr>
          <p:cNvPr id="35" name="a1wd110_td34"/>
          <p:cNvSpPr/>
          <p:nvPr/>
        </p:nvSpPr>
        <p:spPr>
          <a:xfrm>
            <a:off x="2743200" y="169164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1wd110_tdt35"/>
          <p:cNvSpPr txBox="1"/>
          <p:nvPr/>
        </p:nvSpPr>
        <p:spPr>
          <a:xfrm>
            <a:off x="2816352" y="1691640"/>
            <a:ext cx="13075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[a: 1]</a:t>
            </a:r>
          </a:p>
        </p:txBody>
      </p:sp>
      <p:sp>
        <p:nvSpPr>
          <p:cNvPr id="37" name="a1wd220_td36"/>
          <p:cNvSpPr/>
          <p:nvPr/>
        </p:nvSpPr>
        <p:spPr>
          <a:xfrm>
            <a:off x="2743200" y="205740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1wd220_tdt37"/>
          <p:cNvSpPr txBox="1"/>
          <p:nvPr/>
        </p:nvSpPr>
        <p:spPr>
          <a:xfrm>
            <a:off x="2816352" y="2057400"/>
            <a:ext cx="13075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kw[:a] · Keyword.get/3</a:t>
            </a:r>
          </a:p>
        </p:txBody>
      </p:sp>
      <p:sp>
        <p:nvSpPr>
          <p:cNvPr id="39" name="a1wd330_td38"/>
          <p:cNvSpPr/>
          <p:nvPr/>
        </p:nvSpPr>
        <p:spPr>
          <a:xfrm>
            <a:off x="2743200" y="242316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1wd330_tdt39"/>
          <p:cNvSpPr txBox="1"/>
          <p:nvPr/>
        </p:nvSpPr>
        <p:spPr>
          <a:xfrm>
            <a:off x="2816352" y="2423160"/>
            <a:ext cx="13075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Keyword.put/3</a:t>
            </a:r>
          </a:p>
        </p:txBody>
      </p:sp>
      <p:sp>
        <p:nvSpPr>
          <p:cNvPr id="41" name="a1wd440_td40"/>
          <p:cNvSpPr/>
          <p:nvPr/>
        </p:nvSpPr>
        <p:spPr>
          <a:xfrm>
            <a:off x="2743200" y="278892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1wd440_tdt41"/>
          <p:cNvSpPr txBox="1"/>
          <p:nvPr/>
        </p:nvSpPr>
        <p:spPr>
          <a:xfrm>
            <a:off x="2816352" y="2788920"/>
            <a:ext cx="13075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Keyword.update/4</a:t>
            </a:r>
          </a:p>
        </p:txBody>
      </p:sp>
      <p:sp>
        <p:nvSpPr>
          <p:cNvPr id="43" name="a1wd550_td42"/>
          <p:cNvSpPr/>
          <p:nvPr/>
        </p:nvSpPr>
        <p:spPr>
          <a:xfrm>
            <a:off x="2743200" y="315468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1wd550_tdt43"/>
          <p:cNvSpPr txBox="1"/>
          <p:nvPr/>
        </p:nvSpPr>
        <p:spPr>
          <a:xfrm>
            <a:off x="2816352" y="3154680"/>
            <a:ext cx="13075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Keyword.delete/2</a:t>
            </a:r>
          </a:p>
        </p:txBody>
      </p:sp>
      <p:sp>
        <p:nvSpPr>
          <p:cNvPr id="45" name="a1wd660_td44"/>
          <p:cNvSpPr/>
          <p:nvPr/>
        </p:nvSpPr>
        <p:spPr>
          <a:xfrm>
            <a:off x="2743200" y="352044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1wd660_tdt45"/>
          <p:cNvSpPr txBox="1"/>
          <p:nvPr/>
        </p:nvSpPr>
        <p:spPr>
          <a:xfrm>
            <a:off x="2816352" y="3520440"/>
            <a:ext cx="13075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length/1 — O(n)</a:t>
            </a:r>
          </a:p>
        </p:txBody>
      </p:sp>
      <p:sp>
        <p:nvSpPr>
          <p:cNvPr id="47" name="a1f_th46"/>
          <p:cNvSpPr/>
          <p:nvPr/>
        </p:nvSpPr>
        <p:spPr>
          <a:xfrm>
            <a:off x="4160520" y="1325880"/>
            <a:ext cx="1783080" cy="36576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1f_tht47"/>
          <p:cNvSpPr txBox="1"/>
          <p:nvPr/>
        </p:nvSpPr>
        <p:spPr>
          <a:xfrm>
            <a:off x="4233672" y="1325880"/>
            <a:ext cx="1673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49" name="a1wd110_td48"/>
          <p:cNvSpPr/>
          <p:nvPr/>
        </p:nvSpPr>
        <p:spPr>
          <a:xfrm>
            <a:off x="4160520" y="1691640"/>
            <a:ext cx="1783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1wd110_tdt49"/>
          <p:cNvSpPr txBox="1"/>
          <p:nvPr/>
        </p:nvSpPr>
        <p:spPr>
          <a:xfrm>
            <a:off x="4233672" y="1691640"/>
            <a:ext cx="1673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%{a: 1} · Map.new/1</a:t>
            </a:r>
          </a:p>
        </p:txBody>
      </p:sp>
      <p:sp>
        <p:nvSpPr>
          <p:cNvPr id="51" name="a1wd220_td50"/>
          <p:cNvSpPr/>
          <p:nvPr/>
        </p:nvSpPr>
        <p:spPr>
          <a:xfrm>
            <a:off x="4160520" y="2057400"/>
            <a:ext cx="1783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1wd220_tdt51"/>
          <p:cNvSpPr txBox="1"/>
          <p:nvPr/>
        </p:nvSpPr>
        <p:spPr>
          <a:xfrm>
            <a:off x="4233672" y="2057400"/>
            <a:ext cx="1673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m.a · m[:a] · Map.fetch/2</a:t>
            </a:r>
          </a:p>
        </p:txBody>
      </p:sp>
      <p:sp>
        <p:nvSpPr>
          <p:cNvPr id="53" name="a1wd330_td52"/>
          <p:cNvSpPr/>
          <p:nvPr/>
        </p:nvSpPr>
        <p:spPr>
          <a:xfrm>
            <a:off x="4160520" y="2423160"/>
            <a:ext cx="1783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1wd330_tdt53"/>
          <p:cNvSpPr txBox="1"/>
          <p:nvPr/>
        </p:nvSpPr>
        <p:spPr>
          <a:xfrm>
            <a:off x="4233672" y="2423160"/>
            <a:ext cx="1673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Map.put/3</a:t>
            </a:r>
          </a:p>
        </p:txBody>
      </p:sp>
      <p:sp>
        <p:nvSpPr>
          <p:cNvPr id="55" name="a1wd440_td54"/>
          <p:cNvSpPr/>
          <p:nvPr/>
        </p:nvSpPr>
        <p:spPr>
          <a:xfrm>
            <a:off x="4160520" y="2788920"/>
            <a:ext cx="1783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a1wd440_tdt55"/>
          <p:cNvSpPr txBox="1"/>
          <p:nvPr/>
        </p:nvSpPr>
        <p:spPr>
          <a:xfrm>
            <a:off x="4233672" y="2788920"/>
            <a:ext cx="1673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%{m | a: 2} · Map.update/4</a:t>
            </a:r>
          </a:p>
        </p:txBody>
      </p:sp>
      <p:sp>
        <p:nvSpPr>
          <p:cNvPr id="57" name="a1wd550_td56"/>
          <p:cNvSpPr/>
          <p:nvPr/>
        </p:nvSpPr>
        <p:spPr>
          <a:xfrm>
            <a:off x="4160520" y="3154680"/>
            <a:ext cx="1783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a1wd550_tdt57"/>
          <p:cNvSpPr txBox="1"/>
          <p:nvPr/>
        </p:nvSpPr>
        <p:spPr>
          <a:xfrm>
            <a:off x="4233672" y="3154680"/>
            <a:ext cx="1673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Map.delete/2 · Map.pop/3</a:t>
            </a:r>
          </a:p>
        </p:txBody>
      </p:sp>
      <p:sp>
        <p:nvSpPr>
          <p:cNvPr id="59" name="a1wd660_td58"/>
          <p:cNvSpPr/>
          <p:nvPr/>
        </p:nvSpPr>
        <p:spPr>
          <a:xfrm>
            <a:off x="4160520" y="3520440"/>
            <a:ext cx="1783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a1wd660_tdt59"/>
          <p:cNvSpPr txBox="1"/>
          <p:nvPr/>
        </p:nvSpPr>
        <p:spPr>
          <a:xfrm>
            <a:off x="4233672" y="3520440"/>
            <a:ext cx="1673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map_size/1</a:t>
            </a:r>
          </a:p>
        </p:txBody>
      </p:sp>
      <p:sp>
        <p:nvSpPr>
          <p:cNvPr id="61" name="a1f_th60"/>
          <p:cNvSpPr/>
          <p:nvPr/>
        </p:nvSpPr>
        <p:spPr>
          <a:xfrm>
            <a:off x="5943600" y="1325880"/>
            <a:ext cx="1417320" cy="36576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a1f_tht61"/>
          <p:cNvSpPr txBox="1"/>
          <p:nvPr/>
        </p:nvSpPr>
        <p:spPr>
          <a:xfrm>
            <a:off x="6016752" y="1325880"/>
            <a:ext cx="13075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MapSet</a:t>
            </a:r>
          </a:p>
        </p:txBody>
      </p:sp>
      <p:sp>
        <p:nvSpPr>
          <p:cNvPr id="63" name="a1wd110_td62"/>
          <p:cNvSpPr/>
          <p:nvPr/>
        </p:nvSpPr>
        <p:spPr>
          <a:xfrm>
            <a:off x="5943600" y="169164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a1wd110_tdt63"/>
          <p:cNvSpPr txBox="1"/>
          <p:nvPr/>
        </p:nvSpPr>
        <p:spPr>
          <a:xfrm>
            <a:off x="6016752" y="1691640"/>
            <a:ext cx="13075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MapSet.new/1</a:t>
            </a:r>
          </a:p>
        </p:txBody>
      </p:sp>
      <p:sp>
        <p:nvSpPr>
          <p:cNvPr id="65" name="a1wd220_td64"/>
          <p:cNvSpPr/>
          <p:nvPr/>
        </p:nvSpPr>
        <p:spPr>
          <a:xfrm>
            <a:off x="5943600" y="205740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a1wd220_tdt65"/>
          <p:cNvSpPr txBox="1"/>
          <p:nvPr/>
        </p:nvSpPr>
        <p:spPr>
          <a:xfrm>
            <a:off x="6016752" y="2057400"/>
            <a:ext cx="13075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MapSet.member?/2</a:t>
            </a:r>
          </a:p>
        </p:txBody>
      </p:sp>
      <p:sp>
        <p:nvSpPr>
          <p:cNvPr id="67" name="a1wd330_td66"/>
          <p:cNvSpPr/>
          <p:nvPr/>
        </p:nvSpPr>
        <p:spPr>
          <a:xfrm>
            <a:off x="5943600" y="242316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a1wd330_tdt67"/>
          <p:cNvSpPr txBox="1"/>
          <p:nvPr/>
        </p:nvSpPr>
        <p:spPr>
          <a:xfrm>
            <a:off x="6016752" y="2423160"/>
            <a:ext cx="13075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MapSet.put/2</a:t>
            </a:r>
          </a:p>
        </p:txBody>
      </p:sp>
      <p:sp>
        <p:nvSpPr>
          <p:cNvPr id="69" name="a1wd440_td68"/>
          <p:cNvSpPr/>
          <p:nvPr/>
        </p:nvSpPr>
        <p:spPr>
          <a:xfrm>
            <a:off x="5943600" y="278892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a1wd440_tdt69"/>
          <p:cNvSpPr txBox="1"/>
          <p:nvPr/>
        </p:nvSpPr>
        <p:spPr>
          <a:xfrm>
            <a:off x="6016752" y="2788920"/>
            <a:ext cx="13075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delete, then put</a:t>
            </a:r>
          </a:p>
        </p:txBody>
      </p:sp>
      <p:sp>
        <p:nvSpPr>
          <p:cNvPr id="71" name="a1wd550_td70"/>
          <p:cNvSpPr/>
          <p:nvPr/>
        </p:nvSpPr>
        <p:spPr>
          <a:xfrm>
            <a:off x="5943600" y="315468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a1wd550_tdt71"/>
          <p:cNvSpPr txBox="1"/>
          <p:nvPr/>
        </p:nvSpPr>
        <p:spPr>
          <a:xfrm>
            <a:off x="6016752" y="3154680"/>
            <a:ext cx="13075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MapSet.delete/2</a:t>
            </a:r>
          </a:p>
        </p:txBody>
      </p:sp>
      <p:sp>
        <p:nvSpPr>
          <p:cNvPr id="73" name="a1wd660_td72"/>
          <p:cNvSpPr/>
          <p:nvPr/>
        </p:nvSpPr>
        <p:spPr>
          <a:xfrm>
            <a:off x="5943600" y="352044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a1wd660_tdt73"/>
          <p:cNvSpPr txBox="1"/>
          <p:nvPr/>
        </p:nvSpPr>
        <p:spPr>
          <a:xfrm>
            <a:off x="6016752" y="3520440"/>
            <a:ext cx="13075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MapSet.size/1</a:t>
            </a:r>
          </a:p>
        </p:txBody>
      </p:sp>
      <p:sp>
        <p:nvSpPr>
          <p:cNvPr id="75" name="a1f_th74"/>
          <p:cNvSpPr/>
          <p:nvPr/>
        </p:nvSpPr>
        <p:spPr>
          <a:xfrm>
            <a:off x="7360920" y="1325880"/>
            <a:ext cx="1325880" cy="36576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a1f_tht75"/>
          <p:cNvSpPr txBox="1"/>
          <p:nvPr/>
        </p:nvSpPr>
        <p:spPr>
          <a:xfrm>
            <a:off x="7434072" y="1325880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Tuple</a:t>
            </a:r>
          </a:p>
        </p:txBody>
      </p:sp>
      <p:sp>
        <p:nvSpPr>
          <p:cNvPr id="77" name="a1wd110_td76"/>
          <p:cNvSpPr/>
          <p:nvPr/>
        </p:nvSpPr>
        <p:spPr>
          <a:xfrm>
            <a:off x="7360920" y="169164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a1wd110_tdt77"/>
          <p:cNvSpPr txBox="1"/>
          <p:nvPr/>
        </p:nvSpPr>
        <p:spPr>
          <a:xfrm>
            <a:off x="7434072" y="1691640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{1, 2}</a:t>
            </a:r>
          </a:p>
        </p:txBody>
      </p:sp>
      <p:sp>
        <p:nvSpPr>
          <p:cNvPr id="79" name="a1wd220_td78"/>
          <p:cNvSpPr/>
          <p:nvPr/>
        </p:nvSpPr>
        <p:spPr>
          <a:xfrm>
            <a:off x="7360920" y="205740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a1wd220_tdt79"/>
          <p:cNvSpPr txBox="1"/>
          <p:nvPr/>
        </p:nvSpPr>
        <p:spPr>
          <a:xfrm>
            <a:off x="7434072" y="2057400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elem/2</a:t>
            </a:r>
          </a:p>
        </p:txBody>
      </p:sp>
      <p:sp>
        <p:nvSpPr>
          <p:cNvPr id="81" name="a1wd330_td80"/>
          <p:cNvSpPr/>
          <p:nvPr/>
        </p:nvSpPr>
        <p:spPr>
          <a:xfrm>
            <a:off x="7360920" y="242316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a1wd330_tdt81"/>
          <p:cNvSpPr txBox="1"/>
          <p:nvPr/>
        </p:nvSpPr>
        <p:spPr>
          <a:xfrm>
            <a:off x="7434072" y="2423160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Tuple.insert_at/3</a:t>
            </a:r>
          </a:p>
        </p:txBody>
      </p:sp>
      <p:sp>
        <p:nvSpPr>
          <p:cNvPr id="83" name="a1wd440_td82"/>
          <p:cNvSpPr/>
          <p:nvPr/>
        </p:nvSpPr>
        <p:spPr>
          <a:xfrm>
            <a:off x="7360920" y="278892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a1wd440_tdt83"/>
          <p:cNvSpPr txBox="1"/>
          <p:nvPr/>
        </p:nvSpPr>
        <p:spPr>
          <a:xfrm>
            <a:off x="7434072" y="2788920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put_elem/3</a:t>
            </a:r>
          </a:p>
        </p:txBody>
      </p:sp>
      <p:sp>
        <p:nvSpPr>
          <p:cNvPr id="85" name="a1wd550_td84"/>
          <p:cNvSpPr/>
          <p:nvPr/>
        </p:nvSpPr>
        <p:spPr>
          <a:xfrm>
            <a:off x="7360920" y="315468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a1wd550_tdt85"/>
          <p:cNvSpPr txBox="1"/>
          <p:nvPr/>
        </p:nvSpPr>
        <p:spPr>
          <a:xfrm>
            <a:off x="7434072" y="3154680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Tuple.delete_at/2</a:t>
            </a:r>
          </a:p>
        </p:txBody>
      </p:sp>
      <p:sp>
        <p:nvSpPr>
          <p:cNvPr id="87" name="a1wd660_td86"/>
          <p:cNvSpPr/>
          <p:nvPr/>
        </p:nvSpPr>
        <p:spPr>
          <a:xfrm>
            <a:off x="7360920" y="352044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a1wd660_tdt87"/>
          <p:cNvSpPr txBox="1"/>
          <p:nvPr/>
        </p:nvSpPr>
        <p:spPr>
          <a:xfrm>
            <a:off x="7434072" y="3520440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tuple_size/1</a:t>
            </a:r>
          </a:p>
        </p:txBody>
      </p:sp>
      <p:sp>
        <p:nvSpPr>
          <p:cNvPr id="89" name="a2f_nb88"/>
          <p:cNvSpPr/>
          <p:nvPr/>
        </p:nvSpPr>
        <p:spPr>
          <a:xfrm>
            <a:off x="457200" y="4014215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a2f_nacc89"/>
          <p:cNvSpPr/>
          <p:nvPr/>
        </p:nvSpPr>
        <p:spPr>
          <a:xfrm>
            <a:off x="457200" y="4014215"/>
            <a:ext cx="50292" cy="5120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a2f_nt90"/>
          <p:cNvSpPr txBox="1"/>
          <p:nvPr/>
        </p:nvSpPr>
        <p:spPr>
          <a:xfrm>
            <a:off x="658368" y="4014215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So the result must be bound, or it is lost:  acct = Map.put(acct, :tier, :gold).  Calling Map.put/3 and ignoring what it returns is a line that does nothing at all.</a:t>
            </a:r>
          </a:p>
        </p:txBody>
      </p:sp>
      <p:sp>
        <p:nvSpPr>
          <p:cNvPr id="92" name="ft9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93" name="ft9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02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Tuples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A fixed number of slots, side by side.
Read any slot instantly; change one, copy all.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elem · put_elem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{:ok, value}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not Enumerable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TUPLES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Tuples: the operations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Six functions cover almost everything you will do with one.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343400" cy="2514600"/>
          </a:xfrm>
          <a:prstGeom prst="roundRect">
            <a:avLst>
              <a:gd name="adj" fmla="val 290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401421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t = {:ok, "ada", 36}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56816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elem(t, 1)                 #=&gt; "ada"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30552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tuple_size(t)              #=&gt; 3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304288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put_elem(t, 2, 37)         #=&gt; {:ok, "ada", 37}</a:t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478024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Tuple.insert_at(t, 1, :x)  #=&gt; {:ok, :x, "ada", 36}</a:t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651760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Tuple.delete_at(t, 0)      #=&gt; {"ada", 36}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825496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Tuple.to_list(t)           #=&gt; [:ok, "ada", 36]</a:t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2999232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5" name="a1wd480_code14"/>
          <p:cNvSpPr txBox="1"/>
          <p:nvPr/>
        </p:nvSpPr>
        <p:spPr>
          <a:xfrm>
            <a:off x="621792" y="3172968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elem(t, 5)</a:t>
            </a:r>
          </a:p>
        </p:txBody>
      </p:sp>
      <p:sp>
        <p:nvSpPr>
          <p:cNvPr id="16" name="a1wd540_code15"/>
          <p:cNvSpPr txBox="1"/>
          <p:nvPr/>
        </p:nvSpPr>
        <p:spPr>
          <a:xfrm>
            <a:off x="621792" y="3346704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** (ArgumentError) errors were found at the</a:t>
            </a:r>
          </a:p>
        </p:txBody>
      </p:sp>
      <p:sp>
        <p:nvSpPr>
          <p:cNvPr id="17" name="a1wd600_code16"/>
          <p:cNvSpPr txBox="1"/>
          <p:nvPr/>
        </p:nvSpPr>
        <p:spPr>
          <a:xfrm>
            <a:off x="621792" y="3520439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given arguments:  * 1st argument: out of range</a:t>
            </a:r>
          </a:p>
        </p:txBody>
      </p:sp>
      <p:sp>
        <p:nvSpPr>
          <p:cNvPr id="18" name="a2f_codebg17"/>
          <p:cNvSpPr/>
          <p:nvPr/>
        </p:nvSpPr>
        <p:spPr>
          <a:xfrm>
            <a:off x="4983480" y="1344168"/>
            <a:ext cx="3703320" cy="2340863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f_codeh18"/>
          <p:cNvSpPr txBox="1"/>
          <p:nvPr/>
        </p:nvSpPr>
        <p:spPr>
          <a:xfrm>
            <a:off x="5148072" y="1399032"/>
            <a:ext cx="33741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1.20</a:t>
            </a:r>
          </a:p>
        </p:txBody>
      </p:sp>
      <p:sp>
        <p:nvSpPr>
          <p:cNvPr id="20" name="a2w_code19"/>
          <p:cNvSpPr txBox="1"/>
          <p:nvPr/>
        </p:nvSpPr>
        <p:spPr>
          <a:xfrm>
            <a:off x="5148072" y="1783080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Tuple.append({1, 2}, 3)</a:t>
            </a:r>
          </a:p>
        </p:txBody>
      </p:sp>
      <p:sp>
        <p:nvSpPr>
          <p:cNvPr id="21" name="a2wd60_code20"/>
          <p:cNvSpPr txBox="1"/>
          <p:nvPr/>
        </p:nvSpPr>
        <p:spPr>
          <a:xfrm>
            <a:off x="5148072" y="1956816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warning: Tuple.append/2 is</a:t>
            </a:r>
          </a:p>
        </p:txBody>
      </p:sp>
      <p:sp>
        <p:nvSpPr>
          <p:cNvPr id="22" name="a2wd120_code21"/>
          <p:cNvSpPr txBox="1"/>
          <p:nvPr/>
        </p:nvSpPr>
        <p:spPr>
          <a:xfrm>
            <a:off x="5148072" y="2130552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deprecated. Use insert_at instead</a:t>
            </a:r>
          </a:p>
        </p:txBody>
      </p:sp>
      <p:sp>
        <p:nvSpPr>
          <p:cNvPr id="23" name="a2wd180_code22"/>
          <p:cNvSpPr txBox="1"/>
          <p:nvPr/>
        </p:nvSpPr>
        <p:spPr>
          <a:xfrm>
            <a:off x="5148072" y="2304288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4" name="a2wd240_code23"/>
          <p:cNvSpPr txBox="1"/>
          <p:nvPr/>
        </p:nvSpPr>
        <p:spPr>
          <a:xfrm>
            <a:off x="5148072" y="2478024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Tuple.insert_at(t, tuple_size(t), x)</a:t>
            </a:r>
          </a:p>
        </p:txBody>
      </p:sp>
      <p:sp>
        <p:nvSpPr>
          <p:cNvPr id="25" name="a2wd300_code24"/>
          <p:cNvSpPr txBox="1"/>
          <p:nvPr/>
        </p:nvSpPr>
        <p:spPr>
          <a:xfrm>
            <a:off x="5148072" y="2651760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6" name="a2wd360_code25"/>
          <p:cNvSpPr txBox="1"/>
          <p:nvPr/>
        </p:nvSpPr>
        <p:spPr>
          <a:xfrm>
            <a:off x="5148072" y="2825496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Enum.map({1, 2}, &amp; &amp;1)</a:t>
            </a:r>
          </a:p>
        </p:txBody>
      </p:sp>
      <p:sp>
        <p:nvSpPr>
          <p:cNvPr id="27" name="a2wd420_code26"/>
          <p:cNvSpPr txBox="1"/>
          <p:nvPr/>
        </p:nvSpPr>
        <p:spPr>
          <a:xfrm>
            <a:off x="5148072" y="2999232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** (Protocol.UndefinedError)</a:t>
            </a:r>
          </a:p>
        </p:txBody>
      </p:sp>
      <p:sp>
        <p:nvSpPr>
          <p:cNvPr id="28" name="a2wd480_code27"/>
          <p:cNvSpPr txBox="1"/>
          <p:nvPr/>
        </p:nvSpPr>
        <p:spPr>
          <a:xfrm>
            <a:off x="5148072" y="3172968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protocol Enumerable not</a:t>
            </a:r>
          </a:p>
        </p:txBody>
      </p:sp>
      <p:sp>
        <p:nvSpPr>
          <p:cNvPr id="29" name="a2wd540_code28"/>
          <p:cNvSpPr txBox="1"/>
          <p:nvPr/>
        </p:nvSpPr>
        <p:spPr>
          <a:xfrm>
            <a:off x="5148072" y="3346704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implemented for Tuple</a:t>
            </a:r>
          </a:p>
        </p:txBody>
      </p:sp>
      <p:sp>
        <p:nvSpPr>
          <p:cNvPr id="30" name="a3f_nb29"/>
          <p:cNvSpPr/>
          <p:nvPr/>
        </p:nvSpPr>
        <p:spPr>
          <a:xfrm>
            <a:off x="457200" y="3986783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3f_nacc30"/>
          <p:cNvSpPr/>
          <p:nvPr/>
        </p:nvSpPr>
        <p:spPr>
          <a:xfrm>
            <a:off x="457200" y="3986783"/>
            <a:ext cx="50292" cy="512064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3f_nt31"/>
          <p:cNvSpPr txBox="1"/>
          <p:nvPr/>
        </p:nvSpPr>
        <p:spPr>
          <a:xfrm>
            <a:off x="658368" y="3986783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"1st argument: out of range" is about your 5, not your tuple: elem/2 calls Erlang's element/2, which takes the index first. And a tuple is not Enumerable — Enum refuses it outright, because a tuple is a record, not a sequence.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TUPLES · WHEN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When a tuple is right — and when it is not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Position carries the meaning, so the shape must never change.</a:t>
            </a:r>
          </a:p>
        </p:txBody>
      </p:sp>
      <p:sp>
        <p:nvSpPr>
          <p:cNvPr id="5" name="a1u_card4"/>
          <p:cNvSpPr/>
          <p:nvPr/>
        </p:nvSpPr>
        <p:spPr>
          <a:xfrm>
            <a:off x="457200" y="1325880"/>
            <a:ext cx="4014215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acc5"/>
          <p:cNvSpPr/>
          <p:nvPr/>
        </p:nvSpPr>
        <p:spPr>
          <a:xfrm>
            <a:off x="457200" y="1325880"/>
            <a:ext cx="4014215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90_ct6"/>
          <p:cNvSpPr txBox="1"/>
          <p:nvPr/>
        </p:nvSpPr>
        <p:spPr>
          <a:xfrm>
            <a:off x="621792" y="1527048"/>
            <a:ext cx="36850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Use a tuple</a:t>
            </a:r>
          </a:p>
        </p:txBody>
      </p:sp>
      <p:sp>
        <p:nvSpPr>
          <p:cNvPr id="8" name="a1ud150_cb7"/>
          <p:cNvSpPr txBox="1"/>
          <p:nvPr/>
        </p:nvSpPr>
        <p:spPr>
          <a:xfrm>
            <a:off x="621792" y="1801368"/>
            <a:ext cx="3685031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 fixed number of values: {:ok, v}, {x, y}</a:t>
            </a:r>
          </a:p>
        </p:txBody>
      </p:sp>
      <p:sp>
        <p:nvSpPr>
          <p:cNvPr id="9" name="a1ud220_cb8"/>
          <p:cNvSpPr txBox="1"/>
          <p:nvPr/>
        </p:nvSpPr>
        <p:spPr>
          <a:xfrm>
            <a:off x="621792" y="2185416"/>
            <a:ext cx="3685031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Returning two or three things at once</a:t>
            </a:r>
          </a:p>
        </p:txBody>
      </p:sp>
      <p:sp>
        <p:nvSpPr>
          <p:cNvPr id="10" name="a1ud290_cb9"/>
          <p:cNvSpPr txBox="1"/>
          <p:nvPr/>
        </p:nvSpPr>
        <p:spPr>
          <a:xfrm>
            <a:off x="621792" y="2569464"/>
            <a:ext cx="3685031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 composite key: %{{:user, 42} =&gt; ...}</a:t>
            </a:r>
          </a:p>
        </p:txBody>
      </p:sp>
      <p:sp>
        <p:nvSpPr>
          <p:cNvPr id="11" name="a2u_card10"/>
          <p:cNvSpPr/>
          <p:nvPr/>
        </p:nvSpPr>
        <p:spPr>
          <a:xfrm>
            <a:off x="4672583" y="1325880"/>
            <a:ext cx="4014215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2u_acc11"/>
          <p:cNvSpPr/>
          <p:nvPr/>
        </p:nvSpPr>
        <p:spPr>
          <a:xfrm>
            <a:off x="4672583" y="1325880"/>
            <a:ext cx="4014215" cy="50292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ud90_ct12"/>
          <p:cNvSpPr txBox="1"/>
          <p:nvPr/>
        </p:nvSpPr>
        <p:spPr>
          <a:xfrm>
            <a:off x="4837175" y="1527048"/>
            <a:ext cx="36850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Do not use a tuple</a:t>
            </a:r>
          </a:p>
        </p:txBody>
      </p:sp>
      <p:sp>
        <p:nvSpPr>
          <p:cNvPr id="14" name="a2ud150_cb13"/>
          <p:cNvSpPr txBox="1"/>
          <p:nvPr/>
        </p:nvSpPr>
        <p:spPr>
          <a:xfrm>
            <a:off x="4837175" y="1801368"/>
            <a:ext cx="3685031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Anything that grows — every insert copies it</a:t>
            </a:r>
          </a:p>
        </p:txBody>
      </p:sp>
      <p:sp>
        <p:nvSpPr>
          <p:cNvPr id="15" name="a2ud220_cb14"/>
          <p:cNvSpPr txBox="1"/>
          <p:nvPr/>
        </p:nvSpPr>
        <p:spPr>
          <a:xfrm>
            <a:off x="4837175" y="2185416"/>
            <a:ext cx="3685031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Anything you iterate — it is not Enumerable</a:t>
            </a:r>
          </a:p>
        </p:txBody>
      </p:sp>
      <p:sp>
        <p:nvSpPr>
          <p:cNvPr id="16" name="a2ud290_cb15"/>
          <p:cNvSpPr txBox="1"/>
          <p:nvPr/>
        </p:nvSpPr>
        <p:spPr>
          <a:xfrm>
            <a:off x="4837175" y="2569464"/>
            <a:ext cx="3685031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More than ~4 fields — name them in a map</a:t>
            </a:r>
          </a:p>
        </p:txBody>
      </p:sp>
      <p:sp>
        <p:nvSpPr>
          <p:cNvPr id="17" name="a3f_codebg16"/>
          <p:cNvSpPr/>
          <p:nvPr/>
        </p:nvSpPr>
        <p:spPr>
          <a:xfrm>
            <a:off x="457200" y="3172968"/>
            <a:ext cx="8229600" cy="1298448"/>
          </a:xfrm>
          <a:prstGeom prst="roundRect">
            <a:avLst>
              <a:gd name="adj" fmla="val 563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3f_codeh17"/>
          <p:cNvSpPr txBox="1"/>
          <p:nvPr/>
        </p:nvSpPr>
        <p:spPr>
          <a:xfrm>
            <a:off x="621792" y="3227832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tagged tuples in the standard library</a:t>
            </a:r>
          </a:p>
        </p:txBody>
      </p:sp>
      <p:sp>
        <p:nvSpPr>
          <p:cNvPr id="19" name="a3w_code18"/>
          <p:cNvSpPr txBox="1"/>
          <p:nvPr/>
        </p:nvSpPr>
        <p:spPr>
          <a:xfrm>
            <a:off x="621792" y="3611880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File.read("no_such_file")   #=&gt; {:error, :enoent}</a:t>
            </a:r>
          </a:p>
        </p:txBody>
      </p:sp>
      <p:sp>
        <p:nvSpPr>
          <p:cNvPr id="20" name="a3wd90_code19"/>
          <p:cNvSpPr txBox="1"/>
          <p:nvPr/>
        </p:nvSpPr>
        <p:spPr>
          <a:xfrm>
            <a:off x="621792" y="3785616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Integer.parse("42abc")      #=&gt; {42, "abc"}</a:t>
            </a:r>
          </a:p>
        </p:txBody>
      </p:sp>
      <p:sp>
        <p:nvSpPr>
          <p:cNvPr id="21" name="a3wd180_code20"/>
          <p:cNvSpPr txBox="1"/>
          <p:nvPr/>
        </p:nvSpPr>
        <p:spPr>
          <a:xfrm>
            <a:off x="621792" y="3959352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Map.fetch(%{a: 1}, :b)      #=&gt; :error</a:t>
            </a:r>
          </a:p>
        </p:txBody>
      </p:sp>
      <p:sp>
        <p:nvSpPr>
          <p:cNvPr id="22" name="a3wd270_code21"/>
          <p:cNvSpPr txBox="1"/>
          <p:nvPr/>
        </p:nvSpPr>
        <p:spPr>
          <a:xfrm>
            <a:off x="621792" y="4133088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Enum.fetch([10, 20], 1)     #=&gt; {:ok, 20}</a:t>
            </a:r>
          </a:p>
        </p:txBody>
      </p:sp>
      <p:sp>
        <p:nvSpPr>
          <p:cNvPr id="23" name="ft2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24" name="ft2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03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Lists &amp; keyword lists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Linked cells: the front is free,
the back costs the whole list.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[h | t]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++ and --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Keyword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LISTS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Lists: the operations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index functions forgive a bad position. hd/1 on an empty list does not.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069080" cy="2514600"/>
          </a:xfrm>
          <a:prstGeom prst="roundRect">
            <a:avLst>
              <a:gd name="adj" fmla="val 290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37398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l = [3, 1, 2]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56816"/>
            <a:ext cx="37398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[0 | l]              #=&gt; [0, 3, 1, 2]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30552"/>
            <a:ext cx="37398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l ++ [4]             #=&gt; [3, 1, 2, 4]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304288"/>
            <a:ext cx="37398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[1, 2, 1, 3] -- [1]  #=&gt; [2, 1, 3]</a:t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478024"/>
            <a:ext cx="37398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2 in l               #=&gt; true</a:t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651760"/>
            <a:ext cx="37398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{hd(l), tl(l)}       #=&gt; {3, [1, 2]}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825496"/>
            <a:ext cx="37398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Enum.at(l, 99)       #=&gt; nil</a:t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2999232"/>
            <a:ext cx="37398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5" name="a1wd480_code14"/>
          <p:cNvSpPr txBox="1"/>
          <p:nvPr/>
        </p:nvSpPr>
        <p:spPr>
          <a:xfrm>
            <a:off x="621792" y="3172968"/>
            <a:ext cx="37398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hd([])</a:t>
            </a:r>
          </a:p>
        </p:txBody>
      </p:sp>
      <p:sp>
        <p:nvSpPr>
          <p:cNvPr id="16" name="a1wd540_code15"/>
          <p:cNvSpPr txBox="1"/>
          <p:nvPr/>
        </p:nvSpPr>
        <p:spPr>
          <a:xfrm>
            <a:off x="621792" y="3346704"/>
            <a:ext cx="37398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** (ArgumentError) ...</a:t>
            </a:r>
          </a:p>
        </p:txBody>
      </p:sp>
      <p:sp>
        <p:nvSpPr>
          <p:cNvPr id="17" name="a1wd600_code16"/>
          <p:cNvSpPr txBox="1"/>
          <p:nvPr/>
        </p:nvSpPr>
        <p:spPr>
          <a:xfrm>
            <a:off x="621792" y="3520439"/>
            <a:ext cx="37398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* 1st argument: not a nonempty list</a:t>
            </a:r>
          </a:p>
        </p:txBody>
      </p:sp>
      <p:sp>
        <p:nvSpPr>
          <p:cNvPr id="18" name="a2f_codebg17"/>
          <p:cNvSpPr/>
          <p:nvPr/>
        </p:nvSpPr>
        <p:spPr>
          <a:xfrm>
            <a:off x="4709160" y="1344168"/>
            <a:ext cx="3977639" cy="2167128"/>
          </a:xfrm>
          <a:prstGeom prst="roundRect">
            <a:avLst>
              <a:gd name="adj" fmla="val 337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f_codeh18"/>
          <p:cNvSpPr txBox="1"/>
          <p:nvPr/>
        </p:nvSpPr>
        <p:spPr>
          <a:xfrm>
            <a:off x="4873752" y="1399032"/>
            <a:ext cx="3648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List</a:t>
            </a:r>
          </a:p>
        </p:txBody>
      </p:sp>
      <p:sp>
        <p:nvSpPr>
          <p:cNvPr id="20" name="a2w_code19"/>
          <p:cNvSpPr txBox="1"/>
          <p:nvPr/>
        </p:nvSpPr>
        <p:spPr>
          <a:xfrm>
            <a:off x="4873752" y="1783080"/>
            <a:ext cx="36484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List.insert_at(l, 1, :x)   #=&gt; [3, :x, 1, 2]</a:t>
            </a:r>
          </a:p>
        </p:txBody>
      </p:sp>
      <p:sp>
        <p:nvSpPr>
          <p:cNvPr id="21" name="a2wd60_code20"/>
          <p:cNvSpPr txBox="1"/>
          <p:nvPr/>
        </p:nvSpPr>
        <p:spPr>
          <a:xfrm>
            <a:off x="4873752" y="1956816"/>
            <a:ext cx="36484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List.insert_at(l, -1, :x)  #=&gt; [3, 1, 2, :x]</a:t>
            </a:r>
          </a:p>
        </p:txBody>
      </p:sp>
      <p:sp>
        <p:nvSpPr>
          <p:cNvPr id="22" name="a2wd120_code21"/>
          <p:cNvSpPr txBox="1"/>
          <p:nvPr/>
        </p:nvSpPr>
        <p:spPr>
          <a:xfrm>
            <a:off x="4873752" y="2130552"/>
            <a:ext cx="36484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List.insert_at(l, 99, :x)  #=&gt; [3, 1, 2, :x]</a:t>
            </a:r>
          </a:p>
        </p:txBody>
      </p:sp>
      <p:sp>
        <p:nvSpPr>
          <p:cNvPr id="23" name="a2wd180_code22"/>
          <p:cNvSpPr txBox="1"/>
          <p:nvPr/>
        </p:nvSpPr>
        <p:spPr>
          <a:xfrm>
            <a:off x="4873752" y="2304288"/>
            <a:ext cx="36484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List.replace_at(l, 0, :x)  #=&gt; [:x, 1, 2]</a:t>
            </a:r>
          </a:p>
        </p:txBody>
      </p:sp>
      <p:sp>
        <p:nvSpPr>
          <p:cNvPr id="24" name="a2wd240_code23"/>
          <p:cNvSpPr txBox="1"/>
          <p:nvPr/>
        </p:nvSpPr>
        <p:spPr>
          <a:xfrm>
            <a:off x="4873752" y="2478024"/>
            <a:ext cx="36484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List.replace_at(l, 99, :x) #=&gt; [3, 1, 2]</a:t>
            </a:r>
          </a:p>
        </p:txBody>
      </p:sp>
      <p:sp>
        <p:nvSpPr>
          <p:cNvPr id="25" name="a2wd300_code24"/>
          <p:cNvSpPr txBox="1"/>
          <p:nvPr/>
        </p:nvSpPr>
        <p:spPr>
          <a:xfrm>
            <a:off x="4873752" y="2651760"/>
            <a:ext cx="36484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List.update_at(l, 0, &amp;(&amp;1 * 10))</a:t>
            </a:r>
          </a:p>
        </p:txBody>
      </p:sp>
      <p:sp>
        <p:nvSpPr>
          <p:cNvPr id="26" name="a2wd360_code25"/>
          <p:cNvSpPr txBox="1"/>
          <p:nvPr/>
        </p:nvSpPr>
        <p:spPr>
          <a:xfrm>
            <a:off x="4873752" y="2825496"/>
            <a:ext cx="36484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                         #=&gt; [30, 1, 2]</a:t>
            </a:r>
          </a:p>
        </p:txBody>
      </p:sp>
      <p:sp>
        <p:nvSpPr>
          <p:cNvPr id="27" name="a2wd420_code26"/>
          <p:cNvSpPr txBox="1"/>
          <p:nvPr/>
        </p:nvSpPr>
        <p:spPr>
          <a:xfrm>
            <a:off x="4873752" y="2999232"/>
            <a:ext cx="36484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List.delete([1, 2, 1], 1)  #=&gt; [2, 1]</a:t>
            </a:r>
          </a:p>
        </p:txBody>
      </p:sp>
      <p:sp>
        <p:nvSpPr>
          <p:cNvPr id="28" name="a2wd480_code27"/>
          <p:cNvSpPr txBox="1"/>
          <p:nvPr/>
        </p:nvSpPr>
        <p:spPr>
          <a:xfrm>
            <a:off x="4873752" y="3172968"/>
            <a:ext cx="36484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List.delete_at(l, 0)       #=&gt; [1, 2]</a:t>
            </a:r>
          </a:p>
        </p:txBody>
      </p:sp>
      <p:sp>
        <p:nvSpPr>
          <p:cNvPr id="29" name="a3f_nb28"/>
          <p:cNvSpPr/>
          <p:nvPr/>
        </p:nvSpPr>
        <p:spPr>
          <a:xfrm>
            <a:off x="457200" y="3986783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3f_nacc29"/>
          <p:cNvSpPr/>
          <p:nvPr/>
        </p:nvSpPr>
        <p:spPr>
          <a:xfrm>
            <a:off x="457200" y="3986783"/>
            <a:ext cx="50292" cy="5120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3f_nt30"/>
          <p:cNvSpPr txBox="1"/>
          <p:nvPr/>
        </p:nvSpPr>
        <p:spPr>
          <a:xfrm>
            <a:off x="658368" y="3986783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insert_at past the end appends; replace_at past the end quietly does nothing; Enum.at returns nil. And -- and List.delete/2 remove the FIRST match only: [1, 2, 1, 3] -- [1] still holds a 1.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LISTS · BUILDING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Prepend is free, append copies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Build a list with ++ [x] in a loop and the cost grows at least with the square of n.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3840480" cy="2066543"/>
          </a:xfrm>
          <a:prstGeom prst="roundRect">
            <a:avLst>
              <a:gd name="adj" fmla="val 353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35112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the two builders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defp prepend(0, acc), do: acc</a:t>
            </a:r>
          </a:p>
        </p:txBody>
      </p:sp>
      <p:sp>
        <p:nvSpPr>
          <p:cNvPr id="8" name="a1wd70_code7"/>
          <p:cNvSpPr txBox="1"/>
          <p:nvPr/>
        </p:nvSpPr>
        <p:spPr>
          <a:xfrm>
            <a:off x="621792" y="1965960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defp prepend(n, acc),</a:t>
            </a:r>
          </a:p>
        </p:txBody>
      </p:sp>
      <p:sp>
        <p:nvSpPr>
          <p:cNvPr id="9" name="a1wd140_code8"/>
          <p:cNvSpPr txBox="1"/>
          <p:nvPr/>
        </p:nvSpPr>
        <p:spPr>
          <a:xfrm>
            <a:off x="621792" y="2148840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do: prepend(n - 1, [n | acc])</a:t>
            </a:r>
          </a:p>
        </p:txBody>
      </p:sp>
      <p:sp>
        <p:nvSpPr>
          <p:cNvPr id="10" name="a1wd210_code9"/>
          <p:cNvSpPr txBox="1"/>
          <p:nvPr/>
        </p:nvSpPr>
        <p:spPr>
          <a:xfrm>
            <a:off x="621792" y="2331720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# ...then Enum.reverse/1, once</a:t>
            </a:r>
          </a:p>
        </p:txBody>
      </p:sp>
      <p:sp>
        <p:nvSpPr>
          <p:cNvPr id="11" name="a1wd280_code10"/>
          <p:cNvSpPr txBox="1"/>
          <p:nvPr/>
        </p:nvSpPr>
        <p:spPr>
          <a:xfrm>
            <a:off x="621792" y="2514600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2" name="a1wd350_code11"/>
          <p:cNvSpPr txBox="1"/>
          <p:nvPr/>
        </p:nvSpPr>
        <p:spPr>
          <a:xfrm>
            <a:off x="621792" y="2697480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defp append(0, acc), do: acc</a:t>
            </a:r>
          </a:p>
        </p:txBody>
      </p:sp>
      <p:sp>
        <p:nvSpPr>
          <p:cNvPr id="13" name="a1wd420_code12"/>
          <p:cNvSpPr txBox="1"/>
          <p:nvPr/>
        </p:nvSpPr>
        <p:spPr>
          <a:xfrm>
            <a:off x="621792" y="2880360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defp append(n, acc),</a:t>
            </a:r>
          </a:p>
        </p:txBody>
      </p:sp>
      <p:sp>
        <p:nvSpPr>
          <p:cNvPr id="14" name="a1wd490_code13"/>
          <p:cNvSpPr txBox="1"/>
          <p:nvPr/>
        </p:nvSpPr>
        <p:spPr>
          <a:xfrm>
            <a:off x="621792" y="3063240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do: append(n - 1, acc ++ [n])</a:t>
            </a:r>
          </a:p>
        </p:txBody>
      </p:sp>
      <p:sp>
        <p:nvSpPr>
          <p:cNvPr id="15" name="a2f_tl14"/>
          <p:cNvSpPr txBox="1"/>
          <p:nvPr/>
        </p:nvSpPr>
        <p:spPr>
          <a:xfrm>
            <a:off x="4480560" y="1344168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4B275F"/>
                </a:solidFill>
                <a:latin typeface="Calibri"/>
              </a:rPr>
              <a:t>REAL · fresh process, best of 7</a:t>
            </a:r>
          </a:p>
        </p:txBody>
      </p:sp>
      <p:sp>
        <p:nvSpPr>
          <p:cNvPr id="16" name="a2f_th15"/>
          <p:cNvSpPr/>
          <p:nvPr/>
        </p:nvSpPr>
        <p:spPr>
          <a:xfrm>
            <a:off x="4480560" y="1618488"/>
            <a:ext cx="777240" cy="3108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f_tht16"/>
          <p:cNvSpPr txBox="1"/>
          <p:nvPr/>
        </p:nvSpPr>
        <p:spPr>
          <a:xfrm>
            <a:off x="4553712" y="1618488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18" name="a2wd140_td17"/>
          <p:cNvSpPr/>
          <p:nvPr/>
        </p:nvSpPr>
        <p:spPr>
          <a:xfrm>
            <a:off x="4480560" y="1929384"/>
            <a:ext cx="777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wd140_tdt18"/>
          <p:cNvSpPr txBox="1"/>
          <p:nvPr/>
        </p:nvSpPr>
        <p:spPr>
          <a:xfrm>
            <a:off x="4553712" y="1929384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5,000</a:t>
            </a:r>
          </a:p>
        </p:txBody>
      </p:sp>
      <p:sp>
        <p:nvSpPr>
          <p:cNvPr id="20" name="a2wd280_td19"/>
          <p:cNvSpPr/>
          <p:nvPr/>
        </p:nvSpPr>
        <p:spPr>
          <a:xfrm>
            <a:off x="4480560" y="2240280"/>
            <a:ext cx="777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wd280_tdt20"/>
          <p:cNvSpPr txBox="1"/>
          <p:nvPr/>
        </p:nvSpPr>
        <p:spPr>
          <a:xfrm>
            <a:off x="4553712" y="2240280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10,000</a:t>
            </a:r>
          </a:p>
        </p:txBody>
      </p:sp>
      <p:sp>
        <p:nvSpPr>
          <p:cNvPr id="22" name="a2wd420_td21"/>
          <p:cNvSpPr/>
          <p:nvPr/>
        </p:nvSpPr>
        <p:spPr>
          <a:xfrm>
            <a:off x="4480560" y="2551176"/>
            <a:ext cx="777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wd420_tdt22"/>
          <p:cNvSpPr txBox="1"/>
          <p:nvPr/>
        </p:nvSpPr>
        <p:spPr>
          <a:xfrm>
            <a:off x="4553712" y="2551176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20,000</a:t>
            </a:r>
          </a:p>
        </p:txBody>
      </p:sp>
      <p:sp>
        <p:nvSpPr>
          <p:cNvPr id="24" name="a2wd560_td23"/>
          <p:cNvSpPr/>
          <p:nvPr/>
        </p:nvSpPr>
        <p:spPr>
          <a:xfrm>
            <a:off x="4480560" y="2862072"/>
            <a:ext cx="777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wd560_tdt24"/>
          <p:cNvSpPr txBox="1"/>
          <p:nvPr/>
        </p:nvSpPr>
        <p:spPr>
          <a:xfrm>
            <a:off x="4553712" y="2862072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40,000</a:t>
            </a:r>
          </a:p>
        </p:txBody>
      </p:sp>
      <p:sp>
        <p:nvSpPr>
          <p:cNvPr id="26" name="a2f_th25"/>
          <p:cNvSpPr/>
          <p:nvPr/>
        </p:nvSpPr>
        <p:spPr>
          <a:xfrm>
            <a:off x="5257800" y="1618488"/>
            <a:ext cx="1325880" cy="3108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f_tht26"/>
          <p:cNvSpPr txBox="1"/>
          <p:nvPr/>
        </p:nvSpPr>
        <p:spPr>
          <a:xfrm>
            <a:off x="5330952" y="1618488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prepend + reverse</a:t>
            </a:r>
          </a:p>
        </p:txBody>
      </p:sp>
      <p:sp>
        <p:nvSpPr>
          <p:cNvPr id="28" name="a2wd140_td27"/>
          <p:cNvSpPr/>
          <p:nvPr/>
        </p:nvSpPr>
        <p:spPr>
          <a:xfrm>
            <a:off x="5257800" y="1929384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wd140_tdt28"/>
          <p:cNvSpPr txBox="1"/>
          <p:nvPr/>
        </p:nvSpPr>
        <p:spPr>
          <a:xfrm>
            <a:off x="5330952" y="1929384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0.049 ms</a:t>
            </a:r>
          </a:p>
        </p:txBody>
      </p:sp>
      <p:sp>
        <p:nvSpPr>
          <p:cNvPr id="30" name="a2wd280_td29"/>
          <p:cNvSpPr/>
          <p:nvPr/>
        </p:nvSpPr>
        <p:spPr>
          <a:xfrm>
            <a:off x="5257800" y="2240280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2wd280_tdt30"/>
          <p:cNvSpPr txBox="1"/>
          <p:nvPr/>
        </p:nvSpPr>
        <p:spPr>
          <a:xfrm>
            <a:off x="5330952" y="2240280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0.156 ms</a:t>
            </a:r>
          </a:p>
        </p:txBody>
      </p:sp>
      <p:sp>
        <p:nvSpPr>
          <p:cNvPr id="32" name="a2wd420_td31"/>
          <p:cNvSpPr/>
          <p:nvPr/>
        </p:nvSpPr>
        <p:spPr>
          <a:xfrm>
            <a:off x="5257800" y="2551176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2wd420_tdt32"/>
          <p:cNvSpPr txBox="1"/>
          <p:nvPr/>
        </p:nvSpPr>
        <p:spPr>
          <a:xfrm>
            <a:off x="5330952" y="25511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0.430 ms</a:t>
            </a:r>
          </a:p>
        </p:txBody>
      </p:sp>
      <p:sp>
        <p:nvSpPr>
          <p:cNvPr id="34" name="a2wd560_td33"/>
          <p:cNvSpPr/>
          <p:nvPr/>
        </p:nvSpPr>
        <p:spPr>
          <a:xfrm>
            <a:off x="5257800" y="2862072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2wd560_tdt34"/>
          <p:cNvSpPr txBox="1"/>
          <p:nvPr/>
        </p:nvSpPr>
        <p:spPr>
          <a:xfrm>
            <a:off x="5330952" y="2862072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0.762 ms</a:t>
            </a:r>
          </a:p>
        </p:txBody>
      </p:sp>
      <p:sp>
        <p:nvSpPr>
          <p:cNvPr id="36" name="a2f_th35"/>
          <p:cNvSpPr/>
          <p:nvPr/>
        </p:nvSpPr>
        <p:spPr>
          <a:xfrm>
            <a:off x="6583680" y="1618488"/>
            <a:ext cx="1097280" cy="3108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2f_tht36"/>
          <p:cNvSpPr txBox="1"/>
          <p:nvPr/>
        </p:nvSpPr>
        <p:spPr>
          <a:xfrm>
            <a:off x="6656832" y="1618488"/>
            <a:ext cx="9875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append</a:t>
            </a:r>
          </a:p>
        </p:txBody>
      </p:sp>
      <p:sp>
        <p:nvSpPr>
          <p:cNvPr id="38" name="a2wd140_td37"/>
          <p:cNvSpPr/>
          <p:nvPr/>
        </p:nvSpPr>
        <p:spPr>
          <a:xfrm>
            <a:off x="6583680" y="192938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2wd140_tdt38"/>
          <p:cNvSpPr txBox="1"/>
          <p:nvPr/>
        </p:nvSpPr>
        <p:spPr>
          <a:xfrm>
            <a:off x="6656832" y="1929384"/>
            <a:ext cx="9875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53.2 ms</a:t>
            </a:r>
          </a:p>
        </p:txBody>
      </p:sp>
      <p:sp>
        <p:nvSpPr>
          <p:cNvPr id="40" name="a2wd280_td39"/>
          <p:cNvSpPr/>
          <p:nvPr/>
        </p:nvSpPr>
        <p:spPr>
          <a:xfrm>
            <a:off x="6583680" y="224028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2wd280_tdt40"/>
          <p:cNvSpPr txBox="1"/>
          <p:nvPr/>
        </p:nvSpPr>
        <p:spPr>
          <a:xfrm>
            <a:off x="6656832" y="2240280"/>
            <a:ext cx="9875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344.3 ms</a:t>
            </a:r>
          </a:p>
        </p:txBody>
      </p:sp>
      <p:sp>
        <p:nvSpPr>
          <p:cNvPr id="42" name="a2wd420_td41"/>
          <p:cNvSpPr/>
          <p:nvPr/>
        </p:nvSpPr>
        <p:spPr>
          <a:xfrm>
            <a:off x="6583680" y="255117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2wd420_tdt42"/>
          <p:cNvSpPr txBox="1"/>
          <p:nvPr/>
        </p:nvSpPr>
        <p:spPr>
          <a:xfrm>
            <a:off x="6656832" y="2551176"/>
            <a:ext cx="9875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1,580.0 ms</a:t>
            </a:r>
          </a:p>
        </p:txBody>
      </p:sp>
      <p:sp>
        <p:nvSpPr>
          <p:cNvPr id="44" name="a2wd560_td43"/>
          <p:cNvSpPr/>
          <p:nvPr/>
        </p:nvSpPr>
        <p:spPr>
          <a:xfrm>
            <a:off x="6583680" y="286207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2wd560_tdt44"/>
          <p:cNvSpPr txBox="1"/>
          <p:nvPr/>
        </p:nvSpPr>
        <p:spPr>
          <a:xfrm>
            <a:off x="6656832" y="2862072"/>
            <a:ext cx="9875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6,457.1 ms</a:t>
            </a:r>
          </a:p>
        </p:txBody>
      </p:sp>
      <p:sp>
        <p:nvSpPr>
          <p:cNvPr id="46" name="a2f_th45"/>
          <p:cNvSpPr/>
          <p:nvPr/>
        </p:nvSpPr>
        <p:spPr>
          <a:xfrm>
            <a:off x="7680960" y="1618488"/>
            <a:ext cx="1005840" cy="3108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2f_tht46"/>
          <p:cNvSpPr txBox="1"/>
          <p:nvPr/>
        </p:nvSpPr>
        <p:spPr>
          <a:xfrm>
            <a:off x="7754112" y="1618488"/>
            <a:ext cx="896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ratio</a:t>
            </a:r>
          </a:p>
        </p:txBody>
      </p:sp>
      <p:sp>
        <p:nvSpPr>
          <p:cNvPr id="48" name="a2wd140_td47"/>
          <p:cNvSpPr/>
          <p:nvPr/>
        </p:nvSpPr>
        <p:spPr>
          <a:xfrm>
            <a:off x="7680960" y="1929384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2wd140_tdt48"/>
          <p:cNvSpPr txBox="1"/>
          <p:nvPr/>
        </p:nvSpPr>
        <p:spPr>
          <a:xfrm>
            <a:off x="7754112" y="1929384"/>
            <a:ext cx="896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1,083x</a:t>
            </a:r>
          </a:p>
        </p:txBody>
      </p:sp>
      <p:sp>
        <p:nvSpPr>
          <p:cNvPr id="50" name="a2wd280_td49"/>
          <p:cNvSpPr/>
          <p:nvPr/>
        </p:nvSpPr>
        <p:spPr>
          <a:xfrm>
            <a:off x="7680960" y="2240280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2wd280_tdt50"/>
          <p:cNvSpPr txBox="1"/>
          <p:nvPr/>
        </p:nvSpPr>
        <p:spPr>
          <a:xfrm>
            <a:off x="7754112" y="2240280"/>
            <a:ext cx="896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2,212x</a:t>
            </a:r>
          </a:p>
        </p:txBody>
      </p:sp>
      <p:sp>
        <p:nvSpPr>
          <p:cNvPr id="52" name="a2wd420_td51"/>
          <p:cNvSpPr/>
          <p:nvPr/>
        </p:nvSpPr>
        <p:spPr>
          <a:xfrm>
            <a:off x="7680960" y="2551176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2wd420_tdt52"/>
          <p:cNvSpPr txBox="1"/>
          <p:nvPr/>
        </p:nvSpPr>
        <p:spPr>
          <a:xfrm>
            <a:off x="7754112" y="2551176"/>
            <a:ext cx="896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3,674x</a:t>
            </a:r>
          </a:p>
        </p:txBody>
      </p:sp>
      <p:sp>
        <p:nvSpPr>
          <p:cNvPr id="54" name="a2wd560_td53"/>
          <p:cNvSpPr/>
          <p:nvPr/>
        </p:nvSpPr>
        <p:spPr>
          <a:xfrm>
            <a:off x="7680960" y="286207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2wd560_tdt54"/>
          <p:cNvSpPr txBox="1"/>
          <p:nvPr/>
        </p:nvSpPr>
        <p:spPr>
          <a:xfrm>
            <a:off x="7754112" y="2862072"/>
            <a:ext cx="896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8,476x</a:t>
            </a:r>
          </a:p>
        </p:txBody>
      </p:sp>
      <p:sp>
        <p:nvSpPr>
          <p:cNvPr id="56" name="a3u_dot55"/>
          <p:cNvSpPr/>
          <p:nvPr/>
        </p:nvSpPr>
        <p:spPr>
          <a:xfrm>
            <a:off x="457200" y="365759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3u_b56"/>
          <p:cNvSpPr txBox="1"/>
          <p:nvPr/>
        </p:nvSpPr>
        <p:spPr>
          <a:xfrm>
            <a:off x="676656" y="3557015"/>
            <a:ext cx="8010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Eight times the elements: append took 121x as long  </a:t>
            </a:r>
            <a:r>
              <a:rPr sz="1150" b="0">
                <a:solidFill>
                  <a:srgbClr val="334155"/>
                </a:solidFill>
                <a:latin typeface="Calibri"/>
              </a:rPr>
              <a:t>each ++ copies every cell built so far, so the total is quadratic — and so is the garbage</a:t>
            </a:r>
          </a:p>
        </p:txBody>
      </p:sp>
      <p:sp>
        <p:nvSpPr>
          <p:cNvPr id="58" name="a3ud200_dot57"/>
          <p:cNvSpPr/>
          <p:nvPr/>
        </p:nvSpPr>
        <p:spPr>
          <a:xfrm>
            <a:off x="457200" y="4078224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3ud200_b58"/>
          <p:cNvSpPr txBox="1"/>
          <p:nvPr/>
        </p:nvSpPr>
        <p:spPr>
          <a:xfrm>
            <a:off x="676656" y="3977640"/>
            <a:ext cx="8010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Prepend + reverse took 16x  </a:t>
            </a:r>
            <a:r>
              <a:rPr sz="1150" b="0">
                <a:solidFill>
                  <a:srgbClr val="334155"/>
                </a:solidFill>
                <a:latin typeface="Calibri"/>
              </a:rPr>
              <a:t>one new cell per element, one reverse at the end; the gap between them only widens</a:t>
            </a:r>
          </a:p>
        </p:txBody>
      </p:sp>
      <p:sp>
        <p:nvSpPr>
          <p:cNvPr id="60" name="ft5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61" name="ft6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LISTS · POSITION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 list has no index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Enum.at/2 walks from the front every time. length/1 walks all of it.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25880"/>
            <a:ext cx="3108960" cy="301752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tht5"/>
          <p:cNvSpPr txBox="1"/>
          <p:nvPr/>
        </p:nvSpPr>
        <p:spPr>
          <a:xfrm>
            <a:off x="530352" y="1325880"/>
            <a:ext cx="299923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On 1,000,000 elements</a:t>
            </a:r>
          </a:p>
        </p:txBody>
      </p:sp>
      <p:sp>
        <p:nvSpPr>
          <p:cNvPr id="7" name="a1wd120_td6"/>
          <p:cNvSpPr/>
          <p:nvPr/>
        </p:nvSpPr>
        <p:spPr>
          <a:xfrm>
            <a:off x="457200" y="1627632"/>
            <a:ext cx="31089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d120_tdt7"/>
          <p:cNvSpPr txBox="1"/>
          <p:nvPr/>
        </p:nvSpPr>
        <p:spPr>
          <a:xfrm>
            <a:off x="530352" y="1627632"/>
            <a:ext cx="299923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read index 0</a:t>
            </a:r>
          </a:p>
        </p:txBody>
      </p:sp>
      <p:sp>
        <p:nvSpPr>
          <p:cNvPr id="9" name="a1wd240_td8"/>
          <p:cNvSpPr/>
          <p:nvPr/>
        </p:nvSpPr>
        <p:spPr>
          <a:xfrm>
            <a:off x="457200" y="1929384"/>
            <a:ext cx="31089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wd240_tdt9"/>
          <p:cNvSpPr txBox="1"/>
          <p:nvPr/>
        </p:nvSpPr>
        <p:spPr>
          <a:xfrm>
            <a:off x="530352" y="1929384"/>
            <a:ext cx="299923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read index 1,000</a:t>
            </a:r>
          </a:p>
        </p:txBody>
      </p:sp>
      <p:sp>
        <p:nvSpPr>
          <p:cNvPr id="11" name="a1wd360_td10"/>
          <p:cNvSpPr/>
          <p:nvPr/>
        </p:nvSpPr>
        <p:spPr>
          <a:xfrm>
            <a:off x="457200" y="2231136"/>
            <a:ext cx="31089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wd360_tdt11"/>
          <p:cNvSpPr txBox="1"/>
          <p:nvPr/>
        </p:nvSpPr>
        <p:spPr>
          <a:xfrm>
            <a:off x="530352" y="2231136"/>
            <a:ext cx="299923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read index 100,000</a:t>
            </a:r>
          </a:p>
        </p:txBody>
      </p:sp>
      <p:sp>
        <p:nvSpPr>
          <p:cNvPr id="13" name="a1wd480_td12"/>
          <p:cNvSpPr/>
          <p:nvPr/>
        </p:nvSpPr>
        <p:spPr>
          <a:xfrm>
            <a:off x="457200" y="2532888"/>
            <a:ext cx="31089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480_tdt13"/>
          <p:cNvSpPr txBox="1"/>
          <p:nvPr/>
        </p:nvSpPr>
        <p:spPr>
          <a:xfrm>
            <a:off x="530352" y="2532888"/>
            <a:ext cx="299923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read index 999,999</a:t>
            </a:r>
          </a:p>
        </p:txBody>
      </p:sp>
      <p:sp>
        <p:nvSpPr>
          <p:cNvPr id="15" name="a1wd600_td14"/>
          <p:cNvSpPr/>
          <p:nvPr/>
        </p:nvSpPr>
        <p:spPr>
          <a:xfrm>
            <a:off x="457200" y="2834640"/>
            <a:ext cx="31089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600_tdt15"/>
          <p:cNvSpPr txBox="1"/>
          <p:nvPr/>
        </p:nvSpPr>
        <p:spPr>
          <a:xfrm>
            <a:off x="530352" y="2834640"/>
            <a:ext cx="299923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how long is it?</a:t>
            </a:r>
          </a:p>
        </p:txBody>
      </p:sp>
      <p:sp>
        <p:nvSpPr>
          <p:cNvPr id="17" name="a1f_th16"/>
          <p:cNvSpPr/>
          <p:nvPr/>
        </p:nvSpPr>
        <p:spPr>
          <a:xfrm>
            <a:off x="3566160" y="1325880"/>
            <a:ext cx="2560320" cy="301752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f_tht17"/>
          <p:cNvSpPr txBox="1"/>
          <p:nvPr/>
        </p:nvSpPr>
        <p:spPr>
          <a:xfrm>
            <a:off x="3639312" y="1325880"/>
            <a:ext cx="24505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List</a:t>
            </a:r>
          </a:p>
        </p:txBody>
      </p:sp>
      <p:sp>
        <p:nvSpPr>
          <p:cNvPr id="19" name="a1wd120_td18"/>
          <p:cNvSpPr/>
          <p:nvPr/>
        </p:nvSpPr>
        <p:spPr>
          <a:xfrm>
            <a:off x="3566160" y="1627632"/>
            <a:ext cx="2560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wd120_tdt19"/>
          <p:cNvSpPr txBox="1"/>
          <p:nvPr/>
        </p:nvSpPr>
        <p:spPr>
          <a:xfrm>
            <a:off x="3639312" y="1627632"/>
            <a:ext cx="24505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Enum.at   ~0 ns</a:t>
            </a:r>
          </a:p>
        </p:txBody>
      </p:sp>
      <p:sp>
        <p:nvSpPr>
          <p:cNvPr id="21" name="a1wd240_td20"/>
          <p:cNvSpPr/>
          <p:nvPr/>
        </p:nvSpPr>
        <p:spPr>
          <a:xfrm>
            <a:off x="3566160" y="1929384"/>
            <a:ext cx="2560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240_tdt21"/>
          <p:cNvSpPr txBox="1"/>
          <p:nvPr/>
        </p:nvSpPr>
        <p:spPr>
          <a:xfrm>
            <a:off x="3639312" y="1929384"/>
            <a:ext cx="24505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Enum.at   2.04 µs</a:t>
            </a:r>
          </a:p>
        </p:txBody>
      </p:sp>
      <p:sp>
        <p:nvSpPr>
          <p:cNvPr id="23" name="a1wd360_td22"/>
          <p:cNvSpPr/>
          <p:nvPr/>
        </p:nvSpPr>
        <p:spPr>
          <a:xfrm>
            <a:off x="3566160" y="2231136"/>
            <a:ext cx="2560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wd360_tdt23"/>
          <p:cNvSpPr txBox="1"/>
          <p:nvPr/>
        </p:nvSpPr>
        <p:spPr>
          <a:xfrm>
            <a:off x="3639312" y="2231136"/>
            <a:ext cx="24505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Enum.at   281 µs</a:t>
            </a:r>
          </a:p>
        </p:txBody>
      </p:sp>
      <p:sp>
        <p:nvSpPr>
          <p:cNvPr id="25" name="a1wd480_td24"/>
          <p:cNvSpPr/>
          <p:nvPr/>
        </p:nvSpPr>
        <p:spPr>
          <a:xfrm>
            <a:off x="3566160" y="2532888"/>
            <a:ext cx="2560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wd480_tdt25"/>
          <p:cNvSpPr txBox="1"/>
          <p:nvPr/>
        </p:nvSpPr>
        <p:spPr>
          <a:xfrm>
            <a:off x="3639312" y="2532888"/>
            <a:ext cx="24505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Enum.at   3.06 ms</a:t>
            </a:r>
          </a:p>
        </p:txBody>
      </p:sp>
      <p:sp>
        <p:nvSpPr>
          <p:cNvPr id="27" name="a1wd600_td26"/>
          <p:cNvSpPr/>
          <p:nvPr/>
        </p:nvSpPr>
        <p:spPr>
          <a:xfrm>
            <a:off x="3566160" y="2834640"/>
            <a:ext cx="2560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600_tdt27"/>
          <p:cNvSpPr txBox="1"/>
          <p:nvPr/>
        </p:nvSpPr>
        <p:spPr>
          <a:xfrm>
            <a:off x="3639312" y="2834640"/>
            <a:ext cx="24505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length   1.79 ms</a:t>
            </a:r>
          </a:p>
        </p:txBody>
      </p:sp>
      <p:sp>
        <p:nvSpPr>
          <p:cNvPr id="29" name="a1f_th28"/>
          <p:cNvSpPr/>
          <p:nvPr/>
        </p:nvSpPr>
        <p:spPr>
          <a:xfrm>
            <a:off x="6126479" y="1325880"/>
            <a:ext cx="2560320" cy="301752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f_tht29"/>
          <p:cNvSpPr txBox="1"/>
          <p:nvPr/>
        </p:nvSpPr>
        <p:spPr>
          <a:xfrm>
            <a:off x="6199631" y="1325880"/>
            <a:ext cx="24505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Tuple of the same</a:t>
            </a:r>
          </a:p>
        </p:txBody>
      </p:sp>
      <p:sp>
        <p:nvSpPr>
          <p:cNvPr id="31" name="a1wd120_td30"/>
          <p:cNvSpPr/>
          <p:nvPr/>
        </p:nvSpPr>
        <p:spPr>
          <a:xfrm>
            <a:off x="6126479" y="1627632"/>
            <a:ext cx="2560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120_tdt31"/>
          <p:cNvSpPr txBox="1"/>
          <p:nvPr/>
        </p:nvSpPr>
        <p:spPr>
          <a:xfrm>
            <a:off x="6199631" y="1627632"/>
            <a:ext cx="24505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elem   3.1 ns</a:t>
            </a:r>
          </a:p>
        </p:txBody>
      </p:sp>
      <p:sp>
        <p:nvSpPr>
          <p:cNvPr id="33" name="a1wd240_td32"/>
          <p:cNvSpPr/>
          <p:nvPr/>
        </p:nvSpPr>
        <p:spPr>
          <a:xfrm>
            <a:off x="6126479" y="1929384"/>
            <a:ext cx="2560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wd240_tdt33"/>
          <p:cNvSpPr txBox="1"/>
          <p:nvPr/>
        </p:nvSpPr>
        <p:spPr>
          <a:xfrm>
            <a:off x="6199631" y="1929384"/>
            <a:ext cx="24505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elem   3.1 ns</a:t>
            </a:r>
          </a:p>
        </p:txBody>
      </p:sp>
      <p:sp>
        <p:nvSpPr>
          <p:cNvPr id="35" name="a1wd360_td34"/>
          <p:cNvSpPr/>
          <p:nvPr/>
        </p:nvSpPr>
        <p:spPr>
          <a:xfrm>
            <a:off x="6126479" y="2231136"/>
            <a:ext cx="2560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1wd360_tdt35"/>
          <p:cNvSpPr txBox="1"/>
          <p:nvPr/>
        </p:nvSpPr>
        <p:spPr>
          <a:xfrm>
            <a:off x="6199631" y="2231136"/>
            <a:ext cx="24505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elem   3.1 ns</a:t>
            </a:r>
          </a:p>
        </p:txBody>
      </p:sp>
      <p:sp>
        <p:nvSpPr>
          <p:cNvPr id="37" name="a1wd480_td36"/>
          <p:cNvSpPr/>
          <p:nvPr/>
        </p:nvSpPr>
        <p:spPr>
          <a:xfrm>
            <a:off x="6126479" y="2532888"/>
            <a:ext cx="2560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1wd480_tdt37"/>
          <p:cNvSpPr txBox="1"/>
          <p:nvPr/>
        </p:nvSpPr>
        <p:spPr>
          <a:xfrm>
            <a:off x="6199631" y="2532888"/>
            <a:ext cx="24505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elem   3.1 ns</a:t>
            </a:r>
          </a:p>
        </p:txBody>
      </p:sp>
      <p:sp>
        <p:nvSpPr>
          <p:cNvPr id="39" name="a1wd600_td38"/>
          <p:cNvSpPr/>
          <p:nvPr/>
        </p:nvSpPr>
        <p:spPr>
          <a:xfrm>
            <a:off x="6126479" y="2834640"/>
            <a:ext cx="2560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1wd600_tdt39"/>
          <p:cNvSpPr txBox="1"/>
          <p:nvPr/>
        </p:nvSpPr>
        <p:spPr>
          <a:xfrm>
            <a:off x="6199631" y="2834640"/>
            <a:ext cx="24505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tuple_size   1.0 ns</a:t>
            </a:r>
          </a:p>
        </p:txBody>
      </p:sp>
      <p:sp>
        <p:nvSpPr>
          <p:cNvPr id="41" name="a2u_dot40"/>
          <p:cNvSpPr/>
          <p:nvPr/>
        </p:nvSpPr>
        <p:spPr>
          <a:xfrm>
            <a:off x="457200" y="338327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2u_b41"/>
          <p:cNvSpPr txBox="1"/>
          <p:nvPr/>
        </p:nvSpPr>
        <p:spPr>
          <a:xfrm>
            <a:off x="676656" y="3282696"/>
            <a:ext cx="80101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Enum.at inside a loop over the same list is O(n²)  </a:t>
            </a:r>
            <a:r>
              <a:rPr sz="1150" b="0">
                <a:solidFill>
                  <a:srgbClr val="334155"/>
                </a:solidFill>
                <a:latin typeface="Calibri"/>
              </a:rPr>
              <a:t>iterate the list instead, or convert once to a tuple or a map</a:t>
            </a:r>
          </a:p>
        </p:txBody>
      </p:sp>
      <p:sp>
        <p:nvSpPr>
          <p:cNvPr id="43" name="a2ud180_dot42"/>
          <p:cNvSpPr/>
          <p:nvPr/>
        </p:nvSpPr>
        <p:spPr>
          <a:xfrm>
            <a:off x="457200" y="376732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2ud180_b43"/>
          <p:cNvSpPr txBox="1"/>
          <p:nvPr/>
        </p:nvSpPr>
        <p:spPr>
          <a:xfrm>
            <a:off x="676656" y="3666744"/>
            <a:ext cx="80101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Never test for empty with length(list) &gt; 0  </a:t>
            </a:r>
            <a:r>
              <a:rPr sz="1150" b="0">
                <a:solidFill>
                  <a:srgbClr val="334155"/>
                </a:solidFill>
                <a:latin typeface="Calibri"/>
              </a:rPr>
              <a:t>list == [] and a [_ | _] pattern answer in constant time</a:t>
            </a:r>
          </a:p>
        </p:txBody>
      </p:sp>
      <p:sp>
        <p:nvSpPr>
          <p:cNvPr id="45" name="a2ud360_dot44"/>
          <p:cNvSpPr/>
          <p:nvPr/>
        </p:nvSpPr>
        <p:spPr>
          <a:xfrm>
            <a:off x="457200" y="415137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2ud360_b45"/>
          <p:cNvSpPr txBox="1"/>
          <p:nvPr/>
        </p:nvSpPr>
        <p:spPr>
          <a:xfrm>
            <a:off x="676656" y="4050792"/>
            <a:ext cx="80101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Need random access? Use a tuple or a map  </a:t>
            </a:r>
            <a:r>
              <a:rPr sz="1150" b="0">
                <a:solidFill>
                  <a:srgbClr val="334155"/>
                </a:solidFill>
                <a:latin typeface="Calibri"/>
              </a:rPr>
              <a:t>and keep the list for what it is good at: walking front to back</a:t>
            </a:r>
          </a:p>
        </p:txBody>
      </p:sp>
      <p:sp>
        <p:nvSpPr>
          <p:cNvPr id="47" name="ft4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48" name="ft4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LISTS · SURPRISES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Two list surprises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list of small integers prints as text. A list can end in something that is not [].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617720" cy="2340863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42885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the charlist surprise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[104, 105]                  #=&gt; ~c"hi"</a:t>
            </a:r>
          </a:p>
        </p:txBody>
      </p:sp>
      <p:sp>
        <p:nvSpPr>
          <p:cNvPr id="8" name="a1wd70_code7"/>
          <p:cNvSpPr txBox="1"/>
          <p:nvPr/>
        </p:nvSpPr>
        <p:spPr>
          <a:xfrm>
            <a:off x="621792" y="1956816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[7, 8, 9]                   #=&gt; ~c"\a\b\t"</a:t>
            </a:r>
          </a:p>
        </p:txBody>
      </p:sp>
      <p:sp>
        <p:nvSpPr>
          <p:cNvPr id="9" name="a1wd140_code8"/>
          <p:cNvSpPr txBox="1"/>
          <p:nvPr/>
        </p:nvSpPr>
        <p:spPr>
          <a:xfrm>
            <a:off x="621792" y="2130552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Enum.chunk_every(1..7, 3)</a:t>
            </a:r>
          </a:p>
        </p:txBody>
      </p:sp>
      <p:sp>
        <p:nvSpPr>
          <p:cNvPr id="10" name="a1wd210_code9"/>
          <p:cNvSpPr txBox="1"/>
          <p:nvPr/>
        </p:nvSpPr>
        <p:spPr>
          <a:xfrm>
            <a:off x="621792" y="2304288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[[1, 2, 3], [4, 5, 6], ~c"\a"]</a:t>
            </a:r>
          </a:p>
        </p:txBody>
      </p:sp>
      <p:sp>
        <p:nvSpPr>
          <p:cNvPr id="11" name="a1wd280_code10"/>
          <p:cNvSpPr txBox="1"/>
          <p:nvPr/>
        </p:nvSpPr>
        <p:spPr>
          <a:xfrm>
            <a:off x="621792" y="2478024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for %{type: :withdrawal, amount: a} &lt;- txns,</a:t>
            </a:r>
          </a:p>
        </p:txBody>
      </p:sp>
      <p:sp>
        <p:nvSpPr>
          <p:cNvPr id="12" name="a1wd350_code11"/>
          <p:cNvSpPr txBox="1"/>
          <p:nvPr/>
        </p:nvSpPr>
        <p:spPr>
          <a:xfrm>
            <a:off x="621792" y="2651760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do: a                     #=&gt; ~c"x&lt;"</a:t>
            </a:r>
          </a:p>
        </p:txBody>
      </p:sp>
      <p:sp>
        <p:nvSpPr>
          <p:cNvPr id="13" name="a1wd420_code12"/>
          <p:cNvSpPr txBox="1"/>
          <p:nvPr/>
        </p:nvSpPr>
        <p:spPr>
          <a:xfrm>
            <a:off x="621792" y="2825496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4" name="a1wd490_code13"/>
          <p:cNvSpPr txBox="1"/>
          <p:nvPr/>
        </p:nvSpPr>
        <p:spPr>
          <a:xfrm>
            <a:off x="621792" y="2999232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[120, 60] == ~c"x&lt;"         #=&gt; true</a:t>
            </a:r>
          </a:p>
        </p:txBody>
      </p:sp>
      <p:sp>
        <p:nvSpPr>
          <p:cNvPr id="15" name="a1wd560_code14"/>
          <p:cNvSpPr txBox="1"/>
          <p:nvPr/>
        </p:nvSpPr>
        <p:spPr>
          <a:xfrm>
            <a:off x="621792" y="3172968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inspect([104, 105], charlists: :as_lists)</a:t>
            </a:r>
          </a:p>
        </p:txBody>
      </p:sp>
      <p:sp>
        <p:nvSpPr>
          <p:cNvPr id="16" name="a1wd630_code15"/>
          <p:cNvSpPr txBox="1"/>
          <p:nvPr/>
        </p:nvSpPr>
        <p:spPr>
          <a:xfrm>
            <a:off x="621792" y="3346704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"[104, 105]"</a:t>
            </a:r>
          </a:p>
        </p:txBody>
      </p:sp>
      <p:sp>
        <p:nvSpPr>
          <p:cNvPr id="17" name="a2f_codebg16"/>
          <p:cNvSpPr/>
          <p:nvPr/>
        </p:nvSpPr>
        <p:spPr>
          <a:xfrm>
            <a:off x="5257800" y="1344168"/>
            <a:ext cx="3429000" cy="1472184"/>
          </a:xfrm>
          <a:prstGeom prst="roundRect">
            <a:avLst>
              <a:gd name="adj" fmla="val 496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f_codeh17"/>
          <p:cNvSpPr txBox="1"/>
          <p:nvPr/>
        </p:nvSpPr>
        <p:spPr>
          <a:xfrm>
            <a:off x="5422392" y="1399032"/>
            <a:ext cx="30998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improper lists</a:t>
            </a:r>
          </a:p>
        </p:txBody>
      </p:sp>
      <p:sp>
        <p:nvSpPr>
          <p:cNvPr id="19" name="a2w_code18"/>
          <p:cNvSpPr txBox="1"/>
          <p:nvPr/>
        </p:nvSpPr>
        <p:spPr>
          <a:xfrm>
            <a:off x="5422392" y="1783080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[1 | 2]           #=&gt; [1 | 2]</a:t>
            </a:r>
          </a:p>
        </p:txBody>
      </p:sp>
      <p:sp>
        <p:nvSpPr>
          <p:cNvPr id="20" name="a2wd70_code19"/>
          <p:cNvSpPr txBox="1"/>
          <p:nvPr/>
        </p:nvSpPr>
        <p:spPr>
          <a:xfrm>
            <a:off x="5422392" y="1956816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is_list([1 | 2])  #=&gt; true</a:t>
            </a:r>
          </a:p>
        </p:txBody>
      </p:sp>
      <p:sp>
        <p:nvSpPr>
          <p:cNvPr id="21" name="a2wd140_code20"/>
          <p:cNvSpPr txBox="1"/>
          <p:nvPr/>
        </p:nvSpPr>
        <p:spPr>
          <a:xfrm>
            <a:off x="5422392" y="2130552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length([1 | 2])</a:t>
            </a:r>
          </a:p>
        </p:txBody>
      </p:sp>
      <p:sp>
        <p:nvSpPr>
          <p:cNvPr id="22" name="a2wd210_code21"/>
          <p:cNvSpPr txBox="1"/>
          <p:nvPr/>
        </p:nvSpPr>
        <p:spPr>
          <a:xfrm>
            <a:off x="5422392" y="2304288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** (ArgumentError) ...</a:t>
            </a:r>
          </a:p>
        </p:txBody>
      </p:sp>
      <p:sp>
        <p:nvSpPr>
          <p:cNvPr id="23" name="a2wd280_code22"/>
          <p:cNvSpPr txBox="1"/>
          <p:nvPr/>
        </p:nvSpPr>
        <p:spPr>
          <a:xfrm>
            <a:off x="5422392" y="2478024"/>
            <a:ext cx="30998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* 1st argument: not a list</a:t>
            </a:r>
          </a:p>
        </p:txBody>
      </p:sp>
      <p:sp>
        <p:nvSpPr>
          <p:cNvPr id="24" name="a3f_nb23"/>
          <p:cNvSpPr/>
          <p:nvPr/>
        </p:nvSpPr>
        <p:spPr>
          <a:xfrm>
            <a:off x="457200" y="3813047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f_nacc24"/>
          <p:cNvSpPr/>
          <p:nvPr/>
        </p:nvSpPr>
        <p:spPr>
          <a:xfrm>
            <a:off x="457200" y="3813047"/>
            <a:ext cx="50292" cy="56692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3f_nt25"/>
          <p:cNvSpPr txBox="1"/>
          <p:nvPr/>
        </p:nvSpPr>
        <p:spPr>
          <a:xfrm>
            <a:off x="658368" y="3813047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Nothing is wrong with the data. inspect prints any list of printable codepoints as a charlist, so two withdrawals of 120 and 60 appear as ~c"x&lt;". An improper list ends in something other than [] — you only meet one if you build it by mistake.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KEYWORD LISTS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Keyword lists: a list of {atom, value}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Ordered, keys may repeat, and Keyword.put does more than you might think.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8229600" cy="2514600"/>
          </a:xfrm>
          <a:prstGeom prst="roundRect">
            <a:avLst>
              <a:gd name="adj" fmla="val 290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probe_collections.exs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opts = [timeout: 5000, retries: 3]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56816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opts[:timeout]                     #=&gt; 5000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30552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Keyword.get(opts, :retries, 0)     #=&gt; 3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304288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Keyword.put(opts, :retries, 5)     #=&gt; [retries: 5, timeout: 5000]</a:t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478024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Keyword.merge(opts, retries: 9)    #=&gt; [timeout: 5000, retries: 9]</a:t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651760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Keyword.delete(opts, :timeout)     #=&gt; [retries: 3]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825496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2999232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dup = [tag: "a", tag: "b", size: 1]</a:t>
            </a:r>
          </a:p>
        </p:txBody>
      </p:sp>
      <p:sp>
        <p:nvSpPr>
          <p:cNvPr id="15" name="a1wd480_code14"/>
          <p:cNvSpPr txBox="1"/>
          <p:nvPr/>
        </p:nvSpPr>
        <p:spPr>
          <a:xfrm>
            <a:off x="621792" y="3172968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Keyword.get(dup, :tag)             #=&gt; "a"</a:t>
            </a:r>
          </a:p>
        </p:txBody>
      </p:sp>
      <p:sp>
        <p:nvSpPr>
          <p:cNvPr id="16" name="a1wd540_code15"/>
          <p:cNvSpPr txBox="1"/>
          <p:nvPr/>
        </p:nvSpPr>
        <p:spPr>
          <a:xfrm>
            <a:off x="621792" y="3346704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Keyword.get_values(dup, :tag)      #=&gt; ["a", "b"]</a:t>
            </a:r>
          </a:p>
        </p:txBody>
      </p:sp>
      <p:sp>
        <p:nvSpPr>
          <p:cNvPr id="17" name="a1wd600_code16"/>
          <p:cNvSpPr txBox="1"/>
          <p:nvPr/>
        </p:nvSpPr>
        <p:spPr>
          <a:xfrm>
            <a:off x="621792" y="3520439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Keyword.put(dup, :tag, "z")        #=&gt; [tag: "z", size: 1]</a:t>
            </a:r>
          </a:p>
        </p:txBody>
      </p:sp>
      <p:sp>
        <p:nvSpPr>
          <p:cNvPr id="18" name="a2f_nb17"/>
          <p:cNvSpPr/>
          <p:nvPr/>
        </p:nvSpPr>
        <p:spPr>
          <a:xfrm>
            <a:off x="457200" y="3986783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f_nacc18"/>
          <p:cNvSpPr/>
          <p:nvPr/>
        </p:nvSpPr>
        <p:spPr>
          <a:xfrm>
            <a:off x="457200" y="3986783"/>
            <a:ext cx="50292" cy="5669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f_nt19"/>
          <p:cNvSpPr txBox="1"/>
          <p:nvPr/>
        </p:nvSpPr>
        <p:spPr>
          <a:xfrm>
            <a:off x="658368" y="3986783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Keyword.put/3 deletes EVERY entry for the key and puts the new one at the front — so the key moves, and duplicates collapse to one. Keyword.merge/2 keeps the left-hand order and replaces in place. Keyword.get/3 returns the first match.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KEYWORD LISTS · OPTIONS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Keyword lists are how functions take options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Keyword.validate!/2 gives defaults and rejects typos in one call.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25880"/>
            <a:ext cx="4709160" cy="3072383"/>
          </a:xfrm>
          <a:prstGeom prst="roundRect">
            <a:avLst>
              <a:gd name="adj" fmla="val 238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80744"/>
            <a:ext cx="43799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64792"/>
            <a:ext cx="43799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defmodule Opts do</a:t>
            </a:r>
          </a:p>
        </p:txBody>
      </p:sp>
      <p:sp>
        <p:nvSpPr>
          <p:cNvPr id="8" name="a1wd50_code7"/>
          <p:cNvSpPr txBox="1"/>
          <p:nvPr/>
        </p:nvSpPr>
        <p:spPr>
          <a:xfrm>
            <a:off x="621792" y="1929384"/>
            <a:ext cx="43799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def connect(host, opts \\ []) do</a:t>
            </a:r>
          </a:p>
        </p:txBody>
      </p:sp>
      <p:sp>
        <p:nvSpPr>
          <p:cNvPr id="9" name="a1wd100_code8"/>
          <p:cNvSpPr txBox="1"/>
          <p:nvPr/>
        </p:nvSpPr>
        <p:spPr>
          <a:xfrm>
            <a:off x="621792" y="2093976"/>
            <a:ext cx="43799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  opts = Keyword.validate!(opts,</a:t>
            </a:r>
          </a:p>
        </p:txBody>
      </p:sp>
      <p:sp>
        <p:nvSpPr>
          <p:cNvPr id="10" name="a1wd150_code9"/>
          <p:cNvSpPr txBox="1"/>
          <p:nvPr/>
        </p:nvSpPr>
        <p:spPr>
          <a:xfrm>
            <a:off x="621792" y="2258568"/>
            <a:ext cx="43799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    timeout: 5000, retries: 3, ssl: false)</a:t>
            </a:r>
          </a:p>
        </p:txBody>
      </p:sp>
      <p:sp>
        <p:nvSpPr>
          <p:cNvPr id="11" name="a1wd200_code10"/>
          <p:cNvSpPr txBox="1"/>
          <p:nvPr/>
        </p:nvSpPr>
        <p:spPr>
          <a:xfrm>
            <a:off x="621792" y="2423160"/>
            <a:ext cx="43799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  {host, opts[:timeout], opts[:retries], opts[:ssl]}</a:t>
            </a:r>
          </a:p>
        </p:txBody>
      </p:sp>
      <p:sp>
        <p:nvSpPr>
          <p:cNvPr id="12" name="a1wd250_code11"/>
          <p:cNvSpPr txBox="1"/>
          <p:nvPr/>
        </p:nvSpPr>
        <p:spPr>
          <a:xfrm>
            <a:off x="621792" y="2587752"/>
            <a:ext cx="43799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end</a:t>
            </a:r>
          </a:p>
        </p:txBody>
      </p:sp>
      <p:sp>
        <p:nvSpPr>
          <p:cNvPr id="13" name="a1wd300_code12"/>
          <p:cNvSpPr txBox="1"/>
          <p:nvPr/>
        </p:nvSpPr>
        <p:spPr>
          <a:xfrm>
            <a:off x="621792" y="2752344"/>
            <a:ext cx="43799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4" name="a1wd350_code13"/>
          <p:cNvSpPr txBox="1"/>
          <p:nvPr/>
        </p:nvSpPr>
        <p:spPr>
          <a:xfrm>
            <a:off x="621792" y="2916936"/>
            <a:ext cx="43799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Opts.connect("db")</a:t>
            </a:r>
          </a:p>
        </p:txBody>
      </p:sp>
      <p:sp>
        <p:nvSpPr>
          <p:cNvPr id="15" name="a1wd400_code14"/>
          <p:cNvSpPr txBox="1"/>
          <p:nvPr/>
        </p:nvSpPr>
        <p:spPr>
          <a:xfrm>
            <a:off x="621792" y="3081528"/>
            <a:ext cx="43799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#=&gt; {"db", 5000, 3, false}</a:t>
            </a:r>
          </a:p>
        </p:txBody>
      </p:sp>
      <p:sp>
        <p:nvSpPr>
          <p:cNvPr id="16" name="a1wd450_code15"/>
          <p:cNvSpPr txBox="1"/>
          <p:nvPr/>
        </p:nvSpPr>
        <p:spPr>
          <a:xfrm>
            <a:off x="621792" y="3246120"/>
            <a:ext cx="43799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Opts.connect("db", ssl: true, retries: 1)</a:t>
            </a:r>
          </a:p>
        </p:txBody>
      </p:sp>
      <p:sp>
        <p:nvSpPr>
          <p:cNvPr id="17" name="a1wd500_code16"/>
          <p:cNvSpPr txBox="1"/>
          <p:nvPr/>
        </p:nvSpPr>
        <p:spPr>
          <a:xfrm>
            <a:off x="621792" y="3410711"/>
            <a:ext cx="43799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#=&gt; {"db", 5000, 1, true}</a:t>
            </a:r>
          </a:p>
        </p:txBody>
      </p:sp>
      <p:sp>
        <p:nvSpPr>
          <p:cNvPr id="18" name="a1wd550_code17"/>
          <p:cNvSpPr txBox="1"/>
          <p:nvPr/>
        </p:nvSpPr>
        <p:spPr>
          <a:xfrm>
            <a:off x="621792" y="3575304"/>
            <a:ext cx="43799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Opts.connect("db", tls: true)</a:t>
            </a:r>
          </a:p>
        </p:txBody>
      </p:sp>
      <p:sp>
        <p:nvSpPr>
          <p:cNvPr id="19" name="a1wd600_code18"/>
          <p:cNvSpPr txBox="1"/>
          <p:nvPr/>
        </p:nvSpPr>
        <p:spPr>
          <a:xfrm>
            <a:off x="621792" y="3739896"/>
            <a:ext cx="43799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** (ArgumentError) unknown keys [:tls] in</a:t>
            </a:r>
          </a:p>
        </p:txBody>
      </p:sp>
      <p:sp>
        <p:nvSpPr>
          <p:cNvPr id="20" name="a1wd650_code19"/>
          <p:cNvSpPr txBox="1"/>
          <p:nvPr/>
        </p:nvSpPr>
        <p:spPr>
          <a:xfrm>
            <a:off x="621792" y="3904487"/>
            <a:ext cx="43799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[tls: true], the allowed keys are:</a:t>
            </a:r>
          </a:p>
        </p:txBody>
      </p:sp>
      <p:sp>
        <p:nvSpPr>
          <p:cNvPr id="21" name="a1wd700_code20"/>
          <p:cNvSpPr txBox="1"/>
          <p:nvPr/>
        </p:nvSpPr>
        <p:spPr>
          <a:xfrm>
            <a:off x="621792" y="4069080"/>
            <a:ext cx="43799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[:timeout, :retries, :ssl]</a:t>
            </a:r>
          </a:p>
        </p:txBody>
      </p:sp>
      <p:sp>
        <p:nvSpPr>
          <p:cNvPr id="22" name="a2f_codebg21"/>
          <p:cNvSpPr/>
          <p:nvPr/>
        </p:nvSpPr>
        <p:spPr>
          <a:xfrm>
            <a:off x="5349240" y="1325880"/>
            <a:ext cx="3337560" cy="2249424"/>
          </a:xfrm>
          <a:prstGeom prst="roundRect">
            <a:avLst>
              <a:gd name="adj" fmla="val 32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f_codeh22"/>
          <p:cNvSpPr txBox="1"/>
          <p:nvPr/>
        </p:nvSpPr>
        <p:spPr>
          <a:xfrm>
            <a:off x="5513831" y="1380744"/>
            <a:ext cx="30083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no brackets</a:t>
            </a:r>
          </a:p>
        </p:txBody>
      </p:sp>
      <p:sp>
        <p:nvSpPr>
          <p:cNvPr id="24" name="a2w_code23"/>
          <p:cNvSpPr txBox="1"/>
          <p:nvPr/>
        </p:nvSpPr>
        <p:spPr>
          <a:xfrm>
            <a:off x="5513831" y="1764792"/>
            <a:ext cx="30083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Code.string_to_quoted!(</a:t>
            </a:r>
          </a:p>
        </p:txBody>
      </p:sp>
      <p:sp>
        <p:nvSpPr>
          <p:cNvPr id="25" name="a2wd60_code24"/>
          <p:cNvSpPr txBox="1"/>
          <p:nvPr/>
        </p:nvSpPr>
        <p:spPr>
          <a:xfrm>
            <a:off x="5513831" y="1929384"/>
            <a:ext cx="30083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  "f(1, a: 2, b: 3)")</a:t>
            </a:r>
          </a:p>
        </p:txBody>
      </p:sp>
      <p:sp>
        <p:nvSpPr>
          <p:cNvPr id="26" name="a2wd120_code25"/>
          <p:cNvSpPr txBox="1"/>
          <p:nvPr/>
        </p:nvSpPr>
        <p:spPr>
          <a:xfrm>
            <a:off x="5513831" y="2093976"/>
            <a:ext cx="30083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#=&gt; {:f, [line: 1],</a:t>
            </a:r>
          </a:p>
        </p:txBody>
      </p:sp>
      <p:sp>
        <p:nvSpPr>
          <p:cNvPr id="27" name="a2wd180_code26"/>
          <p:cNvSpPr txBox="1"/>
          <p:nvPr/>
        </p:nvSpPr>
        <p:spPr>
          <a:xfrm>
            <a:off x="5513831" y="2258568"/>
            <a:ext cx="30083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   [1, [a: 2, b: 3]]}</a:t>
            </a:r>
          </a:p>
        </p:txBody>
      </p:sp>
      <p:sp>
        <p:nvSpPr>
          <p:cNvPr id="28" name="a2wd240_code27"/>
          <p:cNvSpPr txBox="1"/>
          <p:nvPr/>
        </p:nvSpPr>
        <p:spPr>
          <a:xfrm>
            <a:off x="5513831" y="2423160"/>
            <a:ext cx="30083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9" name="a2wd300_code28"/>
          <p:cNvSpPr txBox="1"/>
          <p:nvPr/>
        </p:nvSpPr>
        <p:spPr>
          <a:xfrm>
            <a:off x="5513831" y="2587752"/>
            <a:ext cx="30083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 a pattern is order-strict:</a:t>
            </a:r>
          </a:p>
        </p:txBody>
      </p:sp>
      <p:sp>
        <p:nvSpPr>
          <p:cNvPr id="30" name="a2wd360_code29"/>
          <p:cNvSpPr txBox="1"/>
          <p:nvPr/>
        </p:nvSpPr>
        <p:spPr>
          <a:xfrm>
            <a:off x="5513831" y="2752344"/>
            <a:ext cx="30083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[a: a, b: b] = [b: 2, a: 1]</a:t>
            </a:r>
          </a:p>
        </p:txBody>
      </p:sp>
      <p:sp>
        <p:nvSpPr>
          <p:cNvPr id="31" name="a2wd420_code30"/>
          <p:cNvSpPr txBox="1"/>
          <p:nvPr/>
        </p:nvSpPr>
        <p:spPr>
          <a:xfrm>
            <a:off x="5513831" y="2916936"/>
            <a:ext cx="30083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** (MatchError) no match of</a:t>
            </a:r>
          </a:p>
        </p:txBody>
      </p:sp>
      <p:sp>
        <p:nvSpPr>
          <p:cNvPr id="32" name="a2wd480_code31"/>
          <p:cNvSpPr txBox="1"/>
          <p:nvPr/>
        </p:nvSpPr>
        <p:spPr>
          <a:xfrm>
            <a:off x="5513831" y="3081528"/>
            <a:ext cx="30083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right hand side value:</a:t>
            </a:r>
          </a:p>
        </p:txBody>
      </p:sp>
      <p:sp>
        <p:nvSpPr>
          <p:cNvPr id="33" name="a2wd540_code32"/>
          <p:cNvSpPr txBox="1"/>
          <p:nvPr/>
        </p:nvSpPr>
        <p:spPr>
          <a:xfrm>
            <a:off x="5513831" y="3246120"/>
            <a:ext cx="300837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    [b: 2, a: 1]</a:t>
            </a:r>
          </a:p>
        </p:txBody>
      </p:sp>
      <p:sp>
        <p:nvSpPr>
          <p:cNvPr id="34" name="a3u_dot33"/>
          <p:cNvSpPr/>
          <p:nvPr/>
        </p:nvSpPr>
        <p:spPr>
          <a:xfrm>
            <a:off x="5349240" y="3803904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3u_b34"/>
          <p:cNvSpPr txBox="1"/>
          <p:nvPr/>
        </p:nvSpPr>
        <p:spPr>
          <a:xfrm>
            <a:off x="5568696" y="3703320"/>
            <a:ext cx="3118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Trailing options need no [ ]  </a:t>
            </a:r>
            <a:r>
              <a:rPr sz="1000" b="0">
                <a:solidFill>
                  <a:srgbClr val="334155"/>
                </a:solidFill>
                <a:latin typeface="Calibri"/>
              </a:rPr>
              <a:t>the parser wraps them into one last argument</a:t>
            </a:r>
          </a:p>
        </p:txBody>
      </p:sp>
      <p:sp>
        <p:nvSpPr>
          <p:cNvPr id="36" name="a3ud200_dot35"/>
          <p:cNvSpPr/>
          <p:nvPr/>
        </p:nvSpPr>
        <p:spPr>
          <a:xfrm>
            <a:off x="5349240" y="422452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3ud200_b36"/>
          <p:cNvSpPr txBox="1"/>
          <p:nvPr/>
        </p:nvSpPr>
        <p:spPr>
          <a:xfrm>
            <a:off x="5568696" y="4123944"/>
            <a:ext cx="3118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Never pattern-match options  </a:t>
            </a:r>
            <a:r>
              <a:rPr sz="1000" b="0">
                <a:solidFill>
                  <a:srgbClr val="334155"/>
                </a:solidFill>
                <a:latin typeface="Calibri"/>
              </a:rPr>
              <a:t>read them with Keyword or opts[:key]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39" name="ft3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04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Maps &amp; structs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Lookup by key, from one key to a million.
A struct is a map that knows its keys.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m.key · m[:key]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%{m | k: v}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defstruct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MAPS · READ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Reading a map: six ways, three answers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Use the dot when the key must be there; brackets or Map.get when it may not.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25880"/>
            <a:ext cx="8229600" cy="850392"/>
          </a:xfrm>
          <a:prstGeom prst="roundRect">
            <a:avLst>
              <a:gd name="adj" fmla="val 860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w_code5"/>
          <p:cNvSpPr txBox="1"/>
          <p:nvPr/>
        </p:nvSpPr>
        <p:spPr>
          <a:xfrm>
            <a:off x="621792" y="1490472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acct  = %{id: "A-1", owner: "Ada", balance: 500}</a:t>
            </a:r>
          </a:p>
        </p:txBody>
      </p:sp>
      <p:sp>
        <p:nvSpPr>
          <p:cNvPr id="7" name="a1wd80_code6"/>
          <p:cNvSpPr txBox="1"/>
          <p:nvPr/>
        </p:nvSpPr>
        <p:spPr>
          <a:xfrm>
            <a:off x="621792" y="1664207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mixed = %{"currency" =&gt; "EUR", :active =&gt; true, 1 =&gt; :one, {:x, 1} =&gt; [1]}</a:t>
            </a:r>
          </a:p>
        </p:txBody>
      </p:sp>
      <p:sp>
        <p:nvSpPr>
          <p:cNvPr id="8" name="a1wd160_code7"/>
          <p:cNvSpPr txBox="1"/>
          <p:nvPr/>
        </p:nvSpPr>
        <p:spPr>
          <a:xfrm>
            <a:off x="621792" y="1837943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%{1 =&gt; :one, :active =&gt; true, {:x, 1} =&gt; [1], "currency" =&gt; "EUR"}</a:t>
            </a:r>
          </a:p>
        </p:txBody>
      </p:sp>
      <p:sp>
        <p:nvSpPr>
          <p:cNvPr id="9" name="a2f_th8"/>
          <p:cNvSpPr/>
          <p:nvPr/>
        </p:nvSpPr>
        <p:spPr>
          <a:xfrm>
            <a:off x="457200" y="2267712"/>
            <a:ext cx="2377440" cy="27432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2f_tht9"/>
          <p:cNvSpPr txBox="1"/>
          <p:nvPr/>
        </p:nvSpPr>
        <p:spPr>
          <a:xfrm>
            <a:off x="530352" y="2267712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Expression</a:t>
            </a:r>
          </a:p>
        </p:txBody>
      </p:sp>
      <p:sp>
        <p:nvSpPr>
          <p:cNvPr id="11" name="a2wd100_td10"/>
          <p:cNvSpPr/>
          <p:nvPr/>
        </p:nvSpPr>
        <p:spPr>
          <a:xfrm>
            <a:off x="457200" y="2542032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2wd100_tdt11"/>
          <p:cNvSpPr txBox="1"/>
          <p:nvPr/>
        </p:nvSpPr>
        <p:spPr>
          <a:xfrm>
            <a:off x="530352" y="2542032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acct.owner</a:t>
            </a:r>
          </a:p>
        </p:txBody>
      </p:sp>
      <p:sp>
        <p:nvSpPr>
          <p:cNvPr id="13" name="a2wd200_td12"/>
          <p:cNvSpPr/>
          <p:nvPr/>
        </p:nvSpPr>
        <p:spPr>
          <a:xfrm>
            <a:off x="457200" y="2816352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wd200_tdt13"/>
          <p:cNvSpPr txBox="1"/>
          <p:nvPr/>
        </p:nvSpPr>
        <p:spPr>
          <a:xfrm>
            <a:off x="530352" y="2816352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acct[:owner]</a:t>
            </a:r>
          </a:p>
        </p:txBody>
      </p:sp>
      <p:sp>
        <p:nvSpPr>
          <p:cNvPr id="15" name="a2wd300_td14"/>
          <p:cNvSpPr/>
          <p:nvPr/>
        </p:nvSpPr>
        <p:spPr>
          <a:xfrm>
            <a:off x="457200" y="3090672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wd300_tdt15"/>
          <p:cNvSpPr txBox="1"/>
          <p:nvPr/>
        </p:nvSpPr>
        <p:spPr>
          <a:xfrm>
            <a:off x="530352" y="3090672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Map.get(acct, :owner, 0)</a:t>
            </a:r>
          </a:p>
        </p:txBody>
      </p:sp>
      <p:sp>
        <p:nvSpPr>
          <p:cNvPr id="17" name="a2wd400_td16"/>
          <p:cNvSpPr/>
          <p:nvPr/>
        </p:nvSpPr>
        <p:spPr>
          <a:xfrm>
            <a:off x="457200" y="3364991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wd400_tdt17"/>
          <p:cNvSpPr txBox="1"/>
          <p:nvPr/>
        </p:nvSpPr>
        <p:spPr>
          <a:xfrm>
            <a:off x="530352" y="3364991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Map.fetch(acct, :owner)</a:t>
            </a:r>
          </a:p>
        </p:txBody>
      </p:sp>
      <p:sp>
        <p:nvSpPr>
          <p:cNvPr id="19" name="a2wd500_td18"/>
          <p:cNvSpPr/>
          <p:nvPr/>
        </p:nvSpPr>
        <p:spPr>
          <a:xfrm>
            <a:off x="457200" y="3639312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wd500_tdt19"/>
          <p:cNvSpPr txBox="1"/>
          <p:nvPr/>
        </p:nvSpPr>
        <p:spPr>
          <a:xfrm>
            <a:off x="530352" y="3639312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Map.fetch!(acct, :owner)</a:t>
            </a:r>
          </a:p>
        </p:txBody>
      </p:sp>
      <p:sp>
        <p:nvSpPr>
          <p:cNvPr id="21" name="a2wd600_td20"/>
          <p:cNvSpPr/>
          <p:nvPr/>
        </p:nvSpPr>
        <p:spPr>
          <a:xfrm>
            <a:off x="457200" y="3913631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2wd600_tdt21"/>
          <p:cNvSpPr txBox="1"/>
          <p:nvPr/>
        </p:nvSpPr>
        <p:spPr>
          <a:xfrm>
            <a:off x="530352" y="3913631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Map.has_key?(acct, :owner)</a:t>
            </a:r>
          </a:p>
        </p:txBody>
      </p:sp>
      <p:sp>
        <p:nvSpPr>
          <p:cNvPr id="23" name="a2f_th22"/>
          <p:cNvSpPr/>
          <p:nvPr/>
        </p:nvSpPr>
        <p:spPr>
          <a:xfrm>
            <a:off x="2834640" y="2267712"/>
            <a:ext cx="1645920" cy="27432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2f_tht23"/>
          <p:cNvSpPr txBox="1"/>
          <p:nvPr/>
        </p:nvSpPr>
        <p:spPr>
          <a:xfrm>
            <a:off x="2907792" y="2267712"/>
            <a:ext cx="15361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Key present</a:t>
            </a:r>
          </a:p>
        </p:txBody>
      </p:sp>
      <p:sp>
        <p:nvSpPr>
          <p:cNvPr id="25" name="a2wd100_td24"/>
          <p:cNvSpPr/>
          <p:nvPr/>
        </p:nvSpPr>
        <p:spPr>
          <a:xfrm>
            <a:off x="2834640" y="2542032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wd100_tdt25"/>
          <p:cNvSpPr txBox="1"/>
          <p:nvPr/>
        </p:nvSpPr>
        <p:spPr>
          <a:xfrm>
            <a:off x="2907792" y="2542032"/>
            <a:ext cx="15361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"Ada"</a:t>
            </a:r>
          </a:p>
        </p:txBody>
      </p:sp>
      <p:sp>
        <p:nvSpPr>
          <p:cNvPr id="27" name="a2wd200_td26"/>
          <p:cNvSpPr/>
          <p:nvPr/>
        </p:nvSpPr>
        <p:spPr>
          <a:xfrm>
            <a:off x="2834640" y="2816352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2wd200_tdt27"/>
          <p:cNvSpPr txBox="1"/>
          <p:nvPr/>
        </p:nvSpPr>
        <p:spPr>
          <a:xfrm>
            <a:off x="2907792" y="2816352"/>
            <a:ext cx="15361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"Ada"</a:t>
            </a:r>
          </a:p>
        </p:txBody>
      </p:sp>
      <p:sp>
        <p:nvSpPr>
          <p:cNvPr id="29" name="a2wd300_td28"/>
          <p:cNvSpPr/>
          <p:nvPr/>
        </p:nvSpPr>
        <p:spPr>
          <a:xfrm>
            <a:off x="2834640" y="3090672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2wd300_tdt29"/>
          <p:cNvSpPr txBox="1"/>
          <p:nvPr/>
        </p:nvSpPr>
        <p:spPr>
          <a:xfrm>
            <a:off x="2907792" y="3090672"/>
            <a:ext cx="15361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"Ada"</a:t>
            </a:r>
          </a:p>
        </p:txBody>
      </p:sp>
      <p:sp>
        <p:nvSpPr>
          <p:cNvPr id="31" name="a2wd400_td30"/>
          <p:cNvSpPr/>
          <p:nvPr/>
        </p:nvSpPr>
        <p:spPr>
          <a:xfrm>
            <a:off x="2834640" y="3364991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2wd400_tdt31"/>
          <p:cNvSpPr txBox="1"/>
          <p:nvPr/>
        </p:nvSpPr>
        <p:spPr>
          <a:xfrm>
            <a:off x="2907792" y="3364991"/>
            <a:ext cx="15361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{:ok, "Ada"}</a:t>
            </a:r>
          </a:p>
        </p:txBody>
      </p:sp>
      <p:sp>
        <p:nvSpPr>
          <p:cNvPr id="33" name="a2wd500_td32"/>
          <p:cNvSpPr/>
          <p:nvPr/>
        </p:nvSpPr>
        <p:spPr>
          <a:xfrm>
            <a:off x="2834640" y="3639312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2wd500_tdt33"/>
          <p:cNvSpPr txBox="1"/>
          <p:nvPr/>
        </p:nvSpPr>
        <p:spPr>
          <a:xfrm>
            <a:off x="2907792" y="3639312"/>
            <a:ext cx="15361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"Ada"</a:t>
            </a:r>
          </a:p>
        </p:txBody>
      </p:sp>
      <p:sp>
        <p:nvSpPr>
          <p:cNvPr id="35" name="a2wd600_td34"/>
          <p:cNvSpPr/>
          <p:nvPr/>
        </p:nvSpPr>
        <p:spPr>
          <a:xfrm>
            <a:off x="2834640" y="3913631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2wd600_tdt35"/>
          <p:cNvSpPr txBox="1"/>
          <p:nvPr/>
        </p:nvSpPr>
        <p:spPr>
          <a:xfrm>
            <a:off x="2907792" y="3913631"/>
            <a:ext cx="15361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true</a:t>
            </a:r>
          </a:p>
        </p:txBody>
      </p:sp>
      <p:sp>
        <p:nvSpPr>
          <p:cNvPr id="37" name="a2f_th36"/>
          <p:cNvSpPr/>
          <p:nvPr/>
        </p:nvSpPr>
        <p:spPr>
          <a:xfrm>
            <a:off x="4480560" y="2267712"/>
            <a:ext cx="4206240" cy="27432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2f_tht37"/>
          <p:cNvSpPr txBox="1"/>
          <p:nvPr/>
        </p:nvSpPr>
        <p:spPr>
          <a:xfrm>
            <a:off x="4553712" y="2267712"/>
            <a:ext cx="40965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Key missing (:missing)</a:t>
            </a:r>
          </a:p>
        </p:txBody>
      </p:sp>
      <p:sp>
        <p:nvSpPr>
          <p:cNvPr id="39" name="a2wd100_td38"/>
          <p:cNvSpPr/>
          <p:nvPr/>
        </p:nvSpPr>
        <p:spPr>
          <a:xfrm>
            <a:off x="4480560" y="2542032"/>
            <a:ext cx="4206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2wd100_tdt39"/>
          <p:cNvSpPr txBox="1"/>
          <p:nvPr/>
        </p:nvSpPr>
        <p:spPr>
          <a:xfrm>
            <a:off x="4553712" y="2542032"/>
            <a:ext cx="40965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** (KeyError) key :missing not found in: %{...}</a:t>
            </a:r>
          </a:p>
        </p:txBody>
      </p:sp>
      <p:sp>
        <p:nvSpPr>
          <p:cNvPr id="41" name="a2wd200_td40"/>
          <p:cNvSpPr/>
          <p:nvPr/>
        </p:nvSpPr>
        <p:spPr>
          <a:xfrm>
            <a:off x="4480560" y="2816352"/>
            <a:ext cx="4206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2wd200_tdt41"/>
          <p:cNvSpPr txBox="1"/>
          <p:nvPr/>
        </p:nvSpPr>
        <p:spPr>
          <a:xfrm>
            <a:off x="4553712" y="2816352"/>
            <a:ext cx="40965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nil</a:t>
            </a:r>
          </a:p>
        </p:txBody>
      </p:sp>
      <p:sp>
        <p:nvSpPr>
          <p:cNvPr id="43" name="a2wd300_td42"/>
          <p:cNvSpPr/>
          <p:nvPr/>
        </p:nvSpPr>
        <p:spPr>
          <a:xfrm>
            <a:off x="4480560" y="3090672"/>
            <a:ext cx="4206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2wd300_tdt43"/>
          <p:cNvSpPr txBox="1"/>
          <p:nvPr/>
        </p:nvSpPr>
        <p:spPr>
          <a:xfrm>
            <a:off x="4553712" y="3090672"/>
            <a:ext cx="40965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0 — the default you gave</a:t>
            </a:r>
          </a:p>
        </p:txBody>
      </p:sp>
      <p:sp>
        <p:nvSpPr>
          <p:cNvPr id="45" name="a2wd400_td44"/>
          <p:cNvSpPr/>
          <p:nvPr/>
        </p:nvSpPr>
        <p:spPr>
          <a:xfrm>
            <a:off x="4480560" y="3364991"/>
            <a:ext cx="4206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2wd400_tdt45"/>
          <p:cNvSpPr txBox="1"/>
          <p:nvPr/>
        </p:nvSpPr>
        <p:spPr>
          <a:xfrm>
            <a:off x="4553712" y="3364991"/>
            <a:ext cx="40965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:error</a:t>
            </a:r>
          </a:p>
        </p:txBody>
      </p:sp>
      <p:sp>
        <p:nvSpPr>
          <p:cNvPr id="47" name="a2wd500_td46"/>
          <p:cNvSpPr/>
          <p:nvPr/>
        </p:nvSpPr>
        <p:spPr>
          <a:xfrm>
            <a:off x="4480560" y="3639312"/>
            <a:ext cx="4206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2wd500_tdt47"/>
          <p:cNvSpPr txBox="1"/>
          <p:nvPr/>
        </p:nvSpPr>
        <p:spPr>
          <a:xfrm>
            <a:off x="4553712" y="3639312"/>
            <a:ext cx="40965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** (KeyError) key :missing not found in: ...</a:t>
            </a:r>
          </a:p>
        </p:txBody>
      </p:sp>
      <p:sp>
        <p:nvSpPr>
          <p:cNvPr id="49" name="a2wd600_td48"/>
          <p:cNvSpPr/>
          <p:nvPr/>
        </p:nvSpPr>
        <p:spPr>
          <a:xfrm>
            <a:off x="4480560" y="3913631"/>
            <a:ext cx="4206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2wd600_tdt49"/>
          <p:cNvSpPr txBox="1"/>
          <p:nvPr/>
        </p:nvSpPr>
        <p:spPr>
          <a:xfrm>
            <a:off x="4553712" y="3913631"/>
            <a:ext cx="40965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false</a:t>
            </a:r>
          </a:p>
        </p:txBody>
      </p:sp>
      <p:sp>
        <p:nvSpPr>
          <p:cNvPr id="51" name="a3f_tip50"/>
          <p:cNvSpPr txBox="1"/>
          <p:nvPr/>
        </p:nvSpPr>
        <p:spPr>
          <a:xfrm>
            <a:off x="457200" y="4279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The dot works only for atom keys.  </a:t>
            </a:r>
            <a:r>
              <a:rPr sz="1050" b="0">
                <a:solidFill>
                  <a:srgbClr val="334155"/>
                </a:solidFill>
                <a:latin typeface="Calibri"/>
              </a:rPr>
              <a:t>mixed["currency"] — any key type goes in brackets; keys print in term order.</a:t>
            </a:r>
          </a:p>
        </p:txBody>
      </p:sp>
      <p:sp>
        <p:nvSpPr>
          <p:cNvPr id="52" name="ft5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53" name="ft5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MAPS · WRITE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Adding, updating, removing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Map.put adds or replaces. The | syntax only replaces — and says so loudly.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160520" cy="2514600"/>
          </a:xfrm>
          <a:prstGeom prst="roundRect">
            <a:avLst>
              <a:gd name="adj" fmla="val 290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add and update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Map.put(acct, :tier, :gold)</a:t>
            </a:r>
          </a:p>
        </p:txBody>
      </p:sp>
      <p:sp>
        <p:nvSpPr>
          <p:cNvPr id="8" name="a1wd55_code7"/>
          <p:cNvSpPr txBox="1"/>
          <p:nvPr/>
        </p:nvSpPr>
        <p:spPr>
          <a:xfrm>
            <a:off x="621792" y="1956816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#=&gt; %{..., balance: 500, tier: :gold}</a:t>
            </a:r>
          </a:p>
        </p:txBody>
      </p:sp>
      <p:sp>
        <p:nvSpPr>
          <p:cNvPr id="9" name="a1wd110_code8"/>
          <p:cNvSpPr txBox="1"/>
          <p:nvPr/>
        </p:nvSpPr>
        <p:spPr>
          <a:xfrm>
            <a:off x="621792" y="2130552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%{acct | balance: 650}</a:t>
            </a:r>
          </a:p>
        </p:txBody>
      </p:sp>
      <p:sp>
        <p:nvSpPr>
          <p:cNvPr id="10" name="a1wd165_code9"/>
          <p:cNvSpPr txBox="1"/>
          <p:nvPr/>
        </p:nvSpPr>
        <p:spPr>
          <a:xfrm>
            <a:off x="621792" y="2304288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#=&gt; %{id: "A-1", owner: "Ada", balance: 650}</a:t>
            </a:r>
          </a:p>
        </p:txBody>
      </p:sp>
      <p:sp>
        <p:nvSpPr>
          <p:cNvPr id="11" name="a1wd220_code10"/>
          <p:cNvSpPr txBox="1"/>
          <p:nvPr/>
        </p:nvSpPr>
        <p:spPr>
          <a:xfrm>
            <a:off x="621792" y="2478024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%{acct | tier: :gold}</a:t>
            </a:r>
          </a:p>
        </p:txBody>
      </p:sp>
      <p:sp>
        <p:nvSpPr>
          <p:cNvPr id="12" name="a1wd275_code11"/>
          <p:cNvSpPr txBox="1"/>
          <p:nvPr/>
        </p:nvSpPr>
        <p:spPr>
          <a:xfrm>
            <a:off x="621792" y="2651760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** (KeyError) key :tier not found</a:t>
            </a:r>
          </a:p>
        </p:txBody>
      </p:sp>
      <p:sp>
        <p:nvSpPr>
          <p:cNvPr id="13" name="a1wd330_code12"/>
          <p:cNvSpPr txBox="1"/>
          <p:nvPr/>
        </p:nvSpPr>
        <p:spPr>
          <a:xfrm>
            <a:off x="621792" y="2825496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Map.update(acct, :visits, 1, &amp;(&amp;1 + 1))</a:t>
            </a:r>
          </a:p>
        </p:txBody>
      </p:sp>
      <p:sp>
        <p:nvSpPr>
          <p:cNvPr id="14" name="a1wd385_code13"/>
          <p:cNvSpPr txBox="1"/>
          <p:nvPr/>
        </p:nvSpPr>
        <p:spPr>
          <a:xfrm>
            <a:off x="621792" y="2999232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#=&gt; %{..., visits: 1}      no key: default</a:t>
            </a:r>
          </a:p>
        </p:txBody>
      </p:sp>
      <p:sp>
        <p:nvSpPr>
          <p:cNvPr id="15" name="a1wd440_code14"/>
          <p:cNvSpPr txBox="1"/>
          <p:nvPr/>
        </p:nvSpPr>
        <p:spPr>
          <a:xfrm>
            <a:off x="621792" y="3172968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Map.update(acct, :balance, 0, &amp;(&amp;1 + 100))</a:t>
            </a:r>
          </a:p>
        </p:txBody>
      </p:sp>
      <p:sp>
        <p:nvSpPr>
          <p:cNvPr id="16" name="a1wd495_code15"/>
          <p:cNvSpPr txBox="1"/>
          <p:nvPr/>
        </p:nvSpPr>
        <p:spPr>
          <a:xfrm>
            <a:off x="621792" y="3346704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#=&gt; %{..., balance: 600}   key: fn applied</a:t>
            </a:r>
          </a:p>
        </p:txBody>
      </p:sp>
      <p:sp>
        <p:nvSpPr>
          <p:cNvPr id="17" name="a1wd550_code16"/>
          <p:cNvSpPr txBox="1"/>
          <p:nvPr/>
        </p:nvSpPr>
        <p:spPr>
          <a:xfrm>
            <a:off x="621792" y="3520439"/>
            <a:ext cx="383133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Map.put_new(acct, :owner, "Bob")  #=&gt; "Ada" kept</a:t>
            </a:r>
          </a:p>
        </p:txBody>
      </p:sp>
      <p:sp>
        <p:nvSpPr>
          <p:cNvPr id="18" name="a2f_codebg17"/>
          <p:cNvSpPr/>
          <p:nvPr/>
        </p:nvSpPr>
        <p:spPr>
          <a:xfrm>
            <a:off x="4800600" y="1344168"/>
            <a:ext cx="3886200" cy="2514600"/>
          </a:xfrm>
          <a:prstGeom prst="roundRect">
            <a:avLst>
              <a:gd name="adj" fmla="val 290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f_codeh18"/>
          <p:cNvSpPr txBox="1"/>
          <p:nvPr/>
        </p:nvSpPr>
        <p:spPr>
          <a:xfrm>
            <a:off x="4965192" y="1399032"/>
            <a:ext cx="35570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remove and combine</a:t>
            </a:r>
          </a:p>
        </p:txBody>
      </p:sp>
      <p:sp>
        <p:nvSpPr>
          <p:cNvPr id="20" name="a2w_code19"/>
          <p:cNvSpPr txBox="1"/>
          <p:nvPr/>
        </p:nvSpPr>
        <p:spPr>
          <a:xfrm>
            <a:off x="4965192" y="1783080"/>
            <a:ext cx="35570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Map.delete(acct, :owner)</a:t>
            </a:r>
          </a:p>
        </p:txBody>
      </p:sp>
      <p:sp>
        <p:nvSpPr>
          <p:cNvPr id="21" name="a2wd55_code20"/>
          <p:cNvSpPr txBox="1"/>
          <p:nvPr/>
        </p:nvSpPr>
        <p:spPr>
          <a:xfrm>
            <a:off x="4965192" y="1956816"/>
            <a:ext cx="35570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#=&gt; %{id: "A-1", balance: 500}</a:t>
            </a:r>
          </a:p>
        </p:txBody>
      </p:sp>
      <p:sp>
        <p:nvSpPr>
          <p:cNvPr id="22" name="a2wd110_code21"/>
          <p:cNvSpPr txBox="1"/>
          <p:nvPr/>
        </p:nvSpPr>
        <p:spPr>
          <a:xfrm>
            <a:off x="4965192" y="2130552"/>
            <a:ext cx="35570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Map.delete(acct, :nothing)  #=&gt; unchanged</a:t>
            </a:r>
          </a:p>
        </p:txBody>
      </p:sp>
      <p:sp>
        <p:nvSpPr>
          <p:cNvPr id="23" name="a2wd165_code22"/>
          <p:cNvSpPr txBox="1"/>
          <p:nvPr/>
        </p:nvSpPr>
        <p:spPr>
          <a:xfrm>
            <a:off x="4965192" y="2304288"/>
            <a:ext cx="35570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Map.drop(acct, [:id, :owner])</a:t>
            </a:r>
          </a:p>
        </p:txBody>
      </p:sp>
      <p:sp>
        <p:nvSpPr>
          <p:cNvPr id="24" name="a2wd220_code23"/>
          <p:cNvSpPr txBox="1"/>
          <p:nvPr/>
        </p:nvSpPr>
        <p:spPr>
          <a:xfrm>
            <a:off x="4965192" y="2478024"/>
            <a:ext cx="35570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#=&gt; %{balance: 500}</a:t>
            </a:r>
          </a:p>
        </p:txBody>
      </p:sp>
      <p:sp>
        <p:nvSpPr>
          <p:cNvPr id="25" name="a2wd275_code24"/>
          <p:cNvSpPr txBox="1"/>
          <p:nvPr/>
        </p:nvSpPr>
        <p:spPr>
          <a:xfrm>
            <a:off x="4965192" y="2651760"/>
            <a:ext cx="35570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Map.pop(acct, :balance)</a:t>
            </a:r>
          </a:p>
        </p:txBody>
      </p:sp>
      <p:sp>
        <p:nvSpPr>
          <p:cNvPr id="26" name="a2wd330_code25"/>
          <p:cNvSpPr txBox="1"/>
          <p:nvPr/>
        </p:nvSpPr>
        <p:spPr>
          <a:xfrm>
            <a:off x="4965192" y="2825496"/>
            <a:ext cx="35570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#=&gt; {500, %{id: "A-1", owner: "Ada"}}</a:t>
            </a:r>
          </a:p>
        </p:txBody>
      </p:sp>
      <p:sp>
        <p:nvSpPr>
          <p:cNvPr id="27" name="a2wd385_code26"/>
          <p:cNvSpPr txBox="1"/>
          <p:nvPr/>
        </p:nvSpPr>
        <p:spPr>
          <a:xfrm>
            <a:off x="4965192" y="2999232"/>
            <a:ext cx="35570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Map.merge(%{a: 1, b: 2}, %{b: 3, c: 4})</a:t>
            </a:r>
          </a:p>
        </p:txBody>
      </p:sp>
      <p:sp>
        <p:nvSpPr>
          <p:cNvPr id="28" name="a2wd440_code27"/>
          <p:cNvSpPr txBox="1"/>
          <p:nvPr/>
        </p:nvSpPr>
        <p:spPr>
          <a:xfrm>
            <a:off x="4965192" y="3172968"/>
            <a:ext cx="35570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#=&gt; %{c: 4, a: 1, b: 3}   right wins</a:t>
            </a:r>
          </a:p>
        </p:txBody>
      </p:sp>
      <p:sp>
        <p:nvSpPr>
          <p:cNvPr id="29" name="a2wd495_code28"/>
          <p:cNvSpPr txBox="1"/>
          <p:nvPr/>
        </p:nvSpPr>
        <p:spPr>
          <a:xfrm>
            <a:off x="4965192" y="3346704"/>
            <a:ext cx="35570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Map.merge(m1, m2, fn _k, a, b -&gt; a + b end)</a:t>
            </a:r>
          </a:p>
        </p:txBody>
      </p:sp>
      <p:sp>
        <p:nvSpPr>
          <p:cNvPr id="30" name="a2wd550_code29"/>
          <p:cNvSpPr txBox="1"/>
          <p:nvPr/>
        </p:nvSpPr>
        <p:spPr>
          <a:xfrm>
            <a:off x="4965192" y="3520439"/>
            <a:ext cx="35570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#=&gt; %{c: 4, a: 1, b: 5}</a:t>
            </a:r>
          </a:p>
        </p:txBody>
      </p:sp>
      <p:sp>
        <p:nvSpPr>
          <p:cNvPr id="31" name="a3f_nb30"/>
          <p:cNvSpPr/>
          <p:nvPr/>
        </p:nvSpPr>
        <p:spPr>
          <a:xfrm>
            <a:off x="457200" y="3986783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3f_nacc31"/>
          <p:cNvSpPr/>
          <p:nvPr/>
        </p:nvSpPr>
        <p:spPr>
          <a:xfrm>
            <a:off x="457200" y="3986783"/>
            <a:ext cx="50292" cy="512064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3f_nt32"/>
          <p:cNvSpPr txBox="1"/>
          <p:nvPr/>
        </p:nvSpPr>
        <p:spPr>
          <a:xfrm>
            <a:off x="658368" y="3986783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%{m | k: v} is an assertion as well as an update: it works only for keys that already exist. Use it when a missing key would be a bug; use Map.put/3 when adding is fine.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35" name="ft3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MAPS · WHOLE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Transforming a whole map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Map.filter, Map.reject and Map.new/2 keep it a map. Enum hands you back a list.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8229600" cy="2862072"/>
          </a:xfrm>
          <a:prstGeom prst="roundRect">
            <a:avLst>
              <a:gd name="adj" fmla="val 255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probe_collections.exs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m = %{a: 1, b: 2}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56816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Map.filter(m, fn {_k, v} -&gt; v &gt; 1 end)       #=&gt; %{b: 2}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30552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Map.reject(m, fn {_k, v} -&gt; v &gt; 1 end)       #=&gt; %{a: 1}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304288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Map.new(m, fn {k, v} -&gt; {k, v * 10} end)     #=&gt; %{a: 10, b: 20}</a:t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478024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Map.split_with(m, fn {_k, v} -&gt; v &gt; 1 end)   #=&gt; {%{b: 2}, %{a: 1}}</a:t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651760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Map.intersect(m, %{b: 9, c: 9})              #=&gt; %{b: 9}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825496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Map.from_keys([:a, :b], 0)                   #=&gt; %{a: 0, b: 0}</a:t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2999232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Map.new(a: 1, a: 2)                          #=&gt; %{a: 2}      last one wins</a:t>
            </a:r>
          </a:p>
        </p:txBody>
      </p:sp>
      <p:sp>
        <p:nvSpPr>
          <p:cNvPr id="15" name="a1wd480_code14"/>
          <p:cNvSpPr txBox="1"/>
          <p:nvPr/>
        </p:nvSpPr>
        <p:spPr>
          <a:xfrm>
            <a:off x="621792" y="3172968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Enum.map(m, fn {k, v} -&gt; {k, v * 10} end)    #=&gt; [a: 10, b: 20]  &lt;- a LIST</a:t>
            </a:r>
          </a:p>
        </p:txBody>
      </p:sp>
      <p:sp>
        <p:nvSpPr>
          <p:cNvPr id="16" name="a1wd540_code15"/>
          <p:cNvSpPr txBox="1"/>
          <p:nvPr/>
        </p:nvSpPr>
        <p:spPr>
          <a:xfrm>
            <a:off x="621792" y="3346704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7" name="a1wd600_code16"/>
          <p:cNvSpPr txBox="1"/>
          <p:nvPr/>
        </p:nvSpPr>
        <p:spPr>
          <a:xfrm>
            <a:off x="621792" y="3520439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Map.map(m, fn {_k, v} -&gt; v * 2 end)</a:t>
            </a:r>
          </a:p>
        </p:txBody>
      </p:sp>
      <p:sp>
        <p:nvSpPr>
          <p:cNvPr id="18" name="a1wd660_code17"/>
          <p:cNvSpPr txBox="1"/>
          <p:nvPr/>
        </p:nvSpPr>
        <p:spPr>
          <a:xfrm>
            <a:off x="621792" y="3694176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warning: Map.map/2 is deprecated. Use Map.new/2 instead</a:t>
            </a:r>
          </a:p>
        </p:txBody>
      </p:sp>
      <p:sp>
        <p:nvSpPr>
          <p:cNvPr id="19" name="a1wd720_code18"/>
          <p:cNvSpPr txBox="1"/>
          <p:nvPr/>
        </p:nvSpPr>
        <p:spPr>
          <a:xfrm>
            <a:off x="621792" y="3867912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(invoke Map.from_struct/1 before if you have a struct)</a:t>
            </a:r>
          </a:p>
        </p:txBody>
      </p:sp>
      <p:sp>
        <p:nvSpPr>
          <p:cNvPr id="20" name="ft1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MAPS · ORDER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Map key order: do not depend on it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Even three atom keys do not come back alphabetically.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709160" cy="2862072"/>
          </a:xfrm>
          <a:prstGeom prst="roundRect">
            <a:avLst>
              <a:gd name="adj" fmla="val 255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43799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43799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%{b: 1, a: 2, c: 3}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56816"/>
            <a:ext cx="43799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%{c: 3, a: 2, b: 1}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30552"/>
            <a:ext cx="43799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Map.keys(%{b: 1, a: 2, c: 3})  #=&gt; [:c, :a, :b]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304288"/>
            <a:ext cx="43799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%{3 =&gt; :c, 1 =&gt; :a, 2 =&gt; :b}</a:t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478024"/>
            <a:ext cx="43799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%{1 =&gt; :a, 2 =&gt; :b, 3 =&gt; :c}</a:t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651760"/>
            <a:ext cx="43799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825496"/>
            <a:ext cx="43799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Map.keys(32 integer keys) |&gt; Enum.take(8)</a:t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2999232"/>
            <a:ext cx="43799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[1, 2, 3, 4, 5, 6, 7, 8]</a:t>
            </a:r>
          </a:p>
        </p:txBody>
      </p:sp>
      <p:sp>
        <p:nvSpPr>
          <p:cNvPr id="15" name="a1wd480_code14"/>
          <p:cNvSpPr txBox="1"/>
          <p:nvPr/>
        </p:nvSpPr>
        <p:spPr>
          <a:xfrm>
            <a:off x="621792" y="3172968"/>
            <a:ext cx="43799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Map.keys(33 integer keys) |&gt; Enum.take(8)</a:t>
            </a:r>
          </a:p>
        </p:txBody>
      </p:sp>
      <p:sp>
        <p:nvSpPr>
          <p:cNvPr id="16" name="a1wd540_code15"/>
          <p:cNvSpPr txBox="1"/>
          <p:nvPr/>
        </p:nvSpPr>
        <p:spPr>
          <a:xfrm>
            <a:off x="621792" y="3346704"/>
            <a:ext cx="43799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[18, 4, 12, 19, 29, 13, 2, 7]</a:t>
            </a:r>
          </a:p>
        </p:txBody>
      </p:sp>
      <p:sp>
        <p:nvSpPr>
          <p:cNvPr id="17" name="a1wd600_code16"/>
          <p:cNvSpPr txBox="1"/>
          <p:nvPr/>
        </p:nvSpPr>
        <p:spPr>
          <a:xfrm>
            <a:off x="621792" y="3520439"/>
            <a:ext cx="43799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8" name="a1wd660_code17"/>
          <p:cNvSpPr txBox="1"/>
          <p:nvPr/>
        </p:nvSpPr>
        <p:spPr>
          <a:xfrm>
            <a:off x="621792" y="3694176"/>
            <a:ext cx="43799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inspect(m, custom_options: [sort_maps: true])</a:t>
            </a:r>
          </a:p>
        </p:txBody>
      </p:sp>
      <p:sp>
        <p:nvSpPr>
          <p:cNvPr id="19" name="a1wd720_code18"/>
          <p:cNvSpPr txBox="1"/>
          <p:nvPr/>
        </p:nvSpPr>
        <p:spPr>
          <a:xfrm>
            <a:off x="621792" y="3867912"/>
            <a:ext cx="43799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"%{a: 2, b: 1, c: 3}"</a:t>
            </a:r>
          </a:p>
        </p:txBody>
      </p:sp>
      <p:sp>
        <p:nvSpPr>
          <p:cNvPr id="20" name="a2u_dot19"/>
          <p:cNvSpPr/>
          <p:nvPr/>
        </p:nvSpPr>
        <p:spPr>
          <a:xfrm>
            <a:off x="5394960" y="146304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_b20"/>
          <p:cNvSpPr txBox="1"/>
          <p:nvPr/>
        </p:nvSpPr>
        <p:spPr>
          <a:xfrm>
            <a:off x="5614416" y="1362456"/>
            <a:ext cx="3072384" cy="923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Atoms sort by creation, not spelling  </a:t>
            </a:r>
            <a:r>
              <a:rPr sz="1050" b="0">
                <a:solidFill>
                  <a:srgbClr val="334155"/>
                </a:solidFill>
                <a:latin typeface="Calibri"/>
              </a:rPr>
              <a:t>a small map orders atom keys by the atom's index in the atom table; mmm_late created before bbb_later printed first</a:t>
            </a:r>
          </a:p>
        </p:txBody>
      </p:sp>
      <p:sp>
        <p:nvSpPr>
          <p:cNvPr id="22" name="a2ud200_dot21"/>
          <p:cNvSpPr/>
          <p:nvPr/>
        </p:nvSpPr>
        <p:spPr>
          <a:xfrm>
            <a:off x="5394960" y="242316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ud200_b22"/>
          <p:cNvSpPr txBox="1"/>
          <p:nvPr/>
        </p:nvSpPr>
        <p:spPr>
          <a:xfrm>
            <a:off x="5614416" y="2322576"/>
            <a:ext cx="3072384" cy="923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Past 32 keys, order is hash order 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map became a hash tree (deck 2); 1 to 33 comes out scrambled</a:t>
            </a:r>
          </a:p>
        </p:txBody>
      </p:sp>
      <p:sp>
        <p:nvSpPr>
          <p:cNvPr id="24" name="a2ud400_dot23"/>
          <p:cNvSpPr/>
          <p:nvPr/>
        </p:nvSpPr>
        <p:spPr>
          <a:xfrm>
            <a:off x="5394960" y="338328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ud400_b24"/>
          <p:cNvSpPr txBox="1"/>
          <p:nvPr/>
        </p:nvSpPr>
        <p:spPr>
          <a:xfrm>
            <a:off x="5614416" y="3282696"/>
            <a:ext cx="3072384" cy="923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If order matters, say so  </a:t>
            </a:r>
            <a:r>
              <a:rPr sz="1050" b="0">
                <a:solidFill>
                  <a:srgbClr val="334155"/>
                </a:solidFill>
                <a:latin typeface="Calibri"/>
              </a:rPr>
              <a:t>sort the keys, use a keyword list, or keep a separate list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STRUCTS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Structs: a map with a name and fixed keys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compiler checks the keys when you build one — not when you Map.put one.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25880"/>
            <a:ext cx="4343400" cy="2633472"/>
          </a:xfrm>
          <a:prstGeom prst="roundRect">
            <a:avLst>
              <a:gd name="adj" fmla="val 277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80744"/>
            <a:ext cx="401421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64792"/>
            <a:ext cx="401421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defmodule Account do</a:t>
            </a:r>
          </a:p>
        </p:txBody>
      </p:sp>
      <p:sp>
        <p:nvSpPr>
          <p:cNvPr id="8" name="a1wd55_code7"/>
          <p:cNvSpPr txBox="1"/>
          <p:nvPr/>
        </p:nvSpPr>
        <p:spPr>
          <a:xfrm>
            <a:off x="621792" y="1933955"/>
            <a:ext cx="401421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@enforce_keys [:id]</a:t>
            </a:r>
          </a:p>
        </p:txBody>
      </p:sp>
      <p:sp>
        <p:nvSpPr>
          <p:cNvPr id="9" name="a1wd110_code8"/>
          <p:cNvSpPr txBox="1"/>
          <p:nvPr/>
        </p:nvSpPr>
        <p:spPr>
          <a:xfrm>
            <a:off x="621792" y="2103120"/>
            <a:ext cx="401421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defstruct [:id, owner: "unknown",</a:t>
            </a:r>
          </a:p>
        </p:txBody>
      </p:sp>
      <p:sp>
        <p:nvSpPr>
          <p:cNvPr id="10" name="a1wd165_code9"/>
          <p:cNvSpPr txBox="1"/>
          <p:nvPr/>
        </p:nvSpPr>
        <p:spPr>
          <a:xfrm>
            <a:off x="621792" y="2272284"/>
            <a:ext cx="401421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           balance: 0, tags: []]</a:t>
            </a:r>
          </a:p>
        </p:txBody>
      </p:sp>
      <p:sp>
        <p:nvSpPr>
          <p:cNvPr id="11" name="a1wd220_code10"/>
          <p:cNvSpPr txBox="1"/>
          <p:nvPr/>
        </p:nvSpPr>
        <p:spPr>
          <a:xfrm>
            <a:off x="621792" y="2441448"/>
            <a:ext cx="401421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2" name="a1wd275_code11"/>
          <p:cNvSpPr txBox="1"/>
          <p:nvPr/>
        </p:nvSpPr>
        <p:spPr>
          <a:xfrm>
            <a:off x="621792" y="2610612"/>
            <a:ext cx="401421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3" name="a1wd330_code12"/>
          <p:cNvSpPr txBox="1"/>
          <p:nvPr/>
        </p:nvSpPr>
        <p:spPr>
          <a:xfrm>
            <a:off x="621792" y="2779776"/>
            <a:ext cx="401421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a = %Account{id: "A-1", owner: "Ada"}</a:t>
            </a:r>
          </a:p>
        </p:txBody>
      </p:sp>
      <p:sp>
        <p:nvSpPr>
          <p:cNvPr id="14" name="a1wd385_code13"/>
          <p:cNvSpPr txBox="1"/>
          <p:nvPr/>
        </p:nvSpPr>
        <p:spPr>
          <a:xfrm>
            <a:off x="621792" y="2948939"/>
            <a:ext cx="401421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#=&gt; %Account{id: "A-1", owner: "Ada",</a:t>
            </a:r>
          </a:p>
        </p:txBody>
      </p:sp>
      <p:sp>
        <p:nvSpPr>
          <p:cNvPr id="15" name="a1wd440_code14"/>
          <p:cNvSpPr txBox="1"/>
          <p:nvPr/>
        </p:nvSpPr>
        <p:spPr>
          <a:xfrm>
            <a:off x="621792" y="3118104"/>
            <a:ext cx="401421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            balance: 0, tags: []}</a:t>
            </a:r>
          </a:p>
        </p:txBody>
      </p:sp>
      <p:sp>
        <p:nvSpPr>
          <p:cNvPr id="16" name="a1wd495_code15"/>
          <p:cNvSpPr txBox="1"/>
          <p:nvPr/>
        </p:nvSpPr>
        <p:spPr>
          <a:xfrm>
            <a:off x="621792" y="3287268"/>
            <a:ext cx="401421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%{a | balance: 100}.balance  #=&gt; 100</a:t>
            </a:r>
          </a:p>
        </p:txBody>
      </p:sp>
      <p:sp>
        <p:nvSpPr>
          <p:cNvPr id="17" name="a1wd550_code16"/>
          <p:cNvSpPr txBox="1"/>
          <p:nvPr/>
        </p:nvSpPr>
        <p:spPr>
          <a:xfrm>
            <a:off x="621792" y="3456432"/>
            <a:ext cx="401421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Map.keys(a)</a:t>
            </a:r>
          </a:p>
        </p:txBody>
      </p:sp>
      <p:sp>
        <p:nvSpPr>
          <p:cNvPr id="18" name="a1wd605_code17"/>
          <p:cNvSpPr txBox="1"/>
          <p:nvPr/>
        </p:nvSpPr>
        <p:spPr>
          <a:xfrm>
            <a:off x="621792" y="3625596"/>
            <a:ext cx="401421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#=&gt; [:id, :owner, :balance, :__struct__, :tags]</a:t>
            </a:r>
          </a:p>
        </p:txBody>
      </p:sp>
      <p:sp>
        <p:nvSpPr>
          <p:cNvPr id="19" name="a2f_codebg18"/>
          <p:cNvSpPr/>
          <p:nvPr/>
        </p:nvSpPr>
        <p:spPr>
          <a:xfrm>
            <a:off x="4983480" y="1325880"/>
            <a:ext cx="3703320" cy="2633472"/>
          </a:xfrm>
          <a:prstGeom prst="roundRect">
            <a:avLst>
              <a:gd name="adj" fmla="val 277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f_codeh19"/>
          <p:cNvSpPr txBox="1"/>
          <p:nvPr/>
        </p:nvSpPr>
        <p:spPr>
          <a:xfrm>
            <a:off x="5148072" y="1380744"/>
            <a:ext cx="33741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compile time, then run time</a:t>
            </a:r>
          </a:p>
        </p:txBody>
      </p:sp>
      <p:sp>
        <p:nvSpPr>
          <p:cNvPr id="21" name="a2w_code20"/>
          <p:cNvSpPr txBox="1"/>
          <p:nvPr/>
        </p:nvSpPr>
        <p:spPr>
          <a:xfrm>
            <a:off x="5148072" y="1764792"/>
            <a:ext cx="337413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%Account{balance: 1}</a:t>
            </a:r>
          </a:p>
        </p:txBody>
      </p:sp>
      <p:sp>
        <p:nvSpPr>
          <p:cNvPr id="22" name="a2wd55_code21"/>
          <p:cNvSpPr txBox="1"/>
          <p:nvPr/>
        </p:nvSpPr>
        <p:spPr>
          <a:xfrm>
            <a:off x="5148072" y="1933955"/>
            <a:ext cx="337413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** (ArgumentError) the following</a:t>
            </a:r>
          </a:p>
        </p:txBody>
      </p:sp>
      <p:sp>
        <p:nvSpPr>
          <p:cNvPr id="23" name="a2wd110_code22"/>
          <p:cNvSpPr txBox="1"/>
          <p:nvPr/>
        </p:nvSpPr>
        <p:spPr>
          <a:xfrm>
            <a:off x="5148072" y="2103120"/>
            <a:ext cx="337413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keys must also be given when</a:t>
            </a:r>
          </a:p>
        </p:txBody>
      </p:sp>
      <p:sp>
        <p:nvSpPr>
          <p:cNvPr id="24" name="a2wd165_code23"/>
          <p:cNvSpPr txBox="1"/>
          <p:nvPr/>
        </p:nvSpPr>
        <p:spPr>
          <a:xfrm>
            <a:off x="5148072" y="2272284"/>
            <a:ext cx="337413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building struct Account: [:id]</a:t>
            </a:r>
          </a:p>
        </p:txBody>
      </p:sp>
      <p:sp>
        <p:nvSpPr>
          <p:cNvPr id="25" name="a2wd220_code24"/>
          <p:cNvSpPr txBox="1"/>
          <p:nvPr/>
        </p:nvSpPr>
        <p:spPr>
          <a:xfrm>
            <a:off x="5148072" y="2441448"/>
            <a:ext cx="337413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6" name="a2wd275_code25"/>
          <p:cNvSpPr txBox="1"/>
          <p:nvPr/>
        </p:nvSpPr>
        <p:spPr>
          <a:xfrm>
            <a:off x="5148072" y="2610612"/>
            <a:ext cx="337413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%Account{id: 1, colour: :red}</a:t>
            </a:r>
          </a:p>
        </p:txBody>
      </p:sp>
      <p:sp>
        <p:nvSpPr>
          <p:cNvPr id="27" name="a2wd330_code26"/>
          <p:cNvSpPr txBox="1"/>
          <p:nvPr/>
        </p:nvSpPr>
        <p:spPr>
          <a:xfrm>
            <a:off x="5148072" y="2779776"/>
            <a:ext cx="337413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** (KeyError) key :colour not found</a:t>
            </a:r>
          </a:p>
        </p:txBody>
      </p:sp>
      <p:sp>
        <p:nvSpPr>
          <p:cNvPr id="28" name="a2wd385_code27"/>
          <p:cNvSpPr txBox="1"/>
          <p:nvPr/>
        </p:nvSpPr>
        <p:spPr>
          <a:xfrm>
            <a:off x="5148072" y="2948939"/>
            <a:ext cx="337413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9" name="a2wd440_code28"/>
          <p:cNvSpPr txBox="1"/>
          <p:nvPr/>
        </p:nvSpPr>
        <p:spPr>
          <a:xfrm>
            <a:off x="5148072" y="3118104"/>
            <a:ext cx="337413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a[:balance]</a:t>
            </a:r>
          </a:p>
        </p:txBody>
      </p:sp>
      <p:sp>
        <p:nvSpPr>
          <p:cNvPr id="30" name="a2wd495_code29"/>
          <p:cNvSpPr txBox="1"/>
          <p:nvPr/>
        </p:nvSpPr>
        <p:spPr>
          <a:xfrm>
            <a:off x="5148072" y="3287268"/>
            <a:ext cx="337413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** (UndefinedFunctionError) function</a:t>
            </a:r>
          </a:p>
        </p:txBody>
      </p:sp>
      <p:sp>
        <p:nvSpPr>
          <p:cNvPr id="31" name="a2wd550_code30"/>
          <p:cNvSpPr txBox="1"/>
          <p:nvPr/>
        </p:nvSpPr>
        <p:spPr>
          <a:xfrm>
            <a:off x="5148072" y="3456432"/>
            <a:ext cx="337413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Account.fetch/2 is undefined (Account</a:t>
            </a:r>
          </a:p>
        </p:txBody>
      </p:sp>
      <p:sp>
        <p:nvSpPr>
          <p:cNvPr id="32" name="a2wd605_code31"/>
          <p:cNvSpPr txBox="1"/>
          <p:nvPr/>
        </p:nvSpPr>
        <p:spPr>
          <a:xfrm>
            <a:off x="5148072" y="3625596"/>
            <a:ext cx="337413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does not implement the Access behaviour</a:t>
            </a:r>
          </a:p>
        </p:txBody>
      </p:sp>
      <p:sp>
        <p:nvSpPr>
          <p:cNvPr id="33" name="a3f_nb32"/>
          <p:cNvSpPr/>
          <p:nvPr/>
        </p:nvSpPr>
        <p:spPr>
          <a:xfrm>
            <a:off x="457200" y="4069080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3f_nacc33"/>
          <p:cNvSpPr/>
          <p:nvPr/>
        </p:nvSpPr>
        <p:spPr>
          <a:xfrm>
            <a:off x="457200" y="4069080"/>
            <a:ext cx="50292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3f_nt34"/>
          <p:cNvSpPr txBox="1"/>
          <p:nvPr/>
        </p:nvSpPr>
        <p:spPr>
          <a:xfrm>
            <a:off x="658368" y="4069080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first two are raised while the calling module COMPILES — a typo in a field name never reaches production. The third is a struct deliberately refusing map[...]: use a.balance.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STRUCTS · THE EDGES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still works on a struct, and what does not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It is a map underneath — so the Map functions work, including the ones that break it.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07592"/>
            <a:ext cx="3154680" cy="301752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tht5"/>
          <p:cNvSpPr txBox="1"/>
          <p:nvPr/>
        </p:nvSpPr>
        <p:spPr>
          <a:xfrm>
            <a:off x="530352" y="1307592"/>
            <a:ext cx="3044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On a = %Account{...}</a:t>
            </a:r>
          </a:p>
        </p:txBody>
      </p:sp>
      <p:sp>
        <p:nvSpPr>
          <p:cNvPr id="7" name="a1wd100_td6"/>
          <p:cNvSpPr/>
          <p:nvPr/>
        </p:nvSpPr>
        <p:spPr>
          <a:xfrm>
            <a:off x="457200" y="1609344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d100_tdt7"/>
          <p:cNvSpPr txBox="1"/>
          <p:nvPr/>
        </p:nvSpPr>
        <p:spPr>
          <a:xfrm>
            <a:off x="530352" y="1609344"/>
            <a:ext cx="3044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a.balance</a:t>
            </a:r>
          </a:p>
        </p:txBody>
      </p:sp>
      <p:sp>
        <p:nvSpPr>
          <p:cNvPr id="9" name="a1wd200_td8"/>
          <p:cNvSpPr/>
          <p:nvPr/>
        </p:nvSpPr>
        <p:spPr>
          <a:xfrm>
            <a:off x="457200" y="1911095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wd200_tdt9"/>
          <p:cNvSpPr txBox="1"/>
          <p:nvPr/>
        </p:nvSpPr>
        <p:spPr>
          <a:xfrm>
            <a:off x="530352" y="1911095"/>
            <a:ext cx="3044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%{a | balance: 1}</a:t>
            </a:r>
          </a:p>
        </p:txBody>
      </p:sp>
      <p:sp>
        <p:nvSpPr>
          <p:cNvPr id="11" name="a1wd300_td10"/>
          <p:cNvSpPr/>
          <p:nvPr/>
        </p:nvSpPr>
        <p:spPr>
          <a:xfrm>
            <a:off x="457200" y="2212848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wd300_tdt11"/>
          <p:cNvSpPr txBox="1"/>
          <p:nvPr/>
        </p:nvSpPr>
        <p:spPr>
          <a:xfrm>
            <a:off x="530352" y="2212848"/>
            <a:ext cx="3044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Map.put(a, :color, :red)</a:t>
            </a:r>
          </a:p>
        </p:txBody>
      </p:sp>
      <p:sp>
        <p:nvSpPr>
          <p:cNvPr id="13" name="a1wd400_td12"/>
          <p:cNvSpPr/>
          <p:nvPr/>
        </p:nvSpPr>
        <p:spPr>
          <a:xfrm>
            <a:off x="457200" y="2514600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400_tdt13"/>
          <p:cNvSpPr txBox="1"/>
          <p:nvPr/>
        </p:nvSpPr>
        <p:spPr>
          <a:xfrm>
            <a:off x="530352" y="2514600"/>
            <a:ext cx="3044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struct(Account, id: "A-2", color: :red)</a:t>
            </a:r>
          </a:p>
        </p:txBody>
      </p:sp>
      <p:sp>
        <p:nvSpPr>
          <p:cNvPr id="15" name="a1wd500_td14"/>
          <p:cNvSpPr/>
          <p:nvPr/>
        </p:nvSpPr>
        <p:spPr>
          <a:xfrm>
            <a:off x="457200" y="2816352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500_tdt15"/>
          <p:cNvSpPr txBox="1"/>
          <p:nvPr/>
        </p:nvSpPr>
        <p:spPr>
          <a:xfrm>
            <a:off x="530352" y="2816352"/>
            <a:ext cx="3044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struct!(Account, id: "A-2", color: :red)</a:t>
            </a:r>
          </a:p>
        </p:txBody>
      </p:sp>
      <p:sp>
        <p:nvSpPr>
          <p:cNvPr id="17" name="a1wd600_td16"/>
          <p:cNvSpPr/>
          <p:nvPr/>
        </p:nvSpPr>
        <p:spPr>
          <a:xfrm>
            <a:off x="457200" y="3118104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600_tdt17"/>
          <p:cNvSpPr txBox="1"/>
          <p:nvPr/>
        </p:nvSpPr>
        <p:spPr>
          <a:xfrm>
            <a:off x="530352" y="3118104"/>
            <a:ext cx="3044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match?(%Account{}, %{id: 1})</a:t>
            </a:r>
          </a:p>
        </p:txBody>
      </p:sp>
      <p:sp>
        <p:nvSpPr>
          <p:cNvPr id="19" name="a1wd700_td18"/>
          <p:cNvSpPr/>
          <p:nvPr/>
        </p:nvSpPr>
        <p:spPr>
          <a:xfrm>
            <a:off x="457200" y="3419856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wd700_tdt19"/>
          <p:cNvSpPr txBox="1"/>
          <p:nvPr/>
        </p:nvSpPr>
        <p:spPr>
          <a:xfrm>
            <a:off x="530352" y="3419856"/>
            <a:ext cx="3044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Enumerable.impl_for(a)</a:t>
            </a:r>
          </a:p>
        </p:txBody>
      </p:sp>
      <p:sp>
        <p:nvSpPr>
          <p:cNvPr id="21" name="a1f_th20"/>
          <p:cNvSpPr/>
          <p:nvPr/>
        </p:nvSpPr>
        <p:spPr>
          <a:xfrm>
            <a:off x="3611880" y="1307592"/>
            <a:ext cx="5074920" cy="301752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f_tht21"/>
          <p:cNvSpPr txBox="1"/>
          <p:nvPr/>
        </p:nvSpPr>
        <p:spPr>
          <a:xfrm>
            <a:off x="3685032" y="1307592"/>
            <a:ext cx="49651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23" name="a1wd100_td22"/>
          <p:cNvSpPr/>
          <p:nvPr/>
        </p:nvSpPr>
        <p:spPr>
          <a:xfrm>
            <a:off x="3611880" y="1609344"/>
            <a:ext cx="5074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wd100_tdt23"/>
          <p:cNvSpPr txBox="1"/>
          <p:nvPr/>
        </p:nvSpPr>
        <p:spPr>
          <a:xfrm>
            <a:off x="3685032" y="1609344"/>
            <a:ext cx="49651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0 — the dot is the way to read a field</a:t>
            </a:r>
          </a:p>
        </p:txBody>
      </p:sp>
      <p:sp>
        <p:nvSpPr>
          <p:cNvPr id="25" name="a1wd200_td24"/>
          <p:cNvSpPr/>
          <p:nvPr/>
        </p:nvSpPr>
        <p:spPr>
          <a:xfrm>
            <a:off x="3611880" y="1911095"/>
            <a:ext cx="5074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wd200_tdt25"/>
          <p:cNvSpPr txBox="1"/>
          <p:nvPr/>
        </p:nvSpPr>
        <p:spPr>
          <a:xfrm>
            <a:off x="3685032" y="1911095"/>
            <a:ext cx="49651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new %Account{} — and the key is checked</a:t>
            </a:r>
          </a:p>
        </p:txBody>
      </p:sp>
      <p:sp>
        <p:nvSpPr>
          <p:cNvPr id="27" name="a1wd300_td26"/>
          <p:cNvSpPr/>
          <p:nvPr/>
        </p:nvSpPr>
        <p:spPr>
          <a:xfrm>
            <a:off x="3611880" y="2212848"/>
            <a:ext cx="5074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300_tdt27"/>
          <p:cNvSpPr txBox="1"/>
          <p:nvPr/>
        </p:nvSpPr>
        <p:spPr>
          <a:xfrm>
            <a:off x="3685032" y="2212848"/>
            <a:ext cx="49651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works, and leaves a struct with a field it never declared</a:t>
            </a:r>
          </a:p>
        </p:txBody>
      </p:sp>
      <p:sp>
        <p:nvSpPr>
          <p:cNvPr id="29" name="a1wd400_td28"/>
          <p:cNvSpPr/>
          <p:nvPr/>
        </p:nvSpPr>
        <p:spPr>
          <a:xfrm>
            <a:off x="3611880" y="2514600"/>
            <a:ext cx="5074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wd400_tdt29"/>
          <p:cNvSpPr txBox="1"/>
          <p:nvPr/>
        </p:nvSpPr>
        <p:spPr>
          <a:xfrm>
            <a:off x="3685032" y="2514600"/>
            <a:ext cx="49651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%Account{id: "A-2", ...} — :color silently dropped</a:t>
            </a:r>
          </a:p>
        </p:txBody>
      </p:sp>
      <p:sp>
        <p:nvSpPr>
          <p:cNvPr id="31" name="a1wd500_td30"/>
          <p:cNvSpPr/>
          <p:nvPr/>
        </p:nvSpPr>
        <p:spPr>
          <a:xfrm>
            <a:off x="3611880" y="2816352"/>
            <a:ext cx="5074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500_tdt31"/>
          <p:cNvSpPr txBox="1"/>
          <p:nvPr/>
        </p:nvSpPr>
        <p:spPr>
          <a:xfrm>
            <a:off x="3685032" y="2816352"/>
            <a:ext cx="49651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** (KeyError) key :color not found</a:t>
            </a:r>
          </a:p>
        </p:txBody>
      </p:sp>
      <p:sp>
        <p:nvSpPr>
          <p:cNvPr id="33" name="a1wd600_td32"/>
          <p:cNvSpPr/>
          <p:nvPr/>
        </p:nvSpPr>
        <p:spPr>
          <a:xfrm>
            <a:off x="3611880" y="3118104"/>
            <a:ext cx="5074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wd600_tdt33"/>
          <p:cNvSpPr txBox="1"/>
          <p:nvPr/>
        </p:nvSpPr>
        <p:spPr>
          <a:xfrm>
            <a:off x="3685032" y="3118104"/>
            <a:ext cx="49651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false — the pattern checks the name, not just keys</a:t>
            </a:r>
          </a:p>
        </p:txBody>
      </p:sp>
      <p:sp>
        <p:nvSpPr>
          <p:cNvPr id="35" name="a1wd700_td34"/>
          <p:cNvSpPr/>
          <p:nvPr/>
        </p:nvSpPr>
        <p:spPr>
          <a:xfrm>
            <a:off x="3611880" y="3419856"/>
            <a:ext cx="5074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1wd700_tdt35"/>
          <p:cNvSpPr txBox="1"/>
          <p:nvPr/>
        </p:nvSpPr>
        <p:spPr>
          <a:xfrm>
            <a:off x="3685032" y="3419856"/>
            <a:ext cx="49651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nil — Enum.map(a, ...) raises Protocol.UndefinedError</a:t>
            </a:r>
          </a:p>
        </p:txBody>
      </p:sp>
      <p:sp>
        <p:nvSpPr>
          <p:cNvPr id="37" name="a2f_nb36"/>
          <p:cNvSpPr/>
          <p:nvPr/>
        </p:nvSpPr>
        <p:spPr>
          <a:xfrm>
            <a:off x="457200" y="383133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2f_nacc37"/>
          <p:cNvSpPr/>
          <p:nvPr/>
        </p:nvSpPr>
        <p:spPr>
          <a:xfrm>
            <a:off x="457200" y="3831336"/>
            <a:ext cx="50292" cy="5669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2f_nt38"/>
          <p:cNvSpPr txBox="1"/>
          <p:nvPr/>
        </p:nvSpPr>
        <p:spPr>
          <a:xfrm>
            <a:off x="658368" y="3831336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WATCH OUT in scripts: %Account{} at the top level of the .exs that defines Account does not compile in 1.20 — "the struct was not yet defined or ... accessed in the same context that defines it". Inside another module's function it works.</a:t>
            </a:r>
          </a:p>
        </p:txBody>
      </p:sp>
      <p:sp>
        <p:nvSpPr>
          <p:cNvPr id="40" name="ft3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41" name="ft4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05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Sets, ranges, nesting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Constant-time membership, sequences never
stored, updates three levels deep.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MapSet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first..last//step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put_in · update_in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MAPSET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MapSet: unique members, set algebra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Duplicates vanish on the way in. "Is x in here?" costs the same at any size.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25880"/>
            <a:ext cx="4572000" cy="2802635"/>
          </a:xfrm>
          <a:prstGeom prst="roundRect">
            <a:avLst>
              <a:gd name="adj" fmla="val 261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80744"/>
            <a:ext cx="42428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64792"/>
            <a:ext cx="42428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s = MapSet.new([3, 1, 2, 1])  #=&gt; MapSet.new([1, 2, 3])</a:t>
            </a:r>
          </a:p>
        </p:txBody>
      </p:sp>
      <p:sp>
        <p:nvSpPr>
          <p:cNvPr id="8" name="a1wd55_code7"/>
          <p:cNvSpPr txBox="1"/>
          <p:nvPr/>
        </p:nvSpPr>
        <p:spPr>
          <a:xfrm>
            <a:off x="621792" y="1933955"/>
            <a:ext cx="42428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MapSet.put(s, 1)              #=&gt; unchanged</a:t>
            </a:r>
          </a:p>
        </p:txBody>
      </p:sp>
      <p:sp>
        <p:nvSpPr>
          <p:cNvPr id="9" name="a1wd110_code8"/>
          <p:cNvSpPr txBox="1"/>
          <p:nvPr/>
        </p:nvSpPr>
        <p:spPr>
          <a:xfrm>
            <a:off x="621792" y="2103120"/>
            <a:ext cx="42428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MapSet.member?(s, 2)          #=&gt; true</a:t>
            </a:r>
          </a:p>
        </p:txBody>
      </p:sp>
      <p:sp>
        <p:nvSpPr>
          <p:cNvPr id="10" name="a1wd165_code9"/>
          <p:cNvSpPr txBox="1"/>
          <p:nvPr/>
        </p:nvSpPr>
        <p:spPr>
          <a:xfrm>
            <a:off x="621792" y="2272284"/>
            <a:ext cx="42428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2 in s                        #=&gt; true</a:t>
            </a:r>
          </a:p>
        </p:txBody>
      </p:sp>
      <p:sp>
        <p:nvSpPr>
          <p:cNvPr id="11" name="a1wd220_code10"/>
          <p:cNvSpPr txBox="1"/>
          <p:nvPr/>
        </p:nvSpPr>
        <p:spPr>
          <a:xfrm>
            <a:off x="621792" y="2441448"/>
            <a:ext cx="42428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2" name="a1wd275_code11"/>
          <p:cNvSpPr txBox="1"/>
          <p:nvPr/>
        </p:nvSpPr>
        <p:spPr>
          <a:xfrm>
            <a:off x="621792" y="2610612"/>
            <a:ext cx="42428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a = MapSet.new(["ada", "bob", "cy"])</a:t>
            </a:r>
          </a:p>
        </p:txBody>
      </p:sp>
      <p:sp>
        <p:nvSpPr>
          <p:cNvPr id="13" name="a1wd330_code12"/>
          <p:cNvSpPr txBox="1"/>
          <p:nvPr/>
        </p:nvSpPr>
        <p:spPr>
          <a:xfrm>
            <a:off x="621792" y="2779776"/>
            <a:ext cx="42428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b = MapSet.new(["bob", "cy", "dee"])</a:t>
            </a:r>
          </a:p>
        </p:txBody>
      </p:sp>
      <p:sp>
        <p:nvSpPr>
          <p:cNvPr id="14" name="a1wd385_code13"/>
          <p:cNvSpPr txBox="1"/>
          <p:nvPr/>
        </p:nvSpPr>
        <p:spPr>
          <a:xfrm>
            <a:off x="621792" y="2948939"/>
            <a:ext cx="42428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MapSet.union(a, b)</a:t>
            </a:r>
          </a:p>
        </p:txBody>
      </p:sp>
      <p:sp>
        <p:nvSpPr>
          <p:cNvPr id="15" name="a1wd440_code14"/>
          <p:cNvSpPr txBox="1"/>
          <p:nvPr/>
        </p:nvSpPr>
        <p:spPr>
          <a:xfrm>
            <a:off x="621792" y="3118104"/>
            <a:ext cx="42428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#=&gt; MapSet.new(["ada", "bob", "cy", "dee"])</a:t>
            </a:r>
          </a:p>
        </p:txBody>
      </p:sp>
      <p:sp>
        <p:nvSpPr>
          <p:cNvPr id="16" name="a1wd495_code15"/>
          <p:cNvSpPr txBox="1"/>
          <p:nvPr/>
        </p:nvSpPr>
        <p:spPr>
          <a:xfrm>
            <a:off x="621792" y="3287268"/>
            <a:ext cx="42428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MapSet.intersection(a, b)  #=&gt; MapSet.new(["bob", "cy"])</a:t>
            </a:r>
          </a:p>
        </p:txBody>
      </p:sp>
      <p:sp>
        <p:nvSpPr>
          <p:cNvPr id="17" name="a1wd550_code16"/>
          <p:cNvSpPr txBox="1"/>
          <p:nvPr/>
        </p:nvSpPr>
        <p:spPr>
          <a:xfrm>
            <a:off x="621792" y="3456432"/>
            <a:ext cx="42428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MapSet.difference(a, b)    #=&gt; MapSet.new(["ada"])</a:t>
            </a:r>
          </a:p>
        </p:txBody>
      </p:sp>
      <p:sp>
        <p:nvSpPr>
          <p:cNvPr id="18" name="a1wd605_code17"/>
          <p:cNvSpPr txBox="1"/>
          <p:nvPr/>
        </p:nvSpPr>
        <p:spPr>
          <a:xfrm>
            <a:off x="621792" y="3625596"/>
            <a:ext cx="42428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MapSet.symmetric_difference(a, b)</a:t>
            </a:r>
          </a:p>
        </p:txBody>
      </p:sp>
      <p:sp>
        <p:nvSpPr>
          <p:cNvPr id="19" name="a1wd660_code18"/>
          <p:cNvSpPr txBox="1"/>
          <p:nvPr/>
        </p:nvSpPr>
        <p:spPr>
          <a:xfrm>
            <a:off x="621792" y="3794759"/>
            <a:ext cx="42428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#=&gt; MapSet.new(["ada", "dee"])</a:t>
            </a:r>
          </a:p>
        </p:txBody>
      </p:sp>
      <p:sp>
        <p:nvSpPr>
          <p:cNvPr id="20" name="a2f_th19"/>
          <p:cNvSpPr/>
          <p:nvPr/>
        </p:nvSpPr>
        <p:spPr>
          <a:xfrm>
            <a:off x="5212080" y="1325880"/>
            <a:ext cx="2148840" cy="3108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f_tht20"/>
          <p:cNvSpPr txBox="1"/>
          <p:nvPr/>
        </p:nvSpPr>
        <p:spPr>
          <a:xfrm>
            <a:off x="5285232" y="1325880"/>
            <a:ext cx="2039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10,000 elements, not found</a:t>
            </a:r>
          </a:p>
        </p:txBody>
      </p:sp>
      <p:sp>
        <p:nvSpPr>
          <p:cNvPr id="22" name="a2wd140_td21"/>
          <p:cNvSpPr/>
          <p:nvPr/>
        </p:nvSpPr>
        <p:spPr>
          <a:xfrm>
            <a:off x="5212080" y="1636776"/>
            <a:ext cx="2148840" cy="310896"/>
          </a:xfrm>
          <a:prstGeom prst="rect">
            <a:avLst/>
          </a:prstGeom>
          <a:solidFill>
            <a:srgbClr val="FCE8ED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wd140_tdt22"/>
          <p:cNvSpPr txBox="1"/>
          <p:nvPr/>
        </p:nvSpPr>
        <p:spPr>
          <a:xfrm>
            <a:off x="5285232" y="1636776"/>
            <a:ext cx="2039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Enum.member?(list, x)</a:t>
            </a:r>
          </a:p>
        </p:txBody>
      </p:sp>
      <p:sp>
        <p:nvSpPr>
          <p:cNvPr id="24" name="a2wd280_td23"/>
          <p:cNvSpPr/>
          <p:nvPr/>
        </p:nvSpPr>
        <p:spPr>
          <a:xfrm>
            <a:off x="5212080" y="1947672"/>
            <a:ext cx="2148840" cy="310896"/>
          </a:xfrm>
          <a:prstGeom prst="rect">
            <a:avLst/>
          </a:prstGeom>
          <a:solidFill>
            <a:srgbClr val="FCE8ED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wd280_tdt24"/>
          <p:cNvSpPr txBox="1"/>
          <p:nvPr/>
        </p:nvSpPr>
        <p:spPr>
          <a:xfrm>
            <a:off x="5285232" y="1947672"/>
            <a:ext cx="2039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x in list</a:t>
            </a:r>
          </a:p>
        </p:txBody>
      </p:sp>
      <p:sp>
        <p:nvSpPr>
          <p:cNvPr id="26" name="a2wd420_td25"/>
          <p:cNvSpPr/>
          <p:nvPr/>
        </p:nvSpPr>
        <p:spPr>
          <a:xfrm>
            <a:off x="5212080" y="2258568"/>
            <a:ext cx="2148840" cy="310896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wd420_tdt26"/>
          <p:cNvSpPr txBox="1"/>
          <p:nvPr/>
        </p:nvSpPr>
        <p:spPr>
          <a:xfrm>
            <a:off x="5285232" y="2258568"/>
            <a:ext cx="2039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MapSet.member?(set, x)</a:t>
            </a:r>
          </a:p>
        </p:txBody>
      </p:sp>
      <p:sp>
        <p:nvSpPr>
          <p:cNvPr id="28" name="a2wd560_td27"/>
          <p:cNvSpPr/>
          <p:nvPr/>
        </p:nvSpPr>
        <p:spPr>
          <a:xfrm>
            <a:off x="5212080" y="2569464"/>
            <a:ext cx="2148840" cy="310896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wd560_tdt28"/>
          <p:cNvSpPr txBox="1"/>
          <p:nvPr/>
        </p:nvSpPr>
        <p:spPr>
          <a:xfrm>
            <a:off x="5285232" y="2569464"/>
            <a:ext cx="2039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Map.has_key?(map, x)</a:t>
            </a:r>
          </a:p>
        </p:txBody>
      </p:sp>
      <p:sp>
        <p:nvSpPr>
          <p:cNvPr id="30" name="a2f_th29"/>
          <p:cNvSpPr/>
          <p:nvPr/>
        </p:nvSpPr>
        <p:spPr>
          <a:xfrm>
            <a:off x="7360920" y="1325880"/>
            <a:ext cx="1325880" cy="3108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2f_tht30"/>
          <p:cNvSpPr txBox="1"/>
          <p:nvPr/>
        </p:nvSpPr>
        <p:spPr>
          <a:xfrm>
            <a:off x="7434072" y="1325880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Time</a:t>
            </a:r>
          </a:p>
        </p:txBody>
      </p:sp>
      <p:sp>
        <p:nvSpPr>
          <p:cNvPr id="32" name="a2wd140_td31"/>
          <p:cNvSpPr/>
          <p:nvPr/>
        </p:nvSpPr>
        <p:spPr>
          <a:xfrm>
            <a:off x="7360920" y="1636776"/>
            <a:ext cx="1325880" cy="310896"/>
          </a:xfrm>
          <a:prstGeom prst="rect">
            <a:avLst/>
          </a:prstGeom>
          <a:solidFill>
            <a:srgbClr val="FCE8ED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2wd140_tdt32"/>
          <p:cNvSpPr txBox="1"/>
          <p:nvPr/>
        </p:nvSpPr>
        <p:spPr>
          <a:xfrm>
            <a:off x="7434072" y="16367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14.69 µs</a:t>
            </a:r>
          </a:p>
        </p:txBody>
      </p:sp>
      <p:sp>
        <p:nvSpPr>
          <p:cNvPr id="34" name="a2wd280_td33"/>
          <p:cNvSpPr/>
          <p:nvPr/>
        </p:nvSpPr>
        <p:spPr>
          <a:xfrm>
            <a:off x="7360920" y="1947672"/>
            <a:ext cx="1325880" cy="310896"/>
          </a:xfrm>
          <a:prstGeom prst="rect">
            <a:avLst/>
          </a:prstGeom>
          <a:solidFill>
            <a:srgbClr val="FCE8ED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2wd280_tdt34"/>
          <p:cNvSpPr txBox="1"/>
          <p:nvPr/>
        </p:nvSpPr>
        <p:spPr>
          <a:xfrm>
            <a:off x="7434072" y="1947672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13.88 µs</a:t>
            </a:r>
          </a:p>
        </p:txBody>
      </p:sp>
      <p:sp>
        <p:nvSpPr>
          <p:cNvPr id="36" name="a2wd420_td35"/>
          <p:cNvSpPr/>
          <p:nvPr/>
        </p:nvSpPr>
        <p:spPr>
          <a:xfrm>
            <a:off x="7360920" y="2258568"/>
            <a:ext cx="1325880" cy="310896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2wd420_tdt36"/>
          <p:cNvSpPr txBox="1"/>
          <p:nvPr/>
        </p:nvSpPr>
        <p:spPr>
          <a:xfrm>
            <a:off x="7434072" y="2258568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10.2 ns</a:t>
            </a:r>
          </a:p>
        </p:txBody>
      </p:sp>
      <p:sp>
        <p:nvSpPr>
          <p:cNvPr id="38" name="a2wd560_td37"/>
          <p:cNvSpPr/>
          <p:nvPr/>
        </p:nvSpPr>
        <p:spPr>
          <a:xfrm>
            <a:off x="7360920" y="2569464"/>
            <a:ext cx="1325880" cy="310896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2wd560_tdt38"/>
          <p:cNvSpPr txBox="1"/>
          <p:nvPr/>
        </p:nvSpPr>
        <p:spPr>
          <a:xfrm>
            <a:off x="7434072" y="2569464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11.8 ns</a:t>
            </a:r>
          </a:p>
        </p:txBody>
      </p:sp>
      <p:sp>
        <p:nvSpPr>
          <p:cNvPr id="40" name="a3f_big39"/>
          <p:cNvSpPr txBox="1"/>
          <p:nvPr/>
        </p:nvSpPr>
        <p:spPr>
          <a:xfrm>
            <a:off x="5212080" y="3008376"/>
            <a:ext cx="3474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Calibri"/>
              </a:rPr>
              <a:t>1,435x</a:t>
            </a:r>
          </a:p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faster to ask a MapSet than to scan a list of the same 10,000 values. Both answers are correct; only one scales.</a:t>
            </a:r>
          </a:p>
        </p:txBody>
      </p:sp>
      <p:sp>
        <p:nvSpPr>
          <p:cNvPr id="41" name="ft4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42" name="ft4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RANGES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Ranges: a sequence that is three integers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first..last//step. Nothing is stored — the elements are computed as you walk.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983480" cy="2340863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46542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46542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Enum.to_list(1..10//3)     #=&gt; [1, 4, 7, 10]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56816"/>
            <a:ext cx="46542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Enum.to_list(5..1//-1)     #=&gt; [5, 4, 3, 2, 1]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30552"/>
            <a:ext cx="46542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Enum.to_list(5..1//1)      #=&gt; []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304288"/>
            <a:ext cx="46542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Range.size(1..1_000_000)   #=&gt; 1000000</a:t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478024"/>
            <a:ext cx="46542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:erts_debug.flat_size(1..1_000_000)  #=&gt; 12</a:t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651760"/>
            <a:ext cx="46542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500 in 1..1_000_000        #=&gt; true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825496"/>
            <a:ext cx="46542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2999232"/>
            <a:ext cx="46542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Enum.sum(1..10_000_000_000_000)</a:t>
            </a:r>
          </a:p>
        </p:txBody>
      </p:sp>
      <p:sp>
        <p:nvSpPr>
          <p:cNvPr id="15" name="a1wd480_code14"/>
          <p:cNvSpPr txBox="1"/>
          <p:nvPr/>
        </p:nvSpPr>
        <p:spPr>
          <a:xfrm>
            <a:off x="621792" y="3172968"/>
            <a:ext cx="46542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50000000000005000000000000   in 0 µs</a:t>
            </a:r>
          </a:p>
        </p:txBody>
      </p:sp>
      <p:sp>
        <p:nvSpPr>
          <p:cNvPr id="16" name="a1wd540_code15"/>
          <p:cNvSpPr txBox="1"/>
          <p:nvPr/>
        </p:nvSpPr>
        <p:spPr>
          <a:xfrm>
            <a:off x="621792" y="3346704"/>
            <a:ext cx="46542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Enum.sum(list_of_1M)      # a real walk: 2.87 ms</a:t>
            </a:r>
          </a:p>
        </p:txBody>
      </p:sp>
      <p:sp>
        <p:nvSpPr>
          <p:cNvPr id="17" name="a2f_codebg16"/>
          <p:cNvSpPr/>
          <p:nvPr/>
        </p:nvSpPr>
        <p:spPr>
          <a:xfrm>
            <a:off x="5623560" y="1344168"/>
            <a:ext cx="3063240" cy="1993391"/>
          </a:xfrm>
          <a:prstGeom prst="roundRect">
            <a:avLst>
              <a:gd name="adj" fmla="val 366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f_codeh17"/>
          <p:cNvSpPr txBox="1"/>
          <p:nvPr/>
        </p:nvSpPr>
        <p:spPr>
          <a:xfrm>
            <a:off x="5788152" y="1399032"/>
            <a:ext cx="27340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1.20</a:t>
            </a:r>
          </a:p>
        </p:txBody>
      </p:sp>
      <p:sp>
        <p:nvSpPr>
          <p:cNvPr id="19" name="a2w_code18"/>
          <p:cNvSpPr txBox="1"/>
          <p:nvPr/>
        </p:nvSpPr>
        <p:spPr>
          <a:xfrm>
            <a:off x="5788152" y="1783080"/>
            <a:ext cx="27340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Enum.to_list(3..1)</a:t>
            </a:r>
          </a:p>
        </p:txBody>
      </p:sp>
      <p:sp>
        <p:nvSpPr>
          <p:cNvPr id="20" name="a2wd60_code19"/>
          <p:cNvSpPr txBox="1"/>
          <p:nvPr/>
        </p:nvSpPr>
        <p:spPr>
          <a:xfrm>
            <a:off x="5788152" y="1956816"/>
            <a:ext cx="27340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1" name="a2wd120_code20"/>
          <p:cNvSpPr txBox="1"/>
          <p:nvPr/>
        </p:nvSpPr>
        <p:spPr>
          <a:xfrm>
            <a:off x="5788152" y="2130552"/>
            <a:ext cx="27340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warning: 3..1 has a</a:t>
            </a:r>
          </a:p>
        </p:txBody>
      </p:sp>
      <p:sp>
        <p:nvSpPr>
          <p:cNvPr id="22" name="a2wd180_code21"/>
          <p:cNvSpPr txBox="1"/>
          <p:nvPr/>
        </p:nvSpPr>
        <p:spPr>
          <a:xfrm>
            <a:off x="5788152" y="2304288"/>
            <a:ext cx="27340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default step of -1,</a:t>
            </a:r>
          </a:p>
        </p:txBody>
      </p:sp>
      <p:sp>
        <p:nvSpPr>
          <p:cNvPr id="23" name="a2wd240_code22"/>
          <p:cNvSpPr txBox="1"/>
          <p:nvPr/>
        </p:nvSpPr>
        <p:spPr>
          <a:xfrm>
            <a:off x="5788152" y="2478024"/>
            <a:ext cx="27340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please write 3..1//-1</a:t>
            </a:r>
          </a:p>
        </p:txBody>
      </p:sp>
      <p:sp>
        <p:nvSpPr>
          <p:cNvPr id="24" name="a2wd300_code23"/>
          <p:cNvSpPr txBox="1"/>
          <p:nvPr/>
        </p:nvSpPr>
        <p:spPr>
          <a:xfrm>
            <a:off x="5788152" y="2651760"/>
            <a:ext cx="27340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instead</a:t>
            </a:r>
          </a:p>
        </p:txBody>
      </p:sp>
      <p:sp>
        <p:nvSpPr>
          <p:cNvPr id="25" name="a2wd360_code24"/>
          <p:cNvSpPr txBox="1"/>
          <p:nvPr/>
        </p:nvSpPr>
        <p:spPr>
          <a:xfrm>
            <a:off x="5788152" y="2825496"/>
            <a:ext cx="27340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6" name="a2wd420_code25"/>
          <p:cNvSpPr txBox="1"/>
          <p:nvPr/>
        </p:nvSpPr>
        <p:spPr>
          <a:xfrm>
            <a:off x="5788152" y="2999232"/>
            <a:ext cx="273405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[3, 2, 1]</a:t>
            </a:r>
          </a:p>
        </p:txBody>
      </p:sp>
      <p:sp>
        <p:nvSpPr>
          <p:cNvPr id="27" name="a3f_nb26"/>
          <p:cNvSpPr/>
          <p:nvPr/>
        </p:nvSpPr>
        <p:spPr>
          <a:xfrm>
            <a:off x="457200" y="3813047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3f_nacc27"/>
          <p:cNvSpPr/>
          <p:nvPr/>
        </p:nvSpPr>
        <p:spPr>
          <a:xfrm>
            <a:off x="457200" y="3813047"/>
            <a:ext cx="50292" cy="5120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3f_nt28"/>
          <p:cNvSpPr txBox="1"/>
          <p:nvPr/>
        </p:nvSpPr>
        <p:spPr>
          <a:xfrm>
            <a:off x="658368" y="3813047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Enum.sum/1 has a clause just for ranges that uses the arithmetic-series formula — ten trillion elements, no loop. A range is always 12 words, whatever it spans: prefer it to Enum.to_list/1 until you really need a list.</a:t>
            </a:r>
          </a:p>
        </p:txBody>
      </p:sp>
      <p:sp>
        <p:nvSpPr>
          <p:cNvPr id="30" name="ft2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NESTED DATA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Reaching into nested data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get_in, put_in, update_in and pop_in walk a path and rebuild only what they touch.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4892040" cy="2907791"/>
          </a:xfrm>
          <a:prstGeom prst="roundRect">
            <a:avLst>
              <a:gd name="adj" fmla="val 251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62456"/>
            <a:ext cx="456285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46504"/>
            <a:ext cx="456285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bank = %{"A-1" =&gt; %{owner: "Ada", balance: 500,</a:t>
            </a:r>
          </a:p>
        </p:txBody>
      </p:sp>
      <p:sp>
        <p:nvSpPr>
          <p:cNvPr id="8" name="a1wd50_code7"/>
          <p:cNvSpPr txBox="1"/>
          <p:nvPr/>
        </p:nvSpPr>
        <p:spPr>
          <a:xfrm>
            <a:off x="621792" y="1911095"/>
            <a:ext cx="456285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                  tags: [:vip]},</a:t>
            </a:r>
          </a:p>
        </p:txBody>
      </p:sp>
      <p:sp>
        <p:nvSpPr>
          <p:cNvPr id="9" name="a1wd100_code8"/>
          <p:cNvSpPr txBox="1"/>
          <p:nvPr/>
        </p:nvSpPr>
        <p:spPr>
          <a:xfrm>
            <a:off x="621792" y="2075688"/>
            <a:ext cx="456285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       "B-2" =&gt; %{owner: "Bob", balance: 40, tags: []}}</a:t>
            </a:r>
          </a:p>
        </p:txBody>
      </p:sp>
      <p:sp>
        <p:nvSpPr>
          <p:cNvPr id="10" name="a1wd150_code9"/>
          <p:cNvSpPr txBox="1"/>
          <p:nvPr/>
        </p:nvSpPr>
        <p:spPr>
          <a:xfrm>
            <a:off x="621792" y="2240280"/>
            <a:ext cx="456285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1" name="a1wd200_code10"/>
          <p:cNvSpPr txBox="1"/>
          <p:nvPr/>
        </p:nvSpPr>
        <p:spPr>
          <a:xfrm>
            <a:off x="621792" y="2404872"/>
            <a:ext cx="456285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get_in(bank, ["A-1", :balance])        #=&gt; 500</a:t>
            </a:r>
          </a:p>
        </p:txBody>
      </p:sp>
      <p:sp>
        <p:nvSpPr>
          <p:cNvPr id="12" name="a1wd250_code11"/>
          <p:cNvSpPr txBox="1"/>
          <p:nvPr/>
        </p:nvSpPr>
        <p:spPr>
          <a:xfrm>
            <a:off x="621792" y="2569463"/>
            <a:ext cx="456285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get_in(bank, ["Z-9", :balance])        #=&gt; nil</a:t>
            </a:r>
          </a:p>
        </p:txBody>
      </p:sp>
      <p:sp>
        <p:nvSpPr>
          <p:cNvPr id="13" name="a1wd300_code12"/>
          <p:cNvSpPr txBox="1"/>
          <p:nvPr/>
        </p:nvSpPr>
        <p:spPr>
          <a:xfrm>
            <a:off x="621792" y="2734056"/>
            <a:ext cx="456285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put_in(bank, ["B-2", :balance], 90)    # B-2: 90</a:t>
            </a:r>
          </a:p>
        </p:txBody>
      </p:sp>
      <p:sp>
        <p:nvSpPr>
          <p:cNvPr id="14" name="a1wd350_code13"/>
          <p:cNvSpPr txBox="1"/>
          <p:nvPr/>
        </p:nvSpPr>
        <p:spPr>
          <a:xfrm>
            <a:off x="621792" y="2898648"/>
            <a:ext cx="456285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update_in(bank, ["A-1", :balance],</a:t>
            </a:r>
          </a:p>
        </p:txBody>
      </p:sp>
      <p:sp>
        <p:nvSpPr>
          <p:cNvPr id="15" name="a1wd400_code14"/>
          <p:cNvSpPr txBox="1"/>
          <p:nvPr/>
        </p:nvSpPr>
        <p:spPr>
          <a:xfrm>
            <a:off x="621792" y="3063239"/>
            <a:ext cx="456285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        &amp;(&amp;1 - 100))                 # A-1: 400</a:t>
            </a:r>
          </a:p>
        </p:txBody>
      </p:sp>
      <p:sp>
        <p:nvSpPr>
          <p:cNvPr id="16" name="a1wd450_code15"/>
          <p:cNvSpPr txBox="1"/>
          <p:nvPr/>
        </p:nvSpPr>
        <p:spPr>
          <a:xfrm>
            <a:off x="621792" y="3227832"/>
            <a:ext cx="456285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update_in(bank["A-1"].tags, &amp;[:gold | &amp;1])</a:t>
            </a:r>
          </a:p>
        </p:txBody>
      </p:sp>
      <p:sp>
        <p:nvSpPr>
          <p:cNvPr id="17" name="a1wd500_code16"/>
          <p:cNvSpPr txBox="1"/>
          <p:nvPr/>
        </p:nvSpPr>
        <p:spPr>
          <a:xfrm>
            <a:off x="621792" y="3392424"/>
            <a:ext cx="456285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#=&gt; tags: [:gold, :vip]</a:t>
            </a:r>
          </a:p>
        </p:txBody>
      </p:sp>
      <p:sp>
        <p:nvSpPr>
          <p:cNvPr id="18" name="a1wd550_code17"/>
          <p:cNvSpPr txBox="1"/>
          <p:nvPr/>
        </p:nvSpPr>
        <p:spPr>
          <a:xfrm>
            <a:off x="621792" y="3557015"/>
            <a:ext cx="456285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put_in(bank, ["Z-9", :balance], 1)</a:t>
            </a:r>
          </a:p>
        </p:txBody>
      </p:sp>
      <p:sp>
        <p:nvSpPr>
          <p:cNvPr id="19" name="a1wd600_code18"/>
          <p:cNvSpPr txBox="1"/>
          <p:nvPr/>
        </p:nvSpPr>
        <p:spPr>
          <a:xfrm>
            <a:off x="621792" y="3721608"/>
            <a:ext cx="456285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** (ArgumentError) could not put/update</a:t>
            </a:r>
          </a:p>
        </p:txBody>
      </p:sp>
      <p:sp>
        <p:nvSpPr>
          <p:cNvPr id="20" name="a1wd650_code19"/>
          <p:cNvSpPr txBox="1"/>
          <p:nvPr/>
        </p:nvSpPr>
        <p:spPr>
          <a:xfrm>
            <a:off x="621792" y="3886200"/>
            <a:ext cx="456285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key :balance on a nil value</a:t>
            </a:r>
          </a:p>
        </p:txBody>
      </p:sp>
      <p:sp>
        <p:nvSpPr>
          <p:cNvPr id="21" name="a2f_codebg20"/>
          <p:cNvSpPr/>
          <p:nvPr/>
        </p:nvSpPr>
        <p:spPr>
          <a:xfrm>
            <a:off x="5532120" y="1307592"/>
            <a:ext cx="3154680" cy="2907791"/>
          </a:xfrm>
          <a:prstGeom prst="roundRect">
            <a:avLst>
              <a:gd name="adj" fmla="val 251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2f_codeh21"/>
          <p:cNvSpPr txBox="1"/>
          <p:nvPr/>
        </p:nvSpPr>
        <p:spPr>
          <a:xfrm>
            <a:off x="5696712" y="1362456"/>
            <a:ext cx="28254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Access</a:t>
            </a:r>
          </a:p>
        </p:txBody>
      </p:sp>
      <p:sp>
        <p:nvSpPr>
          <p:cNvPr id="23" name="a2w_code22"/>
          <p:cNvSpPr txBox="1"/>
          <p:nvPr/>
        </p:nvSpPr>
        <p:spPr>
          <a:xfrm>
            <a:off x="5696712" y="1746504"/>
            <a:ext cx="282549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l = [%{n: 1}, %{n: 2}]</a:t>
            </a:r>
          </a:p>
        </p:txBody>
      </p:sp>
      <p:sp>
        <p:nvSpPr>
          <p:cNvPr id="24" name="a2wd50_code23"/>
          <p:cNvSpPr txBox="1"/>
          <p:nvPr/>
        </p:nvSpPr>
        <p:spPr>
          <a:xfrm>
            <a:off x="5696712" y="1911095"/>
            <a:ext cx="282549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update_in(l, [Access.all(), :n],</a:t>
            </a:r>
          </a:p>
        </p:txBody>
      </p:sp>
      <p:sp>
        <p:nvSpPr>
          <p:cNvPr id="25" name="a2wd100_code24"/>
          <p:cNvSpPr txBox="1"/>
          <p:nvPr/>
        </p:nvSpPr>
        <p:spPr>
          <a:xfrm>
            <a:off x="5696712" y="2075688"/>
            <a:ext cx="282549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  &amp;(&amp;1 * 10))</a:t>
            </a:r>
          </a:p>
        </p:txBody>
      </p:sp>
      <p:sp>
        <p:nvSpPr>
          <p:cNvPr id="26" name="a2wd150_code25"/>
          <p:cNvSpPr txBox="1"/>
          <p:nvPr/>
        </p:nvSpPr>
        <p:spPr>
          <a:xfrm>
            <a:off x="5696712" y="2240280"/>
            <a:ext cx="282549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#=&gt; [%{n: 10}, %{n: 20}]</a:t>
            </a:r>
          </a:p>
        </p:txBody>
      </p:sp>
      <p:sp>
        <p:nvSpPr>
          <p:cNvPr id="27" name="a2wd200_code26"/>
          <p:cNvSpPr txBox="1"/>
          <p:nvPr/>
        </p:nvSpPr>
        <p:spPr>
          <a:xfrm>
            <a:off x="5696712" y="2404872"/>
            <a:ext cx="282549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get_in(l, [Access.filter(</a:t>
            </a:r>
          </a:p>
        </p:txBody>
      </p:sp>
      <p:sp>
        <p:nvSpPr>
          <p:cNvPr id="28" name="a2wd250_code27"/>
          <p:cNvSpPr txBox="1"/>
          <p:nvPr/>
        </p:nvSpPr>
        <p:spPr>
          <a:xfrm>
            <a:off x="5696712" y="2569463"/>
            <a:ext cx="282549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  &amp;(&amp;1.n &gt; 1)), :n])</a:t>
            </a:r>
          </a:p>
        </p:txBody>
      </p:sp>
      <p:sp>
        <p:nvSpPr>
          <p:cNvPr id="29" name="a2wd300_code28"/>
          <p:cNvSpPr txBox="1"/>
          <p:nvPr/>
        </p:nvSpPr>
        <p:spPr>
          <a:xfrm>
            <a:off x="5696712" y="2734056"/>
            <a:ext cx="282549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#=&gt; [2]</a:t>
            </a:r>
          </a:p>
        </p:txBody>
      </p:sp>
      <p:sp>
        <p:nvSpPr>
          <p:cNvPr id="30" name="a2wd350_code29"/>
          <p:cNvSpPr txBox="1"/>
          <p:nvPr/>
        </p:nvSpPr>
        <p:spPr>
          <a:xfrm>
            <a:off x="5696712" y="2898648"/>
            <a:ext cx="282549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31" name="a2wd400_code30"/>
          <p:cNvSpPr txBox="1"/>
          <p:nvPr/>
        </p:nvSpPr>
        <p:spPr>
          <a:xfrm>
            <a:off x="5696712" y="3063239"/>
            <a:ext cx="282549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put_in(acc, [:balance], 5)</a:t>
            </a:r>
          </a:p>
        </p:txBody>
      </p:sp>
      <p:sp>
        <p:nvSpPr>
          <p:cNvPr id="32" name="a2wd450_code31"/>
          <p:cNvSpPr txBox="1"/>
          <p:nvPr/>
        </p:nvSpPr>
        <p:spPr>
          <a:xfrm>
            <a:off x="5696712" y="3227832"/>
            <a:ext cx="282549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** (UndefinedFunctionError)</a:t>
            </a:r>
          </a:p>
        </p:txBody>
      </p:sp>
      <p:sp>
        <p:nvSpPr>
          <p:cNvPr id="33" name="a2wd500_code32"/>
          <p:cNvSpPr txBox="1"/>
          <p:nvPr/>
        </p:nvSpPr>
        <p:spPr>
          <a:xfrm>
            <a:off x="5696712" y="3392424"/>
            <a:ext cx="282549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... does not implement Access</a:t>
            </a:r>
          </a:p>
        </p:txBody>
      </p:sp>
      <p:sp>
        <p:nvSpPr>
          <p:cNvPr id="34" name="a2wd550_code33"/>
          <p:cNvSpPr txBox="1"/>
          <p:nvPr/>
        </p:nvSpPr>
        <p:spPr>
          <a:xfrm>
            <a:off x="5696712" y="3557015"/>
            <a:ext cx="282549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put_in(acc, [Access.key!(</a:t>
            </a:r>
          </a:p>
        </p:txBody>
      </p:sp>
      <p:sp>
        <p:nvSpPr>
          <p:cNvPr id="35" name="a2wd600_code34"/>
          <p:cNvSpPr txBox="1"/>
          <p:nvPr/>
        </p:nvSpPr>
        <p:spPr>
          <a:xfrm>
            <a:off x="5696712" y="3721608"/>
            <a:ext cx="282549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:balance)], 5)   # works</a:t>
            </a:r>
          </a:p>
        </p:txBody>
      </p:sp>
      <p:sp>
        <p:nvSpPr>
          <p:cNvPr id="36" name="a2wd650_code35"/>
          <p:cNvSpPr txBox="1"/>
          <p:nvPr/>
        </p:nvSpPr>
        <p:spPr>
          <a:xfrm>
            <a:off x="5696712" y="3886200"/>
            <a:ext cx="282549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put_in(acc.balance, 5)  # works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ERLANG'S TOOLBOX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Erlang's collections are yours too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Four you will meet, when a list or a map is the wrong shape.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25880"/>
            <a:ext cx="1234440" cy="42062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tht5"/>
          <p:cNvSpPr txBox="1"/>
          <p:nvPr/>
        </p:nvSpPr>
        <p:spPr>
          <a:xfrm>
            <a:off x="530352" y="1325880"/>
            <a:ext cx="11247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Module</a:t>
            </a:r>
          </a:p>
        </p:txBody>
      </p:sp>
      <p:sp>
        <p:nvSpPr>
          <p:cNvPr id="7" name="a1wd130_td6"/>
          <p:cNvSpPr/>
          <p:nvPr/>
        </p:nvSpPr>
        <p:spPr>
          <a:xfrm>
            <a:off x="457200" y="1746504"/>
            <a:ext cx="1234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d130_tdt7"/>
          <p:cNvSpPr txBox="1"/>
          <p:nvPr/>
        </p:nvSpPr>
        <p:spPr>
          <a:xfrm>
            <a:off x="530352" y="1746504"/>
            <a:ext cx="11247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:queue</a:t>
            </a:r>
          </a:p>
        </p:txBody>
      </p:sp>
      <p:sp>
        <p:nvSpPr>
          <p:cNvPr id="9" name="a1wd260_td8"/>
          <p:cNvSpPr/>
          <p:nvPr/>
        </p:nvSpPr>
        <p:spPr>
          <a:xfrm>
            <a:off x="457200" y="2167128"/>
            <a:ext cx="1234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wd260_tdt9"/>
          <p:cNvSpPr txBox="1"/>
          <p:nvPr/>
        </p:nvSpPr>
        <p:spPr>
          <a:xfrm>
            <a:off x="530352" y="2167128"/>
            <a:ext cx="11247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:array</a:t>
            </a:r>
          </a:p>
        </p:txBody>
      </p:sp>
      <p:sp>
        <p:nvSpPr>
          <p:cNvPr id="11" name="a1wd390_td10"/>
          <p:cNvSpPr/>
          <p:nvPr/>
        </p:nvSpPr>
        <p:spPr>
          <a:xfrm>
            <a:off x="457200" y="2587752"/>
            <a:ext cx="1234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wd390_tdt11"/>
          <p:cNvSpPr txBox="1"/>
          <p:nvPr/>
        </p:nvSpPr>
        <p:spPr>
          <a:xfrm>
            <a:off x="530352" y="2587752"/>
            <a:ext cx="11247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:gb_trees</a:t>
            </a:r>
          </a:p>
        </p:txBody>
      </p:sp>
      <p:sp>
        <p:nvSpPr>
          <p:cNvPr id="13" name="a1wd520_td12"/>
          <p:cNvSpPr/>
          <p:nvPr/>
        </p:nvSpPr>
        <p:spPr>
          <a:xfrm>
            <a:off x="457200" y="3008376"/>
            <a:ext cx="1234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520_tdt13"/>
          <p:cNvSpPr txBox="1"/>
          <p:nvPr/>
        </p:nvSpPr>
        <p:spPr>
          <a:xfrm>
            <a:off x="530352" y="3008376"/>
            <a:ext cx="11247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:ets</a:t>
            </a:r>
          </a:p>
        </p:txBody>
      </p:sp>
      <p:sp>
        <p:nvSpPr>
          <p:cNvPr id="15" name="a1f_th14"/>
          <p:cNvSpPr/>
          <p:nvPr/>
        </p:nvSpPr>
        <p:spPr>
          <a:xfrm>
            <a:off x="1691640" y="1325880"/>
            <a:ext cx="2331720" cy="42062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f_tht15"/>
          <p:cNvSpPr txBox="1"/>
          <p:nvPr/>
        </p:nvSpPr>
        <p:spPr>
          <a:xfrm>
            <a:off x="1764792" y="1325880"/>
            <a:ext cx="222199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7" name="a1wd130_td16"/>
          <p:cNvSpPr/>
          <p:nvPr/>
        </p:nvSpPr>
        <p:spPr>
          <a:xfrm>
            <a:off x="1691640" y="1746504"/>
            <a:ext cx="2331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130_tdt17"/>
          <p:cNvSpPr txBox="1"/>
          <p:nvPr/>
        </p:nvSpPr>
        <p:spPr>
          <a:xfrm>
            <a:off x="1764792" y="1746504"/>
            <a:ext cx="222199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FIFO: two lists, front and back</a:t>
            </a:r>
          </a:p>
        </p:txBody>
      </p:sp>
      <p:sp>
        <p:nvSpPr>
          <p:cNvPr id="19" name="a1wd260_td18"/>
          <p:cNvSpPr/>
          <p:nvPr/>
        </p:nvSpPr>
        <p:spPr>
          <a:xfrm>
            <a:off x="1691640" y="2167128"/>
            <a:ext cx="2331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wd260_tdt19"/>
          <p:cNvSpPr txBox="1"/>
          <p:nvPr/>
        </p:nvSpPr>
        <p:spPr>
          <a:xfrm>
            <a:off x="1764792" y="2167128"/>
            <a:ext cx="222199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functional array, index from 0</a:t>
            </a:r>
          </a:p>
        </p:txBody>
      </p:sp>
      <p:sp>
        <p:nvSpPr>
          <p:cNvPr id="21" name="a1wd390_td20"/>
          <p:cNvSpPr/>
          <p:nvPr/>
        </p:nvSpPr>
        <p:spPr>
          <a:xfrm>
            <a:off x="1691640" y="2587752"/>
            <a:ext cx="2331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390_tdt21"/>
          <p:cNvSpPr txBox="1"/>
          <p:nvPr/>
        </p:nvSpPr>
        <p:spPr>
          <a:xfrm>
            <a:off x="1764792" y="2587752"/>
            <a:ext cx="222199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balanced tree, keys kept sorted</a:t>
            </a:r>
          </a:p>
        </p:txBody>
      </p:sp>
      <p:sp>
        <p:nvSpPr>
          <p:cNvPr id="23" name="a1wd520_td22"/>
          <p:cNvSpPr/>
          <p:nvPr/>
        </p:nvSpPr>
        <p:spPr>
          <a:xfrm>
            <a:off x="1691640" y="3008376"/>
            <a:ext cx="2331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wd520_tdt23"/>
          <p:cNvSpPr txBox="1"/>
          <p:nvPr/>
        </p:nvSpPr>
        <p:spPr>
          <a:xfrm>
            <a:off x="1764792" y="3008376"/>
            <a:ext cx="222199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table OUTSIDE your process</a:t>
            </a:r>
          </a:p>
        </p:txBody>
      </p:sp>
      <p:sp>
        <p:nvSpPr>
          <p:cNvPr id="25" name="a1f_th24"/>
          <p:cNvSpPr/>
          <p:nvPr/>
        </p:nvSpPr>
        <p:spPr>
          <a:xfrm>
            <a:off x="4023360" y="1325880"/>
            <a:ext cx="2834640" cy="42062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f_tht25"/>
          <p:cNvSpPr txBox="1"/>
          <p:nvPr/>
        </p:nvSpPr>
        <p:spPr>
          <a:xfrm>
            <a:off x="4096512" y="1325880"/>
            <a:ext cx="27249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Measured</a:t>
            </a:r>
          </a:p>
        </p:txBody>
      </p:sp>
      <p:sp>
        <p:nvSpPr>
          <p:cNvPr id="27" name="a1wd130_td26"/>
          <p:cNvSpPr/>
          <p:nvPr/>
        </p:nvSpPr>
        <p:spPr>
          <a:xfrm>
            <a:off x="4023360" y="1746504"/>
            <a:ext cx="2834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130_tdt27"/>
          <p:cNvSpPr txBox="1"/>
          <p:nvPr/>
        </p:nvSpPr>
        <p:spPr>
          <a:xfrm>
            <a:off x="4096512" y="1746504"/>
            <a:ext cx="27249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in 1, 2, 3; out -&gt; 1; rest [2, 3]</a:t>
            </a:r>
          </a:p>
        </p:txBody>
      </p:sp>
      <p:sp>
        <p:nvSpPr>
          <p:cNvPr id="29" name="a1wd260_td28"/>
          <p:cNvSpPr/>
          <p:nvPr/>
        </p:nvSpPr>
        <p:spPr>
          <a:xfrm>
            <a:off x="4023360" y="2167128"/>
            <a:ext cx="2834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wd260_tdt29"/>
          <p:cNvSpPr txBox="1"/>
          <p:nvPr/>
        </p:nvSpPr>
        <p:spPr>
          <a:xfrm>
            <a:off x="4096512" y="2167128"/>
            <a:ext cx="27249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1,000 ints = 1,183 words (tuple: 1,001)</a:t>
            </a:r>
          </a:p>
        </p:txBody>
      </p:sp>
      <p:sp>
        <p:nvSpPr>
          <p:cNvPr id="31" name="a1wd390_td30"/>
          <p:cNvSpPr/>
          <p:nvPr/>
        </p:nvSpPr>
        <p:spPr>
          <a:xfrm>
            <a:off x="4023360" y="2587752"/>
            <a:ext cx="2834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390_tdt31"/>
          <p:cNvSpPr txBox="1"/>
          <p:nvPr/>
        </p:nvSpPr>
        <p:spPr>
          <a:xfrm>
            <a:off x="4096512" y="2587752"/>
            <a:ext cx="27249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smallest {1, :a}, largest {9, :i}</a:t>
            </a:r>
          </a:p>
        </p:txBody>
      </p:sp>
      <p:sp>
        <p:nvSpPr>
          <p:cNvPr id="33" name="a1wd520_td32"/>
          <p:cNvSpPr/>
          <p:nvPr/>
        </p:nvSpPr>
        <p:spPr>
          <a:xfrm>
            <a:off x="4023360" y="3008376"/>
            <a:ext cx="2834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wd520_tdt33"/>
          <p:cNvSpPr txBox="1"/>
          <p:nvPr/>
        </p:nvSpPr>
        <p:spPr>
          <a:xfrm>
            <a:off x="4096512" y="3008376"/>
            <a:ext cx="27249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lookup("A-1") -&gt; [{"A-1", 500}]</a:t>
            </a:r>
          </a:p>
        </p:txBody>
      </p:sp>
      <p:sp>
        <p:nvSpPr>
          <p:cNvPr id="35" name="a1f_th34"/>
          <p:cNvSpPr/>
          <p:nvPr/>
        </p:nvSpPr>
        <p:spPr>
          <a:xfrm>
            <a:off x="6858000" y="1325880"/>
            <a:ext cx="1828800" cy="42062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1f_tht35"/>
          <p:cNvSpPr txBox="1"/>
          <p:nvPr/>
        </p:nvSpPr>
        <p:spPr>
          <a:xfrm>
            <a:off x="6931152" y="1325880"/>
            <a:ext cx="17190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Reach for it when</a:t>
            </a:r>
          </a:p>
        </p:txBody>
      </p:sp>
      <p:sp>
        <p:nvSpPr>
          <p:cNvPr id="37" name="a1wd130_td36"/>
          <p:cNvSpPr/>
          <p:nvPr/>
        </p:nvSpPr>
        <p:spPr>
          <a:xfrm>
            <a:off x="6858000" y="1746504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1wd130_tdt37"/>
          <p:cNvSpPr txBox="1"/>
          <p:nvPr/>
        </p:nvSpPr>
        <p:spPr>
          <a:xfrm>
            <a:off x="6931152" y="1746504"/>
            <a:ext cx="17190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jobs in arrival order</a:t>
            </a:r>
          </a:p>
        </p:txBody>
      </p:sp>
      <p:sp>
        <p:nvSpPr>
          <p:cNvPr id="39" name="a1wd260_td38"/>
          <p:cNvSpPr/>
          <p:nvPr/>
        </p:nvSpPr>
        <p:spPr>
          <a:xfrm>
            <a:off x="6858000" y="2167128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1wd260_tdt39"/>
          <p:cNvSpPr txBox="1"/>
          <p:nvPr/>
        </p:nvSpPr>
        <p:spPr>
          <a:xfrm>
            <a:off x="6931152" y="2167128"/>
            <a:ext cx="17190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sparse, by index, growing</a:t>
            </a:r>
          </a:p>
        </p:txBody>
      </p:sp>
      <p:sp>
        <p:nvSpPr>
          <p:cNvPr id="41" name="a1wd390_td40"/>
          <p:cNvSpPr/>
          <p:nvPr/>
        </p:nvSpPr>
        <p:spPr>
          <a:xfrm>
            <a:off x="6858000" y="2587752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1wd390_tdt41"/>
          <p:cNvSpPr txBox="1"/>
          <p:nvPr/>
        </p:nvSpPr>
        <p:spPr>
          <a:xfrm>
            <a:off x="6931152" y="2587752"/>
            <a:ext cx="17190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ordered keys, ranges</a:t>
            </a:r>
          </a:p>
        </p:txBody>
      </p:sp>
      <p:sp>
        <p:nvSpPr>
          <p:cNvPr id="43" name="a1wd520_td42"/>
          <p:cNvSpPr/>
          <p:nvPr/>
        </p:nvSpPr>
        <p:spPr>
          <a:xfrm>
            <a:off x="6858000" y="3008376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1wd520_tdt43"/>
          <p:cNvSpPr txBox="1"/>
          <p:nvPr/>
        </p:nvSpPr>
        <p:spPr>
          <a:xfrm>
            <a:off x="6931152" y="3008376"/>
            <a:ext cx="17190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data shared by processes</a:t>
            </a:r>
          </a:p>
        </p:txBody>
      </p:sp>
      <p:sp>
        <p:nvSpPr>
          <p:cNvPr id="45" name="a2f_nb44"/>
          <p:cNvSpPr/>
          <p:nvPr/>
        </p:nvSpPr>
        <p:spPr>
          <a:xfrm>
            <a:off x="457200" y="357530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2f_nacc45"/>
          <p:cNvSpPr/>
          <p:nvPr/>
        </p:nvSpPr>
        <p:spPr>
          <a:xfrm>
            <a:off x="457200" y="3575304"/>
            <a:ext cx="50292" cy="56692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2f_nt46"/>
          <p:cNvSpPr txBox="1"/>
          <p:nvPr/>
        </p:nvSpPr>
        <p:spPr>
          <a:xfrm>
            <a:off x="658368" y="3575304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ETS is the odd one out: it is mutable, it lives in its own memory, and every read copies the row into your process. It belongs to the processes session. The other three are ordinary immutable values — call them with a colon, like any Erlang module.</a:t>
            </a:r>
          </a:p>
        </p:txBody>
      </p:sp>
      <p:sp>
        <p:nvSpPr>
          <p:cNvPr id="48" name="ft4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49" name="ft4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06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Iterating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Enum for most jobs, for when you need a filter
and a shape, Stream when you need less memory.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Enum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for ... into: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Stream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ENUM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Enum takes anything, returns a list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map is walked as {key, value} tuples. To get a map back, say so.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8229600" cy="2066543"/>
          </a:xfrm>
          <a:prstGeom prst="roundRect">
            <a:avLst>
              <a:gd name="adj" fmla="val 353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probe_collections.exs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Enum.map([1, 2, 3], &amp;(&amp;1 * 2))                        #=&gt; [2, 4, 6]</a:t>
            </a:r>
          </a:p>
        </p:txBody>
      </p:sp>
      <p:sp>
        <p:nvSpPr>
          <p:cNvPr id="8" name="a1wd70_code7"/>
          <p:cNvSpPr txBox="1"/>
          <p:nvPr/>
        </p:nvSpPr>
        <p:spPr>
          <a:xfrm>
            <a:off x="621792" y="196596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Enum.map(1..3, &amp;(&amp;1 * 2))                             #=&gt; [2, 4, 6]</a:t>
            </a:r>
          </a:p>
        </p:txBody>
      </p:sp>
      <p:sp>
        <p:nvSpPr>
          <p:cNvPr id="9" name="a1wd140_code8"/>
          <p:cNvSpPr txBox="1"/>
          <p:nvPr/>
        </p:nvSpPr>
        <p:spPr>
          <a:xfrm>
            <a:off x="621792" y="214884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Enum.map(MapSet.new([1, 2]), &amp;(&amp;1 * 2))               #=&gt; [2, 4]</a:t>
            </a:r>
          </a:p>
        </p:txBody>
      </p:sp>
      <p:sp>
        <p:nvSpPr>
          <p:cNvPr id="10" name="a1wd210_code9"/>
          <p:cNvSpPr txBox="1"/>
          <p:nvPr/>
        </p:nvSpPr>
        <p:spPr>
          <a:xfrm>
            <a:off x="621792" y="233172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Enum.map(%{a: 1, b: 2}, fn {k, v} -&gt; {k, v * 2} end)  #=&gt; [a: 2, b: 4]</a:t>
            </a:r>
          </a:p>
        </p:txBody>
      </p:sp>
      <p:sp>
        <p:nvSpPr>
          <p:cNvPr id="11" name="a1wd280_code10"/>
          <p:cNvSpPr txBox="1"/>
          <p:nvPr/>
        </p:nvSpPr>
        <p:spPr>
          <a:xfrm>
            <a:off x="621792" y="251460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Map.new(%{a: 1, b: 2}, fn {k, v} -&gt; {k, v * 2} end)   #=&gt; %{a: 2, b: 4}</a:t>
            </a:r>
          </a:p>
        </p:txBody>
      </p:sp>
      <p:sp>
        <p:nvSpPr>
          <p:cNvPr id="12" name="a1wd350_code11"/>
          <p:cNvSpPr txBox="1"/>
          <p:nvPr/>
        </p:nvSpPr>
        <p:spPr>
          <a:xfrm>
            <a:off x="621792" y="269748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Enum.into([a: 2, b: 4], %{})                          #=&gt; %{a: 2, b: 4}</a:t>
            </a:r>
          </a:p>
        </p:txBody>
      </p:sp>
      <p:sp>
        <p:nvSpPr>
          <p:cNvPr id="13" name="a1wd420_code12"/>
          <p:cNvSpPr txBox="1"/>
          <p:nvPr/>
        </p:nvSpPr>
        <p:spPr>
          <a:xfrm>
            <a:off x="621792" y="288036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Enum.into([1, 1, 2], MapSet.new())                    #=&gt; MapSet.new([1, 2])</a:t>
            </a:r>
          </a:p>
        </p:txBody>
      </p:sp>
      <p:sp>
        <p:nvSpPr>
          <p:cNvPr id="14" name="a1wd490_code13"/>
          <p:cNvSpPr txBox="1"/>
          <p:nvPr/>
        </p:nvSpPr>
        <p:spPr>
          <a:xfrm>
            <a:off x="621792" y="3063240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Enum.each([1, 2], &amp;IO.write/1)                        prints 12, #=&gt; :ok</a:t>
            </a:r>
          </a:p>
        </p:txBody>
      </p:sp>
      <p:sp>
        <p:nvSpPr>
          <p:cNvPr id="15" name="a2u_dot14"/>
          <p:cNvSpPr/>
          <p:nvPr/>
        </p:nvSpPr>
        <p:spPr>
          <a:xfrm>
            <a:off x="457200" y="365759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u_b15"/>
          <p:cNvSpPr txBox="1"/>
          <p:nvPr/>
        </p:nvSpPr>
        <p:spPr>
          <a:xfrm>
            <a:off x="676656" y="3557015"/>
            <a:ext cx="80101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Enumerable is a protocol (deck 7)  </a:t>
            </a:r>
            <a:r>
              <a:rPr sz="1150" b="0">
                <a:solidFill>
                  <a:srgbClr val="334155"/>
                </a:solidFill>
                <a:latin typeface="Calibri"/>
              </a:rPr>
              <a:t>lists, maps, ranges, MapSets and streams implement it; tuples and structs do not</a:t>
            </a:r>
          </a:p>
        </p:txBody>
      </p:sp>
      <p:sp>
        <p:nvSpPr>
          <p:cNvPr id="17" name="a2ud200_dot16"/>
          <p:cNvSpPr/>
          <p:nvPr/>
        </p:nvSpPr>
        <p:spPr>
          <a:xfrm>
            <a:off x="457200" y="4059935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d200_b17"/>
          <p:cNvSpPr txBox="1"/>
          <p:nvPr/>
        </p:nvSpPr>
        <p:spPr>
          <a:xfrm>
            <a:off x="676656" y="3959352"/>
            <a:ext cx="80101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Collectable is its opposite  </a:t>
            </a:r>
            <a:r>
              <a:rPr sz="1150" b="0">
                <a:solidFill>
                  <a:srgbClr val="334155"/>
                </a:solidFill>
                <a:latin typeface="Calibri"/>
              </a:rPr>
              <a:t>Enum.into/2 and for ... into: pour a list back into a map, a set or a string</a:t>
            </a:r>
          </a:p>
        </p:txBody>
      </p:sp>
      <p:sp>
        <p:nvSpPr>
          <p:cNvPr id="19" name="ft1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20" name="ft1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ENUM · SELECT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Enum toolbox — on six transactions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Selecting, counting and ranking. The same data drives the next two slides.</a:t>
            </a:r>
          </a:p>
        </p:txBody>
      </p:sp>
      <p:sp>
        <p:nvSpPr>
          <p:cNvPr id="5" name="a1f_tl4"/>
          <p:cNvSpPr txBox="1"/>
          <p:nvPr/>
        </p:nvSpPr>
        <p:spPr>
          <a:xfrm>
            <a:off x="457200" y="1307592"/>
            <a:ext cx="24414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4B275F"/>
                </a:solidFill>
                <a:latin typeface="Calibri"/>
              </a:rPr>
              <a:t>txns</a:t>
            </a:r>
          </a:p>
        </p:txBody>
      </p:sp>
      <p:sp>
        <p:nvSpPr>
          <p:cNvPr id="6" name="a1f_th5"/>
          <p:cNvSpPr/>
          <p:nvPr/>
        </p:nvSpPr>
        <p:spPr>
          <a:xfrm>
            <a:off x="457200" y="1581912"/>
            <a:ext cx="365760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f_tht6"/>
          <p:cNvSpPr txBox="1"/>
          <p:nvPr/>
        </p:nvSpPr>
        <p:spPr>
          <a:xfrm>
            <a:off x="530352" y="158191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8" name="a1wd60_td7"/>
          <p:cNvSpPr/>
          <p:nvPr/>
        </p:nvSpPr>
        <p:spPr>
          <a:xfrm>
            <a:off x="457200" y="1856231"/>
            <a:ext cx="365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60_tdt8"/>
          <p:cNvSpPr txBox="1"/>
          <p:nvPr/>
        </p:nvSpPr>
        <p:spPr>
          <a:xfrm>
            <a:off x="530352" y="1856231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1</a:t>
            </a:r>
          </a:p>
        </p:txBody>
      </p:sp>
      <p:sp>
        <p:nvSpPr>
          <p:cNvPr id="10" name="a1wd120_td9"/>
          <p:cNvSpPr/>
          <p:nvPr/>
        </p:nvSpPr>
        <p:spPr>
          <a:xfrm>
            <a:off x="457200" y="2130552"/>
            <a:ext cx="365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120_tdt10"/>
          <p:cNvSpPr txBox="1"/>
          <p:nvPr/>
        </p:nvSpPr>
        <p:spPr>
          <a:xfrm>
            <a:off x="530352" y="213055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2</a:t>
            </a:r>
          </a:p>
        </p:txBody>
      </p:sp>
      <p:sp>
        <p:nvSpPr>
          <p:cNvPr id="12" name="a1wd180_td11"/>
          <p:cNvSpPr/>
          <p:nvPr/>
        </p:nvSpPr>
        <p:spPr>
          <a:xfrm>
            <a:off x="457200" y="2404872"/>
            <a:ext cx="365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180_tdt12"/>
          <p:cNvSpPr txBox="1"/>
          <p:nvPr/>
        </p:nvSpPr>
        <p:spPr>
          <a:xfrm>
            <a:off x="530352" y="240487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3</a:t>
            </a:r>
          </a:p>
        </p:txBody>
      </p:sp>
      <p:sp>
        <p:nvSpPr>
          <p:cNvPr id="14" name="a1wd240_td13"/>
          <p:cNvSpPr/>
          <p:nvPr/>
        </p:nvSpPr>
        <p:spPr>
          <a:xfrm>
            <a:off x="457200" y="2679191"/>
            <a:ext cx="365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240_tdt14"/>
          <p:cNvSpPr txBox="1"/>
          <p:nvPr/>
        </p:nvSpPr>
        <p:spPr>
          <a:xfrm>
            <a:off x="530352" y="2679191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4</a:t>
            </a:r>
          </a:p>
        </p:txBody>
      </p:sp>
      <p:sp>
        <p:nvSpPr>
          <p:cNvPr id="16" name="a1wd300_td15"/>
          <p:cNvSpPr/>
          <p:nvPr/>
        </p:nvSpPr>
        <p:spPr>
          <a:xfrm>
            <a:off x="457200" y="2953512"/>
            <a:ext cx="365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300_tdt16"/>
          <p:cNvSpPr txBox="1"/>
          <p:nvPr/>
        </p:nvSpPr>
        <p:spPr>
          <a:xfrm>
            <a:off x="530352" y="295351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5</a:t>
            </a:r>
          </a:p>
        </p:txBody>
      </p:sp>
      <p:sp>
        <p:nvSpPr>
          <p:cNvPr id="18" name="a1wd360_td17"/>
          <p:cNvSpPr/>
          <p:nvPr/>
        </p:nvSpPr>
        <p:spPr>
          <a:xfrm>
            <a:off x="457200" y="3227832"/>
            <a:ext cx="365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360_tdt18"/>
          <p:cNvSpPr txBox="1"/>
          <p:nvPr/>
        </p:nvSpPr>
        <p:spPr>
          <a:xfrm>
            <a:off x="530352" y="322783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6</a:t>
            </a:r>
          </a:p>
        </p:txBody>
      </p:sp>
      <p:sp>
        <p:nvSpPr>
          <p:cNvPr id="20" name="a1f_th19"/>
          <p:cNvSpPr/>
          <p:nvPr/>
        </p:nvSpPr>
        <p:spPr>
          <a:xfrm>
            <a:off x="822960" y="1581912"/>
            <a:ext cx="566928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f_tht20"/>
          <p:cNvSpPr txBox="1"/>
          <p:nvPr/>
        </p:nvSpPr>
        <p:spPr>
          <a:xfrm>
            <a:off x="896112" y="15819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acct</a:t>
            </a:r>
          </a:p>
        </p:txBody>
      </p:sp>
      <p:sp>
        <p:nvSpPr>
          <p:cNvPr id="22" name="a1wd60_td21"/>
          <p:cNvSpPr/>
          <p:nvPr/>
        </p:nvSpPr>
        <p:spPr>
          <a:xfrm>
            <a:off x="822960" y="1856231"/>
            <a:ext cx="5669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60_tdt22"/>
          <p:cNvSpPr txBox="1"/>
          <p:nvPr/>
        </p:nvSpPr>
        <p:spPr>
          <a:xfrm>
            <a:off x="896112" y="1856231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A-1</a:t>
            </a:r>
          </a:p>
        </p:txBody>
      </p:sp>
      <p:sp>
        <p:nvSpPr>
          <p:cNvPr id="24" name="a1wd120_td23"/>
          <p:cNvSpPr/>
          <p:nvPr/>
        </p:nvSpPr>
        <p:spPr>
          <a:xfrm>
            <a:off x="822960" y="2130552"/>
            <a:ext cx="5669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120_tdt24"/>
          <p:cNvSpPr txBox="1"/>
          <p:nvPr/>
        </p:nvSpPr>
        <p:spPr>
          <a:xfrm>
            <a:off x="896112" y="21305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B-2</a:t>
            </a:r>
          </a:p>
        </p:txBody>
      </p:sp>
      <p:sp>
        <p:nvSpPr>
          <p:cNvPr id="26" name="a1wd180_td25"/>
          <p:cNvSpPr/>
          <p:nvPr/>
        </p:nvSpPr>
        <p:spPr>
          <a:xfrm>
            <a:off x="822960" y="2404872"/>
            <a:ext cx="5669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180_tdt26"/>
          <p:cNvSpPr txBox="1"/>
          <p:nvPr/>
        </p:nvSpPr>
        <p:spPr>
          <a:xfrm>
            <a:off x="896112" y="24048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A-1</a:t>
            </a:r>
          </a:p>
        </p:txBody>
      </p:sp>
      <p:sp>
        <p:nvSpPr>
          <p:cNvPr id="28" name="a1wd240_td27"/>
          <p:cNvSpPr/>
          <p:nvPr/>
        </p:nvSpPr>
        <p:spPr>
          <a:xfrm>
            <a:off x="822960" y="2679191"/>
            <a:ext cx="5669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240_tdt28"/>
          <p:cNvSpPr txBox="1"/>
          <p:nvPr/>
        </p:nvSpPr>
        <p:spPr>
          <a:xfrm>
            <a:off x="896112" y="2679191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C-3</a:t>
            </a:r>
          </a:p>
        </p:txBody>
      </p:sp>
      <p:sp>
        <p:nvSpPr>
          <p:cNvPr id="30" name="a1wd300_td29"/>
          <p:cNvSpPr/>
          <p:nvPr/>
        </p:nvSpPr>
        <p:spPr>
          <a:xfrm>
            <a:off x="822960" y="2953512"/>
            <a:ext cx="5669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300_tdt30"/>
          <p:cNvSpPr txBox="1"/>
          <p:nvPr/>
        </p:nvSpPr>
        <p:spPr>
          <a:xfrm>
            <a:off x="896112" y="2953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B-2</a:t>
            </a:r>
          </a:p>
        </p:txBody>
      </p:sp>
      <p:sp>
        <p:nvSpPr>
          <p:cNvPr id="32" name="a1wd360_td31"/>
          <p:cNvSpPr/>
          <p:nvPr/>
        </p:nvSpPr>
        <p:spPr>
          <a:xfrm>
            <a:off x="822960" y="3227832"/>
            <a:ext cx="5669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360_tdt32"/>
          <p:cNvSpPr txBox="1"/>
          <p:nvPr/>
        </p:nvSpPr>
        <p:spPr>
          <a:xfrm>
            <a:off x="896112" y="32278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A-1</a:t>
            </a:r>
          </a:p>
        </p:txBody>
      </p:sp>
      <p:sp>
        <p:nvSpPr>
          <p:cNvPr id="34" name="a1f_th33"/>
          <p:cNvSpPr/>
          <p:nvPr/>
        </p:nvSpPr>
        <p:spPr>
          <a:xfrm>
            <a:off x="1389888" y="1581912"/>
            <a:ext cx="960120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f_tht34"/>
          <p:cNvSpPr txBox="1"/>
          <p:nvPr/>
        </p:nvSpPr>
        <p:spPr>
          <a:xfrm>
            <a:off x="1463040" y="1581912"/>
            <a:ext cx="8503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36" name="a1wd60_td35"/>
          <p:cNvSpPr/>
          <p:nvPr/>
        </p:nvSpPr>
        <p:spPr>
          <a:xfrm>
            <a:off x="1389888" y="1856231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60_tdt36"/>
          <p:cNvSpPr txBox="1"/>
          <p:nvPr/>
        </p:nvSpPr>
        <p:spPr>
          <a:xfrm>
            <a:off x="1463040" y="1856231"/>
            <a:ext cx="8503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deposit</a:t>
            </a:r>
          </a:p>
        </p:txBody>
      </p:sp>
      <p:sp>
        <p:nvSpPr>
          <p:cNvPr id="38" name="a1wd120_td37"/>
          <p:cNvSpPr/>
          <p:nvPr/>
        </p:nvSpPr>
        <p:spPr>
          <a:xfrm>
            <a:off x="1389888" y="2130552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120_tdt38"/>
          <p:cNvSpPr txBox="1"/>
          <p:nvPr/>
        </p:nvSpPr>
        <p:spPr>
          <a:xfrm>
            <a:off x="1463040" y="2130552"/>
            <a:ext cx="8503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deposit</a:t>
            </a:r>
          </a:p>
        </p:txBody>
      </p:sp>
      <p:sp>
        <p:nvSpPr>
          <p:cNvPr id="40" name="a1wd180_td39"/>
          <p:cNvSpPr/>
          <p:nvPr/>
        </p:nvSpPr>
        <p:spPr>
          <a:xfrm>
            <a:off x="1389888" y="2404872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180_tdt40"/>
          <p:cNvSpPr txBox="1"/>
          <p:nvPr/>
        </p:nvSpPr>
        <p:spPr>
          <a:xfrm>
            <a:off x="1463040" y="2404872"/>
            <a:ext cx="8503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withdrawal</a:t>
            </a:r>
          </a:p>
        </p:txBody>
      </p:sp>
      <p:sp>
        <p:nvSpPr>
          <p:cNvPr id="42" name="a1wd240_td41"/>
          <p:cNvSpPr/>
          <p:nvPr/>
        </p:nvSpPr>
        <p:spPr>
          <a:xfrm>
            <a:off x="1389888" y="2679191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240_tdt42"/>
          <p:cNvSpPr txBox="1"/>
          <p:nvPr/>
        </p:nvSpPr>
        <p:spPr>
          <a:xfrm>
            <a:off x="1463040" y="2679191"/>
            <a:ext cx="8503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deposit</a:t>
            </a:r>
          </a:p>
        </p:txBody>
      </p:sp>
      <p:sp>
        <p:nvSpPr>
          <p:cNvPr id="44" name="a1wd300_td43"/>
          <p:cNvSpPr/>
          <p:nvPr/>
        </p:nvSpPr>
        <p:spPr>
          <a:xfrm>
            <a:off x="1389888" y="2953512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300_tdt44"/>
          <p:cNvSpPr txBox="1"/>
          <p:nvPr/>
        </p:nvSpPr>
        <p:spPr>
          <a:xfrm>
            <a:off x="1463040" y="2953512"/>
            <a:ext cx="8503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withdrawal</a:t>
            </a:r>
          </a:p>
        </p:txBody>
      </p:sp>
      <p:sp>
        <p:nvSpPr>
          <p:cNvPr id="46" name="a1wd360_td45"/>
          <p:cNvSpPr/>
          <p:nvPr/>
        </p:nvSpPr>
        <p:spPr>
          <a:xfrm>
            <a:off x="1389888" y="3227832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360_tdt46"/>
          <p:cNvSpPr txBox="1"/>
          <p:nvPr/>
        </p:nvSpPr>
        <p:spPr>
          <a:xfrm>
            <a:off x="1463040" y="3227832"/>
            <a:ext cx="8503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deposit</a:t>
            </a:r>
          </a:p>
        </p:txBody>
      </p:sp>
      <p:sp>
        <p:nvSpPr>
          <p:cNvPr id="48" name="a1f_th47"/>
          <p:cNvSpPr/>
          <p:nvPr/>
        </p:nvSpPr>
        <p:spPr>
          <a:xfrm>
            <a:off x="2350008" y="1581912"/>
            <a:ext cx="548640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f_tht48"/>
          <p:cNvSpPr txBox="1"/>
          <p:nvPr/>
        </p:nvSpPr>
        <p:spPr>
          <a:xfrm>
            <a:off x="2423160" y="1581912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amt</a:t>
            </a:r>
          </a:p>
        </p:txBody>
      </p:sp>
      <p:sp>
        <p:nvSpPr>
          <p:cNvPr id="50" name="a1wd60_td49"/>
          <p:cNvSpPr/>
          <p:nvPr/>
        </p:nvSpPr>
        <p:spPr>
          <a:xfrm>
            <a:off x="2350008" y="1856231"/>
            <a:ext cx="548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60_tdt50"/>
          <p:cNvSpPr txBox="1"/>
          <p:nvPr/>
        </p:nvSpPr>
        <p:spPr>
          <a:xfrm>
            <a:off x="2423160" y="1856231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500</a:t>
            </a:r>
          </a:p>
        </p:txBody>
      </p:sp>
      <p:sp>
        <p:nvSpPr>
          <p:cNvPr id="52" name="a1wd120_td51"/>
          <p:cNvSpPr/>
          <p:nvPr/>
        </p:nvSpPr>
        <p:spPr>
          <a:xfrm>
            <a:off x="2350008" y="2130552"/>
            <a:ext cx="548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wd120_tdt52"/>
          <p:cNvSpPr txBox="1"/>
          <p:nvPr/>
        </p:nvSpPr>
        <p:spPr>
          <a:xfrm>
            <a:off x="2423160" y="2130552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40</a:t>
            </a:r>
          </a:p>
        </p:txBody>
      </p:sp>
      <p:sp>
        <p:nvSpPr>
          <p:cNvPr id="54" name="a1wd180_td53"/>
          <p:cNvSpPr/>
          <p:nvPr/>
        </p:nvSpPr>
        <p:spPr>
          <a:xfrm>
            <a:off x="2350008" y="2404872"/>
            <a:ext cx="548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180_tdt54"/>
          <p:cNvSpPr txBox="1"/>
          <p:nvPr/>
        </p:nvSpPr>
        <p:spPr>
          <a:xfrm>
            <a:off x="2423160" y="2404872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120</a:t>
            </a:r>
          </a:p>
        </p:txBody>
      </p:sp>
      <p:sp>
        <p:nvSpPr>
          <p:cNvPr id="56" name="a1wd240_td55"/>
          <p:cNvSpPr/>
          <p:nvPr/>
        </p:nvSpPr>
        <p:spPr>
          <a:xfrm>
            <a:off x="2350008" y="2679191"/>
            <a:ext cx="548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240_tdt56"/>
          <p:cNvSpPr txBox="1"/>
          <p:nvPr/>
        </p:nvSpPr>
        <p:spPr>
          <a:xfrm>
            <a:off x="2423160" y="2679191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900</a:t>
            </a:r>
          </a:p>
        </p:txBody>
      </p:sp>
      <p:sp>
        <p:nvSpPr>
          <p:cNvPr id="58" name="a1wd300_td57"/>
          <p:cNvSpPr/>
          <p:nvPr/>
        </p:nvSpPr>
        <p:spPr>
          <a:xfrm>
            <a:off x="2350008" y="2953512"/>
            <a:ext cx="548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1wd300_tdt58"/>
          <p:cNvSpPr txBox="1"/>
          <p:nvPr/>
        </p:nvSpPr>
        <p:spPr>
          <a:xfrm>
            <a:off x="2423160" y="2953512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60</a:t>
            </a:r>
          </a:p>
        </p:txBody>
      </p:sp>
      <p:sp>
        <p:nvSpPr>
          <p:cNvPr id="60" name="a1wd360_td59"/>
          <p:cNvSpPr/>
          <p:nvPr/>
        </p:nvSpPr>
        <p:spPr>
          <a:xfrm>
            <a:off x="2350008" y="3227832"/>
            <a:ext cx="548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1wd360_tdt60"/>
          <p:cNvSpPr txBox="1"/>
          <p:nvPr/>
        </p:nvSpPr>
        <p:spPr>
          <a:xfrm>
            <a:off x="2423160" y="3227832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75</a:t>
            </a:r>
          </a:p>
        </p:txBody>
      </p:sp>
      <p:sp>
        <p:nvSpPr>
          <p:cNvPr id="62" name="a2f_tl61"/>
          <p:cNvSpPr txBox="1"/>
          <p:nvPr/>
        </p:nvSpPr>
        <p:spPr>
          <a:xfrm>
            <a:off x="3108960" y="1307592"/>
            <a:ext cx="55778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4B275F"/>
                </a:solidFill>
                <a:latin typeface="Calibri"/>
              </a:rPr>
              <a:t>REAL</a:t>
            </a:r>
          </a:p>
        </p:txBody>
      </p:sp>
      <p:sp>
        <p:nvSpPr>
          <p:cNvPr id="63" name="a2f_th62"/>
          <p:cNvSpPr/>
          <p:nvPr/>
        </p:nvSpPr>
        <p:spPr>
          <a:xfrm>
            <a:off x="3108960" y="1581912"/>
            <a:ext cx="3520440" cy="27432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a2f_tht63"/>
          <p:cNvSpPr txBox="1"/>
          <p:nvPr/>
        </p:nvSpPr>
        <p:spPr>
          <a:xfrm>
            <a:off x="3182112" y="1581912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ourier New"/>
              </a:rPr>
              <a:t>Call</a:t>
            </a:r>
          </a:p>
        </p:txBody>
      </p:sp>
      <p:sp>
        <p:nvSpPr>
          <p:cNvPr id="65" name="a2wd80_td64"/>
          <p:cNvSpPr/>
          <p:nvPr/>
        </p:nvSpPr>
        <p:spPr>
          <a:xfrm>
            <a:off x="3108960" y="1856231"/>
            <a:ext cx="3520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a2wd80_tdt65"/>
          <p:cNvSpPr txBox="1"/>
          <p:nvPr/>
        </p:nvSpPr>
        <p:spPr>
          <a:xfrm>
            <a:off x="3182112" y="1856231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Enum.filter(txns, &amp;(&amp;1.type == :deposit))</a:t>
            </a:r>
          </a:p>
        </p:txBody>
      </p:sp>
      <p:sp>
        <p:nvSpPr>
          <p:cNvPr id="67" name="a2wd160_td66"/>
          <p:cNvSpPr/>
          <p:nvPr/>
        </p:nvSpPr>
        <p:spPr>
          <a:xfrm>
            <a:off x="3108960" y="2130552"/>
            <a:ext cx="3520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a2wd160_tdt67"/>
          <p:cNvSpPr txBox="1"/>
          <p:nvPr/>
        </p:nvSpPr>
        <p:spPr>
          <a:xfrm>
            <a:off x="3182112" y="2130552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Enum.reject(txns, &amp;(&amp;1.type == :deposit))</a:t>
            </a:r>
          </a:p>
        </p:txBody>
      </p:sp>
      <p:sp>
        <p:nvSpPr>
          <p:cNvPr id="69" name="a2wd240_td68"/>
          <p:cNvSpPr/>
          <p:nvPr/>
        </p:nvSpPr>
        <p:spPr>
          <a:xfrm>
            <a:off x="3108960" y="2404872"/>
            <a:ext cx="3520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a2wd240_tdt69"/>
          <p:cNvSpPr txBox="1"/>
          <p:nvPr/>
        </p:nvSpPr>
        <p:spPr>
          <a:xfrm>
            <a:off x="3182112" y="2404872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Enum.sum_by(txns, &amp; &amp;1.amount)</a:t>
            </a:r>
          </a:p>
        </p:txBody>
      </p:sp>
      <p:sp>
        <p:nvSpPr>
          <p:cNvPr id="71" name="a2wd320_td70"/>
          <p:cNvSpPr/>
          <p:nvPr/>
        </p:nvSpPr>
        <p:spPr>
          <a:xfrm>
            <a:off x="3108960" y="2679191"/>
            <a:ext cx="3520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a2wd320_tdt71"/>
          <p:cNvSpPr txBox="1"/>
          <p:nvPr/>
        </p:nvSpPr>
        <p:spPr>
          <a:xfrm>
            <a:off x="3182112" y="2679191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Enum.count(txns, &amp;(&amp;1.amount &gt; 100))</a:t>
            </a:r>
          </a:p>
        </p:txBody>
      </p:sp>
      <p:sp>
        <p:nvSpPr>
          <p:cNvPr id="73" name="a2wd400_td72"/>
          <p:cNvSpPr/>
          <p:nvPr/>
        </p:nvSpPr>
        <p:spPr>
          <a:xfrm>
            <a:off x="3108960" y="2953512"/>
            <a:ext cx="3520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a2wd400_tdt73"/>
          <p:cNvSpPr txBox="1"/>
          <p:nvPr/>
        </p:nvSpPr>
        <p:spPr>
          <a:xfrm>
            <a:off x="3182112" y="2953512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Enum.find(txns, &amp;(&amp;1.acct == "C-3"))</a:t>
            </a:r>
          </a:p>
        </p:txBody>
      </p:sp>
      <p:sp>
        <p:nvSpPr>
          <p:cNvPr id="75" name="a2wd480_td74"/>
          <p:cNvSpPr/>
          <p:nvPr/>
        </p:nvSpPr>
        <p:spPr>
          <a:xfrm>
            <a:off x="3108960" y="3227832"/>
            <a:ext cx="3520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a2wd480_tdt75"/>
          <p:cNvSpPr txBox="1"/>
          <p:nvPr/>
        </p:nvSpPr>
        <p:spPr>
          <a:xfrm>
            <a:off x="3182112" y="3227832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Enum.find(txns, &amp;(&amp;1.acct == "Z"))</a:t>
            </a:r>
          </a:p>
        </p:txBody>
      </p:sp>
      <p:sp>
        <p:nvSpPr>
          <p:cNvPr id="77" name="a2wd560_td76"/>
          <p:cNvSpPr/>
          <p:nvPr/>
        </p:nvSpPr>
        <p:spPr>
          <a:xfrm>
            <a:off x="3108960" y="3502152"/>
            <a:ext cx="3520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a2wd560_tdt77"/>
          <p:cNvSpPr txBox="1"/>
          <p:nvPr/>
        </p:nvSpPr>
        <p:spPr>
          <a:xfrm>
            <a:off x="3182112" y="3502152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Enum.any?(txns, &amp;(&amp;1.amount &gt; 800))</a:t>
            </a:r>
          </a:p>
        </p:txBody>
      </p:sp>
      <p:sp>
        <p:nvSpPr>
          <p:cNvPr id="79" name="a2wd640_td78"/>
          <p:cNvSpPr/>
          <p:nvPr/>
        </p:nvSpPr>
        <p:spPr>
          <a:xfrm>
            <a:off x="3108960" y="3776472"/>
            <a:ext cx="3520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a2wd640_tdt79"/>
          <p:cNvSpPr txBox="1"/>
          <p:nvPr/>
        </p:nvSpPr>
        <p:spPr>
          <a:xfrm>
            <a:off x="3182112" y="3776472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Enum.max_by(txns, &amp; &amp;1.amount)</a:t>
            </a:r>
          </a:p>
        </p:txBody>
      </p:sp>
      <p:sp>
        <p:nvSpPr>
          <p:cNvPr id="81" name="a2wd720_td80"/>
          <p:cNvSpPr/>
          <p:nvPr/>
        </p:nvSpPr>
        <p:spPr>
          <a:xfrm>
            <a:off x="3108960" y="4050791"/>
            <a:ext cx="3520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a2wd720_tdt81"/>
          <p:cNvSpPr txBox="1"/>
          <p:nvPr/>
        </p:nvSpPr>
        <p:spPr>
          <a:xfrm>
            <a:off x="3182112" y="4050791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Enum.sort_by(txns, &amp; &amp;1.amount, :desc)</a:t>
            </a:r>
          </a:p>
        </p:txBody>
      </p:sp>
      <p:sp>
        <p:nvSpPr>
          <p:cNvPr id="83" name="a2wd800_td82"/>
          <p:cNvSpPr/>
          <p:nvPr/>
        </p:nvSpPr>
        <p:spPr>
          <a:xfrm>
            <a:off x="3108960" y="4325112"/>
            <a:ext cx="3520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a2wd800_tdt83"/>
          <p:cNvSpPr txBox="1"/>
          <p:nvPr/>
        </p:nvSpPr>
        <p:spPr>
          <a:xfrm>
            <a:off x="3182112" y="4325112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Enum.uniq_by(txns, &amp; &amp;1.acct)</a:t>
            </a:r>
          </a:p>
        </p:txBody>
      </p:sp>
      <p:sp>
        <p:nvSpPr>
          <p:cNvPr id="85" name="a2f_th84"/>
          <p:cNvSpPr/>
          <p:nvPr/>
        </p:nvSpPr>
        <p:spPr>
          <a:xfrm>
            <a:off x="6629400" y="1581912"/>
            <a:ext cx="2057400" cy="27432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a2f_tht85"/>
          <p:cNvSpPr txBox="1"/>
          <p:nvPr/>
        </p:nvSpPr>
        <p:spPr>
          <a:xfrm>
            <a:off x="6702552" y="1581912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ourier New"/>
              </a:rPr>
              <a:t>Result</a:t>
            </a:r>
          </a:p>
        </p:txBody>
      </p:sp>
      <p:sp>
        <p:nvSpPr>
          <p:cNvPr id="87" name="a2wd80_td86"/>
          <p:cNvSpPr/>
          <p:nvPr/>
        </p:nvSpPr>
        <p:spPr>
          <a:xfrm>
            <a:off x="6629400" y="1856231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a2wd80_tdt87"/>
          <p:cNvSpPr txBox="1"/>
          <p:nvPr/>
        </p:nvSpPr>
        <p:spPr>
          <a:xfrm>
            <a:off x="6702552" y="1856231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ids [1, 2, 4, 6]</a:t>
            </a:r>
          </a:p>
        </p:txBody>
      </p:sp>
      <p:sp>
        <p:nvSpPr>
          <p:cNvPr id="89" name="a2wd160_td88"/>
          <p:cNvSpPr/>
          <p:nvPr/>
        </p:nvSpPr>
        <p:spPr>
          <a:xfrm>
            <a:off x="6629400" y="2130552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a2wd160_tdt89"/>
          <p:cNvSpPr txBox="1"/>
          <p:nvPr/>
        </p:nvSpPr>
        <p:spPr>
          <a:xfrm>
            <a:off x="6702552" y="2130552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ids [3, 5]</a:t>
            </a:r>
          </a:p>
        </p:txBody>
      </p:sp>
      <p:sp>
        <p:nvSpPr>
          <p:cNvPr id="91" name="a2wd240_td90"/>
          <p:cNvSpPr/>
          <p:nvPr/>
        </p:nvSpPr>
        <p:spPr>
          <a:xfrm>
            <a:off x="6629400" y="2404872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a2wd240_tdt91"/>
          <p:cNvSpPr txBox="1"/>
          <p:nvPr/>
        </p:nvSpPr>
        <p:spPr>
          <a:xfrm>
            <a:off x="6702552" y="2404872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1695</a:t>
            </a:r>
          </a:p>
        </p:txBody>
      </p:sp>
      <p:sp>
        <p:nvSpPr>
          <p:cNvPr id="93" name="a2wd320_td92"/>
          <p:cNvSpPr/>
          <p:nvPr/>
        </p:nvSpPr>
        <p:spPr>
          <a:xfrm>
            <a:off x="6629400" y="2679191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a2wd320_tdt93"/>
          <p:cNvSpPr txBox="1"/>
          <p:nvPr/>
        </p:nvSpPr>
        <p:spPr>
          <a:xfrm>
            <a:off x="6702552" y="2679191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3</a:t>
            </a:r>
          </a:p>
        </p:txBody>
      </p:sp>
      <p:sp>
        <p:nvSpPr>
          <p:cNvPr id="95" name="a2wd400_td94"/>
          <p:cNvSpPr/>
          <p:nvPr/>
        </p:nvSpPr>
        <p:spPr>
          <a:xfrm>
            <a:off x="6629400" y="2953512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a2wd400_tdt95"/>
          <p:cNvSpPr txBox="1"/>
          <p:nvPr/>
        </p:nvSpPr>
        <p:spPr>
          <a:xfrm>
            <a:off x="6702552" y="2953512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id 4</a:t>
            </a:r>
          </a:p>
        </p:txBody>
      </p:sp>
      <p:sp>
        <p:nvSpPr>
          <p:cNvPr id="97" name="a2wd480_td96"/>
          <p:cNvSpPr/>
          <p:nvPr/>
        </p:nvSpPr>
        <p:spPr>
          <a:xfrm>
            <a:off x="6629400" y="3227832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a2wd480_tdt97"/>
          <p:cNvSpPr txBox="1"/>
          <p:nvPr/>
        </p:nvSpPr>
        <p:spPr>
          <a:xfrm>
            <a:off x="6702552" y="3227832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nil</a:t>
            </a:r>
          </a:p>
        </p:txBody>
      </p:sp>
      <p:sp>
        <p:nvSpPr>
          <p:cNvPr id="99" name="a2wd560_td98"/>
          <p:cNvSpPr/>
          <p:nvPr/>
        </p:nvSpPr>
        <p:spPr>
          <a:xfrm>
            <a:off x="6629400" y="3502152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a2wd560_tdt99"/>
          <p:cNvSpPr txBox="1"/>
          <p:nvPr/>
        </p:nvSpPr>
        <p:spPr>
          <a:xfrm>
            <a:off x="6702552" y="3502152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true</a:t>
            </a:r>
          </a:p>
        </p:txBody>
      </p:sp>
      <p:sp>
        <p:nvSpPr>
          <p:cNvPr id="101" name="a2wd640_td100"/>
          <p:cNvSpPr/>
          <p:nvPr/>
        </p:nvSpPr>
        <p:spPr>
          <a:xfrm>
            <a:off x="6629400" y="3776472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a2wd640_tdt101"/>
          <p:cNvSpPr txBox="1"/>
          <p:nvPr/>
        </p:nvSpPr>
        <p:spPr>
          <a:xfrm>
            <a:off x="6702552" y="3776472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id 4</a:t>
            </a:r>
          </a:p>
        </p:txBody>
      </p:sp>
      <p:sp>
        <p:nvSpPr>
          <p:cNvPr id="103" name="a2wd720_td102"/>
          <p:cNvSpPr/>
          <p:nvPr/>
        </p:nvSpPr>
        <p:spPr>
          <a:xfrm>
            <a:off x="6629400" y="4050791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a2wd720_tdt103"/>
          <p:cNvSpPr txBox="1"/>
          <p:nvPr/>
        </p:nvSpPr>
        <p:spPr>
          <a:xfrm>
            <a:off x="6702552" y="4050791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ids [4, 1, 3, ...]</a:t>
            </a:r>
          </a:p>
        </p:txBody>
      </p:sp>
      <p:sp>
        <p:nvSpPr>
          <p:cNvPr id="105" name="a2wd800_td104"/>
          <p:cNvSpPr/>
          <p:nvPr/>
        </p:nvSpPr>
        <p:spPr>
          <a:xfrm>
            <a:off x="6629400" y="4325112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a2wd800_tdt105"/>
          <p:cNvSpPr txBox="1"/>
          <p:nvPr/>
        </p:nvSpPr>
        <p:spPr>
          <a:xfrm>
            <a:off x="6702552" y="4325112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ids [1, 2, 4]</a:t>
            </a:r>
          </a:p>
        </p:txBody>
      </p:sp>
      <p:sp>
        <p:nvSpPr>
          <p:cNvPr id="107" name="ft10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108" name="ft10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ENUM · RESHAPE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Grouping, reshaping, pairing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functions that turn a flat list into the shape your report needs.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25880"/>
            <a:ext cx="8229600" cy="3099815"/>
          </a:xfrm>
          <a:prstGeom prst="roundRect">
            <a:avLst>
              <a:gd name="adj" fmla="val 235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80744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64792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Enum.group_by(txns, &amp; &amp;1.acct, &amp; &amp;1.id)</a:t>
            </a:r>
          </a:p>
        </p:txBody>
      </p:sp>
      <p:sp>
        <p:nvSpPr>
          <p:cNvPr id="8" name="a1wd55_code7"/>
          <p:cNvSpPr txBox="1"/>
          <p:nvPr/>
        </p:nvSpPr>
        <p:spPr>
          <a:xfrm>
            <a:off x="621792" y="1943100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%{"A-1" =&gt; [1, 3, 6], "B-2" =&gt; [2, 5], "C-3" =&gt; [4]}</a:t>
            </a:r>
          </a:p>
        </p:txBody>
      </p:sp>
      <p:sp>
        <p:nvSpPr>
          <p:cNvPr id="9" name="a1wd110_code8"/>
          <p:cNvSpPr txBox="1"/>
          <p:nvPr/>
        </p:nvSpPr>
        <p:spPr>
          <a:xfrm>
            <a:off x="621792" y="2121408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Enum.frequencies_by(txns, &amp; &amp;1.type)     #=&gt; %{deposit: 4, withdrawal: 2}</a:t>
            </a:r>
          </a:p>
        </p:txBody>
      </p:sp>
      <p:sp>
        <p:nvSpPr>
          <p:cNvPr id="10" name="a1wd165_code9"/>
          <p:cNvSpPr txBox="1"/>
          <p:nvPr/>
        </p:nvSpPr>
        <p:spPr>
          <a:xfrm>
            <a:off x="621792" y="2299715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Enum.split_with(txns, &amp;(&amp;1.type == :deposit))   # sizes {4, 2}: kept, rejected</a:t>
            </a:r>
          </a:p>
        </p:txBody>
      </p:sp>
      <p:sp>
        <p:nvSpPr>
          <p:cNvPr id="11" name="a1wd220_code10"/>
          <p:cNvSpPr txBox="1"/>
          <p:nvPr/>
        </p:nvSpPr>
        <p:spPr>
          <a:xfrm>
            <a:off x="621792" y="2478024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2" name="a1wd275_code11"/>
          <p:cNvSpPr txBox="1"/>
          <p:nvPr/>
        </p:nvSpPr>
        <p:spPr>
          <a:xfrm>
            <a:off x="621792" y="2656332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Enum.chunk_every(1..7, 3, 3, :discard)   #=&gt; [[1, 2, 3], [4, 5, 6]]</a:t>
            </a:r>
          </a:p>
        </p:txBody>
      </p:sp>
      <p:sp>
        <p:nvSpPr>
          <p:cNvPr id="13" name="a1wd330_code12"/>
          <p:cNvSpPr txBox="1"/>
          <p:nvPr/>
        </p:nvSpPr>
        <p:spPr>
          <a:xfrm>
            <a:off x="621792" y="2834639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Enum.with_index(~w(a b c), 1)            #=&gt; [{"a", 1}, {"b", 2}, {"c", 3}]</a:t>
            </a:r>
          </a:p>
        </p:txBody>
      </p:sp>
      <p:sp>
        <p:nvSpPr>
          <p:cNvPr id="14" name="a1wd385_code13"/>
          <p:cNvSpPr txBox="1"/>
          <p:nvPr/>
        </p:nvSpPr>
        <p:spPr>
          <a:xfrm>
            <a:off x="621792" y="3012948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Enum.zip([1, 2, 3], [:a, :b])            #=&gt; [{1, :a}, {2, :b}]   shortest wins</a:t>
            </a:r>
          </a:p>
        </p:txBody>
      </p:sp>
      <p:sp>
        <p:nvSpPr>
          <p:cNvPr id="15" name="a1wd440_code14"/>
          <p:cNvSpPr txBox="1"/>
          <p:nvPr/>
        </p:nvSpPr>
        <p:spPr>
          <a:xfrm>
            <a:off x="621792" y="3191256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Enum.unzip([{1, :a}, {2, :b}])           #=&gt; {[1, 2], [:a, :b]}</a:t>
            </a:r>
          </a:p>
        </p:txBody>
      </p:sp>
      <p:sp>
        <p:nvSpPr>
          <p:cNvPr id="16" name="a1wd495_code15"/>
          <p:cNvSpPr txBox="1"/>
          <p:nvPr/>
        </p:nvSpPr>
        <p:spPr>
          <a:xfrm>
            <a:off x="621792" y="3369564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Enum.flat_map([1, 2], &amp;[&amp;1, &amp;1])         #=&gt; [1, 1, 2, 2]</a:t>
            </a:r>
          </a:p>
        </p:txBody>
      </p:sp>
      <p:sp>
        <p:nvSpPr>
          <p:cNvPr id="17" name="a1wd550_code16"/>
          <p:cNvSpPr txBox="1"/>
          <p:nvPr/>
        </p:nvSpPr>
        <p:spPr>
          <a:xfrm>
            <a:off x="621792" y="3547872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Enum.scan([1, 2, 3], &amp;(&amp;1 + &amp;2))         #=&gt; [1, 3, 6]     running total</a:t>
            </a:r>
          </a:p>
        </p:txBody>
      </p:sp>
      <p:sp>
        <p:nvSpPr>
          <p:cNvPr id="18" name="a1wd605_code17"/>
          <p:cNvSpPr txBox="1"/>
          <p:nvPr/>
        </p:nvSpPr>
        <p:spPr>
          <a:xfrm>
            <a:off x="621792" y="3726180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Enum.dedup([1, 1, 2, 1])                 #=&gt; [1, 2, 1]     adjacent only</a:t>
            </a:r>
          </a:p>
        </p:txBody>
      </p:sp>
      <p:sp>
        <p:nvSpPr>
          <p:cNvPr id="19" name="a1wd660_code18"/>
          <p:cNvSpPr txBox="1"/>
          <p:nvPr/>
        </p:nvSpPr>
        <p:spPr>
          <a:xfrm>
            <a:off x="621792" y="3904487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Enum.take_while([1, 2, 5, 1], &amp;(&amp;1 &lt; 3)) #=&gt; [1, 2]</a:t>
            </a:r>
          </a:p>
        </p:txBody>
      </p:sp>
      <p:sp>
        <p:nvSpPr>
          <p:cNvPr id="20" name="a1wd715_code19"/>
          <p:cNvSpPr txBox="1"/>
          <p:nvPr/>
        </p:nvSpPr>
        <p:spPr>
          <a:xfrm>
            <a:off x="621792" y="4082796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Enum.slice(1..10, 2..4)                  #=&gt; [3, 4, 5]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ENUM · REDUCE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reduce builds anything; reduce_while can stop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When no Enum function fits, reduce does — the accumulator can be any collection.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343400" cy="2514600"/>
          </a:xfrm>
          <a:prstGeom prst="roundRect">
            <a:avLst>
              <a:gd name="adj" fmla="val 290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401421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balances per account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signed = fn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56816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%{type: :deposit, amount: a} -&gt; a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30552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%{type: :withdrawal, amount: a} -&gt; -a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304288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478024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651760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Enum.reduce(txns, %{}, fn t, acc -&gt;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825496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Map.update(acc, t.acct, signed.(t),</a:t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2999232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         &amp;(&amp;1 + signed.(t)))</a:t>
            </a:r>
          </a:p>
        </p:txBody>
      </p:sp>
      <p:sp>
        <p:nvSpPr>
          <p:cNvPr id="15" name="a1wd480_code14"/>
          <p:cNvSpPr txBox="1"/>
          <p:nvPr/>
        </p:nvSpPr>
        <p:spPr>
          <a:xfrm>
            <a:off x="621792" y="3172968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end)</a:t>
            </a:r>
          </a:p>
        </p:txBody>
      </p:sp>
      <p:sp>
        <p:nvSpPr>
          <p:cNvPr id="16" name="a1wd540_code15"/>
          <p:cNvSpPr txBox="1"/>
          <p:nvPr/>
        </p:nvSpPr>
        <p:spPr>
          <a:xfrm>
            <a:off x="621792" y="3346704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%{"A-1" =&gt; 455, "B-2" =&gt; -20,</a:t>
            </a:r>
          </a:p>
        </p:txBody>
      </p:sp>
      <p:sp>
        <p:nvSpPr>
          <p:cNvPr id="17" name="a1wd600_code16"/>
          <p:cNvSpPr txBox="1"/>
          <p:nvPr/>
        </p:nvSpPr>
        <p:spPr>
          <a:xfrm>
            <a:off x="621792" y="3520439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   "C-3" =&gt; 900}</a:t>
            </a:r>
          </a:p>
        </p:txBody>
      </p:sp>
      <p:sp>
        <p:nvSpPr>
          <p:cNvPr id="18" name="a2f_codebg17"/>
          <p:cNvSpPr/>
          <p:nvPr/>
        </p:nvSpPr>
        <p:spPr>
          <a:xfrm>
            <a:off x="4983480" y="1344168"/>
            <a:ext cx="3703320" cy="2514600"/>
          </a:xfrm>
          <a:prstGeom prst="roundRect">
            <a:avLst>
              <a:gd name="adj" fmla="val 290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f_codeh18"/>
          <p:cNvSpPr txBox="1"/>
          <p:nvPr/>
        </p:nvSpPr>
        <p:spPr>
          <a:xfrm>
            <a:off x="5148072" y="1399032"/>
            <a:ext cx="33741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stop at the first overdraft</a:t>
            </a:r>
          </a:p>
        </p:txBody>
      </p:sp>
      <p:sp>
        <p:nvSpPr>
          <p:cNvPr id="20" name="a2w_code19"/>
          <p:cNvSpPr txBox="1"/>
          <p:nvPr/>
        </p:nvSpPr>
        <p:spPr>
          <a:xfrm>
            <a:off x="5148072" y="1783080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Enum.reduce_while(moves, 0,</a:t>
            </a:r>
          </a:p>
        </p:txBody>
      </p:sp>
      <p:sp>
        <p:nvSpPr>
          <p:cNvPr id="21" name="a2wd60_code20"/>
          <p:cNvSpPr txBox="1"/>
          <p:nvPr/>
        </p:nvSpPr>
        <p:spPr>
          <a:xfrm>
            <a:off x="5148072" y="1956816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fn x, bal -&gt;</a:t>
            </a:r>
          </a:p>
        </p:txBody>
      </p:sp>
      <p:sp>
        <p:nvSpPr>
          <p:cNvPr id="22" name="a2wd120_code21"/>
          <p:cNvSpPr txBox="1"/>
          <p:nvPr/>
        </p:nvSpPr>
        <p:spPr>
          <a:xfrm>
            <a:off x="5148072" y="2130552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if bal + x &lt; 0,</a:t>
            </a:r>
          </a:p>
        </p:txBody>
      </p:sp>
      <p:sp>
        <p:nvSpPr>
          <p:cNvPr id="23" name="a2wd180_code22"/>
          <p:cNvSpPr txBox="1"/>
          <p:nvPr/>
        </p:nvSpPr>
        <p:spPr>
          <a:xfrm>
            <a:off x="5148072" y="2304288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  do: {:halt, {:overdrawn_at, x, bal}},</a:t>
            </a:r>
          </a:p>
        </p:txBody>
      </p:sp>
      <p:sp>
        <p:nvSpPr>
          <p:cNvPr id="24" name="a2wd240_code23"/>
          <p:cNvSpPr txBox="1"/>
          <p:nvPr/>
        </p:nvSpPr>
        <p:spPr>
          <a:xfrm>
            <a:off x="5148072" y="2478024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  else: {:cont, bal + x}</a:t>
            </a:r>
          </a:p>
        </p:txBody>
      </p:sp>
      <p:sp>
        <p:nvSpPr>
          <p:cNvPr id="25" name="a2wd300_code24"/>
          <p:cNvSpPr txBox="1"/>
          <p:nvPr/>
        </p:nvSpPr>
        <p:spPr>
          <a:xfrm>
            <a:off x="5148072" y="2651760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end)</a:t>
            </a:r>
          </a:p>
        </p:txBody>
      </p:sp>
      <p:sp>
        <p:nvSpPr>
          <p:cNvPr id="26" name="a2wd360_code25"/>
          <p:cNvSpPr txBox="1"/>
          <p:nvPr/>
        </p:nvSpPr>
        <p:spPr>
          <a:xfrm>
            <a:off x="5148072" y="2825496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7" name="a2wd420_code26"/>
          <p:cNvSpPr txBox="1"/>
          <p:nvPr/>
        </p:nvSpPr>
        <p:spPr>
          <a:xfrm>
            <a:off x="5148072" y="2999232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moves = [100, -30, -90, 50]</a:t>
            </a:r>
          </a:p>
        </p:txBody>
      </p:sp>
      <p:sp>
        <p:nvSpPr>
          <p:cNvPr id="28" name="a2wd480_code27"/>
          <p:cNvSpPr txBox="1"/>
          <p:nvPr/>
        </p:nvSpPr>
        <p:spPr>
          <a:xfrm>
            <a:off x="5148072" y="3172968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{:overdrawn_at, -90, 70}</a:t>
            </a:r>
          </a:p>
        </p:txBody>
      </p:sp>
      <p:sp>
        <p:nvSpPr>
          <p:cNvPr id="29" name="a2wd540_code28"/>
          <p:cNvSpPr txBox="1"/>
          <p:nvPr/>
        </p:nvSpPr>
        <p:spPr>
          <a:xfrm>
            <a:off x="5148072" y="3346704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moves = [100, -30, 50]</a:t>
            </a:r>
          </a:p>
        </p:txBody>
      </p:sp>
      <p:sp>
        <p:nvSpPr>
          <p:cNvPr id="30" name="a2wd600_code29"/>
          <p:cNvSpPr txBox="1"/>
          <p:nvPr/>
        </p:nvSpPr>
        <p:spPr>
          <a:xfrm>
            <a:off x="5148072" y="3520439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120</a:t>
            </a:r>
          </a:p>
        </p:txBody>
      </p:sp>
      <p:sp>
        <p:nvSpPr>
          <p:cNvPr id="31" name="a3f_nb30"/>
          <p:cNvSpPr/>
          <p:nvPr/>
        </p:nvSpPr>
        <p:spPr>
          <a:xfrm>
            <a:off x="457200" y="3986783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3f_nacc31"/>
          <p:cNvSpPr/>
          <p:nvPr/>
        </p:nvSpPr>
        <p:spPr>
          <a:xfrm>
            <a:off x="457200" y="3986783"/>
            <a:ext cx="50292" cy="512064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3f_nt32"/>
          <p:cNvSpPr txBox="1"/>
          <p:nvPr/>
        </p:nvSpPr>
        <p:spPr>
          <a:xfrm>
            <a:off x="658368" y="3986783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B-2 ends at -20: the data says so, and reduce did not hide it. reduce_while stops the walk — the 50 after the overdraft is never looked at. {:cont, acc} keeps going, {:halt, acc} ends it.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35" name="ft3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ENUM · SORT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Sorting: know what you are comparing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Enum.sort uses term order. For dates, that is the wrong order — silently.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8229600" cy="2331720"/>
          </a:xfrm>
          <a:prstGeom prst="roundRect">
            <a:avLst>
              <a:gd name="adj" fmla="val 313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probe_collections.exs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Enum.sort(["b", "B", "a"])     #=&gt; ["B", "a", "b"]      bytes: "B" is 66, "a" is 97</a:t>
            </a:r>
          </a:p>
        </p:txBody>
      </p:sp>
      <p:sp>
        <p:nvSpPr>
          <p:cNvPr id="8" name="a1wd70_code7"/>
          <p:cNvSpPr txBox="1"/>
          <p:nvPr/>
        </p:nvSpPr>
        <p:spPr>
          <a:xfrm>
            <a:off x="621792" y="1975104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Enum.sort([3, 1, 2], :desc)    #=&gt; [3, 2, 1]</a:t>
            </a:r>
          </a:p>
        </p:txBody>
      </p:sp>
      <p:sp>
        <p:nvSpPr>
          <p:cNvPr id="9" name="a1wd140_code8"/>
          <p:cNvSpPr txBox="1"/>
          <p:nvPr/>
        </p:nvSpPr>
        <p:spPr>
          <a:xfrm>
            <a:off x="621792" y="2167128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0" name="a1wd210_code9"/>
          <p:cNvSpPr txBox="1"/>
          <p:nvPr/>
        </p:nvSpPr>
        <p:spPr>
          <a:xfrm>
            <a:off x="621792" y="2359152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dates = [~D[2026-03-01], ~D[2026-01-15], ~D[2026-02-10]]</a:t>
            </a:r>
          </a:p>
        </p:txBody>
      </p:sp>
      <p:sp>
        <p:nvSpPr>
          <p:cNvPr id="11" name="a1wd280_code10"/>
          <p:cNvSpPr txBox="1"/>
          <p:nvPr/>
        </p:nvSpPr>
        <p:spPr>
          <a:xfrm>
            <a:off x="621792" y="2551176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Enum.sort(dates)               #=&gt; [~D[2026-03-01], ~D[2026-02-10], ~D[2026-01-15]]</a:t>
            </a:r>
          </a:p>
        </p:txBody>
      </p:sp>
      <p:sp>
        <p:nvSpPr>
          <p:cNvPr id="12" name="a1wd350_code11"/>
          <p:cNvSpPr txBox="1"/>
          <p:nvPr/>
        </p:nvSpPr>
        <p:spPr>
          <a:xfrm>
            <a:off x="621792" y="2743200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Enum.max(dates)                #=&gt; ~D[2026-01-15]</a:t>
            </a:r>
          </a:p>
        </p:txBody>
      </p:sp>
      <p:sp>
        <p:nvSpPr>
          <p:cNvPr id="13" name="a1wd420_code12"/>
          <p:cNvSpPr txBox="1"/>
          <p:nvPr/>
        </p:nvSpPr>
        <p:spPr>
          <a:xfrm>
            <a:off x="621792" y="2935224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4" name="a1wd490_code13"/>
          <p:cNvSpPr txBox="1"/>
          <p:nvPr/>
        </p:nvSpPr>
        <p:spPr>
          <a:xfrm>
            <a:off x="621792" y="3127248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6EFAC"/>
                </a:solidFill>
                <a:latin typeface="Courier New"/>
              </a:rPr>
              <a:t>Enum.sort(dates, Date)         #=&gt; [~D[2026-01-15], ~D[2026-02-10], ~D[2026-03-01]]</a:t>
            </a:r>
          </a:p>
        </p:txBody>
      </p:sp>
      <p:sp>
        <p:nvSpPr>
          <p:cNvPr id="15" name="a1wd560_code14"/>
          <p:cNvSpPr txBox="1"/>
          <p:nvPr/>
        </p:nvSpPr>
        <p:spPr>
          <a:xfrm>
            <a:off x="621792" y="3319272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6EFAC"/>
                </a:solidFill>
                <a:latin typeface="Courier New"/>
              </a:rPr>
              <a:t>Enum.max(dates, Date)          #=&gt; ~D[2026-03-01]</a:t>
            </a:r>
          </a:p>
        </p:txBody>
      </p:sp>
      <p:sp>
        <p:nvSpPr>
          <p:cNvPr id="16" name="a2f_nb15"/>
          <p:cNvSpPr/>
          <p:nvPr/>
        </p:nvSpPr>
        <p:spPr>
          <a:xfrm>
            <a:off x="457200" y="3803903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f_nacc16"/>
          <p:cNvSpPr/>
          <p:nvPr/>
        </p:nvSpPr>
        <p:spPr>
          <a:xfrm>
            <a:off x="457200" y="3803903"/>
            <a:ext cx="50292" cy="713232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f_nt17"/>
          <p:cNvSpPr txBox="1"/>
          <p:nvPr/>
        </p:nvSpPr>
        <p:spPr>
          <a:xfrm>
            <a:off x="658368" y="3803903"/>
            <a:ext cx="7827264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A90533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A Date is a struct, and structs compare as maps — field by field. Here the day field decided: 1, 10, 15. Nothing raised and nothing warned. Pass the module (Date, Time, DateTime, NaiveDateTime) as the sorter, or use sort_by with a key you understand.</a:t>
            </a:r>
          </a:p>
        </p:txBody>
      </p:sp>
      <p:sp>
        <p:nvSpPr>
          <p:cNvPr id="19" name="ft1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20" name="ft1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COMPREHENSIONS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for: generators, filters, and a shape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pattern in a generator is a filter — anything that does not match is skipped.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25880"/>
            <a:ext cx="8229600" cy="2514600"/>
          </a:xfrm>
          <a:prstGeom prst="roundRect">
            <a:avLst>
              <a:gd name="adj" fmla="val 290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80744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64792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for x &lt;- 1..10, rem(x, 3) == 0, do: x               #=&gt; [3, 6, 9]</a:t>
            </a:r>
          </a:p>
        </p:txBody>
      </p:sp>
      <p:sp>
        <p:nvSpPr>
          <p:cNvPr id="8" name="a1wd55_code7"/>
          <p:cNvSpPr txBox="1"/>
          <p:nvPr/>
        </p:nvSpPr>
        <p:spPr>
          <a:xfrm>
            <a:off x="621792" y="1938528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for x &lt;- [1, 2], y &lt;- [:a, :b], do: {x, y}          #=&gt; [{1, :a}, {1, :b}, {2, :a}, {2, :b}]</a:t>
            </a:r>
          </a:p>
        </p:txBody>
      </p:sp>
      <p:sp>
        <p:nvSpPr>
          <p:cNvPr id="9" name="a1wd110_code8"/>
          <p:cNvSpPr txBox="1"/>
          <p:nvPr/>
        </p:nvSpPr>
        <p:spPr>
          <a:xfrm>
            <a:off x="621792" y="2112264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results = [{:ok, 1}, {:error, :bad}, {:ok, 3}]</a:t>
            </a:r>
          </a:p>
        </p:txBody>
      </p:sp>
      <p:sp>
        <p:nvSpPr>
          <p:cNvPr id="10" name="a1wd165_code9"/>
          <p:cNvSpPr txBox="1"/>
          <p:nvPr/>
        </p:nvSpPr>
        <p:spPr>
          <a:xfrm>
            <a:off x="621792" y="2286000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for {:ok, v} &lt;- results, do: v                      #=&gt; [1, 3]</a:t>
            </a:r>
          </a:p>
        </p:txBody>
      </p:sp>
      <p:sp>
        <p:nvSpPr>
          <p:cNvPr id="11" name="a1wd220_code10"/>
          <p:cNvSpPr txBox="1"/>
          <p:nvPr/>
        </p:nvSpPr>
        <p:spPr>
          <a:xfrm>
            <a:off x="621792" y="2459736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Enum.map(results, fn {:ok, v} -&gt; v end)             ** (FunctionClauseError) no function clause</a:t>
            </a:r>
          </a:p>
        </p:txBody>
      </p:sp>
      <p:sp>
        <p:nvSpPr>
          <p:cNvPr id="12" name="a1wd275_code11"/>
          <p:cNvSpPr txBox="1"/>
          <p:nvPr/>
        </p:nvSpPr>
        <p:spPr>
          <a:xfrm>
            <a:off x="621792" y="2633472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for {k, v} &lt;- %{a: 1, b: 2}, into: %{}, do: {k, v * 10}  #=&gt; %{a: 10, b: 20}</a:t>
            </a:r>
          </a:p>
        </p:txBody>
      </p:sp>
      <p:sp>
        <p:nvSpPr>
          <p:cNvPr id="13" name="a1wd330_code12"/>
          <p:cNvSpPr txBox="1"/>
          <p:nvPr/>
        </p:nvSpPr>
        <p:spPr>
          <a:xfrm>
            <a:off x="621792" y="2807208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for x &lt;- [1, 1, 2], into: MapSet.new(), do: x       #=&gt; MapSet.new([1, 2])</a:t>
            </a:r>
          </a:p>
        </p:txBody>
      </p:sp>
      <p:sp>
        <p:nvSpPr>
          <p:cNvPr id="14" name="a1wd385_code13"/>
          <p:cNvSpPr txBox="1"/>
          <p:nvPr/>
        </p:nvSpPr>
        <p:spPr>
          <a:xfrm>
            <a:off x="621792" y="2980944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for x &lt;- [3, 1, 3, 2], uniq: true, do: x            #=&gt; [3, 1, 2]</a:t>
            </a:r>
          </a:p>
        </p:txBody>
      </p:sp>
      <p:sp>
        <p:nvSpPr>
          <p:cNvPr id="15" name="a1wd440_code14"/>
          <p:cNvSpPr txBox="1"/>
          <p:nvPr/>
        </p:nvSpPr>
        <p:spPr>
          <a:xfrm>
            <a:off x="621792" y="3154680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for x &lt;- ~w(a b c), into: "", do: String.upcase(x)  #=&gt; "ABC"</a:t>
            </a:r>
          </a:p>
        </p:txBody>
      </p:sp>
      <p:sp>
        <p:nvSpPr>
          <p:cNvPr id="16" name="a1wd495_code15"/>
          <p:cNvSpPr txBox="1"/>
          <p:nvPr/>
        </p:nvSpPr>
        <p:spPr>
          <a:xfrm>
            <a:off x="621792" y="3328415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for t &lt;- txns, reduce: %{} do acc -&gt; ... end        #=&gt; %{"A-1" =&gt; 455, ...}</a:t>
            </a:r>
          </a:p>
        </p:txBody>
      </p:sp>
      <p:sp>
        <p:nvSpPr>
          <p:cNvPr id="17" name="a1wd550_code16"/>
          <p:cNvSpPr txBox="1"/>
          <p:nvPr/>
        </p:nvSpPr>
        <p:spPr>
          <a:xfrm>
            <a:off x="621792" y="3502152"/>
            <a:ext cx="790041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for &lt;&lt;c &lt;- "abc"&gt;&gt;, do: c                           #=&gt; ~c"abc"</a:t>
            </a:r>
          </a:p>
        </p:txBody>
      </p:sp>
      <p:sp>
        <p:nvSpPr>
          <p:cNvPr id="18" name="a2f_nb17"/>
          <p:cNvSpPr/>
          <p:nvPr/>
        </p:nvSpPr>
        <p:spPr>
          <a:xfrm>
            <a:off x="457200" y="395020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f_nacc18"/>
          <p:cNvSpPr/>
          <p:nvPr/>
        </p:nvSpPr>
        <p:spPr>
          <a:xfrm>
            <a:off x="457200" y="3950208"/>
            <a:ext cx="50292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f_nt19"/>
          <p:cNvSpPr txBox="1"/>
          <p:nvPr/>
        </p:nvSpPr>
        <p:spPr>
          <a:xfrm>
            <a:off x="658368" y="3950208"/>
            <a:ext cx="78272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for is the one construct that filters, maps and collects in one expression. Reach for it when you would otherwise write filter |&gt; map |&gt; Enum.into.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STREAM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Stream: lazy, one element at a time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Stream is a recipe. Nothing runs until an Enum function asks for elements.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526280" cy="2249424"/>
          </a:xfrm>
          <a:prstGeom prst="roundRect">
            <a:avLst>
              <a:gd name="adj" fmla="val 32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41970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41970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s1 = Stream.map([1, 2, 3], fn x -&gt;</a:t>
            </a:r>
          </a:p>
        </p:txBody>
      </p:sp>
      <p:sp>
        <p:nvSpPr>
          <p:cNvPr id="8" name="a1wd70_code7"/>
          <p:cNvSpPr txBox="1"/>
          <p:nvPr/>
        </p:nvSpPr>
        <p:spPr>
          <a:xfrm>
            <a:off x="621792" y="1965960"/>
            <a:ext cx="41970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   IO.puts("mapping #{x}"); x * 2</a:t>
            </a:r>
          </a:p>
        </p:txBody>
      </p:sp>
      <p:sp>
        <p:nvSpPr>
          <p:cNvPr id="9" name="a1wd140_code8"/>
          <p:cNvSpPr txBox="1"/>
          <p:nvPr/>
        </p:nvSpPr>
        <p:spPr>
          <a:xfrm>
            <a:off x="621792" y="2148840"/>
            <a:ext cx="41970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 end)</a:t>
            </a:r>
          </a:p>
        </p:txBody>
      </p:sp>
      <p:sp>
        <p:nvSpPr>
          <p:cNvPr id="10" name="a1wd210_code9"/>
          <p:cNvSpPr txBox="1"/>
          <p:nvPr/>
        </p:nvSpPr>
        <p:spPr>
          <a:xfrm>
            <a:off x="621792" y="2331720"/>
            <a:ext cx="41970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nothing printed. s1 is a %Stream{}</a:t>
            </a:r>
          </a:p>
        </p:txBody>
      </p:sp>
      <p:sp>
        <p:nvSpPr>
          <p:cNvPr id="11" name="a1wd280_code10"/>
          <p:cNvSpPr txBox="1"/>
          <p:nvPr/>
        </p:nvSpPr>
        <p:spPr>
          <a:xfrm>
            <a:off x="621792" y="2514600"/>
            <a:ext cx="41970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2" name="a1wd350_code11"/>
          <p:cNvSpPr txBox="1"/>
          <p:nvPr/>
        </p:nvSpPr>
        <p:spPr>
          <a:xfrm>
            <a:off x="621792" y="2697480"/>
            <a:ext cx="41970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Enum.take(s1, 2)</a:t>
            </a:r>
          </a:p>
        </p:txBody>
      </p:sp>
      <p:sp>
        <p:nvSpPr>
          <p:cNvPr id="13" name="a1wd420_code12"/>
          <p:cNvSpPr txBox="1"/>
          <p:nvPr/>
        </p:nvSpPr>
        <p:spPr>
          <a:xfrm>
            <a:off x="621792" y="2880360"/>
            <a:ext cx="41970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mapping 1</a:t>
            </a:r>
          </a:p>
        </p:txBody>
      </p:sp>
      <p:sp>
        <p:nvSpPr>
          <p:cNvPr id="14" name="a1wd490_code13"/>
          <p:cNvSpPr txBox="1"/>
          <p:nvPr/>
        </p:nvSpPr>
        <p:spPr>
          <a:xfrm>
            <a:off x="621792" y="3063240"/>
            <a:ext cx="41970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mapping 2</a:t>
            </a:r>
          </a:p>
        </p:txBody>
      </p:sp>
      <p:sp>
        <p:nvSpPr>
          <p:cNvPr id="15" name="a1wd560_code14"/>
          <p:cNvSpPr txBox="1"/>
          <p:nvPr/>
        </p:nvSpPr>
        <p:spPr>
          <a:xfrm>
            <a:off x="621792" y="3246120"/>
            <a:ext cx="41970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[2, 4]        3 was never mapped</a:t>
            </a:r>
          </a:p>
        </p:txBody>
      </p:sp>
      <p:sp>
        <p:nvSpPr>
          <p:cNvPr id="16" name="a2f_codebg15"/>
          <p:cNvSpPr/>
          <p:nvPr/>
        </p:nvSpPr>
        <p:spPr>
          <a:xfrm>
            <a:off x="5166360" y="1344168"/>
            <a:ext cx="3520440" cy="2249424"/>
          </a:xfrm>
          <a:prstGeom prst="roundRect">
            <a:avLst>
              <a:gd name="adj" fmla="val 32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f_codeh16"/>
          <p:cNvSpPr txBox="1"/>
          <p:nvPr/>
        </p:nvSpPr>
        <p:spPr>
          <a:xfrm>
            <a:off x="5330952" y="1399032"/>
            <a:ext cx="31912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infinite, and fine</a:t>
            </a:r>
          </a:p>
        </p:txBody>
      </p:sp>
      <p:sp>
        <p:nvSpPr>
          <p:cNvPr id="18" name="a2w_code17"/>
          <p:cNvSpPr txBox="1"/>
          <p:nvPr/>
        </p:nvSpPr>
        <p:spPr>
          <a:xfrm>
            <a:off x="5330952" y="1783080"/>
            <a:ext cx="319125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Stream.iterate(1, &amp;(&amp;1 * 2))</a:t>
            </a:r>
          </a:p>
        </p:txBody>
      </p:sp>
      <p:sp>
        <p:nvSpPr>
          <p:cNvPr id="19" name="a2wd60_code18"/>
          <p:cNvSpPr txBox="1"/>
          <p:nvPr/>
        </p:nvSpPr>
        <p:spPr>
          <a:xfrm>
            <a:off x="5330952" y="1965960"/>
            <a:ext cx="319125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|&gt; Enum.take(8)</a:t>
            </a:r>
          </a:p>
        </p:txBody>
      </p:sp>
      <p:sp>
        <p:nvSpPr>
          <p:cNvPr id="20" name="a2wd120_code19"/>
          <p:cNvSpPr txBox="1"/>
          <p:nvPr/>
        </p:nvSpPr>
        <p:spPr>
          <a:xfrm>
            <a:off x="5330952" y="2148840"/>
            <a:ext cx="319125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#=&gt; [1, 2, 4, 8, 16, 32, 64, 128]</a:t>
            </a:r>
          </a:p>
        </p:txBody>
      </p:sp>
      <p:sp>
        <p:nvSpPr>
          <p:cNvPr id="21" name="a2wd180_code20"/>
          <p:cNvSpPr txBox="1"/>
          <p:nvPr/>
        </p:nvSpPr>
        <p:spPr>
          <a:xfrm>
            <a:off x="5330952" y="2331720"/>
            <a:ext cx="319125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Stream.cycle([:r, :g])</a:t>
            </a:r>
          </a:p>
        </p:txBody>
      </p:sp>
      <p:sp>
        <p:nvSpPr>
          <p:cNvPr id="22" name="a2wd240_code21"/>
          <p:cNvSpPr txBox="1"/>
          <p:nvPr/>
        </p:nvSpPr>
        <p:spPr>
          <a:xfrm>
            <a:off x="5330952" y="2514600"/>
            <a:ext cx="319125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|&gt; Enum.take(5)</a:t>
            </a:r>
          </a:p>
        </p:txBody>
      </p:sp>
      <p:sp>
        <p:nvSpPr>
          <p:cNvPr id="23" name="a2wd300_code22"/>
          <p:cNvSpPr txBox="1"/>
          <p:nvPr/>
        </p:nvSpPr>
        <p:spPr>
          <a:xfrm>
            <a:off x="5330952" y="2697480"/>
            <a:ext cx="319125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#=&gt; [:r, :g, :r, :g, :r]</a:t>
            </a:r>
          </a:p>
        </p:txBody>
      </p:sp>
      <p:sp>
        <p:nvSpPr>
          <p:cNvPr id="24" name="a2wd360_code23"/>
          <p:cNvSpPr txBox="1"/>
          <p:nvPr/>
        </p:nvSpPr>
        <p:spPr>
          <a:xfrm>
            <a:off x="5330952" y="2880360"/>
            <a:ext cx="319125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Stream.unfold({0, 1}, fn {a, b} -&gt;</a:t>
            </a:r>
          </a:p>
        </p:txBody>
      </p:sp>
      <p:sp>
        <p:nvSpPr>
          <p:cNvPr id="25" name="a2wd420_code24"/>
          <p:cNvSpPr txBox="1"/>
          <p:nvPr/>
        </p:nvSpPr>
        <p:spPr>
          <a:xfrm>
            <a:off x="5330952" y="3063240"/>
            <a:ext cx="319125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{a, {b, a + b}} end) |&gt; Enum.take(10)</a:t>
            </a:r>
          </a:p>
        </p:txBody>
      </p:sp>
      <p:sp>
        <p:nvSpPr>
          <p:cNvPr id="26" name="a2wd480_code25"/>
          <p:cNvSpPr txBox="1"/>
          <p:nvPr/>
        </p:nvSpPr>
        <p:spPr>
          <a:xfrm>
            <a:off x="5330952" y="3246120"/>
            <a:ext cx="319125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#=&gt; [0, 1, 1, 2, 3, 5, 8, 13, 21, 34]</a:t>
            </a:r>
          </a:p>
        </p:txBody>
      </p:sp>
      <p:sp>
        <p:nvSpPr>
          <p:cNvPr id="27" name="a3f_nb26"/>
          <p:cNvSpPr/>
          <p:nvPr/>
        </p:nvSpPr>
        <p:spPr>
          <a:xfrm>
            <a:off x="457200" y="3721607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3f_nacc27"/>
          <p:cNvSpPr/>
          <p:nvPr/>
        </p:nvSpPr>
        <p:spPr>
          <a:xfrm>
            <a:off x="457200" y="3721607"/>
            <a:ext cx="50292" cy="512064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3f_nt28"/>
          <p:cNvSpPr txBox="1"/>
          <p:nvPr/>
        </p:nvSpPr>
        <p:spPr>
          <a:xfrm>
            <a:off x="658368" y="3721607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An infinite stream is safe as long as something downstream stops asking — Enum.take/2 here. File.stream!/1 is the same idea for a file too big to read into memory.</a:t>
            </a:r>
          </a:p>
        </p:txBody>
      </p:sp>
      <p:sp>
        <p:nvSpPr>
          <p:cNvPr id="30" name="ft2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STREAM · HONESTLY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Enum or Stream? Measured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map |&gt; filter over 1..1_000_000, then take 5 or sum it all. Fresh process, best of 7.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25880"/>
            <a:ext cx="3383280" cy="2834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tht5"/>
          <p:cNvSpPr txBox="1"/>
          <p:nvPr/>
        </p:nvSpPr>
        <p:spPr>
          <a:xfrm>
            <a:off x="530352" y="1325880"/>
            <a:ext cx="32735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Pipeline</a:t>
            </a:r>
          </a:p>
        </p:txBody>
      </p:sp>
      <p:sp>
        <p:nvSpPr>
          <p:cNvPr id="7" name="a1wd130_td6"/>
          <p:cNvSpPr/>
          <p:nvPr/>
        </p:nvSpPr>
        <p:spPr>
          <a:xfrm>
            <a:off x="457200" y="1609344"/>
            <a:ext cx="3383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d130_tdt7"/>
          <p:cNvSpPr txBox="1"/>
          <p:nvPr/>
        </p:nvSpPr>
        <p:spPr>
          <a:xfrm>
            <a:off x="530352" y="1609344"/>
            <a:ext cx="32735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Enum ... |&gt; Enum.take(5)</a:t>
            </a:r>
          </a:p>
        </p:txBody>
      </p:sp>
      <p:sp>
        <p:nvSpPr>
          <p:cNvPr id="9" name="a1wd260_td8"/>
          <p:cNvSpPr/>
          <p:nvPr/>
        </p:nvSpPr>
        <p:spPr>
          <a:xfrm>
            <a:off x="457200" y="1892807"/>
            <a:ext cx="3383280" cy="283464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wd260_tdt9"/>
          <p:cNvSpPr txBox="1"/>
          <p:nvPr/>
        </p:nvSpPr>
        <p:spPr>
          <a:xfrm>
            <a:off x="530352" y="1892807"/>
            <a:ext cx="32735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Stream ... |&gt; Enum.take(5)</a:t>
            </a:r>
          </a:p>
        </p:txBody>
      </p:sp>
      <p:sp>
        <p:nvSpPr>
          <p:cNvPr id="11" name="a1wd390_td10"/>
          <p:cNvSpPr/>
          <p:nvPr/>
        </p:nvSpPr>
        <p:spPr>
          <a:xfrm>
            <a:off x="457200" y="2176272"/>
            <a:ext cx="3383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wd390_tdt11"/>
          <p:cNvSpPr txBox="1"/>
          <p:nvPr/>
        </p:nvSpPr>
        <p:spPr>
          <a:xfrm>
            <a:off x="530352" y="2176272"/>
            <a:ext cx="32735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Enum ... |&gt; Enum.sum()</a:t>
            </a:r>
          </a:p>
        </p:txBody>
      </p:sp>
      <p:sp>
        <p:nvSpPr>
          <p:cNvPr id="13" name="a1wd520_td12"/>
          <p:cNvSpPr/>
          <p:nvPr/>
        </p:nvSpPr>
        <p:spPr>
          <a:xfrm>
            <a:off x="457200" y="2459736"/>
            <a:ext cx="3383280" cy="283464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520_tdt13"/>
          <p:cNvSpPr txBox="1"/>
          <p:nvPr/>
        </p:nvSpPr>
        <p:spPr>
          <a:xfrm>
            <a:off x="530352" y="2459736"/>
            <a:ext cx="32735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Stream ... |&gt; Enum.sum()</a:t>
            </a:r>
          </a:p>
        </p:txBody>
      </p:sp>
      <p:sp>
        <p:nvSpPr>
          <p:cNvPr id="15" name="a1wd650_td14"/>
          <p:cNvSpPr/>
          <p:nvPr/>
        </p:nvSpPr>
        <p:spPr>
          <a:xfrm>
            <a:off x="457200" y="2743200"/>
            <a:ext cx="3383280" cy="283464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650_tdt15"/>
          <p:cNvSpPr txBox="1"/>
          <p:nvPr/>
        </p:nvSpPr>
        <p:spPr>
          <a:xfrm>
            <a:off x="530352" y="2743200"/>
            <a:ext cx="32735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1..100: Enum ... |&gt; Enum.sum()</a:t>
            </a:r>
          </a:p>
        </p:txBody>
      </p:sp>
      <p:sp>
        <p:nvSpPr>
          <p:cNvPr id="17" name="a1wd780_td16"/>
          <p:cNvSpPr/>
          <p:nvPr/>
        </p:nvSpPr>
        <p:spPr>
          <a:xfrm>
            <a:off x="457200" y="3026663"/>
            <a:ext cx="3383280" cy="283464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780_tdt17"/>
          <p:cNvSpPr txBox="1"/>
          <p:nvPr/>
        </p:nvSpPr>
        <p:spPr>
          <a:xfrm>
            <a:off x="530352" y="3026663"/>
            <a:ext cx="32735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1..100: Stream ... |&gt; Enum.sum()</a:t>
            </a:r>
          </a:p>
        </p:txBody>
      </p:sp>
      <p:sp>
        <p:nvSpPr>
          <p:cNvPr id="19" name="a1f_th18"/>
          <p:cNvSpPr/>
          <p:nvPr/>
        </p:nvSpPr>
        <p:spPr>
          <a:xfrm>
            <a:off x="3840480" y="1325880"/>
            <a:ext cx="1554480" cy="2834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f_tht19"/>
          <p:cNvSpPr txBox="1"/>
          <p:nvPr/>
        </p:nvSpPr>
        <p:spPr>
          <a:xfrm>
            <a:off x="3913632" y="1325880"/>
            <a:ext cx="14447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Time</a:t>
            </a:r>
          </a:p>
        </p:txBody>
      </p:sp>
      <p:sp>
        <p:nvSpPr>
          <p:cNvPr id="21" name="a1wd130_td20"/>
          <p:cNvSpPr/>
          <p:nvPr/>
        </p:nvSpPr>
        <p:spPr>
          <a:xfrm>
            <a:off x="3840480" y="1609344"/>
            <a:ext cx="15544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130_tdt21"/>
          <p:cNvSpPr txBox="1"/>
          <p:nvPr/>
        </p:nvSpPr>
        <p:spPr>
          <a:xfrm>
            <a:off x="3913632" y="1609344"/>
            <a:ext cx="14447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66.7 ms</a:t>
            </a:r>
          </a:p>
        </p:txBody>
      </p:sp>
      <p:sp>
        <p:nvSpPr>
          <p:cNvPr id="23" name="a1wd260_td22"/>
          <p:cNvSpPr/>
          <p:nvPr/>
        </p:nvSpPr>
        <p:spPr>
          <a:xfrm>
            <a:off x="3840480" y="1892807"/>
            <a:ext cx="1554480" cy="283464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wd260_tdt23"/>
          <p:cNvSpPr txBox="1"/>
          <p:nvPr/>
        </p:nvSpPr>
        <p:spPr>
          <a:xfrm>
            <a:off x="3913632" y="1892807"/>
            <a:ext cx="14447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1.54 µs</a:t>
            </a:r>
          </a:p>
        </p:txBody>
      </p:sp>
      <p:sp>
        <p:nvSpPr>
          <p:cNvPr id="25" name="a1wd390_td24"/>
          <p:cNvSpPr/>
          <p:nvPr/>
        </p:nvSpPr>
        <p:spPr>
          <a:xfrm>
            <a:off x="3840480" y="2176272"/>
            <a:ext cx="15544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wd390_tdt25"/>
          <p:cNvSpPr txBox="1"/>
          <p:nvPr/>
        </p:nvSpPr>
        <p:spPr>
          <a:xfrm>
            <a:off x="3913632" y="2176272"/>
            <a:ext cx="14447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68.5 ms</a:t>
            </a:r>
          </a:p>
        </p:txBody>
      </p:sp>
      <p:sp>
        <p:nvSpPr>
          <p:cNvPr id="27" name="a1wd520_td26"/>
          <p:cNvSpPr/>
          <p:nvPr/>
        </p:nvSpPr>
        <p:spPr>
          <a:xfrm>
            <a:off x="3840480" y="2459736"/>
            <a:ext cx="1554480" cy="283464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520_tdt27"/>
          <p:cNvSpPr txBox="1"/>
          <p:nvPr/>
        </p:nvSpPr>
        <p:spPr>
          <a:xfrm>
            <a:off x="3913632" y="2459736"/>
            <a:ext cx="14447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35.9 ms</a:t>
            </a:r>
          </a:p>
        </p:txBody>
      </p:sp>
      <p:sp>
        <p:nvSpPr>
          <p:cNvPr id="29" name="a1wd650_td28"/>
          <p:cNvSpPr/>
          <p:nvPr/>
        </p:nvSpPr>
        <p:spPr>
          <a:xfrm>
            <a:off x="3840480" y="2743200"/>
            <a:ext cx="1554480" cy="283464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wd650_tdt29"/>
          <p:cNvSpPr txBox="1"/>
          <p:nvPr/>
        </p:nvSpPr>
        <p:spPr>
          <a:xfrm>
            <a:off x="3913632" y="2743200"/>
            <a:ext cx="14447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2.17 µs</a:t>
            </a:r>
          </a:p>
        </p:txBody>
      </p:sp>
      <p:sp>
        <p:nvSpPr>
          <p:cNvPr id="31" name="a1wd780_td30"/>
          <p:cNvSpPr/>
          <p:nvPr/>
        </p:nvSpPr>
        <p:spPr>
          <a:xfrm>
            <a:off x="3840480" y="3026663"/>
            <a:ext cx="1554480" cy="283464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780_tdt31"/>
          <p:cNvSpPr txBox="1"/>
          <p:nvPr/>
        </p:nvSpPr>
        <p:spPr>
          <a:xfrm>
            <a:off x="3913632" y="3026663"/>
            <a:ext cx="14447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5.47 µs</a:t>
            </a:r>
          </a:p>
        </p:txBody>
      </p:sp>
      <p:sp>
        <p:nvSpPr>
          <p:cNvPr id="33" name="a1f_th32"/>
          <p:cNvSpPr/>
          <p:nvPr/>
        </p:nvSpPr>
        <p:spPr>
          <a:xfrm>
            <a:off x="5394960" y="1325880"/>
            <a:ext cx="3291840" cy="2834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f_tht33"/>
          <p:cNvSpPr txBox="1"/>
          <p:nvPr/>
        </p:nvSpPr>
        <p:spPr>
          <a:xfrm>
            <a:off x="5468112" y="1325880"/>
            <a:ext cx="318211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Heap afterwards</a:t>
            </a:r>
          </a:p>
        </p:txBody>
      </p:sp>
      <p:sp>
        <p:nvSpPr>
          <p:cNvPr id="35" name="a1wd130_td34"/>
          <p:cNvSpPr/>
          <p:nvPr/>
        </p:nvSpPr>
        <p:spPr>
          <a:xfrm>
            <a:off x="5394960" y="1609344"/>
            <a:ext cx="32918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1wd130_tdt35"/>
          <p:cNvSpPr txBox="1"/>
          <p:nvPr/>
        </p:nvSpPr>
        <p:spPr>
          <a:xfrm>
            <a:off x="5468112" y="1609344"/>
            <a:ext cx="318211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4,560,232 words — about 36 MB</a:t>
            </a:r>
          </a:p>
        </p:txBody>
      </p:sp>
      <p:sp>
        <p:nvSpPr>
          <p:cNvPr id="37" name="a1wd260_td36"/>
          <p:cNvSpPr/>
          <p:nvPr/>
        </p:nvSpPr>
        <p:spPr>
          <a:xfrm>
            <a:off x="5394960" y="1892807"/>
            <a:ext cx="3291840" cy="283464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1wd260_tdt37"/>
          <p:cNvSpPr txBox="1"/>
          <p:nvPr/>
        </p:nvSpPr>
        <p:spPr>
          <a:xfrm>
            <a:off x="5468112" y="1892807"/>
            <a:ext cx="318211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233 words</a:t>
            </a:r>
          </a:p>
        </p:txBody>
      </p:sp>
      <p:sp>
        <p:nvSpPr>
          <p:cNvPr id="39" name="a1wd390_td38"/>
          <p:cNvSpPr/>
          <p:nvPr/>
        </p:nvSpPr>
        <p:spPr>
          <a:xfrm>
            <a:off x="5394960" y="2176272"/>
            <a:ext cx="32918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1wd390_tdt39"/>
          <p:cNvSpPr txBox="1"/>
          <p:nvPr/>
        </p:nvSpPr>
        <p:spPr>
          <a:xfrm>
            <a:off x="5468112" y="2176272"/>
            <a:ext cx="318211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4,560,232 words</a:t>
            </a:r>
          </a:p>
        </p:txBody>
      </p:sp>
      <p:sp>
        <p:nvSpPr>
          <p:cNvPr id="41" name="a1wd520_td40"/>
          <p:cNvSpPr/>
          <p:nvPr/>
        </p:nvSpPr>
        <p:spPr>
          <a:xfrm>
            <a:off x="5394960" y="2459736"/>
            <a:ext cx="3291840" cy="283464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1wd520_tdt41"/>
          <p:cNvSpPr txBox="1"/>
          <p:nvPr/>
        </p:nvSpPr>
        <p:spPr>
          <a:xfrm>
            <a:off x="5468112" y="2459736"/>
            <a:ext cx="318211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609 words</a:t>
            </a:r>
          </a:p>
        </p:txBody>
      </p:sp>
      <p:sp>
        <p:nvSpPr>
          <p:cNvPr id="43" name="a1wd650_td42"/>
          <p:cNvSpPr/>
          <p:nvPr/>
        </p:nvSpPr>
        <p:spPr>
          <a:xfrm>
            <a:off x="5394960" y="2743200"/>
            <a:ext cx="3291840" cy="283464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1wd650_tdt43"/>
          <p:cNvSpPr txBox="1"/>
          <p:nvPr/>
        </p:nvSpPr>
        <p:spPr>
          <a:xfrm>
            <a:off x="5468112" y="2743200"/>
            <a:ext cx="318211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—</a:t>
            </a:r>
          </a:p>
        </p:txBody>
      </p:sp>
      <p:sp>
        <p:nvSpPr>
          <p:cNvPr id="45" name="a1wd780_td44"/>
          <p:cNvSpPr/>
          <p:nvPr/>
        </p:nvSpPr>
        <p:spPr>
          <a:xfrm>
            <a:off x="5394960" y="3026663"/>
            <a:ext cx="3291840" cy="283464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1wd780_tdt45"/>
          <p:cNvSpPr txBox="1"/>
          <p:nvPr/>
        </p:nvSpPr>
        <p:spPr>
          <a:xfrm>
            <a:off x="5468112" y="3026663"/>
            <a:ext cx="318211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— 2.52x the Enum time</a:t>
            </a:r>
          </a:p>
        </p:txBody>
      </p:sp>
      <p:sp>
        <p:nvSpPr>
          <p:cNvPr id="47" name="a2u_dot46"/>
          <p:cNvSpPr/>
          <p:nvPr/>
        </p:nvSpPr>
        <p:spPr>
          <a:xfrm>
            <a:off x="457200" y="355701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2u_b47"/>
          <p:cNvSpPr txBox="1"/>
          <p:nvPr/>
        </p:nvSpPr>
        <p:spPr>
          <a:xfrm>
            <a:off x="676656" y="3456432"/>
            <a:ext cx="801014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Enum builds a whole list at every step  </a:t>
            </a:r>
            <a:r>
              <a:rPr sz="1100" b="0">
                <a:solidFill>
                  <a:srgbClr val="334155"/>
                </a:solidFill>
                <a:latin typeface="Calibri"/>
              </a:rPr>
              <a:t>two 1M-element lists here, before take/2 throws almost all of it away</a:t>
            </a:r>
          </a:p>
        </p:txBody>
      </p:sp>
      <p:sp>
        <p:nvSpPr>
          <p:cNvPr id="49" name="a2ud180_dot48"/>
          <p:cNvSpPr/>
          <p:nvPr/>
        </p:nvSpPr>
        <p:spPr>
          <a:xfrm>
            <a:off x="457200" y="392277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2ud180_b49"/>
          <p:cNvSpPr txBox="1"/>
          <p:nvPr/>
        </p:nvSpPr>
        <p:spPr>
          <a:xfrm>
            <a:off x="676656" y="3822192"/>
            <a:ext cx="801014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Stream wins when data is big, infinite, or you stop early  </a:t>
            </a:r>
            <a:r>
              <a:rPr sz="1100" b="0">
                <a:solidFill>
                  <a:srgbClr val="334155"/>
                </a:solidFill>
                <a:latin typeface="Calibri"/>
              </a:rPr>
              <a:t>and here even for a full sum — no intermediate lists to build</a:t>
            </a:r>
          </a:p>
        </p:txBody>
      </p:sp>
      <p:sp>
        <p:nvSpPr>
          <p:cNvPr id="51" name="a2ud360_dot50"/>
          <p:cNvSpPr/>
          <p:nvPr/>
        </p:nvSpPr>
        <p:spPr>
          <a:xfrm>
            <a:off x="457200" y="428853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2ud360_b51"/>
          <p:cNvSpPr txBox="1"/>
          <p:nvPr/>
        </p:nvSpPr>
        <p:spPr>
          <a:xfrm>
            <a:off x="676656" y="4187952"/>
            <a:ext cx="801014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On small collections, Enum is simpler and faster  </a:t>
            </a:r>
            <a:r>
              <a:rPr sz="1100" b="0">
                <a:solidFill>
                  <a:srgbClr val="334155"/>
                </a:solidFill>
                <a:latin typeface="Calibri"/>
              </a:rPr>
              <a:t>a stream's per-element bookkeeping is real; 100 elements do not repay it</a:t>
            </a:r>
          </a:p>
        </p:txBody>
      </p:sp>
      <p:sp>
        <p:nvSpPr>
          <p:cNvPr id="53" name="ft5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54" name="ft5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07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Pattern matching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Take a collection apart in a function head,
a case, a with — or a for.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[h | t]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%{key: v} · %{^k =&gt; v}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%Struct{}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PATTERNS · SEQUENCES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Tuples and lists in patterns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tuple pattern fixes the size. A list pattern fixes the front and names the rest.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160520" cy="2386584"/>
          </a:xfrm>
          <a:prstGeom prst="roundRect">
            <a:avLst>
              <a:gd name="adj" fmla="val 306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3831335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{:ok, v} = {:ok, 42}          # v = 42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61388"/>
            <a:ext cx="3831335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{a, b} = {1, 2, 3}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39696"/>
            <a:ext cx="3831335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** (MatchError) no match of right hand side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318004"/>
            <a:ext cx="3831335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[h | t] = [1, 2, 3]           # 1, [2, 3]</a:t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496312"/>
            <a:ext cx="3831335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[a, b | rest] = [1, 2, 3, 4]  # 1, 2, [3, 4]</a:t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674620"/>
            <a:ext cx="3831335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[only] = [:x]                 # exactly one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852928"/>
            <a:ext cx="3831335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[x] = [1, 2]</a:t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3031236"/>
            <a:ext cx="3831335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** (MatchError)</a:t>
            </a:r>
          </a:p>
        </p:txBody>
      </p:sp>
      <p:sp>
        <p:nvSpPr>
          <p:cNvPr id="15" name="a1wd480_code14"/>
          <p:cNvSpPr txBox="1"/>
          <p:nvPr/>
        </p:nvSpPr>
        <p:spPr>
          <a:xfrm>
            <a:off x="621792" y="3209544"/>
            <a:ext cx="3831335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[h | _] = []</a:t>
            </a:r>
          </a:p>
        </p:txBody>
      </p:sp>
      <p:sp>
        <p:nvSpPr>
          <p:cNvPr id="16" name="a1wd540_code15"/>
          <p:cNvSpPr txBox="1"/>
          <p:nvPr/>
        </p:nvSpPr>
        <p:spPr>
          <a:xfrm>
            <a:off x="621792" y="3387852"/>
            <a:ext cx="3831335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** (MatchError)   [] has no head</a:t>
            </a:r>
          </a:p>
        </p:txBody>
      </p:sp>
      <p:sp>
        <p:nvSpPr>
          <p:cNvPr id="17" name="a2f_codebg16"/>
          <p:cNvSpPr/>
          <p:nvPr/>
        </p:nvSpPr>
        <p:spPr>
          <a:xfrm>
            <a:off x="4800600" y="1344168"/>
            <a:ext cx="3886200" cy="2578608"/>
          </a:xfrm>
          <a:prstGeom prst="roundRect">
            <a:avLst>
              <a:gd name="adj" fmla="val 283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f_codeh17"/>
          <p:cNvSpPr txBox="1"/>
          <p:nvPr/>
        </p:nvSpPr>
        <p:spPr>
          <a:xfrm>
            <a:off x="4965192" y="1399032"/>
            <a:ext cx="35570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recursion over a list</a:t>
            </a:r>
          </a:p>
        </p:txBody>
      </p:sp>
      <p:sp>
        <p:nvSpPr>
          <p:cNvPr id="19" name="a2w_code18"/>
          <p:cNvSpPr txBox="1"/>
          <p:nvPr/>
        </p:nvSpPr>
        <p:spPr>
          <a:xfrm>
            <a:off x="4965192" y="1783080"/>
            <a:ext cx="35570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def sum([]), do: 0</a:t>
            </a:r>
          </a:p>
        </p:txBody>
      </p:sp>
      <p:sp>
        <p:nvSpPr>
          <p:cNvPr id="20" name="a2wd50_code19"/>
          <p:cNvSpPr txBox="1"/>
          <p:nvPr/>
        </p:nvSpPr>
        <p:spPr>
          <a:xfrm>
            <a:off x="4965192" y="1947672"/>
            <a:ext cx="35570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def sum([h | t]), do: h + sum(t)</a:t>
            </a:r>
          </a:p>
        </p:txBody>
      </p:sp>
      <p:sp>
        <p:nvSpPr>
          <p:cNvPr id="21" name="a2wd100_code20"/>
          <p:cNvSpPr txBox="1"/>
          <p:nvPr/>
        </p:nvSpPr>
        <p:spPr>
          <a:xfrm>
            <a:off x="4965192" y="2112264"/>
            <a:ext cx="35570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2" name="a2wd150_code21"/>
          <p:cNvSpPr txBox="1"/>
          <p:nvPr/>
        </p:nvSpPr>
        <p:spPr>
          <a:xfrm>
            <a:off x="4965192" y="2276856"/>
            <a:ext cx="35570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def total([], acc), do: acc</a:t>
            </a:r>
          </a:p>
        </p:txBody>
      </p:sp>
      <p:sp>
        <p:nvSpPr>
          <p:cNvPr id="23" name="a2wd200_code22"/>
          <p:cNvSpPr txBox="1"/>
          <p:nvPr/>
        </p:nvSpPr>
        <p:spPr>
          <a:xfrm>
            <a:off x="4965192" y="2441448"/>
            <a:ext cx="35570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def total([%{type: :deposit,</a:t>
            </a:r>
          </a:p>
        </p:txBody>
      </p:sp>
      <p:sp>
        <p:nvSpPr>
          <p:cNvPr id="24" name="a2wd250_code23"/>
          <p:cNvSpPr txBox="1"/>
          <p:nvPr/>
        </p:nvSpPr>
        <p:spPr>
          <a:xfrm>
            <a:off x="4965192" y="2606039"/>
            <a:ext cx="35570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          amount: a} | rest], acc),</a:t>
            </a:r>
          </a:p>
        </p:txBody>
      </p:sp>
      <p:sp>
        <p:nvSpPr>
          <p:cNvPr id="25" name="a2wd300_code24"/>
          <p:cNvSpPr txBox="1"/>
          <p:nvPr/>
        </p:nvSpPr>
        <p:spPr>
          <a:xfrm>
            <a:off x="4965192" y="2770632"/>
            <a:ext cx="35570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do: total(rest, acc + a)</a:t>
            </a:r>
          </a:p>
        </p:txBody>
      </p:sp>
      <p:sp>
        <p:nvSpPr>
          <p:cNvPr id="26" name="a2wd350_code25"/>
          <p:cNvSpPr txBox="1"/>
          <p:nvPr/>
        </p:nvSpPr>
        <p:spPr>
          <a:xfrm>
            <a:off x="4965192" y="2935224"/>
            <a:ext cx="35570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def total([%{type: :withdrawal,</a:t>
            </a:r>
          </a:p>
        </p:txBody>
      </p:sp>
      <p:sp>
        <p:nvSpPr>
          <p:cNvPr id="27" name="a2wd400_code26"/>
          <p:cNvSpPr txBox="1"/>
          <p:nvPr/>
        </p:nvSpPr>
        <p:spPr>
          <a:xfrm>
            <a:off x="4965192" y="3099815"/>
            <a:ext cx="35570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          amount: a} | rest], acc),</a:t>
            </a:r>
          </a:p>
        </p:txBody>
      </p:sp>
      <p:sp>
        <p:nvSpPr>
          <p:cNvPr id="28" name="a2wd450_code27"/>
          <p:cNvSpPr txBox="1"/>
          <p:nvPr/>
        </p:nvSpPr>
        <p:spPr>
          <a:xfrm>
            <a:off x="4965192" y="3264408"/>
            <a:ext cx="35570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do: total(rest, acc - a)</a:t>
            </a:r>
          </a:p>
        </p:txBody>
      </p:sp>
      <p:sp>
        <p:nvSpPr>
          <p:cNvPr id="29" name="a2wd500_code28"/>
          <p:cNvSpPr txBox="1"/>
          <p:nvPr/>
        </p:nvSpPr>
        <p:spPr>
          <a:xfrm>
            <a:off x="4965192" y="3429000"/>
            <a:ext cx="35570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Walk.sum([1, 2, 3])     #=&gt; 6</a:t>
            </a:r>
          </a:p>
        </p:txBody>
      </p:sp>
      <p:sp>
        <p:nvSpPr>
          <p:cNvPr id="30" name="a2wd550_code29"/>
          <p:cNvSpPr txBox="1"/>
          <p:nvPr/>
        </p:nvSpPr>
        <p:spPr>
          <a:xfrm>
            <a:off x="4965192" y="3593591"/>
            <a:ext cx="35570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Walk.total(txns, 0)     #=&gt; 1335</a:t>
            </a:r>
          </a:p>
        </p:txBody>
      </p:sp>
      <p:sp>
        <p:nvSpPr>
          <p:cNvPr id="31" name="a3f_nb30"/>
          <p:cNvSpPr/>
          <p:nvPr/>
        </p:nvSpPr>
        <p:spPr>
          <a:xfrm>
            <a:off x="457200" y="403250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3f_nacc31"/>
          <p:cNvSpPr/>
          <p:nvPr/>
        </p:nvSpPr>
        <p:spPr>
          <a:xfrm>
            <a:off x="457200" y="4032504"/>
            <a:ext cx="50292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3f_nt32"/>
          <p:cNvSpPr txBox="1"/>
          <p:nvPr/>
        </p:nvSpPr>
        <p:spPr>
          <a:xfrm>
            <a:off x="658368" y="4032504"/>
            <a:ext cx="78272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[] and [h | t] between them cover every proper list — two clauses, and the recursion has nowhere else to go. The head can also look INSIDE h: that is total/2 dispatching on type.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35" name="ft3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PATTERNS · MAPS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Maps and structs in patterns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map pattern is partial: it names the keys it needs and ignores the rest.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25880"/>
            <a:ext cx="4343400" cy="2514600"/>
          </a:xfrm>
          <a:prstGeom prst="roundRect">
            <a:avLst>
              <a:gd name="adj" fmla="val 290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80744"/>
            <a:ext cx="401421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64792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%{owner: owner} = acct      # "Ada"</a:t>
            </a:r>
          </a:p>
        </p:txBody>
      </p:sp>
      <p:sp>
        <p:nvSpPr>
          <p:cNvPr id="8" name="a1wd55_code7"/>
          <p:cNvSpPr txBox="1"/>
          <p:nvPr/>
        </p:nvSpPr>
        <p:spPr>
          <a:xfrm>
            <a:off x="621792" y="1938528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%{tier: t} = acct</a:t>
            </a:r>
          </a:p>
        </p:txBody>
      </p:sp>
      <p:sp>
        <p:nvSpPr>
          <p:cNvPr id="9" name="a1wd110_code8"/>
          <p:cNvSpPr txBox="1"/>
          <p:nvPr/>
        </p:nvSpPr>
        <p:spPr>
          <a:xfrm>
            <a:off x="621792" y="2112264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** (MatchError)   no :tier key</a:t>
            </a:r>
          </a:p>
        </p:txBody>
      </p:sp>
      <p:sp>
        <p:nvSpPr>
          <p:cNvPr id="10" name="a1wd165_code9"/>
          <p:cNvSpPr txBox="1"/>
          <p:nvPr/>
        </p:nvSpPr>
        <p:spPr>
          <a:xfrm>
            <a:off x="621792" y="2286000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match?(%{}, %{a: 1})        #=&gt; true  (!)</a:t>
            </a:r>
          </a:p>
        </p:txBody>
      </p:sp>
      <p:sp>
        <p:nvSpPr>
          <p:cNvPr id="11" name="a1wd220_code10"/>
          <p:cNvSpPr txBox="1"/>
          <p:nvPr/>
        </p:nvSpPr>
        <p:spPr>
          <a:xfrm>
            <a:off x="621792" y="2459736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k = :owner</a:t>
            </a:r>
          </a:p>
        </p:txBody>
      </p:sp>
      <p:sp>
        <p:nvSpPr>
          <p:cNvPr id="12" name="a1wd275_code11"/>
          <p:cNvSpPr txBox="1"/>
          <p:nvPr/>
        </p:nvSpPr>
        <p:spPr>
          <a:xfrm>
            <a:off x="621792" y="2633472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%{^k =&gt; who} = acct         # "Ada"</a:t>
            </a:r>
          </a:p>
        </p:txBody>
      </p:sp>
      <p:sp>
        <p:nvSpPr>
          <p:cNvPr id="13" name="a1wd330_code12"/>
          <p:cNvSpPr txBox="1"/>
          <p:nvPr/>
        </p:nvSpPr>
        <p:spPr>
          <a:xfrm>
            <a:off x="621792" y="2807208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%{k =&gt; v} = %{owner: "Ada"}</a:t>
            </a:r>
          </a:p>
        </p:txBody>
      </p:sp>
      <p:sp>
        <p:nvSpPr>
          <p:cNvPr id="14" name="a1wd385_code13"/>
          <p:cNvSpPr txBox="1"/>
          <p:nvPr/>
        </p:nvSpPr>
        <p:spPr>
          <a:xfrm>
            <a:off x="621792" y="2980944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error: cannot use variable k as map key</a:t>
            </a:r>
          </a:p>
        </p:txBody>
      </p:sp>
      <p:sp>
        <p:nvSpPr>
          <p:cNvPr id="15" name="a1wd440_code14"/>
          <p:cNvSpPr txBox="1"/>
          <p:nvPr/>
        </p:nvSpPr>
        <p:spPr>
          <a:xfrm>
            <a:off x="621792" y="3154680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inside a pattern. Map keys in patterns can</a:t>
            </a:r>
          </a:p>
        </p:txBody>
      </p:sp>
      <p:sp>
        <p:nvSpPr>
          <p:cNvPr id="16" name="a1wd495_code15"/>
          <p:cNvSpPr txBox="1"/>
          <p:nvPr/>
        </p:nvSpPr>
        <p:spPr>
          <a:xfrm>
            <a:off x="621792" y="3328415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only be literals ... or an existing variable</a:t>
            </a:r>
          </a:p>
        </p:txBody>
      </p:sp>
      <p:sp>
        <p:nvSpPr>
          <p:cNvPr id="17" name="a1wd550_code16"/>
          <p:cNvSpPr txBox="1"/>
          <p:nvPr/>
        </p:nvSpPr>
        <p:spPr>
          <a:xfrm>
            <a:off x="621792" y="3502152"/>
            <a:ext cx="4014215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matched with the pin operator</a:t>
            </a:r>
          </a:p>
        </p:txBody>
      </p:sp>
      <p:sp>
        <p:nvSpPr>
          <p:cNvPr id="18" name="a2f_codebg17"/>
          <p:cNvSpPr/>
          <p:nvPr/>
        </p:nvSpPr>
        <p:spPr>
          <a:xfrm>
            <a:off x="4983480" y="1325880"/>
            <a:ext cx="3703320" cy="2340863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f_codeh18"/>
          <p:cNvSpPr txBox="1"/>
          <p:nvPr/>
        </p:nvSpPr>
        <p:spPr>
          <a:xfrm>
            <a:off x="5148072" y="1380744"/>
            <a:ext cx="33741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structs</a:t>
            </a:r>
          </a:p>
        </p:txBody>
      </p:sp>
      <p:sp>
        <p:nvSpPr>
          <p:cNvPr id="20" name="a2w_code19"/>
          <p:cNvSpPr txBox="1"/>
          <p:nvPr/>
        </p:nvSpPr>
        <p:spPr>
          <a:xfrm>
            <a:off x="5148072" y="1764792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%Account{id: id} = %Account{id: "A-9"}</a:t>
            </a:r>
          </a:p>
        </p:txBody>
      </p:sp>
      <p:sp>
        <p:nvSpPr>
          <p:cNvPr id="21" name="a2wd55_code20"/>
          <p:cNvSpPr txBox="1"/>
          <p:nvPr/>
        </p:nvSpPr>
        <p:spPr>
          <a:xfrm>
            <a:off x="5148072" y="1938528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# id = "A-9"</a:t>
            </a:r>
          </a:p>
        </p:txBody>
      </p:sp>
      <p:sp>
        <p:nvSpPr>
          <p:cNvPr id="22" name="a2wd110_code21"/>
          <p:cNvSpPr txBox="1"/>
          <p:nvPr/>
        </p:nvSpPr>
        <p:spPr>
          <a:xfrm>
            <a:off x="5148072" y="2112264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def only(%Account{} = a), do: a.id</a:t>
            </a:r>
          </a:p>
        </p:txBody>
      </p:sp>
      <p:sp>
        <p:nvSpPr>
          <p:cNvPr id="23" name="a2wd165_code22"/>
          <p:cNvSpPr txBox="1"/>
          <p:nvPr/>
        </p:nvSpPr>
        <p:spPr>
          <a:xfrm>
            <a:off x="5148072" y="2286000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only(%{id: 1})</a:t>
            </a:r>
          </a:p>
        </p:txBody>
      </p:sp>
      <p:sp>
        <p:nvSpPr>
          <p:cNvPr id="24" name="a2wd220_code23"/>
          <p:cNvSpPr txBox="1"/>
          <p:nvPr/>
        </p:nvSpPr>
        <p:spPr>
          <a:xfrm>
            <a:off x="5148072" y="2459736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** (FunctionClauseError)</a:t>
            </a:r>
          </a:p>
        </p:txBody>
      </p:sp>
      <p:sp>
        <p:nvSpPr>
          <p:cNvPr id="25" name="a2wd275_code24"/>
          <p:cNvSpPr txBox="1"/>
          <p:nvPr/>
        </p:nvSpPr>
        <p:spPr>
          <a:xfrm>
            <a:off x="5148072" y="2633472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6" name="a2wd330_code25"/>
          <p:cNvSpPr txBox="1"/>
          <p:nvPr/>
        </p:nvSpPr>
        <p:spPr>
          <a:xfrm>
            <a:off x="5148072" y="2807208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%name{} = %Account{id: 1}</a:t>
            </a:r>
          </a:p>
        </p:txBody>
      </p:sp>
      <p:sp>
        <p:nvSpPr>
          <p:cNvPr id="27" name="a2wd385_code26"/>
          <p:cNvSpPr txBox="1"/>
          <p:nvPr/>
        </p:nvSpPr>
        <p:spPr>
          <a:xfrm>
            <a:off x="5148072" y="2980944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# name = Account</a:t>
            </a:r>
          </a:p>
        </p:txBody>
      </p:sp>
      <p:sp>
        <p:nvSpPr>
          <p:cNvPr id="28" name="a2wd440_code27"/>
          <p:cNvSpPr txBox="1"/>
          <p:nvPr/>
        </p:nvSpPr>
        <p:spPr>
          <a:xfrm>
            <a:off x="5148072" y="3154680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match?(%_{}, %{})     #=&gt; false</a:t>
            </a:r>
          </a:p>
        </p:txBody>
      </p:sp>
      <p:sp>
        <p:nvSpPr>
          <p:cNvPr id="29" name="a2wd495_code28"/>
          <p:cNvSpPr txBox="1"/>
          <p:nvPr/>
        </p:nvSpPr>
        <p:spPr>
          <a:xfrm>
            <a:off x="5148072" y="3328415"/>
            <a:ext cx="33741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match?(%_{}, 1..2)    #=&gt; true</a:t>
            </a:r>
          </a:p>
        </p:txBody>
      </p:sp>
      <p:sp>
        <p:nvSpPr>
          <p:cNvPr id="30" name="a3f_nb29"/>
          <p:cNvSpPr/>
          <p:nvPr/>
        </p:nvSpPr>
        <p:spPr>
          <a:xfrm>
            <a:off x="457200" y="3950208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3f_nacc30"/>
          <p:cNvSpPr/>
          <p:nvPr/>
        </p:nvSpPr>
        <p:spPr>
          <a:xfrm>
            <a:off x="457200" y="3950208"/>
            <a:ext cx="50292" cy="5120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3f_nt31"/>
          <p:cNvSpPr txBox="1"/>
          <p:nvPr/>
        </p:nvSpPr>
        <p:spPr>
          <a:xfrm>
            <a:off x="658368" y="3950208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%{} matches EVERY map, empty or not — to test for empty, guard on map_size(m) == 0. A struct pattern checks the struct's name, so a plain map with the same keys does not match. And 1..2 is a struct: %_{} says so.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PATTERNS · NESTED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Nested patterns, and the guards for collections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One clause per shape of response — the head does the parsing.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25880"/>
            <a:ext cx="4892040" cy="2802635"/>
          </a:xfrm>
          <a:prstGeom prst="roundRect">
            <a:avLst>
              <a:gd name="adj" fmla="val 261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80744"/>
            <a:ext cx="456285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64792"/>
            <a:ext cx="456285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def describe({:ok, %{status: 200,</a:t>
            </a:r>
          </a:p>
        </p:txBody>
      </p:sp>
      <p:sp>
        <p:nvSpPr>
          <p:cNvPr id="8" name="a1wd50_code7"/>
          <p:cNvSpPr txBox="1"/>
          <p:nvPr/>
        </p:nvSpPr>
        <p:spPr>
          <a:xfrm>
            <a:off x="621792" y="1933955"/>
            <a:ext cx="456285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    body: %{"items" =&gt; []}}}), do: :empty</a:t>
            </a:r>
          </a:p>
        </p:txBody>
      </p:sp>
      <p:sp>
        <p:nvSpPr>
          <p:cNvPr id="9" name="a1wd100_code8"/>
          <p:cNvSpPr txBox="1"/>
          <p:nvPr/>
        </p:nvSpPr>
        <p:spPr>
          <a:xfrm>
            <a:off x="621792" y="2103120"/>
            <a:ext cx="456285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def describe({:ok, %{status: 200,</a:t>
            </a:r>
          </a:p>
        </p:txBody>
      </p:sp>
      <p:sp>
        <p:nvSpPr>
          <p:cNvPr id="10" name="a1wd150_code9"/>
          <p:cNvSpPr txBox="1"/>
          <p:nvPr/>
        </p:nvSpPr>
        <p:spPr>
          <a:xfrm>
            <a:off x="621792" y="2272284"/>
            <a:ext cx="456285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    body: %{"items" =&gt; [first | _]}}}),</a:t>
            </a:r>
          </a:p>
        </p:txBody>
      </p:sp>
      <p:sp>
        <p:nvSpPr>
          <p:cNvPr id="11" name="a1wd200_code10"/>
          <p:cNvSpPr txBox="1"/>
          <p:nvPr/>
        </p:nvSpPr>
        <p:spPr>
          <a:xfrm>
            <a:off x="621792" y="2441448"/>
            <a:ext cx="456285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  do: {:first, first}</a:t>
            </a:r>
          </a:p>
        </p:txBody>
      </p:sp>
      <p:sp>
        <p:nvSpPr>
          <p:cNvPr id="12" name="a1wd250_code11"/>
          <p:cNvSpPr txBox="1"/>
          <p:nvPr/>
        </p:nvSpPr>
        <p:spPr>
          <a:xfrm>
            <a:off x="621792" y="2610612"/>
            <a:ext cx="456285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def describe({:ok, %{status: s}}) when s &gt;= 400,</a:t>
            </a:r>
          </a:p>
        </p:txBody>
      </p:sp>
      <p:sp>
        <p:nvSpPr>
          <p:cNvPr id="13" name="a1wd300_code12"/>
          <p:cNvSpPr txBox="1"/>
          <p:nvPr/>
        </p:nvSpPr>
        <p:spPr>
          <a:xfrm>
            <a:off x="621792" y="2779776"/>
            <a:ext cx="456285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  do: {:http_error, s}</a:t>
            </a:r>
          </a:p>
        </p:txBody>
      </p:sp>
      <p:sp>
        <p:nvSpPr>
          <p:cNvPr id="14" name="a1wd350_code13"/>
          <p:cNvSpPr txBox="1"/>
          <p:nvPr/>
        </p:nvSpPr>
        <p:spPr>
          <a:xfrm>
            <a:off x="621792" y="2948939"/>
            <a:ext cx="456285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def describe({:error, reason}), do: {:failed, reason}</a:t>
            </a:r>
          </a:p>
        </p:txBody>
      </p:sp>
      <p:sp>
        <p:nvSpPr>
          <p:cNvPr id="15" name="a1wd400_code14"/>
          <p:cNvSpPr txBox="1"/>
          <p:nvPr/>
        </p:nvSpPr>
        <p:spPr>
          <a:xfrm>
            <a:off x="621792" y="3118104"/>
            <a:ext cx="456285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6" name="a1wd450_code15"/>
          <p:cNvSpPr txBox="1"/>
          <p:nvPr/>
        </p:nvSpPr>
        <p:spPr>
          <a:xfrm>
            <a:off x="621792" y="3287268"/>
            <a:ext cx="456285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items []            #=&gt; :empty</a:t>
            </a:r>
          </a:p>
        </p:txBody>
      </p:sp>
      <p:sp>
        <p:nvSpPr>
          <p:cNvPr id="17" name="a1wd500_code16"/>
          <p:cNvSpPr txBox="1"/>
          <p:nvPr/>
        </p:nvSpPr>
        <p:spPr>
          <a:xfrm>
            <a:off x="621792" y="3456432"/>
            <a:ext cx="456285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items ["X1", "Y2"]  #=&gt; {:first, "X1"}</a:t>
            </a:r>
          </a:p>
        </p:txBody>
      </p:sp>
      <p:sp>
        <p:nvSpPr>
          <p:cNvPr id="18" name="a1wd550_code17"/>
          <p:cNvSpPr txBox="1"/>
          <p:nvPr/>
        </p:nvSpPr>
        <p:spPr>
          <a:xfrm>
            <a:off x="621792" y="3625596"/>
            <a:ext cx="456285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%{status: 503}      #=&gt; {:http_error, 503}</a:t>
            </a:r>
          </a:p>
        </p:txBody>
      </p:sp>
      <p:sp>
        <p:nvSpPr>
          <p:cNvPr id="19" name="a1wd600_code18"/>
          <p:cNvSpPr txBox="1"/>
          <p:nvPr/>
        </p:nvSpPr>
        <p:spPr>
          <a:xfrm>
            <a:off x="621792" y="3794759"/>
            <a:ext cx="4562855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{:error, :timeout}  #=&gt; {:failed, :timeout}</a:t>
            </a:r>
          </a:p>
        </p:txBody>
      </p:sp>
      <p:sp>
        <p:nvSpPr>
          <p:cNvPr id="20" name="a2f_th19"/>
          <p:cNvSpPr/>
          <p:nvPr/>
        </p:nvSpPr>
        <p:spPr>
          <a:xfrm>
            <a:off x="5532120" y="1325880"/>
            <a:ext cx="169164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f_tht20"/>
          <p:cNvSpPr txBox="1"/>
          <p:nvPr/>
        </p:nvSpPr>
        <p:spPr>
          <a:xfrm>
            <a:off x="5605272" y="1325880"/>
            <a:ext cx="15819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ourier New"/>
              </a:rPr>
              <a:t>Guard</a:t>
            </a:r>
          </a:p>
        </p:txBody>
      </p:sp>
      <p:sp>
        <p:nvSpPr>
          <p:cNvPr id="22" name="a2wd100_td21"/>
          <p:cNvSpPr/>
          <p:nvPr/>
        </p:nvSpPr>
        <p:spPr>
          <a:xfrm>
            <a:off x="5532120" y="1655064"/>
            <a:ext cx="1691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wd100_tdt22"/>
          <p:cNvSpPr txBox="1"/>
          <p:nvPr/>
        </p:nvSpPr>
        <p:spPr>
          <a:xfrm>
            <a:off x="5605272" y="1655064"/>
            <a:ext cx="15819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is_list is_map is_tuple</a:t>
            </a:r>
          </a:p>
        </p:txBody>
      </p:sp>
      <p:sp>
        <p:nvSpPr>
          <p:cNvPr id="24" name="a2wd200_td23"/>
          <p:cNvSpPr/>
          <p:nvPr/>
        </p:nvSpPr>
        <p:spPr>
          <a:xfrm>
            <a:off x="5532120" y="1984248"/>
            <a:ext cx="1691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wd200_tdt24"/>
          <p:cNvSpPr txBox="1"/>
          <p:nvPr/>
        </p:nvSpPr>
        <p:spPr>
          <a:xfrm>
            <a:off x="5605272" y="1984248"/>
            <a:ext cx="15819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map_size(m) == 0</a:t>
            </a:r>
          </a:p>
        </p:txBody>
      </p:sp>
      <p:sp>
        <p:nvSpPr>
          <p:cNvPr id="26" name="a2wd300_td25"/>
          <p:cNvSpPr/>
          <p:nvPr/>
        </p:nvSpPr>
        <p:spPr>
          <a:xfrm>
            <a:off x="5532120" y="2313432"/>
            <a:ext cx="1691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wd300_tdt26"/>
          <p:cNvSpPr txBox="1"/>
          <p:nvPr/>
        </p:nvSpPr>
        <p:spPr>
          <a:xfrm>
            <a:off x="5605272" y="2313432"/>
            <a:ext cx="15819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tuple_size(t) == 2</a:t>
            </a:r>
          </a:p>
        </p:txBody>
      </p:sp>
      <p:sp>
        <p:nvSpPr>
          <p:cNvPr id="28" name="a2wd400_td27"/>
          <p:cNvSpPr/>
          <p:nvPr/>
        </p:nvSpPr>
        <p:spPr>
          <a:xfrm>
            <a:off x="5532120" y="2642615"/>
            <a:ext cx="1691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wd400_tdt28"/>
          <p:cNvSpPr txBox="1"/>
          <p:nvPr/>
        </p:nvSpPr>
        <p:spPr>
          <a:xfrm>
            <a:off x="5605272" y="2642615"/>
            <a:ext cx="15819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is_map_key(m, :k)</a:t>
            </a:r>
          </a:p>
        </p:txBody>
      </p:sp>
      <p:sp>
        <p:nvSpPr>
          <p:cNvPr id="30" name="a2wd500_td29"/>
          <p:cNvSpPr/>
          <p:nvPr/>
        </p:nvSpPr>
        <p:spPr>
          <a:xfrm>
            <a:off x="5532120" y="2971800"/>
            <a:ext cx="1691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2wd500_tdt30"/>
          <p:cNvSpPr txBox="1"/>
          <p:nvPr/>
        </p:nvSpPr>
        <p:spPr>
          <a:xfrm>
            <a:off x="5605272" y="2971800"/>
            <a:ext cx="15819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x in [1, 2, 3]</a:t>
            </a:r>
          </a:p>
        </p:txBody>
      </p:sp>
      <p:sp>
        <p:nvSpPr>
          <p:cNvPr id="32" name="a2wd600_td31"/>
          <p:cNvSpPr/>
          <p:nvPr/>
        </p:nvSpPr>
        <p:spPr>
          <a:xfrm>
            <a:off x="5532120" y="3300984"/>
            <a:ext cx="1691640" cy="329184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2wd600_tdt32"/>
          <p:cNvSpPr txBox="1"/>
          <p:nvPr/>
        </p:nvSpPr>
        <p:spPr>
          <a:xfrm>
            <a:off x="5605272" y="3300984"/>
            <a:ext cx="15819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length(l) &gt; 0</a:t>
            </a:r>
          </a:p>
        </p:txBody>
      </p:sp>
      <p:sp>
        <p:nvSpPr>
          <p:cNvPr id="34" name="a2f_th33"/>
          <p:cNvSpPr/>
          <p:nvPr/>
        </p:nvSpPr>
        <p:spPr>
          <a:xfrm>
            <a:off x="7223760" y="1325880"/>
            <a:ext cx="146304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2f_tht34"/>
          <p:cNvSpPr txBox="1"/>
          <p:nvPr/>
        </p:nvSpPr>
        <p:spPr>
          <a:xfrm>
            <a:off x="7296912" y="1325880"/>
            <a:ext cx="13533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36" name="a2wd100_td35"/>
          <p:cNvSpPr/>
          <p:nvPr/>
        </p:nvSpPr>
        <p:spPr>
          <a:xfrm>
            <a:off x="7223760" y="1655064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2wd100_tdt36"/>
          <p:cNvSpPr txBox="1"/>
          <p:nvPr/>
        </p:nvSpPr>
        <p:spPr>
          <a:xfrm>
            <a:off x="7296912" y="1655064"/>
            <a:ext cx="13533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the type</a:t>
            </a:r>
          </a:p>
        </p:txBody>
      </p:sp>
      <p:sp>
        <p:nvSpPr>
          <p:cNvPr id="38" name="a2wd200_td37"/>
          <p:cNvSpPr/>
          <p:nvPr/>
        </p:nvSpPr>
        <p:spPr>
          <a:xfrm>
            <a:off x="7223760" y="1984248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2wd200_tdt38"/>
          <p:cNvSpPr txBox="1"/>
          <p:nvPr/>
        </p:nvSpPr>
        <p:spPr>
          <a:xfrm>
            <a:off x="7296912" y="1984248"/>
            <a:ext cx="13533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empty map</a:t>
            </a:r>
          </a:p>
        </p:txBody>
      </p:sp>
      <p:sp>
        <p:nvSpPr>
          <p:cNvPr id="40" name="a2wd300_td39"/>
          <p:cNvSpPr/>
          <p:nvPr/>
        </p:nvSpPr>
        <p:spPr>
          <a:xfrm>
            <a:off x="7223760" y="2313432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2wd300_tdt40"/>
          <p:cNvSpPr txBox="1"/>
          <p:nvPr/>
        </p:nvSpPr>
        <p:spPr>
          <a:xfrm>
            <a:off x="7296912" y="2313432"/>
            <a:ext cx="13533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a pair</a:t>
            </a:r>
          </a:p>
        </p:txBody>
      </p:sp>
      <p:sp>
        <p:nvSpPr>
          <p:cNvPr id="42" name="a2wd400_td41"/>
          <p:cNvSpPr/>
          <p:nvPr/>
        </p:nvSpPr>
        <p:spPr>
          <a:xfrm>
            <a:off x="7223760" y="2642615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2wd400_tdt42"/>
          <p:cNvSpPr txBox="1"/>
          <p:nvPr/>
        </p:nvSpPr>
        <p:spPr>
          <a:xfrm>
            <a:off x="7296912" y="2642615"/>
            <a:ext cx="13533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key present</a:t>
            </a:r>
          </a:p>
        </p:txBody>
      </p:sp>
      <p:sp>
        <p:nvSpPr>
          <p:cNvPr id="44" name="a2wd500_td43"/>
          <p:cNvSpPr/>
          <p:nvPr/>
        </p:nvSpPr>
        <p:spPr>
          <a:xfrm>
            <a:off x="7223760" y="2971800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2wd500_tdt44"/>
          <p:cNvSpPr txBox="1"/>
          <p:nvPr/>
        </p:nvSpPr>
        <p:spPr>
          <a:xfrm>
            <a:off x="7296912" y="2971800"/>
            <a:ext cx="13533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literal list</a:t>
            </a:r>
          </a:p>
        </p:txBody>
      </p:sp>
      <p:sp>
        <p:nvSpPr>
          <p:cNvPr id="46" name="a2wd600_td45"/>
          <p:cNvSpPr/>
          <p:nvPr/>
        </p:nvSpPr>
        <p:spPr>
          <a:xfrm>
            <a:off x="7223760" y="3300984"/>
            <a:ext cx="1463040" cy="329184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2wd600_tdt46"/>
          <p:cNvSpPr txBox="1"/>
          <p:nvPr/>
        </p:nvSpPr>
        <p:spPr>
          <a:xfrm>
            <a:off x="7296912" y="3300984"/>
            <a:ext cx="13533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legal, but O(n)</a:t>
            </a:r>
          </a:p>
        </p:txBody>
      </p:sp>
      <p:sp>
        <p:nvSpPr>
          <p:cNvPr id="48" name="ft4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49" name="ft4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</p:bld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08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Choosing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Measured on this machine.
The ratios are the lesson, not the numbers.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lookup by key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add one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which one?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CHOOSING · LOOKUP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Lookup by key: keyword list or map?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One lookup of the LAST key, n keys, loop overhead subtracted.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25880"/>
            <a:ext cx="1188720" cy="3108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tht5"/>
          <p:cNvSpPr txBox="1"/>
          <p:nvPr/>
        </p:nvSpPr>
        <p:spPr>
          <a:xfrm>
            <a:off x="530352" y="1325880"/>
            <a:ext cx="10789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n keys</a:t>
            </a:r>
          </a:p>
        </p:txBody>
      </p:sp>
      <p:sp>
        <p:nvSpPr>
          <p:cNvPr id="7" name="a1wd110_td6"/>
          <p:cNvSpPr/>
          <p:nvPr/>
        </p:nvSpPr>
        <p:spPr>
          <a:xfrm>
            <a:off x="457200" y="1636776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d110_tdt7"/>
          <p:cNvSpPr txBox="1"/>
          <p:nvPr/>
        </p:nvSpPr>
        <p:spPr>
          <a:xfrm>
            <a:off x="530352" y="1636776"/>
            <a:ext cx="10789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5</a:t>
            </a:r>
          </a:p>
        </p:txBody>
      </p:sp>
      <p:sp>
        <p:nvSpPr>
          <p:cNvPr id="9" name="a1wd220_td8"/>
          <p:cNvSpPr/>
          <p:nvPr/>
        </p:nvSpPr>
        <p:spPr>
          <a:xfrm>
            <a:off x="457200" y="194767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wd220_tdt9"/>
          <p:cNvSpPr txBox="1"/>
          <p:nvPr/>
        </p:nvSpPr>
        <p:spPr>
          <a:xfrm>
            <a:off x="530352" y="1947672"/>
            <a:ext cx="10789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10</a:t>
            </a:r>
          </a:p>
        </p:txBody>
      </p:sp>
      <p:sp>
        <p:nvSpPr>
          <p:cNvPr id="11" name="a1wd330_td10"/>
          <p:cNvSpPr/>
          <p:nvPr/>
        </p:nvSpPr>
        <p:spPr>
          <a:xfrm>
            <a:off x="457200" y="2258568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wd330_tdt11"/>
          <p:cNvSpPr txBox="1"/>
          <p:nvPr/>
        </p:nvSpPr>
        <p:spPr>
          <a:xfrm>
            <a:off x="530352" y="2258568"/>
            <a:ext cx="10789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32</a:t>
            </a:r>
          </a:p>
        </p:txBody>
      </p:sp>
      <p:sp>
        <p:nvSpPr>
          <p:cNvPr id="13" name="a1wd440_td12"/>
          <p:cNvSpPr/>
          <p:nvPr/>
        </p:nvSpPr>
        <p:spPr>
          <a:xfrm>
            <a:off x="457200" y="2569464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440_tdt13"/>
          <p:cNvSpPr txBox="1"/>
          <p:nvPr/>
        </p:nvSpPr>
        <p:spPr>
          <a:xfrm>
            <a:off x="530352" y="2569464"/>
            <a:ext cx="10789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100</a:t>
            </a:r>
          </a:p>
        </p:txBody>
      </p:sp>
      <p:sp>
        <p:nvSpPr>
          <p:cNvPr id="15" name="a1wd550_td14"/>
          <p:cNvSpPr/>
          <p:nvPr/>
        </p:nvSpPr>
        <p:spPr>
          <a:xfrm>
            <a:off x="457200" y="2880360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550_tdt15"/>
          <p:cNvSpPr txBox="1"/>
          <p:nvPr/>
        </p:nvSpPr>
        <p:spPr>
          <a:xfrm>
            <a:off x="530352" y="2880360"/>
            <a:ext cx="10789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1,000</a:t>
            </a:r>
          </a:p>
        </p:txBody>
      </p:sp>
      <p:sp>
        <p:nvSpPr>
          <p:cNvPr id="17" name="a1wd660_td16"/>
          <p:cNvSpPr/>
          <p:nvPr/>
        </p:nvSpPr>
        <p:spPr>
          <a:xfrm>
            <a:off x="457200" y="3191256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660_tdt17"/>
          <p:cNvSpPr txBox="1"/>
          <p:nvPr/>
        </p:nvSpPr>
        <p:spPr>
          <a:xfrm>
            <a:off x="530352" y="3191256"/>
            <a:ext cx="10789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10,000</a:t>
            </a:r>
          </a:p>
        </p:txBody>
      </p:sp>
      <p:sp>
        <p:nvSpPr>
          <p:cNvPr id="19" name="a1f_th18"/>
          <p:cNvSpPr/>
          <p:nvPr/>
        </p:nvSpPr>
        <p:spPr>
          <a:xfrm>
            <a:off x="1645920" y="1325880"/>
            <a:ext cx="1920240" cy="3108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f_tht19"/>
          <p:cNvSpPr txBox="1"/>
          <p:nvPr/>
        </p:nvSpPr>
        <p:spPr>
          <a:xfrm>
            <a:off x="1719072" y="1325880"/>
            <a:ext cx="1810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Keyword.get/2</a:t>
            </a:r>
          </a:p>
        </p:txBody>
      </p:sp>
      <p:sp>
        <p:nvSpPr>
          <p:cNvPr id="21" name="a1wd110_td20"/>
          <p:cNvSpPr/>
          <p:nvPr/>
        </p:nvSpPr>
        <p:spPr>
          <a:xfrm>
            <a:off x="1645920" y="1636776"/>
            <a:ext cx="1920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110_tdt21"/>
          <p:cNvSpPr txBox="1"/>
          <p:nvPr/>
        </p:nvSpPr>
        <p:spPr>
          <a:xfrm>
            <a:off x="1719072" y="1636776"/>
            <a:ext cx="1810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26.2 ns</a:t>
            </a:r>
          </a:p>
        </p:txBody>
      </p:sp>
      <p:sp>
        <p:nvSpPr>
          <p:cNvPr id="23" name="a1wd220_td22"/>
          <p:cNvSpPr/>
          <p:nvPr/>
        </p:nvSpPr>
        <p:spPr>
          <a:xfrm>
            <a:off x="1645920" y="1947672"/>
            <a:ext cx="1920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wd220_tdt23"/>
          <p:cNvSpPr txBox="1"/>
          <p:nvPr/>
        </p:nvSpPr>
        <p:spPr>
          <a:xfrm>
            <a:off x="1719072" y="1947672"/>
            <a:ext cx="1810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28.5 ns</a:t>
            </a:r>
          </a:p>
        </p:txBody>
      </p:sp>
      <p:sp>
        <p:nvSpPr>
          <p:cNvPr id="25" name="a1wd330_td24"/>
          <p:cNvSpPr/>
          <p:nvPr/>
        </p:nvSpPr>
        <p:spPr>
          <a:xfrm>
            <a:off x="1645920" y="2258568"/>
            <a:ext cx="1920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wd330_tdt25"/>
          <p:cNvSpPr txBox="1"/>
          <p:nvPr/>
        </p:nvSpPr>
        <p:spPr>
          <a:xfrm>
            <a:off x="1719072" y="2258568"/>
            <a:ext cx="1810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73.9 ns</a:t>
            </a:r>
          </a:p>
        </p:txBody>
      </p:sp>
      <p:sp>
        <p:nvSpPr>
          <p:cNvPr id="27" name="a1wd440_td26"/>
          <p:cNvSpPr/>
          <p:nvPr/>
        </p:nvSpPr>
        <p:spPr>
          <a:xfrm>
            <a:off x="1645920" y="2569464"/>
            <a:ext cx="1920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440_tdt27"/>
          <p:cNvSpPr txBox="1"/>
          <p:nvPr/>
        </p:nvSpPr>
        <p:spPr>
          <a:xfrm>
            <a:off x="1719072" y="2569464"/>
            <a:ext cx="1810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217.3 ns</a:t>
            </a:r>
          </a:p>
        </p:txBody>
      </p:sp>
      <p:sp>
        <p:nvSpPr>
          <p:cNvPr id="29" name="a1wd550_td28"/>
          <p:cNvSpPr/>
          <p:nvPr/>
        </p:nvSpPr>
        <p:spPr>
          <a:xfrm>
            <a:off x="1645920" y="2880360"/>
            <a:ext cx="1920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wd550_tdt29"/>
          <p:cNvSpPr txBox="1"/>
          <p:nvPr/>
        </p:nvSpPr>
        <p:spPr>
          <a:xfrm>
            <a:off x="1719072" y="2880360"/>
            <a:ext cx="1810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1.97 µs</a:t>
            </a:r>
          </a:p>
        </p:txBody>
      </p:sp>
      <p:sp>
        <p:nvSpPr>
          <p:cNvPr id="31" name="a1wd660_td30"/>
          <p:cNvSpPr/>
          <p:nvPr/>
        </p:nvSpPr>
        <p:spPr>
          <a:xfrm>
            <a:off x="1645920" y="3191256"/>
            <a:ext cx="1920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660_tdt31"/>
          <p:cNvSpPr txBox="1"/>
          <p:nvPr/>
        </p:nvSpPr>
        <p:spPr>
          <a:xfrm>
            <a:off x="1719072" y="3191256"/>
            <a:ext cx="1810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19.23 µs</a:t>
            </a:r>
          </a:p>
        </p:txBody>
      </p:sp>
      <p:sp>
        <p:nvSpPr>
          <p:cNvPr id="33" name="a1f_th32"/>
          <p:cNvSpPr/>
          <p:nvPr/>
        </p:nvSpPr>
        <p:spPr>
          <a:xfrm>
            <a:off x="3566160" y="1325880"/>
            <a:ext cx="1645920" cy="3108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f_tht33"/>
          <p:cNvSpPr txBox="1"/>
          <p:nvPr/>
        </p:nvSpPr>
        <p:spPr>
          <a:xfrm>
            <a:off x="3639312" y="1325880"/>
            <a:ext cx="15361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Map.get/2</a:t>
            </a:r>
          </a:p>
        </p:txBody>
      </p:sp>
      <p:sp>
        <p:nvSpPr>
          <p:cNvPr id="35" name="a1wd110_td34"/>
          <p:cNvSpPr/>
          <p:nvPr/>
        </p:nvSpPr>
        <p:spPr>
          <a:xfrm>
            <a:off x="3566160" y="1636776"/>
            <a:ext cx="1645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1wd110_tdt35"/>
          <p:cNvSpPr txBox="1"/>
          <p:nvPr/>
        </p:nvSpPr>
        <p:spPr>
          <a:xfrm>
            <a:off x="3639312" y="1636776"/>
            <a:ext cx="15361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4.5 ns</a:t>
            </a:r>
          </a:p>
        </p:txBody>
      </p:sp>
      <p:sp>
        <p:nvSpPr>
          <p:cNvPr id="37" name="a1wd220_td36"/>
          <p:cNvSpPr/>
          <p:nvPr/>
        </p:nvSpPr>
        <p:spPr>
          <a:xfrm>
            <a:off x="3566160" y="1947672"/>
            <a:ext cx="1645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1wd220_tdt37"/>
          <p:cNvSpPr txBox="1"/>
          <p:nvPr/>
        </p:nvSpPr>
        <p:spPr>
          <a:xfrm>
            <a:off x="3639312" y="1947672"/>
            <a:ext cx="15361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4.1 ns</a:t>
            </a:r>
          </a:p>
        </p:txBody>
      </p:sp>
      <p:sp>
        <p:nvSpPr>
          <p:cNvPr id="39" name="a1wd330_td38"/>
          <p:cNvSpPr/>
          <p:nvPr/>
        </p:nvSpPr>
        <p:spPr>
          <a:xfrm>
            <a:off x="3566160" y="2258568"/>
            <a:ext cx="1645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1wd330_tdt39"/>
          <p:cNvSpPr txBox="1"/>
          <p:nvPr/>
        </p:nvSpPr>
        <p:spPr>
          <a:xfrm>
            <a:off x="3639312" y="2258568"/>
            <a:ext cx="15361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4.3 ns</a:t>
            </a:r>
          </a:p>
        </p:txBody>
      </p:sp>
      <p:sp>
        <p:nvSpPr>
          <p:cNvPr id="41" name="a1wd440_td40"/>
          <p:cNvSpPr/>
          <p:nvPr/>
        </p:nvSpPr>
        <p:spPr>
          <a:xfrm>
            <a:off x="3566160" y="2569464"/>
            <a:ext cx="1645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1wd440_tdt41"/>
          <p:cNvSpPr txBox="1"/>
          <p:nvPr/>
        </p:nvSpPr>
        <p:spPr>
          <a:xfrm>
            <a:off x="3639312" y="2569464"/>
            <a:ext cx="15361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7.6 ns</a:t>
            </a:r>
          </a:p>
        </p:txBody>
      </p:sp>
      <p:sp>
        <p:nvSpPr>
          <p:cNvPr id="43" name="a1wd550_td42"/>
          <p:cNvSpPr/>
          <p:nvPr/>
        </p:nvSpPr>
        <p:spPr>
          <a:xfrm>
            <a:off x="3566160" y="2880360"/>
            <a:ext cx="1645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1wd550_tdt43"/>
          <p:cNvSpPr txBox="1"/>
          <p:nvPr/>
        </p:nvSpPr>
        <p:spPr>
          <a:xfrm>
            <a:off x="3639312" y="2880360"/>
            <a:ext cx="15361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8.6 ns</a:t>
            </a:r>
          </a:p>
        </p:txBody>
      </p:sp>
      <p:sp>
        <p:nvSpPr>
          <p:cNvPr id="45" name="a1wd660_td44"/>
          <p:cNvSpPr/>
          <p:nvPr/>
        </p:nvSpPr>
        <p:spPr>
          <a:xfrm>
            <a:off x="3566160" y="3191256"/>
            <a:ext cx="1645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1wd660_tdt45"/>
          <p:cNvSpPr txBox="1"/>
          <p:nvPr/>
        </p:nvSpPr>
        <p:spPr>
          <a:xfrm>
            <a:off x="3639312" y="3191256"/>
            <a:ext cx="15361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9.6 ns</a:t>
            </a:r>
          </a:p>
        </p:txBody>
      </p:sp>
      <p:sp>
        <p:nvSpPr>
          <p:cNvPr id="47" name="a2u_dot46"/>
          <p:cNvSpPr/>
          <p:nvPr/>
        </p:nvSpPr>
        <p:spPr>
          <a:xfrm>
            <a:off x="5440680" y="146304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2u_b47"/>
          <p:cNvSpPr txBox="1"/>
          <p:nvPr/>
        </p:nvSpPr>
        <p:spPr>
          <a:xfrm>
            <a:off x="5660136" y="1362456"/>
            <a:ext cx="3026663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The map wins at every size  </a:t>
            </a:r>
            <a:r>
              <a:rPr sz="1050" b="0">
                <a:solidFill>
                  <a:srgbClr val="334155"/>
                </a:solidFill>
                <a:latin typeface="Calibri"/>
              </a:rPr>
              <a:t>flat to 32 keys, a tree above; it barely notices n</a:t>
            </a:r>
          </a:p>
        </p:txBody>
      </p:sp>
      <p:sp>
        <p:nvSpPr>
          <p:cNvPr id="49" name="a2ud180_dot48"/>
          <p:cNvSpPr/>
          <p:nvPr/>
        </p:nvSpPr>
        <p:spPr>
          <a:xfrm>
            <a:off x="5440680" y="212140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2ud180_b49"/>
          <p:cNvSpPr txBox="1"/>
          <p:nvPr/>
        </p:nvSpPr>
        <p:spPr>
          <a:xfrm>
            <a:off x="5660136" y="2020824"/>
            <a:ext cx="3026663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The keyword list walks  </a:t>
            </a:r>
            <a:r>
              <a:rPr sz="1050" b="0">
                <a:solidFill>
                  <a:srgbClr val="334155"/>
                </a:solidFill>
                <a:latin typeface="Calibri"/>
              </a:rPr>
              <a:t>about 2 ns per key it passes — linear, as a list must be</a:t>
            </a:r>
          </a:p>
        </p:txBody>
      </p:sp>
      <p:sp>
        <p:nvSpPr>
          <p:cNvPr id="51" name="a2ud360_dot50"/>
          <p:cNvSpPr/>
          <p:nvPr/>
        </p:nvSpPr>
        <p:spPr>
          <a:xfrm>
            <a:off x="5440680" y="277977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2ud360_b51"/>
          <p:cNvSpPr txBox="1"/>
          <p:nvPr/>
        </p:nvSpPr>
        <p:spPr>
          <a:xfrm>
            <a:off x="5660136" y="2679192"/>
            <a:ext cx="3026663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26 ns for five options is nothing  </a:t>
            </a:r>
            <a:r>
              <a:rPr sz="1050" b="0">
                <a:solidFill>
                  <a:srgbClr val="334155"/>
                </a:solidFill>
                <a:latin typeface="Calibri"/>
              </a:rPr>
              <a:t>keep keyword lists for options: order, repeats, syntax</a:t>
            </a:r>
          </a:p>
        </p:txBody>
      </p:sp>
      <p:sp>
        <p:nvSpPr>
          <p:cNvPr id="53" name="a2ud540_dot52"/>
          <p:cNvSpPr/>
          <p:nvPr/>
        </p:nvSpPr>
        <p:spPr>
          <a:xfrm>
            <a:off x="5440680" y="3438144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2ud540_b53"/>
          <p:cNvSpPr txBox="1"/>
          <p:nvPr/>
        </p:nvSpPr>
        <p:spPr>
          <a:xfrm>
            <a:off x="5660136" y="3337560"/>
            <a:ext cx="3026663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Data you look up by key is a map 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moment it grows, the choice is made for you</a:t>
            </a:r>
          </a:p>
        </p:txBody>
      </p:sp>
      <p:sp>
        <p:nvSpPr>
          <p:cNvPr id="55" name="ft5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56" name="ft5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" presetClass="entr" presetSubtype="4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CHOOSING · COST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each operation costs, measured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n = 100 against n = 10,000. Look at the last column, not the nanoseconds.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07592"/>
            <a:ext cx="2651760" cy="301752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tht5"/>
          <p:cNvSpPr txBox="1"/>
          <p:nvPr/>
        </p:nvSpPr>
        <p:spPr>
          <a:xfrm>
            <a:off x="530352" y="1307592"/>
            <a:ext cx="254203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Operation</a:t>
            </a:r>
          </a:p>
        </p:txBody>
      </p:sp>
      <p:sp>
        <p:nvSpPr>
          <p:cNvPr id="7" name="a1wd90_td6"/>
          <p:cNvSpPr/>
          <p:nvPr/>
        </p:nvSpPr>
        <p:spPr>
          <a:xfrm>
            <a:off x="457200" y="1609344"/>
            <a:ext cx="2651760" cy="301752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d90_tdt7"/>
          <p:cNvSpPr txBox="1"/>
          <p:nvPr/>
        </p:nvSpPr>
        <p:spPr>
          <a:xfrm>
            <a:off x="530352" y="1609344"/>
            <a:ext cx="254203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[x | list]</a:t>
            </a:r>
          </a:p>
        </p:txBody>
      </p:sp>
      <p:sp>
        <p:nvSpPr>
          <p:cNvPr id="9" name="a1wd180_td8"/>
          <p:cNvSpPr/>
          <p:nvPr/>
        </p:nvSpPr>
        <p:spPr>
          <a:xfrm>
            <a:off x="457200" y="1911095"/>
            <a:ext cx="2651760" cy="301752"/>
          </a:xfrm>
          <a:prstGeom prst="rect">
            <a:avLst/>
          </a:prstGeom>
          <a:solidFill>
            <a:srgbClr val="FCE8ED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wd180_tdt9"/>
          <p:cNvSpPr txBox="1"/>
          <p:nvPr/>
        </p:nvSpPr>
        <p:spPr>
          <a:xfrm>
            <a:off x="530352" y="1911095"/>
            <a:ext cx="254203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list ++ [x]</a:t>
            </a:r>
          </a:p>
        </p:txBody>
      </p:sp>
      <p:sp>
        <p:nvSpPr>
          <p:cNvPr id="11" name="a1wd270_td10"/>
          <p:cNvSpPr/>
          <p:nvPr/>
        </p:nvSpPr>
        <p:spPr>
          <a:xfrm>
            <a:off x="457200" y="2212848"/>
            <a:ext cx="2651760" cy="301752"/>
          </a:xfrm>
          <a:prstGeom prst="rect">
            <a:avLst/>
          </a:prstGeom>
          <a:solidFill>
            <a:srgbClr val="FCE8ED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wd270_tdt11"/>
          <p:cNvSpPr txBox="1"/>
          <p:nvPr/>
        </p:nvSpPr>
        <p:spPr>
          <a:xfrm>
            <a:off x="530352" y="2212848"/>
            <a:ext cx="254203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Tuple.insert_at(t, n, x)</a:t>
            </a:r>
          </a:p>
        </p:txBody>
      </p:sp>
      <p:sp>
        <p:nvSpPr>
          <p:cNvPr id="13" name="a1wd360_td12"/>
          <p:cNvSpPr/>
          <p:nvPr/>
        </p:nvSpPr>
        <p:spPr>
          <a:xfrm>
            <a:off x="457200" y="2514600"/>
            <a:ext cx="26517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360_tdt13"/>
          <p:cNvSpPr txBox="1"/>
          <p:nvPr/>
        </p:nvSpPr>
        <p:spPr>
          <a:xfrm>
            <a:off x="530352" y="2514600"/>
            <a:ext cx="254203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Map.put(m, k, v)</a:t>
            </a:r>
          </a:p>
        </p:txBody>
      </p:sp>
      <p:sp>
        <p:nvSpPr>
          <p:cNvPr id="15" name="a1wd450_td14"/>
          <p:cNvSpPr/>
          <p:nvPr/>
        </p:nvSpPr>
        <p:spPr>
          <a:xfrm>
            <a:off x="457200" y="2816352"/>
            <a:ext cx="26517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450_tdt15"/>
          <p:cNvSpPr txBox="1"/>
          <p:nvPr/>
        </p:nvSpPr>
        <p:spPr>
          <a:xfrm>
            <a:off x="530352" y="2816352"/>
            <a:ext cx="254203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MapSet.put(s, x)</a:t>
            </a:r>
          </a:p>
        </p:txBody>
      </p:sp>
      <p:sp>
        <p:nvSpPr>
          <p:cNvPr id="17" name="a1wd540_td16"/>
          <p:cNvSpPr/>
          <p:nvPr/>
        </p:nvSpPr>
        <p:spPr>
          <a:xfrm>
            <a:off x="457200" y="3118104"/>
            <a:ext cx="2651760" cy="301752"/>
          </a:xfrm>
          <a:prstGeom prst="rect">
            <a:avLst/>
          </a:prstGeom>
          <a:solidFill>
            <a:srgbClr val="FCE8ED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540_tdt17"/>
          <p:cNvSpPr txBox="1"/>
          <p:nvPr/>
        </p:nvSpPr>
        <p:spPr>
          <a:xfrm>
            <a:off x="530352" y="3118104"/>
            <a:ext cx="254203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Enum.at(list, n/2)</a:t>
            </a:r>
          </a:p>
        </p:txBody>
      </p:sp>
      <p:sp>
        <p:nvSpPr>
          <p:cNvPr id="19" name="a1wd630_td18"/>
          <p:cNvSpPr/>
          <p:nvPr/>
        </p:nvSpPr>
        <p:spPr>
          <a:xfrm>
            <a:off x="457200" y="3419856"/>
            <a:ext cx="2651760" cy="301752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wd630_tdt19"/>
          <p:cNvSpPr txBox="1"/>
          <p:nvPr/>
        </p:nvSpPr>
        <p:spPr>
          <a:xfrm>
            <a:off x="530352" y="3419856"/>
            <a:ext cx="254203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elem(tuple, n/2)</a:t>
            </a:r>
          </a:p>
        </p:txBody>
      </p:sp>
      <p:sp>
        <p:nvSpPr>
          <p:cNvPr id="21" name="a1wd720_td20"/>
          <p:cNvSpPr/>
          <p:nvPr/>
        </p:nvSpPr>
        <p:spPr>
          <a:xfrm>
            <a:off x="457200" y="3721608"/>
            <a:ext cx="26517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720_tdt21"/>
          <p:cNvSpPr txBox="1"/>
          <p:nvPr/>
        </p:nvSpPr>
        <p:spPr>
          <a:xfrm>
            <a:off x="530352" y="3721608"/>
            <a:ext cx="254203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Map.get(map, i)</a:t>
            </a:r>
          </a:p>
        </p:txBody>
      </p:sp>
      <p:sp>
        <p:nvSpPr>
          <p:cNvPr id="23" name="a1f_th22"/>
          <p:cNvSpPr/>
          <p:nvPr/>
        </p:nvSpPr>
        <p:spPr>
          <a:xfrm>
            <a:off x="3108960" y="1307592"/>
            <a:ext cx="1234440" cy="301752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f_tht23"/>
          <p:cNvSpPr txBox="1"/>
          <p:nvPr/>
        </p:nvSpPr>
        <p:spPr>
          <a:xfrm>
            <a:off x="3182112" y="1307592"/>
            <a:ext cx="11247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n = 100</a:t>
            </a:r>
          </a:p>
        </p:txBody>
      </p:sp>
      <p:sp>
        <p:nvSpPr>
          <p:cNvPr id="25" name="a1wd90_td24"/>
          <p:cNvSpPr/>
          <p:nvPr/>
        </p:nvSpPr>
        <p:spPr>
          <a:xfrm>
            <a:off x="3108960" y="1609344"/>
            <a:ext cx="1234440" cy="301752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wd90_tdt25"/>
          <p:cNvSpPr txBox="1"/>
          <p:nvPr/>
        </p:nvSpPr>
        <p:spPr>
          <a:xfrm>
            <a:off x="3182112" y="1609344"/>
            <a:ext cx="11247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5.1 ns</a:t>
            </a:r>
          </a:p>
        </p:txBody>
      </p:sp>
      <p:sp>
        <p:nvSpPr>
          <p:cNvPr id="27" name="a1wd180_td26"/>
          <p:cNvSpPr/>
          <p:nvPr/>
        </p:nvSpPr>
        <p:spPr>
          <a:xfrm>
            <a:off x="3108960" y="1911095"/>
            <a:ext cx="1234440" cy="301752"/>
          </a:xfrm>
          <a:prstGeom prst="rect">
            <a:avLst/>
          </a:prstGeom>
          <a:solidFill>
            <a:srgbClr val="FCE8ED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180_tdt27"/>
          <p:cNvSpPr txBox="1"/>
          <p:nvPr/>
        </p:nvSpPr>
        <p:spPr>
          <a:xfrm>
            <a:off x="3182112" y="1911095"/>
            <a:ext cx="11247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440.3 ns</a:t>
            </a:r>
          </a:p>
        </p:txBody>
      </p:sp>
      <p:sp>
        <p:nvSpPr>
          <p:cNvPr id="29" name="a1wd270_td28"/>
          <p:cNvSpPr/>
          <p:nvPr/>
        </p:nvSpPr>
        <p:spPr>
          <a:xfrm>
            <a:off x="3108960" y="2212848"/>
            <a:ext cx="1234440" cy="301752"/>
          </a:xfrm>
          <a:prstGeom prst="rect">
            <a:avLst/>
          </a:prstGeom>
          <a:solidFill>
            <a:srgbClr val="FCE8ED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wd270_tdt29"/>
          <p:cNvSpPr txBox="1"/>
          <p:nvPr/>
        </p:nvSpPr>
        <p:spPr>
          <a:xfrm>
            <a:off x="3182112" y="2212848"/>
            <a:ext cx="11247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204.8 ns</a:t>
            </a:r>
          </a:p>
        </p:txBody>
      </p:sp>
      <p:sp>
        <p:nvSpPr>
          <p:cNvPr id="31" name="a1wd360_td30"/>
          <p:cNvSpPr/>
          <p:nvPr/>
        </p:nvSpPr>
        <p:spPr>
          <a:xfrm>
            <a:off x="3108960" y="2514600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360_tdt31"/>
          <p:cNvSpPr txBox="1"/>
          <p:nvPr/>
        </p:nvSpPr>
        <p:spPr>
          <a:xfrm>
            <a:off x="3182112" y="2514600"/>
            <a:ext cx="11247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87.0 ns</a:t>
            </a:r>
          </a:p>
        </p:txBody>
      </p:sp>
      <p:sp>
        <p:nvSpPr>
          <p:cNvPr id="33" name="a1wd450_td32"/>
          <p:cNvSpPr/>
          <p:nvPr/>
        </p:nvSpPr>
        <p:spPr>
          <a:xfrm>
            <a:off x="3108960" y="2816352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wd450_tdt33"/>
          <p:cNvSpPr txBox="1"/>
          <p:nvPr/>
        </p:nvSpPr>
        <p:spPr>
          <a:xfrm>
            <a:off x="3182112" y="2816352"/>
            <a:ext cx="11247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97.3 ns</a:t>
            </a:r>
          </a:p>
        </p:txBody>
      </p:sp>
      <p:sp>
        <p:nvSpPr>
          <p:cNvPr id="35" name="a1wd540_td34"/>
          <p:cNvSpPr/>
          <p:nvPr/>
        </p:nvSpPr>
        <p:spPr>
          <a:xfrm>
            <a:off x="3108960" y="3118104"/>
            <a:ext cx="1234440" cy="301752"/>
          </a:xfrm>
          <a:prstGeom prst="rect">
            <a:avLst/>
          </a:prstGeom>
          <a:solidFill>
            <a:srgbClr val="FCE8ED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1wd540_tdt35"/>
          <p:cNvSpPr txBox="1"/>
          <p:nvPr/>
        </p:nvSpPr>
        <p:spPr>
          <a:xfrm>
            <a:off x="3182112" y="3118104"/>
            <a:ext cx="11247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148.5 ns</a:t>
            </a:r>
          </a:p>
        </p:txBody>
      </p:sp>
      <p:sp>
        <p:nvSpPr>
          <p:cNvPr id="37" name="a1wd630_td36"/>
          <p:cNvSpPr/>
          <p:nvPr/>
        </p:nvSpPr>
        <p:spPr>
          <a:xfrm>
            <a:off x="3108960" y="3419856"/>
            <a:ext cx="1234440" cy="301752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1wd630_tdt37"/>
          <p:cNvSpPr txBox="1"/>
          <p:nvPr/>
        </p:nvSpPr>
        <p:spPr>
          <a:xfrm>
            <a:off x="3182112" y="3419856"/>
            <a:ext cx="11247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2.6 ns</a:t>
            </a:r>
          </a:p>
        </p:txBody>
      </p:sp>
      <p:sp>
        <p:nvSpPr>
          <p:cNvPr id="39" name="a1wd720_td38"/>
          <p:cNvSpPr/>
          <p:nvPr/>
        </p:nvSpPr>
        <p:spPr>
          <a:xfrm>
            <a:off x="3108960" y="3721608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1wd720_tdt39"/>
          <p:cNvSpPr txBox="1"/>
          <p:nvPr/>
        </p:nvSpPr>
        <p:spPr>
          <a:xfrm>
            <a:off x="3182112" y="3721608"/>
            <a:ext cx="11247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5.6 ns</a:t>
            </a:r>
          </a:p>
        </p:txBody>
      </p:sp>
      <p:sp>
        <p:nvSpPr>
          <p:cNvPr id="41" name="a1f_th40"/>
          <p:cNvSpPr/>
          <p:nvPr/>
        </p:nvSpPr>
        <p:spPr>
          <a:xfrm>
            <a:off x="4343400" y="1307592"/>
            <a:ext cx="1325880" cy="301752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1f_tht41"/>
          <p:cNvSpPr txBox="1"/>
          <p:nvPr/>
        </p:nvSpPr>
        <p:spPr>
          <a:xfrm>
            <a:off x="4416552" y="1307592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n = 10,000</a:t>
            </a:r>
          </a:p>
        </p:txBody>
      </p:sp>
      <p:sp>
        <p:nvSpPr>
          <p:cNvPr id="43" name="a1wd90_td42"/>
          <p:cNvSpPr/>
          <p:nvPr/>
        </p:nvSpPr>
        <p:spPr>
          <a:xfrm>
            <a:off x="4343400" y="1609344"/>
            <a:ext cx="1325880" cy="301752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1wd90_tdt43"/>
          <p:cNvSpPr txBox="1"/>
          <p:nvPr/>
        </p:nvSpPr>
        <p:spPr>
          <a:xfrm>
            <a:off x="4416552" y="1609344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~0 ns</a:t>
            </a:r>
          </a:p>
        </p:txBody>
      </p:sp>
      <p:sp>
        <p:nvSpPr>
          <p:cNvPr id="45" name="a1wd180_td44"/>
          <p:cNvSpPr/>
          <p:nvPr/>
        </p:nvSpPr>
        <p:spPr>
          <a:xfrm>
            <a:off x="4343400" y="1911095"/>
            <a:ext cx="1325880" cy="301752"/>
          </a:xfrm>
          <a:prstGeom prst="rect">
            <a:avLst/>
          </a:prstGeom>
          <a:solidFill>
            <a:srgbClr val="FCE8ED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1wd180_tdt45"/>
          <p:cNvSpPr txBox="1"/>
          <p:nvPr/>
        </p:nvSpPr>
        <p:spPr>
          <a:xfrm>
            <a:off x="4416552" y="1911095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50.18 µs</a:t>
            </a:r>
          </a:p>
        </p:txBody>
      </p:sp>
      <p:sp>
        <p:nvSpPr>
          <p:cNvPr id="47" name="a1wd270_td46"/>
          <p:cNvSpPr/>
          <p:nvPr/>
        </p:nvSpPr>
        <p:spPr>
          <a:xfrm>
            <a:off x="4343400" y="2212848"/>
            <a:ext cx="1325880" cy="301752"/>
          </a:xfrm>
          <a:prstGeom prst="rect">
            <a:avLst/>
          </a:prstGeom>
          <a:solidFill>
            <a:srgbClr val="FCE8ED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1wd270_tdt47"/>
          <p:cNvSpPr txBox="1"/>
          <p:nvPr/>
        </p:nvSpPr>
        <p:spPr>
          <a:xfrm>
            <a:off x="4416552" y="2212848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19.37 µs</a:t>
            </a:r>
          </a:p>
        </p:txBody>
      </p:sp>
      <p:sp>
        <p:nvSpPr>
          <p:cNvPr id="49" name="a1wd360_td48"/>
          <p:cNvSpPr/>
          <p:nvPr/>
        </p:nvSpPr>
        <p:spPr>
          <a:xfrm>
            <a:off x="4343400" y="2514600"/>
            <a:ext cx="13258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1wd360_tdt49"/>
          <p:cNvSpPr txBox="1"/>
          <p:nvPr/>
        </p:nvSpPr>
        <p:spPr>
          <a:xfrm>
            <a:off x="4416552" y="2514600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158.7 ns</a:t>
            </a:r>
          </a:p>
        </p:txBody>
      </p:sp>
      <p:sp>
        <p:nvSpPr>
          <p:cNvPr id="51" name="a1wd450_td50"/>
          <p:cNvSpPr/>
          <p:nvPr/>
        </p:nvSpPr>
        <p:spPr>
          <a:xfrm>
            <a:off x="4343400" y="2816352"/>
            <a:ext cx="13258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1wd450_tdt51"/>
          <p:cNvSpPr txBox="1"/>
          <p:nvPr/>
        </p:nvSpPr>
        <p:spPr>
          <a:xfrm>
            <a:off x="4416552" y="2816352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189.4 ns</a:t>
            </a:r>
          </a:p>
        </p:txBody>
      </p:sp>
      <p:sp>
        <p:nvSpPr>
          <p:cNvPr id="53" name="a1wd540_td52"/>
          <p:cNvSpPr/>
          <p:nvPr/>
        </p:nvSpPr>
        <p:spPr>
          <a:xfrm>
            <a:off x="4343400" y="3118104"/>
            <a:ext cx="1325880" cy="301752"/>
          </a:xfrm>
          <a:prstGeom prst="rect">
            <a:avLst/>
          </a:prstGeom>
          <a:solidFill>
            <a:srgbClr val="FCE8ED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1wd540_tdt53"/>
          <p:cNvSpPr txBox="1"/>
          <p:nvPr/>
        </p:nvSpPr>
        <p:spPr>
          <a:xfrm>
            <a:off x="4416552" y="3118104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12.59 µs</a:t>
            </a:r>
          </a:p>
        </p:txBody>
      </p:sp>
      <p:sp>
        <p:nvSpPr>
          <p:cNvPr id="55" name="a1wd630_td54"/>
          <p:cNvSpPr/>
          <p:nvPr/>
        </p:nvSpPr>
        <p:spPr>
          <a:xfrm>
            <a:off x="4343400" y="3419856"/>
            <a:ext cx="1325880" cy="301752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a1wd630_tdt55"/>
          <p:cNvSpPr txBox="1"/>
          <p:nvPr/>
        </p:nvSpPr>
        <p:spPr>
          <a:xfrm>
            <a:off x="4416552" y="3419856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2.6 ns</a:t>
            </a:r>
          </a:p>
        </p:txBody>
      </p:sp>
      <p:sp>
        <p:nvSpPr>
          <p:cNvPr id="57" name="a1wd720_td56"/>
          <p:cNvSpPr/>
          <p:nvPr/>
        </p:nvSpPr>
        <p:spPr>
          <a:xfrm>
            <a:off x="4343400" y="3721608"/>
            <a:ext cx="13258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a1wd720_tdt57"/>
          <p:cNvSpPr txBox="1"/>
          <p:nvPr/>
        </p:nvSpPr>
        <p:spPr>
          <a:xfrm>
            <a:off x="4416552" y="3721608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8.7 ns</a:t>
            </a:r>
          </a:p>
        </p:txBody>
      </p:sp>
      <p:sp>
        <p:nvSpPr>
          <p:cNvPr id="59" name="a1f_th58"/>
          <p:cNvSpPr/>
          <p:nvPr/>
        </p:nvSpPr>
        <p:spPr>
          <a:xfrm>
            <a:off x="5669280" y="1307592"/>
            <a:ext cx="1234440" cy="301752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a1f_tht59"/>
          <p:cNvSpPr txBox="1"/>
          <p:nvPr/>
        </p:nvSpPr>
        <p:spPr>
          <a:xfrm>
            <a:off x="5742432" y="1307592"/>
            <a:ext cx="11247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Grows</a:t>
            </a:r>
          </a:p>
        </p:txBody>
      </p:sp>
      <p:sp>
        <p:nvSpPr>
          <p:cNvPr id="61" name="a1wd90_td60"/>
          <p:cNvSpPr/>
          <p:nvPr/>
        </p:nvSpPr>
        <p:spPr>
          <a:xfrm>
            <a:off x="5669280" y="1609344"/>
            <a:ext cx="1234440" cy="301752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a1wd90_tdt61"/>
          <p:cNvSpPr txBox="1"/>
          <p:nvPr/>
        </p:nvSpPr>
        <p:spPr>
          <a:xfrm>
            <a:off x="5742432" y="1609344"/>
            <a:ext cx="11247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not at all</a:t>
            </a:r>
          </a:p>
        </p:txBody>
      </p:sp>
      <p:sp>
        <p:nvSpPr>
          <p:cNvPr id="63" name="a1wd180_td62"/>
          <p:cNvSpPr/>
          <p:nvPr/>
        </p:nvSpPr>
        <p:spPr>
          <a:xfrm>
            <a:off x="5669280" y="1911095"/>
            <a:ext cx="1234440" cy="301752"/>
          </a:xfrm>
          <a:prstGeom prst="rect">
            <a:avLst/>
          </a:prstGeom>
          <a:solidFill>
            <a:srgbClr val="FCE8ED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a1wd180_tdt63"/>
          <p:cNvSpPr txBox="1"/>
          <p:nvPr/>
        </p:nvSpPr>
        <p:spPr>
          <a:xfrm>
            <a:off x="5742432" y="1911095"/>
            <a:ext cx="11247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with n</a:t>
            </a:r>
          </a:p>
        </p:txBody>
      </p:sp>
      <p:sp>
        <p:nvSpPr>
          <p:cNvPr id="65" name="a1wd270_td64"/>
          <p:cNvSpPr/>
          <p:nvPr/>
        </p:nvSpPr>
        <p:spPr>
          <a:xfrm>
            <a:off x="5669280" y="2212848"/>
            <a:ext cx="1234440" cy="301752"/>
          </a:xfrm>
          <a:prstGeom prst="rect">
            <a:avLst/>
          </a:prstGeom>
          <a:solidFill>
            <a:srgbClr val="FCE8ED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a1wd270_tdt65"/>
          <p:cNvSpPr txBox="1"/>
          <p:nvPr/>
        </p:nvSpPr>
        <p:spPr>
          <a:xfrm>
            <a:off x="5742432" y="2212848"/>
            <a:ext cx="11247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with n</a:t>
            </a:r>
          </a:p>
        </p:txBody>
      </p:sp>
      <p:sp>
        <p:nvSpPr>
          <p:cNvPr id="67" name="a1wd360_td66"/>
          <p:cNvSpPr/>
          <p:nvPr/>
        </p:nvSpPr>
        <p:spPr>
          <a:xfrm>
            <a:off x="5669280" y="2514600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a1wd360_tdt67"/>
          <p:cNvSpPr txBox="1"/>
          <p:nvPr/>
        </p:nvSpPr>
        <p:spPr>
          <a:xfrm>
            <a:off x="5742432" y="2514600"/>
            <a:ext cx="11247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barely</a:t>
            </a:r>
          </a:p>
        </p:txBody>
      </p:sp>
      <p:sp>
        <p:nvSpPr>
          <p:cNvPr id="69" name="a1wd450_td68"/>
          <p:cNvSpPr/>
          <p:nvPr/>
        </p:nvSpPr>
        <p:spPr>
          <a:xfrm>
            <a:off x="5669280" y="2816352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a1wd450_tdt69"/>
          <p:cNvSpPr txBox="1"/>
          <p:nvPr/>
        </p:nvSpPr>
        <p:spPr>
          <a:xfrm>
            <a:off x="5742432" y="2816352"/>
            <a:ext cx="11247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barely</a:t>
            </a:r>
          </a:p>
        </p:txBody>
      </p:sp>
      <p:sp>
        <p:nvSpPr>
          <p:cNvPr id="71" name="a1wd540_td70"/>
          <p:cNvSpPr/>
          <p:nvPr/>
        </p:nvSpPr>
        <p:spPr>
          <a:xfrm>
            <a:off x="5669280" y="3118104"/>
            <a:ext cx="1234440" cy="301752"/>
          </a:xfrm>
          <a:prstGeom prst="rect">
            <a:avLst/>
          </a:prstGeom>
          <a:solidFill>
            <a:srgbClr val="FCE8ED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a1wd540_tdt71"/>
          <p:cNvSpPr txBox="1"/>
          <p:nvPr/>
        </p:nvSpPr>
        <p:spPr>
          <a:xfrm>
            <a:off x="5742432" y="3118104"/>
            <a:ext cx="11247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with n</a:t>
            </a:r>
          </a:p>
        </p:txBody>
      </p:sp>
      <p:sp>
        <p:nvSpPr>
          <p:cNvPr id="73" name="a1wd630_td72"/>
          <p:cNvSpPr/>
          <p:nvPr/>
        </p:nvSpPr>
        <p:spPr>
          <a:xfrm>
            <a:off x="5669280" y="3419856"/>
            <a:ext cx="1234440" cy="301752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a1wd630_tdt73"/>
          <p:cNvSpPr txBox="1"/>
          <p:nvPr/>
        </p:nvSpPr>
        <p:spPr>
          <a:xfrm>
            <a:off x="5742432" y="3419856"/>
            <a:ext cx="11247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not at all</a:t>
            </a:r>
          </a:p>
        </p:txBody>
      </p:sp>
      <p:sp>
        <p:nvSpPr>
          <p:cNvPr id="75" name="a1wd720_td74"/>
          <p:cNvSpPr/>
          <p:nvPr/>
        </p:nvSpPr>
        <p:spPr>
          <a:xfrm>
            <a:off x="5669280" y="3721608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a1wd720_tdt75"/>
          <p:cNvSpPr txBox="1"/>
          <p:nvPr/>
        </p:nvSpPr>
        <p:spPr>
          <a:xfrm>
            <a:off x="5742432" y="3721608"/>
            <a:ext cx="11247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barely</a:t>
            </a:r>
          </a:p>
        </p:txBody>
      </p:sp>
      <p:sp>
        <p:nvSpPr>
          <p:cNvPr id="77" name="a2f_th76"/>
          <p:cNvSpPr/>
          <p:nvPr/>
        </p:nvSpPr>
        <p:spPr>
          <a:xfrm>
            <a:off x="7086600" y="1307592"/>
            <a:ext cx="960120" cy="3017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a2f_tht77"/>
          <p:cNvSpPr txBox="1"/>
          <p:nvPr/>
        </p:nvSpPr>
        <p:spPr>
          <a:xfrm>
            <a:off x="7159752" y="1307592"/>
            <a:ext cx="8503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1,000 ints</a:t>
            </a:r>
          </a:p>
        </p:txBody>
      </p:sp>
      <p:sp>
        <p:nvSpPr>
          <p:cNvPr id="79" name="a2wd80_td78"/>
          <p:cNvSpPr/>
          <p:nvPr/>
        </p:nvSpPr>
        <p:spPr>
          <a:xfrm>
            <a:off x="7086600" y="1609344"/>
            <a:ext cx="9601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a2wd80_tdt79"/>
          <p:cNvSpPr txBox="1"/>
          <p:nvPr/>
        </p:nvSpPr>
        <p:spPr>
          <a:xfrm>
            <a:off x="7159752" y="1609344"/>
            <a:ext cx="8503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list</a:t>
            </a:r>
          </a:p>
        </p:txBody>
      </p:sp>
      <p:sp>
        <p:nvSpPr>
          <p:cNvPr id="81" name="a2wd160_td80"/>
          <p:cNvSpPr/>
          <p:nvPr/>
        </p:nvSpPr>
        <p:spPr>
          <a:xfrm>
            <a:off x="7086600" y="1911095"/>
            <a:ext cx="9601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a2wd160_tdt81"/>
          <p:cNvSpPr txBox="1"/>
          <p:nvPr/>
        </p:nvSpPr>
        <p:spPr>
          <a:xfrm>
            <a:off x="7159752" y="1911095"/>
            <a:ext cx="8503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tuple</a:t>
            </a:r>
          </a:p>
        </p:txBody>
      </p:sp>
      <p:sp>
        <p:nvSpPr>
          <p:cNvPr id="83" name="a2wd240_td82"/>
          <p:cNvSpPr/>
          <p:nvPr/>
        </p:nvSpPr>
        <p:spPr>
          <a:xfrm>
            <a:off x="7086600" y="2212848"/>
            <a:ext cx="9601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a2wd240_tdt83"/>
          <p:cNvSpPr txBox="1"/>
          <p:nvPr/>
        </p:nvSpPr>
        <p:spPr>
          <a:xfrm>
            <a:off x="7159752" y="2212848"/>
            <a:ext cx="8503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keyword</a:t>
            </a:r>
          </a:p>
        </p:txBody>
      </p:sp>
      <p:sp>
        <p:nvSpPr>
          <p:cNvPr id="85" name="a2wd320_td84"/>
          <p:cNvSpPr/>
          <p:nvPr/>
        </p:nvSpPr>
        <p:spPr>
          <a:xfrm>
            <a:off x="7086600" y="2514600"/>
            <a:ext cx="9601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a2wd320_tdt85"/>
          <p:cNvSpPr txBox="1"/>
          <p:nvPr/>
        </p:nvSpPr>
        <p:spPr>
          <a:xfrm>
            <a:off x="7159752" y="2514600"/>
            <a:ext cx="8503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map</a:t>
            </a:r>
          </a:p>
        </p:txBody>
      </p:sp>
      <p:sp>
        <p:nvSpPr>
          <p:cNvPr id="87" name="a2wd400_td86"/>
          <p:cNvSpPr/>
          <p:nvPr/>
        </p:nvSpPr>
        <p:spPr>
          <a:xfrm>
            <a:off x="7086600" y="2816352"/>
            <a:ext cx="9601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a2wd400_tdt87"/>
          <p:cNvSpPr txBox="1"/>
          <p:nvPr/>
        </p:nvSpPr>
        <p:spPr>
          <a:xfrm>
            <a:off x="7159752" y="2816352"/>
            <a:ext cx="8503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MapSet</a:t>
            </a:r>
          </a:p>
        </p:txBody>
      </p:sp>
      <p:sp>
        <p:nvSpPr>
          <p:cNvPr id="89" name="a2wd480_td88"/>
          <p:cNvSpPr/>
          <p:nvPr/>
        </p:nvSpPr>
        <p:spPr>
          <a:xfrm>
            <a:off x="7086600" y="3118104"/>
            <a:ext cx="9601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a2wd480_tdt89"/>
          <p:cNvSpPr txBox="1"/>
          <p:nvPr/>
        </p:nvSpPr>
        <p:spPr>
          <a:xfrm>
            <a:off x="7159752" y="3118104"/>
            <a:ext cx="8503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:array</a:t>
            </a:r>
          </a:p>
        </p:txBody>
      </p:sp>
      <p:sp>
        <p:nvSpPr>
          <p:cNvPr id="91" name="a2wd560_td90"/>
          <p:cNvSpPr/>
          <p:nvPr/>
        </p:nvSpPr>
        <p:spPr>
          <a:xfrm>
            <a:off x="7086600" y="3419856"/>
            <a:ext cx="9601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a2wd560_tdt91"/>
          <p:cNvSpPr txBox="1"/>
          <p:nvPr/>
        </p:nvSpPr>
        <p:spPr>
          <a:xfrm>
            <a:off x="7159752" y="3419856"/>
            <a:ext cx="8503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range</a:t>
            </a:r>
          </a:p>
        </p:txBody>
      </p:sp>
      <p:sp>
        <p:nvSpPr>
          <p:cNvPr id="93" name="a2f_th92"/>
          <p:cNvSpPr/>
          <p:nvPr/>
        </p:nvSpPr>
        <p:spPr>
          <a:xfrm>
            <a:off x="8046720" y="1307592"/>
            <a:ext cx="640080" cy="3017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a2f_tht93"/>
          <p:cNvSpPr txBox="1"/>
          <p:nvPr/>
        </p:nvSpPr>
        <p:spPr>
          <a:xfrm>
            <a:off x="8119872" y="1307592"/>
            <a:ext cx="5303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words</a:t>
            </a:r>
          </a:p>
        </p:txBody>
      </p:sp>
      <p:sp>
        <p:nvSpPr>
          <p:cNvPr id="95" name="a2wd80_td94"/>
          <p:cNvSpPr/>
          <p:nvPr/>
        </p:nvSpPr>
        <p:spPr>
          <a:xfrm>
            <a:off x="8046720" y="1609344"/>
            <a:ext cx="640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a2wd80_tdt95"/>
          <p:cNvSpPr txBox="1"/>
          <p:nvPr/>
        </p:nvSpPr>
        <p:spPr>
          <a:xfrm>
            <a:off x="8119872" y="1609344"/>
            <a:ext cx="5303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2,000</a:t>
            </a:r>
          </a:p>
        </p:txBody>
      </p:sp>
      <p:sp>
        <p:nvSpPr>
          <p:cNvPr id="97" name="a2wd160_td96"/>
          <p:cNvSpPr/>
          <p:nvPr/>
        </p:nvSpPr>
        <p:spPr>
          <a:xfrm>
            <a:off x="8046720" y="1911095"/>
            <a:ext cx="640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a2wd160_tdt97"/>
          <p:cNvSpPr txBox="1"/>
          <p:nvPr/>
        </p:nvSpPr>
        <p:spPr>
          <a:xfrm>
            <a:off x="8119872" y="1911095"/>
            <a:ext cx="5303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1,001</a:t>
            </a:r>
          </a:p>
        </p:txBody>
      </p:sp>
      <p:sp>
        <p:nvSpPr>
          <p:cNvPr id="99" name="a2wd240_td98"/>
          <p:cNvSpPr/>
          <p:nvPr/>
        </p:nvSpPr>
        <p:spPr>
          <a:xfrm>
            <a:off x="8046720" y="2212848"/>
            <a:ext cx="640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a2wd240_tdt99"/>
          <p:cNvSpPr txBox="1"/>
          <p:nvPr/>
        </p:nvSpPr>
        <p:spPr>
          <a:xfrm>
            <a:off x="8119872" y="2212848"/>
            <a:ext cx="5303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5,000</a:t>
            </a:r>
          </a:p>
        </p:txBody>
      </p:sp>
      <p:sp>
        <p:nvSpPr>
          <p:cNvPr id="101" name="a2wd320_td100"/>
          <p:cNvSpPr/>
          <p:nvPr/>
        </p:nvSpPr>
        <p:spPr>
          <a:xfrm>
            <a:off x="8046720" y="2514600"/>
            <a:ext cx="640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a2wd320_tdt101"/>
          <p:cNvSpPr txBox="1"/>
          <p:nvPr/>
        </p:nvSpPr>
        <p:spPr>
          <a:xfrm>
            <a:off x="8119872" y="2514600"/>
            <a:ext cx="5303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3,712</a:t>
            </a:r>
          </a:p>
        </p:txBody>
      </p:sp>
      <p:sp>
        <p:nvSpPr>
          <p:cNvPr id="103" name="a2wd400_td102"/>
          <p:cNvSpPr/>
          <p:nvPr/>
        </p:nvSpPr>
        <p:spPr>
          <a:xfrm>
            <a:off x="8046720" y="2816352"/>
            <a:ext cx="640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a2wd400_tdt103"/>
          <p:cNvSpPr txBox="1"/>
          <p:nvPr/>
        </p:nvSpPr>
        <p:spPr>
          <a:xfrm>
            <a:off x="8119872" y="2816352"/>
            <a:ext cx="5303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3,720</a:t>
            </a:r>
          </a:p>
        </p:txBody>
      </p:sp>
      <p:sp>
        <p:nvSpPr>
          <p:cNvPr id="105" name="a2wd480_td104"/>
          <p:cNvSpPr/>
          <p:nvPr/>
        </p:nvSpPr>
        <p:spPr>
          <a:xfrm>
            <a:off x="8046720" y="3118104"/>
            <a:ext cx="640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a2wd480_tdt105"/>
          <p:cNvSpPr txBox="1"/>
          <p:nvPr/>
        </p:nvSpPr>
        <p:spPr>
          <a:xfrm>
            <a:off x="8119872" y="3118104"/>
            <a:ext cx="5303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1,183</a:t>
            </a:r>
          </a:p>
        </p:txBody>
      </p:sp>
      <p:sp>
        <p:nvSpPr>
          <p:cNvPr id="107" name="a2wd560_td106"/>
          <p:cNvSpPr/>
          <p:nvPr/>
        </p:nvSpPr>
        <p:spPr>
          <a:xfrm>
            <a:off x="8046720" y="3419856"/>
            <a:ext cx="640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a2wd560_tdt107"/>
          <p:cNvSpPr txBox="1"/>
          <p:nvPr/>
        </p:nvSpPr>
        <p:spPr>
          <a:xfrm>
            <a:off x="8119872" y="3419856"/>
            <a:ext cx="5303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12</a:t>
            </a:r>
          </a:p>
        </p:txBody>
      </p:sp>
      <p:sp>
        <p:nvSpPr>
          <p:cNvPr id="109" name="ft10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110" name="ft10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</p:bld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CHOOSING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Which collection? The decision table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078992"/>
            <a:ext cx="4297680" cy="301752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078992"/>
            <a:ext cx="4187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You need</a:t>
            </a:r>
          </a:p>
        </p:txBody>
      </p:sp>
      <p:sp>
        <p:nvSpPr>
          <p:cNvPr id="6" name="a1wd80_td5"/>
          <p:cNvSpPr/>
          <p:nvPr/>
        </p:nvSpPr>
        <p:spPr>
          <a:xfrm>
            <a:off x="457200" y="1380744"/>
            <a:ext cx="4297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80_tdt6"/>
          <p:cNvSpPr txBox="1"/>
          <p:nvPr/>
        </p:nvSpPr>
        <p:spPr>
          <a:xfrm>
            <a:off x="530352" y="1380744"/>
            <a:ext cx="4187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fixed number of values, returned together</a:t>
            </a:r>
          </a:p>
        </p:txBody>
      </p:sp>
      <p:sp>
        <p:nvSpPr>
          <p:cNvPr id="8" name="a1wd160_td7"/>
          <p:cNvSpPr/>
          <p:nvPr/>
        </p:nvSpPr>
        <p:spPr>
          <a:xfrm>
            <a:off x="457200" y="1682495"/>
            <a:ext cx="4297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160_tdt8"/>
          <p:cNvSpPr txBox="1"/>
          <p:nvPr/>
        </p:nvSpPr>
        <p:spPr>
          <a:xfrm>
            <a:off x="530352" y="1682495"/>
            <a:ext cx="4187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sequence you walk front to back</a:t>
            </a:r>
          </a:p>
        </p:txBody>
      </p:sp>
      <p:sp>
        <p:nvSpPr>
          <p:cNvPr id="10" name="a1wd240_td9"/>
          <p:cNvSpPr/>
          <p:nvPr/>
        </p:nvSpPr>
        <p:spPr>
          <a:xfrm>
            <a:off x="457200" y="1984248"/>
            <a:ext cx="4297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240_tdt10"/>
          <p:cNvSpPr txBox="1"/>
          <p:nvPr/>
        </p:nvSpPr>
        <p:spPr>
          <a:xfrm>
            <a:off x="530352" y="1984248"/>
            <a:ext cx="4187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to build a sequence as you go</a:t>
            </a:r>
          </a:p>
        </p:txBody>
      </p:sp>
      <p:sp>
        <p:nvSpPr>
          <p:cNvPr id="12" name="a1wd320_td11"/>
          <p:cNvSpPr/>
          <p:nvPr/>
        </p:nvSpPr>
        <p:spPr>
          <a:xfrm>
            <a:off x="457200" y="2286000"/>
            <a:ext cx="4297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320_tdt12"/>
          <p:cNvSpPr txBox="1"/>
          <p:nvPr/>
        </p:nvSpPr>
        <p:spPr>
          <a:xfrm>
            <a:off x="530352" y="2286000"/>
            <a:ext cx="4187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options to a function</a:t>
            </a:r>
          </a:p>
        </p:txBody>
      </p:sp>
      <p:sp>
        <p:nvSpPr>
          <p:cNvPr id="14" name="a1wd400_td13"/>
          <p:cNvSpPr/>
          <p:nvPr/>
        </p:nvSpPr>
        <p:spPr>
          <a:xfrm>
            <a:off x="457200" y="2587752"/>
            <a:ext cx="4297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400_tdt14"/>
          <p:cNvSpPr txBox="1"/>
          <p:nvPr/>
        </p:nvSpPr>
        <p:spPr>
          <a:xfrm>
            <a:off x="530352" y="2587752"/>
            <a:ext cx="4187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lookup by key, or a record</a:t>
            </a:r>
          </a:p>
        </p:txBody>
      </p:sp>
      <p:sp>
        <p:nvSpPr>
          <p:cNvPr id="16" name="a1wd480_td15"/>
          <p:cNvSpPr/>
          <p:nvPr/>
        </p:nvSpPr>
        <p:spPr>
          <a:xfrm>
            <a:off x="457200" y="2889504"/>
            <a:ext cx="4297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480_tdt16"/>
          <p:cNvSpPr txBox="1"/>
          <p:nvPr/>
        </p:nvSpPr>
        <p:spPr>
          <a:xfrm>
            <a:off x="530352" y="2889504"/>
            <a:ext cx="4187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record whose keys the compiler checks</a:t>
            </a:r>
          </a:p>
        </p:txBody>
      </p:sp>
      <p:sp>
        <p:nvSpPr>
          <p:cNvPr id="18" name="a1wd560_td17"/>
          <p:cNvSpPr/>
          <p:nvPr/>
        </p:nvSpPr>
        <p:spPr>
          <a:xfrm>
            <a:off x="457200" y="3191256"/>
            <a:ext cx="4297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560_tdt18"/>
          <p:cNvSpPr txBox="1"/>
          <p:nvPr/>
        </p:nvSpPr>
        <p:spPr>
          <a:xfrm>
            <a:off x="530352" y="3191256"/>
            <a:ext cx="4187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"have I seen this?", unique values</a:t>
            </a:r>
          </a:p>
        </p:txBody>
      </p:sp>
      <p:sp>
        <p:nvSpPr>
          <p:cNvPr id="20" name="a1wd640_td19"/>
          <p:cNvSpPr/>
          <p:nvPr/>
        </p:nvSpPr>
        <p:spPr>
          <a:xfrm>
            <a:off x="457200" y="3493008"/>
            <a:ext cx="4297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640_tdt20"/>
          <p:cNvSpPr txBox="1"/>
          <p:nvPr/>
        </p:nvSpPr>
        <p:spPr>
          <a:xfrm>
            <a:off x="530352" y="3493008"/>
            <a:ext cx="4187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run of integers</a:t>
            </a:r>
          </a:p>
        </p:txBody>
      </p:sp>
      <p:sp>
        <p:nvSpPr>
          <p:cNvPr id="22" name="a1wd720_td21"/>
          <p:cNvSpPr/>
          <p:nvPr/>
        </p:nvSpPr>
        <p:spPr>
          <a:xfrm>
            <a:off x="457200" y="3794760"/>
            <a:ext cx="4297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720_tdt22"/>
          <p:cNvSpPr txBox="1"/>
          <p:nvPr/>
        </p:nvSpPr>
        <p:spPr>
          <a:xfrm>
            <a:off x="530352" y="3794760"/>
            <a:ext cx="4187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first in, first out</a:t>
            </a:r>
          </a:p>
        </p:txBody>
      </p:sp>
      <p:sp>
        <p:nvSpPr>
          <p:cNvPr id="24" name="a1wd800_td23"/>
          <p:cNvSpPr/>
          <p:nvPr/>
        </p:nvSpPr>
        <p:spPr>
          <a:xfrm>
            <a:off x="457200" y="4096512"/>
            <a:ext cx="4297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800_tdt24"/>
          <p:cNvSpPr txBox="1"/>
          <p:nvPr/>
        </p:nvSpPr>
        <p:spPr>
          <a:xfrm>
            <a:off x="530352" y="4096512"/>
            <a:ext cx="4187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data too big for memory, or endless</a:t>
            </a:r>
          </a:p>
        </p:txBody>
      </p:sp>
      <p:sp>
        <p:nvSpPr>
          <p:cNvPr id="26" name="a1f_th25"/>
          <p:cNvSpPr/>
          <p:nvPr/>
        </p:nvSpPr>
        <p:spPr>
          <a:xfrm>
            <a:off x="4754880" y="1078992"/>
            <a:ext cx="2011680" cy="301752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f_tht26"/>
          <p:cNvSpPr txBox="1"/>
          <p:nvPr/>
        </p:nvSpPr>
        <p:spPr>
          <a:xfrm>
            <a:off x="4828032" y="1078992"/>
            <a:ext cx="1901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Reach for</a:t>
            </a:r>
          </a:p>
        </p:txBody>
      </p:sp>
      <p:sp>
        <p:nvSpPr>
          <p:cNvPr id="28" name="a1wd80_td27"/>
          <p:cNvSpPr/>
          <p:nvPr/>
        </p:nvSpPr>
        <p:spPr>
          <a:xfrm>
            <a:off x="4754880" y="1380744"/>
            <a:ext cx="2011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80_tdt28"/>
          <p:cNvSpPr txBox="1"/>
          <p:nvPr/>
        </p:nvSpPr>
        <p:spPr>
          <a:xfrm>
            <a:off x="4828032" y="1380744"/>
            <a:ext cx="1901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tuple  {:ok, v}</a:t>
            </a:r>
          </a:p>
        </p:txBody>
      </p:sp>
      <p:sp>
        <p:nvSpPr>
          <p:cNvPr id="30" name="a1wd160_td29"/>
          <p:cNvSpPr/>
          <p:nvPr/>
        </p:nvSpPr>
        <p:spPr>
          <a:xfrm>
            <a:off x="4754880" y="1682495"/>
            <a:ext cx="2011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160_tdt30"/>
          <p:cNvSpPr txBox="1"/>
          <p:nvPr/>
        </p:nvSpPr>
        <p:spPr>
          <a:xfrm>
            <a:off x="4828032" y="1682495"/>
            <a:ext cx="1901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list</a:t>
            </a:r>
          </a:p>
        </p:txBody>
      </p:sp>
      <p:sp>
        <p:nvSpPr>
          <p:cNvPr id="32" name="a1wd240_td31"/>
          <p:cNvSpPr/>
          <p:nvPr/>
        </p:nvSpPr>
        <p:spPr>
          <a:xfrm>
            <a:off x="4754880" y="1984248"/>
            <a:ext cx="2011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240_tdt32"/>
          <p:cNvSpPr txBox="1"/>
          <p:nvPr/>
        </p:nvSpPr>
        <p:spPr>
          <a:xfrm>
            <a:off x="4828032" y="1984248"/>
            <a:ext cx="1901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list, then reverse</a:t>
            </a:r>
          </a:p>
        </p:txBody>
      </p:sp>
      <p:sp>
        <p:nvSpPr>
          <p:cNvPr id="34" name="a1wd320_td33"/>
          <p:cNvSpPr/>
          <p:nvPr/>
        </p:nvSpPr>
        <p:spPr>
          <a:xfrm>
            <a:off x="4754880" y="2286000"/>
            <a:ext cx="2011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320_tdt34"/>
          <p:cNvSpPr txBox="1"/>
          <p:nvPr/>
        </p:nvSpPr>
        <p:spPr>
          <a:xfrm>
            <a:off x="4828032" y="2286000"/>
            <a:ext cx="1901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keyword list</a:t>
            </a:r>
          </a:p>
        </p:txBody>
      </p:sp>
      <p:sp>
        <p:nvSpPr>
          <p:cNvPr id="36" name="a1wd400_td35"/>
          <p:cNvSpPr/>
          <p:nvPr/>
        </p:nvSpPr>
        <p:spPr>
          <a:xfrm>
            <a:off x="4754880" y="2587752"/>
            <a:ext cx="2011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400_tdt36"/>
          <p:cNvSpPr txBox="1"/>
          <p:nvPr/>
        </p:nvSpPr>
        <p:spPr>
          <a:xfrm>
            <a:off x="4828032" y="2587752"/>
            <a:ext cx="1901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map</a:t>
            </a:r>
          </a:p>
        </p:txBody>
      </p:sp>
      <p:sp>
        <p:nvSpPr>
          <p:cNvPr id="38" name="a1wd480_td37"/>
          <p:cNvSpPr/>
          <p:nvPr/>
        </p:nvSpPr>
        <p:spPr>
          <a:xfrm>
            <a:off x="4754880" y="2889504"/>
            <a:ext cx="2011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480_tdt38"/>
          <p:cNvSpPr txBox="1"/>
          <p:nvPr/>
        </p:nvSpPr>
        <p:spPr>
          <a:xfrm>
            <a:off x="4828032" y="2889504"/>
            <a:ext cx="1901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struct</a:t>
            </a:r>
          </a:p>
        </p:txBody>
      </p:sp>
      <p:sp>
        <p:nvSpPr>
          <p:cNvPr id="40" name="a1wd560_td39"/>
          <p:cNvSpPr/>
          <p:nvPr/>
        </p:nvSpPr>
        <p:spPr>
          <a:xfrm>
            <a:off x="4754880" y="3191256"/>
            <a:ext cx="2011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560_tdt40"/>
          <p:cNvSpPr txBox="1"/>
          <p:nvPr/>
        </p:nvSpPr>
        <p:spPr>
          <a:xfrm>
            <a:off x="4828032" y="3191256"/>
            <a:ext cx="1901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MapSet</a:t>
            </a:r>
          </a:p>
        </p:txBody>
      </p:sp>
      <p:sp>
        <p:nvSpPr>
          <p:cNvPr id="42" name="a1wd640_td41"/>
          <p:cNvSpPr/>
          <p:nvPr/>
        </p:nvSpPr>
        <p:spPr>
          <a:xfrm>
            <a:off x="4754880" y="3493008"/>
            <a:ext cx="2011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640_tdt42"/>
          <p:cNvSpPr txBox="1"/>
          <p:nvPr/>
        </p:nvSpPr>
        <p:spPr>
          <a:xfrm>
            <a:off x="4828032" y="3493008"/>
            <a:ext cx="1901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range</a:t>
            </a:r>
          </a:p>
        </p:txBody>
      </p:sp>
      <p:sp>
        <p:nvSpPr>
          <p:cNvPr id="44" name="a1wd720_td43"/>
          <p:cNvSpPr/>
          <p:nvPr/>
        </p:nvSpPr>
        <p:spPr>
          <a:xfrm>
            <a:off x="4754880" y="3794760"/>
            <a:ext cx="2011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720_tdt44"/>
          <p:cNvSpPr txBox="1"/>
          <p:nvPr/>
        </p:nvSpPr>
        <p:spPr>
          <a:xfrm>
            <a:off x="4828032" y="3794760"/>
            <a:ext cx="1901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:queue</a:t>
            </a:r>
          </a:p>
        </p:txBody>
      </p:sp>
      <p:sp>
        <p:nvSpPr>
          <p:cNvPr id="46" name="a1wd800_td45"/>
          <p:cNvSpPr/>
          <p:nvPr/>
        </p:nvSpPr>
        <p:spPr>
          <a:xfrm>
            <a:off x="4754880" y="4096512"/>
            <a:ext cx="2011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800_tdt46"/>
          <p:cNvSpPr txBox="1"/>
          <p:nvPr/>
        </p:nvSpPr>
        <p:spPr>
          <a:xfrm>
            <a:off x="4828032" y="4096512"/>
            <a:ext cx="1901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Stream</a:t>
            </a:r>
          </a:p>
        </p:txBody>
      </p:sp>
      <p:sp>
        <p:nvSpPr>
          <p:cNvPr id="48" name="a1f_th47"/>
          <p:cNvSpPr/>
          <p:nvPr/>
        </p:nvSpPr>
        <p:spPr>
          <a:xfrm>
            <a:off x="6766560" y="1078992"/>
            <a:ext cx="1920240" cy="301752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f_tht48"/>
          <p:cNvSpPr txBox="1"/>
          <p:nvPr/>
        </p:nvSpPr>
        <p:spPr>
          <a:xfrm>
            <a:off x="6839712" y="1078992"/>
            <a:ext cx="18105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Because</a:t>
            </a:r>
          </a:p>
        </p:txBody>
      </p:sp>
      <p:sp>
        <p:nvSpPr>
          <p:cNvPr id="50" name="a1wd80_td49"/>
          <p:cNvSpPr/>
          <p:nvPr/>
        </p:nvSpPr>
        <p:spPr>
          <a:xfrm>
            <a:off x="6766560" y="1380744"/>
            <a:ext cx="19202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80_tdt50"/>
          <p:cNvSpPr txBox="1"/>
          <p:nvPr/>
        </p:nvSpPr>
        <p:spPr>
          <a:xfrm>
            <a:off x="6839712" y="1380744"/>
            <a:ext cx="18105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position is the meaning</a:t>
            </a:r>
          </a:p>
        </p:txBody>
      </p:sp>
      <p:sp>
        <p:nvSpPr>
          <p:cNvPr id="52" name="a1wd160_td51"/>
          <p:cNvSpPr/>
          <p:nvPr/>
        </p:nvSpPr>
        <p:spPr>
          <a:xfrm>
            <a:off x="6766560" y="1682495"/>
            <a:ext cx="19202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wd160_tdt52"/>
          <p:cNvSpPr txBox="1"/>
          <p:nvPr/>
        </p:nvSpPr>
        <p:spPr>
          <a:xfrm>
            <a:off x="6839712" y="1682495"/>
            <a:ext cx="18105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prepend is free</a:t>
            </a:r>
          </a:p>
        </p:txBody>
      </p:sp>
      <p:sp>
        <p:nvSpPr>
          <p:cNvPr id="54" name="a1wd240_td53"/>
          <p:cNvSpPr/>
          <p:nvPr/>
        </p:nvSpPr>
        <p:spPr>
          <a:xfrm>
            <a:off x="6766560" y="1984248"/>
            <a:ext cx="19202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240_tdt54"/>
          <p:cNvSpPr txBox="1"/>
          <p:nvPr/>
        </p:nvSpPr>
        <p:spPr>
          <a:xfrm>
            <a:off x="6839712" y="1984248"/>
            <a:ext cx="18105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append is quadratic</a:t>
            </a:r>
          </a:p>
        </p:txBody>
      </p:sp>
      <p:sp>
        <p:nvSpPr>
          <p:cNvPr id="56" name="a1wd320_td55"/>
          <p:cNvSpPr/>
          <p:nvPr/>
        </p:nvSpPr>
        <p:spPr>
          <a:xfrm>
            <a:off x="6766560" y="2286000"/>
            <a:ext cx="19202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320_tdt56"/>
          <p:cNvSpPr txBox="1"/>
          <p:nvPr/>
        </p:nvSpPr>
        <p:spPr>
          <a:xfrm>
            <a:off x="6839712" y="2286000"/>
            <a:ext cx="18105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order, repeats, syntax</a:t>
            </a:r>
          </a:p>
        </p:txBody>
      </p:sp>
      <p:sp>
        <p:nvSpPr>
          <p:cNvPr id="58" name="a1wd400_td57"/>
          <p:cNvSpPr/>
          <p:nvPr/>
        </p:nvSpPr>
        <p:spPr>
          <a:xfrm>
            <a:off x="6766560" y="2587752"/>
            <a:ext cx="19202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1wd400_tdt58"/>
          <p:cNvSpPr txBox="1"/>
          <p:nvPr/>
        </p:nvSpPr>
        <p:spPr>
          <a:xfrm>
            <a:off x="6839712" y="2587752"/>
            <a:ext cx="18105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near-constant at any size</a:t>
            </a:r>
          </a:p>
        </p:txBody>
      </p:sp>
      <p:sp>
        <p:nvSpPr>
          <p:cNvPr id="60" name="a1wd480_td59"/>
          <p:cNvSpPr/>
          <p:nvPr/>
        </p:nvSpPr>
        <p:spPr>
          <a:xfrm>
            <a:off x="6766560" y="2889504"/>
            <a:ext cx="19202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1wd480_tdt60"/>
          <p:cNvSpPr txBox="1"/>
          <p:nvPr/>
        </p:nvSpPr>
        <p:spPr>
          <a:xfrm>
            <a:off x="6839712" y="2889504"/>
            <a:ext cx="18105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typos fail at compile time</a:t>
            </a:r>
          </a:p>
        </p:txBody>
      </p:sp>
      <p:sp>
        <p:nvSpPr>
          <p:cNvPr id="62" name="a1wd560_td61"/>
          <p:cNvSpPr/>
          <p:nvPr/>
        </p:nvSpPr>
        <p:spPr>
          <a:xfrm>
            <a:off x="6766560" y="3191256"/>
            <a:ext cx="19202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1wd560_tdt62"/>
          <p:cNvSpPr txBox="1"/>
          <p:nvPr/>
        </p:nvSpPr>
        <p:spPr>
          <a:xfrm>
            <a:off x="6839712" y="3191256"/>
            <a:ext cx="18105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1,435x a list at 10k</a:t>
            </a:r>
          </a:p>
        </p:txBody>
      </p:sp>
      <p:sp>
        <p:nvSpPr>
          <p:cNvPr id="64" name="a1wd640_td63"/>
          <p:cNvSpPr/>
          <p:nvPr/>
        </p:nvSpPr>
        <p:spPr>
          <a:xfrm>
            <a:off x="6766560" y="3493008"/>
            <a:ext cx="19202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1wd640_tdt64"/>
          <p:cNvSpPr txBox="1"/>
          <p:nvPr/>
        </p:nvSpPr>
        <p:spPr>
          <a:xfrm>
            <a:off x="6839712" y="3493008"/>
            <a:ext cx="18105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12 words, any length</a:t>
            </a:r>
          </a:p>
        </p:txBody>
      </p:sp>
      <p:sp>
        <p:nvSpPr>
          <p:cNvPr id="66" name="a1wd720_td65"/>
          <p:cNvSpPr/>
          <p:nvPr/>
        </p:nvSpPr>
        <p:spPr>
          <a:xfrm>
            <a:off x="6766560" y="3794760"/>
            <a:ext cx="19202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a1wd720_tdt66"/>
          <p:cNvSpPr txBox="1"/>
          <p:nvPr/>
        </p:nvSpPr>
        <p:spPr>
          <a:xfrm>
            <a:off x="6839712" y="3794760"/>
            <a:ext cx="18105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amortised O(1) both ends</a:t>
            </a:r>
          </a:p>
        </p:txBody>
      </p:sp>
      <p:sp>
        <p:nvSpPr>
          <p:cNvPr id="68" name="a1wd800_td67"/>
          <p:cNvSpPr/>
          <p:nvPr/>
        </p:nvSpPr>
        <p:spPr>
          <a:xfrm>
            <a:off x="6766560" y="4096512"/>
            <a:ext cx="19202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a1wd800_tdt68"/>
          <p:cNvSpPr txBox="1"/>
          <p:nvPr/>
        </p:nvSpPr>
        <p:spPr>
          <a:xfrm>
            <a:off x="6839712" y="4096512"/>
            <a:ext cx="18105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233 words, not 36 MB</a:t>
            </a:r>
          </a:p>
        </p:txBody>
      </p:sp>
      <p:sp>
        <p:nvSpPr>
          <p:cNvPr id="70" name="ft6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71" name="ft7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</p:bld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COMMON MISTAKES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goes wrong, and what it looks like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078992"/>
            <a:ext cx="2606040" cy="301752"/>
          </a:xfrm>
          <a:prstGeom prst="rect">
            <a:avLst/>
          </a:prstGeom>
          <a:solidFill>
            <a:srgbClr val="7A0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078992"/>
            <a:ext cx="24963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ourier New"/>
              </a:rPr>
              <a:t>You wrote</a:t>
            </a:r>
          </a:p>
        </p:txBody>
      </p:sp>
      <p:sp>
        <p:nvSpPr>
          <p:cNvPr id="6" name="a1wd65_td5"/>
          <p:cNvSpPr/>
          <p:nvPr/>
        </p:nvSpPr>
        <p:spPr>
          <a:xfrm>
            <a:off x="457200" y="1380744"/>
            <a:ext cx="2606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65_tdt6"/>
          <p:cNvSpPr txBox="1"/>
          <p:nvPr/>
        </p:nvSpPr>
        <p:spPr>
          <a:xfrm>
            <a:off x="530352" y="1380744"/>
            <a:ext cx="24963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acc ++ [x] in a loop</a:t>
            </a:r>
          </a:p>
        </p:txBody>
      </p:sp>
      <p:sp>
        <p:nvSpPr>
          <p:cNvPr id="8" name="a1wd130_td7"/>
          <p:cNvSpPr/>
          <p:nvPr/>
        </p:nvSpPr>
        <p:spPr>
          <a:xfrm>
            <a:off x="457200" y="1682495"/>
            <a:ext cx="2606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130_tdt8"/>
          <p:cNvSpPr txBox="1"/>
          <p:nvPr/>
        </p:nvSpPr>
        <p:spPr>
          <a:xfrm>
            <a:off x="530352" y="1682495"/>
            <a:ext cx="24963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m.key on an optional key</a:t>
            </a:r>
          </a:p>
        </p:txBody>
      </p:sp>
      <p:sp>
        <p:nvSpPr>
          <p:cNvPr id="10" name="a1wd195_td9"/>
          <p:cNvSpPr/>
          <p:nvPr/>
        </p:nvSpPr>
        <p:spPr>
          <a:xfrm>
            <a:off x="457200" y="1984248"/>
            <a:ext cx="2606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195_tdt10"/>
          <p:cNvSpPr txBox="1"/>
          <p:nvPr/>
        </p:nvSpPr>
        <p:spPr>
          <a:xfrm>
            <a:off x="530352" y="1984248"/>
            <a:ext cx="24963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%{m | new_key: 1}</a:t>
            </a:r>
          </a:p>
        </p:txBody>
      </p:sp>
      <p:sp>
        <p:nvSpPr>
          <p:cNvPr id="12" name="a1wd260_td11"/>
          <p:cNvSpPr/>
          <p:nvPr/>
        </p:nvSpPr>
        <p:spPr>
          <a:xfrm>
            <a:off x="457200" y="2286000"/>
            <a:ext cx="2606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260_tdt12"/>
          <p:cNvSpPr txBox="1"/>
          <p:nvPr/>
        </p:nvSpPr>
        <p:spPr>
          <a:xfrm>
            <a:off x="530352" y="2286000"/>
            <a:ext cx="24963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Enum.map(a_tuple, f)</a:t>
            </a:r>
          </a:p>
        </p:txBody>
      </p:sp>
      <p:sp>
        <p:nvSpPr>
          <p:cNvPr id="14" name="a1wd325_td13"/>
          <p:cNvSpPr/>
          <p:nvPr/>
        </p:nvSpPr>
        <p:spPr>
          <a:xfrm>
            <a:off x="457200" y="2587752"/>
            <a:ext cx="2606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325_tdt14"/>
          <p:cNvSpPr txBox="1"/>
          <p:nvPr/>
        </p:nvSpPr>
        <p:spPr>
          <a:xfrm>
            <a:off x="530352" y="2587752"/>
            <a:ext cx="24963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Enum.map(a_map, f) for a map</a:t>
            </a:r>
          </a:p>
        </p:txBody>
      </p:sp>
      <p:sp>
        <p:nvSpPr>
          <p:cNvPr id="16" name="a1wd390_td15"/>
          <p:cNvSpPr/>
          <p:nvPr/>
        </p:nvSpPr>
        <p:spPr>
          <a:xfrm>
            <a:off x="457200" y="2889504"/>
            <a:ext cx="2606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390_tdt16"/>
          <p:cNvSpPr txBox="1"/>
          <p:nvPr/>
        </p:nvSpPr>
        <p:spPr>
          <a:xfrm>
            <a:off x="530352" y="2889504"/>
            <a:ext cx="24963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[a: a, b: b] = opts</a:t>
            </a:r>
          </a:p>
        </p:txBody>
      </p:sp>
      <p:sp>
        <p:nvSpPr>
          <p:cNvPr id="18" name="a1wd455_td17"/>
          <p:cNvSpPr/>
          <p:nvPr/>
        </p:nvSpPr>
        <p:spPr>
          <a:xfrm>
            <a:off x="457200" y="3191256"/>
            <a:ext cx="2606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455_tdt18"/>
          <p:cNvSpPr txBox="1"/>
          <p:nvPr/>
        </p:nvSpPr>
        <p:spPr>
          <a:xfrm>
            <a:off x="530352" y="3191256"/>
            <a:ext cx="24963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%{} = m to test for empty</a:t>
            </a:r>
          </a:p>
        </p:txBody>
      </p:sp>
      <p:sp>
        <p:nvSpPr>
          <p:cNvPr id="20" name="a1wd520_td19"/>
          <p:cNvSpPr/>
          <p:nvPr/>
        </p:nvSpPr>
        <p:spPr>
          <a:xfrm>
            <a:off x="457200" y="3493008"/>
            <a:ext cx="2606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520_tdt20"/>
          <p:cNvSpPr txBox="1"/>
          <p:nvPr/>
        </p:nvSpPr>
        <p:spPr>
          <a:xfrm>
            <a:off x="530352" y="3493008"/>
            <a:ext cx="24963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acct[:balance] on a struct</a:t>
            </a:r>
          </a:p>
        </p:txBody>
      </p:sp>
      <p:sp>
        <p:nvSpPr>
          <p:cNvPr id="22" name="a1wd585_td21"/>
          <p:cNvSpPr/>
          <p:nvPr/>
        </p:nvSpPr>
        <p:spPr>
          <a:xfrm>
            <a:off x="457200" y="3794760"/>
            <a:ext cx="2606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585_tdt22"/>
          <p:cNvSpPr txBox="1"/>
          <p:nvPr/>
        </p:nvSpPr>
        <p:spPr>
          <a:xfrm>
            <a:off x="530352" y="3794760"/>
            <a:ext cx="24963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Enum.sort(dates)</a:t>
            </a:r>
          </a:p>
        </p:txBody>
      </p:sp>
      <p:sp>
        <p:nvSpPr>
          <p:cNvPr id="24" name="a1wd650_td23"/>
          <p:cNvSpPr/>
          <p:nvPr/>
        </p:nvSpPr>
        <p:spPr>
          <a:xfrm>
            <a:off x="457200" y="4096512"/>
            <a:ext cx="2606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650_tdt24"/>
          <p:cNvSpPr txBox="1"/>
          <p:nvPr/>
        </p:nvSpPr>
        <p:spPr>
          <a:xfrm>
            <a:off x="530352" y="4096512"/>
            <a:ext cx="24963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[120, 60] prints ~c"x&lt;"</a:t>
            </a:r>
          </a:p>
        </p:txBody>
      </p:sp>
      <p:sp>
        <p:nvSpPr>
          <p:cNvPr id="26" name="a1f_th25"/>
          <p:cNvSpPr/>
          <p:nvPr/>
        </p:nvSpPr>
        <p:spPr>
          <a:xfrm>
            <a:off x="3063240" y="1078992"/>
            <a:ext cx="3154680" cy="301752"/>
          </a:xfrm>
          <a:prstGeom prst="rect">
            <a:avLst/>
          </a:prstGeom>
          <a:solidFill>
            <a:srgbClr val="7A0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f_tht26"/>
          <p:cNvSpPr txBox="1"/>
          <p:nvPr/>
        </p:nvSpPr>
        <p:spPr>
          <a:xfrm>
            <a:off x="3136392" y="1078992"/>
            <a:ext cx="3044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You get</a:t>
            </a:r>
          </a:p>
        </p:txBody>
      </p:sp>
      <p:sp>
        <p:nvSpPr>
          <p:cNvPr id="28" name="a1wd65_td27"/>
          <p:cNvSpPr/>
          <p:nvPr/>
        </p:nvSpPr>
        <p:spPr>
          <a:xfrm>
            <a:off x="3063240" y="1380744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65_tdt28"/>
          <p:cNvSpPr txBox="1"/>
          <p:nvPr/>
        </p:nvSpPr>
        <p:spPr>
          <a:xfrm>
            <a:off x="3136392" y="1380744"/>
            <a:ext cx="3044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6.5 s for 40,000 elements</a:t>
            </a:r>
          </a:p>
        </p:txBody>
      </p:sp>
      <p:sp>
        <p:nvSpPr>
          <p:cNvPr id="30" name="a1wd130_td29"/>
          <p:cNvSpPr/>
          <p:nvPr/>
        </p:nvSpPr>
        <p:spPr>
          <a:xfrm>
            <a:off x="3063240" y="1682495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130_tdt30"/>
          <p:cNvSpPr txBox="1"/>
          <p:nvPr/>
        </p:nvSpPr>
        <p:spPr>
          <a:xfrm>
            <a:off x="3136392" y="1682495"/>
            <a:ext cx="3044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** (KeyError) key ... not found</a:t>
            </a:r>
          </a:p>
        </p:txBody>
      </p:sp>
      <p:sp>
        <p:nvSpPr>
          <p:cNvPr id="32" name="a1wd195_td31"/>
          <p:cNvSpPr/>
          <p:nvPr/>
        </p:nvSpPr>
        <p:spPr>
          <a:xfrm>
            <a:off x="3063240" y="1984248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195_tdt32"/>
          <p:cNvSpPr txBox="1"/>
          <p:nvPr/>
        </p:nvSpPr>
        <p:spPr>
          <a:xfrm>
            <a:off x="3136392" y="1984248"/>
            <a:ext cx="3044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** (KeyError) key :new_key not found</a:t>
            </a:r>
          </a:p>
        </p:txBody>
      </p:sp>
      <p:sp>
        <p:nvSpPr>
          <p:cNvPr id="34" name="a1wd260_td33"/>
          <p:cNvSpPr/>
          <p:nvPr/>
        </p:nvSpPr>
        <p:spPr>
          <a:xfrm>
            <a:off x="3063240" y="2286000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260_tdt34"/>
          <p:cNvSpPr txBox="1"/>
          <p:nvPr/>
        </p:nvSpPr>
        <p:spPr>
          <a:xfrm>
            <a:off x="3136392" y="2286000"/>
            <a:ext cx="3044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Enumerable not implemented for Tuple</a:t>
            </a:r>
          </a:p>
        </p:txBody>
      </p:sp>
      <p:sp>
        <p:nvSpPr>
          <p:cNvPr id="36" name="a1wd325_td35"/>
          <p:cNvSpPr/>
          <p:nvPr/>
        </p:nvSpPr>
        <p:spPr>
          <a:xfrm>
            <a:off x="3063240" y="2587752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325_tdt36"/>
          <p:cNvSpPr txBox="1"/>
          <p:nvPr/>
        </p:nvSpPr>
        <p:spPr>
          <a:xfrm>
            <a:off x="3136392" y="2587752"/>
            <a:ext cx="3044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a keyword list back</a:t>
            </a:r>
          </a:p>
        </p:txBody>
      </p:sp>
      <p:sp>
        <p:nvSpPr>
          <p:cNvPr id="38" name="a1wd390_td37"/>
          <p:cNvSpPr/>
          <p:nvPr/>
        </p:nvSpPr>
        <p:spPr>
          <a:xfrm>
            <a:off x="3063240" y="2889504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390_tdt38"/>
          <p:cNvSpPr txBox="1"/>
          <p:nvPr/>
        </p:nvSpPr>
        <p:spPr>
          <a:xfrm>
            <a:off x="3136392" y="2889504"/>
            <a:ext cx="3044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MatchError when the order differs</a:t>
            </a:r>
          </a:p>
        </p:txBody>
      </p:sp>
      <p:sp>
        <p:nvSpPr>
          <p:cNvPr id="40" name="a1wd455_td39"/>
          <p:cNvSpPr/>
          <p:nvPr/>
        </p:nvSpPr>
        <p:spPr>
          <a:xfrm>
            <a:off x="3063240" y="3191256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455_tdt40"/>
          <p:cNvSpPr txBox="1"/>
          <p:nvPr/>
        </p:nvSpPr>
        <p:spPr>
          <a:xfrm>
            <a:off x="3136392" y="3191256"/>
            <a:ext cx="3044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matches every map</a:t>
            </a:r>
          </a:p>
        </p:txBody>
      </p:sp>
      <p:sp>
        <p:nvSpPr>
          <p:cNvPr id="42" name="a1wd520_td41"/>
          <p:cNvSpPr/>
          <p:nvPr/>
        </p:nvSpPr>
        <p:spPr>
          <a:xfrm>
            <a:off x="3063240" y="3493008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520_tdt42"/>
          <p:cNvSpPr txBox="1"/>
          <p:nvPr/>
        </p:nvSpPr>
        <p:spPr>
          <a:xfrm>
            <a:off x="3136392" y="3493008"/>
            <a:ext cx="3044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does not implement the Access behaviour</a:t>
            </a:r>
          </a:p>
        </p:txBody>
      </p:sp>
      <p:sp>
        <p:nvSpPr>
          <p:cNvPr id="44" name="a1wd585_td43"/>
          <p:cNvSpPr/>
          <p:nvPr/>
        </p:nvSpPr>
        <p:spPr>
          <a:xfrm>
            <a:off x="3063240" y="3794760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585_tdt44"/>
          <p:cNvSpPr txBox="1"/>
          <p:nvPr/>
        </p:nvSpPr>
        <p:spPr>
          <a:xfrm>
            <a:off x="3136392" y="3794760"/>
            <a:ext cx="3044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a wrong order, silently</a:t>
            </a:r>
          </a:p>
        </p:txBody>
      </p:sp>
      <p:sp>
        <p:nvSpPr>
          <p:cNvPr id="46" name="a1wd650_td45"/>
          <p:cNvSpPr/>
          <p:nvPr/>
        </p:nvSpPr>
        <p:spPr>
          <a:xfrm>
            <a:off x="3063240" y="4096512"/>
            <a:ext cx="3154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650_tdt46"/>
          <p:cNvSpPr txBox="1"/>
          <p:nvPr/>
        </p:nvSpPr>
        <p:spPr>
          <a:xfrm>
            <a:off x="3136392" y="4096512"/>
            <a:ext cx="30449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nothing wrong — it is inspect</a:t>
            </a:r>
          </a:p>
        </p:txBody>
      </p:sp>
      <p:sp>
        <p:nvSpPr>
          <p:cNvPr id="48" name="a1f_th47"/>
          <p:cNvSpPr/>
          <p:nvPr/>
        </p:nvSpPr>
        <p:spPr>
          <a:xfrm>
            <a:off x="6217920" y="1078992"/>
            <a:ext cx="2468880" cy="301752"/>
          </a:xfrm>
          <a:prstGeom prst="rect">
            <a:avLst/>
          </a:prstGeom>
          <a:solidFill>
            <a:srgbClr val="7A0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f_tht48"/>
          <p:cNvSpPr txBox="1"/>
          <p:nvPr/>
        </p:nvSpPr>
        <p:spPr>
          <a:xfrm>
            <a:off x="6291072" y="1078992"/>
            <a:ext cx="23591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50" name="a1wd65_td49"/>
          <p:cNvSpPr/>
          <p:nvPr/>
        </p:nvSpPr>
        <p:spPr>
          <a:xfrm>
            <a:off x="6217920" y="1380744"/>
            <a:ext cx="24688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65_tdt50"/>
          <p:cNvSpPr txBox="1"/>
          <p:nvPr/>
        </p:nvSpPr>
        <p:spPr>
          <a:xfrm>
            <a:off x="6291072" y="1380744"/>
            <a:ext cx="23591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[x | acc], reverse once</a:t>
            </a:r>
          </a:p>
        </p:txBody>
      </p:sp>
      <p:sp>
        <p:nvSpPr>
          <p:cNvPr id="52" name="a1wd130_td51"/>
          <p:cNvSpPr/>
          <p:nvPr/>
        </p:nvSpPr>
        <p:spPr>
          <a:xfrm>
            <a:off x="6217920" y="1682495"/>
            <a:ext cx="24688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wd130_tdt52"/>
          <p:cNvSpPr txBox="1"/>
          <p:nvPr/>
        </p:nvSpPr>
        <p:spPr>
          <a:xfrm>
            <a:off x="6291072" y="1682495"/>
            <a:ext cx="23591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m[:key] or Map.get/3</a:t>
            </a:r>
          </a:p>
        </p:txBody>
      </p:sp>
      <p:sp>
        <p:nvSpPr>
          <p:cNvPr id="54" name="a1wd195_td53"/>
          <p:cNvSpPr/>
          <p:nvPr/>
        </p:nvSpPr>
        <p:spPr>
          <a:xfrm>
            <a:off x="6217920" y="1984248"/>
            <a:ext cx="24688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195_tdt54"/>
          <p:cNvSpPr txBox="1"/>
          <p:nvPr/>
        </p:nvSpPr>
        <p:spPr>
          <a:xfrm>
            <a:off x="6291072" y="1984248"/>
            <a:ext cx="23591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Map.put/3</a:t>
            </a:r>
          </a:p>
        </p:txBody>
      </p:sp>
      <p:sp>
        <p:nvSpPr>
          <p:cNvPr id="56" name="a1wd260_td55"/>
          <p:cNvSpPr/>
          <p:nvPr/>
        </p:nvSpPr>
        <p:spPr>
          <a:xfrm>
            <a:off x="6217920" y="2286000"/>
            <a:ext cx="24688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260_tdt56"/>
          <p:cNvSpPr txBox="1"/>
          <p:nvPr/>
        </p:nvSpPr>
        <p:spPr>
          <a:xfrm>
            <a:off x="6291072" y="2286000"/>
            <a:ext cx="23591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a list, or Tuple.to_list/1</a:t>
            </a:r>
          </a:p>
        </p:txBody>
      </p:sp>
      <p:sp>
        <p:nvSpPr>
          <p:cNvPr id="58" name="a1wd325_td57"/>
          <p:cNvSpPr/>
          <p:nvPr/>
        </p:nvSpPr>
        <p:spPr>
          <a:xfrm>
            <a:off x="6217920" y="2587752"/>
            <a:ext cx="24688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1wd325_tdt58"/>
          <p:cNvSpPr txBox="1"/>
          <p:nvPr/>
        </p:nvSpPr>
        <p:spPr>
          <a:xfrm>
            <a:off x="6291072" y="2587752"/>
            <a:ext cx="23591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Map.new/2 or for ... into: %{}</a:t>
            </a:r>
          </a:p>
        </p:txBody>
      </p:sp>
      <p:sp>
        <p:nvSpPr>
          <p:cNvPr id="60" name="a1wd390_td59"/>
          <p:cNvSpPr/>
          <p:nvPr/>
        </p:nvSpPr>
        <p:spPr>
          <a:xfrm>
            <a:off x="6217920" y="2889504"/>
            <a:ext cx="24688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1wd390_tdt60"/>
          <p:cNvSpPr txBox="1"/>
          <p:nvPr/>
        </p:nvSpPr>
        <p:spPr>
          <a:xfrm>
            <a:off x="6291072" y="2889504"/>
            <a:ext cx="23591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Keyword.fetch!/2, opts[:a]</a:t>
            </a:r>
          </a:p>
        </p:txBody>
      </p:sp>
      <p:sp>
        <p:nvSpPr>
          <p:cNvPr id="62" name="a1wd455_td61"/>
          <p:cNvSpPr/>
          <p:nvPr/>
        </p:nvSpPr>
        <p:spPr>
          <a:xfrm>
            <a:off x="6217920" y="3191256"/>
            <a:ext cx="24688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1wd455_tdt62"/>
          <p:cNvSpPr txBox="1"/>
          <p:nvPr/>
        </p:nvSpPr>
        <p:spPr>
          <a:xfrm>
            <a:off x="6291072" y="3191256"/>
            <a:ext cx="23591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map_size(m) == 0</a:t>
            </a:r>
          </a:p>
        </p:txBody>
      </p:sp>
      <p:sp>
        <p:nvSpPr>
          <p:cNvPr id="64" name="a1wd520_td63"/>
          <p:cNvSpPr/>
          <p:nvPr/>
        </p:nvSpPr>
        <p:spPr>
          <a:xfrm>
            <a:off x="6217920" y="3493008"/>
            <a:ext cx="24688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1wd520_tdt64"/>
          <p:cNvSpPr txBox="1"/>
          <p:nvPr/>
        </p:nvSpPr>
        <p:spPr>
          <a:xfrm>
            <a:off x="6291072" y="3493008"/>
            <a:ext cx="23591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acct.balance</a:t>
            </a:r>
          </a:p>
        </p:txBody>
      </p:sp>
      <p:sp>
        <p:nvSpPr>
          <p:cNvPr id="66" name="a1wd585_td65"/>
          <p:cNvSpPr/>
          <p:nvPr/>
        </p:nvSpPr>
        <p:spPr>
          <a:xfrm>
            <a:off x="6217920" y="3794760"/>
            <a:ext cx="24688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a1wd585_tdt66"/>
          <p:cNvSpPr txBox="1"/>
          <p:nvPr/>
        </p:nvSpPr>
        <p:spPr>
          <a:xfrm>
            <a:off x="6291072" y="3794760"/>
            <a:ext cx="23591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Enum.sort(dates, Date)</a:t>
            </a:r>
          </a:p>
        </p:txBody>
      </p:sp>
      <p:sp>
        <p:nvSpPr>
          <p:cNvPr id="68" name="a1wd650_td67"/>
          <p:cNvSpPr/>
          <p:nvPr/>
        </p:nvSpPr>
        <p:spPr>
          <a:xfrm>
            <a:off x="6217920" y="4096512"/>
            <a:ext cx="24688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a1wd650_tdt68"/>
          <p:cNvSpPr txBox="1"/>
          <p:nvPr/>
        </p:nvSpPr>
        <p:spPr>
          <a:xfrm>
            <a:off x="6291072" y="4096512"/>
            <a:ext cx="23591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charlists: :as_lists</a:t>
            </a:r>
          </a:p>
        </p:txBody>
      </p:sp>
      <p:sp>
        <p:nvSpPr>
          <p:cNvPr id="70" name="ft6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error and timing on these slides is measured output</a:t>
            </a:r>
          </a:p>
        </p:txBody>
      </p:sp>
      <p:sp>
        <p:nvSpPr>
          <p:cNvPr id="71" name="ft7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</p:bld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h1"/>
          <p:cNvSpPr txBox="1"/>
          <p:nvPr/>
        </p:nvSpPr>
        <p:spPr>
          <a:xfrm>
            <a:off x="548640" y="384048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to take away</a:t>
            </a:r>
          </a:p>
        </p:txBody>
      </p:sp>
      <p:sp>
        <p:nvSpPr>
          <p:cNvPr id="3" name="a1u_n2"/>
          <p:cNvSpPr/>
          <p:nvPr/>
        </p:nvSpPr>
        <p:spPr>
          <a:xfrm>
            <a:off x="548640" y="12984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a1u_nt3"/>
          <p:cNvSpPr txBox="1"/>
          <p:nvPr/>
        </p:nvSpPr>
        <p:spPr>
          <a:xfrm>
            <a:off x="548640" y="129844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a1u_nb4"/>
          <p:cNvSpPr txBox="1"/>
          <p:nvPr/>
        </p:nvSpPr>
        <p:spPr>
          <a:xfrm>
            <a:off x="1152144" y="1252728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An update is a new value that shares the old one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cheap for prepend and Map.put; a full copy for ++ and put_elem</a:t>
            </a:r>
          </a:p>
        </p:txBody>
      </p:sp>
      <p:sp>
        <p:nvSpPr>
          <p:cNvPr id="6" name="a1ud200_n5"/>
          <p:cNvSpPr/>
          <p:nvPr/>
        </p:nvSpPr>
        <p:spPr>
          <a:xfrm>
            <a:off x="548640" y="204825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200_nt6"/>
          <p:cNvSpPr txBox="1"/>
          <p:nvPr/>
        </p:nvSpPr>
        <p:spPr>
          <a:xfrm>
            <a:off x="548640" y="2048255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a1ud200_nb7"/>
          <p:cNvSpPr txBox="1"/>
          <p:nvPr/>
        </p:nvSpPr>
        <p:spPr>
          <a:xfrm>
            <a:off x="1152144" y="2002536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Tuples for shape, lists for sequence, maps for keys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keyword lists for options, structs for records, MapSet for membership</a:t>
            </a:r>
          </a:p>
        </p:txBody>
      </p:sp>
      <p:sp>
        <p:nvSpPr>
          <p:cNvPr id="9" name="a1ud400_n8"/>
          <p:cNvSpPr/>
          <p:nvPr/>
        </p:nvSpPr>
        <p:spPr>
          <a:xfrm>
            <a:off x="548640" y="279806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400_nt9"/>
          <p:cNvSpPr txBox="1"/>
          <p:nvPr/>
        </p:nvSpPr>
        <p:spPr>
          <a:xfrm>
            <a:off x="548640" y="2798063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a1ud400_nb10"/>
          <p:cNvSpPr txBox="1"/>
          <p:nvPr/>
        </p:nvSpPr>
        <p:spPr>
          <a:xfrm>
            <a:off x="1152144" y="2752344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Enum returns a list; for and into: return a shape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Stream when the data is big, endless, or you stop early</a:t>
            </a:r>
          </a:p>
        </p:txBody>
      </p:sp>
      <p:sp>
        <p:nvSpPr>
          <p:cNvPr id="12" name="a1ud600_n11"/>
          <p:cNvSpPr/>
          <p:nvPr/>
        </p:nvSpPr>
        <p:spPr>
          <a:xfrm>
            <a:off x="548640" y="3547871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600_nt12"/>
          <p:cNvSpPr txBox="1"/>
          <p:nvPr/>
        </p:nvSpPr>
        <p:spPr>
          <a:xfrm>
            <a:off x="548640" y="3547871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a1ud600_nb13"/>
          <p:cNvSpPr txBox="1"/>
          <p:nvPr/>
        </p:nvSpPr>
        <p:spPr>
          <a:xfrm>
            <a:off x="1152144" y="3502151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Patterns take collections apart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[h | t] and %{key: v} in the head; %{} matches every map</a:t>
            </a:r>
          </a:p>
        </p:txBody>
      </p:sp>
      <p:sp>
        <p:nvSpPr>
          <p:cNvPr id="15" name="a2u_next14"/>
          <p:cNvSpPr/>
          <p:nvPr/>
        </p:nvSpPr>
        <p:spPr>
          <a:xfrm>
            <a:off x="6172200" y="3246120"/>
            <a:ext cx="2514600" cy="1005840"/>
          </a:xfrm>
          <a:prstGeom prst="roundRect">
            <a:avLst>
              <a:gd name="adj" fmla="val 909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u_nextt15"/>
          <p:cNvSpPr txBox="1"/>
          <p:nvPr/>
        </p:nvSpPr>
        <p:spPr>
          <a:xfrm>
            <a:off x="6355080" y="3364992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spc="220">
                <a:solidFill>
                  <a:srgbClr val="9B72CF"/>
                </a:solidFill>
                <a:latin typeface="Calibri"/>
              </a:rPr>
              <a:t>UP NEXT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Session 9 — macros:
quote, unquote, and
writing your own __using__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