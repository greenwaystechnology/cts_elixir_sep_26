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f_kick1"/>
          <p:cNvSpPr txBox="1"/>
          <p:nvPr/>
        </p:nvSpPr>
        <p:spPr>
          <a:xfrm>
            <a:off x="548640" y="868680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spc="300">
                <a:solidFill>
                  <a:srgbClr val="9B72CF"/>
                </a:solidFill>
                <a:latin typeface="Calibri"/>
              </a:rPr>
              <a:t>ELIXIR · MODULES</a:t>
            </a:r>
          </a:p>
        </p:txBody>
      </p:sp>
      <p:sp>
        <p:nvSpPr>
          <p:cNvPr id="3" name="a0ud200_t2"/>
          <p:cNvSpPr txBox="1"/>
          <p:nvPr/>
        </p:nvSpPr>
        <p:spPr>
          <a:xfrm>
            <a:off x="548640" y="1188720"/>
            <a:ext cx="521208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Modules</a:t>
            </a:r>
          </a:p>
        </p:txBody>
      </p:sp>
      <p:sp>
        <p:nvSpPr>
          <p:cNvPr id="4" name="a0fd500_sub3"/>
          <p:cNvSpPr txBox="1"/>
          <p:nvPr/>
        </p:nvSpPr>
        <p:spPr>
          <a:xfrm>
            <a:off x="548640" y="267004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The only container Elixir has — and the four ways one reaches another.</a:t>
            </a:r>
          </a:p>
        </p:txBody>
      </p:sp>
      <p:sp>
        <p:nvSpPr>
          <p:cNvPr id="5" name="a0ud800_pill4"/>
          <p:cNvSpPr/>
          <p:nvPr/>
        </p:nvSpPr>
        <p:spPr>
          <a:xfrm>
            <a:off x="548640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defmodule</a:t>
            </a:r>
          </a:p>
        </p:txBody>
      </p:sp>
      <p:sp>
        <p:nvSpPr>
          <p:cNvPr id="6" name="a0ud950_pill5"/>
          <p:cNvSpPr/>
          <p:nvPr/>
        </p:nvSpPr>
        <p:spPr>
          <a:xfrm>
            <a:off x="1572768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alias</a:t>
            </a:r>
          </a:p>
        </p:txBody>
      </p:sp>
      <p:sp>
        <p:nvSpPr>
          <p:cNvPr id="7" name="a0ud1100_pill6"/>
          <p:cNvSpPr/>
          <p:nvPr/>
        </p:nvSpPr>
        <p:spPr>
          <a:xfrm>
            <a:off x="2596896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@attr</a:t>
            </a:r>
          </a:p>
        </p:txBody>
      </p:sp>
      <p:sp>
        <p:nvSpPr>
          <p:cNvPr id="8" name="a0fd1400_nt7"/>
          <p:cNvSpPr txBox="1"/>
          <p:nvPr/>
        </p:nvSpPr>
        <p:spPr>
          <a:xfrm>
            <a:off x="548640" y="395020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Session 6 · functions and macros are declared here, explained later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ROADMAP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we cover today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70431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u_acc4"/>
          <p:cNvSpPr/>
          <p:nvPr/>
        </p:nvSpPr>
        <p:spPr>
          <a:xfrm>
            <a:off x="457200" y="1170431"/>
            <a:ext cx="1906524" cy="50292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ud60_ic5"/>
          <p:cNvSpPr/>
          <p:nvPr/>
        </p:nvSpPr>
        <p:spPr>
          <a:xfrm>
            <a:off x="621792" y="1371599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a1ud60_ict6"/>
          <p:cNvSpPr txBox="1"/>
          <p:nvPr/>
        </p:nvSpPr>
        <p:spPr>
          <a:xfrm>
            <a:off x="621792" y="137159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a1ud90_ct7"/>
          <p:cNvSpPr txBox="1"/>
          <p:nvPr/>
        </p:nvSpPr>
        <p:spPr>
          <a:xfrm>
            <a:off x="621792" y="1847087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Declaring one</a:t>
            </a:r>
          </a:p>
        </p:txBody>
      </p:sp>
      <p:sp>
        <p:nvSpPr>
          <p:cNvPr id="9" name="a1ud120_cs8"/>
          <p:cNvSpPr txBox="1"/>
          <p:nvPr/>
        </p:nvSpPr>
        <p:spPr>
          <a:xfrm>
            <a:off x="621792" y="2121407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6B3FA0"/>
                </a:solidFill>
                <a:latin typeface="Courier New"/>
              </a:rPr>
              <a:t>defmodule</a:t>
            </a:r>
          </a:p>
        </p:txBody>
      </p:sp>
      <p:sp>
        <p:nvSpPr>
          <p:cNvPr id="10" name="a1ud150_cb9"/>
          <p:cNvSpPr txBox="1"/>
          <p:nvPr/>
        </p:nvSpPr>
        <p:spPr>
          <a:xfrm>
            <a:off x="621792" y="2377439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 macro, not a keyword</a:t>
            </a:r>
          </a:p>
        </p:txBody>
      </p:sp>
      <p:sp>
        <p:nvSpPr>
          <p:cNvPr id="11" name="a1ud220_cb10"/>
          <p:cNvSpPr txBox="1"/>
          <p:nvPr/>
        </p:nvSpPr>
        <p:spPr>
          <a:xfrm>
            <a:off x="621792" y="2761487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The body runs at compile time</a:t>
            </a:r>
          </a:p>
        </p:txBody>
      </p:sp>
      <p:sp>
        <p:nvSpPr>
          <p:cNvPr id="12" name="a1ud290_cb11"/>
          <p:cNvSpPr txBox="1"/>
          <p:nvPr/>
        </p:nvSpPr>
        <p:spPr>
          <a:xfrm>
            <a:off x="621792" y="3145535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Names and namespaces</a:t>
            </a:r>
          </a:p>
        </p:txBody>
      </p:sp>
      <p:sp>
        <p:nvSpPr>
          <p:cNvPr id="13" name="a2u_card12"/>
          <p:cNvSpPr/>
          <p:nvPr/>
        </p:nvSpPr>
        <p:spPr>
          <a:xfrm>
            <a:off x="2564892" y="1170431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a2u_acc13"/>
          <p:cNvSpPr/>
          <p:nvPr/>
        </p:nvSpPr>
        <p:spPr>
          <a:xfrm>
            <a:off x="2564892" y="1170431"/>
            <a:ext cx="1906524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a2ud60_ic14"/>
          <p:cNvSpPr/>
          <p:nvPr/>
        </p:nvSpPr>
        <p:spPr>
          <a:xfrm>
            <a:off x="2729484" y="1371599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2ud60_ict15"/>
          <p:cNvSpPr txBox="1"/>
          <p:nvPr/>
        </p:nvSpPr>
        <p:spPr>
          <a:xfrm>
            <a:off x="2729484" y="137159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a2ud90_ct16"/>
          <p:cNvSpPr txBox="1"/>
          <p:nvPr/>
        </p:nvSpPr>
        <p:spPr>
          <a:xfrm>
            <a:off x="2729484" y="1847087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What goes in</a:t>
            </a:r>
          </a:p>
        </p:txBody>
      </p:sp>
      <p:sp>
        <p:nvSpPr>
          <p:cNvPr id="18" name="a2ud120_cs17"/>
          <p:cNvSpPr txBox="1"/>
          <p:nvPr/>
        </p:nvSpPr>
        <p:spPr>
          <a:xfrm>
            <a:off x="2729484" y="2121407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ourier New"/>
              </a:rPr>
              <a:t>def defp @</a:t>
            </a:r>
          </a:p>
        </p:txBody>
      </p:sp>
      <p:sp>
        <p:nvSpPr>
          <p:cNvPr id="19" name="a2ud150_cb18"/>
          <p:cNvSpPr txBox="1"/>
          <p:nvPr/>
        </p:nvSpPr>
        <p:spPr>
          <a:xfrm>
            <a:off x="2729484" y="2377439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The full inventory</a:t>
            </a:r>
          </a:p>
        </p:txBody>
      </p:sp>
      <p:sp>
        <p:nvSpPr>
          <p:cNvPr id="20" name="a2ud220_cb19"/>
          <p:cNvSpPr txBox="1"/>
          <p:nvPr/>
        </p:nvSpPr>
        <p:spPr>
          <a:xfrm>
            <a:off x="2729484" y="2761487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Public vs private</a:t>
            </a:r>
          </a:p>
        </p:txBody>
      </p:sp>
      <p:sp>
        <p:nvSpPr>
          <p:cNvPr id="21" name="a2ud290_cb20"/>
          <p:cNvSpPr txBox="1"/>
          <p:nvPr/>
        </p:nvSpPr>
        <p:spPr>
          <a:xfrm>
            <a:off x="2729484" y="3145535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struct, exception, protocol</a:t>
            </a:r>
          </a:p>
        </p:txBody>
      </p:sp>
      <p:sp>
        <p:nvSpPr>
          <p:cNvPr id="22" name="a3u_card21"/>
          <p:cNvSpPr/>
          <p:nvPr/>
        </p:nvSpPr>
        <p:spPr>
          <a:xfrm>
            <a:off x="4672584" y="1170431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a3u_acc22"/>
          <p:cNvSpPr/>
          <p:nvPr/>
        </p:nvSpPr>
        <p:spPr>
          <a:xfrm>
            <a:off x="4672584" y="1170431"/>
            <a:ext cx="1906524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a3ud60_ic23"/>
          <p:cNvSpPr/>
          <p:nvPr/>
        </p:nvSpPr>
        <p:spPr>
          <a:xfrm>
            <a:off x="4837176" y="1371599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a3ud60_ict24"/>
          <p:cNvSpPr txBox="1"/>
          <p:nvPr/>
        </p:nvSpPr>
        <p:spPr>
          <a:xfrm>
            <a:off x="4837176" y="137159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a3ud90_ct25"/>
          <p:cNvSpPr txBox="1"/>
          <p:nvPr/>
        </p:nvSpPr>
        <p:spPr>
          <a:xfrm>
            <a:off x="4837176" y="1847087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Reaching out</a:t>
            </a:r>
          </a:p>
        </p:txBody>
      </p:sp>
      <p:sp>
        <p:nvSpPr>
          <p:cNvPr id="27" name="a3ud120_cs26"/>
          <p:cNvSpPr txBox="1"/>
          <p:nvPr/>
        </p:nvSpPr>
        <p:spPr>
          <a:xfrm>
            <a:off x="4837176" y="2121407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ourier New"/>
              </a:rPr>
              <a:t>alias use</a:t>
            </a:r>
          </a:p>
        </p:txBody>
      </p:sp>
      <p:sp>
        <p:nvSpPr>
          <p:cNvPr id="28" name="a3ud150_cb27"/>
          <p:cNvSpPr txBox="1"/>
          <p:nvPr/>
        </p:nvSpPr>
        <p:spPr>
          <a:xfrm>
            <a:off x="4837176" y="2377439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alias · require</a:t>
            </a:r>
          </a:p>
        </p:txBody>
      </p:sp>
      <p:sp>
        <p:nvSpPr>
          <p:cNvPr id="29" name="a3ud220_cb28"/>
          <p:cNvSpPr txBox="1"/>
          <p:nvPr/>
        </p:nvSpPr>
        <p:spPr>
          <a:xfrm>
            <a:off x="4837176" y="2761487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import · use</a:t>
            </a:r>
          </a:p>
        </p:txBody>
      </p:sp>
      <p:sp>
        <p:nvSpPr>
          <p:cNvPr id="30" name="a3ud290_cb29"/>
          <p:cNvSpPr txBox="1"/>
          <p:nvPr/>
        </p:nvSpPr>
        <p:spPr>
          <a:xfrm>
            <a:off x="4837176" y="3145535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Which one, when</a:t>
            </a:r>
          </a:p>
        </p:txBody>
      </p:sp>
      <p:sp>
        <p:nvSpPr>
          <p:cNvPr id="31" name="a4u_card30"/>
          <p:cNvSpPr/>
          <p:nvPr/>
        </p:nvSpPr>
        <p:spPr>
          <a:xfrm>
            <a:off x="6780276" y="1170431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a4u_acc31"/>
          <p:cNvSpPr/>
          <p:nvPr/>
        </p:nvSpPr>
        <p:spPr>
          <a:xfrm>
            <a:off x="6780276" y="1170431"/>
            <a:ext cx="1906524" cy="50292"/>
          </a:xfrm>
          <a:prstGeom prst="rect">
            <a:avLst/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a4ud60_ic32"/>
          <p:cNvSpPr/>
          <p:nvPr/>
        </p:nvSpPr>
        <p:spPr>
          <a:xfrm>
            <a:off x="6944868" y="1371599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a4ud60_ict33"/>
          <p:cNvSpPr txBox="1"/>
          <p:nvPr/>
        </p:nvSpPr>
        <p:spPr>
          <a:xfrm>
            <a:off x="6944868" y="137159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a4ud90_ct34"/>
          <p:cNvSpPr txBox="1"/>
          <p:nvPr/>
        </p:nvSpPr>
        <p:spPr>
          <a:xfrm>
            <a:off x="6944868" y="1847087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Attributes</a:t>
            </a:r>
          </a:p>
        </p:txBody>
      </p:sp>
      <p:sp>
        <p:nvSpPr>
          <p:cNvPr id="36" name="a4ud120_cs35"/>
          <p:cNvSpPr txBox="1"/>
          <p:nvPr/>
        </p:nvSpPr>
        <p:spPr>
          <a:xfrm>
            <a:off x="6944868" y="2121407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A90533"/>
                </a:solidFill>
                <a:latin typeface="Courier New"/>
              </a:rPr>
              <a:t>@limit</a:t>
            </a:r>
          </a:p>
        </p:txBody>
      </p:sp>
      <p:sp>
        <p:nvSpPr>
          <p:cNvPr id="37" name="a4ud150_cb36"/>
          <p:cNvSpPr txBox="1"/>
          <p:nvPr/>
        </p:nvSpPr>
        <p:spPr>
          <a:xfrm>
            <a:off x="6944868" y="2377439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Compile-time constants</a:t>
            </a:r>
          </a:p>
        </p:txBody>
      </p:sp>
      <p:sp>
        <p:nvSpPr>
          <p:cNvPr id="38" name="a4ud220_cb37"/>
          <p:cNvSpPr txBox="1"/>
          <p:nvPr/>
        </p:nvSpPr>
        <p:spPr>
          <a:xfrm>
            <a:off x="6944868" y="2761487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Docs and behaviours</a:t>
            </a:r>
          </a:p>
        </p:txBody>
      </p:sp>
      <p:sp>
        <p:nvSpPr>
          <p:cNvPr id="39" name="a4ud290_cb38"/>
          <p:cNvSpPr txBox="1"/>
          <p:nvPr/>
        </p:nvSpPr>
        <p:spPr>
          <a:xfrm>
            <a:off x="6944868" y="3145535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The compiler hooks</a:t>
            </a:r>
          </a:p>
        </p:txBody>
      </p:sp>
      <p:sp>
        <p:nvSpPr>
          <p:cNvPr id="40" name="a5f_nb39"/>
          <p:cNvSpPr/>
          <p:nvPr/>
        </p:nvSpPr>
        <p:spPr>
          <a:xfrm>
            <a:off x="457200" y="376732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a5f_nacc40"/>
          <p:cNvSpPr/>
          <p:nvPr/>
        </p:nvSpPr>
        <p:spPr>
          <a:xfrm>
            <a:off x="457200" y="3767328"/>
            <a:ext cx="50292" cy="566928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a5f_nt41"/>
          <p:cNvSpPr txBox="1"/>
          <p:nvPr/>
        </p:nvSpPr>
        <p:spPr>
          <a:xfrm>
            <a:off x="658368" y="3767328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A module is the only way to name a function in Elixir. There are no classes, no objects and no packages — a module, a name, and a handful of directives that say how one module is allowed to see another.</a:t>
            </a:r>
          </a:p>
        </p:txBody>
      </p:sp>
      <p:sp>
        <p:nvSpPr>
          <p:cNvPr id="43" name="ft4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44" name="ft4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01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Declaring a module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defmodule is a macro whose body is
ordinary code, run at compile time.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defmodule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__MODULE__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one .beam each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DECLARATION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defmodule is a macro, not a keyword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It takes a name and a block, and it returns a value like everything else.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62456"/>
            <a:ext cx="8229600" cy="2564891"/>
          </a:xfrm>
          <a:prstGeom prst="roundRect">
            <a:avLst>
              <a:gd name="adj" fmla="val 285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417320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probe_modules.exs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01368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result = defmodule Greeter do</a:t>
            </a:r>
          </a:p>
        </p:txBody>
      </p:sp>
      <p:sp>
        <p:nvSpPr>
          <p:cNvPr id="8" name="a1wd70_code7"/>
          <p:cNvSpPr txBox="1"/>
          <p:nvPr/>
        </p:nvSpPr>
        <p:spPr>
          <a:xfrm>
            <a:off x="621792" y="1979676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def hello(name), do: "hi " &lt;&gt; name</a:t>
            </a:r>
          </a:p>
        </p:txBody>
      </p:sp>
      <p:sp>
        <p:nvSpPr>
          <p:cNvPr id="9" name="a1wd140_code8"/>
          <p:cNvSpPr txBox="1"/>
          <p:nvPr/>
        </p:nvSpPr>
        <p:spPr>
          <a:xfrm>
            <a:off x="621792" y="2157984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0" name="a1wd210_code9"/>
          <p:cNvSpPr txBox="1"/>
          <p:nvPr/>
        </p:nvSpPr>
        <p:spPr>
          <a:xfrm>
            <a:off x="621792" y="2336291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1" name="a1wd280_code10"/>
          <p:cNvSpPr txBox="1"/>
          <p:nvPr/>
        </p:nvSpPr>
        <p:spPr>
          <a:xfrm>
            <a:off x="621792" y="2514600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macro_exported?(Kernel, :defmodule, 2)   #=&gt; true</a:t>
            </a:r>
          </a:p>
        </p:txBody>
      </p:sp>
      <p:sp>
        <p:nvSpPr>
          <p:cNvPr id="12" name="a1wd350_code11"/>
          <p:cNvSpPr txBox="1"/>
          <p:nvPr/>
        </p:nvSpPr>
        <p:spPr>
          <a:xfrm>
            <a:off x="621792" y="2692908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3" name="a1wd420_code12"/>
          <p:cNvSpPr txBox="1"/>
          <p:nvPr/>
        </p:nvSpPr>
        <p:spPr>
          <a:xfrm>
            <a:off x="621792" y="2871215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ourier New"/>
              </a:rPr>
              <a:t>{tag, name, bin, last} = result</a:t>
            </a:r>
          </a:p>
        </p:txBody>
      </p:sp>
      <p:sp>
        <p:nvSpPr>
          <p:cNvPr id="14" name="a1wd490_code13"/>
          <p:cNvSpPr txBox="1"/>
          <p:nvPr/>
        </p:nvSpPr>
        <p:spPr>
          <a:xfrm>
            <a:off x="621792" y="3049524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tag    #=&gt; :module</a:t>
            </a:r>
          </a:p>
        </p:txBody>
      </p:sp>
      <p:sp>
        <p:nvSpPr>
          <p:cNvPr id="15" name="a1wd560_code14"/>
          <p:cNvSpPr txBox="1"/>
          <p:nvPr/>
        </p:nvSpPr>
        <p:spPr>
          <a:xfrm>
            <a:off x="621792" y="3227832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name   #=&gt; Greeter          an atom - see session 5</a:t>
            </a:r>
          </a:p>
        </p:txBody>
      </p:sp>
      <p:sp>
        <p:nvSpPr>
          <p:cNvPr id="16" name="a1wd630_code15"/>
          <p:cNvSpPr txBox="1"/>
          <p:nvPr/>
        </p:nvSpPr>
        <p:spPr>
          <a:xfrm>
            <a:off x="621792" y="3406140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bin    #=&gt; 1724 bytes of BEAM code</a:t>
            </a:r>
          </a:p>
        </p:txBody>
      </p:sp>
      <p:sp>
        <p:nvSpPr>
          <p:cNvPr id="17" name="a1wd700_code16"/>
          <p:cNvSpPr txBox="1"/>
          <p:nvPr/>
        </p:nvSpPr>
        <p:spPr>
          <a:xfrm>
            <a:off x="621792" y="3584448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last   #=&gt; {:hello, 1}      the last expression in the body</a:t>
            </a:r>
          </a:p>
        </p:txBody>
      </p:sp>
      <p:sp>
        <p:nvSpPr>
          <p:cNvPr id="18" name="a2f_nb17"/>
          <p:cNvSpPr/>
          <p:nvPr/>
        </p:nvSpPr>
        <p:spPr>
          <a:xfrm>
            <a:off x="457200" y="4055363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2f_nacc18"/>
          <p:cNvSpPr/>
          <p:nvPr/>
        </p:nvSpPr>
        <p:spPr>
          <a:xfrm>
            <a:off x="457200" y="4055363"/>
            <a:ext cx="50292" cy="54864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a2f_nt19"/>
          <p:cNvSpPr txBox="1"/>
          <p:nvPr/>
        </p:nvSpPr>
        <p:spPr>
          <a:xfrm>
            <a:off x="658368" y="4055363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There is nothing declarative about it. defmodule compiles the block into a BEAM binary, loads it, and hands you a four-tuple — which is why you can call it inside an if, a loop, or a function that builds modules from a database schema.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THE BIG ONE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body runs at compile time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Ordinary code — and it runs when you compile, not when you call.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62456"/>
            <a:ext cx="4892040" cy="1892807"/>
          </a:xfrm>
          <a:prstGeom prst="roundRect">
            <a:avLst>
              <a:gd name="adj" fmla="val 386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417320"/>
            <a:ext cx="456285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the module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01368"/>
            <a:ext cx="456285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defmodule Noisy do</a:t>
            </a:r>
          </a:p>
        </p:txBody>
      </p:sp>
      <p:sp>
        <p:nvSpPr>
          <p:cNvPr id="8" name="a1wd90_code7"/>
          <p:cNvSpPr txBox="1"/>
          <p:nvPr/>
        </p:nvSpPr>
        <p:spPr>
          <a:xfrm>
            <a:off x="621792" y="2016252"/>
            <a:ext cx="456285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IO.puts("compiling...")</a:t>
            </a:r>
          </a:p>
        </p:txBody>
      </p:sp>
      <p:sp>
        <p:nvSpPr>
          <p:cNvPr id="9" name="a1wd180_code8"/>
          <p:cNvSpPr txBox="1"/>
          <p:nvPr/>
        </p:nvSpPr>
        <p:spPr>
          <a:xfrm>
            <a:off x="621792" y="2231136"/>
            <a:ext cx="456285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@built_at :erlang.system_time()</a:t>
            </a:r>
          </a:p>
        </p:txBody>
      </p:sp>
      <p:sp>
        <p:nvSpPr>
          <p:cNvPr id="10" name="a1wd270_code9"/>
          <p:cNvSpPr txBox="1"/>
          <p:nvPr/>
        </p:nvSpPr>
        <p:spPr>
          <a:xfrm>
            <a:off x="621792" y="2446020"/>
            <a:ext cx="456285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def built_at, do: @built_at</a:t>
            </a:r>
          </a:p>
        </p:txBody>
      </p:sp>
      <p:sp>
        <p:nvSpPr>
          <p:cNvPr id="11" name="a1wd360_code10"/>
          <p:cNvSpPr txBox="1"/>
          <p:nvPr/>
        </p:nvSpPr>
        <p:spPr>
          <a:xfrm>
            <a:off x="621792" y="2660904"/>
            <a:ext cx="456285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IO.puts("...still compiling")</a:t>
            </a:r>
          </a:p>
        </p:txBody>
      </p:sp>
      <p:sp>
        <p:nvSpPr>
          <p:cNvPr id="12" name="a1wd450_code11"/>
          <p:cNvSpPr txBox="1"/>
          <p:nvPr/>
        </p:nvSpPr>
        <p:spPr>
          <a:xfrm>
            <a:off x="621792" y="2875787"/>
            <a:ext cx="456285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3" name="a2f_codebg12"/>
          <p:cNvSpPr/>
          <p:nvPr/>
        </p:nvSpPr>
        <p:spPr>
          <a:xfrm>
            <a:off x="5440680" y="1362456"/>
            <a:ext cx="3246120" cy="1892807"/>
          </a:xfrm>
          <a:prstGeom prst="roundRect">
            <a:avLst>
              <a:gd name="adj" fmla="val 386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a2f_codeh13"/>
          <p:cNvSpPr txBox="1"/>
          <p:nvPr/>
        </p:nvSpPr>
        <p:spPr>
          <a:xfrm>
            <a:off x="5605272" y="1417320"/>
            <a:ext cx="29169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output</a:t>
            </a:r>
          </a:p>
        </p:txBody>
      </p:sp>
      <p:sp>
        <p:nvSpPr>
          <p:cNvPr id="15" name="a2w_code14"/>
          <p:cNvSpPr txBox="1"/>
          <p:nvPr/>
        </p:nvSpPr>
        <p:spPr>
          <a:xfrm>
            <a:off x="5605272" y="1801368"/>
            <a:ext cx="29169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compiling...</a:t>
            </a:r>
          </a:p>
        </p:txBody>
      </p:sp>
      <p:sp>
        <p:nvSpPr>
          <p:cNvPr id="16" name="a2wd90_code15"/>
          <p:cNvSpPr txBox="1"/>
          <p:nvPr/>
        </p:nvSpPr>
        <p:spPr>
          <a:xfrm>
            <a:off x="5605272" y="2016252"/>
            <a:ext cx="29169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...still compiling</a:t>
            </a:r>
          </a:p>
        </p:txBody>
      </p:sp>
      <p:sp>
        <p:nvSpPr>
          <p:cNvPr id="17" name="a2wd180_code16"/>
          <p:cNvSpPr txBox="1"/>
          <p:nvPr/>
        </p:nvSpPr>
        <p:spPr>
          <a:xfrm>
            <a:off x="5605272" y="2231136"/>
            <a:ext cx="29169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8" name="a2wd270_code17"/>
          <p:cNvSpPr txBox="1"/>
          <p:nvPr/>
        </p:nvSpPr>
        <p:spPr>
          <a:xfrm>
            <a:off x="5605272" y="2446020"/>
            <a:ext cx="29169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built_at() -&gt; 1790157999522</a:t>
            </a:r>
          </a:p>
        </p:txBody>
      </p:sp>
      <p:sp>
        <p:nvSpPr>
          <p:cNvPr id="19" name="a2wd360_code18"/>
          <p:cNvSpPr txBox="1"/>
          <p:nvPr/>
        </p:nvSpPr>
        <p:spPr>
          <a:xfrm>
            <a:off x="5605272" y="2660904"/>
            <a:ext cx="29169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built_at() -&gt; 1790157999522</a:t>
            </a:r>
          </a:p>
        </p:txBody>
      </p:sp>
      <p:sp>
        <p:nvSpPr>
          <p:cNvPr id="20" name="a2wd450_code19"/>
          <p:cNvSpPr txBox="1"/>
          <p:nvPr/>
        </p:nvSpPr>
        <p:spPr>
          <a:xfrm>
            <a:off x="5605272" y="2875787"/>
            <a:ext cx="29169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ourier New"/>
              </a:rPr>
              <a:t>   same number, 5ms later</a:t>
            </a:r>
          </a:p>
        </p:txBody>
      </p:sp>
      <p:sp>
        <p:nvSpPr>
          <p:cNvPr id="21" name="a3u_dot20"/>
          <p:cNvSpPr/>
          <p:nvPr/>
        </p:nvSpPr>
        <p:spPr>
          <a:xfrm>
            <a:off x="457200" y="3502151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a3u_b21"/>
          <p:cNvSpPr txBox="1"/>
          <p:nvPr/>
        </p:nvSpPr>
        <p:spPr>
          <a:xfrm>
            <a:off x="676656" y="3401568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The two IO.puts ran during compilation  </a:t>
            </a:r>
            <a:r>
              <a:rPr sz="1150" b="0">
                <a:solidFill>
                  <a:srgbClr val="334155"/>
                </a:solidFill>
                <a:latin typeface="Calibri"/>
              </a:rPr>
              <a:t>and never run again — they are not in the module</a:t>
            </a:r>
          </a:p>
        </p:txBody>
      </p:sp>
      <p:sp>
        <p:nvSpPr>
          <p:cNvPr id="23" name="a3ud200_dot22"/>
          <p:cNvSpPr/>
          <p:nvPr/>
        </p:nvSpPr>
        <p:spPr>
          <a:xfrm>
            <a:off x="457200" y="3959352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a3ud200_b23"/>
          <p:cNvSpPr txBox="1"/>
          <p:nvPr/>
        </p:nvSpPr>
        <p:spPr>
          <a:xfrm>
            <a:off x="676656" y="3858768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@built_at was frozen the moment it was compiled  </a:t>
            </a:r>
            <a:r>
              <a:rPr sz="1150" b="0">
                <a:solidFill>
                  <a:srgbClr val="334155"/>
                </a:solidFill>
                <a:latin typeface="Calibri"/>
              </a:rPr>
              <a:t>an attribute holding DateTime.utc_now() records BUILD time</a:t>
            </a:r>
          </a:p>
        </p:txBody>
      </p:sp>
      <p:sp>
        <p:nvSpPr>
          <p:cNvPr id="25" name="ft2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NAMES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name is an alias, and the alias is an atom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Capital letter, dots for namespacing, Elixir. prefix underneath.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62456"/>
            <a:ext cx="4892040" cy="2523744"/>
          </a:xfrm>
          <a:prstGeom prst="roundRect">
            <a:avLst>
              <a:gd name="adj" fmla="val 289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417320"/>
            <a:ext cx="456285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01368"/>
            <a:ext cx="45628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defmodule MyApp.Accounts do</a:t>
            </a:r>
          </a:p>
        </p:txBody>
      </p:sp>
      <p:sp>
        <p:nvSpPr>
          <p:cNvPr id="8" name="a1wd70_code7"/>
          <p:cNvSpPr txBox="1"/>
          <p:nvPr/>
        </p:nvSpPr>
        <p:spPr>
          <a:xfrm>
            <a:off x="621792" y="1993392"/>
            <a:ext cx="45628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def who, do: __MODULE__</a:t>
            </a:r>
          </a:p>
        </p:txBody>
      </p:sp>
      <p:sp>
        <p:nvSpPr>
          <p:cNvPr id="9" name="a1wd140_code8"/>
          <p:cNvSpPr txBox="1"/>
          <p:nvPr/>
        </p:nvSpPr>
        <p:spPr>
          <a:xfrm>
            <a:off x="621792" y="2185416"/>
            <a:ext cx="45628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0" name="a1wd210_code9"/>
          <p:cNvSpPr txBox="1"/>
          <p:nvPr/>
        </p:nvSpPr>
        <p:spPr>
          <a:xfrm>
            <a:off x="621792" y="2377440"/>
            <a:ext cx="45628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1" name="a1wd280_code10"/>
          <p:cNvSpPr txBox="1"/>
          <p:nvPr/>
        </p:nvSpPr>
        <p:spPr>
          <a:xfrm>
            <a:off x="621792" y="2569464"/>
            <a:ext cx="45628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ourier New"/>
              </a:rPr>
              <a:t>MyApp.Accounts.who()</a:t>
            </a:r>
          </a:p>
        </p:txBody>
      </p:sp>
      <p:sp>
        <p:nvSpPr>
          <p:cNvPr id="12" name="a1wd350_code11"/>
          <p:cNvSpPr txBox="1"/>
          <p:nvPr/>
        </p:nvSpPr>
        <p:spPr>
          <a:xfrm>
            <a:off x="621792" y="2761488"/>
            <a:ext cx="45628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#=&gt; MyApp.Accounts</a:t>
            </a:r>
          </a:p>
        </p:txBody>
      </p:sp>
      <p:sp>
        <p:nvSpPr>
          <p:cNvPr id="13" name="a1wd420_code12"/>
          <p:cNvSpPr txBox="1"/>
          <p:nvPr/>
        </p:nvSpPr>
        <p:spPr>
          <a:xfrm>
            <a:off x="621792" y="2953512"/>
            <a:ext cx="45628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4" name="a1wd490_code13"/>
          <p:cNvSpPr txBox="1"/>
          <p:nvPr/>
        </p:nvSpPr>
        <p:spPr>
          <a:xfrm>
            <a:off x="621792" y="3145536"/>
            <a:ext cx="45628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is_atom(MyApp.Accounts)   #=&gt; true</a:t>
            </a:r>
          </a:p>
        </p:txBody>
      </p:sp>
      <p:sp>
        <p:nvSpPr>
          <p:cNvPr id="15" name="a1wd560_code14"/>
          <p:cNvSpPr txBox="1"/>
          <p:nvPr/>
        </p:nvSpPr>
        <p:spPr>
          <a:xfrm>
            <a:off x="621792" y="3337560"/>
            <a:ext cx="45628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ourier New"/>
              </a:rPr>
              <a:t>Atom.to_string(Outer.Inner)</a:t>
            </a:r>
          </a:p>
        </p:txBody>
      </p:sp>
      <p:sp>
        <p:nvSpPr>
          <p:cNvPr id="16" name="a1wd630_code15"/>
          <p:cNvSpPr txBox="1"/>
          <p:nvPr/>
        </p:nvSpPr>
        <p:spPr>
          <a:xfrm>
            <a:off x="621792" y="3529584"/>
            <a:ext cx="45628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#=&gt; "Elixir.Outer.Inner"</a:t>
            </a:r>
          </a:p>
        </p:txBody>
      </p:sp>
      <p:sp>
        <p:nvSpPr>
          <p:cNvPr id="17" name="a2u_dot16"/>
          <p:cNvSpPr/>
          <p:nvPr/>
        </p:nvSpPr>
        <p:spPr>
          <a:xfrm>
            <a:off x="5440680" y="149961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a2u_b17"/>
          <p:cNvSpPr txBox="1"/>
          <p:nvPr/>
        </p:nvSpPr>
        <p:spPr>
          <a:xfrm>
            <a:off x="5660136" y="1399031"/>
            <a:ext cx="3026663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Must start with a capital  </a:t>
            </a:r>
            <a:r>
              <a:rPr sz="1100" b="0">
                <a:solidFill>
                  <a:srgbClr val="334155"/>
                </a:solidFill>
                <a:latin typeface="Calibri"/>
              </a:rPr>
              <a:t>a lowercase name is a variable, not a module</a:t>
            </a:r>
          </a:p>
        </p:txBody>
      </p:sp>
      <p:sp>
        <p:nvSpPr>
          <p:cNvPr id="19" name="a2ud180_dot18"/>
          <p:cNvSpPr/>
          <p:nvPr/>
        </p:nvSpPr>
        <p:spPr>
          <a:xfrm>
            <a:off x="5440680" y="221284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a2ud180_b19"/>
          <p:cNvSpPr txBox="1"/>
          <p:nvPr/>
        </p:nvSpPr>
        <p:spPr>
          <a:xfrm>
            <a:off x="5660136" y="2112264"/>
            <a:ext cx="3026663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Dots are part of the name  </a:t>
            </a:r>
            <a:r>
              <a:rPr sz="1100" b="0">
                <a:solidFill>
                  <a:srgbClr val="334155"/>
                </a:solidFill>
                <a:latin typeface="Calibri"/>
              </a:rPr>
              <a:t>not a directory, not a package — just characters</a:t>
            </a:r>
          </a:p>
        </p:txBody>
      </p:sp>
      <p:sp>
        <p:nvSpPr>
          <p:cNvPr id="21" name="a2ud360_dot20"/>
          <p:cNvSpPr/>
          <p:nvPr/>
        </p:nvSpPr>
        <p:spPr>
          <a:xfrm>
            <a:off x="5440680" y="292608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a2ud360_b21"/>
          <p:cNvSpPr txBox="1"/>
          <p:nvPr/>
        </p:nvSpPr>
        <p:spPr>
          <a:xfrm>
            <a:off x="5660136" y="2825496"/>
            <a:ext cx="3026663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__MODULE__ is the current one  </a:t>
            </a:r>
            <a:r>
              <a:rPr sz="1100" b="0">
                <a:solidFill>
                  <a:srgbClr val="334155"/>
                </a:solidFill>
                <a:latin typeface="Calibri"/>
              </a:rPr>
              <a:t>useful in macros and in error messages</a:t>
            </a:r>
          </a:p>
        </p:txBody>
      </p:sp>
      <p:sp>
        <p:nvSpPr>
          <p:cNvPr id="23" name="a3f_nb22"/>
          <p:cNvSpPr/>
          <p:nvPr/>
        </p:nvSpPr>
        <p:spPr>
          <a:xfrm>
            <a:off x="457200" y="4032504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a3f_nacc23"/>
          <p:cNvSpPr/>
          <p:nvPr/>
        </p:nvSpPr>
        <p:spPr>
          <a:xfrm>
            <a:off x="457200" y="4032504"/>
            <a:ext cx="50292" cy="4754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a3f_nt24"/>
          <p:cNvSpPr txBox="1"/>
          <p:nvPr/>
        </p:nvSpPr>
        <p:spPr>
          <a:xfrm>
            <a:off x="658368" y="4032504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Session 5 proved this: a module name is the atom :"Elixir.MyApp.Accounts". That is the whole implementation of namespacing.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NAMESPACES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Nesting is sugar, not containment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Two defmodules, two atoms, two .beam files, no relationship at run time.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62456"/>
            <a:ext cx="8229600" cy="2564891"/>
          </a:xfrm>
          <a:prstGeom prst="roundRect">
            <a:avLst>
              <a:gd name="adj" fmla="val 285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417320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probe_modules.exs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01368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defmodule Outer do</a:t>
            </a:r>
          </a:p>
        </p:txBody>
      </p:sp>
      <p:sp>
        <p:nvSpPr>
          <p:cNvPr id="8" name="a1wd65_code7"/>
          <p:cNvSpPr txBox="1"/>
          <p:nvPr/>
        </p:nvSpPr>
        <p:spPr>
          <a:xfrm>
            <a:off x="621792" y="1979676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defmodule Inner do</a:t>
            </a:r>
          </a:p>
        </p:txBody>
      </p:sp>
      <p:sp>
        <p:nvSpPr>
          <p:cNvPr id="9" name="a1wd130_code8"/>
          <p:cNvSpPr txBox="1"/>
          <p:nvPr/>
        </p:nvSpPr>
        <p:spPr>
          <a:xfrm>
            <a:off x="621792" y="2157984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  def who, do: __MODULE__</a:t>
            </a:r>
          </a:p>
        </p:txBody>
      </p:sp>
      <p:sp>
        <p:nvSpPr>
          <p:cNvPr id="10" name="a1wd195_code9"/>
          <p:cNvSpPr txBox="1"/>
          <p:nvPr/>
        </p:nvSpPr>
        <p:spPr>
          <a:xfrm>
            <a:off x="621792" y="2336291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end</a:t>
            </a:r>
          </a:p>
        </p:txBody>
      </p:sp>
      <p:sp>
        <p:nvSpPr>
          <p:cNvPr id="11" name="a1wd260_code10"/>
          <p:cNvSpPr txBox="1"/>
          <p:nvPr/>
        </p:nvSpPr>
        <p:spPr>
          <a:xfrm>
            <a:off x="621792" y="2514600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def who, do: __MODULE__</a:t>
            </a:r>
          </a:p>
        </p:txBody>
      </p:sp>
      <p:sp>
        <p:nvSpPr>
          <p:cNvPr id="12" name="a1wd325_code11"/>
          <p:cNvSpPr txBox="1"/>
          <p:nvPr/>
        </p:nvSpPr>
        <p:spPr>
          <a:xfrm>
            <a:off x="621792" y="2692908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3" name="a1wd390_code12"/>
          <p:cNvSpPr txBox="1"/>
          <p:nvPr/>
        </p:nvSpPr>
        <p:spPr>
          <a:xfrm>
            <a:off x="621792" y="2871215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4" name="a1wd455_code13"/>
          <p:cNvSpPr txBox="1"/>
          <p:nvPr/>
        </p:nvSpPr>
        <p:spPr>
          <a:xfrm>
            <a:off x="621792" y="3049524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Outer.__info__(:functions)         #=&gt; [who: 0]</a:t>
            </a:r>
          </a:p>
        </p:txBody>
      </p:sp>
      <p:sp>
        <p:nvSpPr>
          <p:cNvPr id="15" name="a1wd520_code14"/>
          <p:cNvSpPr txBox="1"/>
          <p:nvPr/>
        </p:nvSpPr>
        <p:spPr>
          <a:xfrm>
            <a:off x="621792" y="3227832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Outer.Inner.__info__(:functions)   #=&gt; [who: 0]   a separate module</a:t>
            </a:r>
          </a:p>
        </p:txBody>
      </p:sp>
      <p:sp>
        <p:nvSpPr>
          <p:cNvPr id="16" name="a1wd585_code15"/>
          <p:cNvSpPr txBox="1"/>
          <p:nvPr/>
        </p:nvSpPr>
        <p:spPr>
          <a:xfrm>
            <a:off x="621792" y="3406140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Module.split(Outer.Inner)          #=&gt; ["Outer", "Inner"]</a:t>
            </a:r>
          </a:p>
        </p:txBody>
      </p:sp>
      <p:sp>
        <p:nvSpPr>
          <p:cNvPr id="17" name="a1wd650_code16"/>
          <p:cNvSpPr txBox="1"/>
          <p:nvPr/>
        </p:nvSpPr>
        <p:spPr>
          <a:xfrm>
            <a:off x="621792" y="3584448"/>
            <a:ext cx="790041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Module.concat(Outer, Inner) == Outer.Inner   #=&gt; true</a:t>
            </a:r>
          </a:p>
        </p:txBody>
      </p:sp>
      <p:sp>
        <p:nvSpPr>
          <p:cNvPr id="18" name="a2f_nb17"/>
          <p:cNvSpPr/>
          <p:nvPr/>
        </p:nvSpPr>
        <p:spPr>
          <a:xfrm>
            <a:off x="457200" y="4055363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2f_nacc18"/>
          <p:cNvSpPr/>
          <p:nvPr/>
        </p:nvSpPr>
        <p:spPr>
          <a:xfrm>
            <a:off x="457200" y="4055363"/>
            <a:ext cx="50292" cy="5120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a2f_nt19"/>
          <p:cNvSpPr txBox="1"/>
          <p:nvPr/>
        </p:nvSpPr>
        <p:spPr>
          <a:xfrm>
            <a:off x="658368" y="4055363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B45309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Inner cannot see Outer's private functions, does not inherit anything, and is not garbage-collected with it. Nesting buys you a prefix and an implied alias inside the outer body — nothing more.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NAMES AT RUN TIME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Building and taking apart a module name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Module.concat/1 will invent an atom. Module.safe_concat/1 will not.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62456"/>
            <a:ext cx="8229600" cy="2107691"/>
          </a:xfrm>
          <a:prstGeom prst="roundRect">
            <a:avLst>
              <a:gd name="adj" fmla="val 34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417320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probe_modules.exs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01368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Module.concat(["Outer", "Inner"])      #=&gt; Outer.Inner</a:t>
            </a:r>
          </a:p>
        </p:txBody>
      </p:sp>
      <p:sp>
        <p:nvSpPr>
          <p:cNvPr id="8" name="a1wd80_code7"/>
          <p:cNvSpPr txBox="1"/>
          <p:nvPr/>
        </p:nvSpPr>
        <p:spPr>
          <a:xfrm>
            <a:off x="621792" y="2016252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Module.concat([Introspect, Extra])     #=&gt; Introspect.Extra</a:t>
            </a:r>
          </a:p>
        </p:txBody>
      </p:sp>
      <p:sp>
        <p:nvSpPr>
          <p:cNvPr id="9" name="a1wd160_code8"/>
          <p:cNvSpPr txBox="1"/>
          <p:nvPr/>
        </p:nvSpPr>
        <p:spPr>
          <a:xfrm>
            <a:off x="621792" y="2231136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Module.split(Outer.Inner)              #=&gt; ["Outer", "Inner"]</a:t>
            </a:r>
          </a:p>
        </p:txBody>
      </p:sp>
      <p:sp>
        <p:nvSpPr>
          <p:cNvPr id="10" name="a1wd240_code9"/>
          <p:cNvSpPr txBox="1"/>
          <p:nvPr/>
        </p:nvSpPr>
        <p:spPr>
          <a:xfrm>
            <a:off x="621792" y="2446020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1" name="a1wd320_code10"/>
          <p:cNvSpPr txBox="1"/>
          <p:nvPr/>
        </p:nvSpPr>
        <p:spPr>
          <a:xfrm>
            <a:off x="621792" y="2660904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Module.safe_concat(["Never", "Seen", "Here"])</a:t>
            </a:r>
          </a:p>
        </p:txBody>
      </p:sp>
      <p:sp>
        <p:nvSpPr>
          <p:cNvPr id="12" name="a1wd400_code11"/>
          <p:cNvSpPr txBox="1"/>
          <p:nvPr/>
        </p:nvSpPr>
        <p:spPr>
          <a:xfrm>
            <a:off x="621792" y="2875787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FCA5A5"/>
                </a:solidFill>
                <a:latin typeface="Courier New"/>
              </a:rPr>
              <a:t>** (ArgumentError) errors were found at the given arguments:</a:t>
            </a:r>
          </a:p>
        </p:txBody>
      </p:sp>
      <p:sp>
        <p:nvSpPr>
          <p:cNvPr id="13" name="a1wd480_code12"/>
          <p:cNvSpPr txBox="1"/>
          <p:nvPr/>
        </p:nvSpPr>
        <p:spPr>
          <a:xfrm>
            <a:off x="621792" y="3090672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FCA5A5"/>
                </a:solidFill>
                <a:latin typeface="Courier New"/>
              </a:rPr>
              <a:t>  * 1st argument: not an already existing atom</a:t>
            </a:r>
          </a:p>
        </p:txBody>
      </p:sp>
      <p:sp>
        <p:nvSpPr>
          <p:cNvPr id="14" name="a2f_nb13"/>
          <p:cNvSpPr/>
          <p:nvPr/>
        </p:nvSpPr>
        <p:spPr>
          <a:xfrm>
            <a:off x="457200" y="3598164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a2f_nacc14"/>
          <p:cNvSpPr/>
          <p:nvPr/>
        </p:nvSpPr>
        <p:spPr>
          <a:xfrm>
            <a:off x="457200" y="3598164"/>
            <a:ext cx="50292" cy="548640"/>
          </a:xfrm>
          <a:prstGeom prst="rect">
            <a:avLst/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2f_nt15"/>
          <p:cNvSpPr txBox="1"/>
          <p:nvPr/>
        </p:nvSpPr>
        <p:spPr>
          <a:xfrm>
            <a:off x="658368" y="3598164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A90533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This is session 5's denial of service wearing a different hat. Module.concat/1 on a name that came from a request creates an atom that is never collected; Module.safe_concat/1 raises instead. Use the safe one on anything you did not write.</a:t>
            </a:r>
          </a:p>
        </p:txBody>
      </p:sp>
      <p:sp>
        <p:nvSpPr>
          <p:cNvPr id="17" name="ft1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18" name="ft1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02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What goes inside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Eleven things a module body accepts —
and the two you will use every day.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def · defp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defstruct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@attribute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THE INVENTORY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Everything a module body accepts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078992"/>
            <a:ext cx="1874519" cy="25146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f_tht4"/>
          <p:cNvSpPr txBox="1"/>
          <p:nvPr/>
        </p:nvSpPr>
        <p:spPr>
          <a:xfrm>
            <a:off x="530352" y="1078992"/>
            <a:ext cx="1764791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Form</a:t>
            </a:r>
          </a:p>
        </p:txBody>
      </p:sp>
      <p:sp>
        <p:nvSpPr>
          <p:cNvPr id="6" name="a1wd55_td5"/>
          <p:cNvSpPr/>
          <p:nvPr/>
        </p:nvSpPr>
        <p:spPr>
          <a:xfrm>
            <a:off x="457200" y="1330452"/>
            <a:ext cx="1874519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a1wd55_tdt6"/>
          <p:cNvSpPr txBox="1"/>
          <p:nvPr/>
        </p:nvSpPr>
        <p:spPr>
          <a:xfrm>
            <a:off x="530352" y="1330452"/>
            <a:ext cx="1764791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def / defp</a:t>
            </a:r>
          </a:p>
        </p:txBody>
      </p:sp>
      <p:sp>
        <p:nvSpPr>
          <p:cNvPr id="8" name="a1wd110_td7"/>
          <p:cNvSpPr/>
          <p:nvPr/>
        </p:nvSpPr>
        <p:spPr>
          <a:xfrm>
            <a:off x="457200" y="1581912"/>
            <a:ext cx="1874519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a1wd110_tdt8"/>
          <p:cNvSpPr txBox="1"/>
          <p:nvPr/>
        </p:nvSpPr>
        <p:spPr>
          <a:xfrm>
            <a:off x="530352" y="1581912"/>
            <a:ext cx="1764791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defmacro / defmacrop</a:t>
            </a:r>
          </a:p>
        </p:txBody>
      </p:sp>
      <p:sp>
        <p:nvSpPr>
          <p:cNvPr id="10" name="a1wd165_td9"/>
          <p:cNvSpPr/>
          <p:nvPr/>
        </p:nvSpPr>
        <p:spPr>
          <a:xfrm>
            <a:off x="457200" y="1833372"/>
            <a:ext cx="1874519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a1wd165_tdt10"/>
          <p:cNvSpPr txBox="1"/>
          <p:nvPr/>
        </p:nvSpPr>
        <p:spPr>
          <a:xfrm>
            <a:off x="530352" y="1833372"/>
            <a:ext cx="1764791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defguard / defguardp</a:t>
            </a:r>
          </a:p>
        </p:txBody>
      </p:sp>
      <p:sp>
        <p:nvSpPr>
          <p:cNvPr id="12" name="a1wd220_td11"/>
          <p:cNvSpPr/>
          <p:nvPr/>
        </p:nvSpPr>
        <p:spPr>
          <a:xfrm>
            <a:off x="457200" y="2084832"/>
            <a:ext cx="1874519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a1wd220_tdt12"/>
          <p:cNvSpPr txBox="1"/>
          <p:nvPr/>
        </p:nvSpPr>
        <p:spPr>
          <a:xfrm>
            <a:off x="530352" y="2084832"/>
            <a:ext cx="1764791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defstruct</a:t>
            </a:r>
          </a:p>
        </p:txBody>
      </p:sp>
      <p:sp>
        <p:nvSpPr>
          <p:cNvPr id="14" name="a1wd275_td13"/>
          <p:cNvSpPr/>
          <p:nvPr/>
        </p:nvSpPr>
        <p:spPr>
          <a:xfrm>
            <a:off x="457200" y="2336291"/>
            <a:ext cx="1874519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a1wd275_tdt14"/>
          <p:cNvSpPr txBox="1"/>
          <p:nvPr/>
        </p:nvSpPr>
        <p:spPr>
          <a:xfrm>
            <a:off x="530352" y="2336291"/>
            <a:ext cx="1764791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defexception</a:t>
            </a:r>
          </a:p>
        </p:txBody>
      </p:sp>
      <p:sp>
        <p:nvSpPr>
          <p:cNvPr id="16" name="a1wd330_td15"/>
          <p:cNvSpPr/>
          <p:nvPr/>
        </p:nvSpPr>
        <p:spPr>
          <a:xfrm>
            <a:off x="457200" y="2587752"/>
            <a:ext cx="1874519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a1wd330_tdt16"/>
          <p:cNvSpPr txBox="1"/>
          <p:nvPr/>
        </p:nvSpPr>
        <p:spPr>
          <a:xfrm>
            <a:off x="530352" y="2587752"/>
            <a:ext cx="1764791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defdelegate</a:t>
            </a:r>
          </a:p>
        </p:txBody>
      </p:sp>
      <p:sp>
        <p:nvSpPr>
          <p:cNvPr id="18" name="a1wd385_td17"/>
          <p:cNvSpPr/>
          <p:nvPr/>
        </p:nvSpPr>
        <p:spPr>
          <a:xfrm>
            <a:off x="457200" y="2839212"/>
            <a:ext cx="1874519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1wd385_tdt18"/>
          <p:cNvSpPr txBox="1"/>
          <p:nvPr/>
        </p:nvSpPr>
        <p:spPr>
          <a:xfrm>
            <a:off x="530352" y="2839212"/>
            <a:ext cx="1764791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defprotocol / defimpl</a:t>
            </a:r>
          </a:p>
        </p:txBody>
      </p:sp>
      <p:sp>
        <p:nvSpPr>
          <p:cNvPr id="20" name="a1wd440_td19"/>
          <p:cNvSpPr/>
          <p:nvPr/>
        </p:nvSpPr>
        <p:spPr>
          <a:xfrm>
            <a:off x="457200" y="3090672"/>
            <a:ext cx="1874519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a1wd440_tdt20"/>
          <p:cNvSpPr txBox="1"/>
          <p:nvPr/>
        </p:nvSpPr>
        <p:spPr>
          <a:xfrm>
            <a:off x="530352" y="3090672"/>
            <a:ext cx="1764791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defoverridable</a:t>
            </a:r>
          </a:p>
        </p:txBody>
      </p:sp>
      <p:sp>
        <p:nvSpPr>
          <p:cNvPr id="22" name="a1wd495_td21"/>
          <p:cNvSpPr/>
          <p:nvPr/>
        </p:nvSpPr>
        <p:spPr>
          <a:xfrm>
            <a:off x="457200" y="3342132"/>
            <a:ext cx="1874519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a1wd495_tdt22"/>
          <p:cNvSpPr txBox="1"/>
          <p:nvPr/>
        </p:nvSpPr>
        <p:spPr>
          <a:xfrm>
            <a:off x="530352" y="3342132"/>
            <a:ext cx="1764791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@attribute</a:t>
            </a:r>
          </a:p>
        </p:txBody>
      </p:sp>
      <p:sp>
        <p:nvSpPr>
          <p:cNvPr id="24" name="a1wd550_td23"/>
          <p:cNvSpPr/>
          <p:nvPr/>
        </p:nvSpPr>
        <p:spPr>
          <a:xfrm>
            <a:off x="457200" y="3593591"/>
            <a:ext cx="1874519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a1wd550_tdt24"/>
          <p:cNvSpPr txBox="1"/>
          <p:nvPr/>
        </p:nvSpPr>
        <p:spPr>
          <a:xfrm>
            <a:off x="530352" y="3593591"/>
            <a:ext cx="1764791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alias require import use</a:t>
            </a:r>
          </a:p>
        </p:txBody>
      </p:sp>
      <p:sp>
        <p:nvSpPr>
          <p:cNvPr id="26" name="a1wd605_td25"/>
          <p:cNvSpPr/>
          <p:nvPr/>
        </p:nvSpPr>
        <p:spPr>
          <a:xfrm>
            <a:off x="457200" y="3845052"/>
            <a:ext cx="1874519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a1wd605_tdt26"/>
          <p:cNvSpPr txBox="1"/>
          <p:nvPr/>
        </p:nvSpPr>
        <p:spPr>
          <a:xfrm>
            <a:off x="530352" y="3845052"/>
            <a:ext cx="1764791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defmodule</a:t>
            </a:r>
          </a:p>
        </p:txBody>
      </p:sp>
      <p:sp>
        <p:nvSpPr>
          <p:cNvPr id="28" name="a1wd660_td27"/>
          <p:cNvSpPr/>
          <p:nvPr/>
        </p:nvSpPr>
        <p:spPr>
          <a:xfrm>
            <a:off x="457200" y="4096512"/>
            <a:ext cx="1874519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a1wd660_tdt28"/>
          <p:cNvSpPr txBox="1"/>
          <p:nvPr/>
        </p:nvSpPr>
        <p:spPr>
          <a:xfrm>
            <a:off x="530352" y="4096512"/>
            <a:ext cx="1764791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any expression</a:t>
            </a:r>
          </a:p>
        </p:txBody>
      </p:sp>
      <p:sp>
        <p:nvSpPr>
          <p:cNvPr id="30" name="a1f_th29"/>
          <p:cNvSpPr/>
          <p:nvPr/>
        </p:nvSpPr>
        <p:spPr>
          <a:xfrm>
            <a:off x="2331720" y="1078992"/>
            <a:ext cx="3246120" cy="25146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a1f_tht30"/>
          <p:cNvSpPr txBox="1"/>
          <p:nvPr/>
        </p:nvSpPr>
        <p:spPr>
          <a:xfrm>
            <a:off x="2404872" y="1078992"/>
            <a:ext cx="3136391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Declares</a:t>
            </a:r>
          </a:p>
        </p:txBody>
      </p:sp>
      <p:sp>
        <p:nvSpPr>
          <p:cNvPr id="32" name="a1wd55_td31"/>
          <p:cNvSpPr/>
          <p:nvPr/>
        </p:nvSpPr>
        <p:spPr>
          <a:xfrm>
            <a:off x="2331720" y="1330452"/>
            <a:ext cx="324612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a1wd55_tdt32"/>
          <p:cNvSpPr txBox="1"/>
          <p:nvPr/>
        </p:nvSpPr>
        <p:spPr>
          <a:xfrm>
            <a:off x="2404872" y="1330452"/>
            <a:ext cx="3136391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 function, public or private</a:t>
            </a:r>
          </a:p>
        </p:txBody>
      </p:sp>
      <p:sp>
        <p:nvSpPr>
          <p:cNvPr id="34" name="a1wd110_td33"/>
          <p:cNvSpPr/>
          <p:nvPr/>
        </p:nvSpPr>
        <p:spPr>
          <a:xfrm>
            <a:off x="2331720" y="1581912"/>
            <a:ext cx="324612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a1wd110_tdt34"/>
          <p:cNvSpPr txBox="1"/>
          <p:nvPr/>
        </p:nvSpPr>
        <p:spPr>
          <a:xfrm>
            <a:off x="2404872" y="1581912"/>
            <a:ext cx="3136391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 macro, public or private</a:t>
            </a:r>
          </a:p>
        </p:txBody>
      </p:sp>
      <p:sp>
        <p:nvSpPr>
          <p:cNvPr id="36" name="a1wd165_td35"/>
          <p:cNvSpPr/>
          <p:nvPr/>
        </p:nvSpPr>
        <p:spPr>
          <a:xfrm>
            <a:off x="2331720" y="1833372"/>
            <a:ext cx="324612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a1wd165_tdt36"/>
          <p:cNvSpPr txBox="1"/>
          <p:nvPr/>
        </p:nvSpPr>
        <p:spPr>
          <a:xfrm>
            <a:off x="2404872" y="1833372"/>
            <a:ext cx="3136391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 reusable guard</a:t>
            </a:r>
          </a:p>
        </p:txBody>
      </p:sp>
      <p:sp>
        <p:nvSpPr>
          <p:cNvPr id="38" name="a1wd220_td37"/>
          <p:cNvSpPr/>
          <p:nvPr/>
        </p:nvSpPr>
        <p:spPr>
          <a:xfrm>
            <a:off x="2331720" y="2084832"/>
            <a:ext cx="324612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a1wd220_tdt38"/>
          <p:cNvSpPr txBox="1"/>
          <p:nvPr/>
        </p:nvSpPr>
        <p:spPr>
          <a:xfrm>
            <a:off x="2404872" y="2084832"/>
            <a:ext cx="3136391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the module's struct, one per module</a:t>
            </a:r>
          </a:p>
        </p:txBody>
      </p:sp>
      <p:sp>
        <p:nvSpPr>
          <p:cNvPr id="40" name="a1wd275_td39"/>
          <p:cNvSpPr/>
          <p:nvPr/>
        </p:nvSpPr>
        <p:spPr>
          <a:xfrm>
            <a:off x="2331720" y="2336291"/>
            <a:ext cx="324612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a1wd275_tdt40"/>
          <p:cNvSpPr txBox="1"/>
          <p:nvPr/>
        </p:nvSpPr>
        <p:spPr>
          <a:xfrm>
            <a:off x="2404872" y="2336291"/>
            <a:ext cx="3136391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 struct that can be raised</a:t>
            </a:r>
          </a:p>
        </p:txBody>
      </p:sp>
      <p:sp>
        <p:nvSpPr>
          <p:cNvPr id="42" name="a1wd330_td41"/>
          <p:cNvSpPr/>
          <p:nvPr/>
        </p:nvSpPr>
        <p:spPr>
          <a:xfrm>
            <a:off x="2331720" y="2587752"/>
            <a:ext cx="324612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a1wd330_tdt42"/>
          <p:cNvSpPr txBox="1"/>
          <p:nvPr/>
        </p:nvSpPr>
        <p:spPr>
          <a:xfrm>
            <a:off x="2404872" y="2587752"/>
            <a:ext cx="3136391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 function that forwards to another</a:t>
            </a:r>
          </a:p>
        </p:txBody>
      </p:sp>
      <p:sp>
        <p:nvSpPr>
          <p:cNvPr id="44" name="a1wd385_td43"/>
          <p:cNvSpPr/>
          <p:nvPr/>
        </p:nvSpPr>
        <p:spPr>
          <a:xfrm>
            <a:off x="2331720" y="2839212"/>
            <a:ext cx="324612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a1wd385_tdt44"/>
          <p:cNvSpPr txBox="1"/>
          <p:nvPr/>
        </p:nvSpPr>
        <p:spPr>
          <a:xfrm>
            <a:off x="2404872" y="2839212"/>
            <a:ext cx="3136391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 protocol and its implementations</a:t>
            </a:r>
          </a:p>
        </p:txBody>
      </p:sp>
      <p:sp>
        <p:nvSpPr>
          <p:cNvPr id="46" name="a1wd440_td45"/>
          <p:cNvSpPr/>
          <p:nvPr/>
        </p:nvSpPr>
        <p:spPr>
          <a:xfrm>
            <a:off x="2331720" y="3090672"/>
            <a:ext cx="324612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a1wd440_tdt46"/>
          <p:cNvSpPr txBox="1"/>
          <p:nvPr/>
        </p:nvSpPr>
        <p:spPr>
          <a:xfrm>
            <a:off x="2404872" y="3090672"/>
            <a:ext cx="3136391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which functions a user may replace</a:t>
            </a:r>
          </a:p>
        </p:txBody>
      </p:sp>
      <p:sp>
        <p:nvSpPr>
          <p:cNvPr id="48" name="a1wd495_td47"/>
          <p:cNvSpPr/>
          <p:nvPr/>
        </p:nvSpPr>
        <p:spPr>
          <a:xfrm>
            <a:off x="2331720" y="3342132"/>
            <a:ext cx="324612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a1wd495_tdt48"/>
          <p:cNvSpPr txBox="1"/>
          <p:nvPr/>
        </p:nvSpPr>
        <p:spPr>
          <a:xfrm>
            <a:off x="2404872" y="3342132"/>
            <a:ext cx="3136391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compile-time data, docs, directives</a:t>
            </a:r>
          </a:p>
        </p:txBody>
      </p:sp>
      <p:sp>
        <p:nvSpPr>
          <p:cNvPr id="50" name="a1wd550_td49"/>
          <p:cNvSpPr/>
          <p:nvPr/>
        </p:nvSpPr>
        <p:spPr>
          <a:xfrm>
            <a:off x="2331720" y="3593591"/>
            <a:ext cx="324612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a1wd550_tdt50"/>
          <p:cNvSpPr txBox="1"/>
          <p:nvPr/>
        </p:nvSpPr>
        <p:spPr>
          <a:xfrm>
            <a:off x="2404872" y="3593591"/>
            <a:ext cx="3136391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how this module sees others</a:t>
            </a:r>
          </a:p>
        </p:txBody>
      </p:sp>
      <p:sp>
        <p:nvSpPr>
          <p:cNvPr id="52" name="a1wd605_td51"/>
          <p:cNvSpPr/>
          <p:nvPr/>
        </p:nvSpPr>
        <p:spPr>
          <a:xfrm>
            <a:off x="2331720" y="3845052"/>
            <a:ext cx="324612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a1wd605_tdt52"/>
          <p:cNvSpPr txBox="1"/>
          <p:nvPr/>
        </p:nvSpPr>
        <p:spPr>
          <a:xfrm>
            <a:off x="2404872" y="3845052"/>
            <a:ext cx="3136391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 nested module</a:t>
            </a:r>
          </a:p>
        </p:txBody>
      </p:sp>
      <p:sp>
        <p:nvSpPr>
          <p:cNvPr id="54" name="a1wd660_td53"/>
          <p:cNvSpPr/>
          <p:nvPr/>
        </p:nvSpPr>
        <p:spPr>
          <a:xfrm>
            <a:off x="2331720" y="4096512"/>
            <a:ext cx="324612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a1wd660_tdt54"/>
          <p:cNvSpPr txBox="1"/>
          <p:nvPr/>
        </p:nvSpPr>
        <p:spPr>
          <a:xfrm>
            <a:off x="2404872" y="4096512"/>
            <a:ext cx="3136391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runs at compile time</a:t>
            </a:r>
          </a:p>
        </p:txBody>
      </p:sp>
      <p:sp>
        <p:nvSpPr>
          <p:cNvPr id="56" name="a1f_th55"/>
          <p:cNvSpPr/>
          <p:nvPr/>
        </p:nvSpPr>
        <p:spPr>
          <a:xfrm>
            <a:off x="5577840" y="1078992"/>
            <a:ext cx="3108960" cy="25146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a1f_tht56"/>
          <p:cNvSpPr txBox="1"/>
          <p:nvPr/>
        </p:nvSpPr>
        <p:spPr>
          <a:xfrm>
            <a:off x="5650992" y="1078992"/>
            <a:ext cx="2999232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Covered</a:t>
            </a:r>
          </a:p>
        </p:txBody>
      </p:sp>
      <p:sp>
        <p:nvSpPr>
          <p:cNvPr id="58" name="a1wd55_td57"/>
          <p:cNvSpPr/>
          <p:nvPr/>
        </p:nvSpPr>
        <p:spPr>
          <a:xfrm>
            <a:off x="5577840" y="1330452"/>
            <a:ext cx="310896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a1wd55_tdt58"/>
          <p:cNvSpPr txBox="1"/>
          <p:nvPr/>
        </p:nvSpPr>
        <p:spPr>
          <a:xfrm>
            <a:off x="5650992" y="1330452"/>
            <a:ext cx="2999232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session 7 — functions</a:t>
            </a:r>
          </a:p>
        </p:txBody>
      </p:sp>
      <p:sp>
        <p:nvSpPr>
          <p:cNvPr id="60" name="a1wd110_td59"/>
          <p:cNvSpPr/>
          <p:nvPr/>
        </p:nvSpPr>
        <p:spPr>
          <a:xfrm>
            <a:off x="5577840" y="1581912"/>
            <a:ext cx="310896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a1wd110_tdt60"/>
          <p:cNvSpPr txBox="1"/>
          <p:nvPr/>
        </p:nvSpPr>
        <p:spPr>
          <a:xfrm>
            <a:off x="5650992" y="1581912"/>
            <a:ext cx="2999232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session 8 — macros</a:t>
            </a:r>
          </a:p>
        </p:txBody>
      </p:sp>
      <p:sp>
        <p:nvSpPr>
          <p:cNvPr id="62" name="a1wd165_td61"/>
          <p:cNvSpPr/>
          <p:nvPr/>
        </p:nvSpPr>
        <p:spPr>
          <a:xfrm>
            <a:off x="5577840" y="1833372"/>
            <a:ext cx="310896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a1wd165_tdt62"/>
          <p:cNvSpPr txBox="1"/>
          <p:nvPr/>
        </p:nvSpPr>
        <p:spPr>
          <a:xfrm>
            <a:off x="5650992" y="1833372"/>
            <a:ext cx="2999232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session 8 — macros</a:t>
            </a:r>
          </a:p>
        </p:txBody>
      </p:sp>
      <p:sp>
        <p:nvSpPr>
          <p:cNvPr id="64" name="a1wd220_td63"/>
          <p:cNvSpPr/>
          <p:nvPr/>
        </p:nvSpPr>
        <p:spPr>
          <a:xfrm>
            <a:off x="5577840" y="2084832"/>
            <a:ext cx="310896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a1wd220_tdt64"/>
          <p:cNvSpPr txBox="1"/>
          <p:nvPr/>
        </p:nvSpPr>
        <p:spPr>
          <a:xfrm>
            <a:off x="5650992" y="2084832"/>
            <a:ext cx="2999232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here</a:t>
            </a:r>
          </a:p>
        </p:txBody>
      </p:sp>
      <p:sp>
        <p:nvSpPr>
          <p:cNvPr id="66" name="a1wd275_td65"/>
          <p:cNvSpPr/>
          <p:nvPr/>
        </p:nvSpPr>
        <p:spPr>
          <a:xfrm>
            <a:off x="5577840" y="2336291"/>
            <a:ext cx="310896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a1wd275_tdt66"/>
          <p:cNvSpPr txBox="1"/>
          <p:nvPr/>
        </p:nvSpPr>
        <p:spPr>
          <a:xfrm>
            <a:off x="5650992" y="2336291"/>
            <a:ext cx="2999232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here</a:t>
            </a:r>
          </a:p>
        </p:txBody>
      </p:sp>
      <p:sp>
        <p:nvSpPr>
          <p:cNvPr id="68" name="a1wd330_td67"/>
          <p:cNvSpPr/>
          <p:nvPr/>
        </p:nvSpPr>
        <p:spPr>
          <a:xfrm>
            <a:off x="5577840" y="2587752"/>
            <a:ext cx="310896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a1wd330_tdt68"/>
          <p:cNvSpPr txBox="1"/>
          <p:nvPr/>
        </p:nvSpPr>
        <p:spPr>
          <a:xfrm>
            <a:off x="5650992" y="2587752"/>
            <a:ext cx="2999232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here</a:t>
            </a:r>
          </a:p>
        </p:txBody>
      </p:sp>
      <p:sp>
        <p:nvSpPr>
          <p:cNvPr id="70" name="a1wd385_td69"/>
          <p:cNvSpPr/>
          <p:nvPr/>
        </p:nvSpPr>
        <p:spPr>
          <a:xfrm>
            <a:off x="5577840" y="2839212"/>
            <a:ext cx="310896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a1wd385_tdt70"/>
          <p:cNvSpPr txBox="1"/>
          <p:nvPr/>
        </p:nvSpPr>
        <p:spPr>
          <a:xfrm>
            <a:off x="5650992" y="2839212"/>
            <a:ext cx="2999232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session 9</a:t>
            </a:r>
          </a:p>
        </p:txBody>
      </p:sp>
      <p:sp>
        <p:nvSpPr>
          <p:cNvPr id="72" name="a1wd440_td71"/>
          <p:cNvSpPr/>
          <p:nvPr/>
        </p:nvSpPr>
        <p:spPr>
          <a:xfrm>
            <a:off x="5577840" y="3090672"/>
            <a:ext cx="310896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a1wd440_tdt72"/>
          <p:cNvSpPr txBox="1"/>
          <p:nvPr/>
        </p:nvSpPr>
        <p:spPr>
          <a:xfrm>
            <a:off x="5650992" y="3090672"/>
            <a:ext cx="2999232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here</a:t>
            </a:r>
          </a:p>
        </p:txBody>
      </p:sp>
      <p:sp>
        <p:nvSpPr>
          <p:cNvPr id="74" name="a1wd495_td73"/>
          <p:cNvSpPr/>
          <p:nvPr/>
        </p:nvSpPr>
        <p:spPr>
          <a:xfrm>
            <a:off x="5577840" y="3342132"/>
            <a:ext cx="310896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a1wd495_tdt74"/>
          <p:cNvSpPr txBox="1"/>
          <p:nvPr/>
        </p:nvSpPr>
        <p:spPr>
          <a:xfrm>
            <a:off x="5650992" y="3342132"/>
            <a:ext cx="2999232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here</a:t>
            </a:r>
          </a:p>
        </p:txBody>
      </p:sp>
      <p:sp>
        <p:nvSpPr>
          <p:cNvPr id="76" name="a1wd550_td75"/>
          <p:cNvSpPr/>
          <p:nvPr/>
        </p:nvSpPr>
        <p:spPr>
          <a:xfrm>
            <a:off x="5577840" y="3593591"/>
            <a:ext cx="310896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a1wd550_tdt76"/>
          <p:cNvSpPr txBox="1"/>
          <p:nvPr/>
        </p:nvSpPr>
        <p:spPr>
          <a:xfrm>
            <a:off x="5650992" y="3593591"/>
            <a:ext cx="2999232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here</a:t>
            </a:r>
          </a:p>
        </p:txBody>
      </p:sp>
      <p:sp>
        <p:nvSpPr>
          <p:cNvPr id="78" name="a1wd605_td77"/>
          <p:cNvSpPr/>
          <p:nvPr/>
        </p:nvSpPr>
        <p:spPr>
          <a:xfrm>
            <a:off x="5577840" y="3845052"/>
            <a:ext cx="310896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a1wd605_tdt78"/>
          <p:cNvSpPr txBox="1"/>
          <p:nvPr/>
        </p:nvSpPr>
        <p:spPr>
          <a:xfrm>
            <a:off x="5650992" y="3845052"/>
            <a:ext cx="2999232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here</a:t>
            </a:r>
          </a:p>
        </p:txBody>
      </p:sp>
      <p:sp>
        <p:nvSpPr>
          <p:cNvPr id="80" name="a1wd660_td79"/>
          <p:cNvSpPr/>
          <p:nvPr/>
        </p:nvSpPr>
        <p:spPr>
          <a:xfrm>
            <a:off x="5577840" y="4096512"/>
            <a:ext cx="3108960" cy="2514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1" name="a1wd660_tdt80"/>
          <p:cNvSpPr txBox="1"/>
          <p:nvPr/>
        </p:nvSpPr>
        <p:spPr>
          <a:xfrm>
            <a:off x="5650992" y="4096512"/>
            <a:ext cx="2999232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here</a:t>
            </a:r>
          </a:p>
        </p:txBody>
      </p:sp>
      <p:sp>
        <p:nvSpPr>
          <p:cNvPr id="82" name="ft8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83" name="ft8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ALL AT ONCE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One module, one of each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This compiles. Read it as a checklist, not as good design.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25880"/>
            <a:ext cx="4983480" cy="3278124"/>
          </a:xfrm>
          <a:prstGeom prst="roundRect">
            <a:avLst>
              <a:gd name="adj" fmla="val 223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w_code5"/>
          <p:cNvSpPr txBox="1"/>
          <p:nvPr/>
        </p:nvSpPr>
        <p:spPr>
          <a:xfrm>
            <a:off x="621792" y="1490472"/>
            <a:ext cx="46542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defmodule Kitchen do</a:t>
            </a:r>
          </a:p>
        </p:txBody>
      </p:sp>
      <p:sp>
        <p:nvSpPr>
          <p:cNvPr id="7" name="a1wd45_code6"/>
          <p:cNvSpPr txBox="1"/>
          <p:nvPr/>
        </p:nvSpPr>
        <p:spPr>
          <a:xfrm>
            <a:off x="621792" y="1687068"/>
            <a:ext cx="46542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  @moduledoc "One of everything."</a:t>
            </a:r>
          </a:p>
        </p:txBody>
      </p:sp>
      <p:sp>
        <p:nvSpPr>
          <p:cNvPr id="8" name="a1wd90_code7"/>
          <p:cNvSpPr txBox="1"/>
          <p:nvPr/>
        </p:nvSpPr>
        <p:spPr>
          <a:xfrm>
            <a:off x="621792" y="1883664"/>
            <a:ext cx="46542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  @behaviour String.Chars</a:t>
            </a:r>
          </a:p>
        </p:txBody>
      </p:sp>
      <p:sp>
        <p:nvSpPr>
          <p:cNvPr id="9" name="a1wd135_code8"/>
          <p:cNvSpPr txBox="1"/>
          <p:nvPr/>
        </p:nvSpPr>
        <p:spPr>
          <a:xfrm>
            <a:off x="621792" y="2080260"/>
            <a:ext cx="46542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  @limit 10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276856"/>
            <a:ext cx="46542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defstruct [:name, count: 0]</a:t>
            </a:r>
          </a:p>
        </p:txBody>
      </p:sp>
      <p:sp>
        <p:nvSpPr>
          <p:cNvPr id="11" name="a1wd225_code10"/>
          <p:cNvSpPr txBox="1"/>
          <p:nvPr/>
        </p:nvSpPr>
        <p:spPr>
          <a:xfrm>
            <a:off x="621792" y="2473452"/>
            <a:ext cx="46542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defguard is_small(n) when n &lt;= @limit</a:t>
            </a:r>
          </a:p>
        </p:txBody>
      </p:sp>
      <p:sp>
        <p:nvSpPr>
          <p:cNvPr id="12" name="a1wd270_code11"/>
          <p:cNvSpPr txBox="1"/>
          <p:nvPr/>
        </p:nvSpPr>
        <p:spPr>
          <a:xfrm>
            <a:off x="621792" y="2670048"/>
            <a:ext cx="46542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public(x), do: private(x) + @limit</a:t>
            </a:r>
          </a:p>
        </p:txBody>
      </p:sp>
      <p:sp>
        <p:nvSpPr>
          <p:cNvPr id="13" name="a1wd315_code12"/>
          <p:cNvSpPr txBox="1"/>
          <p:nvPr/>
        </p:nvSpPr>
        <p:spPr>
          <a:xfrm>
            <a:off x="621792" y="2866644"/>
            <a:ext cx="46542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defp private(x), do: x * 2</a:t>
            </a:r>
          </a:p>
        </p:txBody>
      </p:sp>
      <p:sp>
        <p:nvSpPr>
          <p:cNvPr id="14" name="a1wd360_code13"/>
          <p:cNvSpPr txBox="1"/>
          <p:nvPr/>
        </p:nvSpPr>
        <p:spPr>
          <a:xfrm>
            <a:off x="621792" y="3063239"/>
            <a:ext cx="46542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defmacro twice(x), do: ...</a:t>
            </a:r>
          </a:p>
        </p:txBody>
      </p:sp>
      <p:sp>
        <p:nvSpPr>
          <p:cNvPr id="15" name="a1wd405_code14"/>
          <p:cNvSpPr txBox="1"/>
          <p:nvPr/>
        </p:nvSpPr>
        <p:spPr>
          <a:xfrm>
            <a:off x="621792" y="3259836"/>
            <a:ext cx="46542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defmacrop shout(x), do: ...</a:t>
            </a:r>
          </a:p>
        </p:txBody>
      </p:sp>
      <p:sp>
        <p:nvSpPr>
          <p:cNvPr id="16" name="a1wd450_code15"/>
          <p:cNvSpPr txBox="1"/>
          <p:nvPr/>
        </p:nvSpPr>
        <p:spPr>
          <a:xfrm>
            <a:off x="621792" y="3456432"/>
            <a:ext cx="46542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defdelegate upcase(s), to: String</a:t>
            </a:r>
          </a:p>
        </p:txBody>
      </p:sp>
      <p:sp>
        <p:nvSpPr>
          <p:cNvPr id="17" name="a1wd495_code16"/>
          <p:cNvSpPr txBox="1"/>
          <p:nvPr/>
        </p:nvSpPr>
        <p:spPr>
          <a:xfrm>
            <a:off x="621792" y="3653027"/>
            <a:ext cx="46542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  @impl String.Chars</a:t>
            </a:r>
          </a:p>
        </p:txBody>
      </p:sp>
      <p:sp>
        <p:nvSpPr>
          <p:cNvPr id="18" name="a1wd540_code17"/>
          <p:cNvSpPr txBox="1"/>
          <p:nvPr/>
        </p:nvSpPr>
        <p:spPr>
          <a:xfrm>
            <a:off x="621792" y="3849624"/>
            <a:ext cx="46542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to_string(%Kitchen{}), do: ...</a:t>
            </a:r>
          </a:p>
        </p:txBody>
      </p:sp>
      <p:sp>
        <p:nvSpPr>
          <p:cNvPr id="19" name="a1wd585_code18"/>
          <p:cNvSpPr txBox="1"/>
          <p:nvPr/>
        </p:nvSpPr>
        <p:spPr>
          <a:xfrm>
            <a:off x="621792" y="4046220"/>
            <a:ext cx="46542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defmodule Nested do ... end</a:t>
            </a:r>
          </a:p>
        </p:txBody>
      </p:sp>
      <p:sp>
        <p:nvSpPr>
          <p:cNvPr id="20" name="a1wd630_code19"/>
          <p:cNvSpPr txBox="1"/>
          <p:nvPr/>
        </p:nvSpPr>
        <p:spPr>
          <a:xfrm>
            <a:off x="621792" y="4242816"/>
            <a:ext cx="46542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21" name="a2f_codebg20"/>
          <p:cNvSpPr/>
          <p:nvPr/>
        </p:nvSpPr>
        <p:spPr>
          <a:xfrm>
            <a:off x="5577840" y="1325880"/>
            <a:ext cx="3108960" cy="2569463"/>
          </a:xfrm>
          <a:prstGeom prst="roundRect">
            <a:avLst>
              <a:gd name="adj" fmla="val 284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a2f_codeh21"/>
          <p:cNvSpPr txBox="1"/>
          <p:nvPr/>
        </p:nvSpPr>
        <p:spPr>
          <a:xfrm>
            <a:off x="5742431" y="1380744"/>
            <a:ext cx="27797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23" name="a2w_code22"/>
          <p:cNvSpPr txBox="1"/>
          <p:nvPr/>
        </p:nvSpPr>
        <p:spPr>
          <a:xfrm>
            <a:off x="5742431" y="1764792"/>
            <a:ext cx="277977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__info__(:functions)</a:t>
            </a:r>
          </a:p>
        </p:txBody>
      </p:sp>
      <p:sp>
        <p:nvSpPr>
          <p:cNvPr id="24" name="a2wd60_code23"/>
          <p:cNvSpPr txBox="1"/>
          <p:nvPr/>
        </p:nvSpPr>
        <p:spPr>
          <a:xfrm>
            <a:off x="5742431" y="1961388"/>
            <a:ext cx="277977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[__struct__: 0, __struct__: 1,</a:t>
            </a:r>
          </a:p>
        </p:txBody>
      </p:sp>
      <p:sp>
        <p:nvSpPr>
          <p:cNvPr id="25" name="a2wd120_code24"/>
          <p:cNvSpPr txBox="1"/>
          <p:nvPr/>
        </p:nvSpPr>
        <p:spPr>
          <a:xfrm>
            <a:off x="5742431" y="2157984"/>
            <a:ext cx="277977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loud: 1, public: 1,</a:t>
            </a:r>
          </a:p>
        </p:txBody>
      </p:sp>
      <p:sp>
        <p:nvSpPr>
          <p:cNvPr id="26" name="a2wd180_code25"/>
          <p:cNvSpPr txBox="1"/>
          <p:nvPr/>
        </p:nvSpPr>
        <p:spPr>
          <a:xfrm>
            <a:off x="5742431" y="2354580"/>
            <a:ext cx="277977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to_string: 1, upcase: 1]</a:t>
            </a:r>
          </a:p>
        </p:txBody>
      </p:sp>
      <p:sp>
        <p:nvSpPr>
          <p:cNvPr id="27" name="a2wd240_code26"/>
          <p:cNvSpPr txBox="1"/>
          <p:nvPr/>
        </p:nvSpPr>
        <p:spPr>
          <a:xfrm>
            <a:off x="5742431" y="2551176"/>
            <a:ext cx="277977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a2wd300_code27"/>
          <p:cNvSpPr txBox="1"/>
          <p:nvPr/>
        </p:nvSpPr>
        <p:spPr>
          <a:xfrm>
            <a:off x="5742431" y="2747772"/>
            <a:ext cx="277977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__info__(:macros)</a:t>
            </a:r>
          </a:p>
        </p:txBody>
      </p:sp>
      <p:sp>
        <p:nvSpPr>
          <p:cNvPr id="29" name="a2wd360_code28"/>
          <p:cNvSpPr txBox="1"/>
          <p:nvPr/>
        </p:nvSpPr>
        <p:spPr>
          <a:xfrm>
            <a:off x="5742431" y="2944368"/>
            <a:ext cx="277977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[is_small: 1, twice: 1]</a:t>
            </a:r>
          </a:p>
        </p:txBody>
      </p:sp>
      <p:sp>
        <p:nvSpPr>
          <p:cNvPr id="30" name="a2wd420_code29"/>
          <p:cNvSpPr txBox="1"/>
          <p:nvPr/>
        </p:nvSpPr>
        <p:spPr>
          <a:xfrm>
            <a:off x="5742431" y="3140963"/>
            <a:ext cx="277977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a2wd480_code30"/>
          <p:cNvSpPr txBox="1"/>
          <p:nvPr/>
        </p:nvSpPr>
        <p:spPr>
          <a:xfrm>
            <a:off x="5742431" y="3337560"/>
            <a:ext cx="277977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private/1 and shout/1</a:t>
            </a:r>
          </a:p>
        </p:txBody>
      </p:sp>
      <p:sp>
        <p:nvSpPr>
          <p:cNvPr id="32" name="a2wd540_code31"/>
          <p:cNvSpPr txBox="1"/>
          <p:nvPr/>
        </p:nvSpPr>
        <p:spPr>
          <a:xfrm>
            <a:off x="5742431" y="3534156"/>
            <a:ext cx="277977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are NOT there.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DECLARING · FUNCTIONS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Functions: the declaration, and nothing else today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Four forms of def. What they MEAN is session 7.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62456"/>
            <a:ext cx="4892040" cy="2523744"/>
          </a:xfrm>
          <a:prstGeom prst="roundRect">
            <a:avLst>
              <a:gd name="adj" fmla="val 289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417320"/>
            <a:ext cx="456285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the four forms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01368"/>
            <a:ext cx="45628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 public(x) do</a:t>
            </a:r>
          </a:p>
        </p:txBody>
      </p:sp>
      <p:sp>
        <p:nvSpPr>
          <p:cNvPr id="8" name="a1wd70_code7"/>
          <p:cNvSpPr txBox="1"/>
          <p:nvPr/>
        </p:nvSpPr>
        <p:spPr>
          <a:xfrm>
            <a:off x="621792" y="1993392"/>
            <a:ext cx="45628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x * 2</a:t>
            </a:r>
          </a:p>
        </p:txBody>
      </p:sp>
      <p:sp>
        <p:nvSpPr>
          <p:cNvPr id="9" name="a1wd140_code8"/>
          <p:cNvSpPr txBox="1"/>
          <p:nvPr/>
        </p:nvSpPr>
        <p:spPr>
          <a:xfrm>
            <a:off x="621792" y="2185416"/>
            <a:ext cx="45628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0" name="a1wd210_code9"/>
          <p:cNvSpPr txBox="1"/>
          <p:nvPr/>
        </p:nvSpPr>
        <p:spPr>
          <a:xfrm>
            <a:off x="621792" y="2377440"/>
            <a:ext cx="45628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1" name="a1wd280_code10"/>
          <p:cNvSpPr txBox="1"/>
          <p:nvPr/>
        </p:nvSpPr>
        <p:spPr>
          <a:xfrm>
            <a:off x="621792" y="2569464"/>
            <a:ext cx="45628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 short(x), do: x * 2      # do: form</a:t>
            </a:r>
          </a:p>
        </p:txBody>
      </p:sp>
      <p:sp>
        <p:nvSpPr>
          <p:cNvPr id="12" name="a1wd350_code11"/>
          <p:cNvSpPr txBox="1"/>
          <p:nvPr/>
        </p:nvSpPr>
        <p:spPr>
          <a:xfrm>
            <a:off x="621792" y="2761488"/>
            <a:ext cx="45628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3" name="a1wd420_code12"/>
          <p:cNvSpPr txBox="1"/>
          <p:nvPr/>
        </p:nvSpPr>
        <p:spPr>
          <a:xfrm>
            <a:off x="621792" y="2953512"/>
            <a:ext cx="45628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defp helper(x), do: x + 1    # private</a:t>
            </a:r>
          </a:p>
        </p:txBody>
      </p:sp>
      <p:sp>
        <p:nvSpPr>
          <p:cNvPr id="14" name="a1wd490_code13"/>
          <p:cNvSpPr txBox="1"/>
          <p:nvPr/>
        </p:nvSpPr>
        <p:spPr>
          <a:xfrm>
            <a:off x="621792" y="3145536"/>
            <a:ext cx="45628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5" name="a1wd560_code14"/>
          <p:cNvSpPr txBox="1"/>
          <p:nvPr/>
        </p:nvSpPr>
        <p:spPr>
          <a:xfrm>
            <a:off x="621792" y="3337560"/>
            <a:ext cx="45628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 greet(name, greeting \\ "hi")</a:t>
            </a:r>
          </a:p>
        </p:txBody>
      </p:sp>
      <p:sp>
        <p:nvSpPr>
          <p:cNvPr id="16" name="a1wd630_code15"/>
          <p:cNvSpPr txBox="1"/>
          <p:nvPr/>
        </p:nvSpPr>
        <p:spPr>
          <a:xfrm>
            <a:off x="621792" y="3529584"/>
            <a:ext cx="456285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                             # default arg</a:t>
            </a:r>
          </a:p>
        </p:txBody>
      </p:sp>
      <p:sp>
        <p:nvSpPr>
          <p:cNvPr id="17" name="a2u_dot16"/>
          <p:cNvSpPr/>
          <p:nvPr/>
        </p:nvSpPr>
        <p:spPr>
          <a:xfrm>
            <a:off x="5440680" y="149961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a2u_b17"/>
          <p:cNvSpPr txBox="1"/>
          <p:nvPr/>
        </p:nvSpPr>
        <p:spPr>
          <a:xfrm>
            <a:off x="5660136" y="1399031"/>
            <a:ext cx="3026663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def is public  </a:t>
            </a:r>
            <a:r>
              <a:rPr sz="1100" b="0">
                <a:solidFill>
                  <a:srgbClr val="334155"/>
                </a:solidFill>
                <a:latin typeface="Calibri"/>
              </a:rPr>
              <a:t>callable from anywhere, listed in __info__(:functions)</a:t>
            </a:r>
          </a:p>
        </p:txBody>
      </p:sp>
      <p:sp>
        <p:nvSpPr>
          <p:cNvPr id="19" name="a2ud180_dot18"/>
          <p:cNvSpPr/>
          <p:nvPr/>
        </p:nvSpPr>
        <p:spPr>
          <a:xfrm>
            <a:off x="5440680" y="2231135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a2ud180_b19"/>
          <p:cNvSpPr txBox="1"/>
          <p:nvPr/>
        </p:nvSpPr>
        <p:spPr>
          <a:xfrm>
            <a:off x="5660136" y="2130551"/>
            <a:ext cx="3026663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defp is private  </a:t>
            </a:r>
            <a:r>
              <a:rPr sz="1100" b="0">
                <a:solidFill>
                  <a:srgbClr val="334155"/>
                </a:solidFill>
                <a:latin typeface="Calibri"/>
              </a:rPr>
              <a:t>callable only from inside this module, in no listing at all</a:t>
            </a:r>
          </a:p>
        </p:txBody>
      </p:sp>
      <p:sp>
        <p:nvSpPr>
          <p:cNvPr id="21" name="a2ud360_dot20"/>
          <p:cNvSpPr/>
          <p:nvPr/>
        </p:nvSpPr>
        <p:spPr>
          <a:xfrm>
            <a:off x="5440680" y="2962655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a2ud360_b21"/>
          <p:cNvSpPr txBox="1"/>
          <p:nvPr/>
        </p:nvSpPr>
        <p:spPr>
          <a:xfrm>
            <a:off x="5660136" y="2862071"/>
            <a:ext cx="3026663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Both may have many clauses  </a:t>
            </a:r>
            <a:r>
              <a:rPr sz="1100" b="0">
                <a:solidFill>
                  <a:srgbClr val="334155"/>
                </a:solidFill>
                <a:latin typeface="Calibri"/>
              </a:rPr>
              <a:t>matched top to bottom — session 3 covered the matching</a:t>
            </a:r>
          </a:p>
        </p:txBody>
      </p:sp>
      <p:sp>
        <p:nvSpPr>
          <p:cNvPr id="23" name="a3f_nb22"/>
          <p:cNvSpPr/>
          <p:nvPr/>
        </p:nvSpPr>
        <p:spPr>
          <a:xfrm>
            <a:off x="457200" y="4032504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a3f_nacc23"/>
          <p:cNvSpPr/>
          <p:nvPr/>
        </p:nvSpPr>
        <p:spPr>
          <a:xfrm>
            <a:off x="457200" y="4032504"/>
            <a:ext cx="50292" cy="475488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a3f_nt24"/>
          <p:cNvSpPr txBox="1"/>
          <p:nvPr/>
        </p:nvSpPr>
        <p:spPr>
          <a:xfrm>
            <a:off x="658368" y="4032504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A function belongs to a module and to an arity. There is no such thing as a free-standing function name: greet/1 and greet/2 are two different functions.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DECLARING · MACROS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Macros and guards: the declaration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You need to recognise them today, because require and import treat them differently from functions.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8229600" cy="2615184"/>
          </a:xfrm>
          <a:prstGeom prst="roundRect">
            <a:avLst>
              <a:gd name="adj" fmla="val 279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362456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probe_modules.exs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46504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defmacro twice(x) do          # public macro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621792" y="1929384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quote do: unquote(x) * 2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2112264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295144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1" name="a1wd240_code10"/>
          <p:cNvSpPr txBox="1"/>
          <p:nvPr/>
        </p:nvSpPr>
        <p:spPr>
          <a:xfrm>
            <a:off x="621792" y="2478024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defmacrop shout(x), do: ...   # private macro</a:t>
            </a:r>
          </a:p>
        </p:txBody>
      </p:sp>
      <p:sp>
        <p:nvSpPr>
          <p:cNvPr id="12" name="a1wd300_code11"/>
          <p:cNvSpPr txBox="1"/>
          <p:nvPr/>
        </p:nvSpPr>
        <p:spPr>
          <a:xfrm>
            <a:off x="621792" y="2660904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3" name="a1wd360_code12"/>
          <p:cNvSpPr txBox="1"/>
          <p:nvPr/>
        </p:nvSpPr>
        <p:spPr>
          <a:xfrm>
            <a:off x="621792" y="2843784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defguard is_small(n) when is_integer(n) and n &lt;= @limit</a:t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621792" y="3026664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defguardp is_tiny(n) when is_integer(n) and n &lt;= 2</a:t>
            </a:r>
          </a:p>
        </p:txBody>
      </p:sp>
      <p:sp>
        <p:nvSpPr>
          <p:cNvPr id="15" name="a1wd480_code14"/>
          <p:cNvSpPr txBox="1"/>
          <p:nvPr/>
        </p:nvSpPr>
        <p:spPr>
          <a:xfrm>
            <a:off x="621792" y="3209544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a1wd540_code15"/>
          <p:cNvSpPr txBox="1"/>
          <p:nvPr/>
        </p:nvSpPr>
        <p:spPr>
          <a:xfrm>
            <a:off x="621792" y="3392424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Kitchen.__info__(:macros)   #=&gt; [is_small: 1, twice: 1]</a:t>
            </a:r>
          </a:p>
        </p:txBody>
      </p:sp>
      <p:sp>
        <p:nvSpPr>
          <p:cNvPr id="17" name="a1wd600_code16"/>
          <p:cNvSpPr txBox="1"/>
          <p:nvPr/>
        </p:nvSpPr>
        <p:spPr>
          <a:xfrm>
            <a:off x="621792" y="3575304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macro_exported?(Kitchen, :twice, 1)   #=&gt; true</a:t>
            </a:r>
          </a:p>
        </p:txBody>
      </p:sp>
      <p:sp>
        <p:nvSpPr>
          <p:cNvPr id="18" name="a2f_nb17"/>
          <p:cNvSpPr/>
          <p:nvPr/>
        </p:nvSpPr>
        <p:spPr>
          <a:xfrm>
            <a:off x="457200" y="4032504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2f_nacc18"/>
          <p:cNvSpPr/>
          <p:nvPr/>
        </p:nvSpPr>
        <p:spPr>
          <a:xfrm>
            <a:off x="457200" y="4032504"/>
            <a:ext cx="50292" cy="53035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a2f_nt19"/>
          <p:cNvSpPr txBox="1"/>
          <p:nvPr/>
        </p:nvSpPr>
        <p:spPr>
          <a:xfrm>
            <a:off x="658368" y="4032504"/>
            <a:ext cx="782726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B45309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one thing to carry into the rest of this deck: a macro runs at COMPILE time, so the module that calls it must have been compiled already. That is the entire reason `require` exists.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DECLARING · STRUCT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defstruct — one per module, named after the module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struct IS the module: %Account{} is a map tagged with the atom Account.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62456"/>
            <a:ext cx="4892040" cy="3040380"/>
          </a:xfrm>
          <a:prstGeom prst="roundRect">
            <a:avLst>
              <a:gd name="adj" fmla="val 240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417320"/>
            <a:ext cx="456285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01368"/>
            <a:ext cx="4562855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defmodule Account do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621792" y="1988819"/>
            <a:ext cx="4562855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  @enforce_keys [:id]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2176272"/>
            <a:ext cx="4562855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defstruct [:id, :owner, balance: 0]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363724"/>
            <a:ext cx="4562855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621792" y="2551176"/>
            <a:ext cx="4562855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2" name="a1wd300_code11"/>
          <p:cNvSpPr txBox="1"/>
          <p:nvPr/>
        </p:nvSpPr>
        <p:spPr>
          <a:xfrm>
            <a:off x="621792" y="2738628"/>
            <a:ext cx="4562855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%Account{id: 1}</a:t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621792" y="2926080"/>
            <a:ext cx="4562855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#=&gt; %Account{id: 1, owner: nil,</a:t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621792" y="3113532"/>
            <a:ext cx="4562855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              balance: 0}</a:t>
            </a:r>
          </a:p>
        </p:txBody>
      </p:sp>
      <p:sp>
        <p:nvSpPr>
          <p:cNvPr id="15" name="a1wd480_code14"/>
          <p:cNvSpPr txBox="1"/>
          <p:nvPr/>
        </p:nvSpPr>
        <p:spPr>
          <a:xfrm>
            <a:off x="621792" y="3300984"/>
            <a:ext cx="4562855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a1wd540_code15"/>
          <p:cNvSpPr txBox="1"/>
          <p:nvPr/>
        </p:nvSpPr>
        <p:spPr>
          <a:xfrm>
            <a:off x="621792" y="3488436"/>
            <a:ext cx="4562855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%Account{owner: "ada"}</a:t>
            </a:r>
          </a:p>
        </p:txBody>
      </p:sp>
      <p:sp>
        <p:nvSpPr>
          <p:cNvPr id="17" name="a1wd600_code16"/>
          <p:cNvSpPr txBox="1"/>
          <p:nvPr/>
        </p:nvSpPr>
        <p:spPr>
          <a:xfrm>
            <a:off x="621792" y="3675887"/>
            <a:ext cx="4562855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** (ArgumentError) the following keys</a:t>
            </a:r>
          </a:p>
        </p:txBody>
      </p:sp>
      <p:sp>
        <p:nvSpPr>
          <p:cNvPr id="18" name="a1wd660_code17"/>
          <p:cNvSpPr txBox="1"/>
          <p:nvPr/>
        </p:nvSpPr>
        <p:spPr>
          <a:xfrm>
            <a:off x="621792" y="3863339"/>
            <a:ext cx="4562855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must also be given when building</a:t>
            </a:r>
          </a:p>
        </p:txBody>
      </p:sp>
      <p:sp>
        <p:nvSpPr>
          <p:cNvPr id="19" name="a1wd720_code18"/>
          <p:cNvSpPr txBox="1"/>
          <p:nvPr/>
        </p:nvSpPr>
        <p:spPr>
          <a:xfrm>
            <a:off x="621792" y="4050791"/>
            <a:ext cx="4562855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struct Account: [:id]</a:t>
            </a:r>
          </a:p>
        </p:txBody>
      </p:sp>
      <p:sp>
        <p:nvSpPr>
          <p:cNvPr id="20" name="a2u_dot19"/>
          <p:cNvSpPr/>
          <p:nvPr/>
        </p:nvSpPr>
        <p:spPr>
          <a:xfrm>
            <a:off x="5440680" y="149961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a2u_b20"/>
          <p:cNvSpPr txBox="1"/>
          <p:nvPr/>
        </p:nvSpPr>
        <p:spPr>
          <a:xfrm>
            <a:off x="5660136" y="1399031"/>
            <a:ext cx="3026663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One struct per module  </a:t>
            </a:r>
            <a:r>
              <a:rPr sz="1100" b="0">
                <a:solidFill>
                  <a:srgbClr val="334155"/>
                </a:solidFill>
                <a:latin typeface="Calibri"/>
              </a:rPr>
              <a:t>there is no second defstruct, and no struct without a module</a:t>
            </a:r>
          </a:p>
        </p:txBody>
      </p:sp>
      <p:sp>
        <p:nvSpPr>
          <p:cNvPr id="22" name="a2ud180_dot21"/>
          <p:cNvSpPr/>
          <p:nvPr/>
        </p:nvSpPr>
        <p:spPr>
          <a:xfrm>
            <a:off x="5440680" y="2231135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a2ud180_b22"/>
          <p:cNvSpPr txBox="1"/>
          <p:nvPr/>
        </p:nvSpPr>
        <p:spPr>
          <a:xfrm>
            <a:off x="5660136" y="2130551"/>
            <a:ext cx="3026663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@enforce_keys is compile-time  </a:t>
            </a:r>
            <a:r>
              <a:rPr sz="1100" b="0">
                <a:solidFill>
                  <a:srgbClr val="334155"/>
                </a:solidFill>
                <a:latin typeface="Calibri"/>
              </a:rPr>
              <a:t>the error above is raised while compiling the caller</a:t>
            </a:r>
          </a:p>
        </p:txBody>
      </p:sp>
      <p:sp>
        <p:nvSpPr>
          <p:cNvPr id="24" name="a2ud360_dot23"/>
          <p:cNvSpPr/>
          <p:nvPr/>
        </p:nvSpPr>
        <p:spPr>
          <a:xfrm>
            <a:off x="5440680" y="2962655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a2ud360_b24"/>
          <p:cNvSpPr txBox="1"/>
          <p:nvPr/>
        </p:nvSpPr>
        <p:spPr>
          <a:xfrm>
            <a:off x="5660136" y="2862071"/>
            <a:ext cx="3026663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__info__(:struct) lists the fields  </a:t>
            </a:r>
            <a:r>
              <a:rPr sz="1100" b="0">
                <a:solidFill>
                  <a:srgbClr val="334155"/>
                </a:solidFill>
                <a:latin typeface="Calibri"/>
              </a:rPr>
              <a:t>with their defaults and whether they are required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DECLARING · TWO MORE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defexception and defdelegate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struct you can raise, and a function that is someone else's.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4160520" cy="2615184"/>
          </a:xfrm>
          <a:prstGeom prst="roundRect">
            <a:avLst>
              <a:gd name="adj" fmla="val 279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defmodule InsufficientFunds do</a:t>
            </a:r>
          </a:p>
        </p:txBody>
      </p:sp>
      <p:sp>
        <p:nvSpPr>
          <p:cNvPr id="8" name="a1wd55_code7"/>
          <p:cNvSpPr txBox="1"/>
          <p:nvPr/>
        </p:nvSpPr>
        <p:spPr>
          <a:xfrm>
            <a:off x="621792" y="196596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defexception [:needed,</a:t>
            </a:r>
          </a:p>
        </p:txBody>
      </p:sp>
      <p:sp>
        <p:nvSpPr>
          <p:cNvPr id="9" name="a1wd110_code8"/>
          <p:cNvSpPr txBox="1"/>
          <p:nvPr/>
        </p:nvSpPr>
        <p:spPr>
          <a:xfrm>
            <a:off x="621792" y="214884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message: "insufficient funds"]</a:t>
            </a:r>
          </a:p>
        </p:txBody>
      </p:sp>
      <p:sp>
        <p:nvSpPr>
          <p:cNvPr id="10" name="a1wd165_code9"/>
          <p:cNvSpPr txBox="1"/>
          <p:nvPr/>
        </p:nvSpPr>
        <p:spPr>
          <a:xfrm>
            <a:off x="621792" y="233172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1" name="a1wd220_code10"/>
          <p:cNvSpPr txBox="1"/>
          <p:nvPr/>
        </p:nvSpPr>
        <p:spPr>
          <a:xfrm>
            <a:off x="621792" y="251460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2" name="a1wd275_code11"/>
          <p:cNvSpPr txBox="1"/>
          <p:nvPr/>
        </p:nvSpPr>
        <p:spPr>
          <a:xfrm>
            <a:off x="621792" y="269748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raise InsufficientFunds, needed: 50</a:t>
            </a:r>
          </a:p>
        </p:txBody>
      </p:sp>
      <p:sp>
        <p:nvSpPr>
          <p:cNvPr id="13" name="a1wd330_code12"/>
          <p:cNvSpPr txBox="1"/>
          <p:nvPr/>
        </p:nvSpPr>
        <p:spPr>
          <a:xfrm>
            <a:off x="621792" y="288036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4" name="a1wd385_code13"/>
          <p:cNvSpPr txBox="1"/>
          <p:nvPr/>
        </p:nvSpPr>
        <p:spPr>
          <a:xfrm>
            <a:off x="621792" y="306324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rescue e in InsufficientFunds -&gt;</a:t>
            </a:r>
          </a:p>
        </p:txBody>
      </p:sp>
      <p:sp>
        <p:nvSpPr>
          <p:cNvPr id="15" name="a1wd440_code14"/>
          <p:cNvSpPr txBox="1"/>
          <p:nvPr/>
        </p:nvSpPr>
        <p:spPr>
          <a:xfrm>
            <a:off x="621792" y="324612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Exception.message(e)</a:t>
            </a:r>
          </a:p>
        </p:txBody>
      </p:sp>
      <p:sp>
        <p:nvSpPr>
          <p:cNvPr id="16" name="a1wd495_code15"/>
          <p:cNvSpPr txBox="1"/>
          <p:nvPr/>
        </p:nvSpPr>
        <p:spPr>
          <a:xfrm>
            <a:off x="621792" y="342900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#=&gt; "insufficient funds"</a:t>
            </a:r>
          </a:p>
        </p:txBody>
      </p:sp>
      <p:sp>
        <p:nvSpPr>
          <p:cNvPr id="17" name="a1wd550_code16"/>
          <p:cNvSpPr txBox="1"/>
          <p:nvPr/>
        </p:nvSpPr>
        <p:spPr>
          <a:xfrm>
            <a:off x="621792" y="361188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e.needed  #=&gt; 50</a:t>
            </a:r>
          </a:p>
        </p:txBody>
      </p:sp>
      <p:sp>
        <p:nvSpPr>
          <p:cNvPr id="18" name="a2f_codebg17"/>
          <p:cNvSpPr/>
          <p:nvPr/>
        </p:nvSpPr>
        <p:spPr>
          <a:xfrm>
            <a:off x="4800600" y="1344168"/>
            <a:ext cx="3886200" cy="2432304"/>
          </a:xfrm>
          <a:prstGeom prst="roundRect">
            <a:avLst>
              <a:gd name="adj" fmla="val 300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2f_codeh18"/>
          <p:cNvSpPr txBox="1"/>
          <p:nvPr/>
        </p:nvSpPr>
        <p:spPr>
          <a:xfrm>
            <a:off x="4965192" y="1399032"/>
            <a:ext cx="35570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20" name="a2w_code19"/>
          <p:cNvSpPr txBox="1"/>
          <p:nvPr/>
        </p:nvSpPr>
        <p:spPr>
          <a:xfrm>
            <a:off x="4965192" y="178308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defmodule Kitchen do</a:t>
            </a:r>
          </a:p>
        </p:txBody>
      </p:sp>
      <p:sp>
        <p:nvSpPr>
          <p:cNvPr id="21" name="a2wd55_code20"/>
          <p:cNvSpPr txBox="1"/>
          <p:nvPr/>
        </p:nvSpPr>
        <p:spPr>
          <a:xfrm>
            <a:off x="4965192" y="196596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defdelegate upcase(s), to: String</a:t>
            </a:r>
          </a:p>
        </p:txBody>
      </p:sp>
      <p:sp>
        <p:nvSpPr>
          <p:cNvPr id="22" name="a2wd110_code21"/>
          <p:cNvSpPr txBox="1"/>
          <p:nvPr/>
        </p:nvSpPr>
        <p:spPr>
          <a:xfrm>
            <a:off x="4965192" y="214884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23" name="a2wd165_code22"/>
          <p:cNvSpPr txBox="1"/>
          <p:nvPr/>
        </p:nvSpPr>
        <p:spPr>
          <a:xfrm>
            <a:off x="4965192" y="233172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a2wd220_code23"/>
          <p:cNvSpPr txBox="1"/>
          <p:nvPr/>
        </p:nvSpPr>
        <p:spPr>
          <a:xfrm>
            <a:off x="4965192" y="251460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Kitchen.upcase("delegated")</a:t>
            </a:r>
          </a:p>
        </p:txBody>
      </p:sp>
      <p:sp>
        <p:nvSpPr>
          <p:cNvPr id="25" name="a2wd275_code24"/>
          <p:cNvSpPr txBox="1"/>
          <p:nvPr/>
        </p:nvSpPr>
        <p:spPr>
          <a:xfrm>
            <a:off x="4965192" y="269748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"DELEGATED"</a:t>
            </a:r>
          </a:p>
        </p:txBody>
      </p:sp>
      <p:sp>
        <p:nvSpPr>
          <p:cNvPr id="26" name="a2wd330_code25"/>
          <p:cNvSpPr txBox="1"/>
          <p:nvPr/>
        </p:nvSpPr>
        <p:spPr>
          <a:xfrm>
            <a:off x="4965192" y="288036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a2wd385_code26"/>
          <p:cNvSpPr txBox="1"/>
          <p:nvPr/>
        </p:nvSpPr>
        <p:spPr>
          <a:xfrm>
            <a:off x="4965192" y="306324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it is a REAL function here:</a:t>
            </a:r>
          </a:p>
        </p:txBody>
      </p:sp>
      <p:sp>
        <p:nvSpPr>
          <p:cNvPr id="28" name="a2wd440_code27"/>
          <p:cNvSpPr txBox="1"/>
          <p:nvPr/>
        </p:nvSpPr>
        <p:spPr>
          <a:xfrm>
            <a:off x="4965192" y="324612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Kitchen.__info__(:functions)</a:t>
            </a:r>
          </a:p>
        </p:txBody>
      </p:sp>
      <p:sp>
        <p:nvSpPr>
          <p:cNvPr id="29" name="a2wd495_code28"/>
          <p:cNvSpPr txBox="1"/>
          <p:nvPr/>
        </p:nvSpPr>
        <p:spPr>
          <a:xfrm>
            <a:off x="4965192" y="342900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[..., upcase: 1]</a:t>
            </a:r>
          </a:p>
        </p:txBody>
      </p:sp>
      <p:sp>
        <p:nvSpPr>
          <p:cNvPr id="30" name="a3f_nb29"/>
          <p:cNvSpPr/>
          <p:nvPr/>
        </p:nvSpPr>
        <p:spPr>
          <a:xfrm>
            <a:off x="457200" y="4087368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a3f_nacc30"/>
          <p:cNvSpPr/>
          <p:nvPr/>
        </p:nvSpPr>
        <p:spPr>
          <a:xfrm>
            <a:off x="457200" y="4087368"/>
            <a:ext cx="50292" cy="5120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a3f_nt31"/>
          <p:cNvSpPr txBox="1"/>
          <p:nvPr/>
        </p:nvSpPr>
        <p:spPr>
          <a:xfrm>
            <a:off x="658368" y="4087368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defexception builds a struct with a :message field and the machinery raise/2 needs. defdelegate builds an ordinary public function whose body is one call — useful for a facade module, and visible in __info__ like any other.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INTROSPECTION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a compiled module knows about itself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__info__/1 is Elixir's; module_info/1 is Erlang's. Both are generated for you.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25880"/>
            <a:ext cx="8229600" cy="2980944"/>
          </a:xfrm>
          <a:prstGeom prst="roundRect">
            <a:avLst>
              <a:gd name="adj" fmla="val 245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380744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probe_modules.exs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6479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Kitchen.__info__(:module)      #=&gt; Kitchen</a:t>
            </a:r>
          </a:p>
        </p:txBody>
      </p:sp>
      <p:sp>
        <p:nvSpPr>
          <p:cNvPr id="8" name="a1wd55_code7"/>
          <p:cNvSpPr txBox="1"/>
          <p:nvPr/>
        </p:nvSpPr>
        <p:spPr>
          <a:xfrm>
            <a:off x="621792" y="194767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Kitchen.__info__(:functions)   #=&gt; [public: 1, upcase: 1, ...]</a:t>
            </a:r>
          </a:p>
        </p:txBody>
      </p:sp>
      <p:sp>
        <p:nvSpPr>
          <p:cNvPr id="9" name="a1wd110_code8"/>
          <p:cNvSpPr txBox="1"/>
          <p:nvPr/>
        </p:nvSpPr>
        <p:spPr>
          <a:xfrm>
            <a:off x="621792" y="213055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Kitchen.__info__(:macros)      #=&gt; [is_small: 1, twice: 1]</a:t>
            </a:r>
          </a:p>
        </p:txBody>
      </p:sp>
      <p:sp>
        <p:nvSpPr>
          <p:cNvPr id="10" name="a1wd165_code9"/>
          <p:cNvSpPr txBox="1"/>
          <p:nvPr/>
        </p:nvSpPr>
        <p:spPr>
          <a:xfrm>
            <a:off x="621792" y="231343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Kitchen.__info__(:struct)      #=&gt; [%{field: :name, default: nil, ...}]</a:t>
            </a:r>
          </a:p>
        </p:txBody>
      </p:sp>
      <p:sp>
        <p:nvSpPr>
          <p:cNvPr id="11" name="a1wd220_code10"/>
          <p:cNvSpPr txBox="1"/>
          <p:nvPr/>
        </p:nvSpPr>
        <p:spPr>
          <a:xfrm>
            <a:off x="621792" y="249631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Kitchen.__info__(:attributes)  #=&gt; [vsn: [757536778397921958...]]</a:t>
            </a:r>
          </a:p>
        </p:txBody>
      </p:sp>
      <p:sp>
        <p:nvSpPr>
          <p:cNvPr id="12" name="a1wd275_code11"/>
          <p:cNvSpPr txBox="1"/>
          <p:nvPr/>
        </p:nvSpPr>
        <p:spPr>
          <a:xfrm>
            <a:off x="621792" y="2679191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Kitchen.__info__(:md5)         #=&gt; 16 bytes</a:t>
            </a:r>
          </a:p>
        </p:txBody>
      </p:sp>
      <p:sp>
        <p:nvSpPr>
          <p:cNvPr id="13" name="a1wd330_code12"/>
          <p:cNvSpPr txBox="1"/>
          <p:nvPr/>
        </p:nvSpPr>
        <p:spPr>
          <a:xfrm>
            <a:off x="621792" y="286207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4" name="a1wd385_code13"/>
          <p:cNvSpPr txBox="1"/>
          <p:nvPr/>
        </p:nvSpPr>
        <p:spPr>
          <a:xfrm>
            <a:off x="621792" y="304495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Kitchen.module_info(:exports)  #=&gt; 7 entries (adds module_info itself)</a:t>
            </a:r>
          </a:p>
        </p:txBody>
      </p:sp>
      <p:sp>
        <p:nvSpPr>
          <p:cNvPr id="15" name="a1wd440_code14"/>
          <p:cNvSpPr txBox="1"/>
          <p:nvPr/>
        </p:nvSpPr>
        <p:spPr>
          <a:xfrm>
            <a:off x="621792" y="322783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Kitchen.module_info(:compile)  #=&gt; [:version, :options, :source]</a:t>
            </a:r>
          </a:p>
        </p:txBody>
      </p:sp>
      <p:sp>
        <p:nvSpPr>
          <p:cNvPr id="16" name="a1wd495_code15"/>
          <p:cNvSpPr txBox="1"/>
          <p:nvPr/>
        </p:nvSpPr>
        <p:spPr>
          <a:xfrm>
            <a:off x="621792" y="341071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a1wd550_code16"/>
          <p:cNvSpPr txBox="1"/>
          <p:nvPr/>
        </p:nvSpPr>
        <p:spPr>
          <a:xfrm>
            <a:off x="621792" y="3593591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function_exported?(Kitchen, :public, 1)    #=&gt; true</a:t>
            </a:r>
          </a:p>
        </p:txBody>
      </p:sp>
      <p:sp>
        <p:nvSpPr>
          <p:cNvPr id="18" name="a1wd605_code17"/>
          <p:cNvSpPr txBox="1"/>
          <p:nvPr/>
        </p:nvSpPr>
        <p:spPr>
          <a:xfrm>
            <a:off x="621792" y="377647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function_exported?(Kitchen, :private, 1)   #=&gt; false</a:t>
            </a:r>
          </a:p>
        </p:txBody>
      </p:sp>
      <p:sp>
        <p:nvSpPr>
          <p:cNvPr id="19" name="a1wd660_code18"/>
          <p:cNvSpPr txBox="1"/>
          <p:nvPr/>
        </p:nvSpPr>
        <p:spPr>
          <a:xfrm>
            <a:off x="621792" y="3959352"/>
            <a:ext cx="79004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Enum.__info__(:functions) |&gt; length        #=&gt; 116</a:t>
            </a:r>
          </a:p>
        </p:txBody>
      </p:sp>
      <p:sp>
        <p:nvSpPr>
          <p:cNvPr id="20" name="ft1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03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Reaching another module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Four directives, all lexical,
all gone by the time the code runs.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alias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require · import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use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THE WHOLE STORY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four directives, side by side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097280"/>
            <a:ext cx="1417320" cy="31089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f_tht4"/>
          <p:cNvSpPr txBox="1"/>
          <p:nvPr/>
        </p:nvSpPr>
        <p:spPr>
          <a:xfrm>
            <a:off x="530352" y="1097280"/>
            <a:ext cx="13075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Directive</a:t>
            </a:r>
          </a:p>
        </p:txBody>
      </p:sp>
      <p:sp>
        <p:nvSpPr>
          <p:cNvPr id="6" name="a1wd140_td5"/>
          <p:cNvSpPr/>
          <p:nvPr/>
        </p:nvSpPr>
        <p:spPr>
          <a:xfrm>
            <a:off x="457200" y="1408176"/>
            <a:ext cx="14173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a1wd140_tdt6"/>
          <p:cNvSpPr txBox="1"/>
          <p:nvPr/>
        </p:nvSpPr>
        <p:spPr>
          <a:xfrm>
            <a:off x="530352" y="1408176"/>
            <a:ext cx="13075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alias</a:t>
            </a:r>
          </a:p>
        </p:txBody>
      </p:sp>
      <p:sp>
        <p:nvSpPr>
          <p:cNvPr id="8" name="a1wd280_td7"/>
          <p:cNvSpPr/>
          <p:nvPr/>
        </p:nvSpPr>
        <p:spPr>
          <a:xfrm>
            <a:off x="457200" y="1719072"/>
            <a:ext cx="14173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a1wd280_tdt8"/>
          <p:cNvSpPr txBox="1"/>
          <p:nvPr/>
        </p:nvSpPr>
        <p:spPr>
          <a:xfrm>
            <a:off x="530352" y="1719072"/>
            <a:ext cx="13075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require</a:t>
            </a:r>
          </a:p>
        </p:txBody>
      </p:sp>
      <p:sp>
        <p:nvSpPr>
          <p:cNvPr id="10" name="a1wd420_td9"/>
          <p:cNvSpPr/>
          <p:nvPr/>
        </p:nvSpPr>
        <p:spPr>
          <a:xfrm>
            <a:off x="457200" y="2029967"/>
            <a:ext cx="14173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a1wd420_tdt10"/>
          <p:cNvSpPr txBox="1"/>
          <p:nvPr/>
        </p:nvSpPr>
        <p:spPr>
          <a:xfrm>
            <a:off x="530352" y="2029967"/>
            <a:ext cx="13075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import</a:t>
            </a:r>
          </a:p>
        </p:txBody>
      </p:sp>
      <p:sp>
        <p:nvSpPr>
          <p:cNvPr id="12" name="a1wd560_td11"/>
          <p:cNvSpPr/>
          <p:nvPr/>
        </p:nvSpPr>
        <p:spPr>
          <a:xfrm>
            <a:off x="457200" y="2340864"/>
            <a:ext cx="14173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a1wd560_tdt12"/>
          <p:cNvSpPr txBox="1"/>
          <p:nvPr/>
        </p:nvSpPr>
        <p:spPr>
          <a:xfrm>
            <a:off x="530352" y="2340864"/>
            <a:ext cx="13075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use</a:t>
            </a:r>
          </a:p>
        </p:txBody>
      </p:sp>
      <p:sp>
        <p:nvSpPr>
          <p:cNvPr id="14" name="a1f_th13"/>
          <p:cNvSpPr/>
          <p:nvPr/>
        </p:nvSpPr>
        <p:spPr>
          <a:xfrm>
            <a:off x="1874519" y="1097280"/>
            <a:ext cx="3291840" cy="31089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a1f_tht14"/>
          <p:cNvSpPr txBox="1"/>
          <p:nvPr/>
        </p:nvSpPr>
        <p:spPr>
          <a:xfrm>
            <a:off x="1947672" y="1097280"/>
            <a:ext cx="31821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16" name="a1wd140_td15"/>
          <p:cNvSpPr/>
          <p:nvPr/>
        </p:nvSpPr>
        <p:spPr>
          <a:xfrm>
            <a:off x="1874519" y="1408176"/>
            <a:ext cx="3291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a1wd140_tdt16"/>
          <p:cNvSpPr txBox="1"/>
          <p:nvPr/>
        </p:nvSpPr>
        <p:spPr>
          <a:xfrm>
            <a:off x="1947672" y="1408176"/>
            <a:ext cx="31821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Bar now means Foo.Bar</a:t>
            </a:r>
          </a:p>
        </p:txBody>
      </p:sp>
      <p:sp>
        <p:nvSpPr>
          <p:cNvPr id="18" name="a1wd280_td17"/>
          <p:cNvSpPr/>
          <p:nvPr/>
        </p:nvSpPr>
        <p:spPr>
          <a:xfrm>
            <a:off x="1874519" y="1719072"/>
            <a:ext cx="3291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1wd280_tdt18"/>
          <p:cNvSpPr txBox="1"/>
          <p:nvPr/>
        </p:nvSpPr>
        <p:spPr>
          <a:xfrm>
            <a:off x="1947672" y="1719072"/>
            <a:ext cx="31821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Foo's macros become callable</a:t>
            </a:r>
          </a:p>
        </p:txBody>
      </p:sp>
      <p:sp>
        <p:nvSpPr>
          <p:cNvPr id="20" name="a1wd420_td19"/>
          <p:cNvSpPr/>
          <p:nvPr/>
        </p:nvSpPr>
        <p:spPr>
          <a:xfrm>
            <a:off x="1874519" y="2029967"/>
            <a:ext cx="3291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a1wd420_tdt20"/>
          <p:cNvSpPr txBox="1"/>
          <p:nvPr/>
        </p:nvSpPr>
        <p:spPr>
          <a:xfrm>
            <a:off x="1947672" y="2029967"/>
            <a:ext cx="31821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Foo's names become unqualified</a:t>
            </a:r>
          </a:p>
        </p:txBody>
      </p:sp>
      <p:sp>
        <p:nvSpPr>
          <p:cNvPr id="22" name="a1wd560_td21"/>
          <p:cNvSpPr/>
          <p:nvPr/>
        </p:nvSpPr>
        <p:spPr>
          <a:xfrm>
            <a:off x="1874519" y="2340864"/>
            <a:ext cx="3291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a1wd560_tdt22"/>
          <p:cNvSpPr txBox="1"/>
          <p:nvPr/>
        </p:nvSpPr>
        <p:spPr>
          <a:xfrm>
            <a:off x="1947672" y="2340864"/>
            <a:ext cx="31821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require Foo, then Foo.__using__</a:t>
            </a:r>
          </a:p>
        </p:txBody>
      </p:sp>
      <p:sp>
        <p:nvSpPr>
          <p:cNvPr id="24" name="a1f_th23"/>
          <p:cNvSpPr/>
          <p:nvPr/>
        </p:nvSpPr>
        <p:spPr>
          <a:xfrm>
            <a:off x="5166360" y="1097280"/>
            <a:ext cx="1143000" cy="31089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a1f_tht24"/>
          <p:cNvSpPr txBox="1"/>
          <p:nvPr/>
        </p:nvSpPr>
        <p:spPr>
          <a:xfrm>
            <a:off x="5239512" y="1097280"/>
            <a:ext cx="103327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Loads code?</a:t>
            </a:r>
          </a:p>
        </p:txBody>
      </p:sp>
      <p:sp>
        <p:nvSpPr>
          <p:cNvPr id="26" name="a1wd140_td25"/>
          <p:cNvSpPr/>
          <p:nvPr/>
        </p:nvSpPr>
        <p:spPr>
          <a:xfrm>
            <a:off x="5166360" y="1408176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a1wd140_tdt26"/>
          <p:cNvSpPr txBox="1"/>
          <p:nvPr/>
        </p:nvSpPr>
        <p:spPr>
          <a:xfrm>
            <a:off x="5239512" y="1408176"/>
            <a:ext cx="103327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no</a:t>
            </a:r>
          </a:p>
        </p:txBody>
      </p:sp>
      <p:sp>
        <p:nvSpPr>
          <p:cNvPr id="28" name="a1wd280_td27"/>
          <p:cNvSpPr/>
          <p:nvPr/>
        </p:nvSpPr>
        <p:spPr>
          <a:xfrm>
            <a:off x="5166360" y="1719072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a1wd280_tdt28"/>
          <p:cNvSpPr txBox="1"/>
          <p:nvPr/>
        </p:nvSpPr>
        <p:spPr>
          <a:xfrm>
            <a:off x="5239512" y="1719072"/>
            <a:ext cx="103327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compile dep</a:t>
            </a:r>
          </a:p>
        </p:txBody>
      </p:sp>
      <p:sp>
        <p:nvSpPr>
          <p:cNvPr id="30" name="a1wd420_td29"/>
          <p:cNvSpPr/>
          <p:nvPr/>
        </p:nvSpPr>
        <p:spPr>
          <a:xfrm>
            <a:off x="5166360" y="2029967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a1wd420_tdt30"/>
          <p:cNvSpPr txBox="1"/>
          <p:nvPr/>
        </p:nvSpPr>
        <p:spPr>
          <a:xfrm>
            <a:off x="5239512" y="2029967"/>
            <a:ext cx="103327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compile dep</a:t>
            </a:r>
          </a:p>
        </p:txBody>
      </p:sp>
      <p:sp>
        <p:nvSpPr>
          <p:cNvPr id="32" name="a1wd560_td31"/>
          <p:cNvSpPr/>
          <p:nvPr/>
        </p:nvSpPr>
        <p:spPr>
          <a:xfrm>
            <a:off x="5166360" y="2340864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a1wd560_tdt32"/>
          <p:cNvSpPr txBox="1"/>
          <p:nvPr/>
        </p:nvSpPr>
        <p:spPr>
          <a:xfrm>
            <a:off x="5239512" y="2340864"/>
            <a:ext cx="103327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compile dep</a:t>
            </a:r>
          </a:p>
        </p:txBody>
      </p:sp>
      <p:sp>
        <p:nvSpPr>
          <p:cNvPr id="34" name="a1f_th33"/>
          <p:cNvSpPr/>
          <p:nvPr/>
        </p:nvSpPr>
        <p:spPr>
          <a:xfrm>
            <a:off x="6309360" y="1097280"/>
            <a:ext cx="2377440" cy="31089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a1f_tht34"/>
          <p:cNvSpPr txBox="1"/>
          <p:nvPr/>
        </p:nvSpPr>
        <p:spPr>
          <a:xfrm>
            <a:off x="6382512" y="1097280"/>
            <a:ext cx="22677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Use it when</a:t>
            </a:r>
          </a:p>
        </p:txBody>
      </p:sp>
      <p:sp>
        <p:nvSpPr>
          <p:cNvPr id="36" name="a1wd140_td35"/>
          <p:cNvSpPr/>
          <p:nvPr/>
        </p:nvSpPr>
        <p:spPr>
          <a:xfrm>
            <a:off x="6309360" y="1408176"/>
            <a:ext cx="23774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a1wd140_tdt36"/>
          <p:cNvSpPr txBox="1"/>
          <p:nvPr/>
        </p:nvSpPr>
        <p:spPr>
          <a:xfrm>
            <a:off x="6382512" y="1408176"/>
            <a:ext cx="22677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the name is long</a:t>
            </a:r>
          </a:p>
        </p:txBody>
      </p:sp>
      <p:sp>
        <p:nvSpPr>
          <p:cNvPr id="38" name="a1wd280_td37"/>
          <p:cNvSpPr/>
          <p:nvPr/>
        </p:nvSpPr>
        <p:spPr>
          <a:xfrm>
            <a:off x="6309360" y="1719072"/>
            <a:ext cx="23774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a1wd280_tdt38"/>
          <p:cNvSpPr txBox="1"/>
          <p:nvPr/>
        </p:nvSpPr>
        <p:spPr>
          <a:xfrm>
            <a:off x="6382512" y="1719072"/>
            <a:ext cx="22677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you call a macro</a:t>
            </a:r>
          </a:p>
        </p:txBody>
      </p:sp>
      <p:sp>
        <p:nvSpPr>
          <p:cNvPr id="40" name="a1wd420_td39"/>
          <p:cNvSpPr/>
          <p:nvPr/>
        </p:nvSpPr>
        <p:spPr>
          <a:xfrm>
            <a:off x="6309360" y="2029967"/>
            <a:ext cx="23774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a1wd420_tdt40"/>
          <p:cNvSpPr txBox="1"/>
          <p:nvPr/>
        </p:nvSpPr>
        <p:spPr>
          <a:xfrm>
            <a:off x="6382512" y="2029967"/>
            <a:ext cx="22677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sparingly, with only:</a:t>
            </a:r>
          </a:p>
        </p:txBody>
      </p:sp>
      <p:sp>
        <p:nvSpPr>
          <p:cNvPr id="42" name="a1wd560_td41"/>
          <p:cNvSpPr/>
          <p:nvPr/>
        </p:nvSpPr>
        <p:spPr>
          <a:xfrm>
            <a:off x="6309360" y="2340864"/>
            <a:ext cx="23774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a1wd560_tdt42"/>
          <p:cNvSpPr txBox="1"/>
          <p:nvPr/>
        </p:nvSpPr>
        <p:spPr>
          <a:xfrm>
            <a:off x="6382512" y="2340864"/>
            <a:ext cx="22677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the library says so</a:t>
            </a:r>
          </a:p>
        </p:txBody>
      </p:sp>
      <p:sp>
        <p:nvSpPr>
          <p:cNvPr id="44" name="a2u_dot43"/>
          <p:cNvSpPr/>
          <p:nvPr/>
        </p:nvSpPr>
        <p:spPr>
          <a:xfrm>
            <a:off x="457200" y="288036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a2u_b44"/>
          <p:cNvSpPr txBox="1"/>
          <p:nvPr/>
        </p:nvSpPr>
        <p:spPr>
          <a:xfrm>
            <a:off x="676656" y="2779776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All four are lexically scoped  </a:t>
            </a:r>
            <a:r>
              <a:rPr sz="1150" b="0">
                <a:solidFill>
                  <a:srgbClr val="334155"/>
                </a:solidFill>
                <a:latin typeface="Calibri"/>
              </a:rPr>
              <a:t>inside a function, the directive dies at the end of that function</a:t>
            </a:r>
          </a:p>
        </p:txBody>
      </p:sp>
      <p:sp>
        <p:nvSpPr>
          <p:cNvPr id="46" name="a2ud180_dot45"/>
          <p:cNvSpPr/>
          <p:nvPr/>
        </p:nvSpPr>
        <p:spPr>
          <a:xfrm>
            <a:off x="457200" y="333756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a2ud180_b46"/>
          <p:cNvSpPr txBox="1"/>
          <p:nvPr/>
        </p:nvSpPr>
        <p:spPr>
          <a:xfrm>
            <a:off x="676656" y="3236976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All four are compile-time only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generated BEAM code always holds the full module name</a:t>
            </a:r>
          </a:p>
        </p:txBody>
      </p:sp>
      <p:sp>
        <p:nvSpPr>
          <p:cNvPr id="48" name="a2ud360_dot47"/>
          <p:cNvSpPr/>
          <p:nvPr/>
        </p:nvSpPr>
        <p:spPr>
          <a:xfrm>
            <a:off x="457200" y="379476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a2ud360_b48"/>
          <p:cNvSpPr txBox="1"/>
          <p:nvPr/>
        </p:nvSpPr>
        <p:spPr>
          <a:xfrm>
            <a:off x="676656" y="3694176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None of them is inheritance  </a:t>
            </a:r>
            <a:r>
              <a:rPr sz="1150" b="0">
                <a:solidFill>
                  <a:srgbClr val="334155"/>
                </a:solidFill>
                <a:latin typeface="Calibri"/>
              </a:rPr>
              <a:t>nothing is shared, extended or overridden — except what use injects</a:t>
            </a:r>
          </a:p>
        </p:txBody>
      </p:sp>
      <p:sp>
        <p:nvSpPr>
          <p:cNvPr id="50" name="ft4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51" name="ft5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ALIAS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alias — a shorter name, and nothing else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cheapest directive: no code is loaded, no dependency is created.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4892040" cy="2537459"/>
          </a:xfrm>
          <a:prstGeom prst="roundRect">
            <a:avLst>
              <a:gd name="adj" fmla="val 288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456285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456285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alias MyApp.Accounts.User</a:t>
            </a:r>
          </a:p>
        </p:txBody>
      </p:sp>
      <p:sp>
        <p:nvSpPr>
          <p:cNvPr id="8" name="a1wd70_code7"/>
          <p:cNvSpPr txBox="1"/>
          <p:nvPr/>
        </p:nvSpPr>
        <p:spPr>
          <a:xfrm>
            <a:off x="621792" y="1997964"/>
            <a:ext cx="456285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#  User now means MyApp.Accounts.User</a:t>
            </a:r>
          </a:p>
        </p:txBody>
      </p:sp>
      <p:sp>
        <p:nvSpPr>
          <p:cNvPr id="9" name="a1wd140_code8"/>
          <p:cNvSpPr txBox="1"/>
          <p:nvPr/>
        </p:nvSpPr>
        <p:spPr>
          <a:xfrm>
            <a:off x="621792" y="2212848"/>
            <a:ext cx="456285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" name="a1wd210_code9"/>
          <p:cNvSpPr txBox="1"/>
          <p:nvPr/>
        </p:nvSpPr>
        <p:spPr>
          <a:xfrm>
            <a:off x="621792" y="2427732"/>
            <a:ext cx="456285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alias MyApp.Accounts.User, as: U</a:t>
            </a:r>
          </a:p>
        </p:txBody>
      </p:sp>
      <p:sp>
        <p:nvSpPr>
          <p:cNvPr id="11" name="a1wd280_code10"/>
          <p:cNvSpPr txBox="1"/>
          <p:nvPr/>
        </p:nvSpPr>
        <p:spPr>
          <a:xfrm>
            <a:off x="621792" y="2642615"/>
            <a:ext cx="456285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alias MyApp.Accounts.{User, Team}</a:t>
            </a:r>
          </a:p>
        </p:txBody>
      </p:sp>
      <p:sp>
        <p:nvSpPr>
          <p:cNvPr id="12" name="a1wd350_code11"/>
          <p:cNvSpPr txBox="1"/>
          <p:nvPr/>
        </p:nvSpPr>
        <p:spPr>
          <a:xfrm>
            <a:off x="621792" y="2857500"/>
            <a:ext cx="456285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alias :lists, as: ErlangLists</a:t>
            </a:r>
          </a:p>
        </p:txBody>
      </p:sp>
      <p:sp>
        <p:nvSpPr>
          <p:cNvPr id="13" name="a1wd420_code12"/>
          <p:cNvSpPr txBox="1"/>
          <p:nvPr/>
        </p:nvSpPr>
        <p:spPr>
          <a:xfrm>
            <a:off x="621792" y="3072384"/>
            <a:ext cx="456285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4" name="a1wd490_code13"/>
          <p:cNvSpPr txBox="1"/>
          <p:nvPr/>
        </p:nvSpPr>
        <p:spPr>
          <a:xfrm>
            <a:off x="621792" y="3287268"/>
            <a:ext cx="456285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ErlangLists.reverse([1,2,3])</a:t>
            </a:r>
          </a:p>
        </p:txBody>
      </p:sp>
      <p:sp>
        <p:nvSpPr>
          <p:cNvPr id="15" name="a1wd560_code14"/>
          <p:cNvSpPr txBox="1"/>
          <p:nvPr/>
        </p:nvSpPr>
        <p:spPr>
          <a:xfrm>
            <a:off x="621792" y="3502152"/>
            <a:ext cx="456285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#=&gt; [3, 2, 1]</a:t>
            </a:r>
          </a:p>
        </p:txBody>
      </p:sp>
      <p:sp>
        <p:nvSpPr>
          <p:cNvPr id="16" name="a2u_dot15"/>
          <p:cNvSpPr/>
          <p:nvPr/>
        </p:nvSpPr>
        <p:spPr>
          <a:xfrm>
            <a:off x="5440680" y="148132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a2u_b16"/>
          <p:cNvSpPr txBox="1"/>
          <p:nvPr/>
        </p:nvSpPr>
        <p:spPr>
          <a:xfrm>
            <a:off x="5660136" y="1380743"/>
            <a:ext cx="3026663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Default alias = last segment  </a:t>
            </a:r>
            <a:r>
              <a:rPr sz="1100" b="0">
                <a:solidFill>
                  <a:srgbClr val="334155"/>
                </a:solidFill>
                <a:latin typeface="Calibri"/>
              </a:rPr>
              <a:t>alias A.B.C makes C, not A or A.B</a:t>
            </a:r>
          </a:p>
        </p:txBody>
      </p:sp>
      <p:sp>
        <p:nvSpPr>
          <p:cNvPr id="18" name="a2ud180_dot17"/>
          <p:cNvSpPr/>
          <p:nvPr/>
        </p:nvSpPr>
        <p:spPr>
          <a:xfrm>
            <a:off x="5440680" y="2194559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2ud180_b18"/>
          <p:cNvSpPr txBox="1"/>
          <p:nvPr/>
        </p:nvSpPr>
        <p:spPr>
          <a:xfrm>
            <a:off x="5660136" y="2093975"/>
            <a:ext cx="3026663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as: for a name you choose  </a:t>
            </a:r>
            <a:r>
              <a:rPr sz="1100" b="0">
                <a:solidFill>
                  <a:srgbClr val="334155"/>
                </a:solidFill>
                <a:latin typeface="Calibri"/>
              </a:rPr>
              <a:t>and the only way to alias an Erlang module</a:t>
            </a:r>
          </a:p>
        </p:txBody>
      </p:sp>
      <p:sp>
        <p:nvSpPr>
          <p:cNvPr id="20" name="a2ud360_dot19"/>
          <p:cNvSpPr/>
          <p:nvPr/>
        </p:nvSpPr>
        <p:spPr>
          <a:xfrm>
            <a:off x="5440680" y="2907791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a2ud360_b20"/>
          <p:cNvSpPr txBox="1"/>
          <p:nvPr/>
        </p:nvSpPr>
        <p:spPr>
          <a:xfrm>
            <a:off x="5660136" y="2807208"/>
            <a:ext cx="3026663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Still just a name  </a:t>
            </a:r>
            <a:r>
              <a:rPr sz="1100" b="0">
                <a:solidFill>
                  <a:srgbClr val="334155"/>
                </a:solidFill>
                <a:latin typeface="Calibri"/>
              </a:rPr>
              <a:t>nothing is checked; the module need not exist yet</a:t>
            </a:r>
          </a:p>
        </p:txBody>
      </p:sp>
      <p:sp>
        <p:nvSpPr>
          <p:cNvPr id="22" name="a3f_nb21"/>
          <p:cNvSpPr/>
          <p:nvPr/>
        </p:nvSpPr>
        <p:spPr>
          <a:xfrm>
            <a:off x="457200" y="4009643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a3f_nacc22"/>
          <p:cNvSpPr/>
          <p:nvPr/>
        </p:nvSpPr>
        <p:spPr>
          <a:xfrm>
            <a:off x="457200" y="4009643"/>
            <a:ext cx="50292" cy="5120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a3f_nt23"/>
          <p:cNvSpPr txBox="1"/>
          <p:nvPr/>
        </p:nvSpPr>
        <p:spPr>
          <a:xfrm>
            <a:off x="658368" y="4009643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Proof it is compile-time only: a module whose body is `alias String.Chars, as: C` and `def f, do: C` returns String.Chars at run time. The short name never reaches the BEAM file.</a:t>
            </a:r>
          </a:p>
        </p:txBody>
      </p:sp>
      <p:sp>
        <p:nvSpPr>
          <p:cNvPr id="25" name="ft2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ALIAS · THE TRAPS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alias is lexical, and the last one silently wins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Two things that surprise people, both measured.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4160520" cy="2615184"/>
          </a:xfrm>
          <a:prstGeom prst="roundRect">
            <a:avLst>
              <a:gd name="adj" fmla="val 279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lexical scope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defmodule Scoped do</a:t>
            </a:r>
          </a:p>
        </p:txBody>
      </p:sp>
      <p:sp>
        <p:nvSpPr>
          <p:cNvPr id="8" name="a1wd55_code7"/>
          <p:cNvSpPr txBox="1"/>
          <p:nvPr/>
        </p:nvSpPr>
        <p:spPr>
          <a:xfrm>
            <a:off x="621792" y="196596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inside do</a:t>
            </a:r>
          </a:p>
        </p:txBody>
      </p:sp>
      <p:sp>
        <p:nvSpPr>
          <p:cNvPr id="9" name="a1wd110_code8"/>
          <p:cNvSpPr txBox="1"/>
          <p:nvPr/>
        </p:nvSpPr>
        <p:spPr>
          <a:xfrm>
            <a:off x="621792" y="214884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alias Enum, as: E</a:t>
            </a:r>
          </a:p>
        </p:txBody>
      </p:sp>
      <p:sp>
        <p:nvSpPr>
          <p:cNvPr id="10" name="a1wd165_code9"/>
          <p:cNvSpPr txBox="1"/>
          <p:nvPr/>
        </p:nvSpPr>
        <p:spPr>
          <a:xfrm>
            <a:off x="621792" y="233172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  E.count([1, 2, 3])   #=&gt; 3</a:t>
            </a:r>
          </a:p>
        </p:txBody>
      </p:sp>
      <p:sp>
        <p:nvSpPr>
          <p:cNvPr id="11" name="a1wd220_code10"/>
          <p:cNvSpPr txBox="1"/>
          <p:nvPr/>
        </p:nvSpPr>
        <p:spPr>
          <a:xfrm>
            <a:off x="621792" y="251460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end</a:t>
            </a:r>
          </a:p>
        </p:txBody>
      </p:sp>
      <p:sp>
        <p:nvSpPr>
          <p:cNvPr id="12" name="a1wd275_code11"/>
          <p:cNvSpPr txBox="1"/>
          <p:nvPr/>
        </p:nvSpPr>
        <p:spPr>
          <a:xfrm>
            <a:off x="621792" y="269748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3" name="a1wd330_code12"/>
          <p:cNvSpPr txBox="1"/>
          <p:nvPr/>
        </p:nvSpPr>
        <p:spPr>
          <a:xfrm>
            <a:off x="621792" y="288036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outside do</a:t>
            </a:r>
          </a:p>
        </p:txBody>
      </p:sp>
      <p:sp>
        <p:nvSpPr>
          <p:cNvPr id="14" name="a1wd385_code13"/>
          <p:cNvSpPr txBox="1"/>
          <p:nvPr/>
        </p:nvSpPr>
        <p:spPr>
          <a:xfrm>
            <a:off x="621792" y="306324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    # E means nothing here</a:t>
            </a:r>
          </a:p>
        </p:txBody>
      </p:sp>
      <p:sp>
        <p:nvSpPr>
          <p:cNvPr id="15" name="a1wd440_code14"/>
          <p:cNvSpPr txBox="1"/>
          <p:nvPr/>
        </p:nvSpPr>
        <p:spPr>
          <a:xfrm>
            <a:off x="621792" y="324612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  Enum.count([1, 2, 3]) #=&gt; 3</a:t>
            </a:r>
          </a:p>
        </p:txBody>
      </p:sp>
      <p:sp>
        <p:nvSpPr>
          <p:cNvPr id="16" name="a1wd495_code15"/>
          <p:cNvSpPr txBox="1"/>
          <p:nvPr/>
        </p:nvSpPr>
        <p:spPr>
          <a:xfrm>
            <a:off x="621792" y="342900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end</a:t>
            </a:r>
          </a:p>
        </p:txBody>
      </p:sp>
      <p:sp>
        <p:nvSpPr>
          <p:cNvPr id="17" name="a1wd550_code16"/>
          <p:cNvSpPr txBox="1"/>
          <p:nvPr/>
        </p:nvSpPr>
        <p:spPr>
          <a:xfrm>
            <a:off x="621792" y="3611880"/>
            <a:ext cx="383133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8" name="a2f_codebg17"/>
          <p:cNvSpPr/>
          <p:nvPr/>
        </p:nvSpPr>
        <p:spPr>
          <a:xfrm>
            <a:off x="4800600" y="1344168"/>
            <a:ext cx="3886200" cy="2432304"/>
          </a:xfrm>
          <a:prstGeom prst="roundRect">
            <a:avLst>
              <a:gd name="adj" fmla="val 300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2f_codeh18"/>
          <p:cNvSpPr txBox="1"/>
          <p:nvPr/>
        </p:nvSpPr>
        <p:spPr>
          <a:xfrm>
            <a:off x="4965192" y="1399032"/>
            <a:ext cx="35570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collision</a:t>
            </a:r>
          </a:p>
        </p:txBody>
      </p:sp>
      <p:sp>
        <p:nvSpPr>
          <p:cNvPr id="20" name="a2w_code19"/>
          <p:cNvSpPr txBox="1"/>
          <p:nvPr/>
        </p:nvSpPr>
        <p:spPr>
          <a:xfrm>
            <a:off x="4965192" y="178308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defmodule Clash do</a:t>
            </a:r>
          </a:p>
        </p:txBody>
      </p:sp>
      <p:sp>
        <p:nvSpPr>
          <p:cNvPr id="21" name="a2wd55_code20"/>
          <p:cNvSpPr txBox="1"/>
          <p:nvPr/>
        </p:nvSpPr>
        <p:spPr>
          <a:xfrm>
            <a:off x="4965192" y="196596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alias Map.Helper</a:t>
            </a:r>
          </a:p>
        </p:txBody>
      </p:sp>
      <p:sp>
        <p:nvSpPr>
          <p:cNvPr id="22" name="a2wd110_code21"/>
          <p:cNvSpPr txBox="1"/>
          <p:nvPr/>
        </p:nvSpPr>
        <p:spPr>
          <a:xfrm>
            <a:off x="4965192" y="214884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alias List.Helper</a:t>
            </a:r>
          </a:p>
        </p:txBody>
      </p:sp>
      <p:sp>
        <p:nvSpPr>
          <p:cNvPr id="23" name="a2wd165_code22"/>
          <p:cNvSpPr txBox="1"/>
          <p:nvPr/>
        </p:nvSpPr>
        <p:spPr>
          <a:xfrm>
            <a:off x="4965192" y="233172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which, do: Helper</a:t>
            </a:r>
          </a:p>
        </p:txBody>
      </p:sp>
      <p:sp>
        <p:nvSpPr>
          <p:cNvPr id="24" name="a2wd220_code23"/>
          <p:cNvSpPr txBox="1"/>
          <p:nvPr/>
        </p:nvSpPr>
        <p:spPr>
          <a:xfrm>
            <a:off x="4965192" y="251460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25" name="a2wd275_code24"/>
          <p:cNvSpPr txBox="1"/>
          <p:nvPr/>
        </p:nvSpPr>
        <p:spPr>
          <a:xfrm>
            <a:off x="4965192" y="269748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a2wd330_code25"/>
          <p:cNvSpPr txBox="1"/>
          <p:nvPr/>
        </p:nvSpPr>
        <p:spPr>
          <a:xfrm>
            <a:off x="4965192" y="288036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Clash.which()</a:t>
            </a:r>
          </a:p>
        </p:txBody>
      </p:sp>
      <p:sp>
        <p:nvSpPr>
          <p:cNvPr id="27" name="a2wd385_code26"/>
          <p:cNvSpPr txBox="1"/>
          <p:nvPr/>
        </p:nvSpPr>
        <p:spPr>
          <a:xfrm>
            <a:off x="4965192" y="306324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List.Helper</a:t>
            </a:r>
          </a:p>
        </p:txBody>
      </p:sp>
      <p:sp>
        <p:nvSpPr>
          <p:cNvPr id="28" name="a2wd440_code27"/>
          <p:cNvSpPr txBox="1"/>
          <p:nvPr/>
        </p:nvSpPr>
        <p:spPr>
          <a:xfrm>
            <a:off x="4965192" y="324612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a2wd495_code28"/>
          <p:cNvSpPr txBox="1"/>
          <p:nvPr/>
        </p:nvSpPr>
        <p:spPr>
          <a:xfrm>
            <a:off x="4965192" y="3429000"/>
            <a:ext cx="355701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no warning. no error.</a:t>
            </a:r>
          </a:p>
        </p:txBody>
      </p:sp>
      <p:sp>
        <p:nvSpPr>
          <p:cNvPr id="30" name="a3f_nb29"/>
          <p:cNvSpPr/>
          <p:nvPr/>
        </p:nvSpPr>
        <p:spPr>
          <a:xfrm>
            <a:off x="457200" y="4087368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a3f_nacc30"/>
          <p:cNvSpPr/>
          <p:nvPr/>
        </p:nvSpPr>
        <p:spPr>
          <a:xfrm>
            <a:off x="457200" y="4087368"/>
            <a:ext cx="50292" cy="5120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a3f_nt31"/>
          <p:cNvSpPr txBox="1"/>
          <p:nvPr/>
        </p:nvSpPr>
        <p:spPr>
          <a:xfrm>
            <a:off x="658368" y="4087368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B45309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An alias declared at the top of the module body covers the whole module; one declared inside a function covers that function only. And two aliases for the same short name are not an error — the later one simply replaces the earlier.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REQUIRE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require — only macros need it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function call never needs require. A macro call always does.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8229600" cy="2633472"/>
          </a:xfrm>
          <a:prstGeom prst="roundRect">
            <a:avLst>
              <a:gd name="adj" fmla="val 277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362456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probe_modules.exs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46504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defmodule NoRequire do</a:t>
            </a:r>
          </a:p>
        </p:txBody>
      </p:sp>
      <p:sp>
        <p:nvSpPr>
          <p:cNvPr id="8" name="a1wd55_code7"/>
          <p:cNvSpPr txBox="1"/>
          <p:nvPr/>
        </p:nvSpPr>
        <p:spPr>
          <a:xfrm>
            <a:off x="621792" y="1915667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def f(x), do: Integer.is_odd(x)</a:t>
            </a:r>
          </a:p>
        </p:txBody>
      </p:sp>
      <p:sp>
        <p:nvSpPr>
          <p:cNvPr id="9" name="a1wd110_code8"/>
          <p:cNvSpPr txBox="1"/>
          <p:nvPr/>
        </p:nvSpPr>
        <p:spPr>
          <a:xfrm>
            <a:off x="621792" y="2084831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0" name="a1wd165_code9"/>
          <p:cNvSpPr txBox="1"/>
          <p:nvPr/>
        </p:nvSpPr>
        <p:spPr>
          <a:xfrm>
            <a:off x="621792" y="2253996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1" name="a1wd220_code10"/>
          <p:cNvSpPr txBox="1"/>
          <p:nvPr/>
        </p:nvSpPr>
        <p:spPr>
          <a:xfrm>
            <a:off x="621792" y="2423160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warning: Integer.is_odd/1 is undefined or private. However, there is a</a:t>
            </a:r>
          </a:p>
        </p:txBody>
      </p:sp>
      <p:sp>
        <p:nvSpPr>
          <p:cNvPr id="12" name="a1wd275_code11"/>
          <p:cNvSpPr txBox="1"/>
          <p:nvPr/>
        </p:nvSpPr>
        <p:spPr>
          <a:xfrm>
            <a:off x="621792" y="2592324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macro with the same name and arity. Be sure to require Integer if you</a:t>
            </a:r>
          </a:p>
        </p:txBody>
      </p:sp>
      <p:sp>
        <p:nvSpPr>
          <p:cNvPr id="13" name="a1wd330_code12"/>
          <p:cNvSpPr txBox="1"/>
          <p:nvPr/>
        </p:nvSpPr>
        <p:spPr>
          <a:xfrm>
            <a:off x="621792" y="2761487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intend to invoke this macro</a:t>
            </a:r>
          </a:p>
        </p:txBody>
      </p:sp>
      <p:sp>
        <p:nvSpPr>
          <p:cNvPr id="14" name="a1wd385_code13"/>
          <p:cNvSpPr txBox="1"/>
          <p:nvPr/>
        </p:nvSpPr>
        <p:spPr>
          <a:xfrm>
            <a:off x="621792" y="2930652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5" name="a1wd440_code14"/>
          <p:cNvSpPr txBox="1"/>
          <p:nvPr/>
        </p:nvSpPr>
        <p:spPr>
          <a:xfrm>
            <a:off x="621792" y="3099815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defmodule WithRequire do</a:t>
            </a:r>
          </a:p>
        </p:txBody>
      </p:sp>
      <p:sp>
        <p:nvSpPr>
          <p:cNvPr id="16" name="a1wd495_code15"/>
          <p:cNvSpPr txBox="1"/>
          <p:nvPr/>
        </p:nvSpPr>
        <p:spPr>
          <a:xfrm>
            <a:off x="621792" y="3268980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require Integer</a:t>
            </a:r>
          </a:p>
        </p:txBody>
      </p:sp>
      <p:sp>
        <p:nvSpPr>
          <p:cNvPr id="17" name="a1wd550_code16"/>
          <p:cNvSpPr txBox="1"/>
          <p:nvPr/>
        </p:nvSpPr>
        <p:spPr>
          <a:xfrm>
            <a:off x="621792" y="3438144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  def f(x), do: Integer.is_odd(x)   #=&gt; true / false</a:t>
            </a:r>
          </a:p>
        </p:txBody>
      </p:sp>
      <p:sp>
        <p:nvSpPr>
          <p:cNvPr id="18" name="a1wd605_code17"/>
          <p:cNvSpPr txBox="1"/>
          <p:nvPr/>
        </p:nvSpPr>
        <p:spPr>
          <a:xfrm>
            <a:off x="621792" y="3607308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9" name="a2f_nb18"/>
          <p:cNvSpPr/>
          <p:nvPr/>
        </p:nvSpPr>
        <p:spPr>
          <a:xfrm>
            <a:off x="457200" y="4050791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a2f_nacc19"/>
          <p:cNvSpPr/>
          <p:nvPr/>
        </p:nvSpPr>
        <p:spPr>
          <a:xfrm>
            <a:off x="457200" y="4050791"/>
            <a:ext cx="50292" cy="54864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a2f_nt20"/>
          <p:cNvSpPr txBox="1"/>
          <p:nvPr/>
        </p:nvSpPr>
        <p:spPr>
          <a:xfrm>
            <a:off x="658368" y="4050791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macro has to have been expanded before your module finishes compiling, so the compiler must load Integer first. `require Logger` is the one every project has: Logger.info/1 is a macro so that it can delete itself at compile time when the level is off.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23" name="ft2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IMPORT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import — bring names in unqualified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It implies require, and it is the one directive that can make code unreadable.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25880"/>
            <a:ext cx="8229600" cy="2322576"/>
          </a:xfrm>
          <a:prstGeom prst="roundRect">
            <a:avLst>
              <a:gd name="adj" fmla="val 314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380744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probe_modules.exs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64792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import List,    only: [first: 1, last: 1]    # a named list</a:t>
            </a:r>
          </a:p>
        </p:txBody>
      </p:sp>
      <p:sp>
        <p:nvSpPr>
          <p:cNvPr id="8" name="a1wd65_code7"/>
          <p:cNvSpPr txBox="1"/>
          <p:nvPr/>
        </p:nvSpPr>
        <p:spPr>
          <a:xfrm>
            <a:off x="621792" y="1979676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import String,  only: [upcase: 1, downcase: 1]</a:t>
            </a:r>
          </a:p>
        </p:txBody>
      </p:sp>
      <p:sp>
        <p:nvSpPr>
          <p:cNvPr id="9" name="a1wd130_code8"/>
          <p:cNvSpPr txBox="1"/>
          <p:nvPr/>
        </p:nvSpPr>
        <p:spPr>
          <a:xfrm>
            <a:off x="621792" y="2194560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import Integer, only: :macros                # :functions | :macros | :sigils</a:t>
            </a:r>
          </a:p>
        </p:txBody>
      </p:sp>
      <p:sp>
        <p:nvSpPr>
          <p:cNvPr id="10" name="a1wd195_code9"/>
          <p:cNvSpPr txBox="1"/>
          <p:nvPr/>
        </p:nvSpPr>
        <p:spPr>
          <a:xfrm>
            <a:off x="621792" y="2409444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import Enum,    except: [count: 1]</a:t>
            </a:r>
          </a:p>
        </p:txBody>
      </p:sp>
      <p:sp>
        <p:nvSpPr>
          <p:cNvPr id="11" name="a1wd260_code10"/>
          <p:cNvSpPr txBox="1"/>
          <p:nvPr/>
        </p:nvSpPr>
        <p:spPr>
          <a:xfrm>
            <a:off x="621792" y="2624328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import Enum                                  # EVERYTHING public</a:t>
            </a:r>
          </a:p>
        </p:txBody>
      </p:sp>
      <p:sp>
        <p:nvSpPr>
          <p:cNvPr id="12" name="a1wd325_code11"/>
          <p:cNvSpPr txBox="1"/>
          <p:nvPr/>
        </p:nvSpPr>
        <p:spPr>
          <a:xfrm>
            <a:off x="621792" y="2839211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3" name="a1wd390_code12"/>
          <p:cNvSpPr txBox="1"/>
          <p:nvPr/>
        </p:nvSpPr>
        <p:spPr>
          <a:xfrm>
            <a:off x="621792" y="3054096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first([1,2,3])   #=&gt; 1        called with no module prefix</a:t>
            </a:r>
          </a:p>
        </p:txBody>
      </p:sp>
      <p:sp>
        <p:nvSpPr>
          <p:cNvPr id="14" name="a1wd455_code13"/>
          <p:cNvSpPr txBox="1"/>
          <p:nvPr/>
        </p:nvSpPr>
        <p:spPr>
          <a:xfrm>
            <a:off x="621792" y="3268980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is_odd(3)        #=&gt; true     a macro - import implied the require</a:t>
            </a:r>
          </a:p>
        </p:txBody>
      </p:sp>
      <p:sp>
        <p:nvSpPr>
          <p:cNvPr id="15" name="a2u_dot14"/>
          <p:cNvSpPr/>
          <p:nvPr/>
        </p:nvSpPr>
        <p:spPr>
          <a:xfrm>
            <a:off x="457200" y="387705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2u_b15"/>
          <p:cNvSpPr txBox="1"/>
          <p:nvPr/>
        </p:nvSpPr>
        <p:spPr>
          <a:xfrm>
            <a:off x="676656" y="3776472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only: is not optional in practice  </a:t>
            </a:r>
            <a:r>
              <a:rPr sz="1150" b="0">
                <a:solidFill>
                  <a:srgbClr val="334155"/>
                </a:solidFill>
                <a:latin typeface="Calibri"/>
              </a:rPr>
              <a:t>a bare import hides where every name came from</a:t>
            </a:r>
          </a:p>
        </p:txBody>
      </p:sp>
      <p:sp>
        <p:nvSpPr>
          <p:cNvPr id="17" name="a2ud180_dot16"/>
          <p:cNvSpPr/>
          <p:nvPr/>
        </p:nvSpPr>
        <p:spPr>
          <a:xfrm>
            <a:off x="457200" y="433425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a2ud180_b17"/>
          <p:cNvSpPr txBox="1"/>
          <p:nvPr/>
        </p:nvSpPr>
        <p:spPr>
          <a:xfrm>
            <a:off x="676656" y="4233672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import implies require  </a:t>
            </a:r>
            <a:r>
              <a:rPr sz="1150" b="0">
                <a:solidFill>
                  <a:srgbClr val="334155"/>
                </a:solidFill>
                <a:latin typeface="Calibri"/>
              </a:rPr>
              <a:t>an imported macro is callable, no separate require needed</a:t>
            </a:r>
          </a:p>
        </p:txBody>
      </p:sp>
      <p:sp>
        <p:nvSpPr>
          <p:cNvPr id="19" name="a2ud360_dot18"/>
          <p:cNvSpPr/>
          <p:nvPr/>
        </p:nvSpPr>
        <p:spPr>
          <a:xfrm>
            <a:off x="457200" y="479145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a2ud360_b19"/>
          <p:cNvSpPr txBox="1"/>
          <p:nvPr/>
        </p:nvSpPr>
        <p:spPr>
          <a:xfrm>
            <a:off x="676656" y="4690872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It is lexical, like the rest  </a:t>
            </a:r>
            <a:r>
              <a:rPr sz="1150" b="0">
                <a:solidFill>
                  <a:srgbClr val="334155"/>
                </a:solidFill>
                <a:latin typeface="Calibri"/>
              </a:rPr>
              <a:t>import inside a function applies to that function only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IMPORT · THE COLLISION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Kernel is already imported into your module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Which is why you cannot define length/1 — until you say so.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4160520" cy="2322576"/>
          </a:xfrm>
          <a:prstGeom prst="roundRect">
            <a:avLst>
              <a:gd name="adj" fmla="val 314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the error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defmodule Collide do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621792" y="1997964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length(x), do: {:mine, x}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2212848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call, do: length("abc")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427732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621792" y="2642615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2" name="a1wd300_code11"/>
          <p:cNvSpPr txBox="1"/>
          <p:nvPr/>
        </p:nvSpPr>
        <p:spPr>
          <a:xfrm>
            <a:off x="621792" y="2857500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** (CompileError)</a:t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621792" y="3072384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error: imported Kernel.length/1</a:t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621792" y="3287268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conflicts with local function</a:t>
            </a:r>
          </a:p>
        </p:txBody>
      </p:sp>
      <p:sp>
        <p:nvSpPr>
          <p:cNvPr id="15" name="a2f_codebg14"/>
          <p:cNvSpPr/>
          <p:nvPr/>
        </p:nvSpPr>
        <p:spPr>
          <a:xfrm>
            <a:off x="4800600" y="1344168"/>
            <a:ext cx="3886200" cy="2537459"/>
          </a:xfrm>
          <a:prstGeom prst="roundRect">
            <a:avLst>
              <a:gd name="adj" fmla="val 288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2f_codeh15"/>
          <p:cNvSpPr txBox="1"/>
          <p:nvPr/>
        </p:nvSpPr>
        <p:spPr>
          <a:xfrm>
            <a:off x="4965192" y="1399032"/>
            <a:ext cx="35570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the fix</a:t>
            </a:r>
          </a:p>
        </p:txBody>
      </p:sp>
      <p:sp>
        <p:nvSpPr>
          <p:cNvPr id="17" name="a2w_code16"/>
          <p:cNvSpPr txBox="1"/>
          <p:nvPr/>
        </p:nvSpPr>
        <p:spPr>
          <a:xfrm>
            <a:off x="4965192" y="1783080"/>
            <a:ext cx="35570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defmodule Fixed do</a:t>
            </a:r>
          </a:p>
        </p:txBody>
      </p:sp>
      <p:sp>
        <p:nvSpPr>
          <p:cNvPr id="18" name="a2wd60_code17"/>
          <p:cNvSpPr txBox="1"/>
          <p:nvPr/>
        </p:nvSpPr>
        <p:spPr>
          <a:xfrm>
            <a:off x="4965192" y="1997964"/>
            <a:ext cx="35570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import Kernel, except: [length: 1]</a:t>
            </a:r>
          </a:p>
        </p:txBody>
      </p:sp>
      <p:sp>
        <p:nvSpPr>
          <p:cNvPr id="19" name="a2wd120_code18"/>
          <p:cNvSpPr txBox="1"/>
          <p:nvPr/>
        </p:nvSpPr>
        <p:spPr>
          <a:xfrm>
            <a:off x="4965192" y="2212848"/>
            <a:ext cx="35570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length(x), do: {:mine, x}</a:t>
            </a:r>
          </a:p>
        </p:txBody>
      </p:sp>
      <p:sp>
        <p:nvSpPr>
          <p:cNvPr id="20" name="a2wd180_code19"/>
          <p:cNvSpPr txBox="1"/>
          <p:nvPr/>
        </p:nvSpPr>
        <p:spPr>
          <a:xfrm>
            <a:off x="4965192" y="2427732"/>
            <a:ext cx="35570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call, do: length("abc")</a:t>
            </a:r>
          </a:p>
        </p:txBody>
      </p:sp>
      <p:sp>
        <p:nvSpPr>
          <p:cNvPr id="21" name="a2wd240_code20"/>
          <p:cNvSpPr txBox="1"/>
          <p:nvPr/>
        </p:nvSpPr>
        <p:spPr>
          <a:xfrm>
            <a:off x="4965192" y="2642615"/>
            <a:ext cx="35570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k, do: Kernel.length([1,2,3])</a:t>
            </a:r>
          </a:p>
        </p:txBody>
      </p:sp>
      <p:sp>
        <p:nvSpPr>
          <p:cNvPr id="22" name="a2wd300_code21"/>
          <p:cNvSpPr txBox="1"/>
          <p:nvPr/>
        </p:nvSpPr>
        <p:spPr>
          <a:xfrm>
            <a:off x="4965192" y="2857500"/>
            <a:ext cx="35570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23" name="a2wd360_code22"/>
          <p:cNvSpPr txBox="1"/>
          <p:nvPr/>
        </p:nvSpPr>
        <p:spPr>
          <a:xfrm>
            <a:off x="4965192" y="3072384"/>
            <a:ext cx="35570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a2wd420_code23"/>
          <p:cNvSpPr txBox="1"/>
          <p:nvPr/>
        </p:nvSpPr>
        <p:spPr>
          <a:xfrm>
            <a:off x="4965192" y="3287268"/>
            <a:ext cx="35570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Fixed.call() #=&gt; {:mine, "abc"}</a:t>
            </a:r>
          </a:p>
        </p:txBody>
      </p:sp>
      <p:sp>
        <p:nvSpPr>
          <p:cNvPr id="25" name="a2wd480_code24"/>
          <p:cNvSpPr txBox="1"/>
          <p:nvPr/>
        </p:nvSpPr>
        <p:spPr>
          <a:xfrm>
            <a:off x="4965192" y="3502152"/>
            <a:ext cx="35570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Fixed.k()    #=&gt; 3</a:t>
            </a:r>
          </a:p>
        </p:txBody>
      </p:sp>
      <p:sp>
        <p:nvSpPr>
          <p:cNvPr id="26" name="a3f_nb25"/>
          <p:cNvSpPr/>
          <p:nvPr/>
        </p:nvSpPr>
        <p:spPr>
          <a:xfrm>
            <a:off x="457200" y="4009643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a3f_nacc26"/>
          <p:cNvSpPr/>
          <p:nvPr/>
        </p:nvSpPr>
        <p:spPr>
          <a:xfrm>
            <a:off x="457200" y="4009643"/>
            <a:ext cx="50292" cy="5486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a3f_nt27"/>
          <p:cNvSpPr txBox="1"/>
          <p:nvPr/>
        </p:nvSpPr>
        <p:spPr>
          <a:xfrm>
            <a:off x="658368" y="4009643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Every module begins with `import Kernel` and `require Kernel` already done for you — that is why +, if, def and raise work without a prefix. `except:` is how you take one name back, and Kernel.length/1 is still reachable by its full name.</a:t>
            </a:r>
          </a:p>
        </p:txBody>
      </p:sp>
      <p:sp>
        <p:nvSpPr>
          <p:cNvPr id="29" name="ft2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30" name="ft2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USE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use — require, then inject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only directive that can add functions to your module.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4343400" cy="2107691"/>
          </a:xfrm>
          <a:prstGeom prst="roundRect">
            <a:avLst>
              <a:gd name="adj" fmla="val 34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401421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Macro.expand_once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401421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use SomeModule, some: :option</a:t>
            </a:r>
          </a:p>
        </p:txBody>
      </p:sp>
      <p:sp>
        <p:nvSpPr>
          <p:cNvPr id="8" name="a1wd70_code7"/>
          <p:cNvSpPr txBox="1"/>
          <p:nvPr/>
        </p:nvSpPr>
        <p:spPr>
          <a:xfrm>
            <a:off x="621792" y="1997964"/>
            <a:ext cx="401421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" name="a1wd140_code8"/>
          <p:cNvSpPr txBox="1"/>
          <p:nvPr/>
        </p:nvSpPr>
        <p:spPr>
          <a:xfrm>
            <a:off x="621792" y="2212848"/>
            <a:ext cx="401421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expands to exactly this:</a:t>
            </a:r>
          </a:p>
        </p:txBody>
      </p:sp>
      <p:sp>
        <p:nvSpPr>
          <p:cNvPr id="10" name="a1wd210_code9"/>
          <p:cNvSpPr txBox="1"/>
          <p:nvPr/>
        </p:nvSpPr>
        <p:spPr>
          <a:xfrm>
            <a:off x="621792" y="2427732"/>
            <a:ext cx="401421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(</a:t>
            </a:r>
          </a:p>
        </p:txBody>
      </p:sp>
      <p:sp>
        <p:nvSpPr>
          <p:cNvPr id="11" name="a1wd280_code10"/>
          <p:cNvSpPr txBox="1"/>
          <p:nvPr/>
        </p:nvSpPr>
        <p:spPr>
          <a:xfrm>
            <a:off x="621792" y="2642615"/>
            <a:ext cx="401421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require SomeModule</a:t>
            </a:r>
          </a:p>
        </p:txBody>
      </p:sp>
      <p:sp>
        <p:nvSpPr>
          <p:cNvPr id="12" name="a1wd350_code11"/>
          <p:cNvSpPr txBox="1"/>
          <p:nvPr/>
        </p:nvSpPr>
        <p:spPr>
          <a:xfrm>
            <a:off x="621792" y="2857500"/>
            <a:ext cx="401421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SomeModule.__using__(some: :option)</a:t>
            </a:r>
          </a:p>
        </p:txBody>
      </p:sp>
      <p:sp>
        <p:nvSpPr>
          <p:cNvPr id="13" name="a1wd420_code12"/>
          <p:cNvSpPr txBox="1"/>
          <p:nvPr/>
        </p:nvSpPr>
        <p:spPr>
          <a:xfrm>
            <a:off x="621792" y="3072384"/>
            <a:ext cx="401421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)</a:t>
            </a:r>
          </a:p>
        </p:txBody>
      </p:sp>
      <p:sp>
        <p:nvSpPr>
          <p:cNvPr id="14" name="a2u_dot13"/>
          <p:cNvSpPr/>
          <p:nvPr/>
        </p:nvSpPr>
        <p:spPr>
          <a:xfrm>
            <a:off x="4892040" y="146304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a2u_b14"/>
          <p:cNvSpPr txBox="1"/>
          <p:nvPr/>
        </p:nvSpPr>
        <p:spPr>
          <a:xfrm>
            <a:off x="5111496" y="1362456"/>
            <a:ext cx="3575304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__using__/1 is a macro you write  </a:t>
            </a:r>
            <a:r>
              <a:rPr sz="1100" b="0">
                <a:solidFill>
                  <a:srgbClr val="334155"/>
                </a:solidFill>
                <a:latin typeface="Calibri"/>
              </a:rPr>
              <a:t>it returns quoted code, which is injected here</a:t>
            </a:r>
          </a:p>
        </p:txBody>
      </p:sp>
      <p:sp>
        <p:nvSpPr>
          <p:cNvPr id="16" name="a2ud180_dot15"/>
          <p:cNvSpPr/>
          <p:nvPr/>
        </p:nvSpPr>
        <p:spPr>
          <a:xfrm>
            <a:off x="4892040" y="219456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a2ud180_b16"/>
          <p:cNvSpPr txBox="1"/>
          <p:nvPr/>
        </p:nvSpPr>
        <p:spPr>
          <a:xfrm>
            <a:off x="5111496" y="2093976"/>
            <a:ext cx="3575304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Whatever it returns is now yours  </a:t>
            </a:r>
            <a:r>
              <a:rPr sz="1100" b="0">
                <a:solidFill>
                  <a:srgbClr val="334155"/>
                </a:solidFill>
                <a:latin typeface="Calibri"/>
              </a:rPr>
              <a:t>functions, attributes, other directives — anything</a:t>
            </a:r>
          </a:p>
        </p:txBody>
      </p:sp>
      <p:sp>
        <p:nvSpPr>
          <p:cNvPr id="18" name="a2ud360_dot17"/>
          <p:cNvSpPr/>
          <p:nvPr/>
        </p:nvSpPr>
        <p:spPr>
          <a:xfrm>
            <a:off x="4892040" y="292608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2ud360_b18"/>
          <p:cNvSpPr txBox="1"/>
          <p:nvPr/>
        </p:nvSpPr>
        <p:spPr>
          <a:xfrm>
            <a:off x="5111496" y="2825496"/>
            <a:ext cx="3575304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This is why use is unpredictable  </a:t>
            </a:r>
            <a:r>
              <a:rPr sz="1100" b="0">
                <a:solidFill>
                  <a:srgbClr val="334155"/>
                </a:solidFill>
                <a:latin typeface="Calibri"/>
              </a:rPr>
              <a:t>read the __using__ before you type use</a:t>
            </a:r>
          </a:p>
        </p:txBody>
      </p:sp>
      <p:sp>
        <p:nvSpPr>
          <p:cNvPr id="20" name="a3f_nb19"/>
          <p:cNvSpPr/>
          <p:nvPr/>
        </p:nvSpPr>
        <p:spPr>
          <a:xfrm>
            <a:off x="457200" y="3794759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a3f_nacc20"/>
          <p:cNvSpPr/>
          <p:nvPr/>
        </p:nvSpPr>
        <p:spPr>
          <a:xfrm>
            <a:off x="457200" y="3794759"/>
            <a:ext cx="50292" cy="475488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a3f_nt21"/>
          <p:cNvSpPr txBox="1"/>
          <p:nvPr/>
        </p:nvSpPr>
        <p:spPr>
          <a:xfrm>
            <a:off x="658368" y="3794759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use GenServer, use ExUnit.Case, use Ecto.Schema and use MyAppWeb, :controller are all this one mechanism. There is no framework magic underneath — only a macro.</a:t>
            </a:r>
          </a:p>
        </p:txBody>
      </p:sp>
      <p:sp>
        <p:nvSpPr>
          <p:cNvPr id="23" name="ft2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24" name="ft2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USE · THE OTHER SIDE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Writing one, with defoverridable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Inject a default, and let the caller replace it.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4800600" cy="2633472"/>
          </a:xfrm>
          <a:prstGeom prst="roundRect">
            <a:avLst>
              <a:gd name="adj" fmla="val 277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w_code5"/>
          <p:cNvSpPr txBox="1"/>
          <p:nvPr/>
        </p:nvSpPr>
        <p:spPr>
          <a:xfrm>
            <a:off x="621792" y="1472184"/>
            <a:ext cx="4471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defmodule Mixin do</a:t>
            </a:r>
          </a:p>
        </p:txBody>
      </p:sp>
      <p:sp>
        <p:nvSpPr>
          <p:cNvPr id="7" name="a1wd45_code6"/>
          <p:cNvSpPr txBox="1"/>
          <p:nvPr/>
        </p:nvSpPr>
        <p:spPr>
          <a:xfrm>
            <a:off x="621792" y="1664207"/>
            <a:ext cx="4471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defmacro __using__(opts) do</a:t>
            </a:r>
          </a:p>
        </p:txBody>
      </p:sp>
      <p:sp>
        <p:nvSpPr>
          <p:cNvPr id="8" name="a1wd90_code7"/>
          <p:cNvSpPr txBox="1"/>
          <p:nvPr/>
        </p:nvSpPr>
        <p:spPr>
          <a:xfrm>
            <a:off x="621792" y="1856231"/>
            <a:ext cx="4471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greeting = Keyword.get(opts,</a:t>
            </a:r>
          </a:p>
        </p:txBody>
      </p:sp>
      <p:sp>
        <p:nvSpPr>
          <p:cNvPr id="9" name="a1wd135_code8"/>
          <p:cNvSpPr txBox="1"/>
          <p:nvPr/>
        </p:nvSpPr>
        <p:spPr>
          <a:xfrm>
            <a:off x="621792" y="2048255"/>
            <a:ext cx="4471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             :greeting, "hello")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240279"/>
            <a:ext cx="4471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quote do</a:t>
            </a:r>
          </a:p>
        </p:txBody>
      </p:sp>
      <p:sp>
        <p:nvSpPr>
          <p:cNvPr id="11" name="a1wd225_code10"/>
          <p:cNvSpPr txBox="1"/>
          <p:nvPr/>
        </p:nvSpPr>
        <p:spPr>
          <a:xfrm>
            <a:off x="621792" y="2432304"/>
            <a:ext cx="4471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  def greet(n), do:</a:t>
            </a:r>
          </a:p>
        </p:txBody>
      </p:sp>
      <p:sp>
        <p:nvSpPr>
          <p:cNvPr id="12" name="a1wd270_code11"/>
          <p:cNvSpPr txBox="1"/>
          <p:nvPr/>
        </p:nvSpPr>
        <p:spPr>
          <a:xfrm>
            <a:off x="621792" y="2624328"/>
            <a:ext cx="4471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    unquote(greeting) &lt;&gt; " " &lt;&gt; n</a:t>
            </a:r>
          </a:p>
        </p:txBody>
      </p:sp>
      <p:sp>
        <p:nvSpPr>
          <p:cNvPr id="13" name="a1wd315_code12"/>
          <p:cNvSpPr txBox="1"/>
          <p:nvPr/>
        </p:nvSpPr>
        <p:spPr>
          <a:xfrm>
            <a:off x="621792" y="2816352"/>
            <a:ext cx="4471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  def from, do: unquote(__MODULE__)</a:t>
            </a:r>
          </a:p>
        </p:txBody>
      </p:sp>
      <p:sp>
        <p:nvSpPr>
          <p:cNvPr id="14" name="a1wd360_code13"/>
          <p:cNvSpPr txBox="1"/>
          <p:nvPr/>
        </p:nvSpPr>
        <p:spPr>
          <a:xfrm>
            <a:off x="621792" y="3008376"/>
            <a:ext cx="4471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  defoverridable greet: 1</a:t>
            </a:r>
          </a:p>
        </p:txBody>
      </p:sp>
      <p:sp>
        <p:nvSpPr>
          <p:cNvPr id="15" name="a1wd405_code14"/>
          <p:cNvSpPr txBox="1"/>
          <p:nvPr/>
        </p:nvSpPr>
        <p:spPr>
          <a:xfrm>
            <a:off x="621792" y="3200400"/>
            <a:ext cx="4471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end</a:t>
            </a:r>
          </a:p>
        </p:txBody>
      </p:sp>
      <p:sp>
        <p:nvSpPr>
          <p:cNvPr id="16" name="a1wd450_code15"/>
          <p:cNvSpPr txBox="1"/>
          <p:nvPr/>
        </p:nvSpPr>
        <p:spPr>
          <a:xfrm>
            <a:off x="621792" y="3392424"/>
            <a:ext cx="4471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end</a:t>
            </a:r>
          </a:p>
        </p:txBody>
      </p:sp>
      <p:sp>
        <p:nvSpPr>
          <p:cNvPr id="17" name="a1wd495_code16"/>
          <p:cNvSpPr txBox="1"/>
          <p:nvPr/>
        </p:nvSpPr>
        <p:spPr>
          <a:xfrm>
            <a:off x="621792" y="3584448"/>
            <a:ext cx="4471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8" name="a2f_codebg17"/>
          <p:cNvSpPr/>
          <p:nvPr/>
        </p:nvSpPr>
        <p:spPr>
          <a:xfrm>
            <a:off x="5440680" y="1307592"/>
            <a:ext cx="3246120" cy="3099815"/>
          </a:xfrm>
          <a:prstGeom prst="roundRect">
            <a:avLst>
              <a:gd name="adj" fmla="val 235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2f_codeh18"/>
          <p:cNvSpPr txBox="1"/>
          <p:nvPr/>
        </p:nvSpPr>
        <p:spPr>
          <a:xfrm>
            <a:off x="5605272" y="1362456"/>
            <a:ext cx="29169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20" name="a2w_code19"/>
          <p:cNvSpPr txBox="1"/>
          <p:nvPr/>
        </p:nvSpPr>
        <p:spPr>
          <a:xfrm>
            <a:off x="5605272" y="1746504"/>
            <a:ext cx="291693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defmodule Plain do</a:t>
            </a:r>
          </a:p>
        </p:txBody>
      </p:sp>
      <p:sp>
        <p:nvSpPr>
          <p:cNvPr id="21" name="a2wd50_code20"/>
          <p:cNvSpPr txBox="1"/>
          <p:nvPr/>
        </p:nvSpPr>
        <p:spPr>
          <a:xfrm>
            <a:off x="5605272" y="1924812"/>
            <a:ext cx="291693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use Mixin</a:t>
            </a:r>
          </a:p>
        </p:txBody>
      </p:sp>
      <p:sp>
        <p:nvSpPr>
          <p:cNvPr id="22" name="a2wd100_code21"/>
          <p:cNvSpPr txBox="1"/>
          <p:nvPr/>
        </p:nvSpPr>
        <p:spPr>
          <a:xfrm>
            <a:off x="5605272" y="2103120"/>
            <a:ext cx="291693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23" name="a2wd150_code22"/>
          <p:cNvSpPr txBox="1"/>
          <p:nvPr/>
        </p:nvSpPr>
        <p:spPr>
          <a:xfrm>
            <a:off x="5605272" y="2281428"/>
            <a:ext cx="291693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a2wd200_code23"/>
          <p:cNvSpPr txBox="1"/>
          <p:nvPr/>
        </p:nvSpPr>
        <p:spPr>
          <a:xfrm>
            <a:off x="5605272" y="2459736"/>
            <a:ext cx="291693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defmodule Custom do</a:t>
            </a:r>
          </a:p>
        </p:txBody>
      </p:sp>
      <p:sp>
        <p:nvSpPr>
          <p:cNvPr id="25" name="a2wd250_code24"/>
          <p:cNvSpPr txBox="1"/>
          <p:nvPr/>
        </p:nvSpPr>
        <p:spPr>
          <a:xfrm>
            <a:off x="5605272" y="2638044"/>
            <a:ext cx="291693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use Mixin, greeting: "namaste"</a:t>
            </a:r>
          </a:p>
        </p:txBody>
      </p:sp>
      <p:sp>
        <p:nvSpPr>
          <p:cNvPr id="26" name="a2wd300_code25"/>
          <p:cNvSpPr txBox="1"/>
          <p:nvPr/>
        </p:nvSpPr>
        <p:spPr>
          <a:xfrm>
            <a:off x="5605272" y="2816352"/>
            <a:ext cx="291693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greet(n), do:</a:t>
            </a:r>
          </a:p>
        </p:txBody>
      </p:sp>
      <p:sp>
        <p:nvSpPr>
          <p:cNvPr id="27" name="a2wd350_code26"/>
          <p:cNvSpPr txBox="1"/>
          <p:nvPr/>
        </p:nvSpPr>
        <p:spPr>
          <a:xfrm>
            <a:off x="5605272" y="2994660"/>
            <a:ext cx="291693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"OVERRIDDEN " &lt;&gt; super(n)</a:t>
            </a:r>
          </a:p>
        </p:txBody>
      </p:sp>
      <p:sp>
        <p:nvSpPr>
          <p:cNvPr id="28" name="a2wd400_code27"/>
          <p:cNvSpPr txBox="1"/>
          <p:nvPr/>
        </p:nvSpPr>
        <p:spPr>
          <a:xfrm>
            <a:off x="5605272" y="3172968"/>
            <a:ext cx="291693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29" name="a2wd450_code28"/>
          <p:cNvSpPr txBox="1"/>
          <p:nvPr/>
        </p:nvSpPr>
        <p:spPr>
          <a:xfrm>
            <a:off x="5605272" y="3351276"/>
            <a:ext cx="291693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a2wd500_code29"/>
          <p:cNvSpPr txBox="1"/>
          <p:nvPr/>
        </p:nvSpPr>
        <p:spPr>
          <a:xfrm>
            <a:off x="5605272" y="3529584"/>
            <a:ext cx="291693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Plain.greet("ada")</a:t>
            </a:r>
          </a:p>
        </p:txBody>
      </p:sp>
      <p:sp>
        <p:nvSpPr>
          <p:cNvPr id="31" name="a2wd550_code30"/>
          <p:cNvSpPr txBox="1"/>
          <p:nvPr/>
        </p:nvSpPr>
        <p:spPr>
          <a:xfrm>
            <a:off x="5605272" y="3707891"/>
            <a:ext cx="291693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"hello ada"</a:t>
            </a:r>
          </a:p>
        </p:txBody>
      </p:sp>
      <p:sp>
        <p:nvSpPr>
          <p:cNvPr id="32" name="a2wd600_code31"/>
          <p:cNvSpPr txBox="1"/>
          <p:nvPr/>
        </p:nvSpPr>
        <p:spPr>
          <a:xfrm>
            <a:off x="5605272" y="3886200"/>
            <a:ext cx="291693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Custom.greet("ravi")</a:t>
            </a:r>
          </a:p>
        </p:txBody>
      </p:sp>
      <p:sp>
        <p:nvSpPr>
          <p:cNvPr id="33" name="a2wd650_code32"/>
          <p:cNvSpPr txBox="1"/>
          <p:nvPr/>
        </p:nvSpPr>
        <p:spPr>
          <a:xfrm>
            <a:off x="5605272" y="4064508"/>
            <a:ext cx="2916936" cy="1783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"OVERRIDDEN namaste ravi"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35" name="ft3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THE DECISION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Which directive do I want?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52144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u_acc4"/>
          <p:cNvSpPr/>
          <p:nvPr/>
        </p:nvSpPr>
        <p:spPr>
          <a:xfrm>
            <a:off x="457200" y="1152144"/>
            <a:ext cx="1906524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ud60_ic5"/>
          <p:cNvSpPr/>
          <p:nvPr/>
        </p:nvSpPr>
        <p:spPr>
          <a:xfrm>
            <a:off x="621792" y="1353312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a1ud60_ict6"/>
          <p:cNvSpPr txBox="1"/>
          <p:nvPr/>
        </p:nvSpPr>
        <p:spPr>
          <a:xfrm>
            <a:off x="621792" y="13533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8" name="a1ud90_ct7"/>
          <p:cNvSpPr txBox="1"/>
          <p:nvPr/>
        </p:nvSpPr>
        <p:spPr>
          <a:xfrm>
            <a:off x="621792" y="1828800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Nothing</a:t>
            </a:r>
          </a:p>
        </p:txBody>
      </p:sp>
      <p:sp>
        <p:nvSpPr>
          <p:cNvPr id="9" name="a1ud120_cs8"/>
          <p:cNvSpPr txBox="1"/>
          <p:nvPr/>
        </p:nvSpPr>
        <p:spPr>
          <a:xfrm>
            <a:off x="621792" y="2103120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ourier New"/>
              </a:rPr>
              <a:t>MyApp.Accounts.get/1</a:t>
            </a:r>
          </a:p>
        </p:txBody>
      </p:sp>
      <p:sp>
        <p:nvSpPr>
          <p:cNvPr id="10" name="a1ud150_cb9"/>
          <p:cNvSpPr txBox="1"/>
          <p:nvPr/>
        </p:nvSpPr>
        <p:spPr>
          <a:xfrm>
            <a:off x="621792" y="2359152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Full name, always works</a:t>
            </a:r>
          </a:p>
        </p:txBody>
      </p:sp>
      <p:sp>
        <p:nvSpPr>
          <p:cNvPr id="11" name="a1ud220_cb10"/>
          <p:cNvSpPr txBox="1"/>
          <p:nvPr/>
        </p:nvSpPr>
        <p:spPr>
          <a:xfrm>
            <a:off x="621792" y="274320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No directive needed</a:t>
            </a:r>
          </a:p>
        </p:txBody>
      </p:sp>
      <p:sp>
        <p:nvSpPr>
          <p:cNvPr id="12" name="a1ud290_cb11"/>
          <p:cNvSpPr txBox="1"/>
          <p:nvPr/>
        </p:nvSpPr>
        <p:spPr>
          <a:xfrm>
            <a:off x="621792" y="312724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The default answer</a:t>
            </a:r>
          </a:p>
        </p:txBody>
      </p:sp>
      <p:sp>
        <p:nvSpPr>
          <p:cNvPr id="13" name="a2u_card12"/>
          <p:cNvSpPr/>
          <p:nvPr/>
        </p:nvSpPr>
        <p:spPr>
          <a:xfrm>
            <a:off x="2564892" y="1152144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a2u_acc13"/>
          <p:cNvSpPr/>
          <p:nvPr/>
        </p:nvSpPr>
        <p:spPr>
          <a:xfrm>
            <a:off x="2564892" y="1152144"/>
            <a:ext cx="1906524" cy="50292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a2ud60_ic14"/>
          <p:cNvSpPr/>
          <p:nvPr/>
        </p:nvSpPr>
        <p:spPr>
          <a:xfrm>
            <a:off x="2729484" y="1353312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2ud60_ict15"/>
          <p:cNvSpPr txBox="1"/>
          <p:nvPr/>
        </p:nvSpPr>
        <p:spPr>
          <a:xfrm>
            <a:off x="2729484" y="13533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a2ud90_ct16"/>
          <p:cNvSpPr txBox="1"/>
          <p:nvPr/>
        </p:nvSpPr>
        <p:spPr>
          <a:xfrm>
            <a:off x="2729484" y="1828800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alias</a:t>
            </a:r>
          </a:p>
        </p:txBody>
      </p:sp>
      <p:sp>
        <p:nvSpPr>
          <p:cNvPr id="18" name="a2ud120_cs17"/>
          <p:cNvSpPr txBox="1"/>
          <p:nvPr/>
        </p:nvSpPr>
        <p:spPr>
          <a:xfrm>
            <a:off x="2729484" y="2103120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6B3FA0"/>
                </a:solidFill>
                <a:latin typeface="Courier New"/>
              </a:rPr>
              <a:t>Accounts.get/1</a:t>
            </a:r>
          </a:p>
        </p:txBody>
      </p:sp>
      <p:sp>
        <p:nvSpPr>
          <p:cNvPr id="19" name="a2ud150_cb18"/>
          <p:cNvSpPr txBox="1"/>
          <p:nvPr/>
        </p:nvSpPr>
        <p:spPr>
          <a:xfrm>
            <a:off x="2729484" y="2359152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The name is long</a:t>
            </a:r>
          </a:p>
        </p:txBody>
      </p:sp>
      <p:sp>
        <p:nvSpPr>
          <p:cNvPr id="20" name="a2ud220_cb19"/>
          <p:cNvSpPr txBox="1"/>
          <p:nvPr/>
        </p:nvSpPr>
        <p:spPr>
          <a:xfrm>
            <a:off x="2729484" y="274320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Used more than twice</a:t>
            </a:r>
          </a:p>
        </p:txBody>
      </p:sp>
      <p:sp>
        <p:nvSpPr>
          <p:cNvPr id="21" name="a2ud290_cb20"/>
          <p:cNvSpPr txBox="1"/>
          <p:nvPr/>
        </p:nvSpPr>
        <p:spPr>
          <a:xfrm>
            <a:off x="2729484" y="312724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Costs nothing</a:t>
            </a:r>
          </a:p>
        </p:txBody>
      </p:sp>
      <p:sp>
        <p:nvSpPr>
          <p:cNvPr id="22" name="a3u_card21"/>
          <p:cNvSpPr/>
          <p:nvPr/>
        </p:nvSpPr>
        <p:spPr>
          <a:xfrm>
            <a:off x="4672584" y="1152144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a3u_acc22"/>
          <p:cNvSpPr/>
          <p:nvPr/>
        </p:nvSpPr>
        <p:spPr>
          <a:xfrm>
            <a:off x="4672584" y="1152144"/>
            <a:ext cx="1906524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a3ud60_ic23"/>
          <p:cNvSpPr/>
          <p:nvPr/>
        </p:nvSpPr>
        <p:spPr>
          <a:xfrm>
            <a:off x="4837176" y="1353312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a3ud60_ict24"/>
          <p:cNvSpPr txBox="1"/>
          <p:nvPr/>
        </p:nvSpPr>
        <p:spPr>
          <a:xfrm>
            <a:off x="4837176" y="13533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a3ud90_ct25"/>
          <p:cNvSpPr txBox="1"/>
          <p:nvPr/>
        </p:nvSpPr>
        <p:spPr>
          <a:xfrm>
            <a:off x="4837176" y="1828800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require</a:t>
            </a:r>
          </a:p>
        </p:txBody>
      </p:sp>
      <p:sp>
        <p:nvSpPr>
          <p:cNvPr id="27" name="a3ud120_cs26"/>
          <p:cNvSpPr txBox="1"/>
          <p:nvPr/>
        </p:nvSpPr>
        <p:spPr>
          <a:xfrm>
            <a:off x="4837176" y="2103120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ourier New"/>
              </a:rPr>
              <a:t>Logger.info(...)</a:t>
            </a:r>
          </a:p>
        </p:txBody>
      </p:sp>
      <p:sp>
        <p:nvSpPr>
          <p:cNvPr id="28" name="a3ud150_cb27"/>
          <p:cNvSpPr txBox="1"/>
          <p:nvPr/>
        </p:nvSpPr>
        <p:spPr>
          <a:xfrm>
            <a:off x="4837176" y="2359152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You call a macro</a:t>
            </a:r>
          </a:p>
        </p:txBody>
      </p:sp>
      <p:sp>
        <p:nvSpPr>
          <p:cNvPr id="29" name="a3ud220_cb28"/>
          <p:cNvSpPr txBox="1"/>
          <p:nvPr/>
        </p:nvSpPr>
        <p:spPr>
          <a:xfrm>
            <a:off x="4837176" y="274320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And only then</a:t>
            </a:r>
          </a:p>
        </p:txBody>
      </p:sp>
      <p:sp>
        <p:nvSpPr>
          <p:cNvPr id="30" name="a3ud290_cb29"/>
          <p:cNvSpPr txBox="1"/>
          <p:nvPr/>
        </p:nvSpPr>
        <p:spPr>
          <a:xfrm>
            <a:off x="4837176" y="312724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Compile-time dependency</a:t>
            </a:r>
          </a:p>
        </p:txBody>
      </p:sp>
      <p:sp>
        <p:nvSpPr>
          <p:cNvPr id="31" name="a4u_card30"/>
          <p:cNvSpPr/>
          <p:nvPr/>
        </p:nvSpPr>
        <p:spPr>
          <a:xfrm>
            <a:off x="6780276" y="1152144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a4u_acc31"/>
          <p:cNvSpPr/>
          <p:nvPr/>
        </p:nvSpPr>
        <p:spPr>
          <a:xfrm>
            <a:off x="6780276" y="1152144"/>
            <a:ext cx="1906524" cy="50292"/>
          </a:xfrm>
          <a:prstGeom prst="rect">
            <a:avLst/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a4ud60_ic32"/>
          <p:cNvSpPr/>
          <p:nvPr/>
        </p:nvSpPr>
        <p:spPr>
          <a:xfrm>
            <a:off x="6944868" y="1353312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a4ud60_ict33"/>
          <p:cNvSpPr txBox="1"/>
          <p:nvPr/>
        </p:nvSpPr>
        <p:spPr>
          <a:xfrm>
            <a:off x="6944868" y="13533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a4ud90_ct34"/>
          <p:cNvSpPr txBox="1"/>
          <p:nvPr/>
        </p:nvSpPr>
        <p:spPr>
          <a:xfrm>
            <a:off x="6944868" y="1828800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import / use</a:t>
            </a:r>
          </a:p>
        </p:txBody>
      </p:sp>
      <p:sp>
        <p:nvSpPr>
          <p:cNvPr id="36" name="a4ud120_cs35"/>
          <p:cNvSpPr txBox="1"/>
          <p:nvPr/>
        </p:nvSpPr>
        <p:spPr>
          <a:xfrm>
            <a:off x="6944868" y="2103120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A90533"/>
                </a:solidFill>
                <a:latin typeface="Courier New"/>
              </a:rPr>
              <a:t>use GenServer</a:t>
            </a:r>
          </a:p>
        </p:txBody>
      </p:sp>
      <p:sp>
        <p:nvSpPr>
          <p:cNvPr id="37" name="a4ud150_cb36"/>
          <p:cNvSpPr txBox="1"/>
          <p:nvPr/>
        </p:nvSpPr>
        <p:spPr>
          <a:xfrm>
            <a:off x="6944868" y="2359152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import: with only:</a:t>
            </a:r>
          </a:p>
        </p:txBody>
      </p:sp>
      <p:sp>
        <p:nvSpPr>
          <p:cNvPr id="38" name="a4ud220_cb37"/>
          <p:cNvSpPr txBox="1"/>
          <p:nvPr/>
        </p:nvSpPr>
        <p:spPr>
          <a:xfrm>
            <a:off x="6944868" y="274320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use: the library told you to</a:t>
            </a:r>
          </a:p>
        </p:txBody>
      </p:sp>
      <p:sp>
        <p:nvSpPr>
          <p:cNvPr id="39" name="a4ud290_cb38"/>
          <p:cNvSpPr txBox="1"/>
          <p:nvPr/>
        </p:nvSpPr>
        <p:spPr>
          <a:xfrm>
            <a:off x="6944868" y="312724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Both hide the origin</a:t>
            </a:r>
          </a:p>
        </p:txBody>
      </p:sp>
      <p:sp>
        <p:nvSpPr>
          <p:cNvPr id="40" name="a5f_nb39"/>
          <p:cNvSpPr/>
          <p:nvPr/>
        </p:nvSpPr>
        <p:spPr>
          <a:xfrm>
            <a:off x="457200" y="3730752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a5f_nacc40"/>
          <p:cNvSpPr/>
          <p:nvPr/>
        </p:nvSpPr>
        <p:spPr>
          <a:xfrm>
            <a:off x="457200" y="3730752"/>
            <a:ext cx="50292" cy="585216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a5f_nt41"/>
          <p:cNvSpPr txBox="1"/>
          <p:nvPr/>
        </p:nvSpPr>
        <p:spPr>
          <a:xfrm>
            <a:off x="658368" y="3730752"/>
            <a:ext cx="7827264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order is deliberate. Reach for the weakest directive that solves the problem: a reader who sees MyApp.Accounts.get/1 knows exactly where to look, and a reader who sees get/1 has to go hunting through every import at the top of the file.</a:t>
            </a:r>
          </a:p>
        </p:txBody>
      </p:sp>
      <p:sp>
        <p:nvSpPr>
          <p:cNvPr id="43" name="ft4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44" name="ft4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04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Module attributes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Compile-time data with four
completely different jobs.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@limit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@moduledoc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@behaviour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@ATTRIBUTES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One syntax, four jobs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097280"/>
            <a:ext cx="2103120" cy="31089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f_tht4"/>
          <p:cNvSpPr txBox="1"/>
          <p:nvPr/>
        </p:nvSpPr>
        <p:spPr>
          <a:xfrm>
            <a:off x="530352" y="1097280"/>
            <a:ext cx="19933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Job</a:t>
            </a:r>
          </a:p>
        </p:txBody>
      </p:sp>
      <p:sp>
        <p:nvSpPr>
          <p:cNvPr id="6" name="a1wd140_td5"/>
          <p:cNvSpPr/>
          <p:nvPr/>
        </p:nvSpPr>
        <p:spPr>
          <a:xfrm>
            <a:off x="457200" y="1408176"/>
            <a:ext cx="2103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a1wd140_tdt6"/>
          <p:cNvSpPr txBox="1"/>
          <p:nvPr/>
        </p:nvSpPr>
        <p:spPr>
          <a:xfrm>
            <a:off x="530352" y="1408176"/>
            <a:ext cx="19933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dirty="0">
                <a:solidFill>
                  <a:srgbClr val="334155"/>
                </a:solidFill>
                <a:latin typeface="Calibri"/>
              </a:rPr>
              <a:t>Compile-time constant</a:t>
            </a:r>
          </a:p>
        </p:txBody>
      </p:sp>
      <p:sp>
        <p:nvSpPr>
          <p:cNvPr id="8" name="a1wd280_td7"/>
          <p:cNvSpPr/>
          <p:nvPr/>
        </p:nvSpPr>
        <p:spPr>
          <a:xfrm>
            <a:off x="457200" y="1719072"/>
            <a:ext cx="2103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a1wd280_tdt8"/>
          <p:cNvSpPr txBox="1"/>
          <p:nvPr/>
        </p:nvSpPr>
        <p:spPr>
          <a:xfrm>
            <a:off x="530352" y="1719072"/>
            <a:ext cx="19933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dirty="0">
                <a:solidFill>
                  <a:srgbClr val="334155"/>
                </a:solidFill>
                <a:latin typeface="Calibri"/>
              </a:rPr>
              <a:t>Documentation</a:t>
            </a:r>
          </a:p>
        </p:txBody>
      </p:sp>
      <p:sp>
        <p:nvSpPr>
          <p:cNvPr id="10" name="a1wd420_td9"/>
          <p:cNvSpPr/>
          <p:nvPr/>
        </p:nvSpPr>
        <p:spPr>
          <a:xfrm>
            <a:off x="457200" y="2029967"/>
            <a:ext cx="2103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a1wd420_tdt10"/>
          <p:cNvSpPr txBox="1"/>
          <p:nvPr/>
        </p:nvSpPr>
        <p:spPr>
          <a:xfrm>
            <a:off x="530352" y="2029967"/>
            <a:ext cx="19933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dirty="0">
                <a:solidFill>
                  <a:srgbClr val="334155"/>
                </a:solidFill>
                <a:latin typeface="Calibri"/>
              </a:rPr>
              <a:t>Contract</a:t>
            </a:r>
          </a:p>
        </p:txBody>
      </p:sp>
      <p:sp>
        <p:nvSpPr>
          <p:cNvPr id="12" name="a1wd560_td11"/>
          <p:cNvSpPr/>
          <p:nvPr/>
        </p:nvSpPr>
        <p:spPr>
          <a:xfrm>
            <a:off x="457200" y="2340864"/>
            <a:ext cx="2103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a1wd560_tdt12"/>
          <p:cNvSpPr txBox="1"/>
          <p:nvPr/>
        </p:nvSpPr>
        <p:spPr>
          <a:xfrm>
            <a:off x="530352" y="2340864"/>
            <a:ext cx="19933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dirty="0">
                <a:solidFill>
                  <a:srgbClr val="334155"/>
                </a:solidFill>
                <a:latin typeface="Calibri"/>
              </a:rPr>
              <a:t>Compiler directive</a:t>
            </a:r>
          </a:p>
        </p:txBody>
      </p:sp>
      <p:sp>
        <p:nvSpPr>
          <p:cNvPr id="14" name="a1f_th13"/>
          <p:cNvSpPr/>
          <p:nvPr/>
        </p:nvSpPr>
        <p:spPr>
          <a:xfrm>
            <a:off x="2560320" y="1097280"/>
            <a:ext cx="3017520" cy="31089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a1f_tht14"/>
          <p:cNvSpPr txBox="1"/>
          <p:nvPr/>
        </p:nvSpPr>
        <p:spPr>
          <a:xfrm>
            <a:off x="2633472" y="1097280"/>
            <a:ext cx="29077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Examples</a:t>
            </a:r>
          </a:p>
        </p:txBody>
      </p:sp>
      <p:sp>
        <p:nvSpPr>
          <p:cNvPr id="16" name="a1wd140_td15"/>
          <p:cNvSpPr/>
          <p:nvPr/>
        </p:nvSpPr>
        <p:spPr>
          <a:xfrm>
            <a:off x="2560320" y="1408176"/>
            <a:ext cx="3017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a1wd140_tdt16"/>
          <p:cNvSpPr txBox="1"/>
          <p:nvPr/>
        </p:nvSpPr>
        <p:spPr>
          <a:xfrm>
            <a:off x="2633472" y="1408176"/>
            <a:ext cx="29077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@limit 10   @primes [2,3,5]</a:t>
            </a:r>
          </a:p>
        </p:txBody>
      </p:sp>
      <p:sp>
        <p:nvSpPr>
          <p:cNvPr id="18" name="a1wd280_td17"/>
          <p:cNvSpPr/>
          <p:nvPr/>
        </p:nvSpPr>
        <p:spPr>
          <a:xfrm>
            <a:off x="2560320" y="1719072"/>
            <a:ext cx="3017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1wd280_tdt18"/>
          <p:cNvSpPr txBox="1"/>
          <p:nvPr/>
        </p:nvSpPr>
        <p:spPr>
          <a:xfrm>
            <a:off x="2633472" y="1719072"/>
            <a:ext cx="29077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@moduledoc @doc @typedoc @spec</a:t>
            </a:r>
          </a:p>
        </p:txBody>
      </p:sp>
      <p:sp>
        <p:nvSpPr>
          <p:cNvPr id="20" name="a1wd420_td19"/>
          <p:cNvSpPr/>
          <p:nvPr/>
        </p:nvSpPr>
        <p:spPr>
          <a:xfrm>
            <a:off x="2560320" y="2029967"/>
            <a:ext cx="3017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a1wd420_tdt20"/>
          <p:cNvSpPr txBox="1"/>
          <p:nvPr/>
        </p:nvSpPr>
        <p:spPr>
          <a:xfrm>
            <a:off x="2633472" y="2104623"/>
            <a:ext cx="2907791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dirty="0">
                <a:solidFill>
                  <a:srgbClr val="334155"/>
                </a:solidFill>
                <a:latin typeface="Courier New"/>
              </a:rPr>
              <a:t>@behaviour @impl @derive</a:t>
            </a:r>
            <a:r>
              <a:rPr lang="en-US" sz="1050" dirty="0">
                <a:solidFill>
                  <a:srgbClr val="334155"/>
                </a:solidFill>
                <a:latin typeface="Courier New"/>
              </a:rPr>
              <a:t>,@callback</a:t>
            </a:r>
            <a:endParaRPr sz="1050" b="0" dirty="0">
              <a:solidFill>
                <a:srgbClr val="334155"/>
              </a:solidFill>
              <a:latin typeface="Courier New"/>
            </a:endParaRPr>
          </a:p>
        </p:txBody>
      </p:sp>
      <p:sp>
        <p:nvSpPr>
          <p:cNvPr id="22" name="a1wd560_td21"/>
          <p:cNvSpPr/>
          <p:nvPr/>
        </p:nvSpPr>
        <p:spPr>
          <a:xfrm>
            <a:off x="2560320" y="2340864"/>
            <a:ext cx="3017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a1wd560_tdt22"/>
          <p:cNvSpPr txBox="1"/>
          <p:nvPr/>
        </p:nvSpPr>
        <p:spPr>
          <a:xfrm>
            <a:off x="2633472" y="2340864"/>
            <a:ext cx="29077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@compile @on_definition @before_compile</a:t>
            </a:r>
          </a:p>
        </p:txBody>
      </p:sp>
      <p:sp>
        <p:nvSpPr>
          <p:cNvPr id="24" name="a1f_th23"/>
          <p:cNvSpPr/>
          <p:nvPr/>
        </p:nvSpPr>
        <p:spPr>
          <a:xfrm>
            <a:off x="5577840" y="1097280"/>
            <a:ext cx="3108960" cy="31089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a1f_tht24"/>
          <p:cNvSpPr txBox="1"/>
          <p:nvPr/>
        </p:nvSpPr>
        <p:spPr>
          <a:xfrm>
            <a:off x="5650992" y="1097280"/>
            <a:ext cx="2999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Read by</a:t>
            </a:r>
          </a:p>
        </p:txBody>
      </p:sp>
      <p:sp>
        <p:nvSpPr>
          <p:cNvPr id="26" name="a1wd140_td25"/>
          <p:cNvSpPr/>
          <p:nvPr/>
        </p:nvSpPr>
        <p:spPr>
          <a:xfrm>
            <a:off x="5577840" y="1408176"/>
            <a:ext cx="3108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a1wd140_tdt26"/>
          <p:cNvSpPr txBox="1"/>
          <p:nvPr/>
        </p:nvSpPr>
        <p:spPr>
          <a:xfrm>
            <a:off x="5650992" y="1408176"/>
            <a:ext cx="2999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your own code, inlined</a:t>
            </a:r>
          </a:p>
        </p:txBody>
      </p:sp>
      <p:sp>
        <p:nvSpPr>
          <p:cNvPr id="28" name="a1wd280_td27"/>
          <p:cNvSpPr/>
          <p:nvPr/>
        </p:nvSpPr>
        <p:spPr>
          <a:xfrm>
            <a:off x="5577840" y="1719072"/>
            <a:ext cx="3108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a1wd280_tdt28"/>
          <p:cNvSpPr txBox="1"/>
          <p:nvPr/>
        </p:nvSpPr>
        <p:spPr>
          <a:xfrm>
            <a:off x="5650992" y="1719072"/>
            <a:ext cx="2999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ExDoc, IEx h, Dialyzer</a:t>
            </a:r>
          </a:p>
        </p:txBody>
      </p:sp>
      <p:sp>
        <p:nvSpPr>
          <p:cNvPr id="30" name="a1wd420_td29"/>
          <p:cNvSpPr/>
          <p:nvPr/>
        </p:nvSpPr>
        <p:spPr>
          <a:xfrm>
            <a:off x="5577840" y="2029967"/>
            <a:ext cx="3108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a1wd420_tdt30"/>
          <p:cNvSpPr txBox="1"/>
          <p:nvPr/>
        </p:nvSpPr>
        <p:spPr>
          <a:xfrm>
            <a:off x="5650992" y="2029967"/>
            <a:ext cx="2999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the compiler, at compile time</a:t>
            </a:r>
          </a:p>
        </p:txBody>
      </p:sp>
      <p:sp>
        <p:nvSpPr>
          <p:cNvPr id="32" name="a1wd560_td31"/>
          <p:cNvSpPr/>
          <p:nvPr/>
        </p:nvSpPr>
        <p:spPr>
          <a:xfrm>
            <a:off x="5577840" y="2340864"/>
            <a:ext cx="3108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a1wd560_tdt32"/>
          <p:cNvSpPr txBox="1"/>
          <p:nvPr/>
        </p:nvSpPr>
        <p:spPr>
          <a:xfrm>
            <a:off x="5650992" y="2340864"/>
            <a:ext cx="2999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the compiler itself</a:t>
            </a:r>
          </a:p>
        </p:txBody>
      </p:sp>
      <p:sp>
        <p:nvSpPr>
          <p:cNvPr id="34" name="a2u_dot33"/>
          <p:cNvSpPr/>
          <p:nvPr/>
        </p:nvSpPr>
        <p:spPr>
          <a:xfrm>
            <a:off x="457200" y="289864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a2u_b34"/>
          <p:cNvSpPr txBox="1"/>
          <p:nvPr/>
        </p:nvSpPr>
        <p:spPr>
          <a:xfrm>
            <a:off x="676656" y="2798064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An attribute is not a variable  </a:t>
            </a:r>
            <a:r>
              <a:rPr sz="1150" b="0">
                <a:solidFill>
                  <a:srgbClr val="334155"/>
                </a:solidFill>
                <a:latin typeface="Calibri"/>
              </a:rPr>
              <a:t>it exists only while the module is being compiled</a:t>
            </a:r>
          </a:p>
        </p:txBody>
      </p:sp>
      <p:sp>
        <p:nvSpPr>
          <p:cNvPr id="36" name="a2ud180_dot35"/>
          <p:cNvSpPr/>
          <p:nvPr/>
        </p:nvSpPr>
        <p:spPr>
          <a:xfrm>
            <a:off x="457200" y="335584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a2ud180_b36"/>
          <p:cNvSpPr txBox="1"/>
          <p:nvPr/>
        </p:nvSpPr>
        <p:spPr>
          <a:xfrm>
            <a:off x="676656" y="3255264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It is not a field  </a:t>
            </a:r>
            <a:r>
              <a:rPr sz="1150" b="0">
                <a:solidFill>
                  <a:srgbClr val="334155"/>
                </a:solidFill>
                <a:latin typeface="Calibri"/>
              </a:rPr>
              <a:t>@limit has nothing to do with any struct or any instance</a:t>
            </a:r>
          </a:p>
        </p:txBody>
      </p:sp>
      <p:sp>
        <p:nvSpPr>
          <p:cNvPr id="38" name="a2ud360_dot37"/>
          <p:cNvSpPr/>
          <p:nvPr/>
        </p:nvSpPr>
        <p:spPr>
          <a:xfrm>
            <a:off x="457200" y="381304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a2ud360_b38"/>
          <p:cNvSpPr txBox="1"/>
          <p:nvPr/>
        </p:nvSpPr>
        <p:spPr>
          <a:xfrm>
            <a:off x="676656" y="3712464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By default it does not survive  </a:t>
            </a:r>
            <a:r>
              <a:rPr sz="1150" b="0">
                <a:solidFill>
                  <a:srgbClr val="334155"/>
                </a:solidFill>
                <a:latin typeface="Calibri"/>
              </a:rPr>
              <a:t>unless registered with persist: true, it is gone from the .beam</a:t>
            </a:r>
          </a:p>
        </p:txBody>
      </p:sp>
      <p:sp>
        <p:nvSpPr>
          <p:cNvPr id="40" name="ft3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41" name="ft4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@ATTRIBUTES · CONSTANTS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1 · Compile-time constants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Read where they are used, inlined into the code, and reassignable.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4617720" cy="2688336"/>
          </a:xfrm>
          <a:prstGeom prst="roundRect">
            <a:avLst>
              <a:gd name="adj" fmla="val 272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42885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defmodule Const do</a:t>
            </a:r>
          </a:p>
        </p:txBody>
      </p:sp>
      <p:sp>
        <p:nvSpPr>
          <p:cNvPr id="8" name="a1wd50_code7"/>
          <p:cNvSpPr txBox="1"/>
          <p:nvPr/>
        </p:nvSpPr>
        <p:spPr>
          <a:xfrm>
            <a:off x="621792" y="1956816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@limit 10</a:t>
            </a:r>
          </a:p>
        </p:txBody>
      </p:sp>
      <p:sp>
        <p:nvSpPr>
          <p:cNvPr id="9" name="a1wd100_code8"/>
          <p:cNvSpPr txBox="1"/>
          <p:nvPr/>
        </p:nvSpPr>
        <p:spPr>
          <a:xfrm>
            <a:off x="621792" y="2130552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@message "over the limit"</a:t>
            </a:r>
          </a:p>
        </p:txBody>
      </p:sp>
      <p:sp>
        <p:nvSpPr>
          <p:cNvPr id="10" name="a1wd150_code9"/>
          <p:cNvSpPr txBox="1"/>
          <p:nvPr/>
        </p:nvSpPr>
        <p:spPr>
          <a:xfrm>
            <a:off x="621792" y="2304288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1" name="a1wd200_code10"/>
          <p:cNvSpPr txBox="1"/>
          <p:nvPr/>
        </p:nvSpPr>
        <p:spPr>
          <a:xfrm>
            <a:off x="621792" y="2478024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limit, do: @limit</a:t>
            </a:r>
          </a:p>
        </p:txBody>
      </p:sp>
      <p:sp>
        <p:nvSpPr>
          <p:cNvPr id="12" name="a1wd250_code11"/>
          <p:cNvSpPr txBox="1"/>
          <p:nvPr/>
        </p:nvSpPr>
        <p:spPr>
          <a:xfrm>
            <a:off x="621792" y="2651760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check(n) when n &gt; @limit,</a:t>
            </a:r>
          </a:p>
        </p:txBody>
      </p:sp>
      <p:sp>
        <p:nvSpPr>
          <p:cNvPr id="13" name="a1wd300_code12"/>
          <p:cNvSpPr txBox="1"/>
          <p:nvPr/>
        </p:nvSpPr>
        <p:spPr>
          <a:xfrm>
            <a:off x="621792" y="2825496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do: @message</a:t>
            </a:r>
          </a:p>
        </p:txBody>
      </p:sp>
      <p:sp>
        <p:nvSpPr>
          <p:cNvPr id="14" name="a1wd350_code13"/>
          <p:cNvSpPr txBox="1"/>
          <p:nvPr/>
        </p:nvSpPr>
        <p:spPr>
          <a:xfrm>
            <a:off x="621792" y="2999232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check(_), do: :ok</a:t>
            </a:r>
          </a:p>
        </p:txBody>
      </p:sp>
      <p:sp>
        <p:nvSpPr>
          <p:cNvPr id="15" name="a1wd400_code14"/>
          <p:cNvSpPr txBox="1"/>
          <p:nvPr/>
        </p:nvSpPr>
        <p:spPr>
          <a:xfrm>
            <a:off x="621792" y="3172968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6" name="a1wd450_code15"/>
          <p:cNvSpPr txBox="1"/>
          <p:nvPr/>
        </p:nvSpPr>
        <p:spPr>
          <a:xfrm>
            <a:off x="621792" y="3346704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a1wd500_code16"/>
          <p:cNvSpPr txBox="1"/>
          <p:nvPr/>
        </p:nvSpPr>
        <p:spPr>
          <a:xfrm>
            <a:off x="621792" y="3520439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Const.check(11) #=&gt; "over the limit"</a:t>
            </a:r>
          </a:p>
        </p:txBody>
      </p:sp>
      <p:sp>
        <p:nvSpPr>
          <p:cNvPr id="18" name="a1wd550_code17"/>
          <p:cNvSpPr txBox="1"/>
          <p:nvPr/>
        </p:nvSpPr>
        <p:spPr>
          <a:xfrm>
            <a:off x="621792" y="3694176"/>
            <a:ext cx="4288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Const.check(3)  #=&gt; :ok</a:t>
            </a:r>
          </a:p>
        </p:txBody>
      </p:sp>
      <p:sp>
        <p:nvSpPr>
          <p:cNvPr id="19" name="a2f_codebg18"/>
          <p:cNvSpPr/>
          <p:nvPr/>
        </p:nvSpPr>
        <p:spPr>
          <a:xfrm>
            <a:off x="5212080" y="1344168"/>
            <a:ext cx="3474720" cy="2688336"/>
          </a:xfrm>
          <a:prstGeom prst="roundRect">
            <a:avLst>
              <a:gd name="adj" fmla="val 272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a2f_codeh19"/>
          <p:cNvSpPr txBox="1"/>
          <p:nvPr/>
        </p:nvSpPr>
        <p:spPr>
          <a:xfrm>
            <a:off x="5376672" y="1399032"/>
            <a:ext cx="31455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21" name="a2w_code20"/>
          <p:cNvSpPr txBox="1"/>
          <p:nvPr/>
        </p:nvSpPr>
        <p:spPr>
          <a:xfrm>
            <a:off x="5376672" y="1783080"/>
            <a:ext cx="3145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defmodule Rebind do</a:t>
            </a:r>
          </a:p>
        </p:txBody>
      </p:sp>
      <p:sp>
        <p:nvSpPr>
          <p:cNvPr id="22" name="a2wd50_code21"/>
          <p:cNvSpPr txBox="1"/>
          <p:nvPr/>
        </p:nvSpPr>
        <p:spPr>
          <a:xfrm>
            <a:off x="5376672" y="1956816"/>
            <a:ext cx="3145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@v 1</a:t>
            </a:r>
          </a:p>
        </p:txBody>
      </p:sp>
      <p:sp>
        <p:nvSpPr>
          <p:cNvPr id="23" name="a2wd100_code22"/>
          <p:cNvSpPr txBox="1"/>
          <p:nvPr/>
        </p:nvSpPr>
        <p:spPr>
          <a:xfrm>
            <a:off x="5376672" y="2130552"/>
            <a:ext cx="3145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a, do: @v</a:t>
            </a:r>
          </a:p>
        </p:txBody>
      </p:sp>
      <p:sp>
        <p:nvSpPr>
          <p:cNvPr id="24" name="a2wd150_code23"/>
          <p:cNvSpPr txBox="1"/>
          <p:nvPr/>
        </p:nvSpPr>
        <p:spPr>
          <a:xfrm>
            <a:off x="5376672" y="2304288"/>
            <a:ext cx="3145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@v 2</a:t>
            </a:r>
          </a:p>
        </p:txBody>
      </p:sp>
      <p:sp>
        <p:nvSpPr>
          <p:cNvPr id="25" name="a2wd200_code24"/>
          <p:cNvSpPr txBox="1"/>
          <p:nvPr/>
        </p:nvSpPr>
        <p:spPr>
          <a:xfrm>
            <a:off x="5376672" y="2478024"/>
            <a:ext cx="3145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b, do: @v</a:t>
            </a:r>
          </a:p>
        </p:txBody>
      </p:sp>
      <p:sp>
        <p:nvSpPr>
          <p:cNvPr id="26" name="a2wd250_code25"/>
          <p:cNvSpPr txBox="1"/>
          <p:nvPr/>
        </p:nvSpPr>
        <p:spPr>
          <a:xfrm>
            <a:off x="5376672" y="2651760"/>
            <a:ext cx="3145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27" name="a2wd300_code26"/>
          <p:cNvSpPr txBox="1"/>
          <p:nvPr/>
        </p:nvSpPr>
        <p:spPr>
          <a:xfrm>
            <a:off x="5376672" y="2825496"/>
            <a:ext cx="3145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a2wd350_code27"/>
          <p:cNvSpPr txBox="1"/>
          <p:nvPr/>
        </p:nvSpPr>
        <p:spPr>
          <a:xfrm>
            <a:off x="5376672" y="2999232"/>
            <a:ext cx="3145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Rebind.a() #=&gt; 1</a:t>
            </a:r>
          </a:p>
        </p:txBody>
      </p:sp>
      <p:sp>
        <p:nvSpPr>
          <p:cNvPr id="29" name="a2wd400_code28"/>
          <p:cNvSpPr txBox="1"/>
          <p:nvPr/>
        </p:nvSpPr>
        <p:spPr>
          <a:xfrm>
            <a:off x="5376672" y="3172968"/>
            <a:ext cx="3145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Rebind.b() #=&gt; 2</a:t>
            </a:r>
          </a:p>
        </p:txBody>
      </p:sp>
      <p:sp>
        <p:nvSpPr>
          <p:cNvPr id="30" name="a2wd450_code29"/>
          <p:cNvSpPr txBox="1"/>
          <p:nvPr/>
        </p:nvSpPr>
        <p:spPr>
          <a:xfrm>
            <a:off x="5376672" y="3346704"/>
            <a:ext cx="3145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a2wd500_code30"/>
          <p:cNvSpPr txBox="1"/>
          <p:nvPr/>
        </p:nvSpPr>
        <p:spPr>
          <a:xfrm>
            <a:off x="5376672" y="3520439"/>
            <a:ext cx="3145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read at the point of USE,</a:t>
            </a:r>
          </a:p>
        </p:txBody>
      </p:sp>
      <p:sp>
        <p:nvSpPr>
          <p:cNvPr id="32" name="a2wd550_code31"/>
          <p:cNvSpPr txBox="1"/>
          <p:nvPr/>
        </p:nvSpPr>
        <p:spPr>
          <a:xfrm>
            <a:off x="5376672" y="3694176"/>
            <a:ext cx="314553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not at the end.</a:t>
            </a:r>
          </a:p>
        </p:txBody>
      </p:sp>
      <p:sp>
        <p:nvSpPr>
          <p:cNvPr id="33" name="a3f_nb32"/>
          <p:cNvSpPr/>
          <p:nvPr/>
        </p:nvSpPr>
        <p:spPr>
          <a:xfrm>
            <a:off x="457200" y="4160520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a3f_nacc33"/>
          <p:cNvSpPr/>
          <p:nvPr/>
        </p:nvSpPr>
        <p:spPr>
          <a:xfrm>
            <a:off x="457200" y="4160520"/>
            <a:ext cx="50292" cy="5120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a3f_nt34"/>
          <p:cNvSpPr txBox="1"/>
          <p:nvPr/>
        </p:nvSpPr>
        <p:spPr>
          <a:xfrm>
            <a:off x="658368" y="4160520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Because the value is inlined there is no lookup at run time — an attribute in a guard is as fast as the literal. And reading one you never set is a warning: "undefined module attribute @never_set", with nil substituted.</a:t>
            </a:r>
          </a:p>
        </p:txBody>
      </p:sp>
      <p:sp>
        <p:nvSpPr>
          <p:cNvPr id="36" name="ft3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37" name="ft3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@ATTRIBUTES · THE TRAP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They are evaluated once, while compiling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single most common module-attribute bug.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62456"/>
            <a:ext cx="8229600" cy="2523744"/>
          </a:xfrm>
          <a:prstGeom prst="roundRect">
            <a:avLst>
              <a:gd name="adj" fmla="val 289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417320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probe_modules.exs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01368"/>
            <a:ext cx="7900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defmodule Frozen do</a:t>
            </a:r>
          </a:p>
        </p:txBody>
      </p:sp>
      <p:sp>
        <p:nvSpPr>
          <p:cNvPr id="8" name="a1wd65_code7"/>
          <p:cNvSpPr txBox="1"/>
          <p:nvPr/>
        </p:nvSpPr>
        <p:spPr>
          <a:xfrm>
            <a:off x="621792" y="1993392"/>
            <a:ext cx="7900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@compiled_at :erlang.system_time(:millisecond)</a:t>
            </a:r>
          </a:p>
        </p:txBody>
      </p:sp>
      <p:sp>
        <p:nvSpPr>
          <p:cNvPr id="9" name="a1wd130_code8"/>
          <p:cNvSpPr txBox="1"/>
          <p:nvPr/>
        </p:nvSpPr>
        <p:spPr>
          <a:xfrm>
            <a:off x="621792" y="2185416"/>
            <a:ext cx="7900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def compiled_at, do: @compiled_at</a:t>
            </a:r>
          </a:p>
        </p:txBody>
      </p:sp>
      <p:sp>
        <p:nvSpPr>
          <p:cNvPr id="10" name="a1wd195_code9"/>
          <p:cNvSpPr txBox="1"/>
          <p:nvPr/>
        </p:nvSpPr>
        <p:spPr>
          <a:xfrm>
            <a:off x="621792" y="2377440"/>
            <a:ext cx="7900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def now, do: :erlang.system_time(:millisecond)</a:t>
            </a:r>
          </a:p>
        </p:txBody>
      </p:sp>
      <p:sp>
        <p:nvSpPr>
          <p:cNvPr id="11" name="a1wd260_code10"/>
          <p:cNvSpPr txBox="1"/>
          <p:nvPr/>
        </p:nvSpPr>
        <p:spPr>
          <a:xfrm>
            <a:off x="621792" y="2569464"/>
            <a:ext cx="7900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2" name="a1wd325_code11"/>
          <p:cNvSpPr txBox="1"/>
          <p:nvPr/>
        </p:nvSpPr>
        <p:spPr>
          <a:xfrm>
            <a:off x="621792" y="2761488"/>
            <a:ext cx="7900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3" name="a1wd390_code12"/>
          <p:cNvSpPr txBox="1"/>
          <p:nvPr/>
        </p:nvSpPr>
        <p:spPr>
          <a:xfrm>
            <a:off x="621792" y="2953512"/>
            <a:ext cx="7900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Frozen.compiled_at()   #=&gt; 1790158009448</a:t>
            </a:r>
          </a:p>
        </p:txBody>
      </p:sp>
      <p:sp>
        <p:nvSpPr>
          <p:cNvPr id="14" name="a1wd455_code13"/>
          <p:cNvSpPr txBox="1"/>
          <p:nvPr/>
        </p:nvSpPr>
        <p:spPr>
          <a:xfrm>
            <a:off x="621792" y="3145536"/>
            <a:ext cx="7900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ourier New"/>
              </a:rPr>
              <a:t># ... 10 milliseconds later ...</a:t>
            </a:r>
          </a:p>
        </p:txBody>
      </p:sp>
      <p:sp>
        <p:nvSpPr>
          <p:cNvPr id="15" name="a1wd520_code14"/>
          <p:cNvSpPr txBox="1"/>
          <p:nvPr/>
        </p:nvSpPr>
        <p:spPr>
          <a:xfrm>
            <a:off x="621792" y="3337560"/>
            <a:ext cx="7900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Frozen.compiled_at()   #=&gt; 1790158009448     same number</a:t>
            </a:r>
          </a:p>
        </p:txBody>
      </p:sp>
      <p:sp>
        <p:nvSpPr>
          <p:cNvPr id="16" name="a1wd585_code15"/>
          <p:cNvSpPr txBox="1"/>
          <p:nvPr/>
        </p:nvSpPr>
        <p:spPr>
          <a:xfrm>
            <a:off x="621792" y="3529584"/>
            <a:ext cx="7900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Frozen.now()           #=&gt; moves every call</a:t>
            </a:r>
          </a:p>
        </p:txBody>
      </p:sp>
      <p:sp>
        <p:nvSpPr>
          <p:cNvPr id="17" name="a2f_nb16"/>
          <p:cNvSpPr/>
          <p:nvPr/>
        </p:nvSpPr>
        <p:spPr>
          <a:xfrm>
            <a:off x="457200" y="4014215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a2f_nacc17"/>
          <p:cNvSpPr/>
          <p:nvPr/>
        </p:nvSpPr>
        <p:spPr>
          <a:xfrm>
            <a:off x="457200" y="4014215"/>
            <a:ext cx="50292" cy="548640"/>
          </a:xfrm>
          <a:prstGeom prst="rect">
            <a:avLst/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2f_nt18"/>
          <p:cNvSpPr txBox="1"/>
          <p:nvPr/>
        </p:nvSpPr>
        <p:spPr>
          <a:xfrm>
            <a:off x="658368" y="4014215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A90533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@version Mix.Project.config()[:version] is the right use of this — you want the build's value. @now DateTime.utc_now() is the wrong one: every deployment reports the moment it was compiled, and in a release that can be weeks ago.</a:t>
            </a:r>
          </a:p>
        </p:txBody>
      </p:sp>
      <p:sp>
        <p:nvSpPr>
          <p:cNvPr id="20" name="ft1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@ATTRIBUTES · REGISTER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accumulate and persist — the two registrations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By default an attribute is overwritten, and does not survive compilation.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25880"/>
            <a:ext cx="4251960" cy="2802635"/>
          </a:xfrm>
          <a:prstGeom prst="roundRect">
            <a:avLst>
              <a:gd name="adj" fmla="val 261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380744"/>
            <a:ext cx="39227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64792"/>
            <a:ext cx="392277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defmodule Accum do</a:t>
            </a:r>
          </a:p>
        </p:txBody>
      </p:sp>
      <p:sp>
        <p:nvSpPr>
          <p:cNvPr id="8" name="a1wd50_code7"/>
          <p:cNvSpPr txBox="1"/>
          <p:nvPr/>
        </p:nvSpPr>
        <p:spPr>
          <a:xfrm>
            <a:off x="621792" y="1933955"/>
            <a:ext cx="392277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Module.register_attribute(</a:t>
            </a:r>
          </a:p>
        </p:txBody>
      </p:sp>
      <p:sp>
        <p:nvSpPr>
          <p:cNvPr id="9" name="a1wd100_code8"/>
          <p:cNvSpPr txBox="1"/>
          <p:nvPr/>
        </p:nvSpPr>
        <p:spPr>
          <a:xfrm>
            <a:off x="621792" y="2103120"/>
            <a:ext cx="392277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__MODULE__, :step, accumulate: true)</a:t>
            </a:r>
          </a:p>
        </p:txBody>
      </p:sp>
      <p:sp>
        <p:nvSpPr>
          <p:cNvPr id="10" name="a1wd150_code9"/>
          <p:cNvSpPr txBox="1"/>
          <p:nvPr/>
        </p:nvSpPr>
        <p:spPr>
          <a:xfrm>
            <a:off x="621792" y="2272284"/>
            <a:ext cx="392277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1" name="a1wd200_code10"/>
          <p:cNvSpPr txBox="1"/>
          <p:nvPr/>
        </p:nvSpPr>
        <p:spPr>
          <a:xfrm>
            <a:off x="621792" y="2441448"/>
            <a:ext cx="392277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@step :first</a:t>
            </a:r>
          </a:p>
        </p:txBody>
      </p:sp>
      <p:sp>
        <p:nvSpPr>
          <p:cNvPr id="12" name="a1wd250_code11"/>
          <p:cNvSpPr txBox="1"/>
          <p:nvPr/>
        </p:nvSpPr>
        <p:spPr>
          <a:xfrm>
            <a:off x="621792" y="2610612"/>
            <a:ext cx="392277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@step :second</a:t>
            </a:r>
          </a:p>
        </p:txBody>
      </p:sp>
      <p:sp>
        <p:nvSpPr>
          <p:cNvPr id="13" name="a1wd300_code12"/>
          <p:cNvSpPr txBox="1"/>
          <p:nvPr/>
        </p:nvSpPr>
        <p:spPr>
          <a:xfrm>
            <a:off x="621792" y="2779776"/>
            <a:ext cx="392277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@step :third</a:t>
            </a:r>
          </a:p>
        </p:txBody>
      </p:sp>
      <p:sp>
        <p:nvSpPr>
          <p:cNvPr id="14" name="a1wd350_code13"/>
          <p:cNvSpPr txBox="1"/>
          <p:nvPr/>
        </p:nvSpPr>
        <p:spPr>
          <a:xfrm>
            <a:off x="621792" y="2948939"/>
            <a:ext cx="392277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steps, do: @step</a:t>
            </a:r>
          </a:p>
        </p:txBody>
      </p:sp>
      <p:sp>
        <p:nvSpPr>
          <p:cNvPr id="15" name="a1wd400_code14"/>
          <p:cNvSpPr txBox="1"/>
          <p:nvPr/>
        </p:nvSpPr>
        <p:spPr>
          <a:xfrm>
            <a:off x="621792" y="3118104"/>
            <a:ext cx="392277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6" name="a1wd450_code15"/>
          <p:cNvSpPr txBox="1"/>
          <p:nvPr/>
        </p:nvSpPr>
        <p:spPr>
          <a:xfrm>
            <a:off x="621792" y="3287268"/>
            <a:ext cx="392277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a1wd500_code16"/>
          <p:cNvSpPr txBox="1"/>
          <p:nvPr/>
        </p:nvSpPr>
        <p:spPr>
          <a:xfrm>
            <a:off x="621792" y="3456432"/>
            <a:ext cx="392277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Accum.steps()</a:t>
            </a:r>
          </a:p>
        </p:txBody>
      </p:sp>
      <p:sp>
        <p:nvSpPr>
          <p:cNvPr id="18" name="a1wd550_code17"/>
          <p:cNvSpPr txBox="1"/>
          <p:nvPr/>
        </p:nvSpPr>
        <p:spPr>
          <a:xfrm>
            <a:off x="621792" y="3625596"/>
            <a:ext cx="392277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[:third, :second, :first]</a:t>
            </a:r>
          </a:p>
        </p:txBody>
      </p:sp>
      <p:sp>
        <p:nvSpPr>
          <p:cNvPr id="19" name="a1wd600_code18"/>
          <p:cNvSpPr txBox="1"/>
          <p:nvPr/>
        </p:nvSpPr>
        <p:spPr>
          <a:xfrm>
            <a:off x="621792" y="3794759"/>
            <a:ext cx="392277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    newest first</a:t>
            </a:r>
          </a:p>
        </p:txBody>
      </p:sp>
      <p:sp>
        <p:nvSpPr>
          <p:cNvPr id="20" name="a2f_codebg19"/>
          <p:cNvSpPr/>
          <p:nvPr/>
        </p:nvSpPr>
        <p:spPr>
          <a:xfrm>
            <a:off x="4892040" y="1325880"/>
            <a:ext cx="3794760" cy="2971800"/>
          </a:xfrm>
          <a:prstGeom prst="roundRect">
            <a:avLst>
              <a:gd name="adj" fmla="val 246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a2f_codeh20"/>
          <p:cNvSpPr txBox="1"/>
          <p:nvPr/>
        </p:nvSpPr>
        <p:spPr>
          <a:xfrm>
            <a:off x="5056631" y="1380744"/>
            <a:ext cx="34655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22" name="a2w_code21"/>
          <p:cNvSpPr txBox="1"/>
          <p:nvPr/>
        </p:nvSpPr>
        <p:spPr>
          <a:xfrm>
            <a:off x="5056631" y="1764792"/>
            <a:ext cx="346557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defmodule Persist do</a:t>
            </a:r>
          </a:p>
        </p:txBody>
      </p:sp>
      <p:sp>
        <p:nvSpPr>
          <p:cNvPr id="23" name="a2wd50_code22"/>
          <p:cNvSpPr txBox="1"/>
          <p:nvPr/>
        </p:nvSpPr>
        <p:spPr>
          <a:xfrm>
            <a:off x="5056631" y="1933955"/>
            <a:ext cx="346557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Module.register_attribute(</a:t>
            </a:r>
          </a:p>
        </p:txBody>
      </p:sp>
      <p:sp>
        <p:nvSpPr>
          <p:cNvPr id="24" name="a2wd100_code23"/>
          <p:cNvSpPr txBox="1"/>
          <p:nvPr/>
        </p:nvSpPr>
        <p:spPr>
          <a:xfrm>
            <a:off x="5056631" y="2103120"/>
            <a:ext cx="346557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__MODULE__, :owner, persist: true)</a:t>
            </a:r>
          </a:p>
        </p:txBody>
      </p:sp>
      <p:sp>
        <p:nvSpPr>
          <p:cNvPr id="25" name="a2wd150_code24"/>
          <p:cNvSpPr txBox="1"/>
          <p:nvPr/>
        </p:nvSpPr>
        <p:spPr>
          <a:xfrm>
            <a:off x="5056631" y="2272284"/>
            <a:ext cx="346557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@owner "platform-team"</a:t>
            </a:r>
          </a:p>
        </p:txBody>
      </p:sp>
      <p:sp>
        <p:nvSpPr>
          <p:cNvPr id="26" name="a2wd200_code25"/>
          <p:cNvSpPr txBox="1"/>
          <p:nvPr/>
        </p:nvSpPr>
        <p:spPr>
          <a:xfrm>
            <a:off x="5056631" y="2441448"/>
            <a:ext cx="346557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@not_persisted "gone"</a:t>
            </a:r>
          </a:p>
        </p:txBody>
      </p:sp>
      <p:sp>
        <p:nvSpPr>
          <p:cNvPr id="27" name="a2wd250_code26"/>
          <p:cNvSpPr txBox="1"/>
          <p:nvPr/>
        </p:nvSpPr>
        <p:spPr>
          <a:xfrm>
            <a:off x="5056631" y="2610612"/>
            <a:ext cx="346557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f, do: @not_persisted</a:t>
            </a:r>
          </a:p>
        </p:txBody>
      </p:sp>
      <p:sp>
        <p:nvSpPr>
          <p:cNvPr id="28" name="a2wd300_code27"/>
          <p:cNvSpPr txBox="1"/>
          <p:nvPr/>
        </p:nvSpPr>
        <p:spPr>
          <a:xfrm>
            <a:off x="5056631" y="2779776"/>
            <a:ext cx="346557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29" name="a2wd350_code28"/>
          <p:cNvSpPr txBox="1"/>
          <p:nvPr/>
        </p:nvSpPr>
        <p:spPr>
          <a:xfrm>
            <a:off x="5056631" y="2948939"/>
            <a:ext cx="346557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a2wd400_code29"/>
          <p:cNvSpPr txBox="1"/>
          <p:nvPr/>
        </p:nvSpPr>
        <p:spPr>
          <a:xfrm>
            <a:off x="5056631" y="3118104"/>
            <a:ext cx="346557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Persist.__info__(:attributes)</a:t>
            </a:r>
          </a:p>
        </p:txBody>
      </p:sp>
      <p:sp>
        <p:nvSpPr>
          <p:cNvPr id="31" name="a2wd450_code30"/>
          <p:cNvSpPr txBox="1"/>
          <p:nvPr/>
        </p:nvSpPr>
        <p:spPr>
          <a:xfrm>
            <a:off x="5056631" y="3287268"/>
            <a:ext cx="346557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[vsn: [...],</a:t>
            </a:r>
          </a:p>
        </p:txBody>
      </p:sp>
      <p:sp>
        <p:nvSpPr>
          <p:cNvPr id="32" name="a2wd500_code31"/>
          <p:cNvSpPr txBox="1"/>
          <p:nvPr/>
        </p:nvSpPr>
        <p:spPr>
          <a:xfrm>
            <a:off x="5056631" y="3456432"/>
            <a:ext cx="346557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   owner: ["platform-team"]]</a:t>
            </a:r>
          </a:p>
        </p:txBody>
      </p:sp>
      <p:sp>
        <p:nvSpPr>
          <p:cNvPr id="33" name="a2wd550_code32"/>
          <p:cNvSpPr txBox="1"/>
          <p:nvPr/>
        </p:nvSpPr>
        <p:spPr>
          <a:xfrm>
            <a:off x="5056631" y="3625596"/>
            <a:ext cx="346557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a2wd600_code33"/>
          <p:cNvSpPr txBox="1"/>
          <p:nvPr/>
        </p:nvSpPr>
        <p:spPr>
          <a:xfrm>
            <a:off x="5056631" y="3794759"/>
            <a:ext cx="346557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@not_persisted was inlined,</a:t>
            </a:r>
          </a:p>
        </p:txBody>
      </p:sp>
      <p:sp>
        <p:nvSpPr>
          <p:cNvPr id="35" name="a2wd650_code34"/>
          <p:cNvSpPr txBox="1"/>
          <p:nvPr/>
        </p:nvSpPr>
        <p:spPr>
          <a:xfrm>
            <a:off x="5056631" y="3963924"/>
            <a:ext cx="346557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then discarded.</a:t>
            </a:r>
          </a:p>
        </p:txBody>
      </p:sp>
      <p:sp>
        <p:nvSpPr>
          <p:cNvPr id="36" name="ft3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37" name="ft3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@ATTRIBUTES · DOCS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2 · Documentation — and where it actually lives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@moduledoc and @doc are written into a Docs chunk in the .beam FILE.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25880"/>
            <a:ext cx="4709160" cy="3140963"/>
          </a:xfrm>
          <a:prstGeom prst="roundRect">
            <a:avLst>
              <a:gd name="adj" fmla="val 232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w_code5"/>
          <p:cNvSpPr txBox="1"/>
          <p:nvPr/>
        </p:nvSpPr>
        <p:spPr>
          <a:xfrm>
            <a:off x="621792" y="1490472"/>
            <a:ext cx="437997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defmodule Documented do</a:t>
            </a:r>
          </a:p>
        </p:txBody>
      </p:sp>
      <p:sp>
        <p:nvSpPr>
          <p:cNvPr id="7" name="a1wd45_code6"/>
          <p:cNvSpPr txBox="1"/>
          <p:nvPr/>
        </p:nvSpPr>
        <p:spPr>
          <a:xfrm>
            <a:off x="621792" y="1677924"/>
            <a:ext cx="437997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@moduledoc "A module that</a:t>
            </a:r>
          </a:p>
        </p:txBody>
      </p:sp>
      <p:sp>
        <p:nvSpPr>
          <p:cNvPr id="8" name="a1wd90_code7"/>
          <p:cNvSpPr txBox="1"/>
          <p:nvPr/>
        </p:nvSpPr>
        <p:spPr>
          <a:xfrm>
            <a:off x="621792" y="1865376"/>
            <a:ext cx="437997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          documents itself."</a:t>
            </a:r>
          </a:p>
        </p:txBody>
      </p:sp>
      <p:sp>
        <p:nvSpPr>
          <p:cNvPr id="9" name="a1wd135_code8"/>
          <p:cNvSpPr txBox="1"/>
          <p:nvPr/>
        </p:nvSpPr>
        <p:spPr>
          <a:xfrm>
            <a:off x="621792" y="2052828"/>
            <a:ext cx="437997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@typedoc "A single digit."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240279"/>
            <a:ext cx="437997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@type digit :: 0..9</a:t>
            </a:r>
          </a:p>
        </p:txBody>
      </p:sp>
      <p:sp>
        <p:nvSpPr>
          <p:cNvPr id="11" name="a1wd225_code10"/>
          <p:cNvSpPr txBox="1"/>
          <p:nvPr/>
        </p:nvSpPr>
        <p:spPr>
          <a:xfrm>
            <a:off x="621792" y="2427732"/>
            <a:ext cx="437997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2" name="a1wd270_code11"/>
          <p:cNvSpPr txBox="1"/>
          <p:nvPr/>
        </p:nvSpPr>
        <p:spPr>
          <a:xfrm>
            <a:off x="621792" y="2615184"/>
            <a:ext cx="437997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@doc "Adds two numbers."</a:t>
            </a:r>
          </a:p>
        </p:txBody>
      </p:sp>
      <p:sp>
        <p:nvSpPr>
          <p:cNvPr id="13" name="a1wd315_code12"/>
          <p:cNvSpPr txBox="1"/>
          <p:nvPr/>
        </p:nvSpPr>
        <p:spPr>
          <a:xfrm>
            <a:off x="621792" y="2802635"/>
            <a:ext cx="437997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@spec add(number(), number())</a:t>
            </a:r>
          </a:p>
        </p:txBody>
      </p:sp>
      <p:sp>
        <p:nvSpPr>
          <p:cNvPr id="14" name="a1wd360_code13"/>
          <p:cNvSpPr txBox="1"/>
          <p:nvPr/>
        </p:nvSpPr>
        <p:spPr>
          <a:xfrm>
            <a:off x="621792" y="2990087"/>
            <a:ext cx="437997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      :: number()</a:t>
            </a:r>
          </a:p>
        </p:txBody>
      </p:sp>
      <p:sp>
        <p:nvSpPr>
          <p:cNvPr id="15" name="a1wd405_code14"/>
          <p:cNvSpPr txBox="1"/>
          <p:nvPr/>
        </p:nvSpPr>
        <p:spPr>
          <a:xfrm>
            <a:off x="621792" y="3177539"/>
            <a:ext cx="437997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add(a, b), do: a + b</a:t>
            </a:r>
          </a:p>
        </p:txBody>
      </p:sp>
      <p:sp>
        <p:nvSpPr>
          <p:cNvPr id="16" name="a1wd450_code15"/>
          <p:cNvSpPr txBox="1"/>
          <p:nvPr/>
        </p:nvSpPr>
        <p:spPr>
          <a:xfrm>
            <a:off x="621792" y="3364991"/>
            <a:ext cx="437997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a1wd495_code16"/>
          <p:cNvSpPr txBox="1"/>
          <p:nvPr/>
        </p:nvSpPr>
        <p:spPr>
          <a:xfrm>
            <a:off x="621792" y="3552444"/>
            <a:ext cx="437997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@doc false</a:t>
            </a:r>
          </a:p>
        </p:txBody>
      </p:sp>
      <p:sp>
        <p:nvSpPr>
          <p:cNvPr id="18" name="a1wd540_code17"/>
          <p:cNvSpPr txBox="1"/>
          <p:nvPr/>
        </p:nvSpPr>
        <p:spPr>
          <a:xfrm>
            <a:off x="621792" y="3739896"/>
            <a:ext cx="437997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internal, do: :hidden</a:t>
            </a:r>
          </a:p>
        </p:txBody>
      </p:sp>
      <p:sp>
        <p:nvSpPr>
          <p:cNvPr id="19" name="a1wd585_code18"/>
          <p:cNvSpPr txBox="1"/>
          <p:nvPr/>
        </p:nvSpPr>
        <p:spPr>
          <a:xfrm>
            <a:off x="621792" y="3927348"/>
            <a:ext cx="437997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undocumented, do: :no_doc</a:t>
            </a:r>
          </a:p>
        </p:txBody>
      </p:sp>
      <p:sp>
        <p:nvSpPr>
          <p:cNvPr id="20" name="a1wd630_code19"/>
          <p:cNvSpPr txBox="1"/>
          <p:nvPr/>
        </p:nvSpPr>
        <p:spPr>
          <a:xfrm>
            <a:off x="621792" y="4114800"/>
            <a:ext cx="437997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21" name="a2f_codebg20"/>
          <p:cNvSpPr/>
          <p:nvPr/>
        </p:nvSpPr>
        <p:spPr>
          <a:xfrm>
            <a:off x="5303520" y="1325880"/>
            <a:ext cx="3383280" cy="3227831"/>
          </a:xfrm>
          <a:prstGeom prst="roundRect">
            <a:avLst>
              <a:gd name="adj" fmla="val 226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a2f_codeh21"/>
          <p:cNvSpPr txBox="1"/>
          <p:nvPr/>
        </p:nvSpPr>
        <p:spPr>
          <a:xfrm>
            <a:off x="5468112" y="1380744"/>
            <a:ext cx="30540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23" name="a2w_code22"/>
          <p:cNvSpPr txBox="1"/>
          <p:nvPr/>
        </p:nvSpPr>
        <p:spPr>
          <a:xfrm>
            <a:off x="5468112" y="1764792"/>
            <a:ext cx="305409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Code.fetch_docs(Documented)</a:t>
            </a:r>
          </a:p>
        </p:txBody>
      </p:sp>
      <p:sp>
        <p:nvSpPr>
          <p:cNvPr id="24" name="a2wd45_code23"/>
          <p:cNvSpPr txBox="1"/>
          <p:nvPr/>
        </p:nvSpPr>
        <p:spPr>
          <a:xfrm>
            <a:off x="5468112" y="1952243"/>
            <a:ext cx="305409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a2wd90_code24"/>
          <p:cNvSpPr txBox="1"/>
          <p:nvPr/>
        </p:nvSpPr>
        <p:spPr>
          <a:xfrm>
            <a:off x="5468112" y="2139696"/>
            <a:ext cx="305409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@moduledoc</a:t>
            </a:r>
          </a:p>
        </p:txBody>
      </p:sp>
      <p:sp>
        <p:nvSpPr>
          <p:cNvPr id="26" name="a2wd135_code25"/>
          <p:cNvSpPr txBox="1"/>
          <p:nvPr/>
        </p:nvSpPr>
        <p:spPr>
          <a:xfrm>
            <a:off x="5468112" y="2327148"/>
            <a:ext cx="305409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"A module that documents</a:t>
            </a:r>
          </a:p>
        </p:txBody>
      </p:sp>
      <p:sp>
        <p:nvSpPr>
          <p:cNvPr id="27" name="a2wd180_code26"/>
          <p:cNvSpPr txBox="1"/>
          <p:nvPr/>
        </p:nvSpPr>
        <p:spPr>
          <a:xfrm>
            <a:off x="5468112" y="2514600"/>
            <a:ext cx="305409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itself."</a:t>
            </a:r>
          </a:p>
        </p:txBody>
      </p:sp>
      <p:sp>
        <p:nvSpPr>
          <p:cNvPr id="28" name="a2wd225_code27"/>
          <p:cNvSpPr txBox="1"/>
          <p:nvPr/>
        </p:nvSpPr>
        <p:spPr>
          <a:xfrm>
            <a:off x="5468112" y="2702052"/>
            <a:ext cx="305409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a2wd270_code28"/>
          <p:cNvSpPr txBox="1"/>
          <p:nvPr/>
        </p:nvSpPr>
        <p:spPr>
          <a:xfrm>
            <a:off x="5468112" y="2889504"/>
            <a:ext cx="305409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function add/2</a:t>
            </a:r>
          </a:p>
        </p:txBody>
      </p:sp>
      <p:sp>
        <p:nvSpPr>
          <p:cNvPr id="30" name="a2wd315_code29"/>
          <p:cNvSpPr txBox="1"/>
          <p:nvPr/>
        </p:nvSpPr>
        <p:spPr>
          <a:xfrm>
            <a:off x="5468112" y="3076956"/>
            <a:ext cx="305409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doc="Adds two numbers."</a:t>
            </a:r>
          </a:p>
        </p:txBody>
      </p:sp>
      <p:sp>
        <p:nvSpPr>
          <p:cNvPr id="31" name="a2wd360_code30"/>
          <p:cNvSpPr txBox="1"/>
          <p:nvPr/>
        </p:nvSpPr>
        <p:spPr>
          <a:xfrm>
            <a:off x="5468112" y="3264408"/>
            <a:ext cx="305409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function internal/0</a:t>
            </a:r>
          </a:p>
        </p:txBody>
      </p:sp>
      <p:sp>
        <p:nvSpPr>
          <p:cNvPr id="32" name="a2wd405_code31"/>
          <p:cNvSpPr txBox="1"/>
          <p:nvPr/>
        </p:nvSpPr>
        <p:spPr>
          <a:xfrm>
            <a:off x="5468112" y="3451860"/>
            <a:ext cx="305409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doc=:hidden  &lt;- @doc false</a:t>
            </a:r>
          </a:p>
        </p:txBody>
      </p:sp>
      <p:sp>
        <p:nvSpPr>
          <p:cNvPr id="33" name="a2wd450_code32"/>
          <p:cNvSpPr txBox="1"/>
          <p:nvPr/>
        </p:nvSpPr>
        <p:spPr>
          <a:xfrm>
            <a:off x="5468112" y="3639311"/>
            <a:ext cx="305409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function undocumented/0</a:t>
            </a:r>
          </a:p>
        </p:txBody>
      </p:sp>
      <p:sp>
        <p:nvSpPr>
          <p:cNvPr id="34" name="a2wd495_code33"/>
          <p:cNvSpPr txBox="1"/>
          <p:nvPr/>
        </p:nvSpPr>
        <p:spPr>
          <a:xfrm>
            <a:off x="5468112" y="3826763"/>
            <a:ext cx="305409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doc=:none    &lt;- no @doc</a:t>
            </a:r>
          </a:p>
        </p:txBody>
      </p:sp>
      <p:sp>
        <p:nvSpPr>
          <p:cNvPr id="35" name="a2wd540_code34"/>
          <p:cNvSpPr txBox="1"/>
          <p:nvPr/>
        </p:nvSpPr>
        <p:spPr>
          <a:xfrm>
            <a:off x="5468112" y="4014215"/>
            <a:ext cx="305409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type digit/0</a:t>
            </a:r>
          </a:p>
        </p:txBody>
      </p:sp>
      <p:sp>
        <p:nvSpPr>
          <p:cNvPr id="36" name="a2wd585_code35"/>
          <p:cNvSpPr txBox="1"/>
          <p:nvPr/>
        </p:nvSpPr>
        <p:spPr>
          <a:xfrm>
            <a:off x="5468112" y="4201668"/>
            <a:ext cx="305409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doc="A single digit."</a:t>
            </a:r>
          </a:p>
        </p:txBody>
      </p:sp>
      <p:sp>
        <p:nvSpPr>
          <p:cNvPr id="37" name="ft3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@ATTRIBUTES · DOCS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 module defined in a script has no docs at all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Docs chunk is part of the file, and a script never writes one.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8229600" cy="2752344"/>
          </a:xfrm>
          <a:prstGeom prst="roundRect">
            <a:avLst>
              <a:gd name="adj" fmla="val 265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probe_modules.exs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ourier New"/>
              </a:rPr>
              <a:t># in an .exs script, or in IEx:</a:t>
            </a:r>
          </a:p>
        </p:txBody>
      </p:sp>
      <p:sp>
        <p:nvSpPr>
          <p:cNvPr id="8" name="a1wd65_code7"/>
          <p:cNvSpPr txBox="1"/>
          <p:nvPr/>
        </p:nvSpPr>
        <p:spPr>
          <a:xfrm>
            <a:off x="621792" y="1997964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defmodule NoBeam do</a:t>
            </a:r>
          </a:p>
        </p:txBody>
      </p:sp>
      <p:sp>
        <p:nvSpPr>
          <p:cNvPr id="9" name="a1wd130_code8"/>
          <p:cNvSpPr txBox="1"/>
          <p:nvPr/>
        </p:nvSpPr>
        <p:spPr>
          <a:xfrm>
            <a:off x="621792" y="2212848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@moduledoc "never written to disk"</a:t>
            </a:r>
          </a:p>
        </p:txBody>
      </p:sp>
      <p:sp>
        <p:nvSpPr>
          <p:cNvPr id="10" name="a1wd195_code9"/>
          <p:cNvSpPr txBox="1"/>
          <p:nvPr/>
        </p:nvSpPr>
        <p:spPr>
          <a:xfrm>
            <a:off x="621792" y="2427732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  def f, do: :ok</a:t>
            </a:r>
          </a:p>
        </p:txBody>
      </p:sp>
      <p:sp>
        <p:nvSpPr>
          <p:cNvPr id="11" name="a1wd260_code10"/>
          <p:cNvSpPr txBox="1"/>
          <p:nvPr/>
        </p:nvSpPr>
        <p:spPr>
          <a:xfrm>
            <a:off x="621792" y="2642615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2" name="a1wd325_code11"/>
          <p:cNvSpPr txBox="1"/>
          <p:nvPr/>
        </p:nvSpPr>
        <p:spPr>
          <a:xfrm>
            <a:off x="621792" y="2857500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3" name="a1wd390_code12"/>
          <p:cNvSpPr txBox="1"/>
          <p:nvPr/>
        </p:nvSpPr>
        <p:spPr>
          <a:xfrm>
            <a:off x="621792" y="3072384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FCA5A5"/>
                </a:solidFill>
                <a:latin typeface="Courier New"/>
              </a:rPr>
              <a:t>Code.fetch_docs(NoBeam)   #=&gt; {:error, :module_not_found}</a:t>
            </a:r>
          </a:p>
        </p:txBody>
      </p:sp>
      <p:sp>
        <p:nvSpPr>
          <p:cNvPr id="14" name="a1wd455_code13"/>
          <p:cNvSpPr txBox="1"/>
          <p:nvPr/>
        </p:nvSpPr>
        <p:spPr>
          <a:xfrm>
            <a:off x="621792" y="3287268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5" name="a1wd520_code14"/>
          <p:cNvSpPr txBox="1"/>
          <p:nvPr/>
        </p:nvSpPr>
        <p:spPr>
          <a:xfrm>
            <a:off x="621792" y="3502152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ourier New"/>
              </a:rPr>
              <a:t># compiled with elixirc, so there is an Elixir.Documented.beam:</a:t>
            </a:r>
          </a:p>
        </p:txBody>
      </p:sp>
      <p:sp>
        <p:nvSpPr>
          <p:cNvPr id="16" name="a1wd585_code15"/>
          <p:cNvSpPr txBox="1"/>
          <p:nvPr/>
        </p:nvSpPr>
        <p:spPr>
          <a:xfrm>
            <a:off x="621792" y="3717035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Code.fetch_docs(Documented)  #=&gt; {:docs_v1, ..., :elixir, ...}</a:t>
            </a:r>
          </a:p>
        </p:txBody>
      </p:sp>
      <p:sp>
        <p:nvSpPr>
          <p:cNvPr id="17" name="a2u_dot16"/>
          <p:cNvSpPr/>
          <p:nvPr/>
        </p:nvSpPr>
        <p:spPr>
          <a:xfrm>
            <a:off x="457200" y="4325112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a2u_b17"/>
          <p:cNvSpPr txBox="1"/>
          <p:nvPr/>
        </p:nvSpPr>
        <p:spPr>
          <a:xfrm>
            <a:off x="676656" y="4224528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This is why h Module in IEx sometimes says nothing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module was defined in the session, not loaded from a file</a:t>
            </a:r>
          </a:p>
        </p:txBody>
      </p:sp>
      <p:sp>
        <p:nvSpPr>
          <p:cNvPr id="19" name="a2ud200_dot18"/>
          <p:cNvSpPr/>
          <p:nvPr/>
        </p:nvSpPr>
        <p:spPr>
          <a:xfrm>
            <a:off x="457200" y="4782312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a2ud200_b19"/>
          <p:cNvSpPr txBox="1"/>
          <p:nvPr/>
        </p:nvSpPr>
        <p:spPr>
          <a:xfrm>
            <a:off x="676656" y="4681728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@moduledoc false hides the module from docs entirely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functions still work and are still public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@ATTRIBUTES · CONTRACT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3 · @behaviour and @impl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contract the compiler checks — and the two warnings you will meet.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8229600" cy="2683763"/>
          </a:xfrm>
          <a:prstGeom prst="roundRect">
            <a:avLst>
              <a:gd name="adj" fmla="val 272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362456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probe_modules.exs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46504"/>
            <a:ext cx="7900416" cy="1600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defmodule Contract do</a:t>
            </a:r>
          </a:p>
        </p:txBody>
      </p:sp>
      <p:sp>
        <p:nvSpPr>
          <p:cNvPr id="8" name="a1wd50_code7"/>
          <p:cNvSpPr txBox="1"/>
          <p:nvPr/>
        </p:nvSpPr>
        <p:spPr>
          <a:xfrm>
            <a:off x="621792" y="1906524"/>
            <a:ext cx="7900416" cy="1600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@callback run(term()) :: {:ok, term()} | {:error, term()}</a:t>
            </a:r>
          </a:p>
        </p:txBody>
      </p:sp>
      <p:sp>
        <p:nvSpPr>
          <p:cNvPr id="9" name="a1wd100_code8"/>
          <p:cNvSpPr txBox="1"/>
          <p:nvPr/>
        </p:nvSpPr>
        <p:spPr>
          <a:xfrm>
            <a:off x="621792" y="2066543"/>
            <a:ext cx="7900416" cy="1600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@callback name() :: String.t()</a:t>
            </a:r>
          </a:p>
        </p:txBody>
      </p:sp>
      <p:sp>
        <p:nvSpPr>
          <p:cNvPr id="10" name="a1wd150_code9"/>
          <p:cNvSpPr txBox="1"/>
          <p:nvPr/>
        </p:nvSpPr>
        <p:spPr>
          <a:xfrm>
            <a:off x="621792" y="2226563"/>
            <a:ext cx="7900416" cy="1600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1" name="a1wd200_code10"/>
          <p:cNvSpPr txBox="1"/>
          <p:nvPr/>
        </p:nvSpPr>
        <p:spPr>
          <a:xfrm>
            <a:off x="621792" y="2386584"/>
            <a:ext cx="7900416" cy="1600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2" name="a1wd250_code11"/>
          <p:cNvSpPr txBox="1"/>
          <p:nvPr/>
        </p:nvSpPr>
        <p:spPr>
          <a:xfrm>
            <a:off x="621792" y="2546604"/>
            <a:ext cx="7900416" cy="1600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defmodule Partial do</a:t>
            </a:r>
          </a:p>
        </p:txBody>
      </p:sp>
      <p:sp>
        <p:nvSpPr>
          <p:cNvPr id="13" name="a1wd300_code12"/>
          <p:cNvSpPr txBox="1"/>
          <p:nvPr/>
        </p:nvSpPr>
        <p:spPr>
          <a:xfrm>
            <a:off x="621792" y="2706624"/>
            <a:ext cx="7900416" cy="1600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@behaviour Contract</a:t>
            </a:r>
          </a:p>
        </p:txBody>
      </p:sp>
      <p:sp>
        <p:nvSpPr>
          <p:cNvPr id="14" name="a1wd350_code13"/>
          <p:cNvSpPr txBox="1"/>
          <p:nvPr/>
        </p:nvSpPr>
        <p:spPr>
          <a:xfrm>
            <a:off x="621792" y="2866644"/>
            <a:ext cx="7900416" cy="1600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@impl Contract</a:t>
            </a:r>
          </a:p>
        </p:txBody>
      </p:sp>
      <p:sp>
        <p:nvSpPr>
          <p:cNvPr id="15" name="a1wd400_code14"/>
          <p:cNvSpPr txBox="1"/>
          <p:nvPr/>
        </p:nvSpPr>
        <p:spPr>
          <a:xfrm>
            <a:off x="621792" y="3026663"/>
            <a:ext cx="7900416" cy="1600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def run(x), do: {:ok, x}</a:t>
            </a:r>
          </a:p>
        </p:txBody>
      </p:sp>
      <p:sp>
        <p:nvSpPr>
          <p:cNvPr id="16" name="a1wd450_code15"/>
          <p:cNvSpPr txBox="1"/>
          <p:nvPr/>
        </p:nvSpPr>
        <p:spPr>
          <a:xfrm>
            <a:off x="621792" y="3186684"/>
            <a:ext cx="7900416" cy="1600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7" name="a1wd500_code16"/>
          <p:cNvSpPr txBox="1"/>
          <p:nvPr/>
        </p:nvSpPr>
        <p:spPr>
          <a:xfrm>
            <a:off x="621792" y="3346704"/>
            <a:ext cx="7900416" cy="1600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8" name="a1wd550_code17"/>
          <p:cNvSpPr txBox="1"/>
          <p:nvPr/>
        </p:nvSpPr>
        <p:spPr>
          <a:xfrm>
            <a:off x="621792" y="3506724"/>
            <a:ext cx="7900416" cy="1600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warning: function name/0 required by behaviour Contract is not</a:t>
            </a:r>
          </a:p>
        </p:txBody>
      </p:sp>
      <p:sp>
        <p:nvSpPr>
          <p:cNvPr id="19" name="a1wd600_code18"/>
          <p:cNvSpPr txBox="1"/>
          <p:nvPr/>
        </p:nvSpPr>
        <p:spPr>
          <a:xfrm>
            <a:off x="621792" y="3666744"/>
            <a:ext cx="7900416" cy="1600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implemented (in module Partial)</a:t>
            </a:r>
          </a:p>
        </p:txBody>
      </p:sp>
      <p:sp>
        <p:nvSpPr>
          <p:cNvPr id="20" name="a2f_nb19"/>
          <p:cNvSpPr/>
          <p:nvPr/>
        </p:nvSpPr>
        <p:spPr>
          <a:xfrm>
            <a:off x="457200" y="4101083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a2f_nacc20"/>
          <p:cNvSpPr/>
          <p:nvPr/>
        </p:nvSpPr>
        <p:spPr>
          <a:xfrm>
            <a:off x="457200" y="4101083"/>
            <a:ext cx="50292" cy="5120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a2f_nt21"/>
          <p:cNvSpPr txBox="1"/>
          <p:nvPr/>
        </p:nvSpPr>
        <p:spPr>
          <a:xfrm>
            <a:off x="658368" y="4101083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@callback declares the contract; @behaviour adopts it; @impl says which callback a function implements. The second warning is the mirror image: "@impl Contract for function extra/0 but Contract does not specify such callback".</a:t>
            </a:r>
          </a:p>
        </p:txBody>
      </p:sp>
      <p:sp>
        <p:nvSpPr>
          <p:cNvPr id="23" name="ft2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24" name="ft2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@ATTRIBUTES · HOOKS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4 · The compiler hooks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Three attributes that let you run code while the module is being built.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4709160" cy="1892807"/>
          </a:xfrm>
          <a:prstGeom prst="roundRect">
            <a:avLst>
              <a:gd name="adj" fmla="val 386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w_code5"/>
          <p:cNvSpPr txBox="1"/>
          <p:nvPr/>
        </p:nvSpPr>
        <p:spPr>
          <a:xfrm>
            <a:off x="621792" y="1472184"/>
            <a:ext cx="43799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defmodule Hooked do</a:t>
            </a:r>
          </a:p>
        </p:txBody>
      </p:sp>
      <p:sp>
        <p:nvSpPr>
          <p:cNvPr id="7" name="a1wd60_code6"/>
          <p:cNvSpPr txBox="1"/>
          <p:nvPr/>
        </p:nvSpPr>
        <p:spPr>
          <a:xfrm>
            <a:off x="621792" y="1645919"/>
            <a:ext cx="43799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@before_compile Hooks</a:t>
            </a:r>
          </a:p>
        </p:txBody>
      </p:sp>
      <p:sp>
        <p:nvSpPr>
          <p:cNvPr id="8" name="a1wd120_code7"/>
          <p:cNvSpPr txBox="1"/>
          <p:nvPr/>
        </p:nvSpPr>
        <p:spPr>
          <a:xfrm>
            <a:off x="621792" y="1819655"/>
            <a:ext cx="43799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@after_compile Hooks</a:t>
            </a:r>
          </a:p>
        </p:txBody>
      </p:sp>
      <p:sp>
        <p:nvSpPr>
          <p:cNvPr id="9" name="a1wd180_code8"/>
          <p:cNvSpPr txBox="1"/>
          <p:nvPr/>
        </p:nvSpPr>
        <p:spPr>
          <a:xfrm>
            <a:off x="621792" y="1993391"/>
            <a:ext cx="43799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@on_definition Hooks</a:t>
            </a:r>
          </a:p>
        </p:txBody>
      </p:sp>
      <p:sp>
        <p:nvSpPr>
          <p:cNvPr id="10" name="a1wd240_code9"/>
          <p:cNvSpPr txBox="1"/>
          <p:nvPr/>
        </p:nvSpPr>
        <p:spPr>
          <a:xfrm>
            <a:off x="621792" y="2167128"/>
            <a:ext cx="43799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1" name="a1wd300_code10"/>
          <p:cNvSpPr txBox="1"/>
          <p:nvPr/>
        </p:nvSpPr>
        <p:spPr>
          <a:xfrm>
            <a:off x="621792" y="2340863"/>
            <a:ext cx="43799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def a, do: 1</a:t>
            </a:r>
          </a:p>
        </p:txBody>
      </p:sp>
      <p:sp>
        <p:nvSpPr>
          <p:cNvPr id="12" name="a1wd360_code11"/>
          <p:cNvSpPr txBox="1"/>
          <p:nvPr/>
        </p:nvSpPr>
        <p:spPr>
          <a:xfrm>
            <a:off x="621792" y="2514600"/>
            <a:ext cx="43799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defp b, do: 2</a:t>
            </a:r>
          </a:p>
        </p:txBody>
      </p:sp>
      <p:sp>
        <p:nvSpPr>
          <p:cNvPr id="13" name="a1wd420_code12"/>
          <p:cNvSpPr txBox="1"/>
          <p:nvPr/>
        </p:nvSpPr>
        <p:spPr>
          <a:xfrm>
            <a:off x="621792" y="2688336"/>
            <a:ext cx="43799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def c, do: b()</a:t>
            </a:r>
          </a:p>
        </p:txBody>
      </p:sp>
      <p:sp>
        <p:nvSpPr>
          <p:cNvPr id="14" name="a1wd480_code13"/>
          <p:cNvSpPr txBox="1"/>
          <p:nvPr/>
        </p:nvSpPr>
        <p:spPr>
          <a:xfrm>
            <a:off x="621792" y="2862072"/>
            <a:ext cx="437997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5" name="a2f_codebg14"/>
          <p:cNvSpPr/>
          <p:nvPr/>
        </p:nvSpPr>
        <p:spPr>
          <a:xfrm>
            <a:off x="5303520" y="1307592"/>
            <a:ext cx="3383280" cy="2167128"/>
          </a:xfrm>
          <a:prstGeom prst="roundRect">
            <a:avLst>
              <a:gd name="adj" fmla="val 337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2f_codeh15"/>
          <p:cNvSpPr txBox="1"/>
          <p:nvPr/>
        </p:nvSpPr>
        <p:spPr>
          <a:xfrm>
            <a:off x="5468112" y="1362456"/>
            <a:ext cx="30540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</a:t>
            </a:r>
          </a:p>
        </p:txBody>
      </p:sp>
      <p:sp>
        <p:nvSpPr>
          <p:cNvPr id="17" name="a2w_code16"/>
          <p:cNvSpPr txBox="1"/>
          <p:nvPr/>
        </p:nvSpPr>
        <p:spPr>
          <a:xfrm>
            <a:off x="5468112" y="1746504"/>
            <a:ext cx="30540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__on_definition__ saw def a/0</a:t>
            </a:r>
          </a:p>
        </p:txBody>
      </p:sp>
      <p:sp>
        <p:nvSpPr>
          <p:cNvPr id="18" name="a2wd60_code17"/>
          <p:cNvSpPr txBox="1"/>
          <p:nvPr/>
        </p:nvSpPr>
        <p:spPr>
          <a:xfrm>
            <a:off x="5468112" y="1920240"/>
            <a:ext cx="30540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__on_definition__ saw defp b/0</a:t>
            </a:r>
          </a:p>
        </p:txBody>
      </p:sp>
      <p:sp>
        <p:nvSpPr>
          <p:cNvPr id="19" name="a2wd120_code18"/>
          <p:cNvSpPr txBox="1"/>
          <p:nvPr/>
        </p:nvSpPr>
        <p:spPr>
          <a:xfrm>
            <a:off x="5468112" y="2093976"/>
            <a:ext cx="30540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__on_definition__ saw def c/0</a:t>
            </a:r>
          </a:p>
        </p:txBody>
      </p:sp>
      <p:sp>
        <p:nvSpPr>
          <p:cNvPr id="20" name="a2wd180_code19"/>
          <p:cNvSpPr txBox="1"/>
          <p:nvPr/>
        </p:nvSpPr>
        <p:spPr>
          <a:xfrm>
            <a:off x="5468112" y="2267712"/>
            <a:ext cx="30540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__on_definition__ saw def</a:t>
            </a:r>
          </a:p>
        </p:txBody>
      </p:sp>
      <p:sp>
        <p:nvSpPr>
          <p:cNvPr id="21" name="a2wd240_code20"/>
          <p:cNvSpPr txBox="1"/>
          <p:nvPr/>
        </p:nvSpPr>
        <p:spPr>
          <a:xfrm>
            <a:off x="5468112" y="2441448"/>
            <a:ext cx="30540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 added_by_before_compile/0</a:t>
            </a:r>
          </a:p>
        </p:txBody>
      </p:sp>
      <p:sp>
        <p:nvSpPr>
          <p:cNvPr id="22" name="a2wd300_code21"/>
          <p:cNvSpPr txBox="1"/>
          <p:nvPr/>
        </p:nvSpPr>
        <p:spPr>
          <a:xfrm>
            <a:off x="5468112" y="2615184"/>
            <a:ext cx="30540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__after_compile__ ran for Hooked</a:t>
            </a:r>
          </a:p>
        </p:txBody>
      </p:sp>
      <p:sp>
        <p:nvSpPr>
          <p:cNvPr id="23" name="a2wd360_code22"/>
          <p:cNvSpPr txBox="1"/>
          <p:nvPr/>
        </p:nvSpPr>
        <p:spPr>
          <a:xfrm>
            <a:off x="5468112" y="2788920"/>
            <a:ext cx="30540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a2wd420_code23"/>
          <p:cNvSpPr txBox="1"/>
          <p:nvPr/>
        </p:nvSpPr>
        <p:spPr>
          <a:xfrm>
            <a:off x="5468112" y="2962656"/>
            <a:ext cx="30540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Hooked.added_by_before_compile()</a:t>
            </a:r>
          </a:p>
        </p:txBody>
      </p:sp>
      <p:sp>
        <p:nvSpPr>
          <p:cNvPr id="25" name="a2wd480_code24"/>
          <p:cNvSpPr txBox="1"/>
          <p:nvPr/>
        </p:nvSpPr>
        <p:spPr>
          <a:xfrm>
            <a:off x="5468112" y="3136391"/>
            <a:ext cx="3054096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:injected</a:t>
            </a:r>
          </a:p>
        </p:txBody>
      </p:sp>
      <p:sp>
        <p:nvSpPr>
          <p:cNvPr id="26" name="a3u_dot25"/>
          <p:cNvSpPr/>
          <p:nvPr/>
        </p:nvSpPr>
        <p:spPr>
          <a:xfrm>
            <a:off x="457200" y="370332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a3u_b26"/>
          <p:cNvSpPr txBox="1"/>
          <p:nvPr/>
        </p:nvSpPr>
        <p:spPr>
          <a:xfrm>
            <a:off x="676656" y="3602736"/>
            <a:ext cx="801014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@on_definition fires per function  </a:t>
            </a:r>
            <a:r>
              <a:rPr sz="1100" b="0">
                <a:solidFill>
                  <a:srgbClr val="334155"/>
                </a:solidFill>
                <a:latin typeface="Calibri"/>
              </a:rPr>
              <a:t>including the private one, and the one injected later</a:t>
            </a:r>
          </a:p>
        </p:txBody>
      </p:sp>
      <p:sp>
        <p:nvSpPr>
          <p:cNvPr id="28" name="a3ud180_dot27"/>
          <p:cNvSpPr/>
          <p:nvPr/>
        </p:nvSpPr>
        <p:spPr>
          <a:xfrm>
            <a:off x="457200" y="406908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a3ud180_b28"/>
          <p:cNvSpPr txBox="1"/>
          <p:nvPr/>
        </p:nvSpPr>
        <p:spPr>
          <a:xfrm>
            <a:off x="676656" y="3968496"/>
            <a:ext cx="801014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@before_compile can add functions  </a:t>
            </a:r>
            <a:r>
              <a:rPr sz="1100" b="0">
                <a:solidFill>
                  <a:srgbClr val="334155"/>
                </a:solidFill>
                <a:latin typeface="Calibri"/>
              </a:rPr>
              <a:t>it is how a library gives you a default implementation last</a:t>
            </a:r>
          </a:p>
        </p:txBody>
      </p:sp>
      <p:sp>
        <p:nvSpPr>
          <p:cNvPr id="30" name="a3ud360_dot29"/>
          <p:cNvSpPr/>
          <p:nvPr/>
        </p:nvSpPr>
        <p:spPr>
          <a:xfrm>
            <a:off x="457200" y="443484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a3ud360_b30"/>
          <p:cNvSpPr txBox="1"/>
          <p:nvPr/>
        </p:nvSpPr>
        <p:spPr>
          <a:xfrm>
            <a:off x="676656" y="4334256"/>
            <a:ext cx="801014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@after_compile gets the bytecode  </a:t>
            </a:r>
            <a:r>
              <a:rPr sz="1100" b="0">
                <a:solidFill>
                  <a:srgbClr val="334155"/>
                </a:solidFill>
                <a:latin typeface="Calibri"/>
              </a:rPr>
              <a:t>used for validation — it is too late to change anything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REFERENCE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attributes worth knowing by name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078992"/>
            <a:ext cx="1965960" cy="256032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f_tht4"/>
          <p:cNvSpPr txBox="1"/>
          <p:nvPr/>
        </p:nvSpPr>
        <p:spPr>
          <a:xfrm>
            <a:off x="530352" y="1078992"/>
            <a:ext cx="185623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Attribute</a:t>
            </a:r>
          </a:p>
        </p:txBody>
      </p:sp>
      <p:sp>
        <p:nvSpPr>
          <p:cNvPr id="6" name="a1wd55_td5"/>
          <p:cNvSpPr/>
          <p:nvPr/>
        </p:nvSpPr>
        <p:spPr>
          <a:xfrm>
            <a:off x="457200" y="1335024"/>
            <a:ext cx="1965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a1wd55_tdt6"/>
          <p:cNvSpPr txBox="1"/>
          <p:nvPr/>
        </p:nvSpPr>
        <p:spPr>
          <a:xfrm>
            <a:off x="530352" y="1335024"/>
            <a:ext cx="185623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@moduledoc  @doc</a:t>
            </a:r>
          </a:p>
        </p:txBody>
      </p:sp>
      <p:sp>
        <p:nvSpPr>
          <p:cNvPr id="8" name="a1wd110_td7"/>
          <p:cNvSpPr/>
          <p:nvPr/>
        </p:nvSpPr>
        <p:spPr>
          <a:xfrm>
            <a:off x="457200" y="1591056"/>
            <a:ext cx="1965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a1wd110_tdt8"/>
          <p:cNvSpPr txBox="1"/>
          <p:nvPr/>
        </p:nvSpPr>
        <p:spPr>
          <a:xfrm>
            <a:off x="530352" y="1591056"/>
            <a:ext cx="185623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@typedoc  @type  @opaque</a:t>
            </a:r>
          </a:p>
        </p:txBody>
      </p:sp>
      <p:sp>
        <p:nvSpPr>
          <p:cNvPr id="10" name="a1wd165_td9"/>
          <p:cNvSpPr/>
          <p:nvPr/>
        </p:nvSpPr>
        <p:spPr>
          <a:xfrm>
            <a:off x="457200" y="1847088"/>
            <a:ext cx="1965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a1wd165_tdt10"/>
          <p:cNvSpPr txBox="1"/>
          <p:nvPr/>
        </p:nvSpPr>
        <p:spPr>
          <a:xfrm>
            <a:off x="530352" y="1847088"/>
            <a:ext cx="185623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@spec  @callback</a:t>
            </a:r>
          </a:p>
        </p:txBody>
      </p:sp>
      <p:sp>
        <p:nvSpPr>
          <p:cNvPr id="12" name="a1wd220_td11"/>
          <p:cNvSpPr/>
          <p:nvPr/>
        </p:nvSpPr>
        <p:spPr>
          <a:xfrm>
            <a:off x="457200" y="2103120"/>
            <a:ext cx="1965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a1wd220_tdt12"/>
          <p:cNvSpPr txBox="1"/>
          <p:nvPr/>
        </p:nvSpPr>
        <p:spPr>
          <a:xfrm>
            <a:off x="530352" y="2103120"/>
            <a:ext cx="185623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@behaviour  @impl</a:t>
            </a:r>
          </a:p>
        </p:txBody>
      </p:sp>
      <p:sp>
        <p:nvSpPr>
          <p:cNvPr id="14" name="a1wd275_td13"/>
          <p:cNvSpPr/>
          <p:nvPr/>
        </p:nvSpPr>
        <p:spPr>
          <a:xfrm>
            <a:off x="457200" y="2359152"/>
            <a:ext cx="1965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a1wd275_tdt14"/>
          <p:cNvSpPr txBox="1"/>
          <p:nvPr/>
        </p:nvSpPr>
        <p:spPr>
          <a:xfrm>
            <a:off x="530352" y="2359152"/>
            <a:ext cx="185623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@enforce_keys</a:t>
            </a:r>
          </a:p>
        </p:txBody>
      </p:sp>
      <p:sp>
        <p:nvSpPr>
          <p:cNvPr id="16" name="a1wd330_td15"/>
          <p:cNvSpPr/>
          <p:nvPr/>
        </p:nvSpPr>
        <p:spPr>
          <a:xfrm>
            <a:off x="457200" y="2615184"/>
            <a:ext cx="1965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a1wd330_tdt16"/>
          <p:cNvSpPr txBox="1"/>
          <p:nvPr/>
        </p:nvSpPr>
        <p:spPr>
          <a:xfrm>
            <a:off x="530352" y="2615184"/>
            <a:ext cx="185623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@derive</a:t>
            </a:r>
          </a:p>
        </p:txBody>
      </p:sp>
      <p:sp>
        <p:nvSpPr>
          <p:cNvPr id="18" name="a1wd385_td17"/>
          <p:cNvSpPr/>
          <p:nvPr/>
        </p:nvSpPr>
        <p:spPr>
          <a:xfrm>
            <a:off x="457200" y="2871216"/>
            <a:ext cx="1965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1wd385_tdt18"/>
          <p:cNvSpPr txBox="1"/>
          <p:nvPr/>
        </p:nvSpPr>
        <p:spPr>
          <a:xfrm>
            <a:off x="530352" y="2871216"/>
            <a:ext cx="185623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@compile</a:t>
            </a:r>
          </a:p>
        </p:txBody>
      </p:sp>
      <p:sp>
        <p:nvSpPr>
          <p:cNvPr id="20" name="a1wd440_td19"/>
          <p:cNvSpPr/>
          <p:nvPr/>
        </p:nvSpPr>
        <p:spPr>
          <a:xfrm>
            <a:off x="457200" y="3127248"/>
            <a:ext cx="1965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a1wd440_tdt20"/>
          <p:cNvSpPr txBox="1"/>
          <p:nvPr/>
        </p:nvSpPr>
        <p:spPr>
          <a:xfrm>
            <a:off x="530352" y="3127248"/>
            <a:ext cx="185623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@external_resource</a:t>
            </a:r>
          </a:p>
        </p:txBody>
      </p:sp>
      <p:sp>
        <p:nvSpPr>
          <p:cNvPr id="22" name="a1wd495_td21"/>
          <p:cNvSpPr/>
          <p:nvPr/>
        </p:nvSpPr>
        <p:spPr>
          <a:xfrm>
            <a:off x="457200" y="3383280"/>
            <a:ext cx="1965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a1wd495_tdt22"/>
          <p:cNvSpPr txBox="1"/>
          <p:nvPr/>
        </p:nvSpPr>
        <p:spPr>
          <a:xfrm>
            <a:off x="530352" y="3383280"/>
            <a:ext cx="185623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@before_compile  @after_compile</a:t>
            </a:r>
          </a:p>
        </p:txBody>
      </p:sp>
      <p:sp>
        <p:nvSpPr>
          <p:cNvPr id="24" name="a1wd550_td23"/>
          <p:cNvSpPr/>
          <p:nvPr/>
        </p:nvSpPr>
        <p:spPr>
          <a:xfrm>
            <a:off x="457200" y="3639312"/>
            <a:ext cx="1965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a1wd550_tdt24"/>
          <p:cNvSpPr txBox="1"/>
          <p:nvPr/>
        </p:nvSpPr>
        <p:spPr>
          <a:xfrm>
            <a:off x="530352" y="3639312"/>
            <a:ext cx="185623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@on_definition</a:t>
            </a:r>
          </a:p>
        </p:txBody>
      </p:sp>
      <p:sp>
        <p:nvSpPr>
          <p:cNvPr id="26" name="a1wd605_td25"/>
          <p:cNvSpPr/>
          <p:nvPr/>
        </p:nvSpPr>
        <p:spPr>
          <a:xfrm>
            <a:off x="457200" y="3895344"/>
            <a:ext cx="1965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a1wd605_tdt26"/>
          <p:cNvSpPr txBox="1"/>
          <p:nvPr/>
        </p:nvSpPr>
        <p:spPr>
          <a:xfrm>
            <a:off x="530352" y="3895344"/>
            <a:ext cx="185623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@dialyzer</a:t>
            </a:r>
          </a:p>
        </p:txBody>
      </p:sp>
      <p:sp>
        <p:nvSpPr>
          <p:cNvPr id="28" name="a1f_th27"/>
          <p:cNvSpPr/>
          <p:nvPr/>
        </p:nvSpPr>
        <p:spPr>
          <a:xfrm>
            <a:off x="2423160" y="1078992"/>
            <a:ext cx="3794760" cy="256032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a1f_tht28"/>
          <p:cNvSpPr txBox="1"/>
          <p:nvPr/>
        </p:nvSpPr>
        <p:spPr>
          <a:xfrm>
            <a:off x="2496312" y="1078992"/>
            <a:ext cx="3685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Does</a:t>
            </a:r>
          </a:p>
        </p:txBody>
      </p:sp>
      <p:sp>
        <p:nvSpPr>
          <p:cNvPr id="30" name="a1wd55_td29"/>
          <p:cNvSpPr/>
          <p:nvPr/>
        </p:nvSpPr>
        <p:spPr>
          <a:xfrm>
            <a:off x="2423160" y="1335024"/>
            <a:ext cx="3794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a1wd55_tdt30"/>
          <p:cNvSpPr txBox="1"/>
          <p:nvPr/>
        </p:nvSpPr>
        <p:spPr>
          <a:xfrm>
            <a:off x="2496312" y="1335024"/>
            <a:ext cx="3685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documentation; false hides it</a:t>
            </a:r>
          </a:p>
        </p:txBody>
      </p:sp>
      <p:sp>
        <p:nvSpPr>
          <p:cNvPr id="32" name="a1wd110_td31"/>
          <p:cNvSpPr/>
          <p:nvPr/>
        </p:nvSpPr>
        <p:spPr>
          <a:xfrm>
            <a:off x="2423160" y="1591056"/>
            <a:ext cx="3794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a1wd110_tdt32"/>
          <p:cNvSpPr txBox="1"/>
          <p:nvPr/>
        </p:nvSpPr>
        <p:spPr>
          <a:xfrm>
            <a:off x="2496312" y="1591056"/>
            <a:ext cx="3685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declares a type</a:t>
            </a:r>
          </a:p>
        </p:txBody>
      </p:sp>
      <p:sp>
        <p:nvSpPr>
          <p:cNvPr id="34" name="a1wd165_td33"/>
          <p:cNvSpPr/>
          <p:nvPr/>
        </p:nvSpPr>
        <p:spPr>
          <a:xfrm>
            <a:off x="2423160" y="1847088"/>
            <a:ext cx="3794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a1wd165_tdt34"/>
          <p:cNvSpPr txBox="1"/>
          <p:nvPr/>
        </p:nvSpPr>
        <p:spPr>
          <a:xfrm>
            <a:off x="2496312" y="1847088"/>
            <a:ext cx="3685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function contract; behaviour contract</a:t>
            </a:r>
          </a:p>
        </p:txBody>
      </p:sp>
      <p:sp>
        <p:nvSpPr>
          <p:cNvPr id="36" name="a1wd220_td35"/>
          <p:cNvSpPr/>
          <p:nvPr/>
        </p:nvSpPr>
        <p:spPr>
          <a:xfrm>
            <a:off x="2423160" y="2103120"/>
            <a:ext cx="3794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a1wd220_tdt36"/>
          <p:cNvSpPr txBox="1"/>
          <p:nvPr/>
        </p:nvSpPr>
        <p:spPr>
          <a:xfrm>
            <a:off x="2496312" y="2103120"/>
            <a:ext cx="3685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adopt a contract; mark a callback</a:t>
            </a:r>
          </a:p>
        </p:txBody>
      </p:sp>
      <p:sp>
        <p:nvSpPr>
          <p:cNvPr id="38" name="a1wd275_td37"/>
          <p:cNvSpPr/>
          <p:nvPr/>
        </p:nvSpPr>
        <p:spPr>
          <a:xfrm>
            <a:off x="2423160" y="2359152"/>
            <a:ext cx="3794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a1wd275_tdt38"/>
          <p:cNvSpPr txBox="1"/>
          <p:nvPr/>
        </p:nvSpPr>
        <p:spPr>
          <a:xfrm>
            <a:off x="2496312" y="2359152"/>
            <a:ext cx="3685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struct keys that must be given</a:t>
            </a:r>
          </a:p>
        </p:txBody>
      </p:sp>
      <p:sp>
        <p:nvSpPr>
          <p:cNvPr id="40" name="a1wd330_td39"/>
          <p:cNvSpPr/>
          <p:nvPr/>
        </p:nvSpPr>
        <p:spPr>
          <a:xfrm>
            <a:off x="2423160" y="2615184"/>
            <a:ext cx="3794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a1wd330_tdt40"/>
          <p:cNvSpPr txBox="1"/>
          <p:nvPr/>
        </p:nvSpPr>
        <p:spPr>
          <a:xfrm>
            <a:off x="2496312" y="2615184"/>
            <a:ext cx="3685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derive a protocol for this struct</a:t>
            </a:r>
          </a:p>
        </p:txBody>
      </p:sp>
      <p:sp>
        <p:nvSpPr>
          <p:cNvPr id="42" name="a1wd385_td41"/>
          <p:cNvSpPr/>
          <p:nvPr/>
        </p:nvSpPr>
        <p:spPr>
          <a:xfrm>
            <a:off x="2423160" y="2871216"/>
            <a:ext cx="3794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a1wd385_tdt42"/>
          <p:cNvSpPr txBox="1"/>
          <p:nvPr/>
        </p:nvSpPr>
        <p:spPr>
          <a:xfrm>
            <a:off x="2496312" y="2871216"/>
            <a:ext cx="3685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compiler options for this module</a:t>
            </a:r>
          </a:p>
        </p:txBody>
      </p:sp>
      <p:sp>
        <p:nvSpPr>
          <p:cNvPr id="44" name="a1wd440_td43"/>
          <p:cNvSpPr/>
          <p:nvPr/>
        </p:nvSpPr>
        <p:spPr>
          <a:xfrm>
            <a:off x="2423160" y="3127248"/>
            <a:ext cx="3794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a1wd440_tdt44"/>
          <p:cNvSpPr txBox="1"/>
          <p:nvPr/>
        </p:nvSpPr>
        <p:spPr>
          <a:xfrm>
            <a:off x="2496312" y="3127248"/>
            <a:ext cx="3685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recompile when that file changes</a:t>
            </a:r>
          </a:p>
        </p:txBody>
      </p:sp>
      <p:sp>
        <p:nvSpPr>
          <p:cNvPr id="46" name="a1wd495_td45"/>
          <p:cNvSpPr/>
          <p:nvPr/>
        </p:nvSpPr>
        <p:spPr>
          <a:xfrm>
            <a:off x="2423160" y="3383280"/>
            <a:ext cx="3794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a1wd495_tdt46"/>
          <p:cNvSpPr txBox="1"/>
          <p:nvPr/>
        </p:nvSpPr>
        <p:spPr>
          <a:xfrm>
            <a:off x="2496312" y="3383280"/>
            <a:ext cx="3685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run a hook at either end</a:t>
            </a:r>
          </a:p>
        </p:txBody>
      </p:sp>
      <p:sp>
        <p:nvSpPr>
          <p:cNvPr id="48" name="a1wd550_td47"/>
          <p:cNvSpPr/>
          <p:nvPr/>
        </p:nvSpPr>
        <p:spPr>
          <a:xfrm>
            <a:off x="2423160" y="3639312"/>
            <a:ext cx="3794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a1wd550_tdt48"/>
          <p:cNvSpPr txBox="1"/>
          <p:nvPr/>
        </p:nvSpPr>
        <p:spPr>
          <a:xfrm>
            <a:off x="2496312" y="3639312"/>
            <a:ext cx="3685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run a hook per function</a:t>
            </a:r>
          </a:p>
        </p:txBody>
      </p:sp>
      <p:sp>
        <p:nvSpPr>
          <p:cNvPr id="50" name="a1wd605_td49"/>
          <p:cNvSpPr/>
          <p:nvPr/>
        </p:nvSpPr>
        <p:spPr>
          <a:xfrm>
            <a:off x="2423160" y="3895344"/>
            <a:ext cx="3794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a1wd605_tdt50"/>
          <p:cNvSpPr txBox="1"/>
          <p:nvPr/>
        </p:nvSpPr>
        <p:spPr>
          <a:xfrm>
            <a:off x="2496312" y="3895344"/>
            <a:ext cx="3685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silence or configure Dialyzer</a:t>
            </a:r>
          </a:p>
        </p:txBody>
      </p:sp>
      <p:sp>
        <p:nvSpPr>
          <p:cNvPr id="52" name="a1f_th51"/>
          <p:cNvSpPr/>
          <p:nvPr/>
        </p:nvSpPr>
        <p:spPr>
          <a:xfrm>
            <a:off x="6217920" y="1078992"/>
            <a:ext cx="2468880" cy="256032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a1f_tht52"/>
          <p:cNvSpPr txBox="1"/>
          <p:nvPr/>
        </p:nvSpPr>
        <p:spPr>
          <a:xfrm>
            <a:off x="6291072" y="1078992"/>
            <a:ext cx="23591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When</a:t>
            </a:r>
          </a:p>
        </p:txBody>
      </p:sp>
      <p:sp>
        <p:nvSpPr>
          <p:cNvPr id="54" name="a1wd55_td53"/>
          <p:cNvSpPr/>
          <p:nvPr/>
        </p:nvSpPr>
        <p:spPr>
          <a:xfrm>
            <a:off x="6217920" y="1335024"/>
            <a:ext cx="24688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a1wd55_tdt54"/>
          <p:cNvSpPr txBox="1"/>
          <p:nvPr/>
        </p:nvSpPr>
        <p:spPr>
          <a:xfrm>
            <a:off x="6291072" y="1335024"/>
            <a:ext cx="23591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always</a:t>
            </a:r>
          </a:p>
        </p:txBody>
      </p:sp>
      <p:sp>
        <p:nvSpPr>
          <p:cNvPr id="56" name="a1wd110_td55"/>
          <p:cNvSpPr/>
          <p:nvPr/>
        </p:nvSpPr>
        <p:spPr>
          <a:xfrm>
            <a:off x="6217920" y="1591056"/>
            <a:ext cx="24688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a1wd110_tdt56"/>
          <p:cNvSpPr txBox="1"/>
          <p:nvPr/>
        </p:nvSpPr>
        <p:spPr>
          <a:xfrm>
            <a:off x="6291072" y="1591056"/>
            <a:ext cx="23591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with @spec</a:t>
            </a:r>
          </a:p>
        </p:txBody>
      </p:sp>
      <p:sp>
        <p:nvSpPr>
          <p:cNvPr id="58" name="a1wd165_td57"/>
          <p:cNvSpPr/>
          <p:nvPr/>
        </p:nvSpPr>
        <p:spPr>
          <a:xfrm>
            <a:off x="6217920" y="1847088"/>
            <a:ext cx="24688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a1wd165_tdt58"/>
          <p:cNvSpPr txBox="1"/>
          <p:nvPr/>
        </p:nvSpPr>
        <p:spPr>
          <a:xfrm>
            <a:off x="6291072" y="1847088"/>
            <a:ext cx="23591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public API</a:t>
            </a:r>
          </a:p>
        </p:txBody>
      </p:sp>
      <p:sp>
        <p:nvSpPr>
          <p:cNvPr id="60" name="a1wd220_td59"/>
          <p:cNvSpPr/>
          <p:nvPr/>
        </p:nvSpPr>
        <p:spPr>
          <a:xfrm>
            <a:off x="6217920" y="2103120"/>
            <a:ext cx="24688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a1wd220_tdt60"/>
          <p:cNvSpPr txBox="1"/>
          <p:nvPr/>
        </p:nvSpPr>
        <p:spPr>
          <a:xfrm>
            <a:off x="6291072" y="2103120"/>
            <a:ext cx="23591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GenServer, plugs</a:t>
            </a:r>
          </a:p>
        </p:txBody>
      </p:sp>
      <p:sp>
        <p:nvSpPr>
          <p:cNvPr id="62" name="a1wd275_td61"/>
          <p:cNvSpPr/>
          <p:nvPr/>
        </p:nvSpPr>
        <p:spPr>
          <a:xfrm>
            <a:off x="6217920" y="2359152"/>
            <a:ext cx="24688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a1wd275_tdt62"/>
          <p:cNvSpPr txBox="1"/>
          <p:nvPr/>
        </p:nvSpPr>
        <p:spPr>
          <a:xfrm>
            <a:off x="6291072" y="2359152"/>
            <a:ext cx="23591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with defstruct</a:t>
            </a:r>
          </a:p>
        </p:txBody>
      </p:sp>
      <p:sp>
        <p:nvSpPr>
          <p:cNvPr id="64" name="a1wd330_td63"/>
          <p:cNvSpPr/>
          <p:nvPr/>
        </p:nvSpPr>
        <p:spPr>
          <a:xfrm>
            <a:off x="6217920" y="2615184"/>
            <a:ext cx="24688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a1wd330_tdt64"/>
          <p:cNvSpPr txBox="1"/>
          <p:nvPr/>
        </p:nvSpPr>
        <p:spPr>
          <a:xfrm>
            <a:off x="6291072" y="2615184"/>
            <a:ext cx="23591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Inspect, Jason</a:t>
            </a:r>
          </a:p>
        </p:txBody>
      </p:sp>
      <p:sp>
        <p:nvSpPr>
          <p:cNvPr id="66" name="a1wd385_td65"/>
          <p:cNvSpPr/>
          <p:nvPr/>
        </p:nvSpPr>
        <p:spPr>
          <a:xfrm>
            <a:off x="6217920" y="2871216"/>
            <a:ext cx="24688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a1wd385_tdt66"/>
          <p:cNvSpPr txBox="1"/>
          <p:nvPr/>
        </p:nvSpPr>
        <p:spPr>
          <a:xfrm>
            <a:off x="6291072" y="2871216"/>
            <a:ext cx="23591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{:inline, f: 1}</a:t>
            </a:r>
          </a:p>
        </p:txBody>
      </p:sp>
      <p:sp>
        <p:nvSpPr>
          <p:cNvPr id="68" name="a1wd440_td67"/>
          <p:cNvSpPr/>
          <p:nvPr/>
        </p:nvSpPr>
        <p:spPr>
          <a:xfrm>
            <a:off x="6217920" y="3127248"/>
            <a:ext cx="24688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a1wd440_tdt68"/>
          <p:cNvSpPr txBox="1"/>
          <p:nvPr/>
        </p:nvSpPr>
        <p:spPr>
          <a:xfrm>
            <a:off x="6291072" y="3127248"/>
            <a:ext cx="23591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code from data</a:t>
            </a:r>
          </a:p>
        </p:txBody>
      </p:sp>
      <p:sp>
        <p:nvSpPr>
          <p:cNvPr id="70" name="a1wd495_td69"/>
          <p:cNvSpPr/>
          <p:nvPr/>
        </p:nvSpPr>
        <p:spPr>
          <a:xfrm>
            <a:off x="6217920" y="3383280"/>
            <a:ext cx="24688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a1wd495_tdt70"/>
          <p:cNvSpPr txBox="1"/>
          <p:nvPr/>
        </p:nvSpPr>
        <p:spPr>
          <a:xfrm>
            <a:off x="6291072" y="3383280"/>
            <a:ext cx="23591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library authors</a:t>
            </a:r>
          </a:p>
        </p:txBody>
      </p:sp>
      <p:sp>
        <p:nvSpPr>
          <p:cNvPr id="72" name="a1wd550_td71"/>
          <p:cNvSpPr/>
          <p:nvPr/>
        </p:nvSpPr>
        <p:spPr>
          <a:xfrm>
            <a:off x="6217920" y="3639312"/>
            <a:ext cx="24688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a1wd550_tdt72"/>
          <p:cNvSpPr txBox="1"/>
          <p:nvPr/>
        </p:nvSpPr>
        <p:spPr>
          <a:xfrm>
            <a:off x="6291072" y="3639312"/>
            <a:ext cx="23591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library authors</a:t>
            </a:r>
          </a:p>
        </p:txBody>
      </p:sp>
      <p:sp>
        <p:nvSpPr>
          <p:cNvPr id="74" name="a1wd605_td73"/>
          <p:cNvSpPr/>
          <p:nvPr/>
        </p:nvSpPr>
        <p:spPr>
          <a:xfrm>
            <a:off x="6217920" y="3895344"/>
            <a:ext cx="24688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a1wd605_tdt74"/>
          <p:cNvSpPr txBox="1"/>
          <p:nvPr/>
        </p:nvSpPr>
        <p:spPr>
          <a:xfrm>
            <a:off x="6291072" y="3895344"/>
            <a:ext cx="23591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when it is wrong</a:t>
            </a:r>
          </a:p>
        </p:txBody>
      </p:sp>
      <p:sp>
        <p:nvSpPr>
          <p:cNvPr id="76" name="ft7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77" name="ft7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Module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Asking the compiler, mid-compile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Inside a module body, the module does not exist yet. You can still interrogate it.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25880"/>
            <a:ext cx="8229600" cy="2633472"/>
          </a:xfrm>
          <a:prstGeom prst="roundRect">
            <a:avLst>
              <a:gd name="adj" fmla="val 277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380744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probe_modules.exs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64792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defmodule AskTheCompiler do</a:t>
            </a:r>
          </a:p>
        </p:txBody>
      </p:sp>
      <p:sp>
        <p:nvSpPr>
          <p:cNvPr id="8" name="a1wd55_code7"/>
          <p:cNvSpPr txBox="1"/>
          <p:nvPr/>
        </p:nvSpPr>
        <p:spPr>
          <a:xfrm>
            <a:off x="621792" y="1933955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@tag :live</a:t>
            </a:r>
          </a:p>
        </p:txBody>
      </p:sp>
      <p:sp>
        <p:nvSpPr>
          <p:cNvPr id="9" name="a1wd110_code8"/>
          <p:cNvSpPr txBox="1"/>
          <p:nvPr/>
        </p:nvSpPr>
        <p:spPr>
          <a:xfrm>
            <a:off x="621792" y="2103120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def a, do: 1</a:t>
            </a:r>
          </a:p>
        </p:txBody>
      </p:sp>
      <p:sp>
        <p:nvSpPr>
          <p:cNvPr id="10" name="a1wd165_code9"/>
          <p:cNvSpPr txBox="1"/>
          <p:nvPr/>
        </p:nvSpPr>
        <p:spPr>
          <a:xfrm>
            <a:off x="621792" y="2272284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1" name="a1wd220_code10"/>
          <p:cNvSpPr txBox="1"/>
          <p:nvPr/>
        </p:nvSpPr>
        <p:spPr>
          <a:xfrm>
            <a:off x="621792" y="2441448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  Module.defines?(__MODULE__, {:a, 0})       #=&gt; true</a:t>
            </a:r>
          </a:p>
        </p:txBody>
      </p:sp>
      <p:sp>
        <p:nvSpPr>
          <p:cNvPr id="12" name="a1wd275_code11"/>
          <p:cNvSpPr txBox="1"/>
          <p:nvPr/>
        </p:nvSpPr>
        <p:spPr>
          <a:xfrm>
            <a:off x="621792" y="2610612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  Module.defines?(__MODULE__, {:b, 0})       #=&gt; false  (not yet)</a:t>
            </a:r>
          </a:p>
        </p:txBody>
      </p:sp>
      <p:sp>
        <p:nvSpPr>
          <p:cNvPr id="13" name="a1wd330_code12"/>
          <p:cNvSpPr txBox="1"/>
          <p:nvPr/>
        </p:nvSpPr>
        <p:spPr>
          <a:xfrm>
            <a:off x="621792" y="2779776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  Module.get_attribute(__MODULE__, :tag)     #=&gt; :live</a:t>
            </a:r>
          </a:p>
        </p:txBody>
      </p:sp>
      <p:sp>
        <p:nvSpPr>
          <p:cNvPr id="14" name="a1wd385_code13"/>
          <p:cNvSpPr txBox="1"/>
          <p:nvPr/>
        </p:nvSpPr>
        <p:spPr>
          <a:xfrm>
            <a:off x="621792" y="2948939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Module.put_attribute(__MODULE__, :tag, :changed)</a:t>
            </a:r>
          </a:p>
        </p:txBody>
      </p:sp>
      <p:sp>
        <p:nvSpPr>
          <p:cNvPr id="15" name="a1wd440_code14"/>
          <p:cNvSpPr txBox="1"/>
          <p:nvPr/>
        </p:nvSpPr>
        <p:spPr>
          <a:xfrm>
            <a:off x="621792" y="3118104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  Module.get_attribute(__MODULE__, :tag)     #=&gt; :changed</a:t>
            </a:r>
          </a:p>
        </p:txBody>
      </p:sp>
      <p:sp>
        <p:nvSpPr>
          <p:cNvPr id="16" name="a1wd495_code15"/>
          <p:cNvSpPr txBox="1"/>
          <p:nvPr/>
        </p:nvSpPr>
        <p:spPr>
          <a:xfrm>
            <a:off x="621792" y="3287268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a1wd550_code16"/>
          <p:cNvSpPr txBox="1"/>
          <p:nvPr/>
        </p:nvSpPr>
        <p:spPr>
          <a:xfrm>
            <a:off x="621792" y="3456432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def b, do: 2</a:t>
            </a:r>
          </a:p>
        </p:txBody>
      </p:sp>
      <p:sp>
        <p:nvSpPr>
          <p:cNvPr id="18" name="a1wd605_code17"/>
          <p:cNvSpPr txBox="1"/>
          <p:nvPr/>
        </p:nvSpPr>
        <p:spPr>
          <a:xfrm>
            <a:off x="621792" y="3625596"/>
            <a:ext cx="7900416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9" name="a2f_nb18"/>
          <p:cNvSpPr/>
          <p:nvPr/>
        </p:nvSpPr>
        <p:spPr>
          <a:xfrm>
            <a:off x="457200" y="4069080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a2f_nacc19"/>
          <p:cNvSpPr/>
          <p:nvPr/>
        </p:nvSpPr>
        <p:spPr>
          <a:xfrm>
            <a:off x="457200" y="4069080"/>
            <a:ext cx="50292" cy="512064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a2f_nt20"/>
          <p:cNvSpPr txBox="1"/>
          <p:nvPr/>
        </p:nvSpPr>
        <p:spPr>
          <a:xfrm>
            <a:off x="658368" y="4069080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And Module.create/3 builds a module from quoted code with no source file at all — which is how a library turns a schema, a spec file or a database table into working modules at compile time.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23" name="ft2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AT RUN TIME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Where a module lives once it is compiled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One module, one .beam file, named after the atom — not after your source file.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44168"/>
            <a:ext cx="8229600" cy="1892807"/>
          </a:xfrm>
          <a:prstGeom prst="roundRect">
            <a:avLst>
              <a:gd name="adj" fmla="val 386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_codeh5"/>
          <p:cNvSpPr txBox="1"/>
          <p:nvPr/>
        </p:nvSpPr>
        <p:spPr>
          <a:xfrm>
            <a:off x="621792" y="1399032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probe_modules.exs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83080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:code.which(Enum)</a:t>
            </a:r>
          </a:p>
        </p:txBody>
      </p:sp>
      <p:sp>
        <p:nvSpPr>
          <p:cNvPr id="8" name="a1wd80_code7"/>
          <p:cNvSpPr txBox="1"/>
          <p:nvPr/>
        </p:nvSpPr>
        <p:spPr>
          <a:xfrm>
            <a:off x="621792" y="1997964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#=&gt; ~c"c:/Program Files/Elixir/bin/../lib/elixir/ebin/Elixir.Enum.beam"</a:t>
            </a:r>
          </a:p>
        </p:txBody>
      </p:sp>
      <p:sp>
        <p:nvSpPr>
          <p:cNvPr id="9" name="a1wd160_code8"/>
          <p:cNvSpPr txBox="1"/>
          <p:nvPr/>
        </p:nvSpPr>
        <p:spPr>
          <a:xfrm>
            <a:off x="621792" y="2212848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" name="a1wd240_code9"/>
          <p:cNvSpPr txBox="1"/>
          <p:nvPr/>
        </p:nvSpPr>
        <p:spPr>
          <a:xfrm>
            <a:off x="621792" y="2427732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:code.which(Introspect)   #=&gt; []        compiled in memory, no file</a:t>
            </a:r>
          </a:p>
        </p:txBody>
      </p:sp>
      <p:sp>
        <p:nvSpPr>
          <p:cNvPr id="11" name="a1wd320_code10"/>
          <p:cNvSpPr txBox="1"/>
          <p:nvPr/>
        </p:nvSpPr>
        <p:spPr>
          <a:xfrm>
            <a:off x="621792" y="2642615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Code.ensure_loaded?(Enum) #=&gt; true</a:t>
            </a:r>
          </a:p>
        </p:txBody>
      </p:sp>
      <p:sp>
        <p:nvSpPr>
          <p:cNvPr id="12" name="a1wd400_code11"/>
          <p:cNvSpPr txBox="1"/>
          <p:nvPr/>
        </p:nvSpPr>
        <p:spPr>
          <a:xfrm>
            <a:off x="621792" y="2857500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length(:code.all_loaded()) #=&gt; 252 modules loaded in this VM</a:t>
            </a:r>
          </a:p>
        </p:txBody>
      </p:sp>
      <p:sp>
        <p:nvSpPr>
          <p:cNvPr id="13" name="a2u_dot12"/>
          <p:cNvSpPr/>
          <p:nvPr/>
        </p:nvSpPr>
        <p:spPr>
          <a:xfrm>
            <a:off x="457200" y="346557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a2u_b13"/>
          <p:cNvSpPr txBox="1"/>
          <p:nvPr/>
        </p:nvSpPr>
        <p:spPr>
          <a:xfrm>
            <a:off x="676656" y="3364992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accounts.ex holding Outer and Outer.Inner produces TWO files  </a:t>
            </a:r>
            <a:r>
              <a:rPr sz="1100" b="0">
                <a:solidFill>
                  <a:srgbClr val="334155"/>
                </a:solidFill>
                <a:latin typeface="Calibri"/>
              </a:rPr>
              <a:t>Elixir.Outer.beam and Elixir.Outer.Inner.beam</a:t>
            </a:r>
          </a:p>
        </p:txBody>
      </p:sp>
      <p:sp>
        <p:nvSpPr>
          <p:cNvPr id="15" name="a2ud180_dot14"/>
          <p:cNvSpPr/>
          <p:nvPr/>
        </p:nvSpPr>
        <p:spPr>
          <a:xfrm>
            <a:off x="457200" y="392277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2ud180_b15"/>
          <p:cNvSpPr txBox="1"/>
          <p:nvPr/>
        </p:nvSpPr>
        <p:spPr>
          <a:xfrm>
            <a:off x="676656" y="3822192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The convention is one module per file  </a:t>
            </a:r>
            <a:r>
              <a:rPr sz="1100" b="0">
                <a:solidFill>
                  <a:srgbClr val="334155"/>
                </a:solidFill>
                <a:latin typeface="Calibri"/>
              </a:rPr>
              <a:t>lib/my_app/accounts/user.ex for MyApp.Accounts.User — Mix expects it</a:t>
            </a:r>
          </a:p>
        </p:txBody>
      </p:sp>
      <p:sp>
        <p:nvSpPr>
          <p:cNvPr id="17" name="a2ud360_dot16"/>
          <p:cNvSpPr/>
          <p:nvPr/>
        </p:nvSpPr>
        <p:spPr>
          <a:xfrm>
            <a:off x="457200" y="437997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a2ud360_b17"/>
          <p:cNvSpPr txBox="1"/>
          <p:nvPr/>
        </p:nvSpPr>
        <p:spPr>
          <a:xfrm>
            <a:off x="676656" y="4279392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A module is loaded on first use  </a:t>
            </a:r>
            <a:r>
              <a:rPr sz="1100" b="0">
                <a:solidFill>
                  <a:srgbClr val="334155"/>
                </a:solidFill>
                <a:latin typeface="Calibri"/>
              </a:rPr>
              <a:t>and can be replaced while the node runs, which is what hot upgrades are</a:t>
            </a:r>
          </a:p>
        </p:txBody>
      </p:sp>
      <p:sp>
        <p:nvSpPr>
          <p:cNvPr id="19" name="ft1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20" name="ft1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COMMON MISTAKES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goes wrong, and what it looks like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078992"/>
            <a:ext cx="2651760" cy="365760"/>
          </a:xfrm>
          <a:prstGeom prst="rect">
            <a:avLst/>
          </a:prstGeom>
          <a:solidFill>
            <a:srgbClr val="7A0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f_tht4"/>
          <p:cNvSpPr txBox="1"/>
          <p:nvPr/>
        </p:nvSpPr>
        <p:spPr>
          <a:xfrm>
            <a:off x="530352" y="1078992"/>
            <a:ext cx="25420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You wrote</a:t>
            </a:r>
          </a:p>
        </p:txBody>
      </p:sp>
      <p:sp>
        <p:nvSpPr>
          <p:cNvPr id="6" name="a1wd70_td5"/>
          <p:cNvSpPr/>
          <p:nvPr/>
        </p:nvSpPr>
        <p:spPr>
          <a:xfrm>
            <a:off x="457200" y="1444752"/>
            <a:ext cx="2651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a1wd70_tdt6"/>
          <p:cNvSpPr txBox="1"/>
          <p:nvPr/>
        </p:nvSpPr>
        <p:spPr>
          <a:xfrm>
            <a:off x="530352" y="1444752"/>
            <a:ext cx="25420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Integer.is_odd(x), no require</a:t>
            </a:r>
          </a:p>
        </p:txBody>
      </p:sp>
      <p:sp>
        <p:nvSpPr>
          <p:cNvPr id="8" name="a1wd140_td7"/>
          <p:cNvSpPr/>
          <p:nvPr/>
        </p:nvSpPr>
        <p:spPr>
          <a:xfrm>
            <a:off x="457200" y="1810512"/>
            <a:ext cx="2651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a1wd140_tdt8"/>
          <p:cNvSpPr txBox="1"/>
          <p:nvPr/>
        </p:nvSpPr>
        <p:spPr>
          <a:xfrm>
            <a:off x="530352" y="1810512"/>
            <a:ext cx="25420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def length(x)</a:t>
            </a:r>
          </a:p>
        </p:txBody>
      </p:sp>
      <p:sp>
        <p:nvSpPr>
          <p:cNvPr id="10" name="a1wd210_td9"/>
          <p:cNvSpPr/>
          <p:nvPr/>
        </p:nvSpPr>
        <p:spPr>
          <a:xfrm>
            <a:off x="457200" y="2176272"/>
            <a:ext cx="2651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a1wd210_tdt10"/>
          <p:cNvSpPr txBox="1"/>
          <p:nvPr/>
        </p:nvSpPr>
        <p:spPr>
          <a:xfrm>
            <a:off x="530352" y="2176272"/>
            <a:ext cx="25420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@now DateTime.utc_now()</a:t>
            </a:r>
          </a:p>
        </p:txBody>
      </p:sp>
      <p:sp>
        <p:nvSpPr>
          <p:cNvPr id="12" name="a1wd280_td11"/>
          <p:cNvSpPr/>
          <p:nvPr/>
        </p:nvSpPr>
        <p:spPr>
          <a:xfrm>
            <a:off x="457200" y="2542032"/>
            <a:ext cx="2651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a1wd280_tdt12"/>
          <p:cNvSpPr txBox="1"/>
          <p:nvPr/>
        </p:nvSpPr>
        <p:spPr>
          <a:xfrm>
            <a:off x="530352" y="2542032"/>
            <a:ext cx="25420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alias A.Helper then alias B.Helper</a:t>
            </a:r>
          </a:p>
        </p:txBody>
      </p:sp>
      <p:sp>
        <p:nvSpPr>
          <p:cNvPr id="14" name="a1wd350_td13"/>
          <p:cNvSpPr/>
          <p:nvPr/>
        </p:nvSpPr>
        <p:spPr>
          <a:xfrm>
            <a:off x="457200" y="2907791"/>
            <a:ext cx="2651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a1wd350_tdt14"/>
          <p:cNvSpPr txBox="1"/>
          <p:nvPr/>
        </p:nvSpPr>
        <p:spPr>
          <a:xfrm>
            <a:off x="530352" y="2907791"/>
            <a:ext cx="25420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@behaviour with a callback missing</a:t>
            </a:r>
          </a:p>
        </p:txBody>
      </p:sp>
      <p:sp>
        <p:nvSpPr>
          <p:cNvPr id="16" name="a1wd420_td15"/>
          <p:cNvSpPr/>
          <p:nvPr/>
        </p:nvSpPr>
        <p:spPr>
          <a:xfrm>
            <a:off x="457200" y="3273552"/>
            <a:ext cx="2651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a1wd420_tdt16"/>
          <p:cNvSpPr txBox="1"/>
          <p:nvPr/>
        </p:nvSpPr>
        <p:spPr>
          <a:xfrm>
            <a:off x="530352" y="3273552"/>
            <a:ext cx="25420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@doc on a private function</a:t>
            </a:r>
          </a:p>
        </p:txBody>
      </p:sp>
      <p:sp>
        <p:nvSpPr>
          <p:cNvPr id="18" name="a1wd490_td17"/>
          <p:cNvSpPr/>
          <p:nvPr/>
        </p:nvSpPr>
        <p:spPr>
          <a:xfrm>
            <a:off x="457200" y="3639312"/>
            <a:ext cx="2651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1wd490_tdt18"/>
          <p:cNvSpPr txBox="1"/>
          <p:nvPr/>
        </p:nvSpPr>
        <p:spPr>
          <a:xfrm>
            <a:off x="530352" y="3639312"/>
            <a:ext cx="25420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Code.fetch_docs on a script module</a:t>
            </a:r>
          </a:p>
        </p:txBody>
      </p:sp>
      <p:sp>
        <p:nvSpPr>
          <p:cNvPr id="20" name="a1f_th19"/>
          <p:cNvSpPr/>
          <p:nvPr/>
        </p:nvSpPr>
        <p:spPr>
          <a:xfrm>
            <a:off x="3108960" y="1078992"/>
            <a:ext cx="2971800" cy="365760"/>
          </a:xfrm>
          <a:prstGeom prst="rect">
            <a:avLst/>
          </a:prstGeom>
          <a:solidFill>
            <a:srgbClr val="7A0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a1f_tht20"/>
          <p:cNvSpPr txBox="1"/>
          <p:nvPr/>
        </p:nvSpPr>
        <p:spPr>
          <a:xfrm>
            <a:off x="3182112" y="1078992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You get</a:t>
            </a:r>
          </a:p>
        </p:txBody>
      </p:sp>
      <p:sp>
        <p:nvSpPr>
          <p:cNvPr id="22" name="a1wd70_td21"/>
          <p:cNvSpPr/>
          <p:nvPr/>
        </p:nvSpPr>
        <p:spPr>
          <a:xfrm>
            <a:off x="3108960" y="1444752"/>
            <a:ext cx="2971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a1wd70_tdt22"/>
          <p:cNvSpPr txBox="1"/>
          <p:nvPr/>
        </p:nvSpPr>
        <p:spPr>
          <a:xfrm>
            <a:off x="3182112" y="1444752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warning: ...is undefined or private. However, there is a macro</a:t>
            </a:r>
          </a:p>
        </p:txBody>
      </p:sp>
      <p:sp>
        <p:nvSpPr>
          <p:cNvPr id="24" name="a1wd140_td23"/>
          <p:cNvSpPr/>
          <p:nvPr/>
        </p:nvSpPr>
        <p:spPr>
          <a:xfrm>
            <a:off x="3108960" y="1810512"/>
            <a:ext cx="2971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a1wd140_tdt24"/>
          <p:cNvSpPr txBox="1"/>
          <p:nvPr/>
        </p:nvSpPr>
        <p:spPr>
          <a:xfrm>
            <a:off x="3182112" y="1810512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error: imported Kernel.length/1 conflicts with local function</a:t>
            </a:r>
          </a:p>
        </p:txBody>
      </p:sp>
      <p:sp>
        <p:nvSpPr>
          <p:cNvPr id="26" name="a1wd210_td25"/>
          <p:cNvSpPr/>
          <p:nvPr/>
        </p:nvSpPr>
        <p:spPr>
          <a:xfrm>
            <a:off x="3108960" y="2176272"/>
            <a:ext cx="2971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a1wd210_tdt26"/>
          <p:cNvSpPr txBox="1"/>
          <p:nvPr/>
        </p:nvSpPr>
        <p:spPr>
          <a:xfrm>
            <a:off x="3182112" y="2176272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the same timestamp for the life of the release</a:t>
            </a:r>
          </a:p>
        </p:txBody>
      </p:sp>
      <p:sp>
        <p:nvSpPr>
          <p:cNvPr id="28" name="a1wd280_td27"/>
          <p:cNvSpPr/>
          <p:nvPr/>
        </p:nvSpPr>
        <p:spPr>
          <a:xfrm>
            <a:off x="3108960" y="2542032"/>
            <a:ext cx="2971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a1wd280_tdt28"/>
          <p:cNvSpPr txBox="1"/>
          <p:nvPr/>
        </p:nvSpPr>
        <p:spPr>
          <a:xfrm>
            <a:off x="3182112" y="2542032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the second one wins, silently</a:t>
            </a:r>
          </a:p>
        </p:txBody>
      </p:sp>
      <p:sp>
        <p:nvSpPr>
          <p:cNvPr id="30" name="a1wd350_td29"/>
          <p:cNvSpPr/>
          <p:nvPr/>
        </p:nvSpPr>
        <p:spPr>
          <a:xfrm>
            <a:off x="3108960" y="2907791"/>
            <a:ext cx="2971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a1wd350_tdt30"/>
          <p:cNvSpPr txBox="1"/>
          <p:nvPr/>
        </p:nvSpPr>
        <p:spPr>
          <a:xfrm>
            <a:off x="3182112" y="2907791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warning: function name/0 required by behaviour...</a:t>
            </a:r>
          </a:p>
        </p:txBody>
      </p:sp>
      <p:sp>
        <p:nvSpPr>
          <p:cNvPr id="32" name="a1wd420_td31"/>
          <p:cNvSpPr/>
          <p:nvPr/>
        </p:nvSpPr>
        <p:spPr>
          <a:xfrm>
            <a:off x="3108960" y="3273552"/>
            <a:ext cx="2971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a1wd420_tdt32"/>
          <p:cNvSpPr txBox="1"/>
          <p:nvPr/>
        </p:nvSpPr>
        <p:spPr>
          <a:xfrm>
            <a:off x="3182112" y="3273552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warning: defp ... is private, @doc attribute is always discarded</a:t>
            </a:r>
          </a:p>
        </p:txBody>
      </p:sp>
      <p:sp>
        <p:nvSpPr>
          <p:cNvPr id="34" name="a1wd490_td33"/>
          <p:cNvSpPr/>
          <p:nvPr/>
        </p:nvSpPr>
        <p:spPr>
          <a:xfrm>
            <a:off x="3108960" y="3639312"/>
            <a:ext cx="2971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a1wd490_tdt34"/>
          <p:cNvSpPr txBox="1"/>
          <p:nvPr/>
        </p:nvSpPr>
        <p:spPr>
          <a:xfrm>
            <a:off x="3182112" y="3639312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{:error, :module_not_found}</a:t>
            </a:r>
          </a:p>
        </p:txBody>
      </p:sp>
      <p:sp>
        <p:nvSpPr>
          <p:cNvPr id="36" name="a1f_th35"/>
          <p:cNvSpPr/>
          <p:nvPr/>
        </p:nvSpPr>
        <p:spPr>
          <a:xfrm>
            <a:off x="6080760" y="1078992"/>
            <a:ext cx="2606040" cy="365760"/>
          </a:xfrm>
          <a:prstGeom prst="rect">
            <a:avLst/>
          </a:prstGeom>
          <a:solidFill>
            <a:srgbClr val="7A0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a1f_tht36"/>
          <p:cNvSpPr txBox="1"/>
          <p:nvPr/>
        </p:nvSpPr>
        <p:spPr>
          <a:xfrm>
            <a:off x="6153912" y="1078992"/>
            <a:ext cx="24963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Fix</a:t>
            </a:r>
          </a:p>
        </p:txBody>
      </p:sp>
      <p:sp>
        <p:nvSpPr>
          <p:cNvPr id="38" name="a1wd70_td37"/>
          <p:cNvSpPr/>
          <p:nvPr/>
        </p:nvSpPr>
        <p:spPr>
          <a:xfrm>
            <a:off x="6080760" y="1444752"/>
            <a:ext cx="2606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a1wd70_tdt38"/>
          <p:cNvSpPr txBox="1"/>
          <p:nvPr/>
        </p:nvSpPr>
        <p:spPr>
          <a:xfrm>
            <a:off x="6153912" y="1444752"/>
            <a:ext cx="24963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require Integer</a:t>
            </a:r>
          </a:p>
        </p:txBody>
      </p:sp>
      <p:sp>
        <p:nvSpPr>
          <p:cNvPr id="40" name="a1wd140_td39"/>
          <p:cNvSpPr/>
          <p:nvPr/>
        </p:nvSpPr>
        <p:spPr>
          <a:xfrm>
            <a:off x="6080760" y="1810512"/>
            <a:ext cx="2606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a1wd140_tdt40"/>
          <p:cNvSpPr txBox="1"/>
          <p:nvPr/>
        </p:nvSpPr>
        <p:spPr>
          <a:xfrm>
            <a:off x="6153912" y="1810512"/>
            <a:ext cx="24963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import Kernel, except: [length: 1]</a:t>
            </a:r>
          </a:p>
        </p:txBody>
      </p:sp>
      <p:sp>
        <p:nvSpPr>
          <p:cNvPr id="42" name="a1wd210_td41"/>
          <p:cNvSpPr/>
          <p:nvPr/>
        </p:nvSpPr>
        <p:spPr>
          <a:xfrm>
            <a:off x="6080760" y="2176272"/>
            <a:ext cx="2606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a1wd210_tdt42"/>
          <p:cNvSpPr txBox="1"/>
          <p:nvPr/>
        </p:nvSpPr>
        <p:spPr>
          <a:xfrm>
            <a:off x="6153912" y="2176272"/>
            <a:ext cx="24963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make it a function</a:t>
            </a:r>
          </a:p>
        </p:txBody>
      </p:sp>
      <p:sp>
        <p:nvSpPr>
          <p:cNvPr id="44" name="a1wd280_td43"/>
          <p:cNvSpPr/>
          <p:nvPr/>
        </p:nvSpPr>
        <p:spPr>
          <a:xfrm>
            <a:off x="6080760" y="2542032"/>
            <a:ext cx="2606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a1wd280_tdt44"/>
          <p:cNvSpPr txBox="1"/>
          <p:nvPr/>
        </p:nvSpPr>
        <p:spPr>
          <a:xfrm>
            <a:off x="6153912" y="2542032"/>
            <a:ext cx="24963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use as: on one of them</a:t>
            </a:r>
          </a:p>
        </p:txBody>
      </p:sp>
      <p:sp>
        <p:nvSpPr>
          <p:cNvPr id="46" name="a1wd350_td45"/>
          <p:cNvSpPr/>
          <p:nvPr/>
        </p:nvSpPr>
        <p:spPr>
          <a:xfrm>
            <a:off x="6080760" y="2907791"/>
            <a:ext cx="2606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a1wd350_tdt46"/>
          <p:cNvSpPr txBox="1"/>
          <p:nvPr/>
        </p:nvSpPr>
        <p:spPr>
          <a:xfrm>
            <a:off x="6153912" y="2907791"/>
            <a:ext cx="24963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implement it, or drop @behaviour</a:t>
            </a:r>
          </a:p>
        </p:txBody>
      </p:sp>
      <p:sp>
        <p:nvSpPr>
          <p:cNvPr id="48" name="a1wd420_td47"/>
          <p:cNvSpPr/>
          <p:nvPr/>
        </p:nvSpPr>
        <p:spPr>
          <a:xfrm>
            <a:off x="6080760" y="3273552"/>
            <a:ext cx="2606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a1wd420_tdt48"/>
          <p:cNvSpPr txBox="1"/>
          <p:nvPr/>
        </p:nvSpPr>
        <p:spPr>
          <a:xfrm>
            <a:off x="6153912" y="3273552"/>
            <a:ext cx="24963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use a # comment</a:t>
            </a:r>
          </a:p>
        </p:txBody>
      </p:sp>
      <p:sp>
        <p:nvSpPr>
          <p:cNvPr id="50" name="a1wd490_td49"/>
          <p:cNvSpPr/>
          <p:nvPr/>
        </p:nvSpPr>
        <p:spPr>
          <a:xfrm>
            <a:off x="6080760" y="3639312"/>
            <a:ext cx="2606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a1wd490_tdt50"/>
          <p:cNvSpPr txBox="1"/>
          <p:nvPr/>
        </p:nvSpPr>
        <p:spPr>
          <a:xfrm>
            <a:off x="6153912" y="3639312"/>
            <a:ext cx="24963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compile it to a .beam</a:t>
            </a:r>
          </a:p>
        </p:txBody>
      </p:sp>
      <p:sp>
        <p:nvSpPr>
          <p:cNvPr id="52" name="ft5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warning and value on these slides is measured output</a:t>
            </a:r>
          </a:p>
        </p:txBody>
      </p:sp>
      <p:sp>
        <p:nvSpPr>
          <p:cNvPr id="53" name="ft5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f_h1"/>
          <p:cNvSpPr txBox="1"/>
          <p:nvPr/>
        </p:nvSpPr>
        <p:spPr>
          <a:xfrm>
            <a:off x="548640" y="384048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to take away</a:t>
            </a:r>
          </a:p>
        </p:txBody>
      </p:sp>
      <p:sp>
        <p:nvSpPr>
          <p:cNvPr id="3" name="a1u_n2"/>
          <p:cNvSpPr/>
          <p:nvPr/>
        </p:nvSpPr>
        <p:spPr>
          <a:xfrm>
            <a:off x="548640" y="12984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a1u_nt3"/>
          <p:cNvSpPr txBox="1"/>
          <p:nvPr/>
        </p:nvSpPr>
        <p:spPr>
          <a:xfrm>
            <a:off x="548640" y="129844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a1u_nb4"/>
          <p:cNvSpPr txBox="1"/>
          <p:nvPr/>
        </p:nvSpPr>
        <p:spPr>
          <a:xfrm>
            <a:off x="1152144" y="1252728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defmodule is a macro, and its body runs at compile time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which is why an attribute can be frozen and a module can be generated</a:t>
            </a:r>
          </a:p>
        </p:txBody>
      </p:sp>
      <p:sp>
        <p:nvSpPr>
          <p:cNvPr id="6" name="a1ud200_n5"/>
          <p:cNvSpPr/>
          <p:nvPr/>
        </p:nvSpPr>
        <p:spPr>
          <a:xfrm>
            <a:off x="548640" y="204825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a1ud200_nt6"/>
          <p:cNvSpPr txBox="1"/>
          <p:nvPr/>
        </p:nvSpPr>
        <p:spPr>
          <a:xfrm>
            <a:off x="548640" y="2048255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a1ud200_nb7"/>
          <p:cNvSpPr txBox="1"/>
          <p:nvPr/>
        </p:nvSpPr>
        <p:spPr>
          <a:xfrm>
            <a:off x="1152144" y="2002536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 module name is an atom; nesting is only a prefix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Outer.Inner is one flat name and one separate .beam file</a:t>
            </a:r>
          </a:p>
        </p:txBody>
      </p:sp>
      <p:sp>
        <p:nvSpPr>
          <p:cNvPr id="9" name="a1ud400_n8"/>
          <p:cNvSpPr/>
          <p:nvPr/>
        </p:nvSpPr>
        <p:spPr>
          <a:xfrm>
            <a:off x="548640" y="279806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a1ud400_nt9"/>
          <p:cNvSpPr txBox="1"/>
          <p:nvPr/>
        </p:nvSpPr>
        <p:spPr>
          <a:xfrm>
            <a:off x="548640" y="2798063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a1ud400_nb10"/>
          <p:cNvSpPr txBox="1"/>
          <p:nvPr/>
        </p:nvSpPr>
        <p:spPr>
          <a:xfrm>
            <a:off x="1152144" y="2752344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Reach for the weakest directive that works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nothing, then alias, then require; import and use hide where a name came from</a:t>
            </a:r>
          </a:p>
        </p:txBody>
      </p:sp>
      <p:sp>
        <p:nvSpPr>
          <p:cNvPr id="12" name="a1ud600_n11"/>
          <p:cNvSpPr/>
          <p:nvPr/>
        </p:nvSpPr>
        <p:spPr>
          <a:xfrm>
            <a:off x="548640" y="3547871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a1ud600_nt12"/>
          <p:cNvSpPr txBox="1"/>
          <p:nvPr/>
        </p:nvSpPr>
        <p:spPr>
          <a:xfrm>
            <a:off x="548640" y="3547871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a1ud600_nb13"/>
          <p:cNvSpPr txBox="1"/>
          <p:nvPr/>
        </p:nvSpPr>
        <p:spPr>
          <a:xfrm>
            <a:off x="1152144" y="3502151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An attribute is compile-time data with four jobs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constant, documentation, contract, compiler directive — and it is gone by run time</a:t>
            </a:r>
          </a:p>
        </p:txBody>
      </p:sp>
      <p:sp>
        <p:nvSpPr>
          <p:cNvPr id="15" name="a2u_next14"/>
          <p:cNvSpPr/>
          <p:nvPr/>
        </p:nvSpPr>
        <p:spPr>
          <a:xfrm>
            <a:off x="6172200" y="3246120"/>
            <a:ext cx="2514600" cy="1005840"/>
          </a:xfrm>
          <a:prstGeom prst="roundRect">
            <a:avLst>
              <a:gd name="adj" fmla="val 909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2u_nextt15"/>
          <p:cNvSpPr txBox="1"/>
          <p:nvPr/>
        </p:nvSpPr>
        <p:spPr>
          <a:xfrm>
            <a:off x="6355080" y="3364992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spc="220">
                <a:solidFill>
                  <a:srgbClr val="9B72CF"/>
                </a:solidFill>
                <a:latin typeface="Calibri"/>
              </a:rPr>
              <a:t>UP NEXT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Session 7 — functions:
clauses, arity, defaults,
captures and closures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6338</Words>
  <Application>Microsoft Office PowerPoint</Application>
  <PresentationFormat>On-screen Show (16:9)</PresentationFormat>
  <Paragraphs>811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Subramanian Murugan</cp:lastModifiedBy>
  <cp:revision>2</cp:revision>
  <dcterms:created xsi:type="dcterms:W3CDTF">2013-01-27T09:14:16Z</dcterms:created>
  <dcterms:modified xsi:type="dcterms:W3CDTF">2026-09-24T14:01:02Z</dcterms:modified>
  <cp:category/>
</cp:coreProperties>
</file>