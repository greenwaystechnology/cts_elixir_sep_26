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9B72CF"/>
                </a:solidFill>
                <a:latin typeface="Calibri"/>
              </a:rPr>
              <a:t>ELIXIR · METAPROGRAMMING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Macros &amp;
Metaprogramming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Code that writes code — and the DSLs built on it.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quote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unquote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defmacro</a:t>
            </a:r>
          </a:p>
        </p:txBody>
      </p:sp>
      <p:sp>
        <p:nvSpPr>
          <p:cNvPr id="8" name="a0ud1250_pill7"/>
          <p:cNvSpPr/>
          <p:nvPr/>
        </p:nvSpPr>
        <p:spPr>
          <a:xfrm>
            <a:off x="3621024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DSL</a:t>
            </a:r>
          </a:p>
        </p:txBody>
      </p:sp>
      <p:sp>
        <p:nvSpPr>
          <p:cNvPr id="9" name="a0fd1400_nt8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Four worked examples: log · defgetter · my_unless · an HTML builder</a:t>
            </a:r>
          </a:p>
        </p:txBody>
      </p:sp>
      <p:sp>
        <p:nvSpPr>
          <p:cNvPr id="10" name="a0ud1000_stg9"/>
          <p:cNvSpPr/>
          <p:nvPr/>
        </p:nvSpPr>
        <p:spPr>
          <a:xfrm>
            <a:off x="6172200" y="1097280"/>
            <a:ext cx="25146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9B7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0ud1000_stgt10"/>
          <p:cNvSpPr txBox="1"/>
          <p:nvPr/>
        </p:nvSpPr>
        <p:spPr>
          <a:xfrm>
            <a:off x="6217920" y="10972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urier New"/>
              </a:rPr>
              <a:t>{:+, meta, args}</a:t>
            </a:r>
          </a:p>
        </p:txBody>
      </p:sp>
      <p:cxnSp>
        <p:nvCxnSpPr>
          <p:cNvPr id="12" name="a0ud1250_ln11"/>
          <p:cNvCxnSpPr/>
          <p:nvPr/>
        </p:nvCxnSpPr>
        <p:spPr>
          <a:xfrm flipH="1">
            <a:off x="6812280" y="1554480"/>
            <a:ext cx="617220" cy="685800"/>
          </a:xfrm>
          <a:prstGeom prst="line">
            <a:avLst/>
          </a:prstGeom>
          <a:ln w="158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0ud1250_stg12"/>
          <p:cNvSpPr/>
          <p:nvPr/>
        </p:nvSpPr>
        <p:spPr>
          <a:xfrm>
            <a:off x="6492240" y="2240280"/>
            <a:ext cx="640080" cy="420624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0ud1250_stgt13"/>
          <p:cNvSpPr txBox="1"/>
          <p:nvPr/>
        </p:nvSpPr>
        <p:spPr>
          <a:xfrm>
            <a:off x="6537960" y="2240280"/>
            <a:ext cx="5486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E2E8F0"/>
                </a:solidFill>
                <a:latin typeface="Courier New"/>
              </a:rPr>
              <a:t>1</a:t>
            </a:r>
          </a:p>
        </p:txBody>
      </p:sp>
      <p:cxnSp>
        <p:nvCxnSpPr>
          <p:cNvPr id="15" name="a0ud1400_ln14"/>
          <p:cNvCxnSpPr/>
          <p:nvPr/>
        </p:nvCxnSpPr>
        <p:spPr>
          <a:xfrm>
            <a:off x="7429500" y="1554480"/>
            <a:ext cx="617220" cy="685800"/>
          </a:xfrm>
          <a:prstGeom prst="line">
            <a:avLst/>
          </a:prstGeom>
          <a:ln w="158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0ud1400_stg15"/>
          <p:cNvSpPr/>
          <p:nvPr/>
        </p:nvSpPr>
        <p:spPr>
          <a:xfrm>
            <a:off x="7726680" y="2240280"/>
            <a:ext cx="640080" cy="420624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0ud1400_stgt16"/>
          <p:cNvSpPr txBox="1"/>
          <p:nvPr/>
        </p:nvSpPr>
        <p:spPr>
          <a:xfrm>
            <a:off x="7772400" y="2240280"/>
            <a:ext cx="5486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E2E8F0"/>
                </a:solidFill>
                <a:latin typeface="Courier New"/>
              </a:rPr>
              <a:t>5</a:t>
            </a:r>
          </a:p>
        </p:txBody>
      </p:sp>
      <p:sp>
        <p:nvSpPr>
          <p:cNvPr id="18" name="a0fd1600_cap17"/>
          <p:cNvSpPr txBox="1"/>
          <p:nvPr/>
        </p:nvSpPr>
        <p:spPr>
          <a:xfrm>
            <a:off x="6172200" y="28346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ourier New"/>
              </a:rPr>
              <a:t>quote(do: 1 + unquote(x))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Courier New"/>
              </a:rPr>
              <a:t>with x = 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ROADMAP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we cover today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97280"/>
            <a:ext cx="457200" cy="3063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97280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#</a:t>
            </a:r>
          </a:p>
        </p:txBody>
      </p:sp>
      <p:sp>
        <p:nvSpPr>
          <p:cNvPr id="6" name="a1wd90_td5"/>
          <p:cNvSpPr/>
          <p:nvPr/>
        </p:nvSpPr>
        <p:spPr>
          <a:xfrm>
            <a:off x="457200" y="1403604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90_tdt6"/>
          <p:cNvSpPr txBox="1"/>
          <p:nvPr/>
        </p:nvSpPr>
        <p:spPr>
          <a:xfrm>
            <a:off x="530352" y="1403604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01</a:t>
            </a:r>
          </a:p>
        </p:txBody>
      </p:sp>
      <p:sp>
        <p:nvSpPr>
          <p:cNvPr id="8" name="a1wd180_td7"/>
          <p:cNvSpPr/>
          <p:nvPr/>
        </p:nvSpPr>
        <p:spPr>
          <a:xfrm>
            <a:off x="457200" y="1709928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80_tdt8"/>
          <p:cNvSpPr txBox="1"/>
          <p:nvPr/>
        </p:nvSpPr>
        <p:spPr>
          <a:xfrm>
            <a:off x="530352" y="1709928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02</a:t>
            </a:r>
          </a:p>
        </p:txBody>
      </p:sp>
      <p:sp>
        <p:nvSpPr>
          <p:cNvPr id="10" name="a1wd270_td9"/>
          <p:cNvSpPr/>
          <p:nvPr/>
        </p:nvSpPr>
        <p:spPr>
          <a:xfrm>
            <a:off x="457200" y="2016252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70_tdt10"/>
          <p:cNvSpPr txBox="1"/>
          <p:nvPr/>
        </p:nvSpPr>
        <p:spPr>
          <a:xfrm>
            <a:off x="530352" y="2016252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03</a:t>
            </a:r>
          </a:p>
        </p:txBody>
      </p:sp>
      <p:sp>
        <p:nvSpPr>
          <p:cNvPr id="12" name="a1wd360_td11"/>
          <p:cNvSpPr/>
          <p:nvPr/>
        </p:nvSpPr>
        <p:spPr>
          <a:xfrm>
            <a:off x="457200" y="2322576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360_tdt12"/>
          <p:cNvSpPr txBox="1"/>
          <p:nvPr/>
        </p:nvSpPr>
        <p:spPr>
          <a:xfrm>
            <a:off x="530352" y="2322576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04</a:t>
            </a:r>
          </a:p>
        </p:txBody>
      </p:sp>
      <p:sp>
        <p:nvSpPr>
          <p:cNvPr id="14" name="a1wd450_td13"/>
          <p:cNvSpPr/>
          <p:nvPr/>
        </p:nvSpPr>
        <p:spPr>
          <a:xfrm>
            <a:off x="457200" y="2628900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450_tdt14"/>
          <p:cNvSpPr txBox="1"/>
          <p:nvPr/>
        </p:nvSpPr>
        <p:spPr>
          <a:xfrm>
            <a:off x="530352" y="2628900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05</a:t>
            </a:r>
          </a:p>
        </p:txBody>
      </p:sp>
      <p:sp>
        <p:nvSpPr>
          <p:cNvPr id="16" name="a1wd540_td15"/>
          <p:cNvSpPr/>
          <p:nvPr/>
        </p:nvSpPr>
        <p:spPr>
          <a:xfrm>
            <a:off x="457200" y="2935224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540_tdt16"/>
          <p:cNvSpPr txBox="1"/>
          <p:nvPr/>
        </p:nvSpPr>
        <p:spPr>
          <a:xfrm>
            <a:off x="530352" y="2935224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06</a:t>
            </a:r>
          </a:p>
        </p:txBody>
      </p:sp>
      <p:sp>
        <p:nvSpPr>
          <p:cNvPr id="18" name="a1wd630_td17"/>
          <p:cNvSpPr/>
          <p:nvPr/>
        </p:nvSpPr>
        <p:spPr>
          <a:xfrm>
            <a:off x="457200" y="3241548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630_tdt18"/>
          <p:cNvSpPr txBox="1"/>
          <p:nvPr/>
        </p:nvSpPr>
        <p:spPr>
          <a:xfrm>
            <a:off x="530352" y="3241548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07</a:t>
            </a:r>
          </a:p>
        </p:txBody>
      </p:sp>
      <p:sp>
        <p:nvSpPr>
          <p:cNvPr id="20" name="a1wd720_td19"/>
          <p:cNvSpPr/>
          <p:nvPr/>
        </p:nvSpPr>
        <p:spPr>
          <a:xfrm>
            <a:off x="457200" y="3547872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720_tdt20"/>
          <p:cNvSpPr txBox="1"/>
          <p:nvPr/>
        </p:nvSpPr>
        <p:spPr>
          <a:xfrm>
            <a:off x="530352" y="3547872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08</a:t>
            </a:r>
          </a:p>
        </p:txBody>
      </p:sp>
      <p:sp>
        <p:nvSpPr>
          <p:cNvPr id="22" name="a1wd810_td21"/>
          <p:cNvSpPr/>
          <p:nvPr/>
        </p:nvSpPr>
        <p:spPr>
          <a:xfrm>
            <a:off x="457200" y="3854196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810_tdt22"/>
          <p:cNvSpPr txBox="1"/>
          <p:nvPr/>
        </p:nvSpPr>
        <p:spPr>
          <a:xfrm>
            <a:off x="530352" y="3854196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09</a:t>
            </a:r>
          </a:p>
        </p:txBody>
      </p:sp>
      <p:sp>
        <p:nvSpPr>
          <p:cNvPr id="24" name="a1f_th23"/>
          <p:cNvSpPr/>
          <p:nvPr/>
        </p:nvSpPr>
        <p:spPr>
          <a:xfrm>
            <a:off x="914400" y="1097280"/>
            <a:ext cx="1920240" cy="3063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f_tht24"/>
          <p:cNvSpPr txBox="1"/>
          <p:nvPr/>
        </p:nvSpPr>
        <p:spPr>
          <a:xfrm>
            <a:off x="987552" y="1097280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  <p:sp>
        <p:nvSpPr>
          <p:cNvPr id="26" name="a1wd90_td25"/>
          <p:cNvSpPr/>
          <p:nvPr/>
        </p:nvSpPr>
        <p:spPr>
          <a:xfrm>
            <a:off x="914400" y="1403604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90_tdt26"/>
          <p:cNvSpPr txBox="1"/>
          <p:nvPr/>
        </p:nvSpPr>
        <p:spPr>
          <a:xfrm>
            <a:off x="987552" y="1403604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Code as data</a:t>
            </a:r>
          </a:p>
        </p:txBody>
      </p:sp>
      <p:sp>
        <p:nvSpPr>
          <p:cNvPr id="28" name="a1wd180_td27"/>
          <p:cNvSpPr/>
          <p:nvPr/>
        </p:nvSpPr>
        <p:spPr>
          <a:xfrm>
            <a:off x="914400" y="1709928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180_tdt28"/>
          <p:cNvSpPr txBox="1"/>
          <p:nvPr/>
        </p:nvSpPr>
        <p:spPr>
          <a:xfrm>
            <a:off x="987552" y="1709928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Macros</a:t>
            </a:r>
          </a:p>
        </p:txBody>
      </p:sp>
      <p:sp>
        <p:nvSpPr>
          <p:cNvPr id="30" name="a1wd270_td29"/>
          <p:cNvSpPr/>
          <p:nvPr/>
        </p:nvSpPr>
        <p:spPr>
          <a:xfrm>
            <a:off x="914400" y="2016252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270_tdt30"/>
          <p:cNvSpPr txBox="1"/>
          <p:nvPr/>
        </p:nvSpPr>
        <p:spPr>
          <a:xfrm>
            <a:off x="987552" y="2016252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quote &amp; unquote</a:t>
            </a:r>
          </a:p>
        </p:txBody>
      </p:sp>
      <p:sp>
        <p:nvSpPr>
          <p:cNvPr id="32" name="a1wd360_td31"/>
          <p:cNvSpPr/>
          <p:nvPr/>
        </p:nvSpPr>
        <p:spPr>
          <a:xfrm>
            <a:off x="914400" y="2322576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360_tdt32"/>
          <p:cNvSpPr txBox="1"/>
          <p:nvPr/>
        </p:nvSpPr>
        <p:spPr>
          <a:xfrm>
            <a:off x="987552" y="2322576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DSLs</a:t>
            </a:r>
          </a:p>
        </p:txBody>
      </p:sp>
      <p:sp>
        <p:nvSpPr>
          <p:cNvPr id="34" name="a1wd450_td33"/>
          <p:cNvSpPr/>
          <p:nvPr/>
        </p:nvSpPr>
        <p:spPr>
          <a:xfrm>
            <a:off x="914400" y="2628900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450_tdt34"/>
          <p:cNvSpPr txBox="1"/>
          <p:nvPr/>
        </p:nvSpPr>
        <p:spPr>
          <a:xfrm>
            <a:off x="987552" y="2628900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Logging macro</a:t>
            </a:r>
          </a:p>
        </p:txBody>
      </p:sp>
      <p:sp>
        <p:nvSpPr>
          <p:cNvPr id="36" name="a1wd540_td35"/>
          <p:cNvSpPr/>
          <p:nvPr/>
        </p:nvSpPr>
        <p:spPr>
          <a:xfrm>
            <a:off x="914400" y="2935224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540_tdt36"/>
          <p:cNvSpPr txBox="1"/>
          <p:nvPr/>
        </p:nvSpPr>
        <p:spPr>
          <a:xfrm>
            <a:off x="987552" y="2935224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defgetter</a:t>
            </a:r>
          </a:p>
        </p:txBody>
      </p:sp>
      <p:sp>
        <p:nvSpPr>
          <p:cNvPr id="38" name="a1wd630_td37"/>
          <p:cNvSpPr/>
          <p:nvPr/>
        </p:nvSpPr>
        <p:spPr>
          <a:xfrm>
            <a:off x="914400" y="3241548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630_tdt38"/>
          <p:cNvSpPr txBox="1"/>
          <p:nvPr/>
        </p:nvSpPr>
        <p:spPr>
          <a:xfrm>
            <a:off x="987552" y="3241548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my_unless</a:t>
            </a:r>
          </a:p>
        </p:txBody>
      </p:sp>
      <p:sp>
        <p:nvSpPr>
          <p:cNvPr id="40" name="a1wd720_td39"/>
          <p:cNvSpPr/>
          <p:nvPr/>
        </p:nvSpPr>
        <p:spPr>
          <a:xfrm>
            <a:off x="914400" y="3547872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720_tdt40"/>
          <p:cNvSpPr txBox="1"/>
          <p:nvPr/>
        </p:nvSpPr>
        <p:spPr>
          <a:xfrm>
            <a:off x="987552" y="3547872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HTML builder</a:t>
            </a:r>
          </a:p>
        </p:txBody>
      </p:sp>
      <p:sp>
        <p:nvSpPr>
          <p:cNvPr id="42" name="a1wd810_td41"/>
          <p:cNvSpPr/>
          <p:nvPr/>
        </p:nvSpPr>
        <p:spPr>
          <a:xfrm>
            <a:off x="914400" y="3854196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810_tdt42"/>
          <p:cNvSpPr txBox="1"/>
          <p:nvPr/>
        </p:nvSpPr>
        <p:spPr>
          <a:xfrm>
            <a:off x="987552" y="3854196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Takeaways</a:t>
            </a:r>
          </a:p>
        </p:txBody>
      </p:sp>
      <p:sp>
        <p:nvSpPr>
          <p:cNvPr id="44" name="a1f_th43"/>
          <p:cNvSpPr/>
          <p:nvPr/>
        </p:nvSpPr>
        <p:spPr>
          <a:xfrm>
            <a:off x="2834640" y="1097280"/>
            <a:ext cx="4023360" cy="3063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f_tht44"/>
          <p:cNvSpPr txBox="1"/>
          <p:nvPr/>
        </p:nvSpPr>
        <p:spPr>
          <a:xfrm>
            <a:off x="2907792" y="1097280"/>
            <a:ext cx="391363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The question it answers</a:t>
            </a:r>
          </a:p>
        </p:txBody>
      </p:sp>
      <p:sp>
        <p:nvSpPr>
          <p:cNvPr id="46" name="a1wd90_td45"/>
          <p:cNvSpPr/>
          <p:nvPr/>
        </p:nvSpPr>
        <p:spPr>
          <a:xfrm>
            <a:off x="2834640" y="1403604"/>
            <a:ext cx="402336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90_tdt46"/>
          <p:cNvSpPr txBox="1"/>
          <p:nvPr/>
        </p:nvSpPr>
        <p:spPr>
          <a:xfrm>
            <a:off x="2907792" y="1403604"/>
            <a:ext cx="391363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What does Elixir code look like to the compiler?</a:t>
            </a:r>
          </a:p>
        </p:txBody>
      </p:sp>
      <p:sp>
        <p:nvSpPr>
          <p:cNvPr id="48" name="a1wd180_td47"/>
          <p:cNvSpPr/>
          <p:nvPr/>
        </p:nvSpPr>
        <p:spPr>
          <a:xfrm>
            <a:off x="2834640" y="1709928"/>
            <a:ext cx="402336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180_tdt48"/>
          <p:cNvSpPr txBox="1"/>
          <p:nvPr/>
        </p:nvSpPr>
        <p:spPr>
          <a:xfrm>
            <a:off x="2907792" y="1709928"/>
            <a:ext cx="391363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What is a macro, and when does it run?</a:t>
            </a:r>
          </a:p>
        </p:txBody>
      </p:sp>
      <p:sp>
        <p:nvSpPr>
          <p:cNvPr id="50" name="a1wd270_td49"/>
          <p:cNvSpPr/>
          <p:nvPr/>
        </p:nvSpPr>
        <p:spPr>
          <a:xfrm>
            <a:off x="2834640" y="2016252"/>
            <a:ext cx="402336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270_tdt50"/>
          <p:cNvSpPr txBox="1"/>
          <p:nvPr/>
        </p:nvSpPr>
        <p:spPr>
          <a:xfrm>
            <a:off x="2907792" y="2016252"/>
            <a:ext cx="391363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you build code — and put values into it?</a:t>
            </a:r>
          </a:p>
        </p:txBody>
      </p:sp>
      <p:sp>
        <p:nvSpPr>
          <p:cNvPr id="52" name="a1wd360_td51"/>
          <p:cNvSpPr/>
          <p:nvPr/>
        </p:nvSpPr>
        <p:spPr>
          <a:xfrm>
            <a:off x="2834640" y="2322576"/>
            <a:ext cx="402336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360_tdt52"/>
          <p:cNvSpPr txBox="1"/>
          <p:nvPr/>
        </p:nvSpPr>
        <p:spPr>
          <a:xfrm>
            <a:off x="2907792" y="2322576"/>
            <a:ext cx="391363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macros turn into mini-languages?</a:t>
            </a:r>
          </a:p>
        </p:txBody>
      </p:sp>
      <p:sp>
        <p:nvSpPr>
          <p:cNvPr id="54" name="a1wd450_td53"/>
          <p:cNvSpPr/>
          <p:nvPr/>
        </p:nvSpPr>
        <p:spPr>
          <a:xfrm>
            <a:off x="2834640" y="2628900"/>
            <a:ext cx="402336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450_tdt54"/>
          <p:cNvSpPr txBox="1"/>
          <p:nvPr/>
        </p:nvSpPr>
        <p:spPr>
          <a:xfrm>
            <a:off x="2907792" y="2628900"/>
            <a:ext cx="391363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can a macro know the caller's file and line?</a:t>
            </a:r>
          </a:p>
        </p:txBody>
      </p:sp>
      <p:sp>
        <p:nvSpPr>
          <p:cNvPr id="56" name="a1wd540_td55"/>
          <p:cNvSpPr/>
          <p:nvPr/>
        </p:nvSpPr>
        <p:spPr>
          <a:xfrm>
            <a:off x="2834640" y="2935224"/>
            <a:ext cx="402336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540_tdt56"/>
          <p:cNvSpPr txBox="1"/>
          <p:nvPr/>
        </p:nvSpPr>
        <p:spPr>
          <a:xfrm>
            <a:off x="2907792" y="2935224"/>
            <a:ext cx="391363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Can a macro write functions for me?</a:t>
            </a:r>
          </a:p>
        </p:txBody>
      </p:sp>
      <p:sp>
        <p:nvSpPr>
          <p:cNvPr id="58" name="a1wd630_td57"/>
          <p:cNvSpPr/>
          <p:nvPr/>
        </p:nvSpPr>
        <p:spPr>
          <a:xfrm>
            <a:off x="2834640" y="3241548"/>
            <a:ext cx="402336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630_tdt58"/>
          <p:cNvSpPr txBox="1"/>
          <p:nvPr/>
        </p:nvSpPr>
        <p:spPr>
          <a:xfrm>
            <a:off x="2907792" y="3241548"/>
            <a:ext cx="391363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Can I add my own control flow?</a:t>
            </a:r>
          </a:p>
        </p:txBody>
      </p:sp>
      <p:sp>
        <p:nvSpPr>
          <p:cNvPr id="60" name="a1wd720_td59"/>
          <p:cNvSpPr/>
          <p:nvPr/>
        </p:nvSpPr>
        <p:spPr>
          <a:xfrm>
            <a:off x="2834640" y="3547872"/>
            <a:ext cx="402336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720_tdt60"/>
          <p:cNvSpPr txBox="1"/>
          <p:nvPr/>
        </p:nvSpPr>
        <p:spPr>
          <a:xfrm>
            <a:off x="2907792" y="3547872"/>
            <a:ext cx="391363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What runs at compile time — and what doesn't?</a:t>
            </a:r>
          </a:p>
        </p:txBody>
      </p:sp>
      <p:sp>
        <p:nvSpPr>
          <p:cNvPr id="62" name="a1wd810_td61"/>
          <p:cNvSpPr/>
          <p:nvPr/>
        </p:nvSpPr>
        <p:spPr>
          <a:xfrm>
            <a:off x="2834640" y="3854196"/>
            <a:ext cx="402336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810_tdt62"/>
          <p:cNvSpPr txBox="1"/>
          <p:nvPr/>
        </p:nvSpPr>
        <p:spPr>
          <a:xfrm>
            <a:off x="2907792" y="3854196"/>
            <a:ext cx="391363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When should I reach for a macro?</a:t>
            </a:r>
          </a:p>
        </p:txBody>
      </p:sp>
      <p:sp>
        <p:nvSpPr>
          <p:cNvPr id="64" name="a1f_th63"/>
          <p:cNvSpPr/>
          <p:nvPr/>
        </p:nvSpPr>
        <p:spPr>
          <a:xfrm>
            <a:off x="6858000" y="1097280"/>
            <a:ext cx="1828800" cy="3063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f_tht64"/>
          <p:cNvSpPr txBox="1"/>
          <p:nvPr/>
        </p:nvSpPr>
        <p:spPr>
          <a:xfrm>
            <a:off x="6931152" y="1097280"/>
            <a:ext cx="17190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Keywords</a:t>
            </a:r>
          </a:p>
        </p:txBody>
      </p:sp>
      <p:sp>
        <p:nvSpPr>
          <p:cNvPr id="66" name="a1wd90_td65"/>
          <p:cNvSpPr/>
          <p:nvPr/>
        </p:nvSpPr>
        <p:spPr>
          <a:xfrm>
            <a:off x="6858000" y="1403604"/>
            <a:ext cx="18288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90_tdt66"/>
          <p:cNvSpPr txBox="1"/>
          <p:nvPr/>
        </p:nvSpPr>
        <p:spPr>
          <a:xfrm>
            <a:off x="6931152" y="1403604"/>
            <a:ext cx="17190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AST · tuples</a:t>
            </a:r>
          </a:p>
        </p:txBody>
      </p:sp>
      <p:sp>
        <p:nvSpPr>
          <p:cNvPr id="68" name="a1wd180_td67"/>
          <p:cNvSpPr/>
          <p:nvPr/>
        </p:nvSpPr>
        <p:spPr>
          <a:xfrm>
            <a:off x="6858000" y="1709928"/>
            <a:ext cx="18288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180_tdt68"/>
          <p:cNvSpPr txBox="1"/>
          <p:nvPr/>
        </p:nvSpPr>
        <p:spPr>
          <a:xfrm>
            <a:off x="6931152" y="1709928"/>
            <a:ext cx="17190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defmacro</a:t>
            </a:r>
          </a:p>
        </p:txBody>
      </p:sp>
      <p:sp>
        <p:nvSpPr>
          <p:cNvPr id="70" name="a1wd270_td69"/>
          <p:cNvSpPr/>
          <p:nvPr/>
        </p:nvSpPr>
        <p:spPr>
          <a:xfrm>
            <a:off x="6858000" y="2016252"/>
            <a:ext cx="18288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1wd270_tdt70"/>
          <p:cNvSpPr txBox="1"/>
          <p:nvPr/>
        </p:nvSpPr>
        <p:spPr>
          <a:xfrm>
            <a:off x="6931152" y="2016252"/>
            <a:ext cx="17190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code as data</a:t>
            </a:r>
          </a:p>
        </p:txBody>
      </p:sp>
      <p:sp>
        <p:nvSpPr>
          <p:cNvPr id="72" name="a1wd360_td71"/>
          <p:cNvSpPr/>
          <p:nvPr/>
        </p:nvSpPr>
        <p:spPr>
          <a:xfrm>
            <a:off x="6858000" y="2322576"/>
            <a:ext cx="18288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a1wd360_tdt72"/>
          <p:cNvSpPr txBox="1"/>
          <p:nvPr/>
        </p:nvSpPr>
        <p:spPr>
          <a:xfrm>
            <a:off x="6931152" y="2322576"/>
            <a:ext cx="17190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Phoenix · Ecto</a:t>
            </a:r>
          </a:p>
        </p:txBody>
      </p:sp>
      <p:sp>
        <p:nvSpPr>
          <p:cNvPr id="74" name="a1wd450_td73"/>
          <p:cNvSpPr/>
          <p:nvPr/>
        </p:nvSpPr>
        <p:spPr>
          <a:xfrm>
            <a:off x="6858000" y="2628900"/>
            <a:ext cx="18288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a1wd450_tdt74"/>
          <p:cNvSpPr txBox="1"/>
          <p:nvPr/>
        </p:nvSpPr>
        <p:spPr>
          <a:xfrm>
            <a:off x="6931152" y="2628900"/>
            <a:ext cx="17190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__ENV__</a:t>
            </a:r>
          </a:p>
        </p:txBody>
      </p:sp>
      <p:sp>
        <p:nvSpPr>
          <p:cNvPr id="76" name="a1wd540_td75"/>
          <p:cNvSpPr/>
          <p:nvPr/>
        </p:nvSpPr>
        <p:spPr>
          <a:xfrm>
            <a:off x="6858000" y="2935224"/>
            <a:ext cx="18288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a1wd540_tdt76"/>
          <p:cNvSpPr txBox="1"/>
          <p:nvPr/>
        </p:nvSpPr>
        <p:spPr>
          <a:xfrm>
            <a:off x="6931152" y="2935224"/>
            <a:ext cx="17190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generated def</a:t>
            </a:r>
          </a:p>
        </p:txBody>
      </p:sp>
      <p:sp>
        <p:nvSpPr>
          <p:cNvPr id="78" name="a1wd630_td77"/>
          <p:cNvSpPr/>
          <p:nvPr/>
        </p:nvSpPr>
        <p:spPr>
          <a:xfrm>
            <a:off x="6858000" y="3241548"/>
            <a:ext cx="18288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a1wd630_tdt78"/>
          <p:cNvSpPr txBox="1"/>
          <p:nvPr/>
        </p:nvSpPr>
        <p:spPr>
          <a:xfrm>
            <a:off x="6931152" y="3241548"/>
            <a:ext cx="17190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do: block</a:t>
            </a:r>
          </a:p>
        </p:txBody>
      </p:sp>
      <p:sp>
        <p:nvSpPr>
          <p:cNvPr id="80" name="a1wd720_td79"/>
          <p:cNvSpPr/>
          <p:nvPr/>
        </p:nvSpPr>
        <p:spPr>
          <a:xfrm>
            <a:off x="6858000" y="3547872"/>
            <a:ext cx="18288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a1wd720_tdt80"/>
          <p:cNvSpPr txBox="1"/>
          <p:nvPr/>
        </p:nvSpPr>
        <p:spPr>
          <a:xfrm>
            <a:off x="6931152" y="3547872"/>
            <a:ext cx="17190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tag/2 · tag/3</a:t>
            </a:r>
          </a:p>
        </p:txBody>
      </p:sp>
      <p:sp>
        <p:nvSpPr>
          <p:cNvPr id="82" name="a1wd810_td81"/>
          <p:cNvSpPr/>
          <p:nvPr/>
        </p:nvSpPr>
        <p:spPr>
          <a:xfrm>
            <a:off x="6858000" y="3854196"/>
            <a:ext cx="18288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a1wd810_tdt82"/>
          <p:cNvSpPr txBox="1"/>
          <p:nvPr/>
        </p:nvSpPr>
        <p:spPr>
          <a:xfrm>
            <a:off x="6931152" y="3854196"/>
            <a:ext cx="17190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sparingly</a:t>
            </a:r>
          </a:p>
        </p:txBody>
      </p:sp>
      <p:sp>
        <p:nvSpPr>
          <p:cNvPr id="84" name="ft8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Metaprogramming, macros &amp; DSLs</a:t>
            </a:r>
          </a:p>
        </p:txBody>
      </p:sp>
      <p:sp>
        <p:nvSpPr>
          <p:cNvPr id="85" name="ft8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CODE AS DATA · WHERE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Metaprogramming happens while compiling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Code that writes (or transforms) other code — almost exclusively at compile time, on the AST.</a:t>
            </a:r>
          </a:p>
        </p:txBody>
      </p:sp>
      <p:sp>
        <p:nvSpPr>
          <p:cNvPr id="5" name="a1u_stg4"/>
          <p:cNvSpPr/>
          <p:nvPr/>
        </p:nvSpPr>
        <p:spPr>
          <a:xfrm>
            <a:off x="457200" y="1399031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stgt5"/>
          <p:cNvSpPr txBox="1"/>
          <p:nvPr/>
        </p:nvSpPr>
        <p:spPr>
          <a:xfrm>
            <a:off x="530352" y="1463039"/>
            <a:ext cx="133502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Calibri"/>
              </a:rPr>
              <a:t>your source</a:t>
            </a:r>
          </a:p>
        </p:txBody>
      </p:sp>
      <p:sp>
        <p:nvSpPr>
          <p:cNvPr id="7" name="a1u_stgt6"/>
          <p:cNvSpPr txBox="1"/>
          <p:nvPr/>
        </p:nvSpPr>
        <p:spPr>
          <a:xfrm>
            <a:off x="530352" y="1783080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alibri"/>
              </a:rPr>
              <a:t>.ex / .exs</a:t>
            </a:r>
          </a:p>
        </p:txBody>
      </p:sp>
      <p:cxnSp>
        <p:nvCxnSpPr>
          <p:cNvPr id="8" name="a1u_ln7"/>
          <p:cNvCxnSpPr/>
          <p:nvPr/>
        </p:nvCxnSpPr>
        <p:spPr>
          <a:xfrm>
            <a:off x="1956816" y="1764792"/>
            <a:ext cx="169164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1ud120_stg8"/>
          <p:cNvSpPr/>
          <p:nvPr/>
        </p:nvSpPr>
        <p:spPr>
          <a:xfrm>
            <a:off x="2144268" y="1399031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120_stgt9"/>
          <p:cNvSpPr txBox="1"/>
          <p:nvPr/>
        </p:nvSpPr>
        <p:spPr>
          <a:xfrm>
            <a:off x="2217420" y="1463039"/>
            <a:ext cx="133502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Calibri"/>
              </a:rPr>
              <a:t>AST</a:t>
            </a:r>
          </a:p>
        </p:txBody>
      </p:sp>
      <p:sp>
        <p:nvSpPr>
          <p:cNvPr id="11" name="a1ud120_stgt10"/>
          <p:cNvSpPr txBox="1"/>
          <p:nvPr/>
        </p:nvSpPr>
        <p:spPr>
          <a:xfrm>
            <a:off x="2217420" y="1783080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alibri"/>
              </a:rPr>
              <a:t>nested tuples</a:t>
            </a:r>
          </a:p>
        </p:txBody>
      </p:sp>
      <p:cxnSp>
        <p:nvCxnSpPr>
          <p:cNvPr id="12" name="a1ud120_ln11"/>
          <p:cNvCxnSpPr/>
          <p:nvPr/>
        </p:nvCxnSpPr>
        <p:spPr>
          <a:xfrm>
            <a:off x="3643884" y="1764792"/>
            <a:ext cx="169164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1ud240_stg12"/>
          <p:cNvSpPr/>
          <p:nvPr/>
        </p:nvSpPr>
        <p:spPr>
          <a:xfrm>
            <a:off x="3831336" y="1399031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1EAF8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240_stgt13"/>
          <p:cNvSpPr txBox="1"/>
          <p:nvPr/>
        </p:nvSpPr>
        <p:spPr>
          <a:xfrm>
            <a:off x="3904488" y="1463039"/>
            <a:ext cx="133502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4B275F"/>
                </a:solidFill>
                <a:latin typeface="Calibri"/>
              </a:rPr>
              <a:t>macro expansion</a:t>
            </a:r>
          </a:p>
        </p:txBody>
      </p:sp>
      <p:sp>
        <p:nvSpPr>
          <p:cNvPr id="15" name="a1ud240_stgt14"/>
          <p:cNvSpPr txBox="1"/>
          <p:nvPr/>
        </p:nvSpPr>
        <p:spPr>
          <a:xfrm>
            <a:off x="3904488" y="1783080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alibri"/>
              </a:rPr>
              <a:t>your macros run here</a:t>
            </a:r>
          </a:p>
        </p:txBody>
      </p:sp>
      <p:cxnSp>
        <p:nvCxnSpPr>
          <p:cNvPr id="16" name="a1ud240_ln15"/>
          <p:cNvCxnSpPr/>
          <p:nvPr/>
        </p:nvCxnSpPr>
        <p:spPr>
          <a:xfrm>
            <a:off x="5330952" y="1764792"/>
            <a:ext cx="169164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1ud360_stg16"/>
          <p:cNvSpPr/>
          <p:nvPr/>
        </p:nvSpPr>
        <p:spPr>
          <a:xfrm>
            <a:off x="5518404" y="1399031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ud360_stgt17"/>
          <p:cNvSpPr txBox="1"/>
          <p:nvPr/>
        </p:nvSpPr>
        <p:spPr>
          <a:xfrm>
            <a:off x="5591556" y="1463039"/>
            <a:ext cx="133502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Calibri"/>
              </a:rPr>
              <a:t>expanded AST</a:t>
            </a:r>
          </a:p>
        </p:txBody>
      </p:sp>
      <p:sp>
        <p:nvSpPr>
          <p:cNvPr id="19" name="a1ud360_stgt18"/>
          <p:cNvSpPr txBox="1"/>
          <p:nvPr/>
        </p:nvSpPr>
        <p:spPr>
          <a:xfrm>
            <a:off x="5591556" y="1783080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alibri"/>
              </a:rPr>
              <a:t>no macros left</a:t>
            </a:r>
          </a:p>
        </p:txBody>
      </p:sp>
      <p:cxnSp>
        <p:nvCxnSpPr>
          <p:cNvPr id="20" name="a1ud360_ln19"/>
          <p:cNvCxnSpPr/>
          <p:nvPr/>
        </p:nvCxnSpPr>
        <p:spPr>
          <a:xfrm>
            <a:off x="7018020" y="1764792"/>
            <a:ext cx="169164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1ud480_stg20"/>
          <p:cNvSpPr/>
          <p:nvPr/>
        </p:nvSpPr>
        <p:spPr>
          <a:xfrm>
            <a:off x="7205472" y="1399031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ud480_stgt21"/>
          <p:cNvSpPr txBox="1"/>
          <p:nvPr/>
        </p:nvSpPr>
        <p:spPr>
          <a:xfrm>
            <a:off x="7278624" y="1463039"/>
            <a:ext cx="133502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Calibri"/>
              </a:rPr>
              <a:t>.beam</a:t>
            </a:r>
          </a:p>
        </p:txBody>
      </p:sp>
      <p:sp>
        <p:nvSpPr>
          <p:cNvPr id="23" name="a1ud480_stgt22"/>
          <p:cNvSpPr txBox="1"/>
          <p:nvPr/>
        </p:nvSpPr>
        <p:spPr>
          <a:xfrm>
            <a:off x="7278624" y="1783080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alibri"/>
              </a:rPr>
              <a:t>compiled</a:t>
            </a:r>
          </a:p>
        </p:txBody>
      </p:sp>
      <p:sp>
        <p:nvSpPr>
          <p:cNvPr id="24" name="a2w_bar23"/>
          <p:cNvSpPr/>
          <p:nvPr/>
        </p:nvSpPr>
        <p:spPr>
          <a:xfrm>
            <a:off x="457200" y="2267712"/>
            <a:ext cx="6583680" cy="45720"/>
          </a:xfrm>
          <a:prstGeom prst="rect">
            <a:avLst/>
          </a:prstGeom>
          <a:solidFill>
            <a:srgbClr val="C9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_cap24"/>
          <p:cNvSpPr txBox="1"/>
          <p:nvPr/>
        </p:nvSpPr>
        <p:spPr>
          <a:xfrm>
            <a:off x="457200" y="2340863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4B275F"/>
                </a:solidFill>
                <a:latin typeface="Calibri"/>
              </a:rPr>
              <a:t>compile time</a:t>
            </a:r>
          </a:p>
        </p:txBody>
      </p:sp>
      <p:sp>
        <p:nvSpPr>
          <p:cNvPr id="26" name="a3u_dot25"/>
          <p:cNvSpPr/>
          <p:nvPr/>
        </p:nvSpPr>
        <p:spPr>
          <a:xfrm>
            <a:off x="457200" y="288035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u_b26"/>
          <p:cNvSpPr txBox="1"/>
          <p:nvPr/>
        </p:nvSpPr>
        <p:spPr>
          <a:xfrm>
            <a:off x="676656" y="2779775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Everything you write becomes an AST  </a:t>
            </a:r>
            <a:r>
              <a:rPr sz="1200" b="0">
                <a:solidFill>
                  <a:srgbClr val="334155"/>
                </a:solidFill>
                <a:latin typeface="Calibri"/>
              </a:rPr>
              <a:t>a nested tuple structure, before anything is compiled</a:t>
            </a:r>
          </a:p>
        </p:txBody>
      </p:sp>
      <p:sp>
        <p:nvSpPr>
          <p:cNvPr id="28" name="a3ud180_dot27"/>
          <p:cNvSpPr/>
          <p:nvPr/>
        </p:nvSpPr>
        <p:spPr>
          <a:xfrm>
            <a:off x="457200" y="333755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ud180_b28"/>
          <p:cNvSpPr txBox="1"/>
          <p:nvPr/>
        </p:nvSpPr>
        <p:spPr>
          <a:xfrm>
            <a:off x="676656" y="3236975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Macros receive that AST  </a:t>
            </a:r>
            <a:r>
              <a:rPr sz="1200" b="0">
                <a:solidFill>
                  <a:srgbClr val="334155"/>
                </a:solidFill>
                <a:latin typeface="Calibri"/>
              </a:rPr>
              <a:t>they can inspect or transform it, and return a new AST</a:t>
            </a:r>
          </a:p>
        </p:txBody>
      </p:sp>
      <p:sp>
        <p:nvSpPr>
          <p:cNvPr id="30" name="a3ud360_dot29"/>
          <p:cNvSpPr/>
          <p:nvPr/>
        </p:nvSpPr>
        <p:spPr>
          <a:xfrm>
            <a:off x="457200" y="379475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ud360_b30"/>
          <p:cNvSpPr txBox="1"/>
          <p:nvPr/>
        </p:nvSpPr>
        <p:spPr>
          <a:xfrm>
            <a:off x="676656" y="3694176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The returned AST is what gets compiled  </a:t>
            </a:r>
            <a:r>
              <a:rPr sz="1200" b="0">
                <a:solidFill>
                  <a:srgbClr val="334155"/>
                </a:solidFill>
                <a:latin typeface="Calibri"/>
              </a:rPr>
              <a:t>the macro call itself is gone from the result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Metaprogramming, macros &amp; DSLs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Code as data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defmacro, quote and unquote —
the three tools behind every macro.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defmacro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quote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unquote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DSLs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CODE AS DATA · MACROS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Macros: functions from code to code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main tool of metaprogramming. The compiler calls them — not your running program.</a:t>
            </a:r>
          </a:p>
        </p:txBody>
      </p:sp>
      <p:sp>
        <p:nvSpPr>
          <p:cNvPr id="5" name="a1u_card4"/>
          <p:cNvSpPr/>
          <p:nvPr/>
        </p:nvSpPr>
        <p:spPr>
          <a:xfrm>
            <a:off x="457200" y="1362456"/>
            <a:ext cx="4005072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acc5"/>
          <p:cNvSpPr/>
          <p:nvPr/>
        </p:nvSpPr>
        <p:spPr>
          <a:xfrm>
            <a:off x="457200" y="1362456"/>
            <a:ext cx="54864" cy="144475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6"/>
          <p:cNvSpPr/>
          <p:nvPr/>
        </p:nvSpPr>
        <p:spPr>
          <a:xfrm>
            <a:off x="713232" y="1636776"/>
            <a:ext cx="475488" cy="475488"/>
          </a:xfrm>
          <a:prstGeom prst="roundRect">
            <a:avLst>
              <a:gd name="adj" fmla="val 1923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60_ict7"/>
          <p:cNvSpPr txBox="1"/>
          <p:nvPr/>
        </p:nvSpPr>
        <p:spPr>
          <a:xfrm>
            <a:off x="713232" y="16367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a1ud90_ct8"/>
          <p:cNvSpPr txBox="1"/>
          <p:nvPr/>
        </p:nvSpPr>
        <p:spPr>
          <a:xfrm>
            <a:off x="1417320" y="1581912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Defined with defmacro</a:t>
            </a:r>
          </a:p>
        </p:txBody>
      </p:sp>
      <p:sp>
        <p:nvSpPr>
          <p:cNvPr id="10" name="a1ud120_cb9"/>
          <p:cNvSpPr txBox="1"/>
          <p:nvPr/>
        </p:nvSpPr>
        <p:spPr>
          <a:xfrm>
            <a:off x="1417320" y="196596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Written like def, but called by the compiler</a:t>
            </a:r>
          </a:p>
        </p:txBody>
      </p:sp>
      <p:sp>
        <p:nvSpPr>
          <p:cNvPr id="11" name="a2u_card10"/>
          <p:cNvSpPr/>
          <p:nvPr/>
        </p:nvSpPr>
        <p:spPr>
          <a:xfrm>
            <a:off x="4681728" y="1362456"/>
            <a:ext cx="4005072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2u_acc11"/>
          <p:cNvSpPr/>
          <p:nvPr/>
        </p:nvSpPr>
        <p:spPr>
          <a:xfrm>
            <a:off x="4681728" y="1362456"/>
            <a:ext cx="54864" cy="14447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d60_ic12"/>
          <p:cNvSpPr/>
          <p:nvPr/>
        </p:nvSpPr>
        <p:spPr>
          <a:xfrm>
            <a:off x="4937760" y="1636776"/>
            <a:ext cx="475488" cy="475488"/>
          </a:xfrm>
          <a:prstGeom prst="roundRect">
            <a:avLst>
              <a:gd name="adj" fmla="val 1923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d60_ict13"/>
          <p:cNvSpPr txBox="1"/>
          <p:nvPr/>
        </p:nvSpPr>
        <p:spPr>
          <a:xfrm>
            <a:off x="4937760" y="16367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a2ud90_ct14"/>
          <p:cNvSpPr txBox="1"/>
          <p:nvPr/>
        </p:nvSpPr>
        <p:spPr>
          <a:xfrm>
            <a:off x="5641848" y="1581912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Receive AST</a:t>
            </a:r>
          </a:p>
        </p:txBody>
      </p:sp>
      <p:sp>
        <p:nvSpPr>
          <p:cNvPr id="16" name="a2ud120_cb15"/>
          <p:cNvSpPr txBox="1"/>
          <p:nvPr/>
        </p:nvSpPr>
        <p:spPr>
          <a:xfrm>
            <a:off x="5641848" y="196596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The code of their arguments — not the evaluated values</a:t>
            </a:r>
          </a:p>
        </p:txBody>
      </p:sp>
      <p:sp>
        <p:nvSpPr>
          <p:cNvPr id="17" name="a3u_card16"/>
          <p:cNvSpPr/>
          <p:nvPr/>
        </p:nvSpPr>
        <p:spPr>
          <a:xfrm>
            <a:off x="457200" y="2990088"/>
            <a:ext cx="4005072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3u_acc17"/>
          <p:cNvSpPr/>
          <p:nvPr/>
        </p:nvSpPr>
        <p:spPr>
          <a:xfrm>
            <a:off x="457200" y="2990088"/>
            <a:ext cx="54864" cy="14447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3ud60_ic18"/>
          <p:cNvSpPr/>
          <p:nvPr/>
        </p:nvSpPr>
        <p:spPr>
          <a:xfrm>
            <a:off x="713232" y="3264408"/>
            <a:ext cx="475488" cy="475488"/>
          </a:xfrm>
          <a:prstGeom prst="roundRect">
            <a:avLst>
              <a:gd name="adj" fmla="val 1923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3ud60_ict19"/>
          <p:cNvSpPr txBox="1"/>
          <p:nvPr/>
        </p:nvSpPr>
        <p:spPr>
          <a:xfrm>
            <a:off x="713232" y="32644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a3ud90_ct20"/>
          <p:cNvSpPr txBox="1"/>
          <p:nvPr/>
        </p:nvSpPr>
        <p:spPr>
          <a:xfrm>
            <a:off x="1417320" y="3209544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Return AST</a:t>
            </a:r>
          </a:p>
        </p:txBody>
      </p:sp>
      <p:sp>
        <p:nvSpPr>
          <p:cNvPr id="22" name="a3ud120_cb21"/>
          <p:cNvSpPr txBox="1"/>
          <p:nvPr/>
        </p:nvSpPr>
        <p:spPr>
          <a:xfrm>
            <a:off x="1417320" y="359359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Whatever they return must be valid Elixir AST</a:t>
            </a:r>
          </a:p>
        </p:txBody>
      </p:sp>
      <p:sp>
        <p:nvSpPr>
          <p:cNvPr id="23" name="a4u_card22"/>
          <p:cNvSpPr/>
          <p:nvPr/>
        </p:nvSpPr>
        <p:spPr>
          <a:xfrm>
            <a:off x="4681728" y="2990088"/>
            <a:ext cx="4005072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4u_acc23"/>
          <p:cNvSpPr/>
          <p:nvPr/>
        </p:nvSpPr>
        <p:spPr>
          <a:xfrm>
            <a:off x="4681728" y="2990088"/>
            <a:ext cx="54864" cy="144475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4ud60_ic24"/>
          <p:cNvSpPr/>
          <p:nvPr/>
        </p:nvSpPr>
        <p:spPr>
          <a:xfrm>
            <a:off x="4937760" y="3264408"/>
            <a:ext cx="475488" cy="475488"/>
          </a:xfrm>
          <a:prstGeom prst="roundRect">
            <a:avLst>
              <a:gd name="adj" fmla="val 1923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4ud60_ict25"/>
          <p:cNvSpPr txBox="1"/>
          <p:nvPr/>
        </p:nvSpPr>
        <p:spPr>
          <a:xfrm>
            <a:off x="4937760" y="32644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a4ud90_ct26"/>
          <p:cNvSpPr txBox="1"/>
          <p:nvPr/>
        </p:nvSpPr>
        <p:spPr>
          <a:xfrm>
            <a:off x="5641848" y="3209544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Expanded at compile time</a:t>
            </a:r>
          </a:p>
        </p:txBody>
      </p:sp>
      <p:sp>
        <p:nvSpPr>
          <p:cNvPr id="28" name="a4ud120_cb27"/>
          <p:cNvSpPr txBox="1"/>
          <p:nvPr/>
        </p:nvSpPr>
        <p:spPr>
          <a:xfrm>
            <a:off x="5641848" y="359359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Zero runtime cost for the macro itself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Metaprogramming, macros &amp; DSLs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CODE AS DATA · QUOTE &amp; UNQUOTE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quote builds code, unquote fills it in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classic “code as data” pattern — measured in iex on 1.20.4.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16736"/>
            <a:ext cx="4846320" cy="2414015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71600"/>
            <a:ext cx="4517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iex · 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55648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quote(do: sum(1, 2, 3))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56816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{:sum, [], [1, 2, 3]}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157984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x = 5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359152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quote(do: 1 + x)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560320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{:+, [...], [1, {:x, [], Elixir}]}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761488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quote(do: 1 + unquote(x))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2962656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{:+, [...], [1, 5]}</a:t>
            </a:r>
          </a:p>
        </p:txBody>
      </p:sp>
      <p:sp>
        <p:nvSpPr>
          <p:cNvPr id="14" name="a1wd490_code13"/>
          <p:cNvSpPr txBox="1"/>
          <p:nvPr/>
        </p:nvSpPr>
        <p:spPr>
          <a:xfrm>
            <a:off x="621792" y="3163824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Macro.to_string(quote(do: 1 + unquote(x)))</a:t>
            </a:r>
          </a:p>
        </p:txBody>
      </p:sp>
      <p:sp>
        <p:nvSpPr>
          <p:cNvPr id="15" name="a1wd560_code14"/>
          <p:cNvSpPr txBox="1"/>
          <p:nvPr/>
        </p:nvSpPr>
        <p:spPr>
          <a:xfrm>
            <a:off x="621792" y="3364991"/>
            <a:ext cx="451713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"1 + 5"</a:t>
            </a:r>
          </a:p>
        </p:txBody>
      </p:sp>
      <p:sp>
        <p:nvSpPr>
          <p:cNvPr id="16" name="a2u_nb15"/>
          <p:cNvSpPr/>
          <p:nvPr/>
        </p:nvSpPr>
        <p:spPr>
          <a:xfrm>
            <a:off x="457200" y="3840480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nacc16"/>
          <p:cNvSpPr/>
          <p:nvPr/>
        </p:nvSpPr>
        <p:spPr>
          <a:xfrm>
            <a:off x="457200" y="3840480"/>
            <a:ext cx="50292" cy="71323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nt17"/>
          <p:cNvSpPr txBox="1"/>
          <p:nvPr/>
        </p:nvSpPr>
        <p:spPr>
          <a:xfrm>
            <a:off x="658368" y="3840480"/>
            <a:ext cx="4443983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6B3FA0"/>
                </a:solidFill>
                <a:latin typeface="Calibri"/>
              </a:rPr>
              <a:t>→  </a:t>
            </a:r>
            <a:r>
              <a:rPr sz="1100" b="0">
                <a:solidFill>
                  <a:srgbClr val="334155"/>
                </a:solidFill>
                <a:latin typeface="Calibri"/>
              </a:rPr>
              <a:t>Without unquote, x stays a variable node in the tree. With it, the value 5 goes in.</a:t>
            </a:r>
          </a:p>
        </p:txBody>
      </p:sp>
      <p:sp>
        <p:nvSpPr>
          <p:cNvPr id="19" name="a3u_stg18"/>
          <p:cNvSpPr/>
          <p:nvPr/>
        </p:nvSpPr>
        <p:spPr>
          <a:xfrm>
            <a:off x="5577840" y="1335024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3u_stgt19"/>
          <p:cNvSpPr txBox="1"/>
          <p:nvPr/>
        </p:nvSpPr>
        <p:spPr>
          <a:xfrm>
            <a:off x="5623559" y="1335024"/>
            <a:ext cx="3017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urier New"/>
              </a:rPr>
              <a:t>{:+, meta, [1, 5]}</a:t>
            </a:r>
          </a:p>
        </p:txBody>
      </p:sp>
      <p:cxnSp>
        <p:nvCxnSpPr>
          <p:cNvPr id="21" name="a3ud150_ln20"/>
          <p:cNvCxnSpPr/>
          <p:nvPr/>
        </p:nvCxnSpPr>
        <p:spPr>
          <a:xfrm flipH="1">
            <a:off x="6446520" y="1755648"/>
            <a:ext cx="685800" cy="402336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a3ud150_stg21"/>
          <p:cNvSpPr/>
          <p:nvPr/>
        </p:nvSpPr>
        <p:spPr>
          <a:xfrm>
            <a:off x="6144768" y="2157984"/>
            <a:ext cx="603504" cy="384048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d150_stgt22"/>
          <p:cNvSpPr txBox="1"/>
          <p:nvPr/>
        </p:nvSpPr>
        <p:spPr>
          <a:xfrm>
            <a:off x="6190488" y="2157984"/>
            <a:ext cx="5120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4B275F"/>
                </a:solidFill>
                <a:latin typeface="Courier New"/>
              </a:rPr>
              <a:t>1</a:t>
            </a:r>
          </a:p>
        </p:txBody>
      </p:sp>
      <p:cxnSp>
        <p:nvCxnSpPr>
          <p:cNvPr id="24" name="a3ud270_ln23"/>
          <p:cNvCxnSpPr/>
          <p:nvPr/>
        </p:nvCxnSpPr>
        <p:spPr>
          <a:xfrm>
            <a:off x="7132320" y="1755648"/>
            <a:ext cx="685800" cy="402336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3ud270_stg24"/>
          <p:cNvSpPr/>
          <p:nvPr/>
        </p:nvSpPr>
        <p:spPr>
          <a:xfrm>
            <a:off x="7516368" y="2157984"/>
            <a:ext cx="603504" cy="384048"/>
          </a:xfrm>
          <a:prstGeom prst="roundRect">
            <a:avLst>
              <a:gd name="adj" fmla="val 19047"/>
            </a:avLst>
          </a:prstGeom>
          <a:solidFill>
            <a:srgbClr val="F1EA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d270_stgt25"/>
          <p:cNvSpPr txBox="1"/>
          <p:nvPr/>
        </p:nvSpPr>
        <p:spPr>
          <a:xfrm>
            <a:off x="7562088" y="2157984"/>
            <a:ext cx="5120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4B275F"/>
                </a:solidFill>
                <a:latin typeface="Courier New"/>
              </a:rPr>
              <a:t>5</a:t>
            </a:r>
          </a:p>
        </p:txBody>
      </p:sp>
      <p:sp>
        <p:nvSpPr>
          <p:cNvPr id="27" name="a3fd400_cap26"/>
          <p:cNvSpPr txBox="1"/>
          <p:nvPr/>
        </p:nvSpPr>
        <p:spPr>
          <a:xfrm>
            <a:off x="5577840" y="261518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alibri"/>
              </a:rPr>
              <a:t>every node: {name, metadata, arguments}</a:t>
            </a:r>
          </a:p>
        </p:txBody>
      </p:sp>
      <p:sp>
        <p:nvSpPr>
          <p:cNvPr id="28" name="a4u_dot27"/>
          <p:cNvSpPr/>
          <p:nvPr/>
        </p:nvSpPr>
        <p:spPr>
          <a:xfrm>
            <a:off x="5577840" y="315467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4u_b28"/>
          <p:cNvSpPr txBox="1"/>
          <p:nvPr/>
        </p:nvSpPr>
        <p:spPr>
          <a:xfrm>
            <a:off x="5797296" y="3054096"/>
            <a:ext cx="28895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quote  </a:t>
            </a:r>
            <a:r>
              <a:rPr sz="1100" b="0">
                <a:solidFill>
                  <a:srgbClr val="334155"/>
                </a:solidFill>
                <a:latin typeface="Calibri"/>
              </a:rPr>
              <a:t>creates an AST from Elixir code</a:t>
            </a:r>
          </a:p>
        </p:txBody>
      </p:sp>
      <p:sp>
        <p:nvSpPr>
          <p:cNvPr id="30" name="a4ud150_dot29"/>
          <p:cNvSpPr/>
          <p:nvPr/>
        </p:nvSpPr>
        <p:spPr>
          <a:xfrm>
            <a:off x="5577840" y="3575303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4ud150_b30"/>
          <p:cNvSpPr txBox="1"/>
          <p:nvPr/>
        </p:nvSpPr>
        <p:spPr>
          <a:xfrm>
            <a:off x="5797296" y="3474720"/>
            <a:ext cx="28895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unquote  </a:t>
            </a:r>
            <a:r>
              <a:rPr sz="1100" b="0">
                <a:solidFill>
                  <a:srgbClr val="334155"/>
                </a:solidFill>
                <a:latin typeface="Calibri"/>
              </a:rPr>
              <a:t>injects a value into that AST</a:t>
            </a:r>
          </a:p>
        </p:txBody>
      </p:sp>
      <p:sp>
        <p:nvSpPr>
          <p:cNvPr id="32" name="a4ud300_dot31"/>
          <p:cNvSpPr/>
          <p:nvPr/>
        </p:nvSpPr>
        <p:spPr>
          <a:xfrm>
            <a:off x="5577840" y="399592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4ud300_b32"/>
          <p:cNvSpPr txBox="1"/>
          <p:nvPr/>
        </p:nvSpPr>
        <p:spPr>
          <a:xfrm>
            <a:off x="5797296" y="3895344"/>
            <a:ext cx="28895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Together  </a:t>
            </a:r>
            <a:r>
              <a:rPr sz="1100" b="0">
                <a:solidFill>
                  <a:srgbClr val="334155"/>
                </a:solidFill>
                <a:latin typeface="Calibri"/>
              </a:rPr>
              <a:t>code you can build and inspect as data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Metaprogramming, macros &amp; DSLs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CODE AS DATA · DSLs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DSLs: macros that read like a language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Elixir's syntax is deliberately flexible — so a library can give you a mini-language.</a:t>
            </a:r>
          </a:p>
        </p:txBody>
      </p:sp>
      <p:sp>
        <p:nvSpPr>
          <p:cNvPr id="5" name="a1u_stg4"/>
          <p:cNvSpPr/>
          <p:nvPr/>
        </p:nvSpPr>
        <p:spPr>
          <a:xfrm>
            <a:off x="457200" y="1426463"/>
            <a:ext cx="1783080" cy="640080"/>
          </a:xfrm>
          <a:prstGeom prst="roundRect">
            <a:avLst>
              <a:gd name="adj" fmla="val 11428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stgt5"/>
          <p:cNvSpPr txBox="1"/>
          <p:nvPr/>
        </p:nvSpPr>
        <p:spPr>
          <a:xfrm>
            <a:off x="502920" y="1426463"/>
            <a:ext cx="16916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macros</a:t>
            </a:r>
          </a:p>
        </p:txBody>
      </p:sp>
      <p:sp>
        <p:nvSpPr>
          <p:cNvPr id="7" name="a1u_op6"/>
          <p:cNvSpPr txBox="1"/>
          <p:nvPr/>
        </p:nvSpPr>
        <p:spPr>
          <a:xfrm>
            <a:off x="2240280" y="1426463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Calibri"/>
              </a:rPr>
              <a:t>+</a:t>
            </a:r>
          </a:p>
        </p:txBody>
      </p:sp>
      <p:sp>
        <p:nvSpPr>
          <p:cNvPr id="8" name="a1ud150_stg7"/>
          <p:cNvSpPr/>
          <p:nvPr/>
        </p:nvSpPr>
        <p:spPr>
          <a:xfrm>
            <a:off x="2606040" y="1426463"/>
            <a:ext cx="1783080" cy="640080"/>
          </a:xfrm>
          <a:prstGeom prst="roundRect">
            <a:avLst>
              <a:gd name="adj" fmla="val 11428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ud150_stgt8"/>
          <p:cNvSpPr txBox="1"/>
          <p:nvPr/>
        </p:nvSpPr>
        <p:spPr>
          <a:xfrm>
            <a:off x="2651760" y="1426463"/>
            <a:ext cx="16916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the pipe  |&gt;</a:t>
            </a:r>
          </a:p>
        </p:txBody>
      </p:sp>
      <p:sp>
        <p:nvSpPr>
          <p:cNvPr id="10" name="a1ud150_op9"/>
          <p:cNvSpPr txBox="1"/>
          <p:nvPr/>
        </p:nvSpPr>
        <p:spPr>
          <a:xfrm>
            <a:off x="4389120" y="1426463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Calibri"/>
              </a:rPr>
              <a:t>+</a:t>
            </a:r>
          </a:p>
        </p:txBody>
      </p:sp>
      <p:sp>
        <p:nvSpPr>
          <p:cNvPr id="11" name="a1ud300_stg10"/>
          <p:cNvSpPr/>
          <p:nvPr/>
        </p:nvSpPr>
        <p:spPr>
          <a:xfrm>
            <a:off x="4754880" y="1426463"/>
            <a:ext cx="1783080" cy="640080"/>
          </a:xfrm>
          <a:prstGeom prst="roundRect">
            <a:avLst>
              <a:gd name="adj" fmla="val 11428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300_stgt11"/>
          <p:cNvSpPr txBox="1"/>
          <p:nvPr/>
        </p:nvSpPr>
        <p:spPr>
          <a:xfrm>
            <a:off x="4800600" y="1426463"/>
            <a:ext cx="16916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special forms</a:t>
            </a:r>
          </a:p>
        </p:txBody>
      </p:sp>
      <p:sp>
        <p:nvSpPr>
          <p:cNvPr id="13" name="a1ud300_op12"/>
          <p:cNvSpPr txBox="1"/>
          <p:nvPr/>
        </p:nvSpPr>
        <p:spPr>
          <a:xfrm>
            <a:off x="6537960" y="1426463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Calibri"/>
              </a:rPr>
              <a:t>=</a:t>
            </a:r>
          </a:p>
        </p:txBody>
      </p:sp>
      <p:sp>
        <p:nvSpPr>
          <p:cNvPr id="14" name="a2u_stg13"/>
          <p:cNvSpPr/>
          <p:nvPr/>
        </p:nvSpPr>
        <p:spPr>
          <a:xfrm>
            <a:off x="6903720" y="1380744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stgt14"/>
          <p:cNvSpPr txBox="1"/>
          <p:nvPr/>
        </p:nvSpPr>
        <p:spPr>
          <a:xfrm>
            <a:off x="6949440" y="1380744"/>
            <a:ext cx="169163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 DSL</a:t>
            </a:r>
          </a:p>
        </p:txBody>
      </p:sp>
      <p:sp>
        <p:nvSpPr>
          <p:cNvPr id="16" name="a3f_cap15"/>
          <p:cNvSpPr txBox="1"/>
          <p:nvPr/>
        </p:nvSpPr>
        <p:spPr>
          <a:xfrm>
            <a:off x="457200" y="23134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Highly readable mini-languages for one problem domain — the ones you already use:</a:t>
            </a:r>
          </a:p>
        </p:txBody>
      </p:sp>
      <p:sp>
        <p:nvSpPr>
          <p:cNvPr id="17" name="a4u_card16"/>
          <p:cNvSpPr/>
          <p:nvPr/>
        </p:nvSpPr>
        <p:spPr>
          <a:xfrm>
            <a:off x="457200" y="2706624"/>
            <a:ext cx="190652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4u_acc17"/>
          <p:cNvSpPr/>
          <p:nvPr/>
        </p:nvSpPr>
        <p:spPr>
          <a:xfrm>
            <a:off x="457200" y="2706624"/>
            <a:ext cx="1906524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4ud90_ct18"/>
          <p:cNvSpPr txBox="1"/>
          <p:nvPr/>
        </p:nvSpPr>
        <p:spPr>
          <a:xfrm>
            <a:off x="621792" y="2907792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Phoenix routers</a:t>
            </a:r>
          </a:p>
        </p:txBody>
      </p:sp>
      <p:sp>
        <p:nvSpPr>
          <p:cNvPr id="20" name="a4ud120_cs19"/>
          <p:cNvSpPr txBox="1"/>
          <p:nvPr/>
        </p:nvSpPr>
        <p:spPr>
          <a:xfrm>
            <a:off x="621792" y="3182112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3FA0"/>
                </a:solidFill>
                <a:latin typeface="Courier New"/>
              </a:rPr>
              <a:t>web</a:t>
            </a:r>
          </a:p>
        </p:txBody>
      </p:sp>
      <p:sp>
        <p:nvSpPr>
          <p:cNvPr id="21" name="a4ud150_cb20"/>
          <p:cNvSpPr txBox="1"/>
          <p:nvPr/>
        </p:nvSpPr>
        <p:spPr>
          <a:xfrm>
            <a:off x="621792" y="3438144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HTTP routes</a:t>
            </a:r>
          </a:p>
        </p:txBody>
      </p:sp>
      <p:sp>
        <p:nvSpPr>
          <p:cNvPr id="22" name="a4u_card21"/>
          <p:cNvSpPr/>
          <p:nvPr/>
        </p:nvSpPr>
        <p:spPr>
          <a:xfrm>
            <a:off x="2564892" y="2706624"/>
            <a:ext cx="190652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4u_acc22"/>
          <p:cNvSpPr/>
          <p:nvPr/>
        </p:nvSpPr>
        <p:spPr>
          <a:xfrm>
            <a:off x="2564892" y="2706624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4ud90_ct23"/>
          <p:cNvSpPr txBox="1"/>
          <p:nvPr/>
        </p:nvSpPr>
        <p:spPr>
          <a:xfrm>
            <a:off x="2729484" y="2907792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Ecto queries</a:t>
            </a:r>
          </a:p>
        </p:txBody>
      </p:sp>
      <p:sp>
        <p:nvSpPr>
          <p:cNvPr id="25" name="a4ud120_cs24"/>
          <p:cNvSpPr txBox="1"/>
          <p:nvPr/>
        </p:nvSpPr>
        <p:spPr>
          <a:xfrm>
            <a:off x="2729484" y="3182112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data</a:t>
            </a:r>
          </a:p>
        </p:txBody>
      </p:sp>
      <p:sp>
        <p:nvSpPr>
          <p:cNvPr id="26" name="a4ud150_cb25"/>
          <p:cNvSpPr txBox="1"/>
          <p:nvPr/>
        </p:nvSpPr>
        <p:spPr>
          <a:xfrm>
            <a:off x="2729484" y="3438144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database queries</a:t>
            </a:r>
          </a:p>
        </p:txBody>
      </p:sp>
      <p:sp>
        <p:nvSpPr>
          <p:cNvPr id="27" name="a4u_card26"/>
          <p:cNvSpPr/>
          <p:nvPr/>
        </p:nvSpPr>
        <p:spPr>
          <a:xfrm>
            <a:off x="4672584" y="2706624"/>
            <a:ext cx="190652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4u_acc27"/>
          <p:cNvSpPr/>
          <p:nvPr/>
        </p:nvSpPr>
        <p:spPr>
          <a:xfrm>
            <a:off x="4672584" y="2706624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4ud90_ct28"/>
          <p:cNvSpPr txBox="1"/>
          <p:nvPr/>
        </p:nvSpPr>
        <p:spPr>
          <a:xfrm>
            <a:off x="4837176" y="2907792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ExUnit tests</a:t>
            </a:r>
          </a:p>
        </p:txBody>
      </p:sp>
      <p:sp>
        <p:nvSpPr>
          <p:cNvPr id="30" name="a4ud120_cs29"/>
          <p:cNvSpPr txBox="1"/>
          <p:nvPr/>
        </p:nvSpPr>
        <p:spPr>
          <a:xfrm>
            <a:off x="4837176" y="3182112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testing</a:t>
            </a:r>
          </a:p>
        </p:txBody>
      </p:sp>
      <p:sp>
        <p:nvSpPr>
          <p:cNvPr id="31" name="a4ud150_cb30"/>
          <p:cNvSpPr txBox="1"/>
          <p:nvPr/>
        </p:nvSpPr>
        <p:spPr>
          <a:xfrm>
            <a:off x="4837176" y="3438144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test cases</a:t>
            </a:r>
          </a:p>
        </p:txBody>
      </p:sp>
      <p:sp>
        <p:nvSpPr>
          <p:cNvPr id="32" name="a4u_card31"/>
          <p:cNvSpPr/>
          <p:nvPr/>
        </p:nvSpPr>
        <p:spPr>
          <a:xfrm>
            <a:off x="6780276" y="2706624"/>
            <a:ext cx="190652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4u_acc32"/>
          <p:cNvSpPr/>
          <p:nvPr/>
        </p:nvSpPr>
        <p:spPr>
          <a:xfrm>
            <a:off x="6780276" y="2706624"/>
            <a:ext cx="1906524" cy="5029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4ud90_ct33"/>
          <p:cNvSpPr txBox="1"/>
          <p:nvPr/>
        </p:nvSpPr>
        <p:spPr>
          <a:xfrm>
            <a:off x="6944868" y="2907792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Absinthe</a:t>
            </a:r>
          </a:p>
        </p:txBody>
      </p:sp>
      <p:sp>
        <p:nvSpPr>
          <p:cNvPr id="35" name="a4ud120_cs34"/>
          <p:cNvSpPr txBox="1"/>
          <p:nvPr/>
        </p:nvSpPr>
        <p:spPr>
          <a:xfrm>
            <a:off x="6944868" y="3182112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0533"/>
                </a:solidFill>
                <a:latin typeface="Courier New"/>
              </a:rPr>
              <a:t>api</a:t>
            </a:r>
          </a:p>
        </p:txBody>
      </p:sp>
      <p:sp>
        <p:nvSpPr>
          <p:cNvPr id="36" name="a4ud150_cb35"/>
          <p:cNvSpPr txBox="1"/>
          <p:nvPr/>
        </p:nvSpPr>
        <p:spPr>
          <a:xfrm>
            <a:off x="6944868" y="3438144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GraphQL schemas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Metaprogramming, macros &amp; DSLs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Four examples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From a one-line logger
to a small HTML builder.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log/1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defgetter/1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my_unless/2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tag/2 · tag/3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EXAMPLES · LOGGING WITH LOCATION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Example 1 — a logging macro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log/1 prints the caller's file and line in front of the message.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800600" cy="3246120"/>
          </a:xfrm>
          <a:prstGeom prst="roundRect">
            <a:avLst>
              <a:gd name="adj" fmla="val 225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85216" y="1362456"/>
            <a:ext cx="45445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logger_macro.exs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85216" y="1709928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defmodule LoggerMacro do</a:t>
            </a:r>
          </a:p>
        </p:txBody>
      </p:sp>
      <p:sp>
        <p:nvSpPr>
          <p:cNvPr id="8" name="a1wd40_code7"/>
          <p:cNvSpPr txBox="1"/>
          <p:nvPr/>
        </p:nvSpPr>
        <p:spPr>
          <a:xfrm>
            <a:off x="585216" y="1860804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  defmacro log(msg) do</a:t>
            </a:r>
          </a:p>
        </p:txBody>
      </p:sp>
      <p:sp>
        <p:nvSpPr>
          <p:cNvPr id="9" name="a1wd80_code8"/>
          <p:cNvSpPr txBox="1"/>
          <p:nvPr/>
        </p:nvSpPr>
        <p:spPr>
          <a:xfrm>
            <a:off x="585216" y="2011680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quote do</a:t>
            </a:r>
          </a:p>
        </p:txBody>
      </p:sp>
      <p:sp>
        <p:nvSpPr>
          <p:cNvPr id="10" name="a1wd120_code9"/>
          <p:cNvSpPr txBox="1"/>
          <p:nvPr/>
        </p:nvSpPr>
        <p:spPr>
          <a:xfrm>
            <a:off x="585216" y="2162556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  IO.puts("[#{__ENV__.file}:#{__ENV__.line}] #{unquote(msg)}")</a:t>
            </a:r>
          </a:p>
        </p:txBody>
      </p:sp>
      <p:sp>
        <p:nvSpPr>
          <p:cNvPr id="11" name="a1wd160_code10"/>
          <p:cNvSpPr txBox="1"/>
          <p:nvPr/>
        </p:nvSpPr>
        <p:spPr>
          <a:xfrm>
            <a:off x="585216" y="2313432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end</a:t>
            </a:r>
          </a:p>
        </p:txBody>
      </p:sp>
      <p:sp>
        <p:nvSpPr>
          <p:cNvPr id="12" name="a1wd200_code11"/>
          <p:cNvSpPr txBox="1"/>
          <p:nvPr/>
        </p:nvSpPr>
        <p:spPr>
          <a:xfrm>
            <a:off x="585216" y="2464308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3" name="a1wd240_code12"/>
          <p:cNvSpPr txBox="1"/>
          <p:nvPr/>
        </p:nvSpPr>
        <p:spPr>
          <a:xfrm>
            <a:off x="585216" y="2615184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4" name="a1wd280_code13"/>
          <p:cNvSpPr txBox="1"/>
          <p:nvPr/>
        </p:nvSpPr>
        <p:spPr>
          <a:xfrm>
            <a:off x="585216" y="2766060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5" name="a1wd320_code14"/>
          <p:cNvSpPr txBox="1"/>
          <p:nvPr/>
        </p:nvSpPr>
        <p:spPr>
          <a:xfrm>
            <a:off x="585216" y="2916936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defmodule Demo do</a:t>
            </a:r>
          </a:p>
        </p:txBody>
      </p:sp>
      <p:sp>
        <p:nvSpPr>
          <p:cNvPr id="16" name="a1wd360_code15"/>
          <p:cNvSpPr txBox="1"/>
          <p:nvPr/>
        </p:nvSpPr>
        <p:spPr>
          <a:xfrm>
            <a:off x="585216" y="3067812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require LoggerMacro</a:t>
            </a:r>
          </a:p>
        </p:txBody>
      </p:sp>
      <p:sp>
        <p:nvSpPr>
          <p:cNvPr id="17" name="a1wd400_code16"/>
          <p:cNvSpPr txBox="1"/>
          <p:nvPr/>
        </p:nvSpPr>
        <p:spPr>
          <a:xfrm>
            <a:off x="585216" y="3218688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import LoggerMacro</a:t>
            </a:r>
          </a:p>
        </p:txBody>
      </p:sp>
      <p:sp>
        <p:nvSpPr>
          <p:cNvPr id="18" name="a1wd440_code17"/>
          <p:cNvSpPr txBox="1"/>
          <p:nvPr/>
        </p:nvSpPr>
        <p:spPr>
          <a:xfrm>
            <a:off x="585216" y="3369564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9" name="a1wd480_code18"/>
          <p:cNvSpPr txBox="1"/>
          <p:nvPr/>
        </p:nvSpPr>
        <p:spPr>
          <a:xfrm>
            <a:off x="585216" y="3520440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  def run do</a:t>
            </a:r>
          </a:p>
        </p:txBody>
      </p:sp>
      <p:sp>
        <p:nvSpPr>
          <p:cNvPr id="20" name="a1wd520_code19"/>
          <p:cNvSpPr txBox="1"/>
          <p:nvPr/>
        </p:nvSpPr>
        <p:spPr>
          <a:xfrm>
            <a:off x="585216" y="3671316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log("Hello from a macro!")</a:t>
            </a:r>
          </a:p>
        </p:txBody>
      </p:sp>
      <p:sp>
        <p:nvSpPr>
          <p:cNvPr id="21" name="a1wd560_code20"/>
          <p:cNvSpPr txBox="1"/>
          <p:nvPr/>
        </p:nvSpPr>
        <p:spPr>
          <a:xfrm>
            <a:off x="585216" y="3822191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log("Another message")</a:t>
            </a:r>
          </a:p>
        </p:txBody>
      </p:sp>
      <p:sp>
        <p:nvSpPr>
          <p:cNvPr id="22" name="a1wd600_code21"/>
          <p:cNvSpPr txBox="1"/>
          <p:nvPr/>
        </p:nvSpPr>
        <p:spPr>
          <a:xfrm>
            <a:off x="585216" y="3973068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23" name="a1wd640_code22"/>
          <p:cNvSpPr txBox="1"/>
          <p:nvPr/>
        </p:nvSpPr>
        <p:spPr>
          <a:xfrm>
            <a:off x="585216" y="4123944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4" name="a1wd680_code23"/>
          <p:cNvSpPr txBox="1"/>
          <p:nvPr/>
        </p:nvSpPr>
        <p:spPr>
          <a:xfrm>
            <a:off x="585216" y="4274820"/>
            <a:ext cx="4544568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Demo.run()</a:t>
            </a:r>
          </a:p>
        </p:txBody>
      </p:sp>
      <p:sp>
        <p:nvSpPr>
          <p:cNvPr id="25" name="a2f_codebg24"/>
          <p:cNvSpPr/>
          <p:nvPr/>
        </p:nvSpPr>
        <p:spPr>
          <a:xfrm>
            <a:off x="5440680" y="1307592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f_codeh25"/>
          <p:cNvSpPr txBox="1"/>
          <p:nvPr/>
        </p:nvSpPr>
        <p:spPr>
          <a:xfrm>
            <a:off x="5605272" y="1362456"/>
            <a:ext cx="29169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</a:t>
            </a:r>
          </a:p>
        </p:txBody>
      </p:sp>
      <p:sp>
        <p:nvSpPr>
          <p:cNvPr id="27" name="a2w_code26"/>
          <p:cNvSpPr txBox="1"/>
          <p:nvPr/>
        </p:nvSpPr>
        <p:spPr>
          <a:xfrm>
            <a:off x="5605272" y="1746504"/>
            <a:ext cx="291693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[.../logger_macro.exs:14]</a:t>
            </a:r>
          </a:p>
        </p:txBody>
      </p:sp>
      <p:sp>
        <p:nvSpPr>
          <p:cNvPr id="28" name="a2wd100_code27"/>
          <p:cNvSpPr txBox="1"/>
          <p:nvPr/>
        </p:nvSpPr>
        <p:spPr>
          <a:xfrm>
            <a:off x="5605272" y="1938528"/>
            <a:ext cx="291693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Hello from a macro!</a:t>
            </a:r>
          </a:p>
        </p:txBody>
      </p:sp>
      <p:sp>
        <p:nvSpPr>
          <p:cNvPr id="29" name="a2wd200_code28"/>
          <p:cNvSpPr txBox="1"/>
          <p:nvPr/>
        </p:nvSpPr>
        <p:spPr>
          <a:xfrm>
            <a:off x="5605272" y="2130552"/>
            <a:ext cx="291693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[.../logger_macro.exs:15]</a:t>
            </a:r>
          </a:p>
        </p:txBody>
      </p:sp>
      <p:sp>
        <p:nvSpPr>
          <p:cNvPr id="30" name="a2wd300_code29"/>
          <p:cNvSpPr txBox="1"/>
          <p:nvPr/>
        </p:nvSpPr>
        <p:spPr>
          <a:xfrm>
            <a:off x="5605272" y="2322576"/>
            <a:ext cx="291693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Another message</a:t>
            </a:r>
          </a:p>
        </p:txBody>
      </p:sp>
      <p:sp>
        <p:nvSpPr>
          <p:cNvPr id="31" name="a3u_nb30"/>
          <p:cNvSpPr/>
          <p:nvPr/>
        </p:nvSpPr>
        <p:spPr>
          <a:xfrm>
            <a:off x="5440680" y="2798063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u_nacc31"/>
          <p:cNvSpPr/>
          <p:nvPr/>
        </p:nvSpPr>
        <p:spPr>
          <a:xfrm>
            <a:off x="5440680" y="2798063"/>
            <a:ext cx="50292" cy="1143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u_nt32"/>
          <p:cNvSpPr txBox="1"/>
          <p:nvPr/>
        </p:nvSpPr>
        <p:spPr>
          <a:xfrm>
            <a:off x="5641848" y="2798063"/>
            <a:ext cx="284378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5803D"/>
                </a:solidFill>
                <a:latin typeface="Calibri"/>
              </a:rPr>
              <a:t>✓ 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location is baked in at compile time. 14 and 15 are the lines of the two log(...) calls — the notes said 12 and 13.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Metaprogramming, macros &amp; DSLs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EXAMPLES · LOGGING WITH LOCATION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the compiler does with log("Hi")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call is replaced by the quoted code — and then that code is compiled into Demo.</a:t>
            </a:r>
          </a:p>
        </p:txBody>
      </p:sp>
      <p:sp>
        <p:nvSpPr>
          <p:cNvPr id="5" name="a1u_stg4"/>
          <p:cNvSpPr/>
          <p:nvPr/>
        </p:nvSpPr>
        <p:spPr>
          <a:xfrm>
            <a:off x="457200" y="1362456"/>
            <a:ext cx="2468880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stgt5"/>
          <p:cNvSpPr txBox="1"/>
          <p:nvPr/>
        </p:nvSpPr>
        <p:spPr>
          <a:xfrm>
            <a:off x="530352" y="1417319"/>
            <a:ext cx="232257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Courier New"/>
              </a:rPr>
              <a:t>log("Hi")</a:t>
            </a:r>
          </a:p>
        </p:txBody>
      </p:sp>
      <p:sp>
        <p:nvSpPr>
          <p:cNvPr id="7" name="a1u_stgt6"/>
          <p:cNvSpPr txBox="1"/>
          <p:nvPr/>
        </p:nvSpPr>
        <p:spPr>
          <a:xfrm>
            <a:off x="530352" y="1764792"/>
            <a:ext cx="23225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the call in Demo.run/0</a:t>
            </a:r>
          </a:p>
        </p:txBody>
      </p:sp>
      <p:cxnSp>
        <p:nvCxnSpPr>
          <p:cNvPr id="8" name="a2u_ln7"/>
          <p:cNvCxnSpPr/>
          <p:nvPr/>
        </p:nvCxnSpPr>
        <p:spPr>
          <a:xfrm>
            <a:off x="2944368" y="1746504"/>
            <a:ext cx="32918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2u_stg8"/>
          <p:cNvSpPr/>
          <p:nvPr/>
        </p:nvSpPr>
        <p:spPr>
          <a:xfrm>
            <a:off x="3291840" y="1362456"/>
            <a:ext cx="2468880" cy="777240"/>
          </a:xfrm>
          <a:prstGeom prst="roundRect">
            <a:avLst>
              <a:gd name="adj" fmla="val 9411"/>
            </a:avLst>
          </a:prstGeom>
          <a:solidFill>
            <a:srgbClr val="F1EAF8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2u_stgt9"/>
          <p:cNvSpPr txBox="1"/>
          <p:nvPr/>
        </p:nvSpPr>
        <p:spPr>
          <a:xfrm>
            <a:off x="3364992" y="1417319"/>
            <a:ext cx="232257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4B275F"/>
                </a:solidFill>
                <a:latin typeface="Courier New"/>
              </a:rPr>
              <a:t>LoggerMacro.log/1</a:t>
            </a:r>
          </a:p>
        </p:txBody>
      </p:sp>
      <p:sp>
        <p:nvSpPr>
          <p:cNvPr id="11" name="a2u_stgt10"/>
          <p:cNvSpPr txBox="1"/>
          <p:nvPr/>
        </p:nvSpPr>
        <p:spPr>
          <a:xfrm>
            <a:off x="3364992" y="1764792"/>
            <a:ext cx="23225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runs inside the compiler</a:t>
            </a:r>
          </a:p>
        </p:txBody>
      </p:sp>
      <p:cxnSp>
        <p:nvCxnSpPr>
          <p:cNvPr id="12" name="a3u_ln11"/>
          <p:cNvCxnSpPr/>
          <p:nvPr/>
        </p:nvCxnSpPr>
        <p:spPr>
          <a:xfrm>
            <a:off x="5779008" y="1746504"/>
            <a:ext cx="32918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3u_stg12"/>
          <p:cNvSpPr/>
          <p:nvPr/>
        </p:nvSpPr>
        <p:spPr>
          <a:xfrm>
            <a:off x="6126480" y="1362456"/>
            <a:ext cx="2468880" cy="777240"/>
          </a:xfrm>
          <a:prstGeom prst="roundRect">
            <a:avLst>
              <a:gd name="adj" fmla="val 9411"/>
            </a:avLst>
          </a:prstGeom>
          <a:solidFill>
            <a:srgbClr val="CCFB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3u_stgt13"/>
          <p:cNvSpPr txBox="1"/>
          <p:nvPr/>
        </p:nvSpPr>
        <p:spPr>
          <a:xfrm>
            <a:off x="6199632" y="1417319"/>
            <a:ext cx="232257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F766E"/>
                </a:solidFill>
                <a:latin typeface="Courier New"/>
              </a:rPr>
              <a:t>IO.puts(...)</a:t>
            </a:r>
          </a:p>
        </p:txBody>
      </p:sp>
      <p:sp>
        <p:nvSpPr>
          <p:cNvPr id="15" name="a3u_stgt14"/>
          <p:cNvSpPr txBox="1"/>
          <p:nvPr/>
        </p:nvSpPr>
        <p:spPr>
          <a:xfrm>
            <a:off x="6199632" y="1764792"/>
            <a:ext cx="23225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the code left behind in Demo</a:t>
            </a:r>
          </a:p>
        </p:txBody>
      </p:sp>
      <p:sp>
        <p:nvSpPr>
          <p:cNvPr id="16" name="a4f_codebg15"/>
          <p:cNvSpPr/>
          <p:nvPr/>
        </p:nvSpPr>
        <p:spPr>
          <a:xfrm>
            <a:off x="457200" y="2340863"/>
            <a:ext cx="8229600" cy="832103"/>
          </a:xfrm>
          <a:prstGeom prst="roundRect">
            <a:avLst>
              <a:gd name="adj" fmla="val 879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4f_codeh16"/>
          <p:cNvSpPr txBox="1"/>
          <p:nvPr/>
        </p:nvSpPr>
        <p:spPr>
          <a:xfrm>
            <a:off x="621792" y="2395727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EXPANSION · Macro.expand_once(quote(do: LoggerMacro.log("Hi")), __ENV__)</a:t>
            </a:r>
          </a:p>
        </p:txBody>
      </p:sp>
      <p:sp>
        <p:nvSpPr>
          <p:cNvPr id="18" name="a4w_code17"/>
          <p:cNvSpPr txBox="1"/>
          <p:nvPr/>
        </p:nvSpPr>
        <p:spPr>
          <a:xfrm>
            <a:off x="621792" y="2779775"/>
            <a:ext cx="7900416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ourier New"/>
              </a:rPr>
              <a:t>IO.puts("[#{__ENV__.file}:#{__ENV__.line}] #{"Hi"}")</a:t>
            </a:r>
          </a:p>
        </p:txBody>
      </p:sp>
      <p:sp>
        <p:nvSpPr>
          <p:cNvPr id="19" name="a5u_nb18"/>
          <p:cNvSpPr/>
          <p:nvPr/>
        </p:nvSpPr>
        <p:spPr>
          <a:xfrm>
            <a:off x="457200" y="33375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5u_nacc19"/>
          <p:cNvSpPr/>
          <p:nvPr/>
        </p:nvSpPr>
        <p:spPr>
          <a:xfrm>
            <a:off x="457200" y="3337560"/>
            <a:ext cx="50292" cy="9601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5u_nt20"/>
          <p:cNvSpPr txBox="1"/>
          <p:nvPr/>
        </p:nvSpPr>
        <p:spPr>
          <a:xfrm>
            <a:off x="658368" y="3337560"/>
            <a:ext cx="362102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i  </a:t>
            </a:r>
            <a:r>
              <a:rPr sz="1050" b="0">
                <a:solidFill>
                  <a:srgbClr val="334155"/>
                </a:solidFill>
                <a:latin typeface="Calibri"/>
              </a:rPr>
              <a:t>__ENV__ is quoted too, so it is evaluated where the code lands — in Demo, at the caller's line. unquote(msg) drops in the caller's argument.</a:t>
            </a:r>
          </a:p>
        </p:txBody>
      </p:sp>
      <p:sp>
        <p:nvSpPr>
          <p:cNvPr id="22" name="a6u_nb21"/>
          <p:cNvSpPr/>
          <p:nvPr/>
        </p:nvSpPr>
        <p:spPr>
          <a:xfrm>
            <a:off x="4663440" y="33375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6u_nacc22"/>
          <p:cNvSpPr/>
          <p:nvPr/>
        </p:nvSpPr>
        <p:spPr>
          <a:xfrm>
            <a:off x="4663440" y="3337560"/>
            <a:ext cx="50292" cy="9601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6u_nt23"/>
          <p:cNvSpPr txBox="1"/>
          <p:nvPr/>
        </p:nvSpPr>
        <p:spPr>
          <a:xfrm>
            <a:off x="4864607" y="3337560"/>
            <a:ext cx="362102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!  </a:t>
            </a:r>
            <a:r>
              <a:rPr sz="1050" b="0">
                <a:solidFill>
                  <a:srgbClr val="334155"/>
                </a:solidFill>
                <a:latin typeface="Calibri"/>
              </a:rPr>
              <a:t>require LoggerMacro is redundant: import also requires the module. With only the import it compiles and prints the same (verified).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Metaprogramming, macros &amp; DSLs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EXAMPLES · GENERATING FUNCTIONS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Example 2 — a macro that writes functions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unquote(name) is used twice: as the function name and as the map key.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206240" cy="3297326"/>
          </a:xfrm>
          <a:prstGeom prst="roundRect">
            <a:avLst>
              <a:gd name="adj" fmla="val 221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85216" y="1362456"/>
            <a:ext cx="395020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getter.exs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85216" y="1709928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defmodule Getter do</a:t>
            </a:r>
          </a:p>
        </p:txBody>
      </p:sp>
      <p:sp>
        <p:nvSpPr>
          <p:cNvPr id="8" name="a1wd45_code7"/>
          <p:cNvSpPr txBox="1"/>
          <p:nvPr/>
        </p:nvSpPr>
        <p:spPr>
          <a:xfrm>
            <a:off x="585216" y="1872691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defmacro defgetter(name) do</a:t>
            </a:r>
          </a:p>
        </p:txBody>
      </p:sp>
      <p:sp>
        <p:nvSpPr>
          <p:cNvPr id="9" name="a1wd90_code8"/>
          <p:cNvSpPr txBox="1"/>
          <p:nvPr/>
        </p:nvSpPr>
        <p:spPr>
          <a:xfrm>
            <a:off x="585216" y="2035454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quote do</a:t>
            </a:r>
          </a:p>
        </p:txBody>
      </p:sp>
      <p:sp>
        <p:nvSpPr>
          <p:cNvPr id="10" name="a1wd135_code9"/>
          <p:cNvSpPr txBox="1"/>
          <p:nvPr/>
        </p:nvSpPr>
        <p:spPr>
          <a:xfrm>
            <a:off x="585216" y="2198217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    def unquote(name)(map) do</a:t>
            </a:r>
          </a:p>
        </p:txBody>
      </p:sp>
      <p:sp>
        <p:nvSpPr>
          <p:cNvPr id="11" name="a1wd180_code10"/>
          <p:cNvSpPr txBox="1"/>
          <p:nvPr/>
        </p:nvSpPr>
        <p:spPr>
          <a:xfrm>
            <a:off x="585216" y="2360980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    Map.get(map, unquote(name))</a:t>
            </a:r>
          </a:p>
        </p:txBody>
      </p:sp>
      <p:sp>
        <p:nvSpPr>
          <p:cNvPr id="12" name="a1wd225_code11"/>
          <p:cNvSpPr txBox="1"/>
          <p:nvPr/>
        </p:nvSpPr>
        <p:spPr>
          <a:xfrm>
            <a:off x="585216" y="2523744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  end</a:t>
            </a:r>
          </a:p>
        </p:txBody>
      </p:sp>
      <p:sp>
        <p:nvSpPr>
          <p:cNvPr id="13" name="a1wd270_code12"/>
          <p:cNvSpPr txBox="1"/>
          <p:nvPr/>
        </p:nvSpPr>
        <p:spPr>
          <a:xfrm>
            <a:off x="585216" y="2686507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end</a:t>
            </a:r>
          </a:p>
        </p:txBody>
      </p:sp>
      <p:sp>
        <p:nvSpPr>
          <p:cNvPr id="14" name="a1wd315_code13"/>
          <p:cNvSpPr txBox="1"/>
          <p:nvPr/>
        </p:nvSpPr>
        <p:spPr>
          <a:xfrm>
            <a:off x="585216" y="2849270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5" name="a1wd360_code14"/>
          <p:cNvSpPr txBox="1"/>
          <p:nvPr/>
        </p:nvSpPr>
        <p:spPr>
          <a:xfrm>
            <a:off x="585216" y="3012033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6" name="a1wd405_code15"/>
          <p:cNvSpPr txBox="1"/>
          <p:nvPr/>
        </p:nvSpPr>
        <p:spPr>
          <a:xfrm>
            <a:off x="585216" y="3174796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7" name="a1wd450_code16"/>
          <p:cNvSpPr txBox="1"/>
          <p:nvPr/>
        </p:nvSpPr>
        <p:spPr>
          <a:xfrm>
            <a:off x="585216" y="3337560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defmodule Person do</a:t>
            </a:r>
          </a:p>
        </p:txBody>
      </p:sp>
      <p:sp>
        <p:nvSpPr>
          <p:cNvPr id="18" name="a1wd495_code17"/>
          <p:cNvSpPr txBox="1"/>
          <p:nvPr/>
        </p:nvSpPr>
        <p:spPr>
          <a:xfrm>
            <a:off x="585216" y="3500323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require Getter</a:t>
            </a:r>
          </a:p>
        </p:txBody>
      </p:sp>
      <p:sp>
        <p:nvSpPr>
          <p:cNvPr id="19" name="a1wd540_code18"/>
          <p:cNvSpPr txBox="1"/>
          <p:nvPr/>
        </p:nvSpPr>
        <p:spPr>
          <a:xfrm>
            <a:off x="585216" y="3663086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import Getter</a:t>
            </a:r>
          </a:p>
        </p:txBody>
      </p:sp>
      <p:sp>
        <p:nvSpPr>
          <p:cNvPr id="20" name="a1wd585_code19"/>
          <p:cNvSpPr txBox="1"/>
          <p:nvPr/>
        </p:nvSpPr>
        <p:spPr>
          <a:xfrm>
            <a:off x="585216" y="3825849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1" name="a1wd630_code20"/>
          <p:cNvSpPr txBox="1"/>
          <p:nvPr/>
        </p:nvSpPr>
        <p:spPr>
          <a:xfrm>
            <a:off x="585216" y="3988612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defgetter :name</a:t>
            </a:r>
          </a:p>
        </p:txBody>
      </p:sp>
      <p:sp>
        <p:nvSpPr>
          <p:cNvPr id="22" name="a1wd675_code21"/>
          <p:cNvSpPr txBox="1"/>
          <p:nvPr/>
        </p:nvSpPr>
        <p:spPr>
          <a:xfrm>
            <a:off x="585216" y="4151376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defgetter :age</a:t>
            </a:r>
          </a:p>
        </p:txBody>
      </p:sp>
      <p:sp>
        <p:nvSpPr>
          <p:cNvPr id="23" name="a1wd720_code22"/>
          <p:cNvSpPr txBox="1"/>
          <p:nvPr/>
        </p:nvSpPr>
        <p:spPr>
          <a:xfrm>
            <a:off x="585216" y="4314139"/>
            <a:ext cx="3950207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4" name="a2f_codebg23"/>
          <p:cNvSpPr/>
          <p:nvPr/>
        </p:nvSpPr>
        <p:spPr>
          <a:xfrm>
            <a:off x="4846320" y="1307592"/>
            <a:ext cx="3840480" cy="1563624"/>
          </a:xfrm>
          <a:prstGeom prst="roundRect">
            <a:avLst>
              <a:gd name="adj" fmla="val 467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f_codeh24"/>
          <p:cNvSpPr txBox="1"/>
          <p:nvPr/>
        </p:nvSpPr>
        <p:spPr>
          <a:xfrm>
            <a:off x="5010912" y="1362456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iex · REAL</a:t>
            </a:r>
          </a:p>
        </p:txBody>
      </p:sp>
      <p:sp>
        <p:nvSpPr>
          <p:cNvPr id="26" name="a2w_code25"/>
          <p:cNvSpPr txBox="1"/>
          <p:nvPr/>
        </p:nvSpPr>
        <p:spPr>
          <a:xfrm>
            <a:off x="5010912" y="1746504"/>
            <a:ext cx="35112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person = %{name: "Alice", age: 30}</a:t>
            </a:r>
          </a:p>
        </p:txBody>
      </p:sp>
      <p:sp>
        <p:nvSpPr>
          <p:cNvPr id="27" name="a2wd80_code26"/>
          <p:cNvSpPr txBox="1"/>
          <p:nvPr/>
        </p:nvSpPr>
        <p:spPr>
          <a:xfrm>
            <a:off x="5010912" y="1938528"/>
            <a:ext cx="35112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Person.name(person)     #=&gt; "Alice"</a:t>
            </a:r>
          </a:p>
        </p:txBody>
      </p:sp>
      <p:sp>
        <p:nvSpPr>
          <p:cNvPr id="28" name="a2wd160_code27"/>
          <p:cNvSpPr txBox="1"/>
          <p:nvPr/>
        </p:nvSpPr>
        <p:spPr>
          <a:xfrm>
            <a:off x="5010912" y="2130552"/>
            <a:ext cx="35112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Person.age(person)      #=&gt; 30</a:t>
            </a:r>
          </a:p>
        </p:txBody>
      </p:sp>
      <p:sp>
        <p:nvSpPr>
          <p:cNvPr id="29" name="a2wd240_code28"/>
          <p:cNvSpPr txBox="1"/>
          <p:nvPr/>
        </p:nvSpPr>
        <p:spPr>
          <a:xfrm>
            <a:off x="5010912" y="2322576"/>
            <a:ext cx="35112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Person.__info__(:functions)</a:t>
            </a:r>
          </a:p>
        </p:txBody>
      </p:sp>
      <p:sp>
        <p:nvSpPr>
          <p:cNvPr id="30" name="a2wd320_code29"/>
          <p:cNvSpPr txBox="1"/>
          <p:nvPr/>
        </p:nvSpPr>
        <p:spPr>
          <a:xfrm>
            <a:off x="5010912" y="2514600"/>
            <a:ext cx="35112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[age: 1, name: 1]</a:t>
            </a:r>
          </a:p>
        </p:txBody>
      </p:sp>
      <p:sp>
        <p:nvSpPr>
          <p:cNvPr id="31" name="a3f_codebg30"/>
          <p:cNvSpPr/>
          <p:nvPr/>
        </p:nvSpPr>
        <p:spPr>
          <a:xfrm>
            <a:off x="4846320" y="3008375"/>
            <a:ext cx="3840480" cy="1207007"/>
          </a:xfrm>
          <a:prstGeom prst="roundRect">
            <a:avLst>
              <a:gd name="adj" fmla="val 606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f_codeh31"/>
          <p:cNvSpPr txBox="1"/>
          <p:nvPr/>
        </p:nvSpPr>
        <p:spPr>
          <a:xfrm>
            <a:off x="5010912" y="3063239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EXPANSION · defgetter :name</a:t>
            </a:r>
          </a:p>
        </p:txBody>
      </p:sp>
      <p:sp>
        <p:nvSpPr>
          <p:cNvPr id="33" name="a3w_code32"/>
          <p:cNvSpPr txBox="1"/>
          <p:nvPr/>
        </p:nvSpPr>
        <p:spPr>
          <a:xfrm>
            <a:off x="5010912" y="3447287"/>
            <a:ext cx="35112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 name(map) do</a:t>
            </a:r>
          </a:p>
        </p:txBody>
      </p:sp>
      <p:sp>
        <p:nvSpPr>
          <p:cNvPr id="34" name="a3wd80_code33"/>
          <p:cNvSpPr txBox="1"/>
          <p:nvPr/>
        </p:nvSpPr>
        <p:spPr>
          <a:xfrm>
            <a:off x="5010912" y="3648456"/>
            <a:ext cx="35112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Map.get(map, :name)</a:t>
            </a:r>
          </a:p>
        </p:txBody>
      </p:sp>
      <p:sp>
        <p:nvSpPr>
          <p:cNvPr id="35" name="a3wd160_code34"/>
          <p:cNvSpPr txBox="1"/>
          <p:nvPr/>
        </p:nvSpPr>
        <p:spPr>
          <a:xfrm>
            <a:off x="5010912" y="3849624"/>
            <a:ext cx="351129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Metaprogramming, macros &amp; DSLs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EXAMPLES · A TINY CONTROL-FLOW DSL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Example 3 — your own unless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Elixir already has unless — but a short macro is all it takes to write it yourself.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206240" cy="2249424"/>
          </a:xfrm>
          <a:prstGeom prst="roundRect">
            <a:avLst>
              <a:gd name="adj" fmla="val 32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62456"/>
            <a:ext cx="38770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control.exs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46504"/>
            <a:ext cx="387705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Control do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29384"/>
            <a:ext cx="387705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defmacro my_unless(condition, do: block) do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12264"/>
            <a:ext cx="387705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  quote do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295144"/>
            <a:ext cx="387705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    if !unquote(condition) do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78024"/>
            <a:ext cx="387705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      unquote(block)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60904"/>
            <a:ext cx="387705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    end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43784"/>
            <a:ext cx="387705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  end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026664"/>
            <a:ext cx="387705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209544"/>
            <a:ext cx="387705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6" name="a2u_nb15"/>
          <p:cNvSpPr/>
          <p:nvPr/>
        </p:nvSpPr>
        <p:spPr>
          <a:xfrm>
            <a:off x="457200" y="3694176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nacc16"/>
          <p:cNvSpPr/>
          <p:nvPr/>
        </p:nvSpPr>
        <p:spPr>
          <a:xfrm>
            <a:off x="457200" y="3694176"/>
            <a:ext cx="50292" cy="91440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nt17"/>
          <p:cNvSpPr txBox="1"/>
          <p:nvPr/>
        </p:nvSpPr>
        <p:spPr>
          <a:xfrm>
            <a:off x="658368" y="3694176"/>
            <a:ext cx="380390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i 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do … end block arrives as [do: block], so the macro head pattern-matches it out. It receives code, not values — the block has not run yet.</a:t>
            </a:r>
          </a:p>
        </p:txBody>
      </p:sp>
      <p:sp>
        <p:nvSpPr>
          <p:cNvPr id="19" name="a3f_codebg18"/>
          <p:cNvSpPr/>
          <p:nvPr/>
        </p:nvSpPr>
        <p:spPr>
          <a:xfrm>
            <a:off x="4846320" y="1307592"/>
            <a:ext cx="3840480" cy="1883664"/>
          </a:xfrm>
          <a:prstGeom prst="roundRect">
            <a:avLst>
              <a:gd name="adj" fmla="val 388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3f_codeh19"/>
          <p:cNvSpPr txBox="1"/>
          <p:nvPr/>
        </p:nvSpPr>
        <p:spPr>
          <a:xfrm>
            <a:off x="5010912" y="1362456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inside DSLDemo.run/0 · REAL</a:t>
            </a:r>
          </a:p>
        </p:txBody>
      </p:sp>
      <p:sp>
        <p:nvSpPr>
          <p:cNvPr id="21" name="a3w_code20"/>
          <p:cNvSpPr txBox="1"/>
          <p:nvPr/>
        </p:nvSpPr>
        <p:spPr>
          <a:xfrm>
            <a:off x="5010912" y="174650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my_unless 1 + 1 == 3 do</a:t>
            </a:r>
          </a:p>
        </p:txBody>
      </p:sp>
      <p:sp>
        <p:nvSpPr>
          <p:cNvPr id="22" name="a3wd70_code21"/>
          <p:cNvSpPr txBox="1"/>
          <p:nvPr/>
        </p:nvSpPr>
        <p:spPr>
          <a:xfrm>
            <a:off x="5010912" y="192938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IO.puts("Math still works!")</a:t>
            </a:r>
          </a:p>
        </p:txBody>
      </p:sp>
      <p:sp>
        <p:nvSpPr>
          <p:cNvPr id="23" name="a3wd140_code22"/>
          <p:cNvSpPr txBox="1"/>
          <p:nvPr/>
        </p:nvSpPr>
        <p:spPr>
          <a:xfrm>
            <a:off x="5010912" y="211226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4" name="a3wd210_code23"/>
          <p:cNvSpPr txBox="1"/>
          <p:nvPr/>
        </p:nvSpPr>
        <p:spPr>
          <a:xfrm>
            <a:off x="5010912" y="229514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my_unless true do</a:t>
            </a:r>
          </a:p>
        </p:txBody>
      </p:sp>
      <p:sp>
        <p:nvSpPr>
          <p:cNvPr id="25" name="a3wd280_code24"/>
          <p:cNvSpPr txBox="1"/>
          <p:nvPr/>
        </p:nvSpPr>
        <p:spPr>
          <a:xfrm>
            <a:off x="5010912" y="247802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IO.puts("This will never print")</a:t>
            </a:r>
          </a:p>
        </p:txBody>
      </p:sp>
      <p:sp>
        <p:nvSpPr>
          <p:cNvPr id="26" name="a3wd350_code25"/>
          <p:cNvSpPr txBox="1"/>
          <p:nvPr/>
        </p:nvSpPr>
        <p:spPr>
          <a:xfrm>
            <a:off x="5010912" y="266090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7" name="a3wd420_code26"/>
          <p:cNvSpPr txBox="1"/>
          <p:nvPr/>
        </p:nvSpPr>
        <p:spPr>
          <a:xfrm>
            <a:off x="5010912" y="2843784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Math still works!</a:t>
            </a:r>
          </a:p>
        </p:txBody>
      </p:sp>
      <p:sp>
        <p:nvSpPr>
          <p:cNvPr id="28" name="a4f_codebg27"/>
          <p:cNvSpPr/>
          <p:nvPr/>
        </p:nvSpPr>
        <p:spPr>
          <a:xfrm>
            <a:off x="4846320" y="3328416"/>
            <a:ext cx="3840480" cy="1152144"/>
          </a:xfrm>
          <a:prstGeom prst="roundRect">
            <a:avLst>
              <a:gd name="adj" fmla="val 63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4f_codeh28"/>
          <p:cNvSpPr txBox="1"/>
          <p:nvPr/>
        </p:nvSpPr>
        <p:spPr>
          <a:xfrm>
            <a:off x="5010912" y="3383280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EXPANSION · first call</a:t>
            </a:r>
          </a:p>
        </p:txBody>
      </p:sp>
      <p:sp>
        <p:nvSpPr>
          <p:cNvPr id="30" name="a4w_code29"/>
          <p:cNvSpPr txBox="1"/>
          <p:nvPr/>
        </p:nvSpPr>
        <p:spPr>
          <a:xfrm>
            <a:off x="5010912" y="3767328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if !(1 + 1 == 3) do</a:t>
            </a:r>
          </a:p>
        </p:txBody>
      </p:sp>
      <p:sp>
        <p:nvSpPr>
          <p:cNvPr id="31" name="a4wd80_code30"/>
          <p:cNvSpPr txBox="1"/>
          <p:nvPr/>
        </p:nvSpPr>
        <p:spPr>
          <a:xfrm>
            <a:off x="5010912" y="3950208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IO.puts("Math still works!")</a:t>
            </a:r>
          </a:p>
        </p:txBody>
      </p:sp>
      <p:sp>
        <p:nvSpPr>
          <p:cNvPr id="32" name="a4wd160_code31"/>
          <p:cNvSpPr txBox="1"/>
          <p:nvPr/>
        </p:nvSpPr>
        <p:spPr>
          <a:xfrm>
            <a:off x="5010912" y="4133088"/>
            <a:ext cx="351129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Metaprogramming, macros &amp; DSLs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EXAMPLES · A RICHER DSL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Example 4 — a mini HTML builder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Two tag macros, nested with &lt;&gt;, turn Elixir blocks into markup.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754880" cy="3213201"/>
          </a:xfrm>
          <a:prstGeom prst="roundRect">
            <a:avLst>
              <a:gd name="adj" fmla="val 227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85216" y="1362456"/>
            <a:ext cx="44988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html.exs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85216" y="1709928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defmodule HTML do</a:t>
            </a:r>
          </a:p>
        </p:txBody>
      </p:sp>
      <p:sp>
        <p:nvSpPr>
          <p:cNvPr id="8" name="a1wd40_code7"/>
          <p:cNvSpPr txBox="1"/>
          <p:nvPr/>
        </p:nvSpPr>
        <p:spPr>
          <a:xfrm>
            <a:off x="585216" y="1858975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defmacro tag(name, do: block) do</a:t>
            </a:r>
          </a:p>
        </p:txBody>
      </p:sp>
      <p:sp>
        <p:nvSpPr>
          <p:cNvPr id="9" name="a1wd80_code8"/>
          <p:cNvSpPr txBox="1"/>
          <p:nvPr/>
        </p:nvSpPr>
        <p:spPr>
          <a:xfrm>
            <a:off x="585216" y="2008022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quote do</a:t>
            </a:r>
          </a:p>
        </p:txBody>
      </p:sp>
      <p:sp>
        <p:nvSpPr>
          <p:cNvPr id="10" name="a1wd120_code9"/>
          <p:cNvSpPr txBox="1"/>
          <p:nvPr/>
        </p:nvSpPr>
        <p:spPr>
          <a:xfrm>
            <a:off x="585216" y="2157069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"&lt;#{unquote(name)}&gt;" &lt;&gt; unquote(block) &lt;&gt; "&lt;/#{unquote(name)}&gt;"</a:t>
            </a:r>
          </a:p>
        </p:txBody>
      </p:sp>
      <p:sp>
        <p:nvSpPr>
          <p:cNvPr id="11" name="a1wd160_code10"/>
          <p:cNvSpPr txBox="1"/>
          <p:nvPr/>
        </p:nvSpPr>
        <p:spPr>
          <a:xfrm>
            <a:off x="585216" y="2306116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end</a:t>
            </a:r>
          </a:p>
        </p:txBody>
      </p:sp>
      <p:sp>
        <p:nvSpPr>
          <p:cNvPr id="12" name="a1wd200_code11"/>
          <p:cNvSpPr txBox="1"/>
          <p:nvPr/>
        </p:nvSpPr>
        <p:spPr>
          <a:xfrm>
            <a:off x="585216" y="2455164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3" name="a1wd240_code12"/>
          <p:cNvSpPr txBox="1"/>
          <p:nvPr/>
        </p:nvSpPr>
        <p:spPr>
          <a:xfrm>
            <a:off x="585216" y="2604211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  defmacro tag(name, attrs, do: block) when is_list(attrs) do</a:t>
            </a:r>
          </a:p>
        </p:txBody>
      </p:sp>
      <p:sp>
        <p:nvSpPr>
          <p:cNvPr id="14" name="a1wd280_code13"/>
          <p:cNvSpPr txBox="1"/>
          <p:nvPr/>
        </p:nvSpPr>
        <p:spPr>
          <a:xfrm>
            <a:off x="585216" y="2753258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attr_string =</a:t>
            </a:r>
          </a:p>
        </p:txBody>
      </p:sp>
      <p:sp>
        <p:nvSpPr>
          <p:cNvPr id="15" name="a1wd320_code14"/>
          <p:cNvSpPr txBox="1"/>
          <p:nvPr/>
        </p:nvSpPr>
        <p:spPr>
          <a:xfrm>
            <a:off x="585216" y="2902305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attrs</a:t>
            </a:r>
          </a:p>
        </p:txBody>
      </p:sp>
      <p:sp>
        <p:nvSpPr>
          <p:cNvPr id="16" name="a1wd360_code15"/>
          <p:cNvSpPr txBox="1"/>
          <p:nvPr/>
        </p:nvSpPr>
        <p:spPr>
          <a:xfrm>
            <a:off x="585216" y="3051352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|&gt; Enum.map(fn {k, v} -&gt; " #{k}=\"#{v}\"" end)</a:t>
            </a:r>
          </a:p>
        </p:txBody>
      </p:sp>
      <p:sp>
        <p:nvSpPr>
          <p:cNvPr id="17" name="a1wd400_code16"/>
          <p:cNvSpPr txBox="1"/>
          <p:nvPr/>
        </p:nvSpPr>
        <p:spPr>
          <a:xfrm>
            <a:off x="585216" y="3200400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|&gt; Enum.join()</a:t>
            </a:r>
          </a:p>
        </p:txBody>
      </p:sp>
      <p:sp>
        <p:nvSpPr>
          <p:cNvPr id="18" name="a1wd440_code17"/>
          <p:cNvSpPr txBox="1"/>
          <p:nvPr/>
        </p:nvSpPr>
        <p:spPr>
          <a:xfrm>
            <a:off x="585216" y="3349447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quote do</a:t>
            </a:r>
          </a:p>
        </p:txBody>
      </p:sp>
      <p:sp>
        <p:nvSpPr>
          <p:cNvPr id="19" name="a1wd480_code18"/>
          <p:cNvSpPr txBox="1"/>
          <p:nvPr/>
        </p:nvSpPr>
        <p:spPr>
          <a:xfrm>
            <a:off x="585216" y="3498494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"&lt;#{unquote(name)}#{unquote(attr_string)}&gt;" &lt;&gt;</a:t>
            </a:r>
          </a:p>
        </p:txBody>
      </p:sp>
      <p:sp>
        <p:nvSpPr>
          <p:cNvPr id="20" name="a1wd520_code19"/>
          <p:cNvSpPr txBox="1"/>
          <p:nvPr/>
        </p:nvSpPr>
        <p:spPr>
          <a:xfrm>
            <a:off x="585216" y="3647541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  unquote(block) &lt;&gt;</a:t>
            </a:r>
          </a:p>
        </p:txBody>
      </p:sp>
      <p:sp>
        <p:nvSpPr>
          <p:cNvPr id="21" name="a1wd560_code20"/>
          <p:cNvSpPr txBox="1"/>
          <p:nvPr/>
        </p:nvSpPr>
        <p:spPr>
          <a:xfrm>
            <a:off x="585216" y="3796588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    "&lt;/#{unquote(name)}&gt;"</a:t>
            </a:r>
          </a:p>
        </p:txBody>
      </p:sp>
      <p:sp>
        <p:nvSpPr>
          <p:cNvPr id="22" name="a1wd600_code21"/>
          <p:cNvSpPr txBox="1"/>
          <p:nvPr/>
        </p:nvSpPr>
        <p:spPr>
          <a:xfrm>
            <a:off x="585216" y="3945636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  end</a:t>
            </a:r>
          </a:p>
        </p:txBody>
      </p:sp>
      <p:sp>
        <p:nvSpPr>
          <p:cNvPr id="23" name="a1wd640_code22"/>
          <p:cNvSpPr txBox="1"/>
          <p:nvPr/>
        </p:nvSpPr>
        <p:spPr>
          <a:xfrm>
            <a:off x="585216" y="4094683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24" name="a1wd680_code23"/>
          <p:cNvSpPr txBox="1"/>
          <p:nvPr/>
        </p:nvSpPr>
        <p:spPr>
          <a:xfrm>
            <a:off x="585216" y="4243730"/>
            <a:ext cx="4498848" cy="1490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5" name="a2f_codebg24"/>
          <p:cNvSpPr/>
          <p:nvPr/>
        </p:nvSpPr>
        <p:spPr>
          <a:xfrm>
            <a:off x="5394960" y="1307592"/>
            <a:ext cx="3291840" cy="1773936"/>
          </a:xfrm>
          <a:prstGeom prst="roundRect">
            <a:avLst>
              <a:gd name="adj" fmla="val 412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f_codeh25"/>
          <p:cNvSpPr txBox="1"/>
          <p:nvPr/>
        </p:nvSpPr>
        <p:spPr>
          <a:xfrm>
            <a:off x="5522976" y="1362456"/>
            <a:ext cx="30358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Page.render/0</a:t>
            </a:r>
          </a:p>
        </p:txBody>
      </p:sp>
      <p:sp>
        <p:nvSpPr>
          <p:cNvPr id="27" name="a2w_code26"/>
          <p:cNvSpPr txBox="1"/>
          <p:nvPr/>
        </p:nvSpPr>
        <p:spPr>
          <a:xfrm>
            <a:off x="5522976" y="1709928"/>
            <a:ext cx="303580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2E8F0"/>
                </a:solidFill>
                <a:latin typeface="Courier New"/>
              </a:rPr>
              <a:t>tag :div, class: "container" do</a:t>
            </a:r>
          </a:p>
        </p:txBody>
      </p:sp>
      <p:sp>
        <p:nvSpPr>
          <p:cNvPr id="28" name="a2wd60_code27"/>
          <p:cNvSpPr txBox="1"/>
          <p:nvPr/>
        </p:nvSpPr>
        <p:spPr>
          <a:xfrm>
            <a:off x="5522976" y="1865376"/>
            <a:ext cx="303580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2E8F0"/>
                </a:solidFill>
                <a:latin typeface="Courier New"/>
              </a:rPr>
              <a:t>  tag :h1 do</a:t>
            </a:r>
          </a:p>
        </p:txBody>
      </p:sp>
      <p:sp>
        <p:nvSpPr>
          <p:cNvPr id="29" name="a2wd120_code28"/>
          <p:cNvSpPr txBox="1"/>
          <p:nvPr/>
        </p:nvSpPr>
        <p:spPr>
          <a:xfrm>
            <a:off x="5522976" y="2020824"/>
            <a:ext cx="303580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2E8F0"/>
                </a:solidFill>
                <a:latin typeface="Courier New"/>
              </a:rPr>
              <a:t>    "Hello from a macro DSL"</a:t>
            </a:r>
          </a:p>
        </p:txBody>
      </p:sp>
      <p:sp>
        <p:nvSpPr>
          <p:cNvPr id="30" name="a2wd180_code29"/>
          <p:cNvSpPr txBox="1"/>
          <p:nvPr/>
        </p:nvSpPr>
        <p:spPr>
          <a:xfrm>
            <a:off x="5522976" y="2176272"/>
            <a:ext cx="303580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2E8F0"/>
                </a:solidFill>
                <a:latin typeface="Courier New"/>
              </a:rPr>
              <a:t>  end &lt;&gt;</a:t>
            </a:r>
          </a:p>
        </p:txBody>
      </p:sp>
      <p:sp>
        <p:nvSpPr>
          <p:cNvPr id="31" name="a2wd240_code30"/>
          <p:cNvSpPr txBox="1"/>
          <p:nvPr/>
        </p:nvSpPr>
        <p:spPr>
          <a:xfrm>
            <a:off x="5522976" y="2331720"/>
            <a:ext cx="303580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2E8F0"/>
                </a:solidFill>
                <a:latin typeface="Courier New"/>
              </a:rPr>
              <a:t>  tag :p do</a:t>
            </a:r>
          </a:p>
        </p:txBody>
      </p:sp>
      <p:sp>
        <p:nvSpPr>
          <p:cNvPr id="32" name="a2wd300_code31"/>
          <p:cNvSpPr txBox="1"/>
          <p:nvPr/>
        </p:nvSpPr>
        <p:spPr>
          <a:xfrm>
            <a:off x="5522976" y="2487168"/>
            <a:ext cx="303580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2E8F0"/>
                </a:solidFill>
                <a:latin typeface="Courier New"/>
              </a:rPr>
              <a:t>    "This HTML was generated at compile time."</a:t>
            </a:r>
          </a:p>
        </p:txBody>
      </p:sp>
      <p:sp>
        <p:nvSpPr>
          <p:cNvPr id="33" name="a2wd360_code32"/>
          <p:cNvSpPr txBox="1"/>
          <p:nvPr/>
        </p:nvSpPr>
        <p:spPr>
          <a:xfrm>
            <a:off x="5522976" y="2642616"/>
            <a:ext cx="303580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34" name="a2wd420_code33"/>
          <p:cNvSpPr txBox="1"/>
          <p:nvPr/>
        </p:nvSpPr>
        <p:spPr>
          <a:xfrm>
            <a:off x="5522976" y="2798064"/>
            <a:ext cx="303580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35" name="a3f_codebg34"/>
          <p:cNvSpPr/>
          <p:nvPr/>
        </p:nvSpPr>
        <p:spPr>
          <a:xfrm>
            <a:off x="5394960" y="3191256"/>
            <a:ext cx="3291840" cy="1152144"/>
          </a:xfrm>
          <a:prstGeom prst="roundRect">
            <a:avLst>
              <a:gd name="adj" fmla="val 63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3f_codeh35"/>
          <p:cNvSpPr txBox="1"/>
          <p:nvPr/>
        </p:nvSpPr>
        <p:spPr>
          <a:xfrm>
            <a:off x="5522976" y="3246120"/>
            <a:ext cx="30358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 · one line, wrapped</a:t>
            </a:r>
          </a:p>
        </p:txBody>
      </p:sp>
      <p:sp>
        <p:nvSpPr>
          <p:cNvPr id="37" name="a3w_code36"/>
          <p:cNvSpPr txBox="1"/>
          <p:nvPr/>
        </p:nvSpPr>
        <p:spPr>
          <a:xfrm>
            <a:off x="5522976" y="3593592"/>
            <a:ext cx="303580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14B8A6"/>
                </a:solidFill>
                <a:latin typeface="Courier New"/>
              </a:rPr>
              <a:t>&lt;div class="container"&gt;</a:t>
            </a:r>
          </a:p>
        </p:txBody>
      </p:sp>
      <p:sp>
        <p:nvSpPr>
          <p:cNvPr id="38" name="a3wd80_code37"/>
          <p:cNvSpPr txBox="1"/>
          <p:nvPr/>
        </p:nvSpPr>
        <p:spPr>
          <a:xfrm>
            <a:off x="5522976" y="3749040"/>
            <a:ext cx="303580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14B8A6"/>
                </a:solidFill>
                <a:latin typeface="Courier New"/>
              </a:rPr>
              <a:t>&lt;h1&gt;Hello from a macro DSL&lt;/h1&gt;</a:t>
            </a:r>
          </a:p>
        </p:txBody>
      </p:sp>
      <p:sp>
        <p:nvSpPr>
          <p:cNvPr id="39" name="a3wd160_code38"/>
          <p:cNvSpPr txBox="1"/>
          <p:nvPr/>
        </p:nvSpPr>
        <p:spPr>
          <a:xfrm>
            <a:off x="5522976" y="3904488"/>
            <a:ext cx="303580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14B8A6"/>
                </a:solidFill>
                <a:latin typeface="Courier New"/>
              </a:rPr>
              <a:t>&lt;p&gt;This HTML was generated at</a:t>
            </a:r>
          </a:p>
        </p:txBody>
      </p:sp>
      <p:sp>
        <p:nvSpPr>
          <p:cNvPr id="40" name="a3wd240_code39"/>
          <p:cNvSpPr txBox="1"/>
          <p:nvPr/>
        </p:nvSpPr>
        <p:spPr>
          <a:xfrm>
            <a:off x="5522976" y="4059936"/>
            <a:ext cx="303580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14B8A6"/>
                </a:solidFill>
                <a:latin typeface="Courier New"/>
              </a:rPr>
              <a:t>compile time.&lt;/p&gt;&lt;/div&gt;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Metaprogramming, macros &amp; DSLs</a:t>
            </a:r>
          </a:p>
        </p:txBody>
      </p:sp>
      <p:sp>
        <p:nvSpPr>
          <p:cNvPr id="42" name="ft4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EXAMPLES · WHAT RUNS WHEN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Is the HTML really built at compile time?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expansion answers it: the code is generated while compiling — the string is not.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16736"/>
            <a:ext cx="8229600" cy="832103"/>
          </a:xfrm>
          <a:prstGeom prst="roundRect">
            <a:avLst>
              <a:gd name="adj" fmla="val 879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71600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EXPANSION · tag(:div, [class: "container"], do: "inner")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55648"/>
            <a:ext cx="7900416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ourier New"/>
              </a:rPr>
              <a:t>"&lt;#{:div}#{" class=\"container\""}&gt;" &lt;&gt; "inner" &lt;&gt; "&lt;/#{:div}&gt;"</a:t>
            </a:r>
          </a:p>
        </p:txBody>
      </p:sp>
      <p:sp>
        <p:nvSpPr>
          <p:cNvPr id="8" name="a2u_card7"/>
          <p:cNvSpPr/>
          <p:nvPr/>
        </p:nvSpPr>
        <p:spPr>
          <a:xfrm>
            <a:off x="457200" y="2313432"/>
            <a:ext cx="4005072" cy="1481328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2u_acc8"/>
          <p:cNvSpPr/>
          <p:nvPr/>
        </p:nvSpPr>
        <p:spPr>
          <a:xfrm>
            <a:off x="457200" y="2313432"/>
            <a:ext cx="4005072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2u_ct9"/>
          <p:cNvSpPr txBox="1"/>
          <p:nvPr/>
        </p:nvSpPr>
        <p:spPr>
          <a:xfrm>
            <a:off x="658368" y="2441447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At compile time</a:t>
            </a:r>
          </a:p>
        </p:txBody>
      </p:sp>
      <p:sp>
        <p:nvSpPr>
          <p:cNvPr id="11" name="a2ud100_dot10"/>
          <p:cNvSpPr/>
          <p:nvPr/>
        </p:nvSpPr>
        <p:spPr>
          <a:xfrm>
            <a:off x="658368" y="292607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2ud100_b11"/>
          <p:cNvSpPr txBox="1"/>
          <p:nvPr/>
        </p:nvSpPr>
        <p:spPr>
          <a:xfrm>
            <a:off x="877824" y="2825495"/>
            <a:ext cx="33924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Each tag call  </a:t>
            </a:r>
            <a:r>
              <a:rPr sz="1050" b="0">
                <a:solidFill>
                  <a:srgbClr val="334155"/>
                </a:solidFill>
                <a:latin typeface="Calibri"/>
              </a:rPr>
              <a:t>is replaced by string-building code</a:t>
            </a:r>
          </a:p>
        </p:txBody>
      </p:sp>
      <p:sp>
        <p:nvSpPr>
          <p:cNvPr id="13" name="a2ud200_dot12"/>
          <p:cNvSpPr/>
          <p:nvPr/>
        </p:nvSpPr>
        <p:spPr>
          <a:xfrm>
            <a:off x="658368" y="3346703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d200_b13"/>
          <p:cNvSpPr txBox="1"/>
          <p:nvPr/>
        </p:nvSpPr>
        <p:spPr>
          <a:xfrm>
            <a:off x="877824" y="3246119"/>
            <a:ext cx="33924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attr_string  </a:t>
            </a:r>
            <a:r>
              <a:rPr sz="1050" b="0">
                <a:solidFill>
                  <a:srgbClr val="334155"/>
                </a:solidFill>
                <a:latin typeface="Calibri"/>
              </a:rPr>
              <a:t>is computed inside the macro, outside quote — already finished</a:t>
            </a:r>
          </a:p>
        </p:txBody>
      </p:sp>
      <p:sp>
        <p:nvSpPr>
          <p:cNvPr id="15" name="a3u_card14"/>
          <p:cNvSpPr/>
          <p:nvPr/>
        </p:nvSpPr>
        <p:spPr>
          <a:xfrm>
            <a:off x="4681728" y="2313432"/>
            <a:ext cx="4005072" cy="1481328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3u_acc15"/>
          <p:cNvSpPr/>
          <p:nvPr/>
        </p:nvSpPr>
        <p:spPr>
          <a:xfrm>
            <a:off x="4681728" y="2313432"/>
            <a:ext cx="4005072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3u_ct16"/>
          <p:cNvSpPr txBox="1"/>
          <p:nvPr/>
        </p:nvSpPr>
        <p:spPr>
          <a:xfrm>
            <a:off x="4882896" y="2441447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At run time — every render/0</a:t>
            </a:r>
          </a:p>
        </p:txBody>
      </p:sp>
      <p:sp>
        <p:nvSpPr>
          <p:cNvPr id="18" name="a3ud100_dot17"/>
          <p:cNvSpPr/>
          <p:nvPr/>
        </p:nvSpPr>
        <p:spPr>
          <a:xfrm>
            <a:off x="4882896" y="2926079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3ud100_b18"/>
          <p:cNvSpPr txBox="1"/>
          <p:nvPr/>
        </p:nvSpPr>
        <p:spPr>
          <a:xfrm>
            <a:off x="5102352" y="2825495"/>
            <a:ext cx="33924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#{...} 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interpolations run</a:t>
            </a:r>
          </a:p>
        </p:txBody>
      </p:sp>
      <p:sp>
        <p:nvSpPr>
          <p:cNvPr id="20" name="a3ud200_dot19"/>
          <p:cNvSpPr/>
          <p:nvPr/>
        </p:nvSpPr>
        <p:spPr>
          <a:xfrm>
            <a:off x="4882896" y="3346703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d200_b20"/>
          <p:cNvSpPr txBox="1"/>
          <p:nvPr/>
        </p:nvSpPr>
        <p:spPr>
          <a:xfrm>
            <a:off x="5102352" y="3246119"/>
            <a:ext cx="33924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&lt;&gt; 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concatenations build the final string</a:t>
            </a:r>
          </a:p>
        </p:txBody>
      </p:sp>
      <p:sp>
        <p:nvSpPr>
          <p:cNvPr id="22" name="a4u_nb21"/>
          <p:cNvSpPr/>
          <p:nvPr/>
        </p:nvSpPr>
        <p:spPr>
          <a:xfrm>
            <a:off x="457200" y="39319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4u_nacc22"/>
          <p:cNvSpPr/>
          <p:nvPr/>
        </p:nvSpPr>
        <p:spPr>
          <a:xfrm>
            <a:off x="457200" y="3931920"/>
            <a:ext cx="50292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4u_nt23"/>
          <p:cNvSpPr txBox="1"/>
          <p:nvPr/>
        </p:nvSpPr>
        <p:spPr>
          <a:xfrm>
            <a:off x="658368" y="3931920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Calibri"/>
              </a:rPr>
              <a:t>!  </a:t>
            </a:r>
            <a:r>
              <a:rPr sz="1100" b="0">
                <a:solidFill>
                  <a:srgbClr val="334155"/>
                </a:solidFill>
                <a:latin typeface="Calibri"/>
              </a:rPr>
              <a:t>Correction: the example's text says the HTML “was generated at compile time”. The code that builds it was — the string is assembled on every call.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Metaprogramming, macros &amp; DSLs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KEY TAKEAWAYS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each tool does — and when it runs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97280"/>
            <a:ext cx="2011680" cy="34747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97280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urier New"/>
              </a:rPr>
              <a:t>Concept</a:t>
            </a:r>
          </a:p>
        </p:txBody>
      </p:sp>
      <p:sp>
        <p:nvSpPr>
          <p:cNvPr id="6" name="a1wd110_td5"/>
          <p:cNvSpPr/>
          <p:nvPr/>
        </p:nvSpPr>
        <p:spPr>
          <a:xfrm>
            <a:off x="457200" y="1444752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10_tdt6"/>
          <p:cNvSpPr txBox="1"/>
          <p:nvPr/>
        </p:nvSpPr>
        <p:spPr>
          <a:xfrm>
            <a:off x="530352" y="1444752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ourier New"/>
              </a:rPr>
              <a:t>quote</a:t>
            </a:r>
          </a:p>
        </p:txBody>
      </p:sp>
      <p:sp>
        <p:nvSpPr>
          <p:cNvPr id="8" name="a1wd220_td7"/>
          <p:cNvSpPr/>
          <p:nvPr/>
        </p:nvSpPr>
        <p:spPr>
          <a:xfrm>
            <a:off x="457200" y="179222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20_tdt8"/>
          <p:cNvSpPr txBox="1"/>
          <p:nvPr/>
        </p:nvSpPr>
        <p:spPr>
          <a:xfrm>
            <a:off x="530352" y="1792224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ourier New"/>
              </a:rPr>
              <a:t>unquote</a:t>
            </a:r>
          </a:p>
        </p:txBody>
      </p:sp>
      <p:sp>
        <p:nvSpPr>
          <p:cNvPr id="10" name="a1wd330_td9"/>
          <p:cNvSpPr/>
          <p:nvPr/>
        </p:nvSpPr>
        <p:spPr>
          <a:xfrm>
            <a:off x="457200" y="2139696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30_tdt10"/>
          <p:cNvSpPr txBox="1"/>
          <p:nvPr/>
        </p:nvSpPr>
        <p:spPr>
          <a:xfrm>
            <a:off x="530352" y="2139696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ourier New"/>
              </a:rPr>
              <a:t>defmacro</a:t>
            </a:r>
          </a:p>
        </p:txBody>
      </p:sp>
      <p:sp>
        <p:nvSpPr>
          <p:cNvPr id="12" name="a1wd440_td11"/>
          <p:cNvSpPr/>
          <p:nvPr/>
        </p:nvSpPr>
        <p:spPr>
          <a:xfrm>
            <a:off x="457200" y="248716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40_tdt12"/>
          <p:cNvSpPr txBox="1"/>
          <p:nvPr/>
        </p:nvSpPr>
        <p:spPr>
          <a:xfrm>
            <a:off x="530352" y="2487168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ourier New"/>
              </a:rPr>
              <a:t>Macro expansion</a:t>
            </a:r>
          </a:p>
        </p:txBody>
      </p:sp>
      <p:sp>
        <p:nvSpPr>
          <p:cNvPr id="14" name="a1wd550_td13"/>
          <p:cNvSpPr/>
          <p:nvPr/>
        </p:nvSpPr>
        <p:spPr>
          <a:xfrm>
            <a:off x="457200" y="2834639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50_tdt14"/>
          <p:cNvSpPr txBox="1"/>
          <p:nvPr/>
        </p:nvSpPr>
        <p:spPr>
          <a:xfrm>
            <a:off x="530352" y="2834639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ourier New"/>
              </a:rPr>
              <a:t>DSL</a:t>
            </a:r>
          </a:p>
        </p:txBody>
      </p:sp>
      <p:sp>
        <p:nvSpPr>
          <p:cNvPr id="16" name="a1f_th15"/>
          <p:cNvSpPr/>
          <p:nvPr/>
        </p:nvSpPr>
        <p:spPr>
          <a:xfrm>
            <a:off x="2468880" y="1097280"/>
            <a:ext cx="4206240" cy="34747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f_tht16"/>
          <p:cNvSpPr txBox="1"/>
          <p:nvPr/>
        </p:nvSpPr>
        <p:spPr>
          <a:xfrm>
            <a:off x="2542032" y="1097280"/>
            <a:ext cx="409651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8" name="a1wd110_td17"/>
          <p:cNvSpPr/>
          <p:nvPr/>
        </p:nvSpPr>
        <p:spPr>
          <a:xfrm>
            <a:off x="2468880" y="1444752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110_tdt18"/>
          <p:cNvSpPr txBox="1"/>
          <p:nvPr/>
        </p:nvSpPr>
        <p:spPr>
          <a:xfrm>
            <a:off x="2542032" y="1444752"/>
            <a:ext cx="409651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Turns code → AST</a:t>
            </a:r>
          </a:p>
        </p:txBody>
      </p:sp>
      <p:sp>
        <p:nvSpPr>
          <p:cNvPr id="20" name="a1wd220_td19"/>
          <p:cNvSpPr/>
          <p:nvPr/>
        </p:nvSpPr>
        <p:spPr>
          <a:xfrm>
            <a:off x="2468880" y="1792224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220_tdt20"/>
          <p:cNvSpPr txBox="1"/>
          <p:nvPr/>
        </p:nvSpPr>
        <p:spPr>
          <a:xfrm>
            <a:off x="2542032" y="1792224"/>
            <a:ext cx="409651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Injects a value into an AST</a:t>
            </a:r>
          </a:p>
        </p:txBody>
      </p:sp>
      <p:sp>
        <p:nvSpPr>
          <p:cNvPr id="22" name="a1wd330_td21"/>
          <p:cNvSpPr/>
          <p:nvPr/>
        </p:nvSpPr>
        <p:spPr>
          <a:xfrm>
            <a:off x="2468880" y="2139696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330_tdt22"/>
          <p:cNvSpPr txBox="1"/>
          <p:nvPr/>
        </p:nvSpPr>
        <p:spPr>
          <a:xfrm>
            <a:off x="2542032" y="2139696"/>
            <a:ext cx="409651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Defines a macro</a:t>
            </a:r>
          </a:p>
        </p:txBody>
      </p:sp>
      <p:sp>
        <p:nvSpPr>
          <p:cNvPr id="24" name="a1wd440_td23"/>
          <p:cNvSpPr/>
          <p:nvPr/>
        </p:nvSpPr>
        <p:spPr>
          <a:xfrm>
            <a:off x="2468880" y="2487168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440_tdt24"/>
          <p:cNvSpPr txBox="1"/>
          <p:nvPr/>
        </p:nvSpPr>
        <p:spPr>
          <a:xfrm>
            <a:off x="2542032" y="2487168"/>
            <a:ext cx="409651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Replaces the macro call with the returned AST</a:t>
            </a:r>
          </a:p>
        </p:txBody>
      </p:sp>
      <p:sp>
        <p:nvSpPr>
          <p:cNvPr id="26" name="a1wd550_td25"/>
          <p:cNvSpPr/>
          <p:nvPr/>
        </p:nvSpPr>
        <p:spPr>
          <a:xfrm>
            <a:off x="2468880" y="2834639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550_tdt26"/>
          <p:cNvSpPr txBox="1"/>
          <p:nvPr/>
        </p:nvSpPr>
        <p:spPr>
          <a:xfrm>
            <a:off x="2542032" y="2834639"/>
            <a:ext cx="409651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Combination of macros + Elixir syntax sugar</a:t>
            </a:r>
          </a:p>
        </p:txBody>
      </p:sp>
      <p:sp>
        <p:nvSpPr>
          <p:cNvPr id="28" name="a1f_th27"/>
          <p:cNvSpPr/>
          <p:nvPr/>
        </p:nvSpPr>
        <p:spPr>
          <a:xfrm>
            <a:off x="6675120" y="1097280"/>
            <a:ext cx="2011680" cy="34747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f_tht28"/>
          <p:cNvSpPr txBox="1"/>
          <p:nvPr/>
        </p:nvSpPr>
        <p:spPr>
          <a:xfrm>
            <a:off x="6748272" y="1097280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When it runs</a:t>
            </a:r>
          </a:p>
        </p:txBody>
      </p:sp>
      <p:sp>
        <p:nvSpPr>
          <p:cNvPr id="30" name="a1wd110_td29"/>
          <p:cNvSpPr/>
          <p:nvPr/>
        </p:nvSpPr>
        <p:spPr>
          <a:xfrm>
            <a:off x="6675120" y="1444752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110_tdt30"/>
          <p:cNvSpPr txBox="1"/>
          <p:nvPr/>
        </p:nvSpPr>
        <p:spPr>
          <a:xfrm>
            <a:off x="6748272" y="1444752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Compile time</a:t>
            </a:r>
          </a:p>
        </p:txBody>
      </p:sp>
      <p:sp>
        <p:nvSpPr>
          <p:cNvPr id="32" name="a1wd220_td31"/>
          <p:cNvSpPr/>
          <p:nvPr/>
        </p:nvSpPr>
        <p:spPr>
          <a:xfrm>
            <a:off x="6675120" y="179222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220_tdt32"/>
          <p:cNvSpPr txBox="1"/>
          <p:nvPr/>
        </p:nvSpPr>
        <p:spPr>
          <a:xfrm>
            <a:off x="6748272" y="1792224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Compile time</a:t>
            </a:r>
          </a:p>
        </p:txBody>
      </p:sp>
      <p:sp>
        <p:nvSpPr>
          <p:cNvPr id="34" name="a1wd330_td33"/>
          <p:cNvSpPr/>
          <p:nvPr/>
        </p:nvSpPr>
        <p:spPr>
          <a:xfrm>
            <a:off x="6675120" y="2139696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330_tdt34"/>
          <p:cNvSpPr txBox="1"/>
          <p:nvPr/>
        </p:nvSpPr>
        <p:spPr>
          <a:xfrm>
            <a:off x="6748272" y="2139696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Compile time</a:t>
            </a:r>
          </a:p>
        </p:txBody>
      </p:sp>
      <p:sp>
        <p:nvSpPr>
          <p:cNvPr id="36" name="a1wd440_td35"/>
          <p:cNvSpPr/>
          <p:nvPr/>
        </p:nvSpPr>
        <p:spPr>
          <a:xfrm>
            <a:off x="6675120" y="248716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440_tdt36"/>
          <p:cNvSpPr txBox="1"/>
          <p:nvPr/>
        </p:nvSpPr>
        <p:spPr>
          <a:xfrm>
            <a:off x="6748272" y="2487168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Compile time</a:t>
            </a:r>
          </a:p>
        </p:txBody>
      </p:sp>
      <p:sp>
        <p:nvSpPr>
          <p:cNvPr id="38" name="a1wd550_td37"/>
          <p:cNvSpPr/>
          <p:nvPr/>
        </p:nvSpPr>
        <p:spPr>
          <a:xfrm>
            <a:off x="6675120" y="2834639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550_tdt38"/>
          <p:cNvSpPr txBox="1"/>
          <p:nvPr/>
        </p:nvSpPr>
        <p:spPr>
          <a:xfrm>
            <a:off x="6748272" y="2834639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Compile time</a:t>
            </a:r>
          </a:p>
        </p:txBody>
      </p:sp>
      <p:sp>
        <p:nvSpPr>
          <p:cNvPr id="40" name="a2u_nb39"/>
          <p:cNvSpPr/>
          <p:nvPr/>
        </p:nvSpPr>
        <p:spPr>
          <a:xfrm>
            <a:off x="457200" y="341071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u_nacc40"/>
          <p:cNvSpPr/>
          <p:nvPr/>
        </p:nvSpPr>
        <p:spPr>
          <a:xfrm>
            <a:off x="457200" y="3410712"/>
            <a:ext cx="50292" cy="5669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2u_nt41"/>
          <p:cNvSpPr txBox="1"/>
          <p:nvPr/>
        </p:nvSpPr>
        <p:spPr>
          <a:xfrm>
            <a:off x="658368" y="3410712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code a macro generates still runs at run time — the HTML builder is the example.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Metaprogramming, macros &amp; DSLs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h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Powerful — so use them sparingly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1887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a1u_nt3"/>
          <p:cNvSpPr txBox="1"/>
          <p:nvPr/>
        </p:nvSpPr>
        <p:spPr>
          <a:xfrm>
            <a:off x="548640" y="11887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70432" y="1143000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Macros run in the compiler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quote, unquote, defmacro and expansion all happen at compile time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188366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200_nt6"/>
          <p:cNvSpPr txBox="1"/>
          <p:nvPr/>
        </p:nvSpPr>
        <p:spPr>
          <a:xfrm>
            <a:off x="548640" y="18836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70432" y="1837944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code they generate runs at run time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zero cost for the macro itself — but not for what it writes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5786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400_nt9"/>
          <p:cNvSpPr txBox="1"/>
          <p:nvPr/>
        </p:nvSpPr>
        <p:spPr>
          <a:xfrm>
            <a:off x="548640" y="25786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70432" y="2532888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Prefer functions when possible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macros are extremely powerful; that is the reason to use them sparingly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2735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0_nt12"/>
          <p:cNvSpPr txBox="1"/>
          <p:nvPr/>
        </p:nvSpPr>
        <p:spPr>
          <a:xfrm>
            <a:off x="548640" y="32735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70432" y="3227832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Reach for a macro to change the language itself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new syntax · compile-time code generation · domain-specific readability</a:t>
            </a:r>
          </a:p>
        </p:txBody>
      </p:sp>
      <p:sp>
        <p:nvSpPr>
          <p:cNvPr id="15" name="a1ud800_n14"/>
          <p:cNvSpPr/>
          <p:nvPr/>
        </p:nvSpPr>
        <p:spPr>
          <a:xfrm>
            <a:off x="548640" y="39684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800_nt15"/>
          <p:cNvSpPr txBox="1"/>
          <p:nvPr/>
        </p:nvSpPr>
        <p:spPr>
          <a:xfrm>
            <a:off x="548640" y="39684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a1ud800_nb16"/>
          <p:cNvSpPr txBox="1"/>
          <p:nvPr/>
        </p:nvSpPr>
        <p:spPr>
          <a:xfrm>
            <a:off x="1170432" y="3922776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Try every example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paste it into iex or a .exs file and run it directly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