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kick1"/>
          <p:cNvSpPr txBox="1"/>
          <p:nvPr/>
        </p:nvSpPr>
        <p:spPr>
          <a:xfrm>
            <a:off x="548640" y="868680"/>
            <a:ext cx="4937760" cy="292608"/>
          </a:xfrm>
          <a:prstGeom prst="rect">
            <a:avLst/>
          </a:prstGeom>
          <a:noFill/>
        </p:spPr>
        <p:txBody>
          <a:bodyPr wrap="square" lIns="0" tIns="0" rIns="0" bIns="0" anchor="ctr">
            <a:spAutoFit/>
          </a:bodyPr>
          <a:lstStyle/>
          <a:p>
            <a:pPr algn="l"/>
            <a:r>
              <a:rPr sz="1150" b="1" spc="300">
                <a:solidFill>
                  <a:srgbClr val="9B72CF"/>
                </a:solidFill>
                <a:latin typeface="Calibri"/>
              </a:rPr>
              <a:t>ELIXIR · ATOMS</a:t>
            </a:r>
          </a:p>
        </p:txBody>
      </p:sp>
      <p:sp>
        <p:nvSpPr>
          <p:cNvPr id="3" name="a0ud200_t2"/>
          <p:cNvSpPr txBox="1"/>
          <p:nvPr/>
        </p:nvSpPr>
        <p:spPr>
          <a:xfrm>
            <a:off x="548640" y="1188720"/>
            <a:ext cx="5212080" cy="1417320"/>
          </a:xfrm>
          <a:prstGeom prst="rect">
            <a:avLst/>
          </a:prstGeom>
          <a:noFill/>
        </p:spPr>
        <p:txBody>
          <a:bodyPr wrap="square" lIns="0" tIns="0" rIns="0" bIns="0" anchor="ctr">
            <a:spAutoFit/>
          </a:bodyPr>
          <a:lstStyle/>
          <a:p>
            <a:pPr algn="l"/>
            <a:r>
              <a:rPr sz="4400" b="1">
                <a:solidFill>
                  <a:srgbClr val="FFFFFF"/>
                </a:solidFill>
                <a:latin typeface="Calibri"/>
              </a:rPr>
              <a:t>Atoms</a:t>
            </a:r>
          </a:p>
        </p:txBody>
      </p:sp>
      <p:sp>
        <p:nvSpPr>
          <p:cNvPr id="4" name="a0fd500_sub3"/>
          <p:cNvSpPr txBox="1"/>
          <p:nvPr/>
        </p:nvSpPr>
        <p:spPr>
          <a:xfrm>
            <a:off x="548640" y="2670048"/>
            <a:ext cx="5029200" cy="457200"/>
          </a:xfrm>
          <a:prstGeom prst="rect">
            <a:avLst/>
          </a:prstGeom>
          <a:noFill/>
        </p:spPr>
        <p:txBody>
          <a:bodyPr wrap="square" lIns="0" tIns="0" rIns="0" bIns="0" anchor="ctr">
            <a:spAutoFit/>
          </a:bodyPr>
          <a:lstStyle/>
          <a:p>
            <a:pPr algn="l"/>
            <a:r>
              <a:rPr sz="1600" b="0">
                <a:solidFill>
                  <a:srgbClr val="CBD5E1"/>
                </a:solidFill>
                <a:latin typeface="Calibri"/>
              </a:rPr>
              <a:t>A value whose name is the whole of it — and the one type you can leak.</a:t>
            </a:r>
          </a:p>
        </p:txBody>
      </p:sp>
      <p:sp>
        <p:nvSpPr>
          <p:cNvPr id="5" name="a0ud800_pill4"/>
          <p:cNvSpPr/>
          <p:nvPr/>
        </p:nvSpPr>
        <p:spPr>
          <a:xfrm>
            <a:off x="548640"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E2E8F0"/>
                </a:solidFill>
                <a:latin typeface="Courier New"/>
              </a:rPr>
              <a:t>:ok</a:t>
            </a:r>
          </a:p>
        </p:txBody>
      </p:sp>
      <p:sp>
        <p:nvSpPr>
          <p:cNvPr id="6" name="a0ud950_pill5"/>
          <p:cNvSpPr/>
          <p:nvPr/>
        </p:nvSpPr>
        <p:spPr>
          <a:xfrm>
            <a:off x="1572768"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E2E8F0"/>
                </a:solidFill>
                <a:latin typeface="Courier New"/>
              </a:rPr>
              <a:t>:error</a:t>
            </a:r>
          </a:p>
        </p:txBody>
      </p:sp>
      <p:sp>
        <p:nvSpPr>
          <p:cNvPr id="7" name="a0ud1100_pill6"/>
          <p:cNvSpPr/>
          <p:nvPr/>
        </p:nvSpPr>
        <p:spPr>
          <a:xfrm>
            <a:off x="2596896" y="3273552"/>
            <a:ext cx="932688" cy="329184"/>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E2E8F0"/>
                </a:solidFill>
                <a:latin typeface="Courier New"/>
              </a:rPr>
              <a:t>true</a:t>
            </a:r>
          </a:p>
        </p:txBody>
      </p:sp>
      <p:sp>
        <p:nvSpPr>
          <p:cNvPr id="8" name="a0fd1400_nt7"/>
          <p:cNvSpPr txBox="1"/>
          <p:nvPr/>
        </p:nvSpPr>
        <p:spPr>
          <a:xfrm>
            <a:off x="548640" y="3950208"/>
            <a:ext cx="4937760" cy="457200"/>
          </a:xfrm>
          <a:prstGeom prst="rect">
            <a:avLst/>
          </a:prstGeom>
          <a:noFill/>
        </p:spPr>
        <p:txBody>
          <a:bodyPr wrap="square" lIns="0" tIns="0" rIns="0" bIns="0" anchor="ctr">
            <a:spAutoFit/>
          </a:bodyPr>
          <a:lstStyle/>
          <a:p>
            <a:pPr algn="l"/>
            <a:r>
              <a:rPr sz="1150" b="0">
                <a:solidFill>
                  <a:srgbClr val="64748B"/>
                </a:solidFill>
                <a:latin typeface="Calibri"/>
              </a:rPr>
              <a:t>Session 5 · every number here was measured on the training machine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8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9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11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par>
                                <p:cTn id="31" presetID="10" presetClass="entr" presetSubtype="0" fill="hold" grpId="0" nodeType="withEffect">
                                  <p:stCondLst>
                                    <p:cond delay="14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ROADMAP</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What we cover today</a:t>
            </a:r>
          </a:p>
        </p:txBody>
      </p:sp>
      <p:sp>
        <p:nvSpPr>
          <p:cNvPr id="4" name="a1u_card3"/>
          <p:cNvSpPr/>
          <p:nvPr/>
        </p:nvSpPr>
        <p:spPr>
          <a:xfrm>
            <a:off x="457200" y="1170431"/>
            <a:ext cx="1906524" cy="2450592"/>
          </a:xfrm>
          <a:prstGeom prst="roundRect">
            <a:avLst>
              <a:gd name="adj" fmla="val 4796"/>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a1u_acc4"/>
          <p:cNvSpPr/>
          <p:nvPr/>
        </p:nvSpPr>
        <p:spPr>
          <a:xfrm>
            <a:off x="457200" y="1170431"/>
            <a:ext cx="1906524" cy="502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ud60_ic5"/>
          <p:cNvSpPr/>
          <p:nvPr/>
        </p:nvSpPr>
        <p:spPr>
          <a:xfrm>
            <a:off x="621792" y="1371599"/>
            <a:ext cx="384048" cy="384048"/>
          </a:xfrm>
          <a:prstGeom prst="roundRect">
            <a:avLst>
              <a:gd name="adj" fmla="val 23809"/>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a1ud60_ict6"/>
          <p:cNvSpPr txBox="1"/>
          <p:nvPr/>
        </p:nvSpPr>
        <p:spPr>
          <a:xfrm>
            <a:off x="621792" y="1371599"/>
            <a:ext cx="384048" cy="384048"/>
          </a:xfrm>
          <a:prstGeom prst="rect">
            <a:avLst/>
          </a:prstGeom>
          <a:noFill/>
        </p:spPr>
        <p:txBody>
          <a:bodyPr wrap="square" lIns="0" tIns="0" rIns="0" bIns="0" anchor="ctr">
            <a:spAutoFit/>
          </a:bodyPr>
          <a:lstStyle/>
          <a:p>
            <a:pPr algn="ctr"/>
            <a:r>
              <a:rPr sz="1300" b="1">
                <a:solidFill>
                  <a:srgbClr val="FFFFFF"/>
                </a:solidFill>
                <a:latin typeface="Calibri"/>
              </a:rPr>
              <a:t>1</a:t>
            </a:r>
          </a:p>
        </p:txBody>
      </p:sp>
      <p:sp>
        <p:nvSpPr>
          <p:cNvPr id="8" name="a1ud90_ct7"/>
          <p:cNvSpPr txBox="1"/>
          <p:nvPr/>
        </p:nvSpPr>
        <p:spPr>
          <a:xfrm>
            <a:off x="621792" y="1847087"/>
            <a:ext cx="1577340" cy="274320"/>
          </a:xfrm>
          <a:prstGeom prst="rect">
            <a:avLst/>
          </a:prstGeom>
          <a:noFill/>
        </p:spPr>
        <p:txBody>
          <a:bodyPr wrap="square" lIns="0" tIns="0" rIns="0" bIns="0" anchor="ctr">
            <a:spAutoFit/>
          </a:bodyPr>
          <a:lstStyle/>
          <a:p>
            <a:pPr algn="l"/>
            <a:r>
              <a:rPr sz="1400" b="1">
                <a:solidFill>
                  <a:srgbClr val="0F172A"/>
                </a:solidFill>
                <a:latin typeface="Calibri"/>
              </a:rPr>
              <a:t>What it is</a:t>
            </a:r>
          </a:p>
        </p:txBody>
      </p:sp>
      <p:sp>
        <p:nvSpPr>
          <p:cNvPr id="9" name="a1ud120_cs8"/>
          <p:cNvSpPr txBox="1"/>
          <p:nvPr/>
        </p:nvSpPr>
        <p:spPr>
          <a:xfrm>
            <a:off x="621792" y="2121407"/>
            <a:ext cx="1577340" cy="237744"/>
          </a:xfrm>
          <a:prstGeom prst="rect">
            <a:avLst/>
          </a:prstGeom>
          <a:noFill/>
        </p:spPr>
        <p:txBody>
          <a:bodyPr wrap="square" lIns="0" tIns="0" rIns="0" bIns="0" anchor="ctr">
            <a:spAutoFit/>
          </a:bodyPr>
          <a:lstStyle/>
          <a:p>
            <a:pPr algn="l"/>
            <a:r>
              <a:rPr sz="1000" b="1">
                <a:solidFill>
                  <a:srgbClr val="6B3FA0"/>
                </a:solidFill>
                <a:latin typeface="Courier New"/>
              </a:rPr>
              <a:t>:ok</a:t>
            </a:r>
          </a:p>
        </p:txBody>
      </p:sp>
      <p:sp>
        <p:nvSpPr>
          <p:cNvPr id="10" name="a1ud150_cb9"/>
          <p:cNvSpPr txBox="1"/>
          <p:nvPr/>
        </p:nvSpPr>
        <p:spPr>
          <a:xfrm>
            <a:off x="621792" y="2377439"/>
            <a:ext cx="1577340"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A named constant</a:t>
            </a:r>
          </a:p>
        </p:txBody>
      </p:sp>
      <p:sp>
        <p:nvSpPr>
          <p:cNvPr id="11" name="a1ud220_cb10"/>
          <p:cNvSpPr txBox="1"/>
          <p:nvPr/>
        </p:nvSpPr>
        <p:spPr>
          <a:xfrm>
            <a:off x="621792" y="2761487"/>
            <a:ext cx="1577340"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Interned once, globally</a:t>
            </a:r>
          </a:p>
        </p:txBody>
      </p:sp>
      <p:sp>
        <p:nvSpPr>
          <p:cNvPr id="12" name="a1ud290_cb11"/>
          <p:cNvSpPr txBox="1"/>
          <p:nvPr/>
        </p:nvSpPr>
        <p:spPr>
          <a:xfrm>
            <a:off x="621792" y="3145535"/>
            <a:ext cx="1577340"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true, nil, modules</a:t>
            </a:r>
          </a:p>
        </p:txBody>
      </p:sp>
      <p:sp>
        <p:nvSpPr>
          <p:cNvPr id="13" name="a2u_card12"/>
          <p:cNvSpPr/>
          <p:nvPr/>
        </p:nvSpPr>
        <p:spPr>
          <a:xfrm>
            <a:off x="2564892" y="1170431"/>
            <a:ext cx="1906524" cy="2450592"/>
          </a:xfrm>
          <a:prstGeom prst="roundRect">
            <a:avLst>
              <a:gd name="adj" fmla="val 4796"/>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2u_acc13"/>
          <p:cNvSpPr/>
          <p:nvPr/>
        </p:nvSpPr>
        <p:spPr>
          <a:xfrm>
            <a:off x="2564892" y="1170431"/>
            <a:ext cx="1906524"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d60_ic14"/>
          <p:cNvSpPr/>
          <p:nvPr/>
        </p:nvSpPr>
        <p:spPr>
          <a:xfrm>
            <a:off x="2729484" y="1371599"/>
            <a:ext cx="384048" cy="384048"/>
          </a:xfrm>
          <a:prstGeom prst="roundRect">
            <a:avLst>
              <a:gd name="adj" fmla="val 23809"/>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d60_ict15"/>
          <p:cNvSpPr txBox="1"/>
          <p:nvPr/>
        </p:nvSpPr>
        <p:spPr>
          <a:xfrm>
            <a:off x="2729484" y="1371599"/>
            <a:ext cx="384048" cy="384048"/>
          </a:xfrm>
          <a:prstGeom prst="rect">
            <a:avLst/>
          </a:prstGeom>
          <a:noFill/>
        </p:spPr>
        <p:txBody>
          <a:bodyPr wrap="square" lIns="0" tIns="0" rIns="0" bIns="0" anchor="ctr">
            <a:spAutoFit/>
          </a:bodyPr>
          <a:lstStyle/>
          <a:p>
            <a:pPr algn="ctr"/>
            <a:r>
              <a:rPr sz="1300" b="1">
                <a:solidFill>
                  <a:srgbClr val="FFFFFF"/>
                </a:solidFill>
                <a:latin typeface="Calibri"/>
              </a:rPr>
              <a:t>2</a:t>
            </a:r>
          </a:p>
        </p:txBody>
      </p:sp>
      <p:sp>
        <p:nvSpPr>
          <p:cNvPr id="17" name="a2ud90_ct16"/>
          <p:cNvSpPr txBox="1"/>
          <p:nvPr/>
        </p:nvSpPr>
        <p:spPr>
          <a:xfrm>
            <a:off x="2729484" y="1847087"/>
            <a:ext cx="1577340" cy="274320"/>
          </a:xfrm>
          <a:prstGeom prst="rect">
            <a:avLst/>
          </a:prstGeom>
          <a:noFill/>
        </p:spPr>
        <p:txBody>
          <a:bodyPr wrap="square" lIns="0" tIns="0" rIns="0" bIns="0" anchor="ctr">
            <a:spAutoFit/>
          </a:bodyPr>
          <a:lstStyle/>
          <a:p>
            <a:pPr algn="l"/>
            <a:r>
              <a:rPr sz="1400" b="1">
                <a:solidFill>
                  <a:srgbClr val="0F172A"/>
                </a:solidFill>
                <a:latin typeface="Calibri"/>
              </a:rPr>
              <a:t>What it costs</a:t>
            </a:r>
          </a:p>
        </p:txBody>
      </p:sp>
      <p:sp>
        <p:nvSpPr>
          <p:cNvPr id="18" name="a2ud120_cs17"/>
          <p:cNvSpPr txBox="1"/>
          <p:nvPr/>
        </p:nvSpPr>
        <p:spPr>
          <a:xfrm>
            <a:off x="2729484" y="2121407"/>
            <a:ext cx="1577340" cy="237744"/>
          </a:xfrm>
          <a:prstGeom prst="rect">
            <a:avLst/>
          </a:prstGeom>
          <a:noFill/>
        </p:spPr>
        <p:txBody>
          <a:bodyPr wrap="square" lIns="0" tIns="0" rIns="0" bIns="0" anchor="ctr">
            <a:spAutoFit/>
          </a:bodyPr>
          <a:lstStyle/>
          <a:p>
            <a:pPr algn="l"/>
            <a:r>
              <a:rPr sz="1000" b="1">
                <a:solidFill>
                  <a:srgbClr val="0F766E"/>
                </a:solidFill>
                <a:latin typeface="Courier New"/>
              </a:rPr>
              <a:t>0 words</a:t>
            </a:r>
          </a:p>
        </p:txBody>
      </p:sp>
      <p:sp>
        <p:nvSpPr>
          <p:cNvPr id="19" name="a2ud150_cb18"/>
          <p:cNvSpPr txBox="1"/>
          <p:nvPr/>
        </p:nvSpPr>
        <p:spPr>
          <a:xfrm>
            <a:off x="2729484" y="2377439"/>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Free inside a term</a:t>
            </a:r>
          </a:p>
        </p:txBody>
      </p:sp>
      <p:sp>
        <p:nvSpPr>
          <p:cNvPr id="20" name="a2ud220_cb19"/>
          <p:cNvSpPr txBox="1"/>
          <p:nvPr/>
        </p:nvSpPr>
        <p:spPr>
          <a:xfrm>
            <a:off x="2729484" y="2761487"/>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Never garbage collected</a:t>
            </a:r>
          </a:p>
        </p:txBody>
      </p:sp>
      <p:sp>
        <p:nvSpPr>
          <p:cNvPr id="21" name="a2ud290_cb20"/>
          <p:cNvSpPr txBox="1"/>
          <p:nvPr/>
        </p:nvSpPr>
        <p:spPr>
          <a:xfrm>
            <a:off x="2729484" y="3145535"/>
            <a:ext cx="1577340"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One global table</a:t>
            </a:r>
          </a:p>
        </p:txBody>
      </p:sp>
      <p:sp>
        <p:nvSpPr>
          <p:cNvPr id="22" name="a3u_card21"/>
          <p:cNvSpPr/>
          <p:nvPr/>
        </p:nvSpPr>
        <p:spPr>
          <a:xfrm>
            <a:off x="4672584" y="1170431"/>
            <a:ext cx="1906524" cy="2450592"/>
          </a:xfrm>
          <a:prstGeom prst="roundRect">
            <a:avLst>
              <a:gd name="adj" fmla="val 4796"/>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u_acc22"/>
          <p:cNvSpPr/>
          <p:nvPr/>
        </p:nvSpPr>
        <p:spPr>
          <a:xfrm>
            <a:off x="4672584" y="1170431"/>
            <a:ext cx="1906524"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ud60_ic23"/>
          <p:cNvSpPr/>
          <p:nvPr/>
        </p:nvSpPr>
        <p:spPr>
          <a:xfrm>
            <a:off x="4837176" y="1371599"/>
            <a:ext cx="384048" cy="384048"/>
          </a:xfrm>
          <a:prstGeom prst="roundRect">
            <a:avLst>
              <a:gd name="adj" fmla="val 23809"/>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3ud60_ict24"/>
          <p:cNvSpPr txBox="1"/>
          <p:nvPr/>
        </p:nvSpPr>
        <p:spPr>
          <a:xfrm>
            <a:off x="4837176" y="1371599"/>
            <a:ext cx="384048" cy="384048"/>
          </a:xfrm>
          <a:prstGeom prst="rect">
            <a:avLst/>
          </a:prstGeom>
          <a:noFill/>
        </p:spPr>
        <p:txBody>
          <a:bodyPr wrap="square" lIns="0" tIns="0" rIns="0" bIns="0" anchor="ctr">
            <a:spAutoFit/>
          </a:bodyPr>
          <a:lstStyle/>
          <a:p>
            <a:pPr algn="ctr"/>
            <a:r>
              <a:rPr sz="1300" b="1">
                <a:solidFill>
                  <a:srgbClr val="FFFFFF"/>
                </a:solidFill>
                <a:latin typeface="Calibri"/>
              </a:rPr>
              <a:t>3</a:t>
            </a:r>
          </a:p>
        </p:txBody>
      </p:sp>
      <p:sp>
        <p:nvSpPr>
          <p:cNvPr id="26" name="a3ud90_ct25"/>
          <p:cNvSpPr txBox="1"/>
          <p:nvPr/>
        </p:nvSpPr>
        <p:spPr>
          <a:xfrm>
            <a:off x="4837176" y="1847087"/>
            <a:ext cx="1577340" cy="274320"/>
          </a:xfrm>
          <a:prstGeom prst="rect">
            <a:avLst/>
          </a:prstGeom>
          <a:noFill/>
        </p:spPr>
        <p:txBody>
          <a:bodyPr wrap="square" lIns="0" tIns="0" rIns="0" bIns="0" anchor="ctr">
            <a:spAutoFit/>
          </a:bodyPr>
          <a:lstStyle/>
          <a:p>
            <a:pPr algn="l"/>
            <a:r>
              <a:rPr sz="1400" b="1">
                <a:solidFill>
                  <a:srgbClr val="0F172A"/>
                </a:solidFill>
                <a:latin typeface="Calibri"/>
              </a:rPr>
              <a:t>Why use one</a:t>
            </a:r>
          </a:p>
        </p:txBody>
      </p:sp>
      <p:sp>
        <p:nvSpPr>
          <p:cNvPr id="27" name="a3ud120_cs26"/>
          <p:cNvSpPr txBox="1"/>
          <p:nvPr/>
        </p:nvSpPr>
        <p:spPr>
          <a:xfrm>
            <a:off x="4837176" y="2121407"/>
            <a:ext cx="1577340" cy="237744"/>
          </a:xfrm>
          <a:prstGeom prst="rect">
            <a:avLst/>
          </a:prstGeom>
          <a:noFill/>
        </p:spPr>
        <p:txBody>
          <a:bodyPr wrap="square" lIns="0" tIns="0" rIns="0" bIns="0" anchor="ctr">
            <a:spAutoFit/>
          </a:bodyPr>
          <a:lstStyle/>
          <a:p>
            <a:pPr algn="l"/>
            <a:r>
              <a:rPr sz="1000" b="1">
                <a:solidFill>
                  <a:srgbClr val="B45309"/>
                </a:solidFill>
                <a:latin typeface="Courier New"/>
              </a:rPr>
              <a:t>fast ==</a:t>
            </a:r>
          </a:p>
        </p:txBody>
      </p:sp>
      <p:sp>
        <p:nvSpPr>
          <p:cNvPr id="28" name="a3ud150_cb27"/>
          <p:cNvSpPr txBox="1"/>
          <p:nvPr/>
        </p:nvSpPr>
        <p:spPr>
          <a:xfrm>
            <a:off x="4837176" y="2377439"/>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Eight real use cases</a:t>
            </a:r>
          </a:p>
        </p:txBody>
      </p:sp>
      <p:sp>
        <p:nvSpPr>
          <p:cNvPr id="29" name="a3ud220_cb28"/>
          <p:cNvSpPr txBox="1"/>
          <p:nvPr/>
        </p:nvSpPr>
        <p:spPr>
          <a:xfrm>
            <a:off x="4837176" y="2761487"/>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Speed, measured</a:t>
            </a:r>
          </a:p>
        </p:txBody>
      </p:sp>
      <p:sp>
        <p:nvSpPr>
          <p:cNvPr id="30" name="a3ud290_cb29"/>
          <p:cNvSpPr txBox="1"/>
          <p:nvPr/>
        </p:nvSpPr>
        <p:spPr>
          <a:xfrm>
            <a:off x="4837176" y="3145535"/>
            <a:ext cx="1577340"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Atom or string?</a:t>
            </a:r>
          </a:p>
        </p:txBody>
      </p:sp>
      <p:sp>
        <p:nvSpPr>
          <p:cNvPr id="31" name="a4u_card30"/>
          <p:cNvSpPr/>
          <p:nvPr/>
        </p:nvSpPr>
        <p:spPr>
          <a:xfrm>
            <a:off x="6780276" y="1170431"/>
            <a:ext cx="1906524" cy="2450592"/>
          </a:xfrm>
          <a:prstGeom prst="roundRect">
            <a:avLst>
              <a:gd name="adj" fmla="val 4796"/>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4u_acc31"/>
          <p:cNvSpPr/>
          <p:nvPr/>
        </p:nvSpPr>
        <p:spPr>
          <a:xfrm>
            <a:off x="6780276" y="1170431"/>
            <a:ext cx="1906524" cy="5029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4ud60_ic32"/>
          <p:cNvSpPr/>
          <p:nvPr/>
        </p:nvSpPr>
        <p:spPr>
          <a:xfrm>
            <a:off x="6944868" y="1371599"/>
            <a:ext cx="384048" cy="384048"/>
          </a:xfrm>
          <a:prstGeom prst="roundRect">
            <a:avLst>
              <a:gd name="adj" fmla="val 23809"/>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4ud60_ict33"/>
          <p:cNvSpPr txBox="1"/>
          <p:nvPr/>
        </p:nvSpPr>
        <p:spPr>
          <a:xfrm>
            <a:off x="6944868" y="1371599"/>
            <a:ext cx="384048" cy="384048"/>
          </a:xfrm>
          <a:prstGeom prst="rect">
            <a:avLst/>
          </a:prstGeom>
          <a:noFill/>
        </p:spPr>
        <p:txBody>
          <a:bodyPr wrap="square" lIns="0" tIns="0" rIns="0" bIns="0" anchor="ctr">
            <a:spAutoFit/>
          </a:bodyPr>
          <a:lstStyle/>
          <a:p>
            <a:pPr algn="ctr"/>
            <a:r>
              <a:rPr sz="1300" b="1">
                <a:solidFill>
                  <a:srgbClr val="FFFFFF"/>
                </a:solidFill>
                <a:latin typeface="Calibri"/>
              </a:rPr>
              <a:t>4</a:t>
            </a:r>
          </a:p>
        </p:txBody>
      </p:sp>
      <p:sp>
        <p:nvSpPr>
          <p:cNvPr id="35" name="a4ud90_ct34"/>
          <p:cNvSpPr txBox="1"/>
          <p:nvPr/>
        </p:nvSpPr>
        <p:spPr>
          <a:xfrm>
            <a:off x="6944868" y="1847087"/>
            <a:ext cx="1577340" cy="274320"/>
          </a:xfrm>
          <a:prstGeom prst="rect">
            <a:avLst/>
          </a:prstGeom>
          <a:noFill/>
        </p:spPr>
        <p:txBody>
          <a:bodyPr wrap="square" lIns="0" tIns="0" rIns="0" bIns="0" anchor="ctr">
            <a:spAutoFit/>
          </a:bodyPr>
          <a:lstStyle/>
          <a:p>
            <a:pPr algn="l"/>
            <a:r>
              <a:rPr sz="1400" b="1">
                <a:solidFill>
                  <a:srgbClr val="0F172A"/>
                </a:solidFill>
                <a:latin typeface="Calibri"/>
              </a:rPr>
              <a:t>The danger</a:t>
            </a:r>
          </a:p>
        </p:txBody>
      </p:sp>
      <p:sp>
        <p:nvSpPr>
          <p:cNvPr id="36" name="a4ud120_cs35"/>
          <p:cNvSpPr txBox="1"/>
          <p:nvPr/>
        </p:nvSpPr>
        <p:spPr>
          <a:xfrm>
            <a:off x="6944868" y="2121407"/>
            <a:ext cx="1577340" cy="237744"/>
          </a:xfrm>
          <a:prstGeom prst="rect">
            <a:avLst/>
          </a:prstGeom>
          <a:noFill/>
        </p:spPr>
        <p:txBody>
          <a:bodyPr wrap="square" lIns="0" tIns="0" rIns="0" bIns="0" anchor="ctr">
            <a:spAutoFit/>
          </a:bodyPr>
          <a:lstStyle/>
          <a:p>
            <a:pPr algn="l"/>
            <a:r>
              <a:rPr sz="1000" b="1">
                <a:solidFill>
                  <a:srgbClr val="A90533"/>
                </a:solidFill>
                <a:latin typeface="Courier New"/>
              </a:rPr>
              <a:t>to_atom</a:t>
            </a:r>
          </a:p>
        </p:txBody>
      </p:sp>
      <p:sp>
        <p:nvSpPr>
          <p:cNvPr id="37" name="a4ud150_cb36"/>
          <p:cNvSpPr txBox="1"/>
          <p:nvPr/>
        </p:nvSpPr>
        <p:spPr>
          <a:xfrm>
            <a:off x="6944868" y="2377439"/>
            <a:ext cx="1577340" cy="475488"/>
          </a:xfrm>
          <a:prstGeom prst="rect">
            <a:avLst/>
          </a:prstGeom>
          <a:noFill/>
        </p:spPr>
        <p:txBody>
          <a:bodyPr wrap="square" lIns="0" tIns="0" rIns="0" bIns="0" anchor="t">
            <a:spAutoFit/>
          </a:bodyPr>
          <a:lstStyle/>
          <a:p>
            <a:pPr algn="l"/>
            <a:r>
              <a:rPr sz="1050" b="1">
                <a:solidFill>
                  <a:srgbClr val="A90533"/>
                </a:solidFill>
                <a:latin typeface="Calibri"/>
              </a:rPr>
              <a:t>· </a:t>
            </a:r>
            <a:r>
              <a:rPr sz="1050" b="0">
                <a:solidFill>
                  <a:srgbClr val="334155"/>
                </a:solidFill>
                <a:latin typeface="Calibri"/>
              </a:rPr>
              <a:t>User input kills nodes</a:t>
            </a:r>
          </a:p>
        </p:txBody>
      </p:sp>
      <p:sp>
        <p:nvSpPr>
          <p:cNvPr id="38" name="a4ud220_cb37"/>
          <p:cNvSpPr txBox="1"/>
          <p:nvPr/>
        </p:nvSpPr>
        <p:spPr>
          <a:xfrm>
            <a:off x="6944868" y="2761487"/>
            <a:ext cx="1577340" cy="475488"/>
          </a:xfrm>
          <a:prstGeom prst="rect">
            <a:avLst/>
          </a:prstGeom>
          <a:noFill/>
        </p:spPr>
        <p:txBody>
          <a:bodyPr wrap="square" lIns="0" tIns="0" rIns="0" bIns="0" anchor="t">
            <a:spAutoFit/>
          </a:bodyPr>
          <a:lstStyle/>
          <a:p>
            <a:pPr algn="l"/>
            <a:r>
              <a:rPr sz="1050" b="1">
                <a:solidFill>
                  <a:srgbClr val="A90533"/>
                </a:solidFill>
                <a:latin typeface="Calibri"/>
              </a:rPr>
              <a:t>· </a:t>
            </a:r>
            <a:r>
              <a:rPr sz="1050" b="0">
                <a:solidFill>
                  <a:srgbClr val="334155"/>
                </a:solidFill>
                <a:latin typeface="Calibri"/>
              </a:rPr>
              <a:t>The safe door</a:t>
            </a:r>
          </a:p>
        </p:txBody>
      </p:sp>
      <p:sp>
        <p:nvSpPr>
          <p:cNvPr id="39" name="a4ud290_cb38"/>
          <p:cNvSpPr txBox="1"/>
          <p:nvPr/>
        </p:nvSpPr>
        <p:spPr>
          <a:xfrm>
            <a:off x="6944868" y="3145535"/>
            <a:ext cx="1577340" cy="475488"/>
          </a:xfrm>
          <a:prstGeom prst="rect">
            <a:avLst/>
          </a:prstGeom>
          <a:noFill/>
        </p:spPr>
        <p:txBody>
          <a:bodyPr wrap="square" lIns="0" tIns="0" rIns="0" bIns="0" anchor="t">
            <a:spAutoFit/>
          </a:bodyPr>
          <a:lstStyle/>
          <a:p>
            <a:pPr algn="l"/>
            <a:r>
              <a:rPr sz="1050" b="1">
                <a:solidFill>
                  <a:srgbClr val="A90533"/>
                </a:solidFill>
                <a:latin typeface="Calibri"/>
              </a:rPr>
              <a:t>· </a:t>
            </a:r>
            <a:r>
              <a:rPr sz="1050" b="0">
                <a:solidFill>
                  <a:srgbClr val="334155"/>
                </a:solidFill>
                <a:latin typeface="Calibri"/>
              </a:rPr>
              <a:t>The rules</a:t>
            </a:r>
          </a:p>
        </p:txBody>
      </p:sp>
      <p:sp>
        <p:nvSpPr>
          <p:cNvPr id="40" name="a5f_nb39"/>
          <p:cNvSpPr/>
          <p:nvPr/>
        </p:nvSpPr>
        <p:spPr>
          <a:xfrm>
            <a:off x="457200" y="3767328"/>
            <a:ext cx="8229600" cy="566928"/>
          </a:xfrm>
          <a:prstGeom prst="roundRect">
            <a:avLst>
              <a:gd name="adj" fmla="val 1290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5f_nacc40"/>
          <p:cNvSpPr/>
          <p:nvPr/>
        </p:nvSpPr>
        <p:spPr>
          <a:xfrm>
            <a:off x="457200" y="3767328"/>
            <a:ext cx="50292" cy="56692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5f_nt41"/>
          <p:cNvSpPr txBox="1"/>
          <p:nvPr/>
        </p:nvSpPr>
        <p:spPr>
          <a:xfrm>
            <a:off x="658368" y="3767328"/>
            <a:ext cx="7827264" cy="566928"/>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The through-line: an atom is the cheapest value in the language to hold and the most expensive one to invent. Everything on the next forty slides follows from those two facts pulling in opposite directions.</a:t>
            </a:r>
          </a:p>
        </p:txBody>
      </p:sp>
      <p:sp>
        <p:nvSpPr>
          <p:cNvPr id="43" name="ft42"/>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44" name="ft43"/>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6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6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9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grpId="0" nodeType="withEffect">
                                  <p:stCondLst>
                                    <p:cond delay="12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grpId="0" nodeType="withEffect">
                                  <p:stCondLst>
                                    <p:cond delay="15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par>
                                <p:cTn id="40" presetID="2" presetClass="entr" presetSubtype="4" fill="hold" grpId="0" nodeType="withEffect">
                                  <p:stCondLst>
                                    <p:cond delay="220"/>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ppt_y+0.1"/>
                                          </p:val>
                                        </p:tav>
                                        <p:tav tm="100000">
                                          <p:val>
                                            <p:strVal val="#ppt_y"/>
                                          </p:val>
                                        </p:tav>
                                      </p:tavLst>
                                    </p:anim>
                                    <p:animEffect transition="in" filter="fade">
                                      <p:cBhvr>
                                        <p:cTn id="44" dur="500"/>
                                        <p:tgtEl>
                                          <p:spTgt spid="11"/>
                                        </p:tgtEl>
                                      </p:cBhvr>
                                    </p:animEffect>
                                  </p:childTnLst>
                                </p:cTn>
                              </p:par>
                              <p:par>
                                <p:cTn id="45" presetID="2" presetClass="entr" presetSubtype="4" fill="hold" grpId="0" nodeType="withEffect">
                                  <p:stCondLst>
                                    <p:cond delay="29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ppt_y+0.1"/>
                                          </p:val>
                                        </p:tav>
                                        <p:tav tm="100000">
                                          <p:val>
                                            <p:strVal val="#ppt_y"/>
                                          </p:val>
                                        </p:tav>
                                      </p:tavLst>
                                    </p:anim>
                                    <p:animEffect transition="in" filter="fade">
                                      <p:cBhvr>
                                        <p:cTn id="49" dur="500"/>
                                        <p:tgtEl>
                                          <p:spTgt spid="12"/>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500" fill="hold"/>
                                        <p:tgtEl>
                                          <p:spTgt spid="13"/>
                                        </p:tgtEl>
                                        <p:attrNameLst>
                                          <p:attrName>ppt_x</p:attrName>
                                        </p:attrNameLst>
                                      </p:cBhvr>
                                      <p:tavLst>
                                        <p:tav tm="0">
                                          <p:val>
                                            <p:strVal val="#ppt_x"/>
                                          </p:val>
                                        </p:tav>
                                        <p:tav tm="100000">
                                          <p:val>
                                            <p:strVal val="#ppt_x"/>
                                          </p:val>
                                        </p:tav>
                                      </p:tavLst>
                                    </p:anim>
                                    <p:anim calcmode="lin" valueType="num">
                                      <p:cBhvr additive="base">
                                        <p:cTn id="55" dur="500" fill="hold"/>
                                        <p:tgtEl>
                                          <p:spTgt spid="13"/>
                                        </p:tgtEl>
                                        <p:attrNameLst>
                                          <p:attrName>ppt_y</p:attrName>
                                        </p:attrNameLst>
                                      </p:cBhvr>
                                      <p:tavLst>
                                        <p:tav tm="0">
                                          <p:val>
                                            <p:strVal val="#ppt_y+0.1"/>
                                          </p:val>
                                        </p:tav>
                                        <p:tav tm="100000">
                                          <p:val>
                                            <p:strVal val="#ppt_y"/>
                                          </p:val>
                                        </p:tav>
                                      </p:tavLst>
                                    </p:anim>
                                    <p:animEffect transition="in" filter="fade">
                                      <p:cBhvr>
                                        <p:cTn id="56" dur="500"/>
                                        <p:tgtEl>
                                          <p:spTgt spid="13"/>
                                        </p:tgtEl>
                                      </p:cBhvr>
                                    </p:animEffect>
                                  </p:childTnLst>
                                </p:cTn>
                              </p:par>
                              <p:par>
                                <p:cTn id="57" presetID="2" presetClass="entr" presetSubtype="4" fill="hold" grpId="0" nodeType="withEffect">
                                  <p:stCondLst>
                                    <p:cond delay="0"/>
                                  </p:stCondLst>
                                  <p:childTnLst>
                                    <p:set>
                                      <p:cBhvr>
                                        <p:cTn id="58" dur="1" fill="hold">
                                          <p:stCondLst>
                                            <p:cond delay="0"/>
                                          </p:stCondLst>
                                        </p:cTn>
                                        <p:tgtEl>
                                          <p:spTgt spid="14"/>
                                        </p:tgtEl>
                                        <p:attrNameLst>
                                          <p:attrName>style.visibility</p:attrName>
                                        </p:attrNameLst>
                                      </p:cBhvr>
                                      <p:to>
                                        <p:strVal val="visible"/>
                                      </p:to>
                                    </p:set>
                                    <p:anim calcmode="lin" valueType="num">
                                      <p:cBhvr additive="base">
                                        <p:cTn id="59" dur="500" fill="hold"/>
                                        <p:tgtEl>
                                          <p:spTgt spid="14"/>
                                        </p:tgtEl>
                                        <p:attrNameLst>
                                          <p:attrName>ppt_x</p:attrName>
                                        </p:attrNameLst>
                                      </p:cBhvr>
                                      <p:tavLst>
                                        <p:tav tm="0">
                                          <p:val>
                                            <p:strVal val="#ppt_x"/>
                                          </p:val>
                                        </p:tav>
                                        <p:tav tm="100000">
                                          <p:val>
                                            <p:strVal val="#ppt_x"/>
                                          </p:val>
                                        </p:tav>
                                      </p:tavLst>
                                    </p:anim>
                                    <p:anim calcmode="lin" valueType="num">
                                      <p:cBhvr additive="base">
                                        <p:cTn id="60" dur="500" fill="hold"/>
                                        <p:tgtEl>
                                          <p:spTgt spid="14"/>
                                        </p:tgtEl>
                                        <p:attrNameLst>
                                          <p:attrName>ppt_y</p:attrName>
                                        </p:attrNameLst>
                                      </p:cBhvr>
                                      <p:tavLst>
                                        <p:tav tm="0">
                                          <p:val>
                                            <p:strVal val="#ppt_y+0.1"/>
                                          </p:val>
                                        </p:tav>
                                        <p:tav tm="100000">
                                          <p:val>
                                            <p:strVal val="#ppt_y"/>
                                          </p:val>
                                        </p:tav>
                                      </p:tavLst>
                                    </p:anim>
                                    <p:animEffect transition="in" filter="fade">
                                      <p:cBhvr>
                                        <p:cTn id="61" dur="500"/>
                                        <p:tgtEl>
                                          <p:spTgt spid="14"/>
                                        </p:tgtEl>
                                      </p:cBhvr>
                                    </p:animEffect>
                                  </p:childTnLst>
                                </p:cTn>
                              </p:par>
                              <p:par>
                                <p:cTn id="62" presetID="2" presetClass="entr" presetSubtype="4" fill="hold" grpId="0" nodeType="withEffect">
                                  <p:stCondLst>
                                    <p:cond delay="6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fill="hold"/>
                                        <p:tgtEl>
                                          <p:spTgt spid="15"/>
                                        </p:tgtEl>
                                        <p:attrNameLst>
                                          <p:attrName>ppt_x</p:attrName>
                                        </p:attrNameLst>
                                      </p:cBhvr>
                                      <p:tavLst>
                                        <p:tav tm="0">
                                          <p:val>
                                            <p:strVal val="#ppt_x"/>
                                          </p:val>
                                        </p:tav>
                                        <p:tav tm="100000">
                                          <p:val>
                                            <p:strVal val="#ppt_x"/>
                                          </p:val>
                                        </p:tav>
                                      </p:tavLst>
                                    </p:anim>
                                    <p:anim calcmode="lin" valueType="num">
                                      <p:cBhvr additive="base">
                                        <p:cTn id="65" dur="500" fill="hold"/>
                                        <p:tgtEl>
                                          <p:spTgt spid="15"/>
                                        </p:tgtEl>
                                        <p:attrNameLst>
                                          <p:attrName>ppt_y</p:attrName>
                                        </p:attrNameLst>
                                      </p:cBhvr>
                                      <p:tavLst>
                                        <p:tav tm="0">
                                          <p:val>
                                            <p:strVal val="#ppt_y+0.1"/>
                                          </p:val>
                                        </p:tav>
                                        <p:tav tm="100000">
                                          <p:val>
                                            <p:strVal val="#ppt_y"/>
                                          </p:val>
                                        </p:tav>
                                      </p:tavLst>
                                    </p:anim>
                                    <p:animEffect transition="in" filter="fade">
                                      <p:cBhvr>
                                        <p:cTn id="66" dur="500"/>
                                        <p:tgtEl>
                                          <p:spTgt spid="15"/>
                                        </p:tgtEl>
                                      </p:cBhvr>
                                    </p:animEffect>
                                  </p:childTnLst>
                                </p:cTn>
                              </p:par>
                              <p:par>
                                <p:cTn id="67" presetID="2" presetClass="entr" presetSubtype="4" fill="hold" grpId="0" nodeType="withEffect">
                                  <p:stCondLst>
                                    <p:cond delay="60"/>
                                  </p:stCondLst>
                                  <p:childTnLst>
                                    <p:set>
                                      <p:cBhvr>
                                        <p:cTn id="68" dur="1" fill="hold">
                                          <p:stCondLst>
                                            <p:cond delay="0"/>
                                          </p:stCondLst>
                                        </p:cTn>
                                        <p:tgtEl>
                                          <p:spTgt spid="16"/>
                                        </p:tgtEl>
                                        <p:attrNameLst>
                                          <p:attrName>style.visibility</p:attrName>
                                        </p:attrNameLst>
                                      </p:cBhvr>
                                      <p:to>
                                        <p:strVal val="visible"/>
                                      </p:to>
                                    </p:set>
                                    <p:anim calcmode="lin" valueType="num">
                                      <p:cBhvr additive="base">
                                        <p:cTn id="69" dur="500" fill="hold"/>
                                        <p:tgtEl>
                                          <p:spTgt spid="16"/>
                                        </p:tgtEl>
                                        <p:attrNameLst>
                                          <p:attrName>ppt_x</p:attrName>
                                        </p:attrNameLst>
                                      </p:cBhvr>
                                      <p:tavLst>
                                        <p:tav tm="0">
                                          <p:val>
                                            <p:strVal val="#ppt_x"/>
                                          </p:val>
                                        </p:tav>
                                        <p:tav tm="100000">
                                          <p:val>
                                            <p:strVal val="#ppt_x"/>
                                          </p:val>
                                        </p:tav>
                                      </p:tavLst>
                                    </p:anim>
                                    <p:anim calcmode="lin" valueType="num">
                                      <p:cBhvr additive="base">
                                        <p:cTn id="70" dur="500" fill="hold"/>
                                        <p:tgtEl>
                                          <p:spTgt spid="16"/>
                                        </p:tgtEl>
                                        <p:attrNameLst>
                                          <p:attrName>ppt_y</p:attrName>
                                        </p:attrNameLst>
                                      </p:cBhvr>
                                      <p:tavLst>
                                        <p:tav tm="0">
                                          <p:val>
                                            <p:strVal val="#ppt_y+0.1"/>
                                          </p:val>
                                        </p:tav>
                                        <p:tav tm="100000">
                                          <p:val>
                                            <p:strVal val="#ppt_y"/>
                                          </p:val>
                                        </p:tav>
                                      </p:tavLst>
                                    </p:anim>
                                    <p:animEffect transition="in" filter="fade">
                                      <p:cBhvr>
                                        <p:cTn id="71" dur="500"/>
                                        <p:tgtEl>
                                          <p:spTgt spid="16"/>
                                        </p:tgtEl>
                                      </p:cBhvr>
                                    </p:animEffect>
                                  </p:childTnLst>
                                </p:cTn>
                              </p:par>
                              <p:par>
                                <p:cTn id="72" presetID="2" presetClass="entr" presetSubtype="4" fill="hold" grpId="0" nodeType="withEffect">
                                  <p:stCondLst>
                                    <p:cond delay="90"/>
                                  </p:stCondLst>
                                  <p:childTnLst>
                                    <p:set>
                                      <p:cBhvr>
                                        <p:cTn id="73" dur="1" fill="hold">
                                          <p:stCondLst>
                                            <p:cond delay="0"/>
                                          </p:stCondLst>
                                        </p:cTn>
                                        <p:tgtEl>
                                          <p:spTgt spid="17"/>
                                        </p:tgtEl>
                                        <p:attrNameLst>
                                          <p:attrName>style.visibility</p:attrName>
                                        </p:attrNameLst>
                                      </p:cBhvr>
                                      <p:to>
                                        <p:strVal val="visible"/>
                                      </p:to>
                                    </p:set>
                                    <p:anim calcmode="lin" valueType="num">
                                      <p:cBhvr additive="base">
                                        <p:cTn id="74" dur="500" fill="hold"/>
                                        <p:tgtEl>
                                          <p:spTgt spid="17"/>
                                        </p:tgtEl>
                                        <p:attrNameLst>
                                          <p:attrName>ppt_x</p:attrName>
                                        </p:attrNameLst>
                                      </p:cBhvr>
                                      <p:tavLst>
                                        <p:tav tm="0">
                                          <p:val>
                                            <p:strVal val="#ppt_x"/>
                                          </p:val>
                                        </p:tav>
                                        <p:tav tm="100000">
                                          <p:val>
                                            <p:strVal val="#ppt_x"/>
                                          </p:val>
                                        </p:tav>
                                      </p:tavLst>
                                    </p:anim>
                                    <p:anim calcmode="lin" valueType="num">
                                      <p:cBhvr additive="base">
                                        <p:cTn id="75" dur="500" fill="hold"/>
                                        <p:tgtEl>
                                          <p:spTgt spid="17"/>
                                        </p:tgtEl>
                                        <p:attrNameLst>
                                          <p:attrName>ppt_y</p:attrName>
                                        </p:attrNameLst>
                                      </p:cBhvr>
                                      <p:tavLst>
                                        <p:tav tm="0">
                                          <p:val>
                                            <p:strVal val="#ppt_y+0.1"/>
                                          </p:val>
                                        </p:tav>
                                        <p:tav tm="100000">
                                          <p:val>
                                            <p:strVal val="#ppt_y"/>
                                          </p:val>
                                        </p:tav>
                                      </p:tavLst>
                                    </p:anim>
                                    <p:animEffect transition="in" filter="fade">
                                      <p:cBhvr>
                                        <p:cTn id="76" dur="500"/>
                                        <p:tgtEl>
                                          <p:spTgt spid="17"/>
                                        </p:tgtEl>
                                      </p:cBhvr>
                                    </p:animEffect>
                                  </p:childTnLst>
                                </p:cTn>
                              </p:par>
                              <p:par>
                                <p:cTn id="77" presetID="2" presetClass="entr" presetSubtype="4" fill="hold" grpId="0" nodeType="withEffect">
                                  <p:stCondLst>
                                    <p:cond delay="120"/>
                                  </p:stCondLst>
                                  <p:childTnLst>
                                    <p:set>
                                      <p:cBhvr>
                                        <p:cTn id="78" dur="1" fill="hold">
                                          <p:stCondLst>
                                            <p:cond delay="0"/>
                                          </p:stCondLst>
                                        </p:cTn>
                                        <p:tgtEl>
                                          <p:spTgt spid="18"/>
                                        </p:tgtEl>
                                        <p:attrNameLst>
                                          <p:attrName>style.visibility</p:attrName>
                                        </p:attrNameLst>
                                      </p:cBhvr>
                                      <p:to>
                                        <p:strVal val="visible"/>
                                      </p:to>
                                    </p:set>
                                    <p:anim calcmode="lin" valueType="num">
                                      <p:cBhvr additive="base">
                                        <p:cTn id="79" dur="500" fill="hold"/>
                                        <p:tgtEl>
                                          <p:spTgt spid="18"/>
                                        </p:tgtEl>
                                        <p:attrNameLst>
                                          <p:attrName>ppt_x</p:attrName>
                                        </p:attrNameLst>
                                      </p:cBhvr>
                                      <p:tavLst>
                                        <p:tav tm="0">
                                          <p:val>
                                            <p:strVal val="#ppt_x"/>
                                          </p:val>
                                        </p:tav>
                                        <p:tav tm="100000">
                                          <p:val>
                                            <p:strVal val="#ppt_x"/>
                                          </p:val>
                                        </p:tav>
                                      </p:tavLst>
                                    </p:anim>
                                    <p:anim calcmode="lin" valueType="num">
                                      <p:cBhvr additive="base">
                                        <p:cTn id="80" dur="500" fill="hold"/>
                                        <p:tgtEl>
                                          <p:spTgt spid="18"/>
                                        </p:tgtEl>
                                        <p:attrNameLst>
                                          <p:attrName>ppt_y</p:attrName>
                                        </p:attrNameLst>
                                      </p:cBhvr>
                                      <p:tavLst>
                                        <p:tav tm="0">
                                          <p:val>
                                            <p:strVal val="#ppt_y+0.1"/>
                                          </p:val>
                                        </p:tav>
                                        <p:tav tm="100000">
                                          <p:val>
                                            <p:strVal val="#ppt_y"/>
                                          </p:val>
                                        </p:tav>
                                      </p:tavLst>
                                    </p:anim>
                                    <p:animEffect transition="in" filter="fade">
                                      <p:cBhvr>
                                        <p:cTn id="81" dur="500"/>
                                        <p:tgtEl>
                                          <p:spTgt spid="18"/>
                                        </p:tgtEl>
                                      </p:cBhvr>
                                    </p:animEffect>
                                  </p:childTnLst>
                                </p:cTn>
                              </p:par>
                              <p:par>
                                <p:cTn id="82" presetID="2" presetClass="entr" presetSubtype="4" fill="hold" grpId="0" nodeType="withEffect">
                                  <p:stCondLst>
                                    <p:cond delay="150"/>
                                  </p:stCondLst>
                                  <p:childTnLst>
                                    <p:set>
                                      <p:cBhvr>
                                        <p:cTn id="83" dur="1" fill="hold">
                                          <p:stCondLst>
                                            <p:cond delay="0"/>
                                          </p:stCondLst>
                                        </p:cTn>
                                        <p:tgtEl>
                                          <p:spTgt spid="19"/>
                                        </p:tgtEl>
                                        <p:attrNameLst>
                                          <p:attrName>style.visibility</p:attrName>
                                        </p:attrNameLst>
                                      </p:cBhvr>
                                      <p:to>
                                        <p:strVal val="visible"/>
                                      </p:to>
                                    </p:set>
                                    <p:anim calcmode="lin" valueType="num">
                                      <p:cBhvr additive="base">
                                        <p:cTn id="84" dur="500" fill="hold"/>
                                        <p:tgtEl>
                                          <p:spTgt spid="19"/>
                                        </p:tgtEl>
                                        <p:attrNameLst>
                                          <p:attrName>ppt_x</p:attrName>
                                        </p:attrNameLst>
                                      </p:cBhvr>
                                      <p:tavLst>
                                        <p:tav tm="0">
                                          <p:val>
                                            <p:strVal val="#ppt_x"/>
                                          </p:val>
                                        </p:tav>
                                        <p:tav tm="100000">
                                          <p:val>
                                            <p:strVal val="#ppt_x"/>
                                          </p:val>
                                        </p:tav>
                                      </p:tavLst>
                                    </p:anim>
                                    <p:anim calcmode="lin" valueType="num">
                                      <p:cBhvr additive="base">
                                        <p:cTn id="85" dur="500" fill="hold"/>
                                        <p:tgtEl>
                                          <p:spTgt spid="19"/>
                                        </p:tgtEl>
                                        <p:attrNameLst>
                                          <p:attrName>ppt_y</p:attrName>
                                        </p:attrNameLst>
                                      </p:cBhvr>
                                      <p:tavLst>
                                        <p:tav tm="0">
                                          <p:val>
                                            <p:strVal val="#ppt_y+0.1"/>
                                          </p:val>
                                        </p:tav>
                                        <p:tav tm="100000">
                                          <p:val>
                                            <p:strVal val="#ppt_y"/>
                                          </p:val>
                                        </p:tav>
                                      </p:tavLst>
                                    </p:anim>
                                    <p:animEffect transition="in" filter="fade">
                                      <p:cBhvr>
                                        <p:cTn id="86" dur="500"/>
                                        <p:tgtEl>
                                          <p:spTgt spid="19"/>
                                        </p:tgtEl>
                                      </p:cBhvr>
                                    </p:animEffect>
                                  </p:childTnLst>
                                </p:cTn>
                              </p:par>
                              <p:par>
                                <p:cTn id="87" presetID="2" presetClass="entr" presetSubtype="4" fill="hold" grpId="0" nodeType="withEffect">
                                  <p:stCondLst>
                                    <p:cond delay="22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p:tgtEl>
                                          <p:spTgt spid="20"/>
                                        </p:tgtEl>
                                        <p:attrNameLst>
                                          <p:attrName>ppt_y</p:attrName>
                                        </p:attrNameLst>
                                      </p:cBhvr>
                                      <p:tavLst>
                                        <p:tav tm="0">
                                          <p:val>
                                            <p:strVal val="#ppt_y+0.1"/>
                                          </p:val>
                                        </p:tav>
                                        <p:tav tm="100000">
                                          <p:val>
                                            <p:strVal val="#ppt_y"/>
                                          </p:val>
                                        </p:tav>
                                      </p:tavLst>
                                    </p:anim>
                                    <p:animEffect transition="in" filter="fade">
                                      <p:cBhvr>
                                        <p:cTn id="91" dur="500"/>
                                        <p:tgtEl>
                                          <p:spTgt spid="20"/>
                                        </p:tgtEl>
                                      </p:cBhvr>
                                    </p:animEffect>
                                  </p:childTnLst>
                                </p:cTn>
                              </p:par>
                              <p:par>
                                <p:cTn id="92" presetID="2" presetClass="entr" presetSubtype="4" fill="hold" grpId="0" nodeType="withEffect">
                                  <p:stCondLst>
                                    <p:cond delay="290"/>
                                  </p:stCondLst>
                                  <p:childTnLst>
                                    <p:set>
                                      <p:cBhvr>
                                        <p:cTn id="93" dur="1" fill="hold">
                                          <p:stCondLst>
                                            <p:cond delay="0"/>
                                          </p:stCondLst>
                                        </p:cTn>
                                        <p:tgtEl>
                                          <p:spTgt spid="21"/>
                                        </p:tgtEl>
                                        <p:attrNameLst>
                                          <p:attrName>style.visibility</p:attrName>
                                        </p:attrNameLst>
                                      </p:cBhvr>
                                      <p:to>
                                        <p:strVal val="visible"/>
                                      </p:to>
                                    </p:set>
                                    <p:anim calcmode="lin" valueType="num">
                                      <p:cBhvr additive="base">
                                        <p:cTn id="94" dur="500" fill="hold"/>
                                        <p:tgtEl>
                                          <p:spTgt spid="21"/>
                                        </p:tgtEl>
                                        <p:attrNameLst>
                                          <p:attrName>ppt_x</p:attrName>
                                        </p:attrNameLst>
                                      </p:cBhvr>
                                      <p:tavLst>
                                        <p:tav tm="0">
                                          <p:val>
                                            <p:strVal val="#ppt_x"/>
                                          </p:val>
                                        </p:tav>
                                        <p:tav tm="100000">
                                          <p:val>
                                            <p:strVal val="#ppt_x"/>
                                          </p:val>
                                        </p:tav>
                                      </p:tavLst>
                                    </p:anim>
                                    <p:anim calcmode="lin" valueType="num">
                                      <p:cBhvr additive="base">
                                        <p:cTn id="95" dur="500" fill="hold"/>
                                        <p:tgtEl>
                                          <p:spTgt spid="21"/>
                                        </p:tgtEl>
                                        <p:attrNameLst>
                                          <p:attrName>ppt_y</p:attrName>
                                        </p:attrNameLst>
                                      </p:cBhvr>
                                      <p:tavLst>
                                        <p:tav tm="0">
                                          <p:val>
                                            <p:strVal val="#ppt_y+0.1"/>
                                          </p:val>
                                        </p:tav>
                                        <p:tav tm="100000">
                                          <p:val>
                                            <p:strVal val="#ppt_y"/>
                                          </p:val>
                                        </p:tav>
                                      </p:tavLst>
                                    </p:anim>
                                    <p:animEffect transition="in" filter="fade">
                                      <p:cBhvr>
                                        <p:cTn id="96" dur="500"/>
                                        <p:tgtEl>
                                          <p:spTgt spid="21"/>
                                        </p:tgtEl>
                                      </p:cBhvr>
                                    </p:animEffect>
                                  </p:childTnLst>
                                </p:cTn>
                              </p:par>
                            </p:childTnLst>
                          </p:cTn>
                        </p:par>
                      </p:childTnLst>
                    </p:cTn>
                  </p:par>
                  <p:par>
                    <p:cTn id="97" fill="hold">
                      <p:stCondLst>
                        <p:cond delay="indefinite"/>
                      </p:stCondLst>
                      <p:childTnLst>
                        <p:par>
                          <p:cTn id="98" fill="hold">
                            <p:stCondLst>
                              <p:cond delay="0"/>
                            </p:stCondLst>
                            <p:childTnLst>
                              <p:par>
                                <p:cTn id="99" presetID="2" presetClass="entr" presetSubtype="4" fill="hold" grpId="0" nodeType="clickEffect">
                                  <p:stCondLst>
                                    <p:cond delay="0"/>
                                  </p:stCondLst>
                                  <p:childTnLst>
                                    <p:set>
                                      <p:cBhvr>
                                        <p:cTn id="100" dur="1" fill="hold">
                                          <p:stCondLst>
                                            <p:cond delay="0"/>
                                          </p:stCondLst>
                                        </p:cTn>
                                        <p:tgtEl>
                                          <p:spTgt spid="22"/>
                                        </p:tgtEl>
                                        <p:attrNameLst>
                                          <p:attrName>style.visibility</p:attrName>
                                        </p:attrNameLst>
                                      </p:cBhvr>
                                      <p:to>
                                        <p:strVal val="visible"/>
                                      </p:to>
                                    </p:set>
                                    <p:anim calcmode="lin" valueType="num">
                                      <p:cBhvr additive="base">
                                        <p:cTn id="101" dur="500" fill="hold"/>
                                        <p:tgtEl>
                                          <p:spTgt spid="22"/>
                                        </p:tgtEl>
                                        <p:attrNameLst>
                                          <p:attrName>ppt_x</p:attrName>
                                        </p:attrNameLst>
                                      </p:cBhvr>
                                      <p:tavLst>
                                        <p:tav tm="0">
                                          <p:val>
                                            <p:strVal val="#ppt_x"/>
                                          </p:val>
                                        </p:tav>
                                        <p:tav tm="100000">
                                          <p:val>
                                            <p:strVal val="#ppt_x"/>
                                          </p:val>
                                        </p:tav>
                                      </p:tavLst>
                                    </p:anim>
                                    <p:anim calcmode="lin" valueType="num">
                                      <p:cBhvr additive="base">
                                        <p:cTn id="102" dur="500" fill="hold"/>
                                        <p:tgtEl>
                                          <p:spTgt spid="22"/>
                                        </p:tgtEl>
                                        <p:attrNameLst>
                                          <p:attrName>ppt_y</p:attrName>
                                        </p:attrNameLst>
                                      </p:cBhvr>
                                      <p:tavLst>
                                        <p:tav tm="0">
                                          <p:val>
                                            <p:strVal val="#ppt_y+0.1"/>
                                          </p:val>
                                        </p:tav>
                                        <p:tav tm="100000">
                                          <p:val>
                                            <p:strVal val="#ppt_y"/>
                                          </p:val>
                                        </p:tav>
                                      </p:tavLst>
                                    </p:anim>
                                    <p:animEffect transition="in" filter="fade">
                                      <p:cBhvr>
                                        <p:cTn id="103" dur="500"/>
                                        <p:tgtEl>
                                          <p:spTgt spid="22"/>
                                        </p:tgtEl>
                                      </p:cBhvr>
                                    </p:animEffect>
                                  </p:childTnLst>
                                </p:cTn>
                              </p:par>
                              <p:par>
                                <p:cTn id="104" presetID="2" presetClass="entr" presetSubtype="4" fill="hold" grpId="0" nodeType="withEffect">
                                  <p:stCondLst>
                                    <p:cond delay="0"/>
                                  </p:stCondLst>
                                  <p:childTnLst>
                                    <p:set>
                                      <p:cBhvr>
                                        <p:cTn id="105" dur="1" fill="hold">
                                          <p:stCondLst>
                                            <p:cond delay="0"/>
                                          </p:stCondLst>
                                        </p:cTn>
                                        <p:tgtEl>
                                          <p:spTgt spid="23"/>
                                        </p:tgtEl>
                                        <p:attrNameLst>
                                          <p:attrName>style.visibility</p:attrName>
                                        </p:attrNameLst>
                                      </p:cBhvr>
                                      <p:to>
                                        <p:strVal val="visible"/>
                                      </p:to>
                                    </p:set>
                                    <p:anim calcmode="lin" valueType="num">
                                      <p:cBhvr additive="base">
                                        <p:cTn id="106" dur="500" fill="hold"/>
                                        <p:tgtEl>
                                          <p:spTgt spid="23"/>
                                        </p:tgtEl>
                                        <p:attrNameLst>
                                          <p:attrName>ppt_x</p:attrName>
                                        </p:attrNameLst>
                                      </p:cBhvr>
                                      <p:tavLst>
                                        <p:tav tm="0">
                                          <p:val>
                                            <p:strVal val="#ppt_x"/>
                                          </p:val>
                                        </p:tav>
                                        <p:tav tm="100000">
                                          <p:val>
                                            <p:strVal val="#ppt_x"/>
                                          </p:val>
                                        </p:tav>
                                      </p:tavLst>
                                    </p:anim>
                                    <p:anim calcmode="lin" valueType="num">
                                      <p:cBhvr additive="base">
                                        <p:cTn id="107" dur="500" fill="hold"/>
                                        <p:tgtEl>
                                          <p:spTgt spid="23"/>
                                        </p:tgtEl>
                                        <p:attrNameLst>
                                          <p:attrName>ppt_y</p:attrName>
                                        </p:attrNameLst>
                                      </p:cBhvr>
                                      <p:tavLst>
                                        <p:tav tm="0">
                                          <p:val>
                                            <p:strVal val="#ppt_y+0.1"/>
                                          </p:val>
                                        </p:tav>
                                        <p:tav tm="100000">
                                          <p:val>
                                            <p:strVal val="#ppt_y"/>
                                          </p:val>
                                        </p:tav>
                                      </p:tavLst>
                                    </p:anim>
                                    <p:animEffect transition="in" filter="fade">
                                      <p:cBhvr>
                                        <p:cTn id="108" dur="500"/>
                                        <p:tgtEl>
                                          <p:spTgt spid="23"/>
                                        </p:tgtEl>
                                      </p:cBhvr>
                                    </p:animEffect>
                                  </p:childTnLst>
                                </p:cTn>
                              </p:par>
                              <p:par>
                                <p:cTn id="109" presetID="2" presetClass="entr" presetSubtype="4" fill="hold" grpId="0" nodeType="withEffect">
                                  <p:stCondLst>
                                    <p:cond delay="60"/>
                                  </p:stCondLst>
                                  <p:childTnLst>
                                    <p:set>
                                      <p:cBhvr>
                                        <p:cTn id="110" dur="1" fill="hold">
                                          <p:stCondLst>
                                            <p:cond delay="0"/>
                                          </p:stCondLst>
                                        </p:cTn>
                                        <p:tgtEl>
                                          <p:spTgt spid="24"/>
                                        </p:tgtEl>
                                        <p:attrNameLst>
                                          <p:attrName>style.visibility</p:attrName>
                                        </p:attrNameLst>
                                      </p:cBhvr>
                                      <p:to>
                                        <p:strVal val="visible"/>
                                      </p:to>
                                    </p:set>
                                    <p:anim calcmode="lin" valueType="num">
                                      <p:cBhvr additive="base">
                                        <p:cTn id="111" dur="500" fill="hold"/>
                                        <p:tgtEl>
                                          <p:spTgt spid="24"/>
                                        </p:tgtEl>
                                        <p:attrNameLst>
                                          <p:attrName>ppt_x</p:attrName>
                                        </p:attrNameLst>
                                      </p:cBhvr>
                                      <p:tavLst>
                                        <p:tav tm="0">
                                          <p:val>
                                            <p:strVal val="#ppt_x"/>
                                          </p:val>
                                        </p:tav>
                                        <p:tav tm="100000">
                                          <p:val>
                                            <p:strVal val="#ppt_x"/>
                                          </p:val>
                                        </p:tav>
                                      </p:tavLst>
                                    </p:anim>
                                    <p:anim calcmode="lin" valueType="num">
                                      <p:cBhvr additive="base">
                                        <p:cTn id="112" dur="500" fill="hold"/>
                                        <p:tgtEl>
                                          <p:spTgt spid="24"/>
                                        </p:tgtEl>
                                        <p:attrNameLst>
                                          <p:attrName>ppt_y</p:attrName>
                                        </p:attrNameLst>
                                      </p:cBhvr>
                                      <p:tavLst>
                                        <p:tav tm="0">
                                          <p:val>
                                            <p:strVal val="#ppt_y+0.1"/>
                                          </p:val>
                                        </p:tav>
                                        <p:tav tm="100000">
                                          <p:val>
                                            <p:strVal val="#ppt_y"/>
                                          </p:val>
                                        </p:tav>
                                      </p:tavLst>
                                    </p:anim>
                                    <p:animEffect transition="in" filter="fade">
                                      <p:cBhvr>
                                        <p:cTn id="113" dur="500"/>
                                        <p:tgtEl>
                                          <p:spTgt spid="24"/>
                                        </p:tgtEl>
                                      </p:cBhvr>
                                    </p:animEffect>
                                  </p:childTnLst>
                                </p:cTn>
                              </p:par>
                              <p:par>
                                <p:cTn id="114" presetID="2" presetClass="entr" presetSubtype="4" fill="hold" grpId="0" nodeType="withEffect">
                                  <p:stCondLst>
                                    <p:cond delay="60"/>
                                  </p:stCondLst>
                                  <p:childTnLst>
                                    <p:set>
                                      <p:cBhvr>
                                        <p:cTn id="115" dur="1" fill="hold">
                                          <p:stCondLst>
                                            <p:cond delay="0"/>
                                          </p:stCondLst>
                                        </p:cTn>
                                        <p:tgtEl>
                                          <p:spTgt spid="25"/>
                                        </p:tgtEl>
                                        <p:attrNameLst>
                                          <p:attrName>style.visibility</p:attrName>
                                        </p:attrNameLst>
                                      </p:cBhvr>
                                      <p:to>
                                        <p:strVal val="visible"/>
                                      </p:to>
                                    </p:set>
                                    <p:anim calcmode="lin" valueType="num">
                                      <p:cBhvr additive="base">
                                        <p:cTn id="116" dur="500" fill="hold"/>
                                        <p:tgtEl>
                                          <p:spTgt spid="25"/>
                                        </p:tgtEl>
                                        <p:attrNameLst>
                                          <p:attrName>ppt_x</p:attrName>
                                        </p:attrNameLst>
                                      </p:cBhvr>
                                      <p:tavLst>
                                        <p:tav tm="0">
                                          <p:val>
                                            <p:strVal val="#ppt_x"/>
                                          </p:val>
                                        </p:tav>
                                        <p:tav tm="100000">
                                          <p:val>
                                            <p:strVal val="#ppt_x"/>
                                          </p:val>
                                        </p:tav>
                                      </p:tavLst>
                                    </p:anim>
                                    <p:anim calcmode="lin" valueType="num">
                                      <p:cBhvr additive="base">
                                        <p:cTn id="117" dur="500" fill="hold"/>
                                        <p:tgtEl>
                                          <p:spTgt spid="25"/>
                                        </p:tgtEl>
                                        <p:attrNameLst>
                                          <p:attrName>ppt_y</p:attrName>
                                        </p:attrNameLst>
                                      </p:cBhvr>
                                      <p:tavLst>
                                        <p:tav tm="0">
                                          <p:val>
                                            <p:strVal val="#ppt_y+0.1"/>
                                          </p:val>
                                        </p:tav>
                                        <p:tav tm="100000">
                                          <p:val>
                                            <p:strVal val="#ppt_y"/>
                                          </p:val>
                                        </p:tav>
                                      </p:tavLst>
                                    </p:anim>
                                    <p:animEffect transition="in" filter="fade">
                                      <p:cBhvr>
                                        <p:cTn id="118" dur="500"/>
                                        <p:tgtEl>
                                          <p:spTgt spid="25"/>
                                        </p:tgtEl>
                                      </p:cBhvr>
                                    </p:animEffect>
                                  </p:childTnLst>
                                </p:cTn>
                              </p:par>
                              <p:par>
                                <p:cTn id="119" presetID="2" presetClass="entr" presetSubtype="4" fill="hold" grpId="0" nodeType="withEffect">
                                  <p:stCondLst>
                                    <p:cond delay="90"/>
                                  </p:stCondLst>
                                  <p:childTnLst>
                                    <p:set>
                                      <p:cBhvr>
                                        <p:cTn id="120" dur="1" fill="hold">
                                          <p:stCondLst>
                                            <p:cond delay="0"/>
                                          </p:stCondLst>
                                        </p:cTn>
                                        <p:tgtEl>
                                          <p:spTgt spid="26"/>
                                        </p:tgtEl>
                                        <p:attrNameLst>
                                          <p:attrName>style.visibility</p:attrName>
                                        </p:attrNameLst>
                                      </p:cBhvr>
                                      <p:to>
                                        <p:strVal val="visible"/>
                                      </p:to>
                                    </p:set>
                                    <p:anim calcmode="lin" valueType="num">
                                      <p:cBhvr additive="base">
                                        <p:cTn id="121" dur="500" fill="hold"/>
                                        <p:tgtEl>
                                          <p:spTgt spid="26"/>
                                        </p:tgtEl>
                                        <p:attrNameLst>
                                          <p:attrName>ppt_x</p:attrName>
                                        </p:attrNameLst>
                                      </p:cBhvr>
                                      <p:tavLst>
                                        <p:tav tm="0">
                                          <p:val>
                                            <p:strVal val="#ppt_x"/>
                                          </p:val>
                                        </p:tav>
                                        <p:tav tm="100000">
                                          <p:val>
                                            <p:strVal val="#ppt_x"/>
                                          </p:val>
                                        </p:tav>
                                      </p:tavLst>
                                    </p:anim>
                                    <p:anim calcmode="lin" valueType="num">
                                      <p:cBhvr additive="base">
                                        <p:cTn id="122" dur="500" fill="hold"/>
                                        <p:tgtEl>
                                          <p:spTgt spid="26"/>
                                        </p:tgtEl>
                                        <p:attrNameLst>
                                          <p:attrName>ppt_y</p:attrName>
                                        </p:attrNameLst>
                                      </p:cBhvr>
                                      <p:tavLst>
                                        <p:tav tm="0">
                                          <p:val>
                                            <p:strVal val="#ppt_y+0.1"/>
                                          </p:val>
                                        </p:tav>
                                        <p:tav tm="100000">
                                          <p:val>
                                            <p:strVal val="#ppt_y"/>
                                          </p:val>
                                        </p:tav>
                                      </p:tavLst>
                                    </p:anim>
                                    <p:animEffect transition="in" filter="fade">
                                      <p:cBhvr>
                                        <p:cTn id="123" dur="500"/>
                                        <p:tgtEl>
                                          <p:spTgt spid="26"/>
                                        </p:tgtEl>
                                      </p:cBhvr>
                                    </p:animEffect>
                                  </p:childTnLst>
                                </p:cTn>
                              </p:par>
                              <p:par>
                                <p:cTn id="124" presetID="2" presetClass="entr" presetSubtype="4" fill="hold" grpId="0" nodeType="withEffect">
                                  <p:stCondLst>
                                    <p:cond delay="120"/>
                                  </p:stCondLst>
                                  <p:childTnLst>
                                    <p:set>
                                      <p:cBhvr>
                                        <p:cTn id="125" dur="1" fill="hold">
                                          <p:stCondLst>
                                            <p:cond delay="0"/>
                                          </p:stCondLst>
                                        </p:cTn>
                                        <p:tgtEl>
                                          <p:spTgt spid="27"/>
                                        </p:tgtEl>
                                        <p:attrNameLst>
                                          <p:attrName>style.visibility</p:attrName>
                                        </p:attrNameLst>
                                      </p:cBhvr>
                                      <p:to>
                                        <p:strVal val="visible"/>
                                      </p:to>
                                    </p:set>
                                    <p:anim calcmode="lin" valueType="num">
                                      <p:cBhvr additive="base">
                                        <p:cTn id="126" dur="500" fill="hold"/>
                                        <p:tgtEl>
                                          <p:spTgt spid="27"/>
                                        </p:tgtEl>
                                        <p:attrNameLst>
                                          <p:attrName>ppt_x</p:attrName>
                                        </p:attrNameLst>
                                      </p:cBhvr>
                                      <p:tavLst>
                                        <p:tav tm="0">
                                          <p:val>
                                            <p:strVal val="#ppt_x"/>
                                          </p:val>
                                        </p:tav>
                                        <p:tav tm="100000">
                                          <p:val>
                                            <p:strVal val="#ppt_x"/>
                                          </p:val>
                                        </p:tav>
                                      </p:tavLst>
                                    </p:anim>
                                    <p:anim calcmode="lin" valueType="num">
                                      <p:cBhvr additive="base">
                                        <p:cTn id="127" dur="500" fill="hold"/>
                                        <p:tgtEl>
                                          <p:spTgt spid="27"/>
                                        </p:tgtEl>
                                        <p:attrNameLst>
                                          <p:attrName>ppt_y</p:attrName>
                                        </p:attrNameLst>
                                      </p:cBhvr>
                                      <p:tavLst>
                                        <p:tav tm="0">
                                          <p:val>
                                            <p:strVal val="#ppt_y+0.1"/>
                                          </p:val>
                                        </p:tav>
                                        <p:tav tm="100000">
                                          <p:val>
                                            <p:strVal val="#ppt_y"/>
                                          </p:val>
                                        </p:tav>
                                      </p:tavLst>
                                    </p:anim>
                                    <p:animEffect transition="in" filter="fade">
                                      <p:cBhvr>
                                        <p:cTn id="128" dur="500"/>
                                        <p:tgtEl>
                                          <p:spTgt spid="27"/>
                                        </p:tgtEl>
                                      </p:cBhvr>
                                    </p:animEffect>
                                  </p:childTnLst>
                                </p:cTn>
                              </p:par>
                              <p:par>
                                <p:cTn id="129" presetID="2" presetClass="entr" presetSubtype="4" fill="hold" grpId="0" nodeType="withEffect">
                                  <p:stCondLst>
                                    <p:cond delay="150"/>
                                  </p:stCondLst>
                                  <p:childTnLst>
                                    <p:set>
                                      <p:cBhvr>
                                        <p:cTn id="130" dur="1" fill="hold">
                                          <p:stCondLst>
                                            <p:cond delay="0"/>
                                          </p:stCondLst>
                                        </p:cTn>
                                        <p:tgtEl>
                                          <p:spTgt spid="28"/>
                                        </p:tgtEl>
                                        <p:attrNameLst>
                                          <p:attrName>style.visibility</p:attrName>
                                        </p:attrNameLst>
                                      </p:cBhvr>
                                      <p:to>
                                        <p:strVal val="visible"/>
                                      </p:to>
                                    </p:set>
                                    <p:anim calcmode="lin" valueType="num">
                                      <p:cBhvr additive="base">
                                        <p:cTn id="131" dur="500" fill="hold"/>
                                        <p:tgtEl>
                                          <p:spTgt spid="28"/>
                                        </p:tgtEl>
                                        <p:attrNameLst>
                                          <p:attrName>ppt_x</p:attrName>
                                        </p:attrNameLst>
                                      </p:cBhvr>
                                      <p:tavLst>
                                        <p:tav tm="0">
                                          <p:val>
                                            <p:strVal val="#ppt_x"/>
                                          </p:val>
                                        </p:tav>
                                        <p:tav tm="100000">
                                          <p:val>
                                            <p:strVal val="#ppt_x"/>
                                          </p:val>
                                        </p:tav>
                                      </p:tavLst>
                                    </p:anim>
                                    <p:anim calcmode="lin" valueType="num">
                                      <p:cBhvr additive="base">
                                        <p:cTn id="132" dur="500" fill="hold"/>
                                        <p:tgtEl>
                                          <p:spTgt spid="28"/>
                                        </p:tgtEl>
                                        <p:attrNameLst>
                                          <p:attrName>ppt_y</p:attrName>
                                        </p:attrNameLst>
                                      </p:cBhvr>
                                      <p:tavLst>
                                        <p:tav tm="0">
                                          <p:val>
                                            <p:strVal val="#ppt_y+0.1"/>
                                          </p:val>
                                        </p:tav>
                                        <p:tav tm="100000">
                                          <p:val>
                                            <p:strVal val="#ppt_y"/>
                                          </p:val>
                                        </p:tav>
                                      </p:tavLst>
                                    </p:anim>
                                    <p:animEffect transition="in" filter="fade">
                                      <p:cBhvr>
                                        <p:cTn id="133" dur="500"/>
                                        <p:tgtEl>
                                          <p:spTgt spid="28"/>
                                        </p:tgtEl>
                                      </p:cBhvr>
                                    </p:animEffect>
                                  </p:childTnLst>
                                </p:cTn>
                              </p:par>
                              <p:par>
                                <p:cTn id="134" presetID="2" presetClass="entr" presetSubtype="4" fill="hold" grpId="0" nodeType="withEffect">
                                  <p:stCondLst>
                                    <p:cond delay="220"/>
                                  </p:stCondLst>
                                  <p:childTnLst>
                                    <p:set>
                                      <p:cBhvr>
                                        <p:cTn id="135" dur="1" fill="hold">
                                          <p:stCondLst>
                                            <p:cond delay="0"/>
                                          </p:stCondLst>
                                        </p:cTn>
                                        <p:tgtEl>
                                          <p:spTgt spid="29"/>
                                        </p:tgtEl>
                                        <p:attrNameLst>
                                          <p:attrName>style.visibility</p:attrName>
                                        </p:attrNameLst>
                                      </p:cBhvr>
                                      <p:to>
                                        <p:strVal val="visible"/>
                                      </p:to>
                                    </p:set>
                                    <p:anim calcmode="lin" valueType="num">
                                      <p:cBhvr additive="base">
                                        <p:cTn id="136" dur="500" fill="hold"/>
                                        <p:tgtEl>
                                          <p:spTgt spid="29"/>
                                        </p:tgtEl>
                                        <p:attrNameLst>
                                          <p:attrName>ppt_x</p:attrName>
                                        </p:attrNameLst>
                                      </p:cBhvr>
                                      <p:tavLst>
                                        <p:tav tm="0">
                                          <p:val>
                                            <p:strVal val="#ppt_x"/>
                                          </p:val>
                                        </p:tav>
                                        <p:tav tm="100000">
                                          <p:val>
                                            <p:strVal val="#ppt_x"/>
                                          </p:val>
                                        </p:tav>
                                      </p:tavLst>
                                    </p:anim>
                                    <p:anim calcmode="lin" valueType="num">
                                      <p:cBhvr additive="base">
                                        <p:cTn id="137" dur="500" fill="hold"/>
                                        <p:tgtEl>
                                          <p:spTgt spid="29"/>
                                        </p:tgtEl>
                                        <p:attrNameLst>
                                          <p:attrName>ppt_y</p:attrName>
                                        </p:attrNameLst>
                                      </p:cBhvr>
                                      <p:tavLst>
                                        <p:tav tm="0">
                                          <p:val>
                                            <p:strVal val="#ppt_y+0.1"/>
                                          </p:val>
                                        </p:tav>
                                        <p:tav tm="100000">
                                          <p:val>
                                            <p:strVal val="#ppt_y"/>
                                          </p:val>
                                        </p:tav>
                                      </p:tavLst>
                                    </p:anim>
                                    <p:animEffect transition="in" filter="fade">
                                      <p:cBhvr>
                                        <p:cTn id="138" dur="500"/>
                                        <p:tgtEl>
                                          <p:spTgt spid="29"/>
                                        </p:tgtEl>
                                      </p:cBhvr>
                                    </p:animEffect>
                                  </p:childTnLst>
                                </p:cTn>
                              </p:par>
                              <p:par>
                                <p:cTn id="139" presetID="2" presetClass="entr" presetSubtype="4" fill="hold" grpId="0" nodeType="withEffect">
                                  <p:stCondLst>
                                    <p:cond delay="290"/>
                                  </p:stCondLst>
                                  <p:childTnLst>
                                    <p:set>
                                      <p:cBhvr>
                                        <p:cTn id="140" dur="1" fill="hold">
                                          <p:stCondLst>
                                            <p:cond delay="0"/>
                                          </p:stCondLst>
                                        </p:cTn>
                                        <p:tgtEl>
                                          <p:spTgt spid="30"/>
                                        </p:tgtEl>
                                        <p:attrNameLst>
                                          <p:attrName>style.visibility</p:attrName>
                                        </p:attrNameLst>
                                      </p:cBhvr>
                                      <p:to>
                                        <p:strVal val="visible"/>
                                      </p:to>
                                    </p:set>
                                    <p:anim calcmode="lin" valueType="num">
                                      <p:cBhvr additive="base">
                                        <p:cTn id="141" dur="500" fill="hold"/>
                                        <p:tgtEl>
                                          <p:spTgt spid="30"/>
                                        </p:tgtEl>
                                        <p:attrNameLst>
                                          <p:attrName>ppt_x</p:attrName>
                                        </p:attrNameLst>
                                      </p:cBhvr>
                                      <p:tavLst>
                                        <p:tav tm="0">
                                          <p:val>
                                            <p:strVal val="#ppt_x"/>
                                          </p:val>
                                        </p:tav>
                                        <p:tav tm="100000">
                                          <p:val>
                                            <p:strVal val="#ppt_x"/>
                                          </p:val>
                                        </p:tav>
                                      </p:tavLst>
                                    </p:anim>
                                    <p:anim calcmode="lin" valueType="num">
                                      <p:cBhvr additive="base">
                                        <p:cTn id="142" dur="500" fill="hold"/>
                                        <p:tgtEl>
                                          <p:spTgt spid="30"/>
                                        </p:tgtEl>
                                        <p:attrNameLst>
                                          <p:attrName>ppt_y</p:attrName>
                                        </p:attrNameLst>
                                      </p:cBhvr>
                                      <p:tavLst>
                                        <p:tav tm="0">
                                          <p:val>
                                            <p:strVal val="#ppt_y+0.1"/>
                                          </p:val>
                                        </p:tav>
                                        <p:tav tm="100000">
                                          <p:val>
                                            <p:strVal val="#ppt_y"/>
                                          </p:val>
                                        </p:tav>
                                      </p:tavLst>
                                    </p:anim>
                                    <p:animEffect transition="in" filter="fade">
                                      <p:cBhvr>
                                        <p:cTn id="143"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46" presetID="2" presetClass="entr" presetSubtype="4" fill="hold" grpId="0" nodeType="clickEffect">
                                  <p:stCondLst>
                                    <p:cond delay="0"/>
                                  </p:stCondLst>
                                  <p:childTnLst>
                                    <p:set>
                                      <p:cBhvr>
                                        <p:cTn id="147" dur="1" fill="hold">
                                          <p:stCondLst>
                                            <p:cond delay="0"/>
                                          </p:stCondLst>
                                        </p:cTn>
                                        <p:tgtEl>
                                          <p:spTgt spid="31"/>
                                        </p:tgtEl>
                                        <p:attrNameLst>
                                          <p:attrName>style.visibility</p:attrName>
                                        </p:attrNameLst>
                                      </p:cBhvr>
                                      <p:to>
                                        <p:strVal val="visible"/>
                                      </p:to>
                                    </p:set>
                                    <p:anim calcmode="lin" valueType="num">
                                      <p:cBhvr additive="base">
                                        <p:cTn id="148" dur="500" fill="hold"/>
                                        <p:tgtEl>
                                          <p:spTgt spid="31"/>
                                        </p:tgtEl>
                                        <p:attrNameLst>
                                          <p:attrName>ppt_x</p:attrName>
                                        </p:attrNameLst>
                                      </p:cBhvr>
                                      <p:tavLst>
                                        <p:tav tm="0">
                                          <p:val>
                                            <p:strVal val="#ppt_x"/>
                                          </p:val>
                                        </p:tav>
                                        <p:tav tm="100000">
                                          <p:val>
                                            <p:strVal val="#ppt_x"/>
                                          </p:val>
                                        </p:tav>
                                      </p:tavLst>
                                    </p:anim>
                                    <p:anim calcmode="lin" valueType="num">
                                      <p:cBhvr additive="base">
                                        <p:cTn id="149" dur="500" fill="hold"/>
                                        <p:tgtEl>
                                          <p:spTgt spid="31"/>
                                        </p:tgtEl>
                                        <p:attrNameLst>
                                          <p:attrName>ppt_y</p:attrName>
                                        </p:attrNameLst>
                                      </p:cBhvr>
                                      <p:tavLst>
                                        <p:tav tm="0">
                                          <p:val>
                                            <p:strVal val="#ppt_y+0.1"/>
                                          </p:val>
                                        </p:tav>
                                        <p:tav tm="100000">
                                          <p:val>
                                            <p:strVal val="#ppt_y"/>
                                          </p:val>
                                        </p:tav>
                                      </p:tavLst>
                                    </p:anim>
                                    <p:animEffect transition="in" filter="fade">
                                      <p:cBhvr>
                                        <p:cTn id="150" dur="500"/>
                                        <p:tgtEl>
                                          <p:spTgt spid="31"/>
                                        </p:tgtEl>
                                      </p:cBhvr>
                                    </p:animEffect>
                                  </p:childTnLst>
                                </p:cTn>
                              </p:par>
                              <p:par>
                                <p:cTn id="151" presetID="2" presetClass="entr" presetSubtype="4" fill="hold" grpId="0" nodeType="withEffect">
                                  <p:stCondLst>
                                    <p:cond delay="0"/>
                                  </p:stCondLst>
                                  <p:childTnLst>
                                    <p:set>
                                      <p:cBhvr>
                                        <p:cTn id="152" dur="1" fill="hold">
                                          <p:stCondLst>
                                            <p:cond delay="0"/>
                                          </p:stCondLst>
                                        </p:cTn>
                                        <p:tgtEl>
                                          <p:spTgt spid="32"/>
                                        </p:tgtEl>
                                        <p:attrNameLst>
                                          <p:attrName>style.visibility</p:attrName>
                                        </p:attrNameLst>
                                      </p:cBhvr>
                                      <p:to>
                                        <p:strVal val="visible"/>
                                      </p:to>
                                    </p:set>
                                    <p:anim calcmode="lin" valueType="num">
                                      <p:cBhvr additive="base">
                                        <p:cTn id="153" dur="500" fill="hold"/>
                                        <p:tgtEl>
                                          <p:spTgt spid="32"/>
                                        </p:tgtEl>
                                        <p:attrNameLst>
                                          <p:attrName>ppt_x</p:attrName>
                                        </p:attrNameLst>
                                      </p:cBhvr>
                                      <p:tavLst>
                                        <p:tav tm="0">
                                          <p:val>
                                            <p:strVal val="#ppt_x"/>
                                          </p:val>
                                        </p:tav>
                                        <p:tav tm="100000">
                                          <p:val>
                                            <p:strVal val="#ppt_x"/>
                                          </p:val>
                                        </p:tav>
                                      </p:tavLst>
                                    </p:anim>
                                    <p:anim calcmode="lin" valueType="num">
                                      <p:cBhvr additive="base">
                                        <p:cTn id="154" dur="500" fill="hold"/>
                                        <p:tgtEl>
                                          <p:spTgt spid="32"/>
                                        </p:tgtEl>
                                        <p:attrNameLst>
                                          <p:attrName>ppt_y</p:attrName>
                                        </p:attrNameLst>
                                      </p:cBhvr>
                                      <p:tavLst>
                                        <p:tav tm="0">
                                          <p:val>
                                            <p:strVal val="#ppt_y+0.1"/>
                                          </p:val>
                                        </p:tav>
                                        <p:tav tm="100000">
                                          <p:val>
                                            <p:strVal val="#ppt_y"/>
                                          </p:val>
                                        </p:tav>
                                      </p:tavLst>
                                    </p:anim>
                                    <p:animEffect transition="in" filter="fade">
                                      <p:cBhvr>
                                        <p:cTn id="155" dur="500"/>
                                        <p:tgtEl>
                                          <p:spTgt spid="32"/>
                                        </p:tgtEl>
                                      </p:cBhvr>
                                    </p:animEffect>
                                  </p:childTnLst>
                                </p:cTn>
                              </p:par>
                              <p:par>
                                <p:cTn id="156" presetID="2" presetClass="entr" presetSubtype="4" fill="hold" grpId="0" nodeType="withEffect">
                                  <p:stCondLst>
                                    <p:cond delay="60"/>
                                  </p:stCondLst>
                                  <p:childTnLst>
                                    <p:set>
                                      <p:cBhvr>
                                        <p:cTn id="157" dur="1" fill="hold">
                                          <p:stCondLst>
                                            <p:cond delay="0"/>
                                          </p:stCondLst>
                                        </p:cTn>
                                        <p:tgtEl>
                                          <p:spTgt spid="33"/>
                                        </p:tgtEl>
                                        <p:attrNameLst>
                                          <p:attrName>style.visibility</p:attrName>
                                        </p:attrNameLst>
                                      </p:cBhvr>
                                      <p:to>
                                        <p:strVal val="visible"/>
                                      </p:to>
                                    </p:set>
                                    <p:anim calcmode="lin" valueType="num">
                                      <p:cBhvr additive="base">
                                        <p:cTn id="158" dur="500" fill="hold"/>
                                        <p:tgtEl>
                                          <p:spTgt spid="33"/>
                                        </p:tgtEl>
                                        <p:attrNameLst>
                                          <p:attrName>ppt_x</p:attrName>
                                        </p:attrNameLst>
                                      </p:cBhvr>
                                      <p:tavLst>
                                        <p:tav tm="0">
                                          <p:val>
                                            <p:strVal val="#ppt_x"/>
                                          </p:val>
                                        </p:tav>
                                        <p:tav tm="100000">
                                          <p:val>
                                            <p:strVal val="#ppt_x"/>
                                          </p:val>
                                        </p:tav>
                                      </p:tavLst>
                                    </p:anim>
                                    <p:anim calcmode="lin" valueType="num">
                                      <p:cBhvr additive="base">
                                        <p:cTn id="159" dur="500" fill="hold"/>
                                        <p:tgtEl>
                                          <p:spTgt spid="33"/>
                                        </p:tgtEl>
                                        <p:attrNameLst>
                                          <p:attrName>ppt_y</p:attrName>
                                        </p:attrNameLst>
                                      </p:cBhvr>
                                      <p:tavLst>
                                        <p:tav tm="0">
                                          <p:val>
                                            <p:strVal val="#ppt_y+0.1"/>
                                          </p:val>
                                        </p:tav>
                                        <p:tav tm="100000">
                                          <p:val>
                                            <p:strVal val="#ppt_y"/>
                                          </p:val>
                                        </p:tav>
                                      </p:tavLst>
                                    </p:anim>
                                    <p:animEffect transition="in" filter="fade">
                                      <p:cBhvr>
                                        <p:cTn id="160" dur="500"/>
                                        <p:tgtEl>
                                          <p:spTgt spid="33"/>
                                        </p:tgtEl>
                                      </p:cBhvr>
                                    </p:animEffect>
                                  </p:childTnLst>
                                </p:cTn>
                              </p:par>
                              <p:par>
                                <p:cTn id="161" presetID="2" presetClass="entr" presetSubtype="4" fill="hold" grpId="0" nodeType="withEffect">
                                  <p:stCondLst>
                                    <p:cond delay="60"/>
                                  </p:stCondLst>
                                  <p:childTnLst>
                                    <p:set>
                                      <p:cBhvr>
                                        <p:cTn id="162" dur="1" fill="hold">
                                          <p:stCondLst>
                                            <p:cond delay="0"/>
                                          </p:stCondLst>
                                        </p:cTn>
                                        <p:tgtEl>
                                          <p:spTgt spid="34"/>
                                        </p:tgtEl>
                                        <p:attrNameLst>
                                          <p:attrName>style.visibility</p:attrName>
                                        </p:attrNameLst>
                                      </p:cBhvr>
                                      <p:to>
                                        <p:strVal val="visible"/>
                                      </p:to>
                                    </p:set>
                                    <p:anim calcmode="lin" valueType="num">
                                      <p:cBhvr additive="base">
                                        <p:cTn id="163" dur="500" fill="hold"/>
                                        <p:tgtEl>
                                          <p:spTgt spid="34"/>
                                        </p:tgtEl>
                                        <p:attrNameLst>
                                          <p:attrName>ppt_x</p:attrName>
                                        </p:attrNameLst>
                                      </p:cBhvr>
                                      <p:tavLst>
                                        <p:tav tm="0">
                                          <p:val>
                                            <p:strVal val="#ppt_x"/>
                                          </p:val>
                                        </p:tav>
                                        <p:tav tm="100000">
                                          <p:val>
                                            <p:strVal val="#ppt_x"/>
                                          </p:val>
                                        </p:tav>
                                      </p:tavLst>
                                    </p:anim>
                                    <p:anim calcmode="lin" valueType="num">
                                      <p:cBhvr additive="base">
                                        <p:cTn id="164" dur="500" fill="hold"/>
                                        <p:tgtEl>
                                          <p:spTgt spid="34"/>
                                        </p:tgtEl>
                                        <p:attrNameLst>
                                          <p:attrName>ppt_y</p:attrName>
                                        </p:attrNameLst>
                                      </p:cBhvr>
                                      <p:tavLst>
                                        <p:tav tm="0">
                                          <p:val>
                                            <p:strVal val="#ppt_y+0.1"/>
                                          </p:val>
                                        </p:tav>
                                        <p:tav tm="100000">
                                          <p:val>
                                            <p:strVal val="#ppt_y"/>
                                          </p:val>
                                        </p:tav>
                                      </p:tavLst>
                                    </p:anim>
                                    <p:animEffect transition="in" filter="fade">
                                      <p:cBhvr>
                                        <p:cTn id="165" dur="500"/>
                                        <p:tgtEl>
                                          <p:spTgt spid="34"/>
                                        </p:tgtEl>
                                      </p:cBhvr>
                                    </p:animEffect>
                                  </p:childTnLst>
                                </p:cTn>
                              </p:par>
                              <p:par>
                                <p:cTn id="166" presetID="2" presetClass="entr" presetSubtype="4" fill="hold" grpId="0" nodeType="withEffect">
                                  <p:stCondLst>
                                    <p:cond delay="90"/>
                                  </p:stCondLst>
                                  <p:childTnLst>
                                    <p:set>
                                      <p:cBhvr>
                                        <p:cTn id="167" dur="1" fill="hold">
                                          <p:stCondLst>
                                            <p:cond delay="0"/>
                                          </p:stCondLst>
                                        </p:cTn>
                                        <p:tgtEl>
                                          <p:spTgt spid="35"/>
                                        </p:tgtEl>
                                        <p:attrNameLst>
                                          <p:attrName>style.visibility</p:attrName>
                                        </p:attrNameLst>
                                      </p:cBhvr>
                                      <p:to>
                                        <p:strVal val="visible"/>
                                      </p:to>
                                    </p:set>
                                    <p:anim calcmode="lin" valueType="num">
                                      <p:cBhvr additive="base">
                                        <p:cTn id="168" dur="500" fill="hold"/>
                                        <p:tgtEl>
                                          <p:spTgt spid="35"/>
                                        </p:tgtEl>
                                        <p:attrNameLst>
                                          <p:attrName>ppt_x</p:attrName>
                                        </p:attrNameLst>
                                      </p:cBhvr>
                                      <p:tavLst>
                                        <p:tav tm="0">
                                          <p:val>
                                            <p:strVal val="#ppt_x"/>
                                          </p:val>
                                        </p:tav>
                                        <p:tav tm="100000">
                                          <p:val>
                                            <p:strVal val="#ppt_x"/>
                                          </p:val>
                                        </p:tav>
                                      </p:tavLst>
                                    </p:anim>
                                    <p:anim calcmode="lin" valueType="num">
                                      <p:cBhvr additive="base">
                                        <p:cTn id="169" dur="500" fill="hold"/>
                                        <p:tgtEl>
                                          <p:spTgt spid="35"/>
                                        </p:tgtEl>
                                        <p:attrNameLst>
                                          <p:attrName>ppt_y</p:attrName>
                                        </p:attrNameLst>
                                      </p:cBhvr>
                                      <p:tavLst>
                                        <p:tav tm="0">
                                          <p:val>
                                            <p:strVal val="#ppt_y+0.1"/>
                                          </p:val>
                                        </p:tav>
                                        <p:tav tm="100000">
                                          <p:val>
                                            <p:strVal val="#ppt_y"/>
                                          </p:val>
                                        </p:tav>
                                      </p:tavLst>
                                    </p:anim>
                                    <p:animEffect transition="in" filter="fade">
                                      <p:cBhvr>
                                        <p:cTn id="170" dur="500"/>
                                        <p:tgtEl>
                                          <p:spTgt spid="35"/>
                                        </p:tgtEl>
                                      </p:cBhvr>
                                    </p:animEffect>
                                  </p:childTnLst>
                                </p:cTn>
                              </p:par>
                              <p:par>
                                <p:cTn id="171" presetID="2" presetClass="entr" presetSubtype="4" fill="hold" grpId="0" nodeType="withEffect">
                                  <p:stCondLst>
                                    <p:cond delay="120"/>
                                  </p:stCondLst>
                                  <p:childTnLst>
                                    <p:set>
                                      <p:cBhvr>
                                        <p:cTn id="172" dur="1" fill="hold">
                                          <p:stCondLst>
                                            <p:cond delay="0"/>
                                          </p:stCondLst>
                                        </p:cTn>
                                        <p:tgtEl>
                                          <p:spTgt spid="36"/>
                                        </p:tgtEl>
                                        <p:attrNameLst>
                                          <p:attrName>style.visibility</p:attrName>
                                        </p:attrNameLst>
                                      </p:cBhvr>
                                      <p:to>
                                        <p:strVal val="visible"/>
                                      </p:to>
                                    </p:set>
                                    <p:anim calcmode="lin" valueType="num">
                                      <p:cBhvr additive="base">
                                        <p:cTn id="173" dur="500" fill="hold"/>
                                        <p:tgtEl>
                                          <p:spTgt spid="36"/>
                                        </p:tgtEl>
                                        <p:attrNameLst>
                                          <p:attrName>ppt_x</p:attrName>
                                        </p:attrNameLst>
                                      </p:cBhvr>
                                      <p:tavLst>
                                        <p:tav tm="0">
                                          <p:val>
                                            <p:strVal val="#ppt_x"/>
                                          </p:val>
                                        </p:tav>
                                        <p:tav tm="100000">
                                          <p:val>
                                            <p:strVal val="#ppt_x"/>
                                          </p:val>
                                        </p:tav>
                                      </p:tavLst>
                                    </p:anim>
                                    <p:anim calcmode="lin" valueType="num">
                                      <p:cBhvr additive="base">
                                        <p:cTn id="174" dur="500" fill="hold"/>
                                        <p:tgtEl>
                                          <p:spTgt spid="36"/>
                                        </p:tgtEl>
                                        <p:attrNameLst>
                                          <p:attrName>ppt_y</p:attrName>
                                        </p:attrNameLst>
                                      </p:cBhvr>
                                      <p:tavLst>
                                        <p:tav tm="0">
                                          <p:val>
                                            <p:strVal val="#ppt_y+0.1"/>
                                          </p:val>
                                        </p:tav>
                                        <p:tav tm="100000">
                                          <p:val>
                                            <p:strVal val="#ppt_y"/>
                                          </p:val>
                                        </p:tav>
                                      </p:tavLst>
                                    </p:anim>
                                    <p:animEffect transition="in" filter="fade">
                                      <p:cBhvr>
                                        <p:cTn id="175" dur="500"/>
                                        <p:tgtEl>
                                          <p:spTgt spid="36"/>
                                        </p:tgtEl>
                                      </p:cBhvr>
                                    </p:animEffect>
                                  </p:childTnLst>
                                </p:cTn>
                              </p:par>
                              <p:par>
                                <p:cTn id="176" presetID="2" presetClass="entr" presetSubtype="4" fill="hold" grpId="0" nodeType="withEffect">
                                  <p:stCondLst>
                                    <p:cond delay="150"/>
                                  </p:stCondLst>
                                  <p:childTnLst>
                                    <p:set>
                                      <p:cBhvr>
                                        <p:cTn id="177" dur="1" fill="hold">
                                          <p:stCondLst>
                                            <p:cond delay="0"/>
                                          </p:stCondLst>
                                        </p:cTn>
                                        <p:tgtEl>
                                          <p:spTgt spid="37"/>
                                        </p:tgtEl>
                                        <p:attrNameLst>
                                          <p:attrName>style.visibility</p:attrName>
                                        </p:attrNameLst>
                                      </p:cBhvr>
                                      <p:to>
                                        <p:strVal val="visible"/>
                                      </p:to>
                                    </p:set>
                                    <p:anim calcmode="lin" valueType="num">
                                      <p:cBhvr additive="base">
                                        <p:cTn id="178" dur="500" fill="hold"/>
                                        <p:tgtEl>
                                          <p:spTgt spid="37"/>
                                        </p:tgtEl>
                                        <p:attrNameLst>
                                          <p:attrName>ppt_x</p:attrName>
                                        </p:attrNameLst>
                                      </p:cBhvr>
                                      <p:tavLst>
                                        <p:tav tm="0">
                                          <p:val>
                                            <p:strVal val="#ppt_x"/>
                                          </p:val>
                                        </p:tav>
                                        <p:tav tm="100000">
                                          <p:val>
                                            <p:strVal val="#ppt_x"/>
                                          </p:val>
                                        </p:tav>
                                      </p:tavLst>
                                    </p:anim>
                                    <p:anim calcmode="lin" valueType="num">
                                      <p:cBhvr additive="base">
                                        <p:cTn id="179" dur="500" fill="hold"/>
                                        <p:tgtEl>
                                          <p:spTgt spid="37"/>
                                        </p:tgtEl>
                                        <p:attrNameLst>
                                          <p:attrName>ppt_y</p:attrName>
                                        </p:attrNameLst>
                                      </p:cBhvr>
                                      <p:tavLst>
                                        <p:tav tm="0">
                                          <p:val>
                                            <p:strVal val="#ppt_y+0.1"/>
                                          </p:val>
                                        </p:tav>
                                        <p:tav tm="100000">
                                          <p:val>
                                            <p:strVal val="#ppt_y"/>
                                          </p:val>
                                        </p:tav>
                                      </p:tavLst>
                                    </p:anim>
                                    <p:animEffect transition="in" filter="fade">
                                      <p:cBhvr>
                                        <p:cTn id="180" dur="500"/>
                                        <p:tgtEl>
                                          <p:spTgt spid="37"/>
                                        </p:tgtEl>
                                      </p:cBhvr>
                                    </p:animEffect>
                                  </p:childTnLst>
                                </p:cTn>
                              </p:par>
                              <p:par>
                                <p:cTn id="181" presetID="2" presetClass="entr" presetSubtype="4" fill="hold" grpId="0" nodeType="withEffect">
                                  <p:stCondLst>
                                    <p:cond delay="220"/>
                                  </p:stCondLst>
                                  <p:childTnLst>
                                    <p:set>
                                      <p:cBhvr>
                                        <p:cTn id="182" dur="1" fill="hold">
                                          <p:stCondLst>
                                            <p:cond delay="0"/>
                                          </p:stCondLst>
                                        </p:cTn>
                                        <p:tgtEl>
                                          <p:spTgt spid="38"/>
                                        </p:tgtEl>
                                        <p:attrNameLst>
                                          <p:attrName>style.visibility</p:attrName>
                                        </p:attrNameLst>
                                      </p:cBhvr>
                                      <p:to>
                                        <p:strVal val="visible"/>
                                      </p:to>
                                    </p:set>
                                    <p:anim calcmode="lin" valueType="num">
                                      <p:cBhvr additive="base">
                                        <p:cTn id="183" dur="500" fill="hold"/>
                                        <p:tgtEl>
                                          <p:spTgt spid="38"/>
                                        </p:tgtEl>
                                        <p:attrNameLst>
                                          <p:attrName>ppt_x</p:attrName>
                                        </p:attrNameLst>
                                      </p:cBhvr>
                                      <p:tavLst>
                                        <p:tav tm="0">
                                          <p:val>
                                            <p:strVal val="#ppt_x"/>
                                          </p:val>
                                        </p:tav>
                                        <p:tav tm="100000">
                                          <p:val>
                                            <p:strVal val="#ppt_x"/>
                                          </p:val>
                                        </p:tav>
                                      </p:tavLst>
                                    </p:anim>
                                    <p:anim calcmode="lin" valueType="num">
                                      <p:cBhvr additive="base">
                                        <p:cTn id="184" dur="500" fill="hold"/>
                                        <p:tgtEl>
                                          <p:spTgt spid="38"/>
                                        </p:tgtEl>
                                        <p:attrNameLst>
                                          <p:attrName>ppt_y</p:attrName>
                                        </p:attrNameLst>
                                      </p:cBhvr>
                                      <p:tavLst>
                                        <p:tav tm="0">
                                          <p:val>
                                            <p:strVal val="#ppt_y+0.1"/>
                                          </p:val>
                                        </p:tav>
                                        <p:tav tm="100000">
                                          <p:val>
                                            <p:strVal val="#ppt_y"/>
                                          </p:val>
                                        </p:tav>
                                      </p:tavLst>
                                    </p:anim>
                                    <p:animEffect transition="in" filter="fade">
                                      <p:cBhvr>
                                        <p:cTn id="185" dur="500"/>
                                        <p:tgtEl>
                                          <p:spTgt spid="38"/>
                                        </p:tgtEl>
                                      </p:cBhvr>
                                    </p:animEffect>
                                  </p:childTnLst>
                                </p:cTn>
                              </p:par>
                              <p:par>
                                <p:cTn id="186" presetID="2" presetClass="entr" presetSubtype="4" fill="hold" grpId="0" nodeType="withEffect">
                                  <p:stCondLst>
                                    <p:cond delay="290"/>
                                  </p:stCondLst>
                                  <p:childTnLst>
                                    <p:set>
                                      <p:cBhvr>
                                        <p:cTn id="187" dur="1" fill="hold">
                                          <p:stCondLst>
                                            <p:cond delay="0"/>
                                          </p:stCondLst>
                                        </p:cTn>
                                        <p:tgtEl>
                                          <p:spTgt spid="39"/>
                                        </p:tgtEl>
                                        <p:attrNameLst>
                                          <p:attrName>style.visibility</p:attrName>
                                        </p:attrNameLst>
                                      </p:cBhvr>
                                      <p:to>
                                        <p:strVal val="visible"/>
                                      </p:to>
                                    </p:set>
                                    <p:anim calcmode="lin" valueType="num">
                                      <p:cBhvr additive="base">
                                        <p:cTn id="188" dur="500" fill="hold"/>
                                        <p:tgtEl>
                                          <p:spTgt spid="39"/>
                                        </p:tgtEl>
                                        <p:attrNameLst>
                                          <p:attrName>ppt_x</p:attrName>
                                        </p:attrNameLst>
                                      </p:cBhvr>
                                      <p:tavLst>
                                        <p:tav tm="0">
                                          <p:val>
                                            <p:strVal val="#ppt_x"/>
                                          </p:val>
                                        </p:tav>
                                        <p:tav tm="100000">
                                          <p:val>
                                            <p:strVal val="#ppt_x"/>
                                          </p:val>
                                        </p:tav>
                                      </p:tavLst>
                                    </p:anim>
                                    <p:anim calcmode="lin" valueType="num">
                                      <p:cBhvr additive="base">
                                        <p:cTn id="189" dur="500" fill="hold"/>
                                        <p:tgtEl>
                                          <p:spTgt spid="39"/>
                                        </p:tgtEl>
                                        <p:attrNameLst>
                                          <p:attrName>ppt_y</p:attrName>
                                        </p:attrNameLst>
                                      </p:cBhvr>
                                      <p:tavLst>
                                        <p:tav tm="0">
                                          <p:val>
                                            <p:strVal val="#ppt_y+0.1"/>
                                          </p:val>
                                        </p:tav>
                                        <p:tav tm="100000">
                                          <p:val>
                                            <p:strVal val="#ppt_y"/>
                                          </p:val>
                                        </p:tav>
                                      </p:tavLst>
                                    </p:anim>
                                    <p:animEffect transition="in" filter="fade">
                                      <p:cBhvr>
                                        <p:cTn id="190" dur="500"/>
                                        <p:tgtEl>
                                          <p:spTgt spid="39"/>
                                        </p:tgtEl>
                                      </p:cBhvr>
                                    </p:animEffect>
                                  </p:childTnLst>
                                </p:cTn>
                              </p:par>
                            </p:childTnLst>
                          </p:cTn>
                        </p:par>
                      </p:childTnLst>
                    </p:cTn>
                  </p:par>
                  <p:par>
                    <p:cTn id="191" fill="hold">
                      <p:stCondLst>
                        <p:cond delay="indefinite"/>
                      </p:stCondLst>
                      <p:childTnLst>
                        <p:par>
                          <p:cTn id="192" fill="hold">
                            <p:stCondLst>
                              <p:cond delay="0"/>
                            </p:stCondLst>
                            <p:childTnLst>
                              <p:par>
                                <p:cTn id="193" presetID="10" presetClass="entr" presetSubtype="0" fill="hold" grpId="0" nodeType="clickEffect">
                                  <p:stCondLst>
                                    <p:cond delay="0"/>
                                  </p:stCondLst>
                                  <p:childTnLst>
                                    <p:set>
                                      <p:cBhvr>
                                        <p:cTn id="194" dur="1" fill="hold">
                                          <p:stCondLst>
                                            <p:cond delay="0"/>
                                          </p:stCondLst>
                                        </p:cTn>
                                        <p:tgtEl>
                                          <p:spTgt spid="40"/>
                                        </p:tgtEl>
                                        <p:attrNameLst>
                                          <p:attrName>style.visibility</p:attrName>
                                        </p:attrNameLst>
                                      </p:cBhvr>
                                      <p:to>
                                        <p:strVal val="visible"/>
                                      </p:to>
                                    </p:set>
                                    <p:animEffect transition="in" filter="fade">
                                      <p:cBhvr>
                                        <p:cTn id="195" dur="500"/>
                                        <p:tgtEl>
                                          <p:spTgt spid="40"/>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500"/>
                                        <p:tgtEl>
                                          <p:spTgt spid="41"/>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42"/>
                                        </p:tgtEl>
                                        <p:attrNameLst>
                                          <p:attrName>style.visibility</p:attrName>
                                        </p:attrNameLst>
                                      </p:cBhvr>
                                      <p:to>
                                        <p:strVal val="visible"/>
                                      </p:to>
                                    </p:set>
                                    <p:animEffect transition="in" filter="fade">
                                      <p:cBhvr>
                                        <p:cTn id="20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9B72CF"/>
                </a:solidFill>
                <a:latin typeface="Calibri"/>
              </a:rPr>
              <a:t>01</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What an atom is</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A constant whose name is its value.
That sentence is the whole type.</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:ok</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interning</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true is 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DEFINITION</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 constant whose name is its value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There is nothing behind the name. The name is the data.</a:t>
            </a:r>
          </a:p>
        </p:txBody>
      </p:sp>
      <p:sp>
        <p:nvSpPr>
          <p:cNvPr id="5" name="a1f_codebg4"/>
          <p:cNvSpPr/>
          <p:nvPr/>
        </p:nvSpPr>
        <p:spPr>
          <a:xfrm>
            <a:off x="457200" y="1380744"/>
            <a:ext cx="484632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35608"/>
            <a:ext cx="45171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19656"/>
            <a:ext cx="4517136" cy="214884"/>
          </a:xfrm>
          <a:prstGeom prst="rect">
            <a:avLst/>
          </a:prstGeom>
          <a:noFill/>
        </p:spPr>
        <p:txBody>
          <a:bodyPr wrap="none" lIns="0" tIns="0" rIns="0" bIns="0" anchor="ctr">
            <a:spAutoFit/>
          </a:bodyPr>
          <a:lstStyle/>
          <a:p>
            <a:pPr algn="l"/>
            <a:r>
              <a:rPr sz="1050" b="1">
                <a:solidFill>
                  <a:srgbClr val="C9B3E8"/>
                </a:solidFill>
                <a:latin typeface="Courier New"/>
              </a:rPr>
              <a:t>iex&gt; :ok</a:t>
            </a:r>
          </a:p>
        </p:txBody>
      </p:sp>
      <p:sp>
        <p:nvSpPr>
          <p:cNvPr id="8" name="a1wd85_code7"/>
          <p:cNvSpPr txBox="1"/>
          <p:nvPr/>
        </p:nvSpPr>
        <p:spPr>
          <a:xfrm>
            <a:off x="621792" y="2034540"/>
            <a:ext cx="4517136" cy="214884"/>
          </a:xfrm>
          <a:prstGeom prst="rect">
            <a:avLst/>
          </a:prstGeom>
          <a:noFill/>
        </p:spPr>
        <p:txBody>
          <a:bodyPr wrap="none" lIns="0" tIns="0" rIns="0" bIns="0" anchor="ctr">
            <a:spAutoFit/>
          </a:bodyPr>
          <a:lstStyle/>
          <a:p>
            <a:pPr algn="l"/>
            <a:r>
              <a:rPr sz="1050" b="0">
                <a:solidFill>
                  <a:srgbClr val="14B8A6"/>
                </a:solidFill>
                <a:latin typeface="Courier New"/>
              </a:rPr>
              <a:t>:ok</a:t>
            </a:r>
          </a:p>
        </p:txBody>
      </p:sp>
      <p:sp>
        <p:nvSpPr>
          <p:cNvPr id="9" name="a1wd170_code8"/>
          <p:cNvSpPr txBox="1"/>
          <p:nvPr/>
        </p:nvSpPr>
        <p:spPr>
          <a:xfrm>
            <a:off x="621792" y="2249424"/>
            <a:ext cx="4517136" cy="214884"/>
          </a:xfrm>
          <a:prstGeom prst="rect">
            <a:avLst/>
          </a:prstGeom>
          <a:noFill/>
        </p:spPr>
        <p:txBody>
          <a:bodyPr wrap="none" lIns="0" tIns="0" rIns="0" bIns="0" anchor="ctr">
            <a:spAutoFit/>
          </a:bodyPr>
          <a:lstStyle/>
          <a:p>
            <a:pPr algn="l"/>
            <a:r>
              <a:rPr sz="1050" b="1">
                <a:solidFill>
                  <a:srgbClr val="C9B3E8"/>
                </a:solidFill>
                <a:latin typeface="Courier New"/>
              </a:rPr>
              <a:t>iex&gt; is_atom(:ok)</a:t>
            </a:r>
          </a:p>
        </p:txBody>
      </p:sp>
      <p:sp>
        <p:nvSpPr>
          <p:cNvPr id="10" name="a1wd255_code9"/>
          <p:cNvSpPr txBox="1"/>
          <p:nvPr/>
        </p:nvSpPr>
        <p:spPr>
          <a:xfrm>
            <a:off x="621792" y="2464308"/>
            <a:ext cx="4517136" cy="214884"/>
          </a:xfrm>
          <a:prstGeom prst="rect">
            <a:avLst/>
          </a:prstGeom>
          <a:noFill/>
        </p:spPr>
        <p:txBody>
          <a:bodyPr wrap="none" lIns="0" tIns="0" rIns="0" bIns="0" anchor="ctr">
            <a:spAutoFit/>
          </a:bodyPr>
          <a:lstStyle/>
          <a:p>
            <a:pPr algn="l"/>
            <a:r>
              <a:rPr sz="1050" b="0">
                <a:solidFill>
                  <a:srgbClr val="14B8A6"/>
                </a:solidFill>
                <a:latin typeface="Courier New"/>
              </a:rPr>
              <a:t>true</a:t>
            </a:r>
          </a:p>
        </p:txBody>
      </p:sp>
      <p:sp>
        <p:nvSpPr>
          <p:cNvPr id="11" name="a1wd340_code10"/>
          <p:cNvSpPr txBox="1"/>
          <p:nvPr/>
        </p:nvSpPr>
        <p:spPr>
          <a:xfrm>
            <a:off x="621792" y="2679191"/>
            <a:ext cx="4517136" cy="214884"/>
          </a:xfrm>
          <a:prstGeom prst="rect">
            <a:avLst/>
          </a:prstGeom>
          <a:noFill/>
        </p:spPr>
        <p:txBody>
          <a:bodyPr wrap="none" lIns="0" tIns="0" rIns="0" bIns="0" anchor="ctr">
            <a:spAutoFit/>
          </a:bodyPr>
          <a:lstStyle/>
          <a:p>
            <a:pPr algn="l"/>
            <a:r>
              <a:rPr sz="1050" b="1">
                <a:solidFill>
                  <a:srgbClr val="C9B3E8"/>
                </a:solidFill>
                <a:latin typeface="Courier New"/>
              </a:rPr>
              <a:t>iex&gt; Atom.to_string(:ok)</a:t>
            </a:r>
          </a:p>
        </p:txBody>
      </p:sp>
      <p:sp>
        <p:nvSpPr>
          <p:cNvPr id="12" name="a1wd425_code11"/>
          <p:cNvSpPr txBox="1"/>
          <p:nvPr/>
        </p:nvSpPr>
        <p:spPr>
          <a:xfrm>
            <a:off x="621792" y="2894076"/>
            <a:ext cx="4517136" cy="214884"/>
          </a:xfrm>
          <a:prstGeom prst="rect">
            <a:avLst/>
          </a:prstGeom>
          <a:noFill/>
        </p:spPr>
        <p:txBody>
          <a:bodyPr wrap="none" lIns="0" tIns="0" rIns="0" bIns="0" anchor="ctr">
            <a:spAutoFit/>
          </a:bodyPr>
          <a:lstStyle/>
          <a:p>
            <a:pPr algn="l"/>
            <a:r>
              <a:rPr sz="1050" b="0">
                <a:solidFill>
                  <a:srgbClr val="14B8A6"/>
                </a:solidFill>
                <a:latin typeface="Courier New"/>
              </a:rPr>
              <a:t>"ok"</a:t>
            </a:r>
          </a:p>
        </p:txBody>
      </p:sp>
      <p:sp>
        <p:nvSpPr>
          <p:cNvPr id="13" name="a1wd510_code12"/>
          <p:cNvSpPr txBox="1"/>
          <p:nvPr/>
        </p:nvSpPr>
        <p:spPr>
          <a:xfrm>
            <a:off x="621792" y="3108960"/>
            <a:ext cx="4517136" cy="214884"/>
          </a:xfrm>
          <a:prstGeom prst="rect">
            <a:avLst/>
          </a:prstGeom>
          <a:noFill/>
        </p:spPr>
        <p:txBody>
          <a:bodyPr wrap="none" lIns="0" tIns="0" rIns="0" bIns="0" anchor="ctr">
            <a:spAutoFit/>
          </a:bodyPr>
          <a:lstStyle/>
          <a:p>
            <a:pPr algn="l"/>
            <a:r>
              <a:rPr sz="1050" b="1">
                <a:solidFill>
                  <a:srgbClr val="C9B3E8"/>
                </a:solidFill>
                <a:latin typeface="Courier New"/>
              </a:rPr>
              <a:t>iex&gt; :ok == :ok</a:t>
            </a:r>
          </a:p>
        </p:txBody>
      </p:sp>
      <p:sp>
        <p:nvSpPr>
          <p:cNvPr id="14" name="a1wd595_code13"/>
          <p:cNvSpPr txBox="1"/>
          <p:nvPr/>
        </p:nvSpPr>
        <p:spPr>
          <a:xfrm>
            <a:off x="621792" y="3323844"/>
            <a:ext cx="4517136" cy="214884"/>
          </a:xfrm>
          <a:prstGeom prst="rect">
            <a:avLst/>
          </a:prstGeom>
          <a:noFill/>
        </p:spPr>
        <p:txBody>
          <a:bodyPr wrap="none" lIns="0" tIns="0" rIns="0" bIns="0" anchor="ctr">
            <a:spAutoFit/>
          </a:bodyPr>
          <a:lstStyle/>
          <a:p>
            <a:pPr algn="l"/>
            <a:r>
              <a:rPr sz="1050" b="0">
                <a:solidFill>
                  <a:srgbClr val="14B8A6"/>
                </a:solidFill>
                <a:latin typeface="Courier New"/>
              </a:rPr>
              <a:t>true</a:t>
            </a:r>
          </a:p>
        </p:txBody>
      </p:sp>
      <p:sp>
        <p:nvSpPr>
          <p:cNvPr id="15" name="a2u_dot14"/>
          <p:cNvSpPr/>
          <p:nvPr/>
        </p:nvSpPr>
        <p:spPr>
          <a:xfrm>
            <a:off x="5440680" y="1517904"/>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_b15"/>
          <p:cNvSpPr txBox="1"/>
          <p:nvPr/>
        </p:nvSpPr>
        <p:spPr>
          <a:xfrm>
            <a:off x="5660136" y="1417319"/>
            <a:ext cx="3026663" cy="694944"/>
          </a:xfrm>
          <a:prstGeom prst="rect">
            <a:avLst/>
          </a:prstGeom>
          <a:noFill/>
        </p:spPr>
        <p:txBody>
          <a:bodyPr wrap="square" lIns="0" tIns="0" rIns="0" bIns="0" anchor="t">
            <a:spAutoFit/>
          </a:bodyPr>
          <a:lstStyle/>
          <a:p>
            <a:pPr algn="l"/>
            <a:r>
              <a:rPr sz="1100" b="1">
                <a:solidFill>
                  <a:srgbClr val="0F172A"/>
                </a:solidFill>
                <a:latin typeface="Calibri"/>
              </a:rPr>
              <a:t>You do not define it  </a:t>
            </a:r>
            <a:r>
              <a:rPr sz="1100" b="0">
                <a:solidFill>
                  <a:srgbClr val="334155"/>
                </a:solidFill>
                <a:latin typeface="Calibri"/>
              </a:rPr>
              <a:t>writing :ok is enough — there is no declaration anywhere</a:t>
            </a:r>
          </a:p>
        </p:txBody>
      </p:sp>
      <p:sp>
        <p:nvSpPr>
          <p:cNvPr id="17" name="a2ud180_dot16"/>
          <p:cNvSpPr/>
          <p:nvPr/>
        </p:nvSpPr>
        <p:spPr>
          <a:xfrm>
            <a:off x="5440680" y="2249424"/>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d180_b17"/>
          <p:cNvSpPr txBox="1"/>
          <p:nvPr/>
        </p:nvSpPr>
        <p:spPr>
          <a:xfrm>
            <a:off x="5660136" y="2148840"/>
            <a:ext cx="3026663" cy="694944"/>
          </a:xfrm>
          <a:prstGeom prst="rect">
            <a:avLst/>
          </a:prstGeom>
          <a:noFill/>
        </p:spPr>
        <p:txBody>
          <a:bodyPr wrap="square" lIns="0" tIns="0" rIns="0" bIns="0" anchor="t">
            <a:spAutoFit/>
          </a:bodyPr>
          <a:lstStyle/>
          <a:p>
            <a:pPr algn="l"/>
            <a:r>
              <a:rPr sz="1100" b="1">
                <a:solidFill>
                  <a:srgbClr val="0F172A"/>
                </a:solidFill>
                <a:latin typeface="Calibri"/>
              </a:rPr>
              <a:t>It carries no payload  </a:t>
            </a:r>
            <a:r>
              <a:rPr sz="1100" b="0">
                <a:solidFill>
                  <a:srgbClr val="334155"/>
                </a:solidFill>
                <a:latin typeface="Calibri"/>
              </a:rPr>
              <a:t>unlike an enum in C, it is not secretly an integer you can do maths on</a:t>
            </a:r>
          </a:p>
        </p:txBody>
      </p:sp>
      <p:sp>
        <p:nvSpPr>
          <p:cNvPr id="19" name="a2ud360_dot18"/>
          <p:cNvSpPr/>
          <p:nvPr/>
        </p:nvSpPr>
        <p:spPr>
          <a:xfrm>
            <a:off x="5440680" y="2980944"/>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360_b19"/>
          <p:cNvSpPr txBox="1"/>
          <p:nvPr/>
        </p:nvSpPr>
        <p:spPr>
          <a:xfrm>
            <a:off x="5660136" y="2880360"/>
            <a:ext cx="3026663" cy="694944"/>
          </a:xfrm>
          <a:prstGeom prst="rect">
            <a:avLst/>
          </a:prstGeom>
          <a:noFill/>
        </p:spPr>
        <p:txBody>
          <a:bodyPr wrap="square" lIns="0" tIns="0" rIns="0" bIns="0" anchor="t">
            <a:spAutoFit/>
          </a:bodyPr>
          <a:lstStyle/>
          <a:p>
            <a:pPr algn="l"/>
            <a:r>
              <a:rPr sz="1100" b="1">
                <a:solidFill>
                  <a:srgbClr val="0F172A"/>
                </a:solidFill>
                <a:latin typeface="Calibri"/>
              </a:rPr>
              <a:t>It is equal only to itself  </a:t>
            </a:r>
            <a:r>
              <a:rPr sz="1100" b="0">
                <a:solidFill>
                  <a:srgbClr val="334155"/>
                </a:solidFill>
                <a:latin typeface="Calibri"/>
              </a:rPr>
              <a:t>two atoms are equal exactly when they are spelled the same</a:t>
            </a:r>
          </a:p>
        </p:txBody>
      </p:sp>
      <p:sp>
        <p:nvSpPr>
          <p:cNvPr id="21" name="a3f_nb20"/>
          <p:cNvSpPr/>
          <p:nvPr/>
        </p:nvSpPr>
        <p:spPr>
          <a:xfrm>
            <a:off x="457200" y="3849624"/>
            <a:ext cx="8229600" cy="475488"/>
          </a:xfrm>
          <a:prstGeom prst="roundRect">
            <a:avLst>
              <a:gd name="adj" fmla="val 15384"/>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3f_nacc21"/>
          <p:cNvSpPr/>
          <p:nvPr/>
        </p:nvSpPr>
        <p:spPr>
          <a:xfrm>
            <a:off x="457200" y="3849624"/>
            <a:ext cx="50292" cy="4754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t22"/>
          <p:cNvSpPr txBox="1"/>
          <p:nvPr/>
        </p:nvSpPr>
        <p:spPr>
          <a:xfrm>
            <a:off x="658368" y="3849624"/>
            <a:ext cx="7827264" cy="475488"/>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In other languages you reach for a string constant, an enum, or a symbol. Elixir has one answer for all three, and it is built into the virtual machine.</a:t>
            </a:r>
          </a:p>
        </p:txBody>
      </p:sp>
      <p:sp>
        <p:nvSpPr>
          <p:cNvPr id="24" name="ft2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5" name="ft2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7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5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4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2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51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95"/>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ppt_y+0.1"/>
                                          </p:val>
                                        </p:tav>
                                        <p:tav tm="100000">
                                          <p:val>
                                            <p:strVal val="#ppt_y"/>
                                          </p:val>
                                        </p:tav>
                                      </p:tavLst>
                                    </p:anim>
                                    <p:animEffect transition="in" filter="fade">
                                      <p:cBhvr>
                                        <p:cTn id="41" dur="500"/>
                                        <p:tgtEl>
                                          <p:spTgt spid="15"/>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ppt_y+0.1"/>
                                          </p:val>
                                        </p:tav>
                                        <p:tav tm="100000">
                                          <p:val>
                                            <p:strVal val="#ppt_y"/>
                                          </p:val>
                                        </p:tav>
                                      </p:tavLst>
                                    </p:anim>
                                    <p:animEffect transition="in" filter="fade">
                                      <p:cBhvr>
                                        <p:cTn id="46" dur="500"/>
                                        <p:tgtEl>
                                          <p:spTgt spid="16"/>
                                        </p:tgtEl>
                                      </p:cBhvr>
                                    </p:animEffect>
                                  </p:childTnLst>
                                </p:cTn>
                              </p:par>
                              <p:par>
                                <p:cTn id="47" presetID="2" presetClass="entr" presetSubtype="4" fill="hold" grpId="0" nodeType="withEffect">
                                  <p:stCondLst>
                                    <p:cond delay="18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ppt_y+0.1"/>
                                          </p:val>
                                        </p:tav>
                                        <p:tav tm="100000">
                                          <p:val>
                                            <p:strVal val="#ppt_y"/>
                                          </p:val>
                                        </p:tav>
                                      </p:tavLst>
                                    </p:anim>
                                    <p:animEffect transition="in" filter="fade">
                                      <p:cBhvr>
                                        <p:cTn id="51" dur="500"/>
                                        <p:tgtEl>
                                          <p:spTgt spid="17"/>
                                        </p:tgtEl>
                                      </p:cBhvr>
                                    </p:animEffect>
                                  </p:childTnLst>
                                </p:cTn>
                              </p:par>
                              <p:par>
                                <p:cTn id="52" presetID="2" presetClass="entr" presetSubtype="4" fill="hold" grpId="0" nodeType="withEffect">
                                  <p:stCondLst>
                                    <p:cond delay="18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ppt_y+0.1"/>
                                          </p:val>
                                        </p:tav>
                                        <p:tav tm="100000">
                                          <p:val>
                                            <p:strVal val="#ppt_y"/>
                                          </p:val>
                                        </p:tav>
                                      </p:tavLst>
                                    </p:anim>
                                    <p:animEffect transition="in" filter="fade">
                                      <p:cBhvr>
                                        <p:cTn id="56" dur="500"/>
                                        <p:tgtEl>
                                          <p:spTgt spid="18"/>
                                        </p:tgtEl>
                                      </p:cBhvr>
                                    </p:animEffect>
                                  </p:childTnLst>
                                </p:cTn>
                              </p:par>
                              <p:par>
                                <p:cTn id="57" presetID="2" presetClass="entr" presetSubtype="4" fill="hold" grpId="0" nodeType="withEffect">
                                  <p:stCondLst>
                                    <p:cond delay="36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ppt_y+0.1"/>
                                          </p:val>
                                        </p:tav>
                                        <p:tav tm="100000">
                                          <p:val>
                                            <p:strVal val="#ppt_y"/>
                                          </p:val>
                                        </p:tav>
                                      </p:tavLst>
                                    </p:anim>
                                    <p:animEffect transition="in" filter="fade">
                                      <p:cBhvr>
                                        <p:cTn id="61" dur="500"/>
                                        <p:tgtEl>
                                          <p:spTgt spid="19"/>
                                        </p:tgtEl>
                                      </p:cBhvr>
                                    </p:animEffect>
                                  </p:childTnLst>
                                </p:cTn>
                              </p:par>
                              <p:par>
                                <p:cTn id="62" presetID="2" presetClass="entr" presetSubtype="4" fill="hold" grpId="0" nodeType="withEffect">
                                  <p:stCondLst>
                                    <p:cond delay="36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ppt_x</p:attrName>
                                        </p:attrNameLst>
                                      </p:cBhvr>
                                      <p:tavLst>
                                        <p:tav tm="0">
                                          <p:val>
                                            <p:strVal val="#ppt_x"/>
                                          </p:val>
                                        </p:tav>
                                        <p:tav tm="100000">
                                          <p:val>
                                            <p:strVal val="#ppt_x"/>
                                          </p:val>
                                        </p:tav>
                                      </p:tavLst>
                                    </p:anim>
                                    <p:anim calcmode="lin" valueType="num">
                                      <p:cBhvr additive="base">
                                        <p:cTn id="65" dur="500" fill="hold"/>
                                        <p:tgtEl>
                                          <p:spTgt spid="20"/>
                                        </p:tgtEl>
                                        <p:attrNameLst>
                                          <p:attrName>ppt_y</p:attrName>
                                        </p:attrNameLst>
                                      </p:cBhvr>
                                      <p:tavLst>
                                        <p:tav tm="0">
                                          <p:val>
                                            <p:strVal val="#ppt_y+0.1"/>
                                          </p:val>
                                        </p:tav>
                                        <p:tav tm="100000">
                                          <p:val>
                                            <p:strVal val="#ppt_y"/>
                                          </p:val>
                                        </p:tav>
                                      </p:tavLst>
                                    </p:anim>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MECHANISM</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same name is always the same word in memory</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This is interning, and it is what makes everything else true.</a:t>
            </a:r>
          </a:p>
        </p:txBody>
      </p:sp>
      <p:sp>
        <p:nvSpPr>
          <p:cNvPr id="5" name="a1f_codebg4"/>
          <p:cNvSpPr/>
          <p:nvPr/>
        </p:nvSpPr>
        <p:spPr>
          <a:xfrm>
            <a:off x="457200" y="1362456"/>
            <a:ext cx="822960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a1 = :some_interned_name                      # written as a literal</a:t>
            </a:r>
          </a:p>
        </p:txBody>
      </p:sp>
      <p:sp>
        <p:nvSpPr>
          <p:cNvPr id="8" name="a1wd75_code7"/>
          <p:cNvSpPr txBox="1"/>
          <p:nvPr/>
        </p:nvSpPr>
        <p:spPr>
          <a:xfrm>
            <a:off x="621792" y="2016252"/>
            <a:ext cx="7900416" cy="214884"/>
          </a:xfrm>
          <a:prstGeom prst="rect">
            <a:avLst/>
          </a:prstGeom>
          <a:noFill/>
        </p:spPr>
        <p:txBody>
          <a:bodyPr wrap="none" lIns="0" tIns="0" rIns="0" bIns="0" anchor="ctr">
            <a:spAutoFit/>
          </a:bodyPr>
          <a:lstStyle/>
          <a:p>
            <a:pPr algn="l"/>
            <a:r>
              <a:rPr sz="1000" b="1">
                <a:solidFill>
                  <a:srgbClr val="C9B3E8"/>
                </a:solidFill>
                <a:latin typeface="Courier New"/>
              </a:rPr>
              <a:t>a2 = String.to_atom("some_interned_name")     # built at run time</a:t>
            </a:r>
          </a:p>
        </p:txBody>
      </p:sp>
      <p:sp>
        <p:nvSpPr>
          <p:cNvPr id="9" name="a1wd150_code8"/>
          <p:cNvSpPr txBox="1"/>
          <p:nvPr/>
        </p:nvSpPr>
        <p:spPr>
          <a:xfrm>
            <a:off x="621792" y="2231136"/>
            <a:ext cx="7900416" cy="214884"/>
          </a:xfrm>
          <a:prstGeom prst="rect">
            <a:avLst/>
          </a:prstGeom>
          <a:noFill/>
        </p:spPr>
        <p:txBody>
          <a:bodyPr wrap="none" lIns="0" tIns="0" rIns="0" bIns="0" anchor="ctr">
            <a:spAutoFit/>
          </a:bodyPr>
          <a:lstStyle/>
          <a:p>
            <a:pPr algn="l"/>
            <a:r>
              <a:rPr sz="1000" b="1">
                <a:solidFill>
                  <a:srgbClr val="C9B3E8"/>
                </a:solidFill>
                <a:latin typeface="Courier New"/>
              </a:rPr>
              <a:t>a3 = term_to_binary |&gt; binary_to_term         # came off the wire</a:t>
            </a:r>
          </a:p>
        </p:txBody>
      </p:sp>
      <p:sp>
        <p:nvSpPr>
          <p:cNvPr id="10" name="a1wd225_code9"/>
          <p:cNvSpPr txBox="1"/>
          <p:nvPr/>
        </p:nvSpPr>
        <p:spPr>
          <a:xfrm>
            <a:off x="621792" y="2446020"/>
            <a:ext cx="7900416" cy="214884"/>
          </a:xfrm>
          <a:prstGeom prst="rect">
            <a:avLst/>
          </a:prstGeom>
          <a:noFill/>
        </p:spPr>
        <p:txBody>
          <a:bodyPr wrap="none" lIns="0" tIns="0" rIns="0" bIns="0" anchor="ctr">
            <a:spAutoFit/>
          </a:bodyPr>
          <a:lstStyle/>
          <a:p>
            <a:pPr algn="l"/>
            <a:endParaRPr/>
          </a:p>
        </p:txBody>
      </p:sp>
      <p:sp>
        <p:nvSpPr>
          <p:cNvPr id="11" name="a1wd300_code10"/>
          <p:cNvSpPr txBox="1"/>
          <p:nvPr/>
        </p:nvSpPr>
        <p:spPr>
          <a:xfrm>
            <a:off x="621792" y="2660904"/>
            <a:ext cx="7900416" cy="214884"/>
          </a:xfrm>
          <a:prstGeom prst="rect">
            <a:avLst/>
          </a:prstGeom>
          <a:noFill/>
        </p:spPr>
        <p:txBody>
          <a:bodyPr wrap="none" lIns="0" tIns="0" rIns="0" bIns="0" anchor="ctr">
            <a:spAutoFit/>
          </a:bodyPr>
          <a:lstStyle/>
          <a:p>
            <a:pPr algn="l"/>
            <a:r>
              <a:rPr sz="1000" b="0">
                <a:solidFill>
                  <a:srgbClr val="14B8A6"/>
                </a:solidFill>
                <a:latin typeface="Courier New"/>
              </a:rPr>
              <a:t>:erts_debug.same(a1, a2)   #=&gt; true      &lt;- ONE object, not three</a:t>
            </a:r>
          </a:p>
        </p:txBody>
      </p:sp>
      <p:sp>
        <p:nvSpPr>
          <p:cNvPr id="12" name="a1wd375_code11"/>
          <p:cNvSpPr txBox="1"/>
          <p:nvPr/>
        </p:nvSpPr>
        <p:spPr>
          <a:xfrm>
            <a:off x="621792" y="2875787"/>
            <a:ext cx="7900416" cy="214884"/>
          </a:xfrm>
          <a:prstGeom prst="rect">
            <a:avLst/>
          </a:prstGeom>
          <a:noFill/>
        </p:spPr>
        <p:txBody>
          <a:bodyPr wrap="none" lIns="0" tIns="0" rIns="0" bIns="0" anchor="ctr">
            <a:spAutoFit/>
          </a:bodyPr>
          <a:lstStyle/>
          <a:p>
            <a:pPr algn="l"/>
            <a:r>
              <a:rPr sz="1000" b="0">
                <a:solidFill>
                  <a:srgbClr val="14B8A6"/>
                </a:solidFill>
                <a:latin typeface="Courier New"/>
              </a:rPr>
              <a:t>:erts_debug.same(a1, a3)   #=&gt; true</a:t>
            </a:r>
          </a:p>
        </p:txBody>
      </p:sp>
      <p:sp>
        <p:nvSpPr>
          <p:cNvPr id="13" name="a1wd450_code12"/>
          <p:cNvSpPr txBox="1"/>
          <p:nvPr/>
        </p:nvSpPr>
        <p:spPr>
          <a:xfrm>
            <a:off x="621792" y="3090672"/>
            <a:ext cx="7900416" cy="214884"/>
          </a:xfrm>
          <a:prstGeom prst="rect">
            <a:avLst/>
          </a:prstGeom>
          <a:noFill/>
        </p:spPr>
        <p:txBody>
          <a:bodyPr wrap="none" lIns="0" tIns="0" rIns="0" bIns="0" anchor="ctr">
            <a:spAutoFit/>
          </a:bodyPr>
          <a:lstStyle/>
          <a:p>
            <a:pPr algn="l"/>
            <a:r>
              <a:rPr sz="1000" b="0">
                <a:solidFill>
                  <a:srgbClr val="64748B"/>
                </a:solidFill>
                <a:latin typeface="Courier New"/>
              </a:rPr>
              <a:t>b1 = "some_interned_name"; b2 = :binary.copy(b1)</a:t>
            </a:r>
          </a:p>
        </p:txBody>
      </p:sp>
      <p:sp>
        <p:nvSpPr>
          <p:cNvPr id="14" name="a1wd525_code13"/>
          <p:cNvSpPr txBox="1"/>
          <p:nvPr/>
        </p:nvSpPr>
        <p:spPr>
          <a:xfrm>
            <a:off x="621792" y="3305556"/>
            <a:ext cx="7900416" cy="214884"/>
          </a:xfrm>
          <a:prstGeom prst="rect">
            <a:avLst/>
          </a:prstGeom>
          <a:noFill/>
        </p:spPr>
        <p:txBody>
          <a:bodyPr wrap="none" lIns="0" tIns="0" rIns="0" bIns="0" anchor="ctr">
            <a:spAutoFit/>
          </a:bodyPr>
          <a:lstStyle/>
          <a:p>
            <a:pPr algn="l"/>
            <a:r>
              <a:rPr sz="1000" b="0">
                <a:solidFill>
                  <a:srgbClr val="14B8A6"/>
                </a:solidFill>
                <a:latin typeface="Courier New"/>
              </a:rPr>
              <a:t>b1 == b2                   #=&gt; true      equal...</a:t>
            </a:r>
          </a:p>
        </p:txBody>
      </p:sp>
      <p:sp>
        <p:nvSpPr>
          <p:cNvPr id="15" name="a1wd600_code14"/>
          <p:cNvSpPr txBox="1"/>
          <p:nvPr/>
        </p:nvSpPr>
        <p:spPr>
          <a:xfrm>
            <a:off x="621792" y="3520439"/>
            <a:ext cx="7900416" cy="214884"/>
          </a:xfrm>
          <a:prstGeom prst="rect">
            <a:avLst/>
          </a:prstGeom>
          <a:noFill/>
        </p:spPr>
        <p:txBody>
          <a:bodyPr wrap="none" lIns="0" tIns="0" rIns="0" bIns="0" anchor="ctr">
            <a:spAutoFit/>
          </a:bodyPr>
          <a:lstStyle/>
          <a:p>
            <a:pPr algn="l"/>
            <a:r>
              <a:rPr sz="1000" b="0">
                <a:solidFill>
                  <a:srgbClr val="FCA5A5"/>
                </a:solidFill>
                <a:latin typeface="Courier New"/>
              </a:rPr>
              <a:t>:erts_debug.same(b1, b2)   #=&gt; false     ...but two separate objects</a:t>
            </a:r>
          </a:p>
        </p:txBody>
      </p:sp>
      <p:sp>
        <p:nvSpPr>
          <p:cNvPr id="16" name="a2f_nb15"/>
          <p:cNvSpPr/>
          <p:nvPr/>
        </p:nvSpPr>
        <p:spPr>
          <a:xfrm>
            <a:off x="457200" y="4027931"/>
            <a:ext cx="8229600" cy="548640"/>
          </a:xfrm>
          <a:prstGeom prst="roundRect">
            <a:avLst>
              <a:gd name="adj" fmla="val 1333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f_nacc16"/>
          <p:cNvSpPr/>
          <p:nvPr/>
        </p:nvSpPr>
        <p:spPr>
          <a:xfrm>
            <a:off x="457200" y="4027931"/>
            <a:ext cx="50292" cy="54864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f_nt17"/>
          <p:cNvSpPr txBox="1"/>
          <p:nvPr/>
        </p:nvSpPr>
        <p:spPr>
          <a:xfrm>
            <a:off x="658368" y="4027931"/>
            <a:ext cx="7827264" cy="548640"/>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Created the same atom 100,000 more times and atom_count moved by 0. The VM looks the name up in one global table and hands back the entry that is already there — so an atom is, physically, a pointer-sized index.</a:t>
            </a:r>
          </a:p>
        </p:txBody>
      </p:sp>
      <p:sp>
        <p:nvSpPr>
          <p:cNvPr id="19" name="ft1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0" name="ft1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2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7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5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25"/>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0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LITERALS</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How you write one — and when you need quotes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A colon, then a name. Anything the parser cannot read unquoted takes quotes.</a:t>
            </a:r>
          </a:p>
        </p:txBody>
      </p:sp>
      <p:sp>
        <p:nvSpPr>
          <p:cNvPr id="5" name="a1f_th4"/>
          <p:cNvSpPr/>
          <p:nvPr/>
        </p:nvSpPr>
        <p:spPr>
          <a:xfrm>
            <a:off x="457200" y="1325880"/>
            <a:ext cx="224028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tht5"/>
          <p:cNvSpPr txBox="1"/>
          <p:nvPr/>
        </p:nvSpPr>
        <p:spPr>
          <a:xfrm>
            <a:off x="530352" y="1325880"/>
            <a:ext cx="2130552" cy="260603"/>
          </a:xfrm>
          <a:prstGeom prst="rect">
            <a:avLst/>
          </a:prstGeom>
          <a:noFill/>
        </p:spPr>
        <p:txBody>
          <a:bodyPr wrap="square" lIns="0" tIns="0" rIns="0" bIns="0" anchor="ctr">
            <a:spAutoFit/>
          </a:bodyPr>
          <a:lstStyle/>
          <a:p>
            <a:pPr algn="l"/>
            <a:r>
              <a:rPr sz="950" b="1">
                <a:solidFill>
                  <a:srgbClr val="FFFFFF"/>
                </a:solidFill>
                <a:latin typeface="Courier New"/>
              </a:rPr>
              <a:t>You write</a:t>
            </a:r>
          </a:p>
        </p:txBody>
      </p:sp>
      <p:sp>
        <p:nvSpPr>
          <p:cNvPr id="7" name="a1wd70_td6"/>
          <p:cNvSpPr/>
          <p:nvPr/>
        </p:nvSpPr>
        <p:spPr>
          <a:xfrm>
            <a:off x="457200" y="1586484"/>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a1wd70_tdt7"/>
          <p:cNvSpPr txBox="1"/>
          <p:nvPr/>
        </p:nvSpPr>
        <p:spPr>
          <a:xfrm>
            <a:off x="530352" y="1586484"/>
            <a:ext cx="2130552" cy="260603"/>
          </a:xfrm>
          <a:prstGeom prst="rect">
            <a:avLst/>
          </a:prstGeom>
          <a:noFill/>
        </p:spPr>
        <p:txBody>
          <a:bodyPr wrap="square" lIns="0" tIns="0" rIns="0" bIns="0" anchor="ctr">
            <a:spAutoFit/>
          </a:bodyPr>
          <a:lstStyle/>
          <a:p>
            <a:pPr algn="l"/>
            <a:r>
              <a:rPr sz="950" b="0">
                <a:solidFill>
                  <a:srgbClr val="334155"/>
                </a:solidFill>
                <a:latin typeface="Courier New"/>
              </a:rPr>
              <a:t>:ok</a:t>
            </a:r>
          </a:p>
        </p:txBody>
      </p:sp>
      <p:sp>
        <p:nvSpPr>
          <p:cNvPr id="9" name="a1wd140_td8"/>
          <p:cNvSpPr/>
          <p:nvPr/>
        </p:nvSpPr>
        <p:spPr>
          <a:xfrm>
            <a:off x="457200" y="1847088"/>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wd140_tdt9"/>
          <p:cNvSpPr txBox="1"/>
          <p:nvPr/>
        </p:nvSpPr>
        <p:spPr>
          <a:xfrm>
            <a:off x="530352" y="1847088"/>
            <a:ext cx="2130552" cy="260603"/>
          </a:xfrm>
          <a:prstGeom prst="rect">
            <a:avLst/>
          </a:prstGeom>
          <a:noFill/>
        </p:spPr>
        <p:txBody>
          <a:bodyPr wrap="square" lIns="0" tIns="0" rIns="0" bIns="0" anchor="ctr">
            <a:spAutoFit/>
          </a:bodyPr>
          <a:lstStyle/>
          <a:p>
            <a:pPr algn="l"/>
            <a:r>
              <a:rPr sz="950" b="0">
                <a:solidFill>
                  <a:srgbClr val="334155"/>
                </a:solidFill>
                <a:latin typeface="Courier New"/>
              </a:rPr>
              <a:t>:hello_world</a:t>
            </a:r>
          </a:p>
        </p:txBody>
      </p:sp>
      <p:sp>
        <p:nvSpPr>
          <p:cNvPr id="11" name="a1wd210_td10"/>
          <p:cNvSpPr/>
          <p:nvPr/>
        </p:nvSpPr>
        <p:spPr>
          <a:xfrm>
            <a:off x="457200" y="2107691"/>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wd210_tdt11"/>
          <p:cNvSpPr txBox="1"/>
          <p:nvPr/>
        </p:nvSpPr>
        <p:spPr>
          <a:xfrm>
            <a:off x="530352" y="2107691"/>
            <a:ext cx="2130552" cy="260603"/>
          </a:xfrm>
          <a:prstGeom prst="rect">
            <a:avLst/>
          </a:prstGeom>
          <a:noFill/>
        </p:spPr>
        <p:txBody>
          <a:bodyPr wrap="square" lIns="0" tIns="0" rIns="0" bIns="0" anchor="ctr">
            <a:spAutoFit/>
          </a:bodyPr>
          <a:lstStyle/>
          <a:p>
            <a:pPr algn="l"/>
            <a:r>
              <a:rPr sz="950" b="0">
                <a:solidFill>
                  <a:srgbClr val="334155"/>
                </a:solidFill>
                <a:latin typeface="Courier New"/>
              </a:rPr>
              <a:t>:valid?</a:t>
            </a:r>
          </a:p>
        </p:txBody>
      </p:sp>
      <p:sp>
        <p:nvSpPr>
          <p:cNvPr id="13" name="a1wd280_td12"/>
          <p:cNvSpPr/>
          <p:nvPr/>
        </p:nvSpPr>
        <p:spPr>
          <a:xfrm>
            <a:off x="457200" y="2368296"/>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wd280_tdt13"/>
          <p:cNvSpPr txBox="1"/>
          <p:nvPr/>
        </p:nvSpPr>
        <p:spPr>
          <a:xfrm>
            <a:off x="530352" y="2368296"/>
            <a:ext cx="2130552" cy="260603"/>
          </a:xfrm>
          <a:prstGeom prst="rect">
            <a:avLst/>
          </a:prstGeom>
          <a:noFill/>
        </p:spPr>
        <p:txBody>
          <a:bodyPr wrap="square" lIns="0" tIns="0" rIns="0" bIns="0" anchor="ctr">
            <a:spAutoFit/>
          </a:bodyPr>
          <a:lstStyle/>
          <a:p>
            <a:pPr algn="l"/>
            <a:r>
              <a:rPr sz="950" b="0">
                <a:solidFill>
                  <a:srgbClr val="334155"/>
                </a:solidFill>
                <a:latin typeface="Courier New"/>
              </a:rPr>
              <a:t>:Upper</a:t>
            </a:r>
          </a:p>
        </p:txBody>
      </p:sp>
      <p:sp>
        <p:nvSpPr>
          <p:cNvPr id="15" name="a1wd350_td14"/>
          <p:cNvSpPr/>
          <p:nvPr/>
        </p:nvSpPr>
        <p:spPr>
          <a:xfrm>
            <a:off x="457200" y="2628900"/>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wd350_tdt15"/>
          <p:cNvSpPr txBox="1"/>
          <p:nvPr/>
        </p:nvSpPr>
        <p:spPr>
          <a:xfrm>
            <a:off x="530352" y="2628900"/>
            <a:ext cx="2130552" cy="260603"/>
          </a:xfrm>
          <a:prstGeom prst="rect">
            <a:avLst/>
          </a:prstGeom>
          <a:noFill/>
        </p:spPr>
        <p:txBody>
          <a:bodyPr wrap="square" lIns="0" tIns="0" rIns="0" bIns="0" anchor="ctr">
            <a:spAutoFit/>
          </a:bodyPr>
          <a:lstStyle/>
          <a:p>
            <a:pPr algn="l"/>
            <a:r>
              <a:rPr sz="950" b="0">
                <a:solidFill>
                  <a:srgbClr val="334155"/>
                </a:solidFill>
                <a:latin typeface="Courier New"/>
              </a:rPr>
              <a:t>:"hello world"</a:t>
            </a:r>
          </a:p>
        </p:txBody>
      </p:sp>
      <p:sp>
        <p:nvSpPr>
          <p:cNvPr id="17" name="a1wd420_td16"/>
          <p:cNvSpPr/>
          <p:nvPr/>
        </p:nvSpPr>
        <p:spPr>
          <a:xfrm>
            <a:off x="457200" y="2889504"/>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1wd420_tdt17"/>
          <p:cNvSpPr txBox="1"/>
          <p:nvPr/>
        </p:nvSpPr>
        <p:spPr>
          <a:xfrm>
            <a:off x="530352" y="2889504"/>
            <a:ext cx="2130552" cy="260603"/>
          </a:xfrm>
          <a:prstGeom prst="rect">
            <a:avLst/>
          </a:prstGeom>
          <a:noFill/>
        </p:spPr>
        <p:txBody>
          <a:bodyPr wrap="square" lIns="0" tIns="0" rIns="0" bIns="0" anchor="ctr">
            <a:spAutoFit/>
          </a:bodyPr>
          <a:lstStyle/>
          <a:p>
            <a:pPr algn="l"/>
            <a:r>
              <a:rPr sz="950" b="0">
                <a:solidFill>
                  <a:srgbClr val="334155"/>
                </a:solidFill>
                <a:latin typeface="Courier New"/>
              </a:rPr>
              <a:t>:"with-dash"</a:t>
            </a:r>
          </a:p>
        </p:txBody>
      </p:sp>
      <p:sp>
        <p:nvSpPr>
          <p:cNvPr id="19" name="a1wd490_td18"/>
          <p:cNvSpPr/>
          <p:nvPr/>
        </p:nvSpPr>
        <p:spPr>
          <a:xfrm>
            <a:off x="457200" y="3150108"/>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wd490_tdt19"/>
          <p:cNvSpPr txBox="1"/>
          <p:nvPr/>
        </p:nvSpPr>
        <p:spPr>
          <a:xfrm>
            <a:off x="530352" y="3150108"/>
            <a:ext cx="2130552" cy="260603"/>
          </a:xfrm>
          <a:prstGeom prst="rect">
            <a:avLst/>
          </a:prstGeom>
          <a:noFill/>
        </p:spPr>
        <p:txBody>
          <a:bodyPr wrap="square" lIns="0" tIns="0" rIns="0" bIns="0" anchor="ctr">
            <a:spAutoFit/>
          </a:bodyPr>
          <a:lstStyle/>
          <a:p>
            <a:pPr algn="l"/>
            <a:r>
              <a:rPr sz="950" b="0">
                <a:solidFill>
                  <a:srgbClr val="334155"/>
                </a:solidFill>
                <a:latin typeface="Courier New"/>
              </a:rPr>
              <a:t>:"123"</a:t>
            </a:r>
          </a:p>
        </p:txBody>
      </p:sp>
      <p:sp>
        <p:nvSpPr>
          <p:cNvPr id="21" name="a1wd560_td20"/>
          <p:cNvSpPr/>
          <p:nvPr/>
        </p:nvSpPr>
        <p:spPr>
          <a:xfrm>
            <a:off x="457200" y="3410711"/>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1wd560_tdt21"/>
          <p:cNvSpPr txBox="1"/>
          <p:nvPr/>
        </p:nvSpPr>
        <p:spPr>
          <a:xfrm>
            <a:off x="530352" y="3410711"/>
            <a:ext cx="2130552" cy="260603"/>
          </a:xfrm>
          <a:prstGeom prst="rect">
            <a:avLst/>
          </a:prstGeom>
          <a:noFill/>
        </p:spPr>
        <p:txBody>
          <a:bodyPr wrap="square" lIns="0" tIns="0" rIns="0" bIns="0" anchor="ctr">
            <a:spAutoFit/>
          </a:bodyPr>
          <a:lstStyle/>
          <a:p>
            <a:pPr algn="l"/>
            <a:r>
              <a:rPr sz="950" b="0">
                <a:solidFill>
                  <a:srgbClr val="334155"/>
                </a:solidFill>
                <a:latin typeface="Courier New"/>
              </a:rPr>
              <a:t>:"user@host"</a:t>
            </a:r>
          </a:p>
        </p:txBody>
      </p:sp>
      <p:sp>
        <p:nvSpPr>
          <p:cNvPr id="23" name="a1wd630_td22"/>
          <p:cNvSpPr/>
          <p:nvPr/>
        </p:nvSpPr>
        <p:spPr>
          <a:xfrm>
            <a:off x="457200" y="3671315"/>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wd630_tdt23"/>
          <p:cNvSpPr txBox="1"/>
          <p:nvPr/>
        </p:nvSpPr>
        <p:spPr>
          <a:xfrm>
            <a:off x="530352" y="3671315"/>
            <a:ext cx="2130552" cy="260603"/>
          </a:xfrm>
          <a:prstGeom prst="rect">
            <a:avLst/>
          </a:prstGeom>
          <a:noFill/>
        </p:spPr>
        <p:txBody>
          <a:bodyPr wrap="square" lIns="0" tIns="0" rIns="0" bIns="0" anchor="ctr">
            <a:spAutoFit/>
          </a:bodyPr>
          <a:lstStyle/>
          <a:p>
            <a:pPr algn="l"/>
            <a:r>
              <a:rPr sz="950" b="0">
                <a:solidFill>
                  <a:srgbClr val="334155"/>
                </a:solidFill>
                <a:latin typeface="Courier New"/>
              </a:rPr>
              <a:t>:héllo</a:t>
            </a:r>
          </a:p>
        </p:txBody>
      </p:sp>
      <p:sp>
        <p:nvSpPr>
          <p:cNvPr id="25" name="a1f_th24"/>
          <p:cNvSpPr/>
          <p:nvPr/>
        </p:nvSpPr>
        <p:spPr>
          <a:xfrm>
            <a:off x="2697480" y="1325880"/>
            <a:ext cx="224028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f_tht25"/>
          <p:cNvSpPr txBox="1"/>
          <p:nvPr/>
        </p:nvSpPr>
        <p:spPr>
          <a:xfrm>
            <a:off x="2770632" y="1325880"/>
            <a:ext cx="2130552" cy="260603"/>
          </a:xfrm>
          <a:prstGeom prst="rect">
            <a:avLst/>
          </a:prstGeom>
          <a:noFill/>
        </p:spPr>
        <p:txBody>
          <a:bodyPr wrap="square" lIns="0" tIns="0" rIns="0" bIns="0" anchor="ctr">
            <a:spAutoFit/>
          </a:bodyPr>
          <a:lstStyle/>
          <a:p>
            <a:pPr algn="l"/>
            <a:r>
              <a:rPr sz="950" b="1">
                <a:solidFill>
                  <a:srgbClr val="FFFFFF"/>
                </a:solidFill>
                <a:latin typeface="Courier New"/>
              </a:rPr>
              <a:t>It inspects as</a:t>
            </a:r>
          </a:p>
        </p:txBody>
      </p:sp>
      <p:sp>
        <p:nvSpPr>
          <p:cNvPr id="27" name="a1wd70_td26"/>
          <p:cNvSpPr/>
          <p:nvPr/>
        </p:nvSpPr>
        <p:spPr>
          <a:xfrm>
            <a:off x="2697480" y="1586484"/>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1wd70_tdt27"/>
          <p:cNvSpPr txBox="1"/>
          <p:nvPr/>
        </p:nvSpPr>
        <p:spPr>
          <a:xfrm>
            <a:off x="2770632" y="1586484"/>
            <a:ext cx="2130552" cy="260603"/>
          </a:xfrm>
          <a:prstGeom prst="rect">
            <a:avLst/>
          </a:prstGeom>
          <a:noFill/>
        </p:spPr>
        <p:txBody>
          <a:bodyPr wrap="square" lIns="0" tIns="0" rIns="0" bIns="0" anchor="ctr">
            <a:spAutoFit/>
          </a:bodyPr>
          <a:lstStyle/>
          <a:p>
            <a:pPr algn="l"/>
            <a:r>
              <a:rPr sz="950" b="0">
                <a:solidFill>
                  <a:srgbClr val="334155"/>
                </a:solidFill>
                <a:latin typeface="Courier New"/>
              </a:rPr>
              <a:t>:ok</a:t>
            </a:r>
          </a:p>
        </p:txBody>
      </p:sp>
      <p:sp>
        <p:nvSpPr>
          <p:cNvPr id="29" name="a1wd140_td28"/>
          <p:cNvSpPr/>
          <p:nvPr/>
        </p:nvSpPr>
        <p:spPr>
          <a:xfrm>
            <a:off x="2697480" y="1847088"/>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1wd140_tdt29"/>
          <p:cNvSpPr txBox="1"/>
          <p:nvPr/>
        </p:nvSpPr>
        <p:spPr>
          <a:xfrm>
            <a:off x="2770632" y="1847088"/>
            <a:ext cx="2130552" cy="260603"/>
          </a:xfrm>
          <a:prstGeom prst="rect">
            <a:avLst/>
          </a:prstGeom>
          <a:noFill/>
        </p:spPr>
        <p:txBody>
          <a:bodyPr wrap="square" lIns="0" tIns="0" rIns="0" bIns="0" anchor="ctr">
            <a:spAutoFit/>
          </a:bodyPr>
          <a:lstStyle/>
          <a:p>
            <a:pPr algn="l"/>
            <a:r>
              <a:rPr sz="950" b="0">
                <a:solidFill>
                  <a:srgbClr val="334155"/>
                </a:solidFill>
                <a:latin typeface="Courier New"/>
              </a:rPr>
              <a:t>:hello_world</a:t>
            </a:r>
          </a:p>
        </p:txBody>
      </p:sp>
      <p:sp>
        <p:nvSpPr>
          <p:cNvPr id="31" name="a1wd210_td30"/>
          <p:cNvSpPr/>
          <p:nvPr/>
        </p:nvSpPr>
        <p:spPr>
          <a:xfrm>
            <a:off x="2697480" y="2107691"/>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wd210_tdt31"/>
          <p:cNvSpPr txBox="1"/>
          <p:nvPr/>
        </p:nvSpPr>
        <p:spPr>
          <a:xfrm>
            <a:off x="2770632" y="2107691"/>
            <a:ext cx="2130552" cy="260603"/>
          </a:xfrm>
          <a:prstGeom prst="rect">
            <a:avLst/>
          </a:prstGeom>
          <a:noFill/>
        </p:spPr>
        <p:txBody>
          <a:bodyPr wrap="square" lIns="0" tIns="0" rIns="0" bIns="0" anchor="ctr">
            <a:spAutoFit/>
          </a:bodyPr>
          <a:lstStyle/>
          <a:p>
            <a:pPr algn="l"/>
            <a:r>
              <a:rPr sz="950" b="0">
                <a:solidFill>
                  <a:srgbClr val="334155"/>
                </a:solidFill>
                <a:latin typeface="Courier New"/>
              </a:rPr>
              <a:t>:valid?</a:t>
            </a:r>
          </a:p>
        </p:txBody>
      </p:sp>
      <p:sp>
        <p:nvSpPr>
          <p:cNvPr id="33" name="a1wd280_td32"/>
          <p:cNvSpPr/>
          <p:nvPr/>
        </p:nvSpPr>
        <p:spPr>
          <a:xfrm>
            <a:off x="2697480" y="2368296"/>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1wd280_tdt33"/>
          <p:cNvSpPr txBox="1"/>
          <p:nvPr/>
        </p:nvSpPr>
        <p:spPr>
          <a:xfrm>
            <a:off x="2770632" y="2368296"/>
            <a:ext cx="2130552" cy="260603"/>
          </a:xfrm>
          <a:prstGeom prst="rect">
            <a:avLst/>
          </a:prstGeom>
          <a:noFill/>
        </p:spPr>
        <p:txBody>
          <a:bodyPr wrap="square" lIns="0" tIns="0" rIns="0" bIns="0" anchor="ctr">
            <a:spAutoFit/>
          </a:bodyPr>
          <a:lstStyle/>
          <a:p>
            <a:pPr algn="l"/>
            <a:r>
              <a:rPr sz="950" b="0">
                <a:solidFill>
                  <a:srgbClr val="334155"/>
                </a:solidFill>
                <a:latin typeface="Courier New"/>
              </a:rPr>
              <a:t>:Upper</a:t>
            </a:r>
          </a:p>
        </p:txBody>
      </p:sp>
      <p:sp>
        <p:nvSpPr>
          <p:cNvPr id="35" name="a1wd350_td34"/>
          <p:cNvSpPr/>
          <p:nvPr/>
        </p:nvSpPr>
        <p:spPr>
          <a:xfrm>
            <a:off x="2697480" y="2628900"/>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1wd350_tdt35"/>
          <p:cNvSpPr txBox="1"/>
          <p:nvPr/>
        </p:nvSpPr>
        <p:spPr>
          <a:xfrm>
            <a:off x="2770632" y="2628900"/>
            <a:ext cx="2130552" cy="260603"/>
          </a:xfrm>
          <a:prstGeom prst="rect">
            <a:avLst/>
          </a:prstGeom>
          <a:noFill/>
        </p:spPr>
        <p:txBody>
          <a:bodyPr wrap="square" lIns="0" tIns="0" rIns="0" bIns="0" anchor="ctr">
            <a:spAutoFit/>
          </a:bodyPr>
          <a:lstStyle/>
          <a:p>
            <a:pPr algn="l"/>
            <a:r>
              <a:rPr sz="950" b="0">
                <a:solidFill>
                  <a:srgbClr val="334155"/>
                </a:solidFill>
                <a:latin typeface="Courier New"/>
              </a:rPr>
              <a:t>:"hello world"</a:t>
            </a:r>
          </a:p>
        </p:txBody>
      </p:sp>
      <p:sp>
        <p:nvSpPr>
          <p:cNvPr id="37" name="a1wd420_td36"/>
          <p:cNvSpPr/>
          <p:nvPr/>
        </p:nvSpPr>
        <p:spPr>
          <a:xfrm>
            <a:off x="2697480" y="2889504"/>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wd420_tdt37"/>
          <p:cNvSpPr txBox="1"/>
          <p:nvPr/>
        </p:nvSpPr>
        <p:spPr>
          <a:xfrm>
            <a:off x="2770632" y="2889504"/>
            <a:ext cx="2130552" cy="260603"/>
          </a:xfrm>
          <a:prstGeom prst="rect">
            <a:avLst/>
          </a:prstGeom>
          <a:noFill/>
        </p:spPr>
        <p:txBody>
          <a:bodyPr wrap="square" lIns="0" tIns="0" rIns="0" bIns="0" anchor="ctr">
            <a:spAutoFit/>
          </a:bodyPr>
          <a:lstStyle/>
          <a:p>
            <a:pPr algn="l"/>
            <a:r>
              <a:rPr sz="950" b="0">
                <a:solidFill>
                  <a:srgbClr val="334155"/>
                </a:solidFill>
                <a:latin typeface="Courier New"/>
              </a:rPr>
              <a:t>:"with-dash"</a:t>
            </a:r>
          </a:p>
        </p:txBody>
      </p:sp>
      <p:sp>
        <p:nvSpPr>
          <p:cNvPr id="39" name="a1wd490_td38"/>
          <p:cNvSpPr/>
          <p:nvPr/>
        </p:nvSpPr>
        <p:spPr>
          <a:xfrm>
            <a:off x="2697480" y="3150108"/>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1wd490_tdt39"/>
          <p:cNvSpPr txBox="1"/>
          <p:nvPr/>
        </p:nvSpPr>
        <p:spPr>
          <a:xfrm>
            <a:off x="2770632" y="3150108"/>
            <a:ext cx="2130552" cy="260603"/>
          </a:xfrm>
          <a:prstGeom prst="rect">
            <a:avLst/>
          </a:prstGeom>
          <a:noFill/>
        </p:spPr>
        <p:txBody>
          <a:bodyPr wrap="square" lIns="0" tIns="0" rIns="0" bIns="0" anchor="ctr">
            <a:spAutoFit/>
          </a:bodyPr>
          <a:lstStyle/>
          <a:p>
            <a:pPr algn="l"/>
            <a:r>
              <a:rPr sz="950" b="0">
                <a:solidFill>
                  <a:srgbClr val="334155"/>
                </a:solidFill>
                <a:latin typeface="Courier New"/>
              </a:rPr>
              <a:t>:"123"</a:t>
            </a:r>
          </a:p>
        </p:txBody>
      </p:sp>
      <p:sp>
        <p:nvSpPr>
          <p:cNvPr id="41" name="a1wd560_td40"/>
          <p:cNvSpPr/>
          <p:nvPr/>
        </p:nvSpPr>
        <p:spPr>
          <a:xfrm>
            <a:off x="2697480" y="3410711"/>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1wd560_tdt41"/>
          <p:cNvSpPr txBox="1"/>
          <p:nvPr/>
        </p:nvSpPr>
        <p:spPr>
          <a:xfrm>
            <a:off x="2770632" y="3410711"/>
            <a:ext cx="2130552" cy="260603"/>
          </a:xfrm>
          <a:prstGeom prst="rect">
            <a:avLst/>
          </a:prstGeom>
          <a:noFill/>
        </p:spPr>
        <p:txBody>
          <a:bodyPr wrap="square" lIns="0" tIns="0" rIns="0" bIns="0" anchor="ctr">
            <a:spAutoFit/>
          </a:bodyPr>
          <a:lstStyle/>
          <a:p>
            <a:pPr algn="l"/>
            <a:r>
              <a:rPr sz="950" b="0">
                <a:solidFill>
                  <a:srgbClr val="334155"/>
                </a:solidFill>
                <a:latin typeface="Courier New"/>
              </a:rPr>
              <a:t>:user@host</a:t>
            </a:r>
          </a:p>
        </p:txBody>
      </p:sp>
      <p:sp>
        <p:nvSpPr>
          <p:cNvPr id="43" name="a1wd630_td42"/>
          <p:cNvSpPr/>
          <p:nvPr/>
        </p:nvSpPr>
        <p:spPr>
          <a:xfrm>
            <a:off x="2697480" y="3671315"/>
            <a:ext cx="224028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wd630_tdt43"/>
          <p:cNvSpPr txBox="1"/>
          <p:nvPr/>
        </p:nvSpPr>
        <p:spPr>
          <a:xfrm>
            <a:off x="2770632" y="3671315"/>
            <a:ext cx="2130552" cy="260603"/>
          </a:xfrm>
          <a:prstGeom prst="rect">
            <a:avLst/>
          </a:prstGeom>
          <a:noFill/>
        </p:spPr>
        <p:txBody>
          <a:bodyPr wrap="square" lIns="0" tIns="0" rIns="0" bIns="0" anchor="ctr">
            <a:spAutoFit/>
          </a:bodyPr>
          <a:lstStyle/>
          <a:p>
            <a:pPr algn="l"/>
            <a:r>
              <a:rPr sz="950" b="0">
                <a:solidFill>
                  <a:srgbClr val="334155"/>
                </a:solidFill>
                <a:latin typeface="Courier New"/>
              </a:rPr>
              <a:t>:héllo</a:t>
            </a:r>
          </a:p>
        </p:txBody>
      </p:sp>
      <p:sp>
        <p:nvSpPr>
          <p:cNvPr id="45" name="a1f_th44"/>
          <p:cNvSpPr/>
          <p:nvPr/>
        </p:nvSpPr>
        <p:spPr>
          <a:xfrm>
            <a:off x="4937760" y="1325880"/>
            <a:ext cx="73152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1f_tht45"/>
          <p:cNvSpPr txBox="1"/>
          <p:nvPr/>
        </p:nvSpPr>
        <p:spPr>
          <a:xfrm>
            <a:off x="5010912" y="1325880"/>
            <a:ext cx="621792" cy="260603"/>
          </a:xfrm>
          <a:prstGeom prst="rect">
            <a:avLst/>
          </a:prstGeom>
          <a:noFill/>
        </p:spPr>
        <p:txBody>
          <a:bodyPr wrap="square" lIns="0" tIns="0" rIns="0" bIns="0" anchor="ctr">
            <a:spAutoFit/>
          </a:bodyPr>
          <a:lstStyle/>
          <a:p>
            <a:pPr algn="l"/>
            <a:r>
              <a:rPr sz="950" b="1">
                <a:solidFill>
                  <a:srgbClr val="FFFFFF"/>
                </a:solidFill>
                <a:latin typeface="Courier New"/>
              </a:rPr>
              <a:t>Bytes</a:t>
            </a:r>
          </a:p>
        </p:txBody>
      </p:sp>
      <p:sp>
        <p:nvSpPr>
          <p:cNvPr id="47" name="a1wd70_td46"/>
          <p:cNvSpPr/>
          <p:nvPr/>
        </p:nvSpPr>
        <p:spPr>
          <a:xfrm>
            <a:off x="4937760" y="1586484"/>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1wd70_tdt47"/>
          <p:cNvSpPr txBox="1"/>
          <p:nvPr/>
        </p:nvSpPr>
        <p:spPr>
          <a:xfrm>
            <a:off x="5010912" y="1586484"/>
            <a:ext cx="621792" cy="260603"/>
          </a:xfrm>
          <a:prstGeom prst="rect">
            <a:avLst/>
          </a:prstGeom>
          <a:noFill/>
        </p:spPr>
        <p:txBody>
          <a:bodyPr wrap="square" lIns="0" tIns="0" rIns="0" bIns="0" anchor="ctr">
            <a:spAutoFit/>
          </a:bodyPr>
          <a:lstStyle/>
          <a:p>
            <a:pPr algn="l"/>
            <a:r>
              <a:rPr sz="950" b="0">
                <a:solidFill>
                  <a:srgbClr val="334155"/>
                </a:solidFill>
                <a:latin typeface="Courier New"/>
              </a:rPr>
              <a:t>2</a:t>
            </a:r>
          </a:p>
        </p:txBody>
      </p:sp>
      <p:sp>
        <p:nvSpPr>
          <p:cNvPr id="49" name="a1wd140_td48"/>
          <p:cNvSpPr/>
          <p:nvPr/>
        </p:nvSpPr>
        <p:spPr>
          <a:xfrm>
            <a:off x="4937760" y="1847088"/>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1wd140_tdt49"/>
          <p:cNvSpPr txBox="1"/>
          <p:nvPr/>
        </p:nvSpPr>
        <p:spPr>
          <a:xfrm>
            <a:off x="5010912" y="1847088"/>
            <a:ext cx="621792" cy="260603"/>
          </a:xfrm>
          <a:prstGeom prst="rect">
            <a:avLst/>
          </a:prstGeom>
          <a:noFill/>
        </p:spPr>
        <p:txBody>
          <a:bodyPr wrap="square" lIns="0" tIns="0" rIns="0" bIns="0" anchor="ctr">
            <a:spAutoFit/>
          </a:bodyPr>
          <a:lstStyle/>
          <a:p>
            <a:pPr algn="l"/>
            <a:r>
              <a:rPr sz="950" b="0">
                <a:solidFill>
                  <a:srgbClr val="334155"/>
                </a:solidFill>
                <a:latin typeface="Courier New"/>
              </a:rPr>
              <a:t>11</a:t>
            </a:r>
          </a:p>
        </p:txBody>
      </p:sp>
      <p:sp>
        <p:nvSpPr>
          <p:cNvPr id="51" name="a1wd210_td50"/>
          <p:cNvSpPr/>
          <p:nvPr/>
        </p:nvSpPr>
        <p:spPr>
          <a:xfrm>
            <a:off x="4937760" y="2107691"/>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1wd210_tdt51"/>
          <p:cNvSpPr txBox="1"/>
          <p:nvPr/>
        </p:nvSpPr>
        <p:spPr>
          <a:xfrm>
            <a:off x="5010912" y="2107691"/>
            <a:ext cx="621792" cy="260603"/>
          </a:xfrm>
          <a:prstGeom prst="rect">
            <a:avLst/>
          </a:prstGeom>
          <a:noFill/>
        </p:spPr>
        <p:txBody>
          <a:bodyPr wrap="square" lIns="0" tIns="0" rIns="0" bIns="0" anchor="ctr">
            <a:spAutoFit/>
          </a:bodyPr>
          <a:lstStyle/>
          <a:p>
            <a:pPr algn="l"/>
            <a:r>
              <a:rPr sz="950" b="0">
                <a:solidFill>
                  <a:srgbClr val="334155"/>
                </a:solidFill>
                <a:latin typeface="Courier New"/>
              </a:rPr>
              <a:t>6</a:t>
            </a:r>
          </a:p>
        </p:txBody>
      </p:sp>
      <p:sp>
        <p:nvSpPr>
          <p:cNvPr id="53" name="a1wd280_td52"/>
          <p:cNvSpPr/>
          <p:nvPr/>
        </p:nvSpPr>
        <p:spPr>
          <a:xfrm>
            <a:off x="4937760" y="2368296"/>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1wd280_tdt53"/>
          <p:cNvSpPr txBox="1"/>
          <p:nvPr/>
        </p:nvSpPr>
        <p:spPr>
          <a:xfrm>
            <a:off x="5010912" y="2368296"/>
            <a:ext cx="621792" cy="260603"/>
          </a:xfrm>
          <a:prstGeom prst="rect">
            <a:avLst/>
          </a:prstGeom>
          <a:noFill/>
        </p:spPr>
        <p:txBody>
          <a:bodyPr wrap="square" lIns="0" tIns="0" rIns="0" bIns="0" anchor="ctr">
            <a:spAutoFit/>
          </a:bodyPr>
          <a:lstStyle/>
          <a:p>
            <a:pPr algn="l"/>
            <a:r>
              <a:rPr sz="950" b="0">
                <a:solidFill>
                  <a:srgbClr val="334155"/>
                </a:solidFill>
                <a:latin typeface="Courier New"/>
              </a:rPr>
              <a:t>5</a:t>
            </a:r>
          </a:p>
        </p:txBody>
      </p:sp>
      <p:sp>
        <p:nvSpPr>
          <p:cNvPr id="55" name="a1wd350_td54"/>
          <p:cNvSpPr/>
          <p:nvPr/>
        </p:nvSpPr>
        <p:spPr>
          <a:xfrm>
            <a:off x="4937760" y="2628900"/>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a1wd350_tdt55"/>
          <p:cNvSpPr txBox="1"/>
          <p:nvPr/>
        </p:nvSpPr>
        <p:spPr>
          <a:xfrm>
            <a:off x="5010912" y="2628900"/>
            <a:ext cx="621792" cy="260603"/>
          </a:xfrm>
          <a:prstGeom prst="rect">
            <a:avLst/>
          </a:prstGeom>
          <a:noFill/>
        </p:spPr>
        <p:txBody>
          <a:bodyPr wrap="square" lIns="0" tIns="0" rIns="0" bIns="0" anchor="ctr">
            <a:spAutoFit/>
          </a:bodyPr>
          <a:lstStyle/>
          <a:p>
            <a:pPr algn="l"/>
            <a:r>
              <a:rPr sz="950" b="0">
                <a:solidFill>
                  <a:srgbClr val="334155"/>
                </a:solidFill>
                <a:latin typeface="Courier New"/>
              </a:rPr>
              <a:t>11</a:t>
            </a:r>
          </a:p>
        </p:txBody>
      </p:sp>
      <p:sp>
        <p:nvSpPr>
          <p:cNvPr id="57" name="a1wd420_td56"/>
          <p:cNvSpPr/>
          <p:nvPr/>
        </p:nvSpPr>
        <p:spPr>
          <a:xfrm>
            <a:off x="4937760" y="2889504"/>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1wd420_tdt57"/>
          <p:cNvSpPr txBox="1"/>
          <p:nvPr/>
        </p:nvSpPr>
        <p:spPr>
          <a:xfrm>
            <a:off x="5010912" y="2889504"/>
            <a:ext cx="621792" cy="260603"/>
          </a:xfrm>
          <a:prstGeom prst="rect">
            <a:avLst/>
          </a:prstGeom>
          <a:noFill/>
        </p:spPr>
        <p:txBody>
          <a:bodyPr wrap="square" lIns="0" tIns="0" rIns="0" bIns="0" anchor="ctr">
            <a:spAutoFit/>
          </a:bodyPr>
          <a:lstStyle/>
          <a:p>
            <a:pPr algn="l"/>
            <a:r>
              <a:rPr sz="950" b="0">
                <a:solidFill>
                  <a:srgbClr val="334155"/>
                </a:solidFill>
                <a:latin typeface="Courier New"/>
              </a:rPr>
              <a:t>9</a:t>
            </a:r>
          </a:p>
        </p:txBody>
      </p:sp>
      <p:sp>
        <p:nvSpPr>
          <p:cNvPr id="59" name="a1wd490_td58"/>
          <p:cNvSpPr/>
          <p:nvPr/>
        </p:nvSpPr>
        <p:spPr>
          <a:xfrm>
            <a:off x="4937760" y="3150108"/>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a1wd490_tdt59"/>
          <p:cNvSpPr txBox="1"/>
          <p:nvPr/>
        </p:nvSpPr>
        <p:spPr>
          <a:xfrm>
            <a:off x="5010912" y="3150108"/>
            <a:ext cx="621792" cy="260603"/>
          </a:xfrm>
          <a:prstGeom prst="rect">
            <a:avLst/>
          </a:prstGeom>
          <a:noFill/>
        </p:spPr>
        <p:txBody>
          <a:bodyPr wrap="square" lIns="0" tIns="0" rIns="0" bIns="0" anchor="ctr">
            <a:spAutoFit/>
          </a:bodyPr>
          <a:lstStyle/>
          <a:p>
            <a:pPr algn="l"/>
            <a:r>
              <a:rPr sz="950" b="0">
                <a:solidFill>
                  <a:srgbClr val="334155"/>
                </a:solidFill>
                <a:latin typeface="Courier New"/>
              </a:rPr>
              <a:t>3</a:t>
            </a:r>
          </a:p>
        </p:txBody>
      </p:sp>
      <p:sp>
        <p:nvSpPr>
          <p:cNvPr id="61" name="a1wd560_td60"/>
          <p:cNvSpPr/>
          <p:nvPr/>
        </p:nvSpPr>
        <p:spPr>
          <a:xfrm>
            <a:off x="4937760" y="3410711"/>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a1wd560_tdt61"/>
          <p:cNvSpPr txBox="1"/>
          <p:nvPr/>
        </p:nvSpPr>
        <p:spPr>
          <a:xfrm>
            <a:off x="5010912" y="3410711"/>
            <a:ext cx="621792" cy="260603"/>
          </a:xfrm>
          <a:prstGeom prst="rect">
            <a:avLst/>
          </a:prstGeom>
          <a:noFill/>
        </p:spPr>
        <p:txBody>
          <a:bodyPr wrap="square" lIns="0" tIns="0" rIns="0" bIns="0" anchor="ctr">
            <a:spAutoFit/>
          </a:bodyPr>
          <a:lstStyle/>
          <a:p>
            <a:pPr algn="l"/>
            <a:r>
              <a:rPr sz="950" b="0">
                <a:solidFill>
                  <a:srgbClr val="334155"/>
                </a:solidFill>
                <a:latin typeface="Courier New"/>
              </a:rPr>
              <a:t>9</a:t>
            </a:r>
          </a:p>
        </p:txBody>
      </p:sp>
      <p:sp>
        <p:nvSpPr>
          <p:cNvPr id="63" name="a1wd630_td62"/>
          <p:cNvSpPr/>
          <p:nvPr/>
        </p:nvSpPr>
        <p:spPr>
          <a:xfrm>
            <a:off x="4937760" y="3671315"/>
            <a:ext cx="731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a1wd630_tdt63"/>
          <p:cNvSpPr txBox="1"/>
          <p:nvPr/>
        </p:nvSpPr>
        <p:spPr>
          <a:xfrm>
            <a:off x="5010912" y="3671315"/>
            <a:ext cx="621792" cy="260603"/>
          </a:xfrm>
          <a:prstGeom prst="rect">
            <a:avLst/>
          </a:prstGeom>
          <a:noFill/>
        </p:spPr>
        <p:txBody>
          <a:bodyPr wrap="square" lIns="0" tIns="0" rIns="0" bIns="0" anchor="ctr">
            <a:spAutoFit/>
          </a:bodyPr>
          <a:lstStyle/>
          <a:p>
            <a:pPr algn="l"/>
            <a:r>
              <a:rPr sz="950" b="0">
                <a:solidFill>
                  <a:srgbClr val="334155"/>
                </a:solidFill>
                <a:latin typeface="Courier New"/>
              </a:rPr>
              <a:t>6</a:t>
            </a:r>
          </a:p>
        </p:txBody>
      </p:sp>
      <p:sp>
        <p:nvSpPr>
          <p:cNvPr id="65" name="a1f_th64"/>
          <p:cNvSpPr/>
          <p:nvPr/>
        </p:nvSpPr>
        <p:spPr>
          <a:xfrm>
            <a:off x="5669280" y="1325880"/>
            <a:ext cx="301752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a1f_tht65"/>
          <p:cNvSpPr txBox="1"/>
          <p:nvPr/>
        </p:nvSpPr>
        <p:spPr>
          <a:xfrm>
            <a:off x="5742432" y="1325880"/>
            <a:ext cx="2907791" cy="260603"/>
          </a:xfrm>
          <a:prstGeom prst="rect">
            <a:avLst/>
          </a:prstGeom>
          <a:noFill/>
        </p:spPr>
        <p:txBody>
          <a:bodyPr wrap="square" lIns="0" tIns="0" rIns="0" bIns="0" anchor="ctr">
            <a:spAutoFit/>
          </a:bodyPr>
          <a:lstStyle/>
          <a:p>
            <a:pPr algn="l"/>
            <a:r>
              <a:rPr sz="950" b="1">
                <a:solidFill>
                  <a:srgbClr val="FFFFFF"/>
                </a:solidFill>
                <a:latin typeface="Calibri"/>
              </a:rPr>
              <a:t>Why</a:t>
            </a:r>
          </a:p>
        </p:txBody>
      </p:sp>
      <p:sp>
        <p:nvSpPr>
          <p:cNvPr id="67" name="a1wd70_td66"/>
          <p:cNvSpPr/>
          <p:nvPr/>
        </p:nvSpPr>
        <p:spPr>
          <a:xfrm>
            <a:off x="5669280" y="1586484"/>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8" name="a1wd70_tdt67"/>
          <p:cNvSpPr txBox="1"/>
          <p:nvPr/>
        </p:nvSpPr>
        <p:spPr>
          <a:xfrm>
            <a:off x="5742432" y="1586484"/>
            <a:ext cx="2907791" cy="260603"/>
          </a:xfrm>
          <a:prstGeom prst="rect">
            <a:avLst/>
          </a:prstGeom>
          <a:noFill/>
        </p:spPr>
        <p:txBody>
          <a:bodyPr wrap="square" lIns="0" tIns="0" rIns="0" bIns="0" anchor="ctr">
            <a:spAutoFit/>
          </a:bodyPr>
          <a:lstStyle/>
          <a:p>
            <a:pPr algn="l"/>
            <a:r>
              <a:rPr sz="950" b="0">
                <a:solidFill>
                  <a:srgbClr val="334155"/>
                </a:solidFill>
                <a:latin typeface="Calibri"/>
              </a:rPr>
              <a:t>lowercase, letters only</a:t>
            </a:r>
          </a:p>
        </p:txBody>
      </p:sp>
      <p:sp>
        <p:nvSpPr>
          <p:cNvPr id="69" name="a1wd140_td68"/>
          <p:cNvSpPr/>
          <p:nvPr/>
        </p:nvSpPr>
        <p:spPr>
          <a:xfrm>
            <a:off x="5669280" y="1847088"/>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0" name="a1wd140_tdt69"/>
          <p:cNvSpPr txBox="1"/>
          <p:nvPr/>
        </p:nvSpPr>
        <p:spPr>
          <a:xfrm>
            <a:off x="5742432" y="1847088"/>
            <a:ext cx="2907791" cy="260603"/>
          </a:xfrm>
          <a:prstGeom prst="rect">
            <a:avLst/>
          </a:prstGeom>
          <a:noFill/>
        </p:spPr>
        <p:txBody>
          <a:bodyPr wrap="square" lIns="0" tIns="0" rIns="0" bIns="0" anchor="ctr">
            <a:spAutoFit/>
          </a:bodyPr>
          <a:lstStyle/>
          <a:p>
            <a:pPr algn="l"/>
            <a:r>
              <a:rPr sz="950" b="0">
                <a:solidFill>
                  <a:srgbClr val="334155"/>
                </a:solidFill>
                <a:latin typeface="Calibri"/>
              </a:rPr>
              <a:t>underscores are fine</a:t>
            </a:r>
          </a:p>
        </p:txBody>
      </p:sp>
      <p:sp>
        <p:nvSpPr>
          <p:cNvPr id="71" name="a1wd210_td70"/>
          <p:cNvSpPr/>
          <p:nvPr/>
        </p:nvSpPr>
        <p:spPr>
          <a:xfrm>
            <a:off x="5669280" y="2107691"/>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2" name="a1wd210_tdt71"/>
          <p:cNvSpPr txBox="1"/>
          <p:nvPr/>
        </p:nvSpPr>
        <p:spPr>
          <a:xfrm>
            <a:off x="5742432" y="2107691"/>
            <a:ext cx="2907791" cy="260603"/>
          </a:xfrm>
          <a:prstGeom prst="rect">
            <a:avLst/>
          </a:prstGeom>
          <a:noFill/>
        </p:spPr>
        <p:txBody>
          <a:bodyPr wrap="square" lIns="0" tIns="0" rIns="0" bIns="0" anchor="ctr">
            <a:spAutoFit/>
          </a:bodyPr>
          <a:lstStyle/>
          <a:p>
            <a:pPr algn="l"/>
            <a:r>
              <a:rPr sz="950" b="0">
                <a:solidFill>
                  <a:srgbClr val="334155"/>
                </a:solidFill>
                <a:latin typeface="Calibri"/>
              </a:rPr>
              <a:t>? and ! may end a name</a:t>
            </a:r>
          </a:p>
        </p:txBody>
      </p:sp>
      <p:sp>
        <p:nvSpPr>
          <p:cNvPr id="73" name="a1wd280_td72"/>
          <p:cNvSpPr/>
          <p:nvPr/>
        </p:nvSpPr>
        <p:spPr>
          <a:xfrm>
            <a:off x="5669280" y="2368296"/>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4" name="a1wd280_tdt73"/>
          <p:cNvSpPr txBox="1"/>
          <p:nvPr/>
        </p:nvSpPr>
        <p:spPr>
          <a:xfrm>
            <a:off x="5742432" y="2368296"/>
            <a:ext cx="2907791" cy="260603"/>
          </a:xfrm>
          <a:prstGeom prst="rect">
            <a:avLst/>
          </a:prstGeom>
          <a:noFill/>
        </p:spPr>
        <p:txBody>
          <a:bodyPr wrap="square" lIns="0" tIns="0" rIns="0" bIns="0" anchor="ctr">
            <a:spAutoFit/>
          </a:bodyPr>
          <a:lstStyle/>
          <a:p>
            <a:pPr algn="l"/>
            <a:r>
              <a:rPr sz="950" b="0">
                <a:solidFill>
                  <a:srgbClr val="334155"/>
                </a:solidFill>
                <a:latin typeface="Calibri"/>
              </a:rPr>
              <a:t>a capital is allowed</a:t>
            </a:r>
          </a:p>
        </p:txBody>
      </p:sp>
      <p:sp>
        <p:nvSpPr>
          <p:cNvPr id="75" name="a1wd350_td74"/>
          <p:cNvSpPr/>
          <p:nvPr/>
        </p:nvSpPr>
        <p:spPr>
          <a:xfrm>
            <a:off x="5669280" y="2628900"/>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6" name="a1wd350_tdt75"/>
          <p:cNvSpPr txBox="1"/>
          <p:nvPr/>
        </p:nvSpPr>
        <p:spPr>
          <a:xfrm>
            <a:off x="5742432" y="2628900"/>
            <a:ext cx="2907791" cy="260603"/>
          </a:xfrm>
          <a:prstGeom prst="rect">
            <a:avLst/>
          </a:prstGeom>
          <a:noFill/>
        </p:spPr>
        <p:txBody>
          <a:bodyPr wrap="square" lIns="0" tIns="0" rIns="0" bIns="0" anchor="ctr">
            <a:spAutoFit/>
          </a:bodyPr>
          <a:lstStyle/>
          <a:p>
            <a:pPr algn="l"/>
            <a:r>
              <a:rPr sz="950" b="0">
                <a:solidFill>
                  <a:srgbClr val="334155"/>
                </a:solidFill>
                <a:latin typeface="Calibri"/>
              </a:rPr>
              <a:t>a space forces quotes</a:t>
            </a:r>
          </a:p>
        </p:txBody>
      </p:sp>
      <p:sp>
        <p:nvSpPr>
          <p:cNvPr id="77" name="a1wd420_td76"/>
          <p:cNvSpPr/>
          <p:nvPr/>
        </p:nvSpPr>
        <p:spPr>
          <a:xfrm>
            <a:off x="5669280" y="2889504"/>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8" name="a1wd420_tdt77"/>
          <p:cNvSpPr txBox="1"/>
          <p:nvPr/>
        </p:nvSpPr>
        <p:spPr>
          <a:xfrm>
            <a:off x="5742432" y="2889504"/>
            <a:ext cx="2907791" cy="260603"/>
          </a:xfrm>
          <a:prstGeom prst="rect">
            <a:avLst/>
          </a:prstGeom>
          <a:noFill/>
        </p:spPr>
        <p:txBody>
          <a:bodyPr wrap="square" lIns="0" tIns="0" rIns="0" bIns="0" anchor="ctr">
            <a:spAutoFit/>
          </a:bodyPr>
          <a:lstStyle/>
          <a:p>
            <a:pPr algn="l"/>
            <a:r>
              <a:rPr sz="950" b="0">
                <a:solidFill>
                  <a:srgbClr val="334155"/>
                </a:solidFill>
                <a:latin typeface="Calibri"/>
              </a:rPr>
              <a:t>a dash forces quotes</a:t>
            </a:r>
          </a:p>
        </p:txBody>
      </p:sp>
      <p:sp>
        <p:nvSpPr>
          <p:cNvPr id="79" name="a1wd490_td78"/>
          <p:cNvSpPr/>
          <p:nvPr/>
        </p:nvSpPr>
        <p:spPr>
          <a:xfrm>
            <a:off x="5669280" y="3150108"/>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0" name="a1wd490_tdt79"/>
          <p:cNvSpPr txBox="1"/>
          <p:nvPr/>
        </p:nvSpPr>
        <p:spPr>
          <a:xfrm>
            <a:off x="5742432" y="3150108"/>
            <a:ext cx="2907791" cy="260603"/>
          </a:xfrm>
          <a:prstGeom prst="rect">
            <a:avLst/>
          </a:prstGeom>
          <a:noFill/>
        </p:spPr>
        <p:txBody>
          <a:bodyPr wrap="square" lIns="0" tIns="0" rIns="0" bIns="0" anchor="ctr">
            <a:spAutoFit/>
          </a:bodyPr>
          <a:lstStyle/>
          <a:p>
            <a:pPr algn="l"/>
            <a:r>
              <a:rPr sz="950" b="0">
                <a:solidFill>
                  <a:srgbClr val="334155"/>
                </a:solidFill>
                <a:latin typeface="Calibri"/>
              </a:rPr>
              <a:t>cannot start with a digit</a:t>
            </a:r>
          </a:p>
        </p:txBody>
      </p:sp>
      <p:sp>
        <p:nvSpPr>
          <p:cNvPr id="81" name="a1wd560_td80"/>
          <p:cNvSpPr/>
          <p:nvPr/>
        </p:nvSpPr>
        <p:spPr>
          <a:xfrm>
            <a:off x="5669280" y="3410711"/>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2" name="a1wd560_tdt81"/>
          <p:cNvSpPr txBox="1"/>
          <p:nvPr/>
        </p:nvSpPr>
        <p:spPr>
          <a:xfrm>
            <a:off x="5742432" y="3410711"/>
            <a:ext cx="2907791" cy="260603"/>
          </a:xfrm>
          <a:prstGeom prst="rect">
            <a:avLst/>
          </a:prstGeom>
          <a:noFill/>
        </p:spPr>
        <p:txBody>
          <a:bodyPr wrap="square" lIns="0" tIns="0" rIns="0" bIns="0" anchor="ctr">
            <a:spAutoFit/>
          </a:bodyPr>
          <a:lstStyle/>
          <a:p>
            <a:pPr algn="l"/>
            <a:r>
              <a:rPr sz="950" b="0">
                <a:solidFill>
                  <a:srgbClr val="334155"/>
                </a:solidFill>
                <a:latin typeface="Calibri"/>
              </a:rPr>
              <a:t>@ is legal — quotes dropped</a:t>
            </a:r>
          </a:p>
        </p:txBody>
      </p:sp>
      <p:sp>
        <p:nvSpPr>
          <p:cNvPr id="83" name="a1wd630_td82"/>
          <p:cNvSpPr/>
          <p:nvPr/>
        </p:nvSpPr>
        <p:spPr>
          <a:xfrm>
            <a:off x="5669280" y="3671315"/>
            <a:ext cx="30175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4" name="a1wd630_tdt83"/>
          <p:cNvSpPr txBox="1"/>
          <p:nvPr/>
        </p:nvSpPr>
        <p:spPr>
          <a:xfrm>
            <a:off x="5742432" y="3671315"/>
            <a:ext cx="2907791" cy="260603"/>
          </a:xfrm>
          <a:prstGeom prst="rect">
            <a:avLst/>
          </a:prstGeom>
          <a:noFill/>
        </p:spPr>
        <p:txBody>
          <a:bodyPr wrap="square" lIns="0" tIns="0" rIns="0" bIns="0" anchor="ctr">
            <a:spAutoFit/>
          </a:bodyPr>
          <a:lstStyle/>
          <a:p>
            <a:pPr algn="l"/>
            <a:r>
              <a:rPr sz="950" b="0">
                <a:solidFill>
                  <a:srgbClr val="334155"/>
                </a:solidFill>
                <a:latin typeface="Calibri"/>
              </a:rPr>
              <a:t>UTF-8; 5 chars, 6 bytes</a:t>
            </a:r>
          </a:p>
        </p:txBody>
      </p:sp>
      <p:sp>
        <p:nvSpPr>
          <p:cNvPr id="85" name="a2f_nb84"/>
          <p:cNvSpPr/>
          <p:nvPr/>
        </p:nvSpPr>
        <p:spPr>
          <a:xfrm>
            <a:off x="457200" y="4023359"/>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6" name="a2f_nacc85"/>
          <p:cNvSpPr/>
          <p:nvPr/>
        </p:nvSpPr>
        <p:spPr>
          <a:xfrm>
            <a:off x="457200" y="4023359"/>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7" name="a2f_nt86"/>
          <p:cNvSpPr txBox="1"/>
          <p:nvPr/>
        </p:nvSpPr>
        <p:spPr>
          <a:xfrm>
            <a:off x="658368" y="4023359"/>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Quote it and any byte sequence is legal, including the empty atom :"". Elixir prints it back without quotes whenever it can read it back without them.</a:t>
            </a:r>
          </a:p>
        </p:txBody>
      </p:sp>
      <p:sp>
        <p:nvSpPr>
          <p:cNvPr id="88" name="ft8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89" name="ft8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fade">
                                      <p:cBhvr>
                                        <p:cTn id="25" dur="500"/>
                                        <p:tgtEl>
                                          <p:spTgt spid="6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fade">
                                      <p:cBhvr>
                                        <p:cTn id="28" dur="500"/>
                                        <p:tgtEl>
                                          <p:spTgt spid="66"/>
                                        </p:tgtEl>
                                      </p:cBhvr>
                                    </p:animEffect>
                                  </p:childTnLst>
                                </p:cTn>
                              </p:par>
                              <p:par>
                                <p:cTn id="29" presetID="22" presetClass="entr" presetSubtype="8" fill="hold" grpId="0" nodeType="withEffect">
                                  <p:stCondLst>
                                    <p:cond delay="7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par>
                                <p:cTn id="32" presetID="22" presetClass="entr" presetSubtype="8" fill="hold" grpId="0" nodeType="withEffect">
                                  <p:stCondLst>
                                    <p:cond delay="7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par>
                                <p:cTn id="35" presetID="22" presetClass="entr" presetSubtype="8" fill="hold" grpId="0" nodeType="withEffect">
                                  <p:stCondLst>
                                    <p:cond delay="7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par>
                                <p:cTn id="38" presetID="22" presetClass="entr" presetSubtype="8" fill="hold" grpId="0" nodeType="withEffect">
                                  <p:stCondLst>
                                    <p:cond delay="70"/>
                                  </p:stCondLst>
                                  <p:childTnLst>
                                    <p:set>
                                      <p:cBhvr>
                                        <p:cTn id="39" dur="1" fill="hold">
                                          <p:stCondLst>
                                            <p:cond delay="0"/>
                                          </p:stCondLst>
                                        </p:cTn>
                                        <p:tgtEl>
                                          <p:spTgt spid="28"/>
                                        </p:tgtEl>
                                        <p:attrNameLst>
                                          <p:attrName>style.visibility</p:attrName>
                                        </p:attrNameLst>
                                      </p:cBhvr>
                                      <p:to>
                                        <p:strVal val="visible"/>
                                      </p:to>
                                    </p:set>
                                    <p:animEffect transition="in" filter="wipe(left)">
                                      <p:cBhvr>
                                        <p:cTn id="40" dur="500"/>
                                        <p:tgtEl>
                                          <p:spTgt spid="28"/>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47"/>
                                        </p:tgtEl>
                                        <p:attrNameLst>
                                          <p:attrName>style.visibility</p:attrName>
                                        </p:attrNameLst>
                                      </p:cBhvr>
                                      <p:to>
                                        <p:strVal val="visible"/>
                                      </p:to>
                                    </p:set>
                                    <p:animEffect transition="in" filter="wipe(left)">
                                      <p:cBhvr>
                                        <p:cTn id="43" dur="500"/>
                                        <p:tgtEl>
                                          <p:spTgt spid="47"/>
                                        </p:tgtEl>
                                      </p:cBhvr>
                                    </p:animEffect>
                                  </p:childTnLst>
                                </p:cTn>
                              </p:par>
                              <p:par>
                                <p:cTn id="44" presetID="22" presetClass="entr" presetSubtype="8" fill="hold" grpId="0" nodeType="withEffect">
                                  <p:stCondLst>
                                    <p:cond delay="70"/>
                                  </p:stCondLst>
                                  <p:childTnLst>
                                    <p:set>
                                      <p:cBhvr>
                                        <p:cTn id="45" dur="1" fill="hold">
                                          <p:stCondLst>
                                            <p:cond delay="0"/>
                                          </p:stCondLst>
                                        </p:cTn>
                                        <p:tgtEl>
                                          <p:spTgt spid="48"/>
                                        </p:tgtEl>
                                        <p:attrNameLst>
                                          <p:attrName>style.visibility</p:attrName>
                                        </p:attrNameLst>
                                      </p:cBhvr>
                                      <p:to>
                                        <p:strVal val="visible"/>
                                      </p:to>
                                    </p:set>
                                    <p:animEffect transition="in" filter="wipe(left)">
                                      <p:cBhvr>
                                        <p:cTn id="46" dur="500"/>
                                        <p:tgtEl>
                                          <p:spTgt spid="48"/>
                                        </p:tgtEl>
                                      </p:cBhvr>
                                    </p:animEffect>
                                  </p:childTnLst>
                                </p:cTn>
                              </p:par>
                              <p:par>
                                <p:cTn id="47" presetID="22" presetClass="entr" presetSubtype="8" fill="hold" grpId="0" nodeType="withEffect">
                                  <p:stCondLst>
                                    <p:cond delay="70"/>
                                  </p:stCondLst>
                                  <p:childTnLst>
                                    <p:set>
                                      <p:cBhvr>
                                        <p:cTn id="48" dur="1" fill="hold">
                                          <p:stCondLst>
                                            <p:cond delay="0"/>
                                          </p:stCondLst>
                                        </p:cTn>
                                        <p:tgtEl>
                                          <p:spTgt spid="67"/>
                                        </p:tgtEl>
                                        <p:attrNameLst>
                                          <p:attrName>style.visibility</p:attrName>
                                        </p:attrNameLst>
                                      </p:cBhvr>
                                      <p:to>
                                        <p:strVal val="visible"/>
                                      </p:to>
                                    </p:set>
                                    <p:animEffect transition="in" filter="wipe(left)">
                                      <p:cBhvr>
                                        <p:cTn id="49" dur="500"/>
                                        <p:tgtEl>
                                          <p:spTgt spid="67"/>
                                        </p:tgtEl>
                                      </p:cBhvr>
                                    </p:animEffect>
                                  </p:childTnLst>
                                </p:cTn>
                              </p:par>
                              <p:par>
                                <p:cTn id="50" presetID="22" presetClass="entr" presetSubtype="8" fill="hold" grpId="0" nodeType="withEffect">
                                  <p:stCondLst>
                                    <p:cond delay="70"/>
                                  </p:stCondLst>
                                  <p:childTnLst>
                                    <p:set>
                                      <p:cBhvr>
                                        <p:cTn id="51" dur="1" fill="hold">
                                          <p:stCondLst>
                                            <p:cond delay="0"/>
                                          </p:stCondLst>
                                        </p:cTn>
                                        <p:tgtEl>
                                          <p:spTgt spid="68"/>
                                        </p:tgtEl>
                                        <p:attrNameLst>
                                          <p:attrName>style.visibility</p:attrName>
                                        </p:attrNameLst>
                                      </p:cBhvr>
                                      <p:to>
                                        <p:strVal val="visible"/>
                                      </p:to>
                                    </p:set>
                                    <p:animEffect transition="in" filter="wipe(left)">
                                      <p:cBhvr>
                                        <p:cTn id="52" dur="500"/>
                                        <p:tgtEl>
                                          <p:spTgt spid="68"/>
                                        </p:tgtEl>
                                      </p:cBhvr>
                                    </p:animEffect>
                                  </p:childTnLst>
                                </p:cTn>
                              </p:par>
                              <p:par>
                                <p:cTn id="53" presetID="22" presetClass="entr" presetSubtype="8" fill="hold" grpId="0" nodeType="withEffect">
                                  <p:stCondLst>
                                    <p:cond delay="14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par>
                                <p:cTn id="56" presetID="22" presetClass="entr" presetSubtype="8" fill="hold" grpId="0" nodeType="withEffect">
                                  <p:stCondLst>
                                    <p:cond delay="14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par>
                                <p:cTn id="59" presetID="22" presetClass="entr" presetSubtype="8" fill="hold" grpId="0" nodeType="withEffect">
                                  <p:stCondLst>
                                    <p:cond delay="140"/>
                                  </p:stCondLst>
                                  <p:childTnLst>
                                    <p:set>
                                      <p:cBhvr>
                                        <p:cTn id="60" dur="1" fill="hold">
                                          <p:stCondLst>
                                            <p:cond delay="0"/>
                                          </p:stCondLst>
                                        </p:cTn>
                                        <p:tgtEl>
                                          <p:spTgt spid="29"/>
                                        </p:tgtEl>
                                        <p:attrNameLst>
                                          <p:attrName>style.visibility</p:attrName>
                                        </p:attrNameLst>
                                      </p:cBhvr>
                                      <p:to>
                                        <p:strVal val="visible"/>
                                      </p:to>
                                    </p:set>
                                    <p:animEffect transition="in" filter="wipe(left)">
                                      <p:cBhvr>
                                        <p:cTn id="61" dur="500"/>
                                        <p:tgtEl>
                                          <p:spTgt spid="29"/>
                                        </p:tgtEl>
                                      </p:cBhvr>
                                    </p:animEffect>
                                  </p:childTnLst>
                                </p:cTn>
                              </p:par>
                              <p:par>
                                <p:cTn id="62" presetID="22" presetClass="entr" presetSubtype="8" fill="hold" grpId="0" nodeType="withEffect">
                                  <p:stCondLst>
                                    <p:cond delay="140"/>
                                  </p:stCondLst>
                                  <p:childTnLst>
                                    <p:set>
                                      <p:cBhvr>
                                        <p:cTn id="63" dur="1" fill="hold">
                                          <p:stCondLst>
                                            <p:cond delay="0"/>
                                          </p:stCondLst>
                                        </p:cTn>
                                        <p:tgtEl>
                                          <p:spTgt spid="30"/>
                                        </p:tgtEl>
                                        <p:attrNameLst>
                                          <p:attrName>style.visibility</p:attrName>
                                        </p:attrNameLst>
                                      </p:cBhvr>
                                      <p:to>
                                        <p:strVal val="visible"/>
                                      </p:to>
                                    </p:set>
                                    <p:animEffect transition="in" filter="wipe(left)">
                                      <p:cBhvr>
                                        <p:cTn id="64" dur="500"/>
                                        <p:tgtEl>
                                          <p:spTgt spid="30"/>
                                        </p:tgtEl>
                                      </p:cBhvr>
                                    </p:animEffect>
                                  </p:childTnLst>
                                </p:cTn>
                              </p:par>
                              <p:par>
                                <p:cTn id="65" presetID="22" presetClass="entr" presetSubtype="8" fill="hold" grpId="0" nodeType="withEffect">
                                  <p:stCondLst>
                                    <p:cond delay="140"/>
                                  </p:stCondLst>
                                  <p:childTnLst>
                                    <p:set>
                                      <p:cBhvr>
                                        <p:cTn id="66" dur="1" fill="hold">
                                          <p:stCondLst>
                                            <p:cond delay="0"/>
                                          </p:stCondLst>
                                        </p:cTn>
                                        <p:tgtEl>
                                          <p:spTgt spid="49"/>
                                        </p:tgtEl>
                                        <p:attrNameLst>
                                          <p:attrName>style.visibility</p:attrName>
                                        </p:attrNameLst>
                                      </p:cBhvr>
                                      <p:to>
                                        <p:strVal val="visible"/>
                                      </p:to>
                                    </p:set>
                                    <p:animEffect transition="in" filter="wipe(left)">
                                      <p:cBhvr>
                                        <p:cTn id="67" dur="500"/>
                                        <p:tgtEl>
                                          <p:spTgt spid="49"/>
                                        </p:tgtEl>
                                      </p:cBhvr>
                                    </p:animEffect>
                                  </p:childTnLst>
                                </p:cTn>
                              </p:par>
                              <p:par>
                                <p:cTn id="68" presetID="22" presetClass="entr" presetSubtype="8" fill="hold" grpId="0" nodeType="withEffect">
                                  <p:stCondLst>
                                    <p:cond delay="140"/>
                                  </p:stCondLst>
                                  <p:childTnLst>
                                    <p:set>
                                      <p:cBhvr>
                                        <p:cTn id="69" dur="1" fill="hold">
                                          <p:stCondLst>
                                            <p:cond delay="0"/>
                                          </p:stCondLst>
                                        </p:cTn>
                                        <p:tgtEl>
                                          <p:spTgt spid="50"/>
                                        </p:tgtEl>
                                        <p:attrNameLst>
                                          <p:attrName>style.visibility</p:attrName>
                                        </p:attrNameLst>
                                      </p:cBhvr>
                                      <p:to>
                                        <p:strVal val="visible"/>
                                      </p:to>
                                    </p:set>
                                    <p:animEffect transition="in" filter="wipe(left)">
                                      <p:cBhvr>
                                        <p:cTn id="70" dur="500"/>
                                        <p:tgtEl>
                                          <p:spTgt spid="50"/>
                                        </p:tgtEl>
                                      </p:cBhvr>
                                    </p:animEffect>
                                  </p:childTnLst>
                                </p:cTn>
                              </p:par>
                              <p:par>
                                <p:cTn id="71" presetID="22" presetClass="entr" presetSubtype="8" fill="hold" grpId="0" nodeType="withEffect">
                                  <p:stCondLst>
                                    <p:cond delay="140"/>
                                  </p:stCondLst>
                                  <p:childTnLst>
                                    <p:set>
                                      <p:cBhvr>
                                        <p:cTn id="72" dur="1" fill="hold">
                                          <p:stCondLst>
                                            <p:cond delay="0"/>
                                          </p:stCondLst>
                                        </p:cTn>
                                        <p:tgtEl>
                                          <p:spTgt spid="69"/>
                                        </p:tgtEl>
                                        <p:attrNameLst>
                                          <p:attrName>style.visibility</p:attrName>
                                        </p:attrNameLst>
                                      </p:cBhvr>
                                      <p:to>
                                        <p:strVal val="visible"/>
                                      </p:to>
                                    </p:set>
                                    <p:animEffect transition="in" filter="wipe(left)">
                                      <p:cBhvr>
                                        <p:cTn id="73" dur="500"/>
                                        <p:tgtEl>
                                          <p:spTgt spid="69"/>
                                        </p:tgtEl>
                                      </p:cBhvr>
                                    </p:animEffect>
                                  </p:childTnLst>
                                </p:cTn>
                              </p:par>
                              <p:par>
                                <p:cTn id="74" presetID="22" presetClass="entr" presetSubtype="8" fill="hold" grpId="0" nodeType="withEffect">
                                  <p:stCondLst>
                                    <p:cond delay="140"/>
                                  </p:stCondLst>
                                  <p:childTnLst>
                                    <p:set>
                                      <p:cBhvr>
                                        <p:cTn id="75" dur="1" fill="hold">
                                          <p:stCondLst>
                                            <p:cond delay="0"/>
                                          </p:stCondLst>
                                        </p:cTn>
                                        <p:tgtEl>
                                          <p:spTgt spid="70"/>
                                        </p:tgtEl>
                                        <p:attrNameLst>
                                          <p:attrName>style.visibility</p:attrName>
                                        </p:attrNameLst>
                                      </p:cBhvr>
                                      <p:to>
                                        <p:strVal val="visible"/>
                                      </p:to>
                                    </p:set>
                                    <p:animEffect transition="in" filter="wipe(left)">
                                      <p:cBhvr>
                                        <p:cTn id="76" dur="500"/>
                                        <p:tgtEl>
                                          <p:spTgt spid="70"/>
                                        </p:tgtEl>
                                      </p:cBhvr>
                                    </p:animEffect>
                                  </p:childTnLst>
                                </p:cTn>
                              </p:par>
                              <p:par>
                                <p:cTn id="77" presetID="22" presetClass="entr" presetSubtype="8" fill="hold" grpId="0" nodeType="withEffect">
                                  <p:stCondLst>
                                    <p:cond delay="21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500"/>
                                        <p:tgtEl>
                                          <p:spTgt spid="11"/>
                                        </p:tgtEl>
                                      </p:cBhvr>
                                    </p:animEffect>
                                  </p:childTnLst>
                                </p:cTn>
                              </p:par>
                              <p:par>
                                <p:cTn id="80" presetID="22" presetClass="entr" presetSubtype="8" fill="hold" grpId="0" nodeType="withEffect">
                                  <p:stCondLst>
                                    <p:cond delay="21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500"/>
                                        <p:tgtEl>
                                          <p:spTgt spid="12"/>
                                        </p:tgtEl>
                                      </p:cBhvr>
                                    </p:animEffect>
                                  </p:childTnLst>
                                </p:cTn>
                              </p:par>
                              <p:par>
                                <p:cTn id="83" presetID="22" presetClass="entr" presetSubtype="8" fill="hold" grpId="0" nodeType="withEffect">
                                  <p:stCondLst>
                                    <p:cond delay="210"/>
                                  </p:stCondLst>
                                  <p:childTnLst>
                                    <p:set>
                                      <p:cBhvr>
                                        <p:cTn id="84" dur="1" fill="hold">
                                          <p:stCondLst>
                                            <p:cond delay="0"/>
                                          </p:stCondLst>
                                        </p:cTn>
                                        <p:tgtEl>
                                          <p:spTgt spid="31"/>
                                        </p:tgtEl>
                                        <p:attrNameLst>
                                          <p:attrName>style.visibility</p:attrName>
                                        </p:attrNameLst>
                                      </p:cBhvr>
                                      <p:to>
                                        <p:strVal val="visible"/>
                                      </p:to>
                                    </p:set>
                                    <p:animEffect transition="in" filter="wipe(left)">
                                      <p:cBhvr>
                                        <p:cTn id="85" dur="500"/>
                                        <p:tgtEl>
                                          <p:spTgt spid="31"/>
                                        </p:tgtEl>
                                      </p:cBhvr>
                                    </p:animEffect>
                                  </p:childTnLst>
                                </p:cTn>
                              </p:par>
                              <p:par>
                                <p:cTn id="86" presetID="22" presetClass="entr" presetSubtype="8" fill="hold" grpId="0" nodeType="withEffect">
                                  <p:stCondLst>
                                    <p:cond delay="210"/>
                                  </p:stCondLst>
                                  <p:childTnLst>
                                    <p:set>
                                      <p:cBhvr>
                                        <p:cTn id="87" dur="1" fill="hold">
                                          <p:stCondLst>
                                            <p:cond delay="0"/>
                                          </p:stCondLst>
                                        </p:cTn>
                                        <p:tgtEl>
                                          <p:spTgt spid="32"/>
                                        </p:tgtEl>
                                        <p:attrNameLst>
                                          <p:attrName>style.visibility</p:attrName>
                                        </p:attrNameLst>
                                      </p:cBhvr>
                                      <p:to>
                                        <p:strVal val="visible"/>
                                      </p:to>
                                    </p:set>
                                    <p:animEffect transition="in" filter="wipe(left)">
                                      <p:cBhvr>
                                        <p:cTn id="88" dur="500"/>
                                        <p:tgtEl>
                                          <p:spTgt spid="32"/>
                                        </p:tgtEl>
                                      </p:cBhvr>
                                    </p:animEffect>
                                  </p:childTnLst>
                                </p:cTn>
                              </p:par>
                              <p:par>
                                <p:cTn id="89" presetID="22" presetClass="entr" presetSubtype="8" fill="hold" grpId="0" nodeType="withEffect">
                                  <p:stCondLst>
                                    <p:cond delay="21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par>
                                <p:cTn id="92" presetID="22" presetClass="entr" presetSubtype="8" fill="hold" grpId="0" nodeType="withEffect">
                                  <p:stCondLst>
                                    <p:cond delay="210"/>
                                  </p:stCondLst>
                                  <p:childTnLst>
                                    <p:set>
                                      <p:cBhvr>
                                        <p:cTn id="93" dur="1" fill="hold">
                                          <p:stCondLst>
                                            <p:cond delay="0"/>
                                          </p:stCondLst>
                                        </p:cTn>
                                        <p:tgtEl>
                                          <p:spTgt spid="52"/>
                                        </p:tgtEl>
                                        <p:attrNameLst>
                                          <p:attrName>style.visibility</p:attrName>
                                        </p:attrNameLst>
                                      </p:cBhvr>
                                      <p:to>
                                        <p:strVal val="visible"/>
                                      </p:to>
                                    </p:set>
                                    <p:animEffect transition="in" filter="wipe(left)">
                                      <p:cBhvr>
                                        <p:cTn id="94" dur="500"/>
                                        <p:tgtEl>
                                          <p:spTgt spid="52"/>
                                        </p:tgtEl>
                                      </p:cBhvr>
                                    </p:animEffect>
                                  </p:childTnLst>
                                </p:cTn>
                              </p:par>
                              <p:par>
                                <p:cTn id="95" presetID="22" presetClass="entr" presetSubtype="8" fill="hold" grpId="0" nodeType="withEffect">
                                  <p:stCondLst>
                                    <p:cond delay="210"/>
                                  </p:stCondLst>
                                  <p:childTnLst>
                                    <p:set>
                                      <p:cBhvr>
                                        <p:cTn id="96" dur="1" fill="hold">
                                          <p:stCondLst>
                                            <p:cond delay="0"/>
                                          </p:stCondLst>
                                        </p:cTn>
                                        <p:tgtEl>
                                          <p:spTgt spid="71"/>
                                        </p:tgtEl>
                                        <p:attrNameLst>
                                          <p:attrName>style.visibility</p:attrName>
                                        </p:attrNameLst>
                                      </p:cBhvr>
                                      <p:to>
                                        <p:strVal val="visible"/>
                                      </p:to>
                                    </p:set>
                                    <p:animEffect transition="in" filter="wipe(left)">
                                      <p:cBhvr>
                                        <p:cTn id="97" dur="500"/>
                                        <p:tgtEl>
                                          <p:spTgt spid="71"/>
                                        </p:tgtEl>
                                      </p:cBhvr>
                                    </p:animEffect>
                                  </p:childTnLst>
                                </p:cTn>
                              </p:par>
                              <p:par>
                                <p:cTn id="98" presetID="22" presetClass="entr" presetSubtype="8" fill="hold" grpId="0" nodeType="withEffect">
                                  <p:stCondLst>
                                    <p:cond delay="210"/>
                                  </p:stCondLst>
                                  <p:childTnLst>
                                    <p:set>
                                      <p:cBhvr>
                                        <p:cTn id="99" dur="1" fill="hold">
                                          <p:stCondLst>
                                            <p:cond delay="0"/>
                                          </p:stCondLst>
                                        </p:cTn>
                                        <p:tgtEl>
                                          <p:spTgt spid="72"/>
                                        </p:tgtEl>
                                        <p:attrNameLst>
                                          <p:attrName>style.visibility</p:attrName>
                                        </p:attrNameLst>
                                      </p:cBhvr>
                                      <p:to>
                                        <p:strVal val="visible"/>
                                      </p:to>
                                    </p:set>
                                    <p:animEffect transition="in" filter="wipe(left)">
                                      <p:cBhvr>
                                        <p:cTn id="100" dur="500"/>
                                        <p:tgtEl>
                                          <p:spTgt spid="72"/>
                                        </p:tgtEl>
                                      </p:cBhvr>
                                    </p:animEffect>
                                  </p:childTnLst>
                                </p:cTn>
                              </p:par>
                              <p:par>
                                <p:cTn id="101" presetID="22" presetClass="entr" presetSubtype="8" fill="hold" grpId="0" nodeType="withEffect">
                                  <p:stCondLst>
                                    <p:cond delay="280"/>
                                  </p:stCondLst>
                                  <p:childTnLst>
                                    <p:set>
                                      <p:cBhvr>
                                        <p:cTn id="102" dur="1" fill="hold">
                                          <p:stCondLst>
                                            <p:cond delay="0"/>
                                          </p:stCondLst>
                                        </p:cTn>
                                        <p:tgtEl>
                                          <p:spTgt spid="13"/>
                                        </p:tgtEl>
                                        <p:attrNameLst>
                                          <p:attrName>style.visibility</p:attrName>
                                        </p:attrNameLst>
                                      </p:cBhvr>
                                      <p:to>
                                        <p:strVal val="visible"/>
                                      </p:to>
                                    </p:set>
                                    <p:animEffect transition="in" filter="wipe(left)">
                                      <p:cBhvr>
                                        <p:cTn id="103" dur="500"/>
                                        <p:tgtEl>
                                          <p:spTgt spid="13"/>
                                        </p:tgtEl>
                                      </p:cBhvr>
                                    </p:animEffect>
                                  </p:childTnLst>
                                </p:cTn>
                              </p:par>
                              <p:par>
                                <p:cTn id="104" presetID="22" presetClass="entr" presetSubtype="8" fill="hold" grpId="0" nodeType="withEffect">
                                  <p:stCondLst>
                                    <p:cond delay="280"/>
                                  </p:stCondLst>
                                  <p:childTnLst>
                                    <p:set>
                                      <p:cBhvr>
                                        <p:cTn id="105" dur="1" fill="hold">
                                          <p:stCondLst>
                                            <p:cond delay="0"/>
                                          </p:stCondLst>
                                        </p:cTn>
                                        <p:tgtEl>
                                          <p:spTgt spid="14"/>
                                        </p:tgtEl>
                                        <p:attrNameLst>
                                          <p:attrName>style.visibility</p:attrName>
                                        </p:attrNameLst>
                                      </p:cBhvr>
                                      <p:to>
                                        <p:strVal val="visible"/>
                                      </p:to>
                                    </p:set>
                                    <p:animEffect transition="in" filter="wipe(left)">
                                      <p:cBhvr>
                                        <p:cTn id="106" dur="500"/>
                                        <p:tgtEl>
                                          <p:spTgt spid="14"/>
                                        </p:tgtEl>
                                      </p:cBhvr>
                                    </p:animEffect>
                                  </p:childTnLst>
                                </p:cTn>
                              </p:par>
                              <p:par>
                                <p:cTn id="107" presetID="22" presetClass="entr" presetSubtype="8" fill="hold" grpId="0" nodeType="withEffect">
                                  <p:stCondLst>
                                    <p:cond delay="280"/>
                                  </p:stCondLst>
                                  <p:childTnLst>
                                    <p:set>
                                      <p:cBhvr>
                                        <p:cTn id="108" dur="1" fill="hold">
                                          <p:stCondLst>
                                            <p:cond delay="0"/>
                                          </p:stCondLst>
                                        </p:cTn>
                                        <p:tgtEl>
                                          <p:spTgt spid="33"/>
                                        </p:tgtEl>
                                        <p:attrNameLst>
                                          <p:attrName>style.visibility</p:attrName>
                                        </p:attrNameLst>
                                      </p:cBhvr>
                                      <p:to>
                                        <p:strVal val="visible"/>
                                      </p:to>
                                    </p:set>
                                    <p:animEffect transition="in" filter="wipe(left)">
                                      <p:cBhvr>
                                        <p:cTn id="109" dur="500"/>
                                        <p:tgtEl>
                                          <p:spTgt spid="33"/>
                                        </p:tgtEl>
                                      </p:cBhvr>
                                    </p:animEffect>
                                  </p:childTnLst>
                                </p:cTn>
                              </p:par>
                              <p:par>
                                <p:cTn id="110" presetID="22" presetClass="entr" presetSubtype="8" fill="hold" grpId="0" nodeType="withEffect">
                                  <p:stCondLst>
                                    <p:cond delay="280"/>
                                  </p:stCondLst>
                                  <p:childTnLst>
                                    <p:set>
                                      <p:cBhvr>
                                        <p:cTn id="111" dur="1" fill="hold">
                                          <p:stCondLst>
                                            <p:cond delay="0"/>
                                          </p:stCondLst>
                                        </p:cTn>
                                        <p:tgtEl>
                                          <p:spTgt spid="34"/>
                                        </p:tgtEl>
                                        <p:attrNameLst>
                                          <p:attrName>style.visibility</p:attrName>
                                        </p:attrNameLst>
                                      </p:cBhvr>
                                      <p:to>
                                        <p:strVal val="visible"/>
                                      </p:to>
                                    </p:set>
                                    <p:animEffect transition="in" filter="wipe(left)">
                                      <p:cBhvr>
                                        <p:cTn id="112" dur="500"/>
                                        <p:tgtEl>
                                          <p:spTgt spid="34"/>
                                        </p:tgtEl>
                                      </p:cBhvr>
                                    </p:animEffect>
                                  </p:childTnLst>
                                </p:cTn>
                              </p:par>
                              <p:par>
                                <p:cTn id="113" presetID="22" presetClass="entr" presetSubtype="8" fill="hold" grpId="0" nodeType="withEffect">
                                  <p:stCondLst>
                                    <p:cond delay="280"/>
                                  </p:stCondLst>
                                  <p:childTnLst>
                                    <p:set>
                                      <p:cBhvr>
                                        <p:cTn id="114" dur="1" fill="hold">
                                          <p:stCondLst>
                                            <p:cond delay="0"/>
                                          </p:stCondLst>
                                        </p:cTn>
                                        <p:tgtEl>
                                          <p:spTgt spid="53"/>
                                        </p:tgtEl>
                                        <p:attrNameLst>
                                          <p:attrName>style.visibility</p:attrName>
                                        </p:attrNameLst>
                                      </p:cBhvr>
                                      <p:to>
                                        <p:strVal val="visible"/>
                                      </p:to>
                                    </p:set>
                                    <p:animEffect transition="in" filter="wipe(left)">
                                      <p:cBhvr>
                                        <p:cTn id="115" dur="500"/>
                                        <p:tgtEl>
                                          <p:spTgt spid="53"/>
                                        </p:tgtEl>
                                      </p:cBhvr>
                                    </p:animEffect>
                                  </p:childTnLst>
                                </p:cTn>
                              </p:par>
                              <p:par>
                                <p:cTn id="116" presetID="22" presetClass="entr" presetSubtype="8" fill="hold" grpId="0" nodeType="withEffect">
                                  <p:stCondLst>
                                    <p:cond delay="280"/>
                                  </p:stCondLst>
                                  <p:childTnLst>
                                    <p:set>
                                      <p:cBhvr>
                                        <p:cTn id="117" dur="1" fill="hold">
                                          <p:stCondLst>
                                            <p:cond delay="0"/>
                                          </p:stCondLst>
                                        </p:cTn>
                                        <p:tgtEl>
                                          <p:spTgt spid="54"/>
                                        </p:tgtEl>
                                        <p:attrNameLst>
                                          <p:attrName>style.visibility</p:attrName>
                                        </p:attrNameLst>
                                      </p:cBhvr>
                                      <p:to>
                                        <p:strVal val="visible"/>
                                      </p:to>
                                    </p:set>
                                    <p:animEffect transition="in" filter="wipe(left)">
                                      <p:cBhvr>
                                        <p:cTn id="118" dur="500"/>
                                        <p:tgtEl>
                                          <p:spTgt spid="54"/>
                                        </p:tgtEl>
                                      </p:cBhvr>
                                    </p:animEffect>
                                  </p:childTnLst>
                                </p:cTn>
                              </p:par>
                              <p:par>
                                <p:cTn id="119" presetID="22" presetClass="entr" presetSubtype="8" fill="hold" grpId="0" nodeType="withEffect">
                                  <p:stCondLst>
                                    <p:cond delay="280"/>
                                  </p:stCondLst>
                                  <p:childTnLst>
                                    <p:set>
                                      <p:cBhvr>
                                        <p:cTn id="120" dur="1" fill="hold">
                                          <p:stCondLst>
                                            <p:cond delay="0"/>
                                          </p:stCondLst>
                                        </p:cTn>
                                        <p:tgtEl>
                                          <p:spTgt spid="73"/>
                                        </p:tgtEl>
                                        <p:attrNameLst>
                                          <p:attrName>style.visibility</p:attrName>
                                        </p:attrNameLst>
                                      </p:cBhvr>
                                      <p:to>
                                        <p:strVal val="visible"/>
                                      </p:to>
                                    </p:set>
                                    <p:animEffect transition="in" filter="wipe(left)">
                                      <p:cBhvr>
                                        <p:cTn id="121" dur="500"/>
                                        <p:tgtEl>
                                          <p:spTgt spid="73"/>
                                        </p:tgtEl>
                                      </p:cBhvr>
                                    </p:animEffect>
                                  </p:childTnLst>
                                </p:cTn>
                              </p:par>
                              <p:par>
                                <p:cTn id="122" presetID="22" presetClass="entr" presetSubtype="8" fill="hold" grpId="0" nodeType="withEffect">
                                  <p:stCondLst>
                                    <p:cond delay="280"/>
                                  </p:stCondLst>
                                  <p:childTnLst>
                                    <p:set>
                                      <p:cBhvr>
                                        <p:cTn id="123" dur="1" fill="hold">
                                          <p:stCondLst>
                                            <p:cond delay="0"/>
                                          </p:stCondLst>
                                        </p:cTn>
                                        <p:tgtEl>
                                          <p:spTgt spid="74"/>
                                        </p:tgtEl>
                                        <p:attrNameLst>
                                          <p:attrName>style.visibility</p:attrName>
                                        </p:attrNameLst>
                                      </p:cBhvr>
                                      <p:to>
                                        <p:strVal val="visible"/>
                                      </p:to>
                                    </p:set>
                                    <p:animEffect transition="in" filter="wipe(left)">
                                      <p:cBhvr>
                                        <p:cTn id="124" dur="500"/>
                                        <p:tgtEl>
                                          <p:spTgt spid="74"/>
                                        </p:tgtEl>
                                      </p:cBhvr>
                                    </p:animEffect>
                                  </p:childTnLst>
                                </p:cTn>
                              </p:par>
                              <p:par>
                                <p:cTn id="125" presetID="22" presetClass="entr" presetSubtype="8" fill="hold" grpId="0" nodeType="withEffect">
                                  <p:stCondLst>
                                    <p:cond delay="350"/>
                                  </p:stCondLst>
                                  <p:childTnLst>
                                    <p:set>
                                      <p:cBhvr>
                                        <p:cTn id="126" dur="1" fill="hold">
                                          <p:stCondLst>
                                            <p:cond delay="0"/>
                                          </p:stCondLst>
                                        </p:cTn>
                                        <p:tgtEl>
                                          <p:spTgt spid="15"/>
                                        </p:tgtEl>
                                        <p:attrNameLst>
                                          <p:attrName>style.visibility</p:attrName>
                                        </p:attrNameLst>
                                      </p:cBhvr>
                                      <p:to>
                                        <p:strVal val="visible"/>
                                      </p:to>
                                    </p:set>
                                    <p:animEffect transition="in" filter="wipe(left)">
                                      <p:cBhvr>
                                        <p:cTn id="127" dur="500"/>
                                        <p:tgtEl>
                                          <p:spTgt spid="15"/>
                                        </p:tgtEl>
                                      </p:cBhvr>
                                    </p:animEffect>
                                  </p:childTnLst>
                                </p:cTn>
                              </p:par>
                              <p:par>
                                <p:cTn id="128" presetID="22" presetClass="entr" presetSubtype="8" fill="hold" grpId="0" nodeType="withEffect">
                                  <p:stCondLst>
                                    <p:cond delay="350"/>
                                  </p:stCondLst>
                                  <p:childTnLst>
                                    <p:set>
                                      <p:cBhvr>
                                        <p:cTn id="129" dur="1" fill="hold">
                                          <p:stCondLst>
                                            <p:cond delay="0"/>
                                          </p:stCondLst>
                                        </p:cTn>
                                        <p:tgtEl>
                                          <p:spTgt spid="16"/>
                                        </p:tgtEl>
                                        <p:attrNameLst>
                                          <p:attrName>style.visibility</p:attrName>
                                        </p:attrNameLst>
                                      </p:cBhvr>
                                      <p:to>
                                        <p:strVal val="visible"/>
                                      </p:to>
                                    </p:set>
                                    <p:animEffect transition="in" filter="wipe(left)">
                                      <p:cBhvr>
                                        <p:cTn id="130" dur="500"/>
                                        <p:tgtEl>
                                          <p:spTgt spid="16"/>
                                        </p:tgtEl>
                                      </p:cBhvr>
                                    </p:animEffect>
                                  </p:childTnLst>
                                </p:cTn>
                              </p:par>
                              <p:par>
                                <p:cTn id="131" presetID="22" presetClass="entr" presetSubtype="8" fill="hold" grpId="0" nodeType="withEffect">
                                  <p:stCondLst>
                                    <p:cond delay="350"/>
                                  </p:stCondLst>
                                  <p:childTnLst>
                                    <p:set>
                                      <p:cBhvr>
                                        <p:cTn id="132" dur="1" fill="hold">
                                          <p:stCondLst>
                                            <p:cond delay="0"/>
                                          </p:stCondLst>
                                        </p:cTn>
                                        <p:tgtEl>
                                          <p:spTgt spid="35"/>
                                        </p:tgtEl>
                                        <p:attrNameLst>
                                          <p:attrName>style.visibility</p:attrName>
                                        </p:attrNameLst>
                                      </p:cBhvr>
                                      <p:to>
                                        <p:strVal val="visible"/>
                                      </p:to>
                                    </p:set>
                                    <p:animEffect transition="in" filter="wipe(left)">
                                      <p:cBhvr>
                                        <p:cTn id="133" dur="500"/>
                                        <p:tgtEl>
                                          <p:spTgt spid="35"/>
                                        </p:tgtEl>
                                      </p:cBhvr>
                                    </p:animEffect>
                                  </p:childTnLst>
                                </p:cTn>
                              </p:par>
                              <p:par>
                                <p:cTn id="134" presetID="22" presetClass="entr" presetSubtype="8" fill="hold" grpId="0" nodeType="withEffect">
                                  <p:stCondLst>
                                    <p:cond delay="350"/>
                                  </p:stCondLst>
                                  <p:childTnLst>
                                    <p:set>
                                      <p:cBhvr>
                                        <p:cTn id="135" dur="1" fill="hold">
                                          <p:stCondLst>
                                            <p:cond delay="0"/>
                                          </p:stCondLst>
                                        </p:cTn>
                                        <p:tgtEl>
                                          <p:spTgt spid="36"/>
                                        </p:tgtEl>
                                        <p:attrNameLst>
                                          <p:attrName>style.visibility</p:attrName>
                                        </p:attrNameLst>
                                      </p:cBhvr>
                                      <p:to>
                                        <p:strVal val="visible"/>
                                      </p:to>
                                    </p:set>
                                    <p:animEffect transition="in" filter="wipe(left)">
                                      <p:cBhvr>
                                        <p:cTn id="136" dur="500"/>
                                        <p:tgtEl>
                                          <p:spTgt spid="36"/>
                                        </p:tgtEl>
                                      </p:cBhvr>
                                    </p:animEffect>
                                  </p:childTnLst>
                                </p:cTn>
                              </p:par>
                              <p:par>
                                <p:cTn id="137" presetID="22" presetClass="entr" presetSubtype="8" fill="hold" grpId="0" nodeType="withEffect">
                                  <p:stCondLst>
                                    <p:cond delay="350"/>
                                  </p:stCondLst>
                                  <p:childTnLst>
                                    <p:set>
                                      <p:cBhvr>
                                        <p:cTn id="138" dur="1" fill="hold">
                                          <p:stCondLst>
                                            <p:cond delay="0"/>
                                          </p:stCondLst>
                                        </p:cTn>
                                        <p:tgtEl>
                                          <p:spTgt spid="55"/>
                                        </p:tgtEl>
                                        <p:attrNameLst>
                                          <p:attrName>style.visibility</p:attrName>
                                        </p:attrNameLst>
                                      </p:cBhvr>
                                      <p:to>
                                        <p:strVal val="visible"/>
                                      </p:to>
                                    </p:set>
                                    <p:animEffect transition="in" filter="wipe(left)">
                                      <p:cBhvr>
                                        <p:cTn id="139" dur="500"/>
                                        <p:tgtEl>
                                          <p:spTgt spid="55"/>
                                        </p:tgtEl>
                                      </p:cBhvr>
                                    </p:animEffect>
                                  </p:childTnLst>
                                </p:cTn>
                              </p:par>
                              <p:par>
                                <p:cTn id="140" presetID="22" presetClass="entr" presetSubtype="8" fill="hold" grpId="0" nodeType="withEffect">
                                  <p:stCondLst>
                                    <p:cond delay="350"/>
                                  </p:stCondLst>
                                  <p:childTnLst>
                                    <p:set>
                                      <p:cBhvr>
                                        <p:cTn id="141" dur="1" fill="hold">
                                          <p:stCondLst>
                                            <p:cond delay="0"/>
                                          </p:stCondLst>
                                        </p:cTn>
                                        <p:tgtEl>
                                          <p:spTgt spid="56"/>
                                        </p:tgtEl>
                                        <p:attrNameLst>
                                          <p:attrName>style.visibility</p:attrName>
                                        </p:attrNameLst>
                                      </p:cBhvr>
                                      <p:to>
                                        <p:strVal val="visible"/>
                                      </p:to>
                                    </p:set>
                                    <p:animEffect transition="in" filter="wipe(left)">
                                      <p:cBhvr>
                                        <p:cTn id="142" dur="500"/>
                                        <p:tgtEl>
                                          <p:spTgt spid="56"/>
                                        </p:tgtEl>
                                      </p:cBhvr>
                                    </p:animEffect>
                                  </p:childTnLst>
                                </p:cTn>
                              </p:par>
                              <p:par>
                                <p:cTn id="143" presetID="22" presetClass="entr" presetSubtype="8" fill="hold" grpId="0" nodeType="withEffect">
                                  <p:stCondLst>
                                    <p:cond delay="350"/>
                                  </p:stCondLst>
                                  <p:childTnLst>
                                    <p:set>
                                      <p:cBhvr>
                                        <p:cTn id="144" dur="1" fill="hold">
                                          <p:stCondLst>
                                            <p:cond delay="0"/>
                                          </p:stCondLst>
                                        </p:cTn>
                                        <p:tgtEl>
                                          <p:spTgt spid="75"/>
                                        </p:tgtEl>
                                        <p:attrNameLst>
                                          <p:attrName>style.visibility</p:attrName>
                                        </p:attrNameLst>
                                      </p:cBhvr>
                                      <p:to>
                                        <p:strVal val="visible"/>
                                      </p:to>
                                    </p:set>
                                    <p:animEffect transition="in" filter="wipe(left)">
                                      <p:cBhvr>
                                        <p:cTn id="145" dur="500"/>
                                        <p:tgtEl>
                                          <p:spTgt spid="75"/>
                                        </p:tgtEl>
                                      </p:cBhvr>
                                    </p:animEffect>
                                  </p:childTnLst>
                                </p:cTn>
                              </p:par>
                              <p:par>
                                <p:cTn id="146" presetID="22" presetClass="entr" presetSubtype="8" fill="hold" grpId="0" nodeType="withEffect">
                                  <p:stCondLst>
                                    <p:cond delay="350"/>
                                  </p:stCondLst>
                                  <p:childTnLst>
                                    <p:set>
                                      <p:cBhvr>
                                        <p:cTn id="147" dur="1" fill="hold">
                                          <p:stCondLst>
                                            <p:cond delay="0"/>
                                          </p:stCondLst>
                                        </p:cTn>
                                        <p:tgtEl>
                                          <p:spTgt spid="76"/>
                                        </p:tgtEl>
                                        <p:attrNameLst>
                                          <p:attrName>style.visibility</p:attrName>
                                        </p:attrNameLst>
                                      </p:cBhvr>
                                      <p:to>
                                        <p:strVal val="visible"/>
                                      </p:to>
                                    </p:set>
                                    <p:animEffect transition="in" filter="wipe(left)">
                                      <p:cBhvr>
                                        <p:cTn id="148" dur="500"/>
                                        <p:tgtEl>
                                          <p:spTgt spid="76"/>
                                        </p:tgtEl>
                                      </p:cBhvr>
                                    </p:animEffect>
                                  </p:childTnLst>
                                </p:cTn>
                              </p:par>
                              <p:par>
                                <p:cTn id="149" presetID="22" presetClass="entr" presetSubtype="8" fill="hold" grpId="0" nodeType="withEffect">
                                  <p:stCondLst>
                                    <p:cond delay="420"/>
                                  </p:stCondLst>
                                  <p:childTnLst>
                                    <p:set>
                                      <p:cBhvr>
                                        <p:cTn id="150" dur="1" fill="hold">
                                          <p:stCondLst>
                                            <p:cond delay="0"/>
                                          </p:stCondLst>
                                        </p:cTn>
                                        <p:tgtEl>
                                          <p:spTgt spid="17"/>
                                        </p:tgtEl>
                                        <p:attrNameLst>
                                          <p:attrName>style.visibility</p:attrName>
                                        </p:attrNameLst>
                                      </p:cBhvr>
                                      <p:to>
                                        <p:strVal val="visible"/>
                                      </p:to>
                                    </p:set>
                                    <p:animEffect transition="in" filter="wipe(left)">
                                      <p:cBhvr>
                                        <p:cTn id="151" dur="500"/>
                                        <p:tgtEl>
                                          <p:spTgt spid="17"/>
                                        </p:tgtEl>
                                      </p:cBhvr>
                                    </p:animEffect>
                                  </p:childTnLst>
                                </p:cTn>
                              </p:par>
                              <p:par>
                                <p:cTn id="152" presetID="22" presetClass="entr" presetSubtype="8" fill="hold" grpId="0" nodeType="withEffect">
                                  <p:stCondLst>
                                    <p:cond delay="420"/>
                                  </p:stCondLst>
                                  <p:childTnLst>
                                    <p:set>
                                      <p:cBhvr>
                                        <p:cTn id="153" dur="1" fill="hold">
                                          <p:stCondLst>
                                            <p:cond delay="0"/>
                                          </p:stCondLst>
                                        </p:cTn>
                                        <p:tgtEl>
                                          <p:spTgt spid="18"/>
                                        </p:tgtEl>
                                        <p:attrNameLst>
                                          <p:attrName>style.visibility</p:attrName>
                                        </p:attrNameLst>
                                      </p:cBhvr>
                                      <p:to>
                                        <p:strVal val="visible"/>
                                      </p:to>
                                    </p:set>
                                    <p:animEffect transition="in" filter="wipe(left)">
                                      <p:cBhvr>
                                        <p:cTn id="154" dur="500"/>
                                        <p:tgtEl>
                                          <p:spTgt spid="18"/>
                                        </p:tgtEl>
                                      </p:cBhvr>
                                    </p:animEffect>
                                  </p:childTnLst>
                                </p:cTn>
                              </p:par>
                              <p:par>
                                <p:cTn id="155" presetID="22" presetClass="entr" presetSubtype="8" fill="hold" grpId="0" nodeType="withEffect">
                                  <p:stCondLst>
                                    <p:cond delay="420"/>
                                  </p:stCondLst>
                                  <p:childTnLst>
                                    <p:set>
                                      <p:cBhvr>
                                        <p:cTn id="156" dur="1" fill="hold">
                                          <p:stCondLst>
                                            <p:cond delay="0"/>
                                          </p:stCondLst>
                                        </p:cTn>
                                        <p:tgtEl>
                                          <p:spTgt spid="37"/>
                                        </p:tgtEl>
                                        <p:attrNameLst>
                                          <p:attrName>style.visibility</p:attrName>
                                        </p:attrNameLst>
                                      </p:cBhvr>
                                      <p:to>
                                        <p:strVal val="visible"/>
                                      </p:to>
                                    </p:set>
                                    <p:animEffect transition="in" filter="wipe(left)">
                                      <p:cBhvr>
                                        <p:cTn id="157" dur="500"/>
                                        <p:tgtEl>
                                          <p:spTgt spid="37"/>
                                        </p:tgtEl>
                                      </p:cBhvr>
                                    </p:animEffect>
                                  </p:childTnLst>
                                </p:cTn>
                              </p:par>
                              <p:par>
                                <p:cTn id="158" presetID="22" presetClass="entr" presetSubtype="8" fill="hold" grpId="0" nodeType="withEffect">
                                  <p:stCondLst>
                                    <p:cond delay="420"/>
                                  </p:stCondLst>
                                  <p:childTnLst>
                                    <p:set>
                                      <p:cBhvr>
                                        <p:cTn id="159" dur="1" fill="hold">
                                          <p:stCondLst>
                                            <p:cond delay="0"/>
                                          </p:stCondLst>
                                        </p:cTn>
                                        <p:tgtEl>
                                          <p:spTgt spid="38"/>
                                        </p:tgtEl>
                                        <p:attrNameLst>
                                          <p:attrName>style.visibility</p:attrName>
                                        </p:attrNameLst>
                                      </p:cBhvr>
                                      <p:to>
                                        <p:strVal val="visible"/>
                                      </p:to>
                                    </p:set>
                                    <p:animEffect transition="in" filter="wipe(left)">
                                      <p:cBhvr>
                                        <p:cTn id="160" dur="500"/>
                                        <p:tgtEl>
                                          <p:spTgt spid="38"/>
                                        </p:tgtEl>
                                      </p:cBhvr>
                                    </p:animEffect>
                                  </p:childTnLst>
                                </p:cTn>
                              </p:par>
                              <p:par>
                                <p:cTn id="161" presetID="22" presetClass="entr" presetSubtype="8" fill="hold" grpId="0" nodeType="withEffect">
                                  <p:stCondLst>
                                    <p:cond delay="420"/>
                                  </p:stCondLst>
                                  <p:childTnLst>
                                    <p:set>
                                      <p:cBhvr>
                                        <p:cTn id="162" dur="1" fill="hold">
                                          <p:stCondLst>
                                            <p:cond delay="0"/>
                                          </p:stCondLst>
                                        </p:cTn>
                                        <p:tgtEl>
                                          <p:spTgt spid="57"/>
                                        </p:tgtEl>
                                        <p:attrNameLst>
                                          <p:attrName>style.visibility</p:attrName>
                                        </p:attrNameLst>
                                      </p:cBhvr>
                                      <p:to>
                                        <p:strVal val="visible"/>
                                      </p:to>
                                    </p:set>
                                    <p:animEffect transition="in" filter="wipe(left)">
                                      <p:cBhvr>
                                        <p:cTn id="163" dur="500"/>
                                        <p:tgtEl>
                                          <p:spTgt spid="57"/>
                                        </p:tgtEl>
                                      </p:cBhvr>
                                    </p:animEffect>
                                  </p:childTnLst>
                                </p:cTn>
                              </p:par>
                              <p:par>
                                <p:cTn id="164" presetID="22" presetClass="entr" presetSubtype="8" fill="hold" grpId="0" nodeType="withEffect">
                                  <p:stCondLst>
                                    <p:cond delay="420"/>
                                  </p:stCondLst>
                                  <p:childTnLst>
                                    <p:set>
                                      <p:cBhvr>
                                        <p:cTn id="165" dur="1" fill="hold">
                                          <p:stCondLst>
                                            <p:cond delay="0"/>
                                          </p:stCondLst>
                                        </p:cTn>
                                        <p:tgtEl>
                                          <p:spTgt spid="58"/>
                                        </p:tgtEl>
                                        <p:attrNameLst>
                                          <p:attrName>style.visibility</p:attrName>
                                        </p:attrNameLst>
                                      </p:cBhvr>
                                      <p:to>
                                        <p:strVal val="visible"/>
                                      </p:to>
                                    </p:set>
                                    <p:animEffect transition="in" filter="wipe(left)">
                                      <p:cBhvr>
                                        <p:cTn id="166" dur="500"/>
                                        <p:tgtEl>
                                          <p:spTgt spid="58"/>
                                        </p:tgtEl>
                                      </p:cBhvr>
                                    </p:animEffect>
                                  </p:childTnLst>
                                </p:cTn>
                              </p:par>
                              <p:par>
                                <p:cTn id="167" presetID="22" presetClass="entr" presetSubtype="8" fill="hold" grpId="0" nodeType="withEffect">
                                  <p:stCondLst>
                                    <p:cond delay="420"/>
                                  </p:stCondLst>
                                  <p:childTnLst>
                                    <p:set>
                                      <p:cBhvr>
                                        <p:cTn id="168" dur="1" fill="hold">
                                          <p:stCondLst>
                                            <p:cond delay="0"/>
                                          </p:stCondLst>
                                        </p:cTn>
                                        <p:tgtEl>
                                          <p:spTgt spid="77"/>
                                        </p:tgtEl>
                                        <p:attrNameLst>
                                          <p:attrName>style.visibility</p:attrName>
                                        </p:attrNameLst>
                                      </p:cBhvr>
                                      <p:to>
                                        <p:strVal val="visible"/>
                                      </p:to>
                                    </p:set>
                                    <p:animEffect transition="in" filter="wipe(left)">
                                      <p:cBhvr>
                                        <p:cTn id="169" dur="500"/>
                                        <p:tgtEl>
                                          <p:spTgt spid="77"/>
                                        </p:tgtEl>
                                      </p:cBhvr>
                                    </p:animEffect>
                                  </p:childTnLst>
                                </p:cTn>
                              </p:par>
                              <p:par>
                                <p:cTn id="170" presetID="22" presetClass="entr" presetSubtype="8" fill="hold" grpId="0" nodeType="withEffect">
                                  <p:stCondLst>
                                    <p:cond delay="420"/>
                                  </p:stCondLst>
                                  <p:childTnLst>
                                    <p:set>
                                      <p:cBhvr>
                                        <p:cTn id="171" dur="1" fill="hold">
                                          <p:stCondLst>
                                            <p:cond delay="0"/>
                                          </p:stCondLst>
                                        </p:cTn>
                                        <p:tgtEl>
                                          <p:spTgt spid="78"/>
                                        </p:tgtEl>
                                        <p:attrNameLst>
                                          <p:attrName>style.visibility</p:attrName>
                                        </p:attrNameLst>
                                      </p:cBhvr>
                                      <p:to>
                                        <p:strVal val="visible"/>
                                      </p:to>
                                    </p:set>
                                    <p:animEffect transition="in" filter="wipe(left)">
                                      <p:cBhvr>
                                        <p:cTn id="172" dur="500"/>
                                        <p:tgtEl>
                                          <p:spTgt spid="78"/>
                                        </p:tgtEl>
                                      </p:cBhvr>
                                    </p:animEffect>
                                  </p:childTnLst>
                                </p:cTn>
                              </p:par>
                              <p:par>
                                <p:cTn id="173" presetID="22" presetClass="entr" presetSubtype="8" fill="hold" grpId="0" nodeType="withEffect">
                                  <p:stCondLst>
                                    <p:cond delay="490"/>
                                  </p:stCondLst>
                                  <p:childTnLst>
                                    <p:set>
                                      <p:cBhvr>
                                        <p:cTn id="174" dur="1" fill="hold">
                                          <p:stCondLst>
                                            <p:cond delay="0"/>
                                          </p:stCondLst>
                                        </p:cTn>
                                        <p:tgtEl>
                                          <p:spTgt spid="19"/>
                                        </p:tgtEl>
                                        <p:attrNameLst>
                                          <p:attrName>style.visibility</p:attrName>
                                        </p:attrNameLst>
                                      </p:cBhvr>
                                      <p:to>
                                        <p:strVal val="visible"/>
                                      </p:to>
                                    </p:set>
                                    <p:animEffect transition="in" filter="wipe(left)">
                                      <p:cBhvr>
                                        <p:cTn id="175" dur="500"/>
                                        <p:tgtEl>
                                          <p:spTgt spid="19"/>
                                        </p:tgtEl>
                                      </p:cBhvr>
                                    </p:animEffect>
                                  </p:childTnLst>
                                </p:cTn>
                              </p:par>
                              <p:par>
                                <p:cTn id="176" presetID="22" presetClass="entr" presetSubtype="8" fill="hold" grpId="0" nodeType="withEffect">
                                  <p:stCondLst>
                                    <p:cond delay="490"/>
                                  </p:stCondLst>
                                  <p:childTnLst>
                                    <p:set>
                                      <p:cBhvr>
                                        <p:cTn id="177" dur="1" fill="hold">
                                          <p:stCondLst>
                                            <p:cond delay="0"/>
                                          </p:stCondLst>
                                        </p:cTn>
                                        <p:tgtEl>
                                          <p:spTgt spid="20"/>
                                        </p:tgtEl>
                                        <p:attrNameLst>
                                          <p:attrName>style.visibility</p:attrName>
                                        </p:attrNameLst>
                                      </p:cBhvr>
                                      <p:to>
                                        <p:strVal val="visible"/>
                                      </p:to>
                                    </p:set>
                                    <p:animEffect transition="in" filter="wipe(left)">
                                      <p:cBhvr>
                                        <p:cTn id="178" dur="500"/>
                                        <p:tgtEl>
                                          <p:spTgt spid="20"/>
                                        </p:tgtEl>
                                      </p:cBhvr>
                                    </p:animEffect>
                                  </p:childTnLst>
                                </p:cTn>
                              </p:par>
                              <p:par>
                                <p:cTn id="179" presetID="22" presetClass="entr" presetSubtype="8" fill="hold" grpId="0" nodeType="withEffect">
                                  <p:stCondLst>
                                    <p:cond delay="490"/>
                                  </p:stCondLst>
                                  <p:childTnLst>
                                    <p:set>
                                      <p:cBhvr>
                                        <p:cTn id="180" dur="1" fill="hold">
                                          <p:stCondLst>
                                            <p:cond delay="0"/>
                                          </p:stCondLst>
                                        </p:cTn>
                                        <p:tgtEl>
                                          <p:spTgt spid="39"/>
                                        </p:tgtEl>
                                        <p:attrNameLst>
                                          <p:attrName>style.visibility</p:attrName>
                                        </p:attrNameLst>
                                      </p:cBhvr>
                                      <p:to>
                                        <p:strVal val="visible"/>
                                      </p:to>
                                    </p:set>
                                    <p:animEffect transition="in" filter="wipe(left)">
                                      <p:cBhvr>
                                        <p:cTn id="181" dur="500"/>
                                        <p:tgtEl>
                                          <p:spTgt spid="39"/>
                                        </p:tgtEl>
                                      </p:cBhvr>
                                    </p:animEffect>
                                  </p:childTnLst>
                                </p:cTn>
                              </p:par>
                              <p:par>
                                <p:cTn id="182" presetID="22" presetClass="entr" presetSubtype="8" fill="hold" grpId="0" nodeType="withEffect">
                                  <p:stCondLst>
                                    <p:cond delay="490"/>
                                  </p:stCondLst>
                                  <p:childTnLst>
                                    <p:set>
                                      <p:cBhvr>
                                        <p:cTn id="183" dur="1" fill="hold">
                                          <p:stCondLst>
                                            <p:cond delay="0"/>
                                          </p:stCondLst>
                                        </p:cTn>
                                        <p:tgtEl>
                                          <p:spTgt spid="40"/>
                                        </p:tgtEl>
                                        <p:attrNameLst>
                                          <p:attrName>style.visibility</p:attrName>
                                        </p:attrNameLst>
                                      </p:cBhvr>
                                      <p:to>
                                        <p:strVal val="visible"/>
                                      </p:to>
                                    </p:set>
                                    <p:animEffect transition="in" filter="wipe(left)">
                                      <p:cBhvr>
                                        <p:cTn id="184" dur="500"/>
                                        <p:tgtEl>
                                          <p:spTgt spid="40"/>
                                        </p:tgtEl>
                                      </p:cBhvr>
                                    </p:animEffect>
                                  </p:childTnLst>
                                </p:cTn>
                              </p:par>
                              <p:par>
                                <p:cTn id="185" presetID="22" presetClass="entr" presetSubtype="8" fill="hold" grpId="0" nodeType="withEffect">
                                  <p:stCondLst>
                                    <p:cond delay="490"/>
                                  </p:stCondLst>
                                  <p:childTnLst>
                                    <p:set>
                                      <p:cBhvr>
                                        <p:cTn id="186" dur="1" fill="hold">
                                          <p:stCondLst>
                                            <p:cond delay="0"/>
                                          </p:stCondLst>
                                        </p:cTn>
                                        <p:tgtEl>
                                          <p:spTgt spid="59"/>
                                        </p:tgtEl>
                                        <p:attrNameLst>
                                          <p:attrName>style.visibility</p:attrName>
                                        </p:attrNameLst>
                                      </p:cBhvr>
                                      <p:to>
                                        <p:strVal val="visible"/>
                                      </p:to>
                                    </p:set>
                                    <p:animEffect transition="in" filter="wipe(left)">
                                      <p:cBhvr>
                                        <p:cTn id="187" dur="500"/>
                                        <p:tgtEl>
                                          <p:spTgt spid="59"/>
                                        </p:tgtEl>
                                      </p:cBhvr>
                                    </p:animEffect>
                                  </p:childTnLst>
                                </p:cTn>
                              </p:par>
                              <p:par>
                                <p:cTn id="188" presetID="22" presetClass="entr" presetSubtype="8" fill="hold" grpId="0" nodeType="withEffect">
                                  <p:stCondLst>
                                    <p:cond delay="490"/>
                                  </p:stCondLst>
                                  <p:childTnLst>
                                    <p:set>
                                      <p:cBhvr>
                                        <p:cTn id="189" dur="1" fill="hold">
                                          <p:stCondLst>
                                            <p:cond delay="0"/>
                                          </p:stCondLst>
                                        </p:cTn>
                                        <p:tgtEl>
                                          <p:spTgt spid="60"/>
                                        </p:tgtEl>
                                        <p:attrNameLst>
                                          <p:attrName>style.visibility</p:attrName>
                                        </p:attrNameLst>
                                      </p:cBhvr>
                                      <p:to>
                                        <p:strVal val="visible"/>
                                      </p:to>
                                    </p:set>
                                    <p:animEffect transition="in" filter="wipe(left)">
                                      <p:cBhvr>
                                        <p:cTn id="190" dur="500"/>
                                        <p:tgtEl>
                                          <p:spTgt spid="60"/>
                                        </p:tgtEl>
                                      </p:cBhvr>
                                    </p:animEffect>
                                  </p:childTnLst>
                                </p:cTn>
                              </p:par>
                              <p:par>
                                <p:cTn id="191" presetID="22" presetClass="entr" presetSubtype="8" fill="hold" grpId="0" nodeType="withEffect">
                                  <p:stCondLst>
                                    <p:cond delay="490"/>
                                  </p:stCondLst>
                                  <p:childTnLst>
                                    <p:set>
                                      <p:cBhvr>
                                        <p:cTn id="192" dur="1" fill="hold">
                                          <p:stCondLst>
                                            <p:cond delay="0"/>
                                          </p:stCondLst>
                                        </p:cTn>
                                        <p:tgtEl>
                                          <p:spTgt spid="79"/>
                                        </p:tgtEl>
                                        <p:attrNameLst>
                                          <p:attrName>style.visibility</p:attrName>
                                        </p:attrNameLst>
                                      </p:cBhvr>
                                      <p:to>
                                        <p:strVal val="visible"/>
                                      </p:to>
                                    </p:set>
                                    <p:animEffect transition="in" filter="wipe(left)">
                                      <p:cBhvr>
                                        <p:cTn id="193" dur="500"/>
                                        <p:tgtEl>
                                          <p:spTgt spid="79"/>
                                        </p:tgtEl>
                                      </p:cBhvr>
                                    </p:animEffect>
                                  </p:childTnLst>
                                </p:cTn>
                              </p:par>
                              <p:par>
                                <p:cTn id="194" presetID="22" presetClass="entr" presetSubtype="8" fill="hold" grpId="0" nodeType="withEffect">
                                  <p:stCondLst>
                                    <p:cond delay="490"/>
                                  </p:stCondLst>
                                  <p:childTnLst>
                                    <p:set>
                                      <p:cBhvr>
                                        <p:cTn id="195" dur="1" fill="hold">
                                          <p:stCondLst>
                                            <p:cond delay="0"/>
                                          </p:stCondLst>
                                        </p:cTn>
                                        <p:tgtEl>
                                          <p:spTgt spid="80"/>
                                        </p:tgtEl>
                                        <p:attrNameLst>
                                          <p:attrName>style.visibility</p:attrName>
                                        </p:attrNameLst>
                                      </p:cBhvr>
                                      <p:to>
                                        <p:strVal val="visible"/>
                                      </p:to>
                                    </p:set>
                                    <p:animEffect transition="in" filter="wipe(left)">
                                      <p:cBhvr>
                                        <p:cTn id="196" dur="500"/>
                                        <p:tgtEl>
                                          <p:spTgt spid="80"/>
                                        </p:tgtEl>
                                      </p:cBhvr>
                                    </p:animEffect>
                                  </p:childTnLst>
                                </p:cTn>
                              </p:par>
                              <p:par>
                                <p:cTn id="197" presetID="22" presetClass="entr" presetSubtype="8" fill="hold" grpId="0" nodeType="withEffect">
                                  <p:stCondLst>
                                    <p:cond delay="560"/>
                                  </p:stCondLst>
                                  <p:childTnLst>
                                    <p:set>
                                      <p:cBhvr>
                                        <p:cTn id="198" dur="1" fill="hold">
                                          <p:stCondLst>
                                            <p:cond delay="0"/>
                                          </p:stCondLst>
                                        </p:cTn>
                                        <p:tgtEl>
                                          <p:spTgt spid="21"/>
                                        </p:tgtEl>
                                        <p:attrNameLst>
                                          <p:attrName>style.visibility</p:attrName>
                                        </p:attrNameLst>
                                      </p:cBhvr>
                                      <p:to>
                                        <p:strVal val="visible"/>
                                      </p:to>
                                    </p:set>
                                    <p:animEffect transition="in" filter="wipe(left)">
                                      <p:cBhvr>
                                        <p:cTn id="199" dur="500"/>
                                        <p:tgtEl>
                                          <p:spTgt spid="21"/>
                                        </p:tgtEl>
                                      </p:cBhvr>
                                    </p:animEffect>
                                  </p:childTnLst>
                                </p:cTn>
                              </p:par>
                              <p:par>
                                <p:cTn id="200" presetID="22" presetClass="entr" presetSubtype="8" fill="hold" grpId="0" nodeType="withEffect">
                                  <p:stCondLst>
                                    <p:cond delay="560"/>
                                  </p:stCondLst>
                                  <p:childTnLst>
                                    <p:set>
                                      <p:cBhvr>
                                        <p:cTn id="201" dur="1" fill="hold">
                                          <p:stCondLst>
                                            <p:cond delay="0"/>
                                          </p:stCondLst>
                                        </p:cTn>
                                        <p:tgtEl>
                                          <p:spTgt spid="22"/>
                                        </p:tgtEl>
                                        <p:attrNameLst>
                                          <p:attrName>style.visibility</p:attrName>
                                        </p:attrNameLst>
                                      </p:cBhvr>
                                      <p:to>
                                        <p:strVal val="visible"/>
                                      </p:to>
                                    </p:set>
                                    <p:animEffect transition="in" filter="wipe(left)">
                                      <p:cBhvr>
                                        <p:cTn id="202" dur="500"/>
                                        <p:tgtEl>
                                          <p:spTgt spid="22"/>
                                        </p:tgtEl>
                                      </p:cBhvr>
                                    </p:animEffect>
                                  </p:childTnLst>
                                </p:cTn>
                              </p:par>
                              <p:par>
                                <p:cTn id="203" presetID="22" presetClass="entr" presetSubtype="8" fill="hold" grpId="0" nodeType="withEffect">
                                  <p:stCondLst>
                                    <p:cond delay="560"/>
                                  </p:stCondLst>
                                  <p:childTnLst>
                                    <p:set>
                                      <p:cBhvr>
                                        <p:cTn id="204" dur="1" fill="hold">
                                          <p:stCondLst>
                                            <p:cond delay="0"/>
                                          </p:stCondLst>
                                        </p:cTn>
                                        <p:tgtEl>
                                          <p:spTgt spid="41"/>
                                        </p:tgtEl>
                                        <p:attrNameLst>
                                          <p:attrName>style.visibility</p:attrName>
                                        </p:attrNameLst>
                                      </p:cBhvr>
                                      <p:to>
                                        <p:strVal val="visible"/>
                                      </p:to>
                                    </p:set>
                                    <p:animEffect transition="in" filter="wipe(left)">
                                      <p:cBhvr>
                                        <p:cTn id="205" dur="500"/>
                                        <p:tgtEl>
                                          <p:spTgt spid="41"/>
                                        </p:tgtEl>
                                      </p:cBhvr>
                                    </p:animEffect>
                                  </p:childTnLst>
                                </p:cTn>
                              </p:par>
                              <p:par>
                                <p:cTn id="206" presetID="22" presetClass="entr" presetSubtype="8" fill="hold" grpId="0" nodeType="withEffect">
                                  <p:stCondLst>
                                    <p:cond delay="560"/>
                                  </p:stCondLst>
                                  <p:childTnLst>
                                    <p:set>
                                      <p:cBhvr>
                                        <p:cTn id="207" dur="1" fill="hold">
                                          <p:stCondLst>
                                            <p:cond delay="0"/>
                                          </p:stCondLst>
                                        </p:cTn>
                                        <p:tgtEl>
                                          <p:spTgt spid="42"/>
                                        </p:tgtEl>
                                        <p:attrNameLst>
                                          <p:attrName>style.visibility</p:attrName>
                                        </p:attrNameLst>
                                      </p:cBhvr>
                                      <p:to>
                                        <p:strVal val="visible"/>
                                      </p:to>
                                    </p:set>
                                    <p:animEffect transition="in" filter="wipe(left)">
                                      <p:cBhvr>
                                        <p:cTn id="208" dur="500"/>
                                        <p:tgtEl>
                                          <p:spTgt spid="42"/>
                                        </p:tgtEl>
                                      </p:cBhvr>
                                    </p:animEffect>
                                  </p:childTnLst>
                                </p:cTn>
                              </p:par>
                              <p:par>
                                <p:cTn id="209" presetID="22" presetClass="entr" presetSubtype="8" fill="hold" grpId="0" nodeType="withEffect">
                                  <p:stCondLst>
                                    <p:cond delay="560"/>
                                  </p:stCondLst>
                                  <p:childTnLst>
                                    <p:set>
                                      <p:cBhvr>
                                        <p:cTn id="210" dur="1" fill="hold">
                                          <p:stCondLst>
                                            <p:cond delay="0"/>
                                          </p:stCondLst>
                                        </p:cTn>
                                        <p:tgtEl>
                                          <p:spTgt spid="61"/>
                                        </p:tgtEl>
                                        <p:attrNameLst>
                                          <p:attrName>style.visibility</p:attrName>
                                        </p:attrNameLst>
                                      </p:cBhvr>
                                      <p:to>
                                        <p:strVal val="visible"/>
                                      </p:to>
                                    </p:set>
                                    <p:animEffect transition="in" filter="wipe(left)">
                                      <p:cBhvr>
                                        <p:cTn id="211" dur="500"/>
                                        <p:tgtEl>
                                          <p:spTgt spid="61"/>
                                        </p:tgtEl>
                                      </p:cBhvr>
                                    </p:animEffect>
                                  </p:childTnLst>
                                </p:cTn>
                              </p:par>
                              <p:par>
                                <p:cTn id="212" presetID="22" presetClass="entr" presetSubtype="8" fill="hold" grpId="0" nodeType="withEffect">
                                  <p:stCondLst>
                                    <p:cond delay="560"/>
                                  </p:stCondLst>
                                  <p:childTnLst>
                                    <p:set>
                                      <p:cBhvr>
                                        <p:cTn id="213" dur="1" fill="hold">
                                          <p:stCondLst>
                                            <p:cond delay="0"/>
                                          </p:stCondLst>
                                        </p:cTn>
                                        <p:tgtEl>
                                          <p:spTgt spid="62"/>
                                        </p:tgtEl>
                                        <p:attrNameLst>
                                          <p:attrName>style.visibility</p:attrName>
                                        </p:attrNameLst>
                                      </p:cBhvr>
                                      <p:to>
                                        <p:strVal val="visible"/>
                                      </p:to>
                                    </p:set>
                                    <p:animEffect transition="in" filter="wipe(left)">
                                      <p:cBhvr>
                                        <p:cTn id="214" dur="500"/>
                                        <p:tgtEl>
                                          <p:spTgt spid="62"/>
                                        </p:tgtEl>
                                      </p:cBhvr>
                                    </p:animEffect>
                                  </p:childTnLst>
                                </p:cTn>
                              </p:par>
                              <p:par>
                                <p:cTn id="215" presetID="22" presetClass="entr" presetSubtype="8" fill="hold" grpId="0" nodeType="withEffect">
                                  <p:stCondLst>
                                    <p:cond delay="560"/>
                                  </p:stCondLst>
                                  <p:childTnLst>
                                    <p:set>
                                      <p:cBhvr>
                                        <p:cTn id="216" dur="1" fill="hold">
                                          <p:stCondLst>
                                            <p:cond delay="0"/>
                                          </p:stCondLst>
                                        </p:cTn>
                                        <p:tgtEl>
                                          <p:spTgt spid="81"/>
                                        </p:tgtEl>
                                        <p:attrNameLst>
                                          <p:attrName>style.visibility</p:attrName>
                                        </p:attrNameLst>
                                      </p:cBhvr>
                                      <p:to>
                                        <p:strVal val="visible"/>
                                      </p:to>
                                    </p:set>
                                    <p:animEffect transition="in" filter="wipe(left)">
                                      <p:cBhvr>
                                        <p:cTn id="217" dur="500"/>
                                        <p:tgtEl>
                                          <p:spTgt spid="81"/>
                                        </p:tgtEl>
                                      </p:cBhvr>
                                    </p:animEffect>
                                  </p:childTnLst>
                                </p:cTn>
                              </p:par>
                              <p:par>
                                <p:cTn id="218" presetID="22" presetClass="entr" presetSubtype="8" fill="hold" grpId="0" nodeType="withEffect">
                                  <p:stCondLst>
                                    <p:cond delay="560"/>
                                  </p:stCondLst>
                                  <p:childTnLst>
                                    <p:set>
                                      <p:cBhvr>
                                        <p:cTn id="219" dur="1" fill="hold">
                                          <p:stCondLst>
                                            <p:cond delay="0"/>
                                          </p:stCondLst>
                                        </p:cTn>
                                        <p:tgtEl>
                                          <p:spTgt spid="82"/>
                                        </p:tgtEl>
                                        <p:attrNameLst>
                                          <p:attrName>style.visibility</p:attrName>
                                        </p:attrNameLst>
                                      </p:cBhvr>
                                      <p:to>
                                        <p:strVal val="visible"/>
                                      </p:to>
                                    </p:set>
                                    <p:animEffect transition="in" filter="wipe(left)">
                                      <p:cBhvr>
                                        <p:cTn id="220" dur="500"/>
                                        <p:tgtEl>
                                          <p:spTgt spid="82"/>
                                        </p:tgtEl>
                                      </p:cBhvr>
                                    </p:animEffect>
                                  </p:childTnLst>
                                </p:cTn>
                              </p:par>
                              <p:par>
                                <p:cTn id="221" presetID="22" presetClass="entr" presetSubtype="8" fill="hold" grpId="0" nodeType="withEffect">
                                  <p:stCondLst>
                                    <p:cond delay="630"/>
                                  </p:stCondLst>
                                  <p:childTnLst>
                                    <p:set>
                                      <p:cBhvr>
                                        <p:cTn id="222" dur="1" fill="hold">
                                          <p:stCondLst>
                                            <p:cond delay="0"/>
                                          </p:stCondLst>
                                        </p:cTn>
                                        <p:tgtEl>
                                          <p:spTgt spid="23"/>
                                        </p:tgtEl>
                                        <p:attrNameLst>
                                          <p:attrName>style.visibility</p:attrName>
                                        </p:attrNameLst>
                                      </p:cBhvr>
                                      <p:to>
                                        <p:strVal val="visible"/>
                                      </p:to>
                                    </p:set>
                                    <p:animEffect transition="in" filter="wipe(left)">
                                      <p:cBhvr>
                                        <p:cTn id="223" dur="500"/>
                                        <p:tgtEl>
                                          <p:spTgt spid="23"/>
                                        </p:tgtEl>
                                      </p:cBhvr>
                                    </p:animEffect>
                                  </p:childTnLst>
                                </p:cTn>
                              </p:par>
                              <p:par>
                                <p:cTn id="224" presetID="22" presetClass="entr" presetSubtype="8" fill="hold" grpId="0" nodeType="withEffect">
                                  <p:stCondLst>
                                    <p:cond delay="630"/>
                                  </p:stCondLst>
                                  <p:childTnLst>
                                    <p:set>
                                      <p:cBhvr>
                                        <p:cTn id="225" dur="1" fill="hold">
                                          <p:stCondLst>
                                            <p:cond delay="0"/>
                                          </p:stCondLst>
                                        </p:cTn>
                                        <p:tgtEl>
                                          <p:spTgt spid="24"/>
                                        </p:tgtEl>
                                        <p:attrNameLst>
                                          <p:attrName>style.visibility</p:attrName>
                                        </p:attrNameLst>
                                      </p:cBhvr>
                                      <p:to>
                                        <p:strVal val="visible"/>
                                      </p:to>
                                    </p:set>
                                    <p:animEffect transition="in" filter="wipe(left)">
                                      <p:cBhvr>
                                        <p:cTn id="226" dur="500"/>
                                        <p:tgtEl>
                                          <p:spTgt spid="24"/>
                                        </p:tgtEl>
                                      </p:cBhvr>
                                    </p:animEffect>
                                  </p:childTnLst>
                                </p:cTn>
                              </p:par>
                              <p:par>
                                <p:cTn id="227" presetID="22" presetClass="entr" presetSubtype="8" fill="hold" grpId="0" nodeType="withEffect">
                                  <p:stCondLst>
                                    <p:cond delay="630"/>
                                  </p:stCondLst>
                                  <p:childTnLst>
                                    <p:set>
                                      <p:cBhvr>
                                        <p:cTn id="228" dur="1" fill="hold">
                                          <p:stCondLst>
                                            <p:cond delay="0"/>
                                          </p:stCondLst>
                                        </p:cTn>
                                        <p:tgtEl>
                                          <p:spTgt spid="43"/>
                                        </p:tgtEl>
                                        <p:attrNameLst>
                                          <p:attrName>style.visibility</p:attrName>
                                        </p:attrNameLst>
                                      </p:cBhvr>
                                      <p:to>
                                        <p:strVal val="visible"/>
                                      </p:to>
                                    </p:set>
                                    <p:animEffect transition="in" filter="wipe(left)">
                                      <p:cBhvr>
                                        <p:cTn id="229" dur="500"/>
                                        <p:tgtEl>
                                          <p:spTgt spid="43"/>
                                        </p:tgtEl>
                                      </p:cBhvr>
                                    </p:animEffect>
                                  </p:childTnLst>
                                </p:cTn>
                              </p:par>
                              <p:par>
                                <p:cTn id="230" presetID="22" presetClass="entr" presetSubtype="8" fill="hold" grpId="0" nodeType="withEffect">
                                  <p:stCondLst>
                                    <p:cond delay="630"/>
                                  </p:stCondLst>
                                  <p:childTnLst>
                                    <p:set>
                                      <p:cBhvr>
                                        <p:cTn id="231" dur="1" fill="hold">
                                          <p:stCondLst>
                                            <p:cond delay="0"/>
                                          </p:stCondLst>
                                        </p:cTn>
                                        <p:tgtEl>
                                          <p:spTgt spid="44"/>
                                        </p:tgtEl>
                                        <p:attrNameLst>
                                          <p:attrName>style.visibility</p:attrName>
                                        </p:attrNameLst>
                                      </p:cBhvr>
                                      <p:to>
                                        <p:strVal val="visible"/>
                                      </p:to>
                                    </p:set>
                                    <p:animEffect transition="in" filter="wipe(left)">
                                      <p:cBhvr>
                                        <p:cTn id="232" dur="500"/>
                                        <p:tgtEl>
                                          <p:spTgt spid="44"/>
                                        </p:tgtEl>
                                      </p:cBhvr>
                                    </p:animEffect>
                                  </p:childTnLst>
                                </p:cTn>
                              </p:par>
                              <p:par>
                                <p:cTn id="233" presetID="22" presetClass="entr" presetSubtype="8" fill="hold" grpId="0" nodeType="withEffect">
                                  <p:stCondLst>
                                    <p:cond delay="630"/>
                                  </p:stCondLst>
                                  <p:childTnLst>
                                    <p:set>
                                      <p:cBhvr>
                                        <p:cTn id="234" dur="1" fill="hold">
                                          <p:stCondLst>
                                            <p:cond delay="0"/>
                                          </p:stCondLst>
                                        </p:cTn>
                                        <p:tgtEl>
                                          <p:spTgt spid="63"/>
                                        </p:tgtEl>
                                        <p:attrNameLst>
                                          <p:attrName>style.visibility</p:attrName>
                                        </p:attrNameLst>
                                      </p:cBhvr>
                                      <p:to>
                                        <p:strVal val="visible"/>
                                      </p:to>
                                    </p:set>
                                    <p:animEffect transition="in" filter="wipe(left)">
                                      <p:cBhvr>
                                        <p:cTn id="235" dur="500"/>
                                        <p:tgtEl>
                                          <p:spTgt spid="63"/>
                                        </p:tgtEl>
                                      </p:cBhvr>
                                    </p:animEffect>
                                  </p:childTnLst>
                                </p:cTn>
                              </p:par>
                              <p:par>
                                <p:cTn id="236" presetID="22" presetClass="entr" presetSubtype="8" fill="hold" grpId="0" nodeType="withEffect">
                                  <p:stCondLst>
                                    <p:cond delay="630"/>
                                  </p:stCondLst>
                                  <p:childTnLst>
                                    <p:set>
                                      <p:cBhvr>
                                        <p:cTn id="237" dur="1" fill="hold">
                                          <p:stCondLst>
                                            <p:cond delay="0"/>
                                          </p:stCondLst>
                                        </p:cTn>
                                        <p:tgtEl>
                                          <p:spTgt spid="64"/>
                                        </p:tgtEl>
                                        <p:attrNameLst>
                                          <p:attrName>style.visibility</p:attrName>
                                        </p:attrNameLst>
                                      </p:cBhvr>
                                      <p:to>
                                        <p:strVal val="visible"/>
                                      </p:to>
                                    </p:set>
                                    <p:animEffect transition="in" filter="wipe(left)">
                                      <p:cBhvr>
                                        <p:cTn id="238" dur="500"/>
                                        <p:tgtEl>
                                          <p:spTgt spid="64"/>
                                        </p:tgtEl>
                                      </p:cBhvr>
                                    </p:animEffect>
                                  </p:childTnLst>
                                </p:cTn>
                              </p:par>
                              <p:par>
                                <p:cTn id="239" presetID="22" presetClass="entr" presetSubtype="8" fill="hold" grpId="0" nodeType="withEffect">
                                  <p:stCondLst>
                                    <p:cond delay="630"/>
                                  </p:stCondLst>
                                  <p:childTnLst>
                                    <p:set>
                                      <p:cBhvr>
                                        <p:cTn id="240" dur="1" fill="hold">
                                          <p:stCondLst>
                                            <p:cond delay="0"/>
                                          </p:stCondLst>
                                        </p:cTn>
                                        <p:tgtEl>
                                          <p:spTgt spid="83"/>
                                        </p:tgtEl>
                                        <p:attrNameLst>
                                          <p:attrName>style.visibility</p:attrName>
                                        </p:attrNameLst>
                                      </p:cBhvr>
                                      <p:to>
                                        <p:strVal val="visible"/>
                                      </p:to>
                                    </p:set>
                                    <p:animEffect transition="in" filter="wipe(left)">
                                      <p:cBhvr>
                                        <p:cTn id="241" dur="500"/>
                                        <p:tgtEl>
                                          <p:spTgt spid="83"/>
                                        </p:tgtEl>
                                      </p:cBhvr>
                                    </p:animEffect>
                                  </p:childTnLst>
                                </p:cTn>
                              </p:par>
                              <p:par>
                                <p:cTn id="242" presetID="22" presetClass="entr" presetSubtype="8" fill="hold" grpId="0" nodeType="withEffect">
                                  <p:stCondLst>
                                    <p:cond delay="630"/>
                                  </p:stCondLst>
                                  <p:childTnLst>
                                    <p:set>
                                      <p:cBhvr>
                                        <p:cTn id="243" dur="1" fill="hold">
                                          <p:stCondLst>
                                            <p:cond delay="0"/>
                                          </p:stCondLst>
                                        </p:cTn>
                                        <p:tgtEl>
                                          <p:spTgt spid="84"/>
                                        </p:tgtEl>
                                        <p:attrNameLst>
                                          <p:attrName>style.visibility</p:attrName>
                                        </p:attrNameLst>
                                      </p:cBhvr>
                                      <p:to>
                                        <p:strVal val="visible"/>
                                      </p:to>
                                    </p:set>
                                    <p:animEffect transition="in" filter="wipe(left)">
                                      <p:cBhvr>
                                        <p:cTn id="244" dur="500"/>
                                        <p:tgtEl>
                                          <p:spTgt spid="84"/>
                                        </p:tgtEl>
                                      </p:cBhvr>
                                    </p:animEffect>
                                  </p:childTnLst>
                                </p:cTn>
                              </p:par>
                            </p:childTnLst>
                          </p:cTn>
                        </p:par>
                      </p:childTnLst>
                    </p:cTn>
                  </p:par>
                  <p:par>
                    <p:cTn id="245" fill="hold">
                      <p:stCondLst>
                        <p:cond delay="indefinite"/>
                      </p:stCondLst>
                      <p:childTnLst>
                        <p:par>
                          <p:cTn id="246" fill="hold">
                            <p:stCondLst>
                              <p:cond delay="0"/>
                            </p:stCondLst>
                            <p:childTnLst>
                              <p:par>
                                <p:cTn id="247" presetID="10" presetClass="entr" presetSubtype="0" fill="hold" grpId="0" nodeType="clickEffect">
                                  <p:stCondLst>
                                    <p:cond delay="0"/>
                                  </p:stCondLst>
                                  <p:childTnLst>
                                    <p:set>
                                      <p:cBhvr>
                                        <p:cTn id="248" dur="1" fill="hold">
                                          <p:stCondLst>
                                            <p:cond delay="0"/>
                                          </p:stCondLst>
                                        </p:cTn>
                                        <p:tgtEl>
                                          <p:spTgt spid="85"/>
                                        </p:tgtEl>
                                        <p:attrNameLst>
                                          <p:attrName>style.visibility</p:attrName>
                                        </p:attrNameLst>
                                      </p:cBhvr>
                                      <p:to>
                                        <p:strVal val="visible"/>
                                      </p:to>
                                    </p:set>
                                    <p:animEffect transition="in" filter="fade">
                                      <p:cBhvr>
                                        <p:cTn id="249" dur="500"/>
                                        <p:tgtEl>
                                          <p:spTgt spid="85"/>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86"/>
                                        </p:tgtEl>
                                        <p:attrNameLst>
                                          <p:attrName>style.visibility</p:attrName>
                                        </p:attrNameLst>
                                      </p:cBhvr>
                                      <p:to>
                                        <p:strVal val="visible"/>
                                      </p:to>
                                    </p:set>
                                    <p:animEffect transition="in" filter="fade">
                                      <p:cBhvr>
                                        <p:cTn id="252" dur="500"/>
                                        <p:tgtEl>
                                          <p:spTgt spid="86"/>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7"/>
                                        </p:tgtEl>
                                        <p:attrNameLst>
                                          <p:attrName>style.visibility</p:attrName>
                                        </p:attrNameLst>
                                      </p:cBhvr>
                                      <p:to>
                                        <p:strVal val="visible"/>
                                      </p:to>
                                    </p:set>
                                    <p:animEffect transition="in" filter="fade">
                                      <p:cBhvr>
                                        <p:cTn id="255"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ATOMS YOU ALREADY USE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true, false and nil are atoms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Elixir has no separate boolean type. It has three well-known atoms.</a:t>
            </a:r>
          </a:p>
        </p:txBody>
      </p:sp>
      <p:sp>
        <p:nvSpPr>
          <p:cNvPr id="5" name="a1f_codebg4"/>
          <p:cNvSpPr/>
          <p:nvPr/>
        </p:nvSpPr>
        <p:spPr>
          <a:xfrm>
            <a:off x="457200" y="1362456"/>
            <a:ext cx="4846320" cy="2752344"/>
          </a:xfrm>
          <a:prstGeom prst="roundRect">
            <a:avLst>
              <a:gd name="adj" fmla="val 2657"/>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5171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517136" cy="214884"/>
          </a:xfrm>
          <a:prstGeom prst="rect">
            <a:avLst/>
          </a:prstGeom>
          <a:noFill/>
        </p:spPr>
        <p:txBody>
          <a:bodyPr wrap="none" lIns="0" tIns="0" rIns="0" bIns="0" anchor="ctr">
            <a:spAutoFit/>
          </a:bodyPr>
          <a:lstStyle/>
          <a:p>
            <a:pPr algn="l"/>
            <a:r>
              <a:rPr sz="1000" b="1">
                <a:solidFill>
                  <a:srgbClr val="C9B3E8"/>
                </a:solidFill>
                <a:latin typeface="Courier New"/>
              </a:rPr>
              <a:t>iex&gt; is_atom(true)</a:t>
            </a:r>
          </a:p>
        </p:txBody>
      </p:sp>
      <p:sp>
        <p:nvSpPr>
          <p:cNvPr id="8" name="a1wd80_code7"/>
          <p:cNvSpPr txBox="1"/>
          <p:nvPr/>
        </p:nvSpPr>
        <p:spPr>
          <a:xfrm>
            <a:off x="621792" y="2016252"/>
            <a:ext cx="4517136" cy="214884"/>
          </a:xfrm>
          <a:prstGeom prst="rect">
            <a:avLst/>
          </a:prstGeom>
          <a:noFill/>
        </p:spPr>
        <p:txBody>
          <a:bodyPr wrap="none" lIns="0" tIns="0" rIns="0" bIns="0" anchor="ctr">
            <a:spAutoFit/>
          </a:bodyPr>
          <a:lstStyle/>
          <a:p>
            <a:pPr algn="l"/>
            <a:r>
              <a:rPr sz="1000" b="0">
                <a:solidFill>
                  <a:srgbClr val="14B8A6"/>
                </a:solidFill>
                <a:latin typeface="Courier New"/>
              </a:rPr>
              <a:t>true</a:t>
            </a:r>
          </a:p>
        </p:txBody>
      </p:sp>
      <p:sp>
        <p:nvSpPr>
          <p:cNvPr id="9" name="a1wd160_code8"/>
          <p:cNvSpPr txBox="1"/>
          <p:nvPr/>
        </p:nvSpPr>
        <p:spPr>
          <a:xfrm>
            <a:off x="621792" y="2231136"/>
            <a:ext cx="4517136" cy="214884"/>
          </a:xfrm>
          <a:prstGeom prst="rect">
            <a:avLst/>
          </a:prstGeom>
          <a:noFill/>
        </p:spPr>
        <p:txBody>
          <a:bodyPr wrap="none" lIns="0" tIns="0" rIns="0" bIns="0" anchor="ctr">
            <a:spAutoFit/>
          </a:bodyPr>
          <a:lstStyle/>
          <a:p>
            <a:pPr algn="l"/>
            <a:r>
              <a:rPr sz="1000" b="1">
                <a:solidFill>
                  <a:srgbClr val="C9B3E8"/>
                </a:solidFill>
                <a:latin typeface="Courier New"/>
              </a:rPr>
              <a:t>iex&gt; true == :true</a:t>
            </a:r>
          </a:p>
        </p:txBody>
      </p:sp>
      <p:sp>
        <p:nvSpPr>
          <p:cNvPr id="10" name="a1wd240_code9"/>
          <p:cNvSpPr txBox="1"/>
          <p:nvPr/>
        </p:nvSpPr>
        <p:spPr>
          <a:xfrm>
            <a:off x="621792" y="2446020"/>
            <a:ext cx="4517136" cy="214884"/>
          </a:xfrm>
          <a:prstGeom prst="rect">
            <a:avLst/>
          </a:prstGeom>
          <a:noFill/>
        </p:spPr>
        <p:txBody>
          <a:bodyPr wrap="none" lIns="0" tIns="0" rIns="0" bIns="0" anchor="ctr">
            <a:spAutoFit/>
          </a:bodyPr>
          <a:lstStyle/>
          <a:p>
            <a:pPr algn="l"/>
            <a:r>
              <a:rPr sz="1000" b="0">
                <a:solidFill>
                  <a:srgbClr val="14B8A6"/>
                </a:solidFill>
                <a:latin typeface="Courier New"/>
              </a:rPr>
              <a:t>true</a:t>
            </a:r>
          </a:p>
        </p:txBody>
      </p:sp>
      <p:sp>
        <p:nvSpPr>
          <p:cNvPr id="11" name="a1wd320_code10"/>
          <p:cNvSpPr txBox="1"/>
          <p:nvPr/>
        </p:nvSpPr>
        <p:spPr>
          <a:xfrm>
            <a:off x="621792" y="2660904"/>
            <a:ext cx="4517136" cy="214884"/>
          </a:xfrm>
          <a:prstGeom prst="rect">
            <a:avLst/>
          </a:prstGeom>
          <a:noFill/>
        </p:spPr>
        <p:txBody>
          <a:bodyPr wrap="none" lIns="0" tIns="0" rIns="0" bIns="0" anchor="ctr">
            <a:spAutoFit/>
          </a:bodyPr>
          <a:lstStyle/>
          <a:p>
            <a:pPr algn="l"/>
            <a:r>
              <a:rPr sz="1000" b="1">
                <a:solidFill>
                  <a:srgbClr val="C9B3E8"/>
                </a:solidFill>
                <a:latin typeface="Courier New"/>
              </a:rPr>
              <a:t>iex&gt; nil == :nil</a:t>
            </a:r>
          </a:p>
        </p:txBody>
      </p:sp>
      <p:sp>
        <p:nvSpPr>
          <p:cNvPr id="12" name="a1wd400_code11"/>
          <p:cNvSpPr txBox="1"/>
          <p:nvPr/>
        </p:nvSpPr>
        <p:spPr>
          <a:xfrm>
            <a:off x="621792" y="2875787"/>
            <a:ext cx="4517136" cy="214884"/>
          </a:xfrm>
          <a:prstGeom prst="rect">
            <a:avLst/>
          </a:prstGeom>
          <a:noFill/>
        </p:spPr>
        <p:txBody>
          <a:bodyPr wrap="none" lIns="0" tIns="0" rIns="0" bIns="0" anchor="ctr">
            <a:spAutoFit/>
          </a:bodyPr>
          <a:lstStyle/>
          <a:p>
            <a:pPr algn="l"/>
            <a:r>
              <a:rPr sz="1000" b="0">
                <a:solidFill>
                  <a:srgbClr val="14B8A6"/>
                </a:solidFill>
                <a:latin typeface="Courier New"/>
              </a:rPr>
              <a:t>true</a:t>
            </a:r>
          </a:p>
        </p:txBody>
      </p:sp>
      <p:sp>
        <p:nvSpPr>
          <p:cNvPr id="13" name="a1wd480_code12"/>
          <p:cNvSpPr txBox="1"/>
          <p:nvPr/>
        </p:nvSpPr>
        <p:spPr>
          <a:xfrm>
            <a:off x="621792" y="3090672"/>
            <a:ext cx="4517136" cy="214884"/>
          </a:xfrm>
          <a:prstGeom prst="rect">
            <a:avLst/>
          </a:prstGeom>
          <a:noFill/>
        </p:spPr>
        <p:txBody>
          <a:bodyPr wrap="none" lIns="0" tIns="0" rIns="0" bIns="0" anchor="ctr">
            <a:spAutoFit/>
          </a:bodyPr>
          <a:lstStyle/>
          <a:p>
            <a:pPr algn="l"/>
            <a:r>
              <a:rPr sz="1000" b="1">
                <a:solidFill>
                  <a:srgbClr val="C9B3E8"/>
                </a:solidFill>
                <a:latin typeface="Courier New"/>
              </a:rPr>
              <a:t>iex&gt; Atom.to_string(nil)</a:t>
            </a:r>
          </a:p>
        </p:txBody>
      </p:sp>
      <p:sp>
        <p:nvSpPr>
          <p:cNvPr id="14" name="a1wd560_code13"/>
          <p:cNvSpPr txBox="1"/>
          <p:nvPr/>
        </p:nvSpPr>
        <p:spPr>
          <a:xfrm>
            <a:off x="621792" y="3305556"/>
            <a:ext cx="4517136" cy="214884"/>
          </a:xfrm>
          <a:prstGeom prst="rect">
            <a:avLst/>
          </a:prstGeom>
          <a:noFill/>
        </p:spPr>
        <p:txBody>
          <a:bodyPr wrap="none" lIns="0" tIns="0" rIns="0" bIns="0" anchor="ctr">
            <a:spAutoFit/>
          </a:bodyPr>
          <a:lstStyle/>
          <a:p>
            <a:pPr algn="l"/>
            <a:r>
              <a:rPr sz="1000" b="0">
                <a:solidFill>
                  <a:srgbClr val="14B8A6"/>
                </a:solidFill>
                <a:latin typeface="Courier New"/>
              </a:rPr>
              <a:t>"nil"</a:t>
            </a:r>
          </a:p>
        </p:txBody>
      </p:sp>
      <p:sp>
        <p:nvSpPr>
          <p:cNvPr id="15" name="a1wd640_code14"/>
          <p:cNvSpPr txBox="1"/>
          <p:nvPr/>
        </p:nvSpPr>
        <p:spPr>
          <a:xfrm>
            <a:off x="621792" y="3520439"/>
            <a:ext cx="4517136" cy="214884"/>
          </a:xfrm>
          <a:prstGeom prst="rect">
            <a:avLst/>
          </a:prstGeom>
          <a:noFill/>
        </p:spPr>
        <p:txBody>
          <a:bodyPr wrap="none" lIns="0" tIns="0" rIns="0" bIns="0" anchor="ctr">
            <a:spAutoFit/>
          </a:bodyPr>
          <a:lstStyle/>
          <a:p>
            <a:pPr algn="l"/>
            <a:r>
              <a:rPr sz="1000" b="1">
                <a:solidFill>
                  <a:srgbClr val="C9B3E8"/>
                </a:solidFill>
                <a:latin typeface="Courier New"/>
              </a:rPr>
              <a:t>iex&gt; :true</a:t>
            </a:r>
          </a:p>
        </p:txBody>
      </p:sp>
      <p:sp>
        <p:nvSpPr>
          <p:cNvPr id="16" name="a1wd720_code15"/>
          <p:cNvSpPr txBox="1"/>
          <p:nvPr/>
        </p:nvSpPr>
        <p:spPr>
          <a:xfrm>
            <a:off x="621792" y="3735324"/>
            <a:ext cx="4517136" cy="214884"/>
          </a:xfrm>
          <a:prstGeom prst="rect">
            <a:avLst/>
          </a:prstGeom>
          <a:noFill/>
        </p:spPr>
        <p:txBody>
          <a:bodyPr wrap="none" lIns="0" tIns="0" rIns="0" bIns="0" anchor="ctr">
            <a:spAutoFit/>
          </a:bodyPr>
          <a:lstStyle/>
          <a:p>
            <a:pPr algn="l"/>
            <a:r>
              <a:rPr sz="1000" b="0">
                <a:solidFill>
                  <a:srgbClr val="14B8A6"/>
                </a:solidFill>
                <a:latin typeface="Courier New"/>
              </a:rPr>
              <a:t>true          # printed WITHOUT the colon</a:t>
            </a:r>
          </a:p>
        </p:txBody>
      </p:sp>
      <p:sp>
        <p:nvSpPr>
          <p:cNvPr id="17" name="a2u_dot16"/>
          <p:cNvSpPr/>
          <p:nvPr/>
        </p:nvSpPr>
        <p:spPr>
          <a:xfrm>
            <a:off x="54406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_b17"/>
          <p:cNvSpPr txBox="1"/>
          <p:nvPr/>
        </p:nvSpPr>
        <p:spPr>
          <a:xfrm>
            <a:off x="5660136" y="1399031"/>
            <a:ext cx="3026663" cy="713231"/>
          </a:xfrm>
          <a:prstGeom prst="rect">
            <a:avLst/>
          </a:prstGeom>
          <a:noFill/>
        </p:spPr>
        <p:txBody>
          <a:bodyPr wrap="square" lIns="0" tIns="0" rIns="0" bIns="0" anchor="t">
            <a:spAutoFit/>
          </a:bodyPr>
          <a:lstStyle/>
          <a:p>
            <a:pPr algn="l"/>
            <a:r>
              <a:rPr sz="1100" b="1">
                <a:solidFill>
                  <a:srgbClr val="0F172A"/>
                </a:solidFill>
                <a:latin typeface="Calibri"/>
              </a:rPr>
              <a:t>is_boolean/1 is a narrowing  </a:t>
            </a:r>
            <a:r>
              <a:rPr sz="1100" b="0">
                <a:solidFill>
                  <a:srgbClr val="334155"/>
                </a:solidFill>
                <a:latin typeface="Calibri"/>
              </a:rPr>
              <a:t>it asks: is this atom one of the two boolean ones?</a:t>
            </a:r>
          </a:p>
        </p:txBody>
      </p:sp>
      <p:sp>
        <p:nvSpPr>
          <p:cNvPr id="19" name="a2ud180_dot18"/>
          <p:cNvSpPr/>
          <p:nvPr/>
        </p:nvSpPr>
        <p:spPr>
          <a:xfrm>
            <a:off x="5440680" y="2249423"/>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180_b19"/>
          <p:cNvSpPr txBox="1"/>
          <p:nvPr/>
        </p:nvSpPr>
        <p:spPr>
          <a:xfrm>
            <a:off x="5660136" y="2148839"/>
            <a:ext cx="3026663" cy="713231"/>
          </a:xfrm>
          <a:prstGeom prst="rect">
            <a:avLst/>
          </a:prstGeom>
          <a:noFill/>
        </p:spPr>
        <p:txBody>
          <a:bodyPr wrap="square" lIns="0" tIns="0" rIns="0" bIns="0" anchor="t">
            <a:spAutoFit/>
          </a:bodyPr>
          <a:lstStyle/>
          <a:p>
            <a:pPr algn="l"/>
            <a:r>
              <a:rPr sz="1100" b="1">
                <a:solidFill>
                  <a:srgbClr val="0F172A"/>
                </a:solidFill>
                <a:latin typeface="Calibri"/>
              </a:rPr>
              <a:t>nil is not null  </a:t>
            </a:r>
            <a:r>
              <a:rPr sz="1100" b="0">
                <a:solidFill>
                  <a:srgbClr val="334155"/>
                </a:solidFill>
                <a:latin typeface="Calibri"/>
              </a:rPr>
              <a:t>it is an ordinary atom with one special job — falsiness</a:t>
            </a:r>
          </a:p>
        </p:txBody>
      </p:sp>
      <p:sp>
        <p:nvSpPr>
          <p:cNvPr id="21" name="a2ud360_dot20"/>
          <p:cNvSpPr/>
          <p:nvPr/>
        </p:nvSpPr>
        <p:spPr>
          <a:xfrm>
            <a:off x="5440680" y="2999231"/>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2ud360_b21"/>
          <p:cNvSpPr txBox="1"/>
          <p:nvPr/>
        </p:nvSpPr>
        <p:spPr>
          <a:xfrm>
            <a:off x="5660136" y="2898647"/>
            <a:ext cx="3026663" cy="713231"/>
          </a:xfrm>
          <a:prstGeom prst="rect">
            <a:avLst/>
          </a:prstGeom>
          <a:noFill/>
        </p:spPr>
        <p:txBody>
          <a:bodyPr wrap="square" lIns="0" tIns="0" rIns="0" bIns="0" anchor="t">
            <a:spAutoFit/>
          </a:bodyPr>
          <a:lstStyle/>
          <a:p>
            <a:pPr algn="l"/>
            <a:r>
              <a:rPr sz="1100" b="1">
                <a:solidFill>
                  <a:srgbClr val="0F172A"/>
                </a:solidFill>
                <a:latin typeface="Calibri"/>
              </a:rPr>
              <a:t>Only false and nil are falsy  </a:t>
            </a:r>
            <a:r>
              <a:rPr sz="1100" b="0">
                <a:solidFill>
                  <a:srgbClr val="334155"/>
                </a:solidFill>
                <a:latin typeface="Calibri"/>
              </a:rPr>
              <a:t>0, "" and [] are all truthy, because they are not those two atoms</a:t>
            </a:r>
          </a:p>
        </p:txBody>
      </p:sp>
      <p:sp>
        <p:nvSpPr>
          <p:cNvPr id="23" name="a3f_nb22"/>
          <p:cNvSpPr/>
          <p:nvPr/>
        </p:nvSpPr>
        <p:spPr>
          <a:xfrm>
            <a:off x="457200" y="4242816"/>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acc23"/>
          <p:cNvSpPr/>
          <p:nvPr/>
        </p:nvSpPr>
        <p:spPr>
          <a:xfrm>
            <a:off x="457200" y="4242816"/>
            <a:ext cx="50292" cy="420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3f_nt24"/>
          <p:cNvSpPr txBox="1"/>
          <p:nvPr/>
        </p:nvSpPr>
        <p:spPr>
          <a:xfrm>
            <a:off x="658368" y="4242816"/>
            <a:ext cx="7827264" cy="420624"/>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This is why `if` needs no special casing in the compiler: truthiness is one comparison against two atoms.</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4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720"/>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ppt_y+0.1"/>
                                          </p:val>
                                        </p:tav>
                                        <p:tav tm="100000">
                                          <p:val>
                                            <p:strVal val="#ppt_y"/>
                                          </p:val>
                                        </p:tav>
                                      </p:tavLst>
                                    </p:anim>
                                    <p:animEffect transition="in" filter="fade">
                                      <p:cBhvr>
                                        <p:cTn id="47" dur="500"/>
                                        <p:tgtEl>
                                          <p:spTgt spid="17"/>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ppt_y+0.1"/>
                                          </p:val>
                                        </p:tav>
                                        <p:tav tm="100000">
                                          <p:val>
                                            <p:strVal val="#ppt_y"/>
                                          </p:val>
                                        </p:tav>
                                      </p:tavLst>
                                    </p:anim>
                                    <p:animEffect transition="in" filter="fade">
                                      <p:cBhvr>
                                        <p:cTn id="52" dur="500"/>
                                        <p:tgtEl>
                                          <p:spTgt spid="18"/>
                                        </p:tgtEl>
                                      </p:cBhvr>
                                    </p:animEffect>
                                  </p:childTnLst>
                                </p:cTn>
                              </p:par>
                              <p:par>
                                <p:cTn id="53" presetID="2" presetClass="entr" presetSubtype="4" fill="hold" grpId="0" nodeType="withEffect">
                                  <p:stCondLst>
                                    <p:cond delay="18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ppt_y+0.1"/>
                                          </p:val>
                                        </p:tav>
                                        <p:tav tm="100000">
                                          <p:val>
                                            <p:strVal val="#ppt_y"/>
                                          </p:val>
                                        </p:tav>
                                      </p:tavLst>
                                    </p:anim>
                                    <p:animEffect transition="in" filter="fade">
                                      <p:cBhvr>
                                        <p:cTn id="57" dur="500"/>
                                        <p:tgtEl>
                                          <p:spTgt spid="19"/>
                                        </p:tgtEl>
                                      </p:cBhvr>
                                    </p:animEffect>
                                  </p:childTnLst>
                                </p:cTn>
                              </p:par>
                              <p:par>
                                <p:cTn id="58" presetID="2" presetClass="entr" presetSubtype="4" fill="hold" grpId="0" nodeType="withEffect">
                                  <p:stCondLst>
                                    <p:cond delay="18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500" fill="hold"/>
                                        <p:tgtEl>
                                          <p:spTgt spid="20"/>
                                        </p:tgtEl>
                                        <p:attrNameLst>
                                          <p:attrName>ppt_x</p:attrName>
                                        </p:attrNameLst>
                                      </p:cBhvr>
                                      <p:tavLst>
                                        <p:tav tm="0">
                                          <p:val>
                                            <p:strVal val="#ppt_x"/>
                                          </p:val>
                                        </p:tav>
                                        <p:tav tm="100000">
                                          <p:val>
                                            <p:strVal val="#ppt_x"/>
                                          </p:val>
                                        </p:tav>
                                      </p:tavLst>
                                    </p:anim>
                                    <p:anim calcmode="lin" valueType="num">
                                      <p:cBhvr additive="base">
                                        <p:cTn id="61" dur="500" fill="hold"/>
                                        <p:tgtEl>
                                          <p:spTgt spid="20"/>
                                        </p:tgtEl>
                                        <p:attrNameLst>
                                          <p:attrName>ppt_y</p:attrName>
                                        </p:attrNameLst>
                                      </p:cBhvr>
                                      <p:tavLst>
                                        <p:tav tm="0">
                                          <p:val>
                                            <p:strVal val="#ppt_y+0.1"/>
                                          </p:val>
                                        </p:tav>
                                        <p:tav tm="100000">
                                          <p:val>
                                            <p:strVal val="#ppt_y"/>
                                          </p:val>
                                        </p:tav>
                                      </p:tavLst>
                                    </p:anim>
                                    <p:animEffect transition="in" filter="fade">
                                      <p:cBhvr>
                                        <p:cTn id="62" dur="500"/>
                                        <p:tgtEl>
                                          <p:spTgt spid="20"/>
                                        </p:tgtEl>
                                      </p:cBhvr>
                                    </p:animEffect>
                                  </p:childTnLst>
                                </p:cTn>
                              </p:par>
                              <p:par>
                                <p:cTn id="63" presetID="2" presetClass="entr" presetSubtype="4" fill="hold" grpId="0" nodeType="withEffect">
                                  <p:stCondLst>
                                    <p:cond delay="36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ppt_y+0.1"/>
                                          </p:val>
                                        </p:tav>
                                        <p:tav tm="100000">
                                          <p:val>
                                            <p:strVal val="#ppt_y"/>
                                          </p:val>
                                        </p:tav>
                                      </p:tavLst>
                                    </p:anim>
                                    <p:animEffect transition="in" filter="fade">
                                      <p:cBhvr>
                                        <p:cTn id="67" dur="500"/>
                                        <p:tgtEl>
                                          <p:spTgt spid="21"/>
                                        </p:tgtEl>
                                      </p:cBhvr>
                                    </p:animEffect>
                                  </p:childTnLst>
                                </p:cTn>
                              </p:par>
                              <p:par>
                                <p:cTn id="68" presetID="2" presetClass="entr" presetSubtype="4" fill="hold" grpId="0" nodeType="withEffect">
                                  <p:stCondLst>
                                    <p:cond delay="36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ppt_x"/>
                                          </p:val>
                                        </p:tav>
                                        <p:tav tm="100000">
                                          <p:val>
                                            <p:strVal val="#ppt_x"/>
                                          </p:val>
                                        </p:tav>
                                      </p:tavLst>
                                    </p:anim>
                                    <p:anim calcmode="lin" valueType="num">
                                      <p:cBhvr additive="base">
                                        <p:cTn id="71" dur="500" fill="hold"/>
                                        <p:tgtEl>
                                          <p:spTgt spid="22"/>
                                        </p:tgtEl>
                                        <p:attrNameLst>
                                          <p:attrName>ppt_y</p:attrName>
                                        </p:attrNameLst>
                                      </p:cBhvr>
                                      <p:tavLst>
                                        <p:tav tm="0">
                                          <p:val>
                                            <p:strVal val="#ppt_y+0.1"/>
                                          </p:val>
                                        </p:tav>
                                        <p:tav tm="100000">
                                          <p:val>
                                            <p:strVal val="#ppt_y"/>
                                          </p:val>
                                        </p:tav>
                                      </p:tavLst>
                                    </p:anim>
                                    <p:animEffect transition="in" filter="fad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ATOMS YOU ALREADY USE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Every module name is an atom with a prefix</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String is not a keyword. It is the atom :"Elixir.String".</a:t>
            </a:r>
          </a:p>
        </p:txBody>
      </p:sp>
      <p:sp>
        <p:nvSpPr>
          <p:cNvPr id="5" name="a1f_codebg4"/>
          <p:cNvSpPr/>
          <p:nvPr/>
        </p:nvSpPr>
        <p:spPr>
          <a:xfrm>
            <a:off x="457200" y="1362456"/>
            <a:ext cx="822960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String == :"Elixir.String"</a:t>
            </a:r>
          </a:p>
        </p:txBody>
      </p:sp>
      <p:sp>
        <p:nvSpPr>
          <p:cNvPr id="8" name="a1wd78_code7"/>
          <p:cNvSpPr txBox="1"/>
          <p:nvPr/>
        </p:nvSpPr>
        <p:spPr>
          <a:xfrm>
            <a:off x="621792" y="2016252"/>
            <a:ext cx="7900416" cy="214884"/>
          </a:xfrm>
          <a:prstGeom prst="rect">
            <a:avLst/>
          </a:prstGeom>
          <a:noFill/>
        </p:spPr>
        <p:txBody>
          <a:bodyPr wrap="none" lIns="0" tIns="0" rIns="0" bIns="0" anchor="ctr">
            <a:spAutoFit/>
          </a:bodyPr>
          <a:lstStyle/>
          <a:p>
            <a:pPr algn="l"/>
            <a:r>
              <a:rPr sz="1000" b="0">
                <a:solidFill>
                  <a:srgbClr val="14B8A6"/>
                </a:solidFill>
                <a:latin typeface="Courier New"/>
              </a:rPr>
              <a:t>true</a:t>
            </a:r>
          </a:p>
        </p:txBody>
      </p:sp>
      <p:sp>
        <p:nvSpPr>
          <p:cNvPr id="9" name="a1wd156_code8"/>
          <p:cNvSpPr txBox="1"/>
          <p:nvPr/>
        </p:nvSpPr>
        <p:spPr>
          <a:xfrm>
            <a:off x="621792" y="2261634"/>
            <a:ext cx="3847207" cy="153888"/>
          </a:xfrm>
          <a:prstGeom prst="rect">
            <a:avLst/>
          </a:prstGeom>
          <a:noFill/>
        </p:spPr>
        <p:txBody>
          <a:bodyPr wrap="none" lIns="0" tIns="0" rIns="0" bIns="0" anchor="ctr">
            <a:spAutoFit/>
          </a:bodyPr>
          <a:lstStyle/>
          <a:p>
            <a:pPr algn="l"/>
            <a:r>
              <a:rPr sz="1000" b="1" dirty="0" err="1">
                <a:solidFill>
                  <a:srgbClr val="C9B3E8"/>
                </a:solidFill>
                <a:latin typeface="Courier New"/>
              </a:rPr>
              <a:t>iex</a:t>
            </a:r>
            <a:r>
              <a:rPr sz="1000" b="1" dirty="0">
                <a:solidFill>
                  <a:srgbClr val="C9B3E8"/>
                </a:solidFill>
                <a:latin typeface="Courier New"/>
              </a:rPr>
              <a:t>&gt; </a:t>
            </a:r>
            <a:r>
              <a:rPr sz="1000" b="1" dirty="0" err="1">
                <a:solidFill>
                  <a:srgbClr val="C9B3E8"/>
                </a:solidFill>
                <a:latin typeface="Courier New"/>
              </a:rPr>
              <a:t>Module.concat</a:t>
            </a:r>
            <a:r>
              <a:rPr sz="1000" b="1" dirty="0">
                <a:solidFill>
                  <a:srgbClr val="C9B3E8"/>
                </a:solidFill>
                <a:latin typeface="Courier New"/>
              </a:rPr>
              <a:t>(</a:t>
            </a:r>
            <a:r>
              <a:rPr lang="en-US" sz="1000" b="1" dirty="0">
                <a:solidFill>
                  <a:srgbClr val="C9B3E8"/>
                </a:solidFill>
                <a:latin typeface="Courier New"/>
              </a:rPr>
              <a:t>[</a:t>
            </a:r>
            <a:r>
              <a:rPr sz="1000" b="1" dirty="0">
                <a:solidFill>
                  <a:srgbClr val="C9B3E8"/>
                </a:solidFill>
                <a:latin typeface="Courier New"/>
              </a:rPr>
              <a:t>Foo, Bar</a:t>
            </a:r>
            <a:r>
              <a:rPr lang="en-US" sz="1000" b="1" dirty="0">
                <a:solidFill>
                  <a:srgbClr val="C9B3E8"/>
                </a:solidFill>
                <a:latin typeface="Courier New"/>
              </a:rPr>
              <a:t>]</a:t>
            </a:r>
            <a:r>
              <a:rPr sz="1000" b="1" dirty="0">
                <a:solidFill>
                  <a:srgbClr val="C9B3E8"/>
                </a:solidFill>
                <a:latin typeface="Courier New"/>
              </a:rPr>
              <a:t>) |&gt; </a:t>
            </a:r>
            <a:r>
              <a:rPr sz="1000" b="1" dirty="0" err="1">
                <a:solidFill>
                  <a:srgbClr val="C9B3E8"/>
                </a:solidFill>
                <a:latin typeface="Courier New"/>
              </a:rPr>
              <a:t>Atom.to_string</a:t>
            </a:r>
            <a:r>
              <a:rPr sz="1000" b="1" dirty="0">
                <a:solidFill>
                  <a:srgbClr val="C9B3E8"/>
                </a:solidFill>
                <a:latin typeface="Courier New"/>
              </a:rPr>
              <a:t>()</a:t>
            </a:r>
          </a:p>
        </p:txBody>
      </p:sp>
      <p:sp>
        <p:nvSpPr>
          <p:cNvPr id="10" name="a1wd234_code9"/>
          <p:cNvSpPr txBox="1"/>
          <p:nvPr/>
        </p:nvSpPr>
        <p:spPr>
          <a:xfrm>
            <a:off x="621792" y="2446020"/>
            <a:ext cx="7900416" cy="214884"/>
          </a:xfrm>
          <a:prstGeom prst="rect">
            <a:avLst/>
          </a:prstGeom>
          <a:noFill/>
        </p:spPr>
        <p:txBody>
          <a:bodyPr wrap="none" lIns="0" tIns="0" rIns="0" bIns="0" anchor="ctr">
            <a:spAutoFit/>
          </a:bodyPr>
          <a:lstStyle/>
          <a:p>
            <a:pPr algn="l"/>
            <a:r>
              <a:rPr sz="1000" b="0">
                <a:solidFill>
                  <a:srgbClr val="14B8A6"/>
                </a:solidFill>
                <a:latin typeface="Courier New"/>
              </a:rPr>
              <a:t>"Elixir.Foo.Bar"</a:t>
            </a:r>
          </a:p>
        </p:txBody>
      </p:sp>
      <p:sp>
        <p:nvSpPr>
          <p:cNvPr id="11" name="a1wd312_code10"/>
          <p:cNvSpPr txBox="1"/>
          <p:nvPr/>
        </p:nvSpPr>
        <p:spPr>
          <a:xfrm>
            <a:off x="621792" y="2660904"/>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Atom.to_string(:erlang)     # Erlang modules have NO prefix</a:t>
            </a:r>
          </a:p>
        </p:txBody>
      </p:sp>
      <p:sp>
        <p:nvSpPr>
          <p:cNvPr id="12" name="a1wd390_code11"/>
          <p:cNvSpPr txBox="1"/>
          <p:nvPr/>
        </p:nvSpPr>
        <p:spPr>
          <a:xfrm>
            <a:off x="621792" y="2875787"/>
            <a:ext cx="7900416" cy="214884"/>
          </a:xfrm>
          <a:prstGeom prst="rect">
            <a:avLst/>
          </a:prstGeom>
          <a:noFill/>
        </p:spPr>
        <p:txBody>
          <a:bodyPr wrap="none" lIns="0" tIns="0" rIns="0" bIns="0" anchor="ctr">
            <a:spAutoFit/>
          </a:bodyPr>
          <a:lstStyle/>
          <a:p>
            <a:pPr algn="l"/>
            <a:r>
              <a:rPr sz="1000" b="0">
                <a:solidFill>
                  <a:srgbClr val="14B8A6"/>
                </a:solidFill>
                <a:latin typeface="Courier New"/>
              </a:rPr>
              <a:t>"erlang"</a:t>
            </a:r>
          </a:p>
        </p:txBody>
      </p:sp>
      <p:sp>
        <p:nvSpPr>
          <p:cNvPr id="13" name="a1wd468_code12"/>
          <p:cNvSpPr txBox="1"/>
          <p:nvPr/>
        </p:nvSpPr>
        <p:spPr>
          <a:xfrm>
            <a:off x="621792" y="3090672"/>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mod = :"Elixir.String"; mod.upcase("dynamic")</a:t>
            </a:r>
          </a:p>
        </p:txBody>
      </p:sp>
      <p:sp>
        <p:nvSpPr>
          <p:cNvPr id="14" name="a1wd546_code13"/>
          <p:cNvSpPr txBox="1"/>
          <p:nvPr/>
        </p:nvSpPr>
        <p:spPr>
          <a:xfrm>
            <a:off x="621792" y="3305556"/>
            <a:ext cx="7900416" cy="214884"/>
          </a:xfrm>
          <a:prstGeom prst="rect">
            <a:avLst/>
          </a:prstGeom>
          <a:noFill/>
        </p:spPr>
        <p:txBody>
          <a:bodyPr wrap="none" lIns="0" tIns="0" rIns="0" bIns="0" anchor="ctr">
            <a:spAutoFit/>
          </a:bodyPr>
          <a:lstStyle/>
          <a:p>
            <a:pPr algn="l"/>
            <a:r>
              <a:rPr sz="1000" b="0">
                <a:solidFill>
                  <a:srgbClr val="14B8A6"/>
                </a:solidFill>
                <a:latin typeface="Courier New"/>
              </a:rPr>
              <a:t>"DYNAMIC"</a:t>
            </a:r>
          </a:p>
        </p:txBody>
      </p:sp>
      <p:sp>
        <p:nvSpPr>
          <p:cNvPr id="15" name="a2f_nb14"/>
          <p:cNvSpPr/>
          <p:nvPr/>
        </p:nvSpPr>
        <p:spPr>
          <a:xfrm>
            <a:off x="457200" y="3813048"/>
            <a:ext cx="4023360" cy="658368"/>
          </a:xfrm>
          <a:prstGeom prst="roundRect">
            <a:avLst>
              <a:gd name="adj" fmla="val 1111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f_nacc15"/>
          <p:cNvSpPr/>
          <p:nvPr/>
        </p:nvSpPr>
        <p:spPr>
          <a:xfrm>
            <a:off x="457200" y="3813048"/>
            <a:ext cx="50292" cy="65836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f_nt16"/>
          <p:cNvSpPr txBox="1"/>
          <p:nvPr/>
        </p:nvSpPr>
        <p:spPr>
          <a:xfrm>
            <a:off x="658368" y="3813048"/>
            <a:ext cx="3621024" cy="658368"/>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An alias like String is compile-time sugar. The compiler expands it to the atom, and that atom is what the VM dispatches on.</a:t>
            </a:r>
          </a:p>
        </p:txBody>
      </p:sp>
      <p:sp>
        <p:nvSpPr>
          <p:cNvPr id="18" name="a2fd120_nb17"/>
          <p:cNvSpPr/>
          <p:nvPr/>
        </p:nvSpPr>
        <p:spPr>
          <a:xfrm>
            <a:off x="4663440" y="3813048"/>
            <a:ext cx="4023360" cy="658368"/>
          </a:xfrm>
          <a:prstGeom prst="roundRect">
            <a:avLst>
              <a:gd name="adj" fmla="val 1111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fd120_nacc18"/>
          <p:cNvSpPr/>
          <p:nvPr/>
        </p:nvSpPr>
        <p:spPr>
          <a:xfrm>
            <a:off x="4663440" y="3813048"/>
            <a:ext cx="50292" cy="658368"/>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fd120_nt19"/>
          <p:cNvSpPr txBox="1"/>
          <p:nvPr/>
        </p:nvSpPr>
        <p:spPr>
          <a:xfrm>
            <a:off x="4864607" y="3813048"/>
            <a:ext cx="3621024" cy="658368"/>
          </a:xfrm>
          <a:prstGeom prst="rect">
            <a:avLst/>
          </a:prstGeom>
          <a:noFill/>
        </p:spPr>
        <p:txBody>
          <a:bodyPr wrap="square" lIns="0" tIns="0" rIns="0" bIns="0" anchor="ctr">
            <a:spAutoFit/>
          </a:bodyPr>
          <a:lstStyle/>
          <a:p>
            <a:pPr algn="l"/>
            <a:r>
              <a:rPr sz="1150" b="1">
                <a:solidFill>
                  <a:srgbClr val="A90533"/>
                </a:solidFill>
                <a:latin typeface="Calibri"/>
              </a:rPr>
              <a:t>→  </a:t>
            </a:r>
            <a:r>
              <a:rPr sz="1150" b="0">
                <a:solidFill>
                  <a:srgbClr val="334155"/>
                </a:solidFill>
                <a:latin typeface="Calibri"/>
              </a:rPr>
              <a:t>This is why :erlang.length/1 works with no ceremony — an Erlang module is just an atom without the Elixir. prefix.</a:t>
            </a:r>
          </a:p>
        </p:txBody>
      </p:sp>
      <p:sp>
        <p:nvSpPr>
          <p:cNvPr id="21" name="ft20"/>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2" name="ft21"/>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8"/>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6"/>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34"/>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12"/>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9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68"/>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46"/>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12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12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12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A COMMON CONFUSION</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An atom is a name. Nothing has to answer to it.</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Creating the name and creating the thing are separate events.</a:t>
            </a:r>
          </a:p>
        </p:txBody>
      </p:sp>
      <p:sp>
        <p:nvSpPr>
          <p:cNvPr id="5" name="a1f_codebg4"/>
          <p:cNvSpPr/>
          <p:nvPr/>
        </p:nvSpPr>
        <p:spPr>
          <a:xfrm>
            <a:off x="457200" y="1362456"/>
            <a:ext cx="507492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is_atom(:"Elixir.NoSuchModule")</a:t>
            </a:r>
          </a:p>
        </p:txBody>
      </p:sp>
      <p:sp>
        <p:nvSpPr>
          <p:cNvPr id="8" name="a1wd80_code7"/>
          <p:cNvSpPr txBox="1"/>
          <p:nvPr/>
        </p:nvSpPr>
        <p:spPr>
          <a:xfrm>
            <a:off x="621792" y="2016252"/>
            <a:ext cx="4745736" cy="214884"/>
          </a:xfrm>
          <a:prstGeom prst="rect">
            <a:avLst/>
          </a:prstGeom>
          <a:noFill/>
        </p:spPr>
        <p:txBody>
          <a:bodyPr wrap="none" lIns="0" tIns="0" rIns="0" bIns="0" anchor="ctr">
            <a:spAutoFit/>
          </a:bodyPr>
          <a:lstStyle/>
          <a:p>
            <a:pPr algn="l"/>
            <a:r>
              <a:rPr sz="1000" b="0">
                <a:solidFill>
                  <a:srgbClr val="14B8A6"/>
                </a:solidFill>
                <a:latin typeface="Courier New"/>
              </a:rPr>
              <a:t>true                    # the ATOM exists</a:t>
            </a:r>
          </a:p>
        </p:txBody>
      </p:sp>
      <p:sp>
        <p:nvSpPr>
          <p:cNvPr id="9" name="a1wd160_code8"/>
          <p:cNvSpPr txBox="1"/>
          <p:nvPr/>
        </p:nvSpPr>
        <p:spPr>
          <a:xfrm>
            <a:off x="621792" y="2231136"/>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Code.ensure_loaded?(NoSuchModule)</a:t>
            </a:r>
          </a:p>
        </p:txBody>
      </p:sp>
      <p:sp>
        <p:nvSpPr>
          <p:cNvPr id="10" name="a1wd240_code9"/>
          <p:cNvSpPr txBox="1"/>
          <p:nvPr/>
        </p:nvSpPr>
        <p:spPr>
          <a:xfrm>
            <a:off x="621792" y="2446020"/>
            <a:ext cx="4745736" cy="214884"/>
          </a:xfrm>
          <a:prstGeom prst="rect">
            <a:avLst/>
          </a:prstGeom>
          <a:noFill/>
        </p:spPr>
        <p:txBody>
          <a:bodyPr wrap="none" lIns="0" tIns="0" rIns="0" bIns="0" anchor="ctr">
            <a:spAutoFit/>
          </a:bodyPr>
          <a:lstStyle/>
          <a:p>
            <a:pPr algn="l"/>
            <a:r>
              <a:rPr sz="1000" b="0">
                <a:solidFill>
                  <a:srgbClr val="14B8A6"/>
                </a:solidFill>
                <a:latin typeface="Courier New"/>
              </a:rPr>
              <a:t>false                   # the MODULE does not</a:t>
            </a:r>
          </a:p>
        </p:txBody>
      </p:sp>
      <p:sp>
        <p:nvSpPr>
          <p:cNvPr id="11" name="a1wd320_code10"/>
          <p:cNvSpPr txBox="1"/>
          <p:nvPr/>
        </p:nvSpPr>
        <p:spPr>
          <a:xfrm>
            <a:off x="621792" y="2660904"/>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NoSuchModule.run()</a:t>
            </a:r>
          </a:p>
        </p:txBody>
      </p:sp>
      <p:sp>
        <p:nvSpPr>
          <p:cNvPr id="12" name="a1wd400_code11"/>
          <p:cNvSpPr txBox="1"/>
          <p:nvPr/>
        </p:nvSpPr>
        <p:spPr>
          <a:xfrm>
            <a:off x="621792" y="2875787"/>
            <a:ext cx="4745736" cy="214884"/>
          </a:xfrm>
          <a:prstGeom prst="rect">
            <a:avLst/>
          </a:prstGeom>
          <a:noFill/>
        </p:spPr>
        <p:txBody>
          <a:bodyPr wrap="none" lIns="0" tIns="0" rIns="0" bIns="0" anchor="ctr">
            <a:spAutoFit/>
          </a:bodyPr>
          <a:lstStyle/>
          <a:p>
            <a:pPr algn="l"/>
            <a:r>
              <a:rPr sz="1000" b="0">
                <a:solidFill>
                  <a:srgbClr val="FCA5A5"/>
                </a:solidFill>
                <a:latin typeface="Courier New"/>
              </a:rPr>
              <a:t>** (UndefinedFunctionError) function</a:t>
            </a:r>
          </a:p>
        </p:txBody>
      </p:sp>
      <p:sp>
        <p:nvSpPr>
          <p:cNvPr id="13" name="a1wd480_code12"/>
          <p:cNvSpPr txBox="1"/>
          <p:nvPr/>
        </p:nvSpPr>
        <p:spPr>
          <a:xfrm>
            <a:off x="621792" y="3090672"/>
            <a:ext cx="4745736" cy="214884"/>
          </a:xfrm>
          <a:prstGeom prst="rect">
            <a:avLst/>
          </a:prstGeom>
          <a:noFill/>
        </p:spPr>
        <p:txBody>
          <a:bodyPr wrap="none" lIns="0" tIns="0" rIns="0" bIns="0" anchor="ctr">
            <a:spAutoFit/>
          </a:bodyPr>
          <a:lstStyle/>
          <a:p>
            <a:pPr algn="l"/>
            <a:r>
              <a:rPr sz="1000" b="0">
                <a:solidFill>
                  <a:srgbClr val="FCA5A5"/>
                </a:solidFill>
                <a:latin typeface="Courier New"/>
              </a:rPr>
              <a:t>   NoSuchModule.run/0 is undefined</a:t>
            </a:r>
          </a:p>
        </p:txBody>
      </p:sp>
      <p:sp>
        <p:nvSpPr>
          <p:cNvPr id="14" name="a1wd560_code13"/>
          <p:cNvSpPr txBox="1"/>
          <p:nvPr/>
        </p:nvSpPr>
        <p:spPr>
          <a:xfrm>
            <a:off x="621792" y="3305556"/>
            <a:ext cx="4745736" cy="214884"/>
          </a:xfrm>
          <a:prstGeom prst="rect">
            <a:avLst/>
          </a:prstGeom>
          <a:noFill/>
        </p:spPr>
        <p:txBody>
          <a:bodyPr wrap="none" lIns="0" tIns="0" rIns="0" bIns="0" anchor="ctr">
            <a:spAutoFit/>
          </a:bodyPr>
          <a:lstStyle/>
          <a:p>
            <a:pPr algn="l"/>
            <a:r>
              <a:rPr sz="1000" b="0">
                <a:solidFill>
                  <a:srgbClr val="FCA5A5"/>
                </a:solidFill>
                <a:latin typeface="Courier New"/>
              </a:rPr>
              <a:t>   (module NoSuchModule is not available)</a:t>
            </a:r>
          </a:p>
        </p:txBody>
      </p:sp>
      <p:sp>
        <p:nvSpPr>
          <p:cNvPr id="15" name="a2u_dot14"/>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_b15"/>
          <p:cNvSpPr txBox="1"/>
          <p:nvPr/>
        </p:nvSpPr>
        <p:spPr>
          <a:xfrm>
            <a:off x="5888736" y="1399031"/>
            <a:ext cx="2798063" cy="694944"/>
          </a:xfrm>
          <a:prstGeom prst="rect">
            <a:avLst/>
          </a:prstGeom>
          <a:noFill/>
        </p:spPr>
        <p:txBody>
          <a:bodyPr wrap="square" lIns="0" tIns="0" rIns="0" bIns="0" anchor="t">
            <a:spAutoFit/>
          </a:bodyPr>
          <a:lstStyle/>
          <a:p>
            <a:pPr algn="l"/>
            <a:r>
              <a:rPr sz="1100" b="1">
                <a:solidFill>
                  <a:srgbClr val="0F172A"/>
                </a:solidFill>
                <a:latin typeface="Calibri"/>
              </a:rPr>
              <a:t>Writing Foo creates an atom  </a:t>
            </a:r>
            <a:r>
              <a:rPr sz="1100" b="0">
                <a:solidFill>
                  <a:srgbClr val="334155"/>
                </a:solidFill>
                <a:latin typeface="Calibri"/>
              </a:rPr>
              <a:t>it does not create a module, and it never fails</a:t>
            </a:r>
          </a:p>
        </p:txBody>
      </p:sp>
      <p:sp>
        <p:nvSpPr>
          <p:cNvPr id="17" name="a2ud180_dot16"/>
          <p:cNvSpPr/>
          <p:nvPr/>
        </p:nvSpPr>
        <p:spPr>
          <a:xfrm>
            <a:off x="5669280" y="223113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d180_b17"/>
          <p:cNvSpPr txBox="1"/>
          <p:nvPr/>
        </p:nvSpPr>
        <p:spPr>
          <a:xfrm>
            <a:off x="5888736" y="2130551"/>
            <a:ext cx="2798063" cy="694944"/>
          </a:xfrm>
          <a:prstGeom prst="rect">
            <a:avLst/>
          </a:prstGeom>
          <a:noFill/>
        </p:spPr>
        <p:txBody>
          <a:bodyPr wrap="square" lIns="0" tIns="0" rIns="0" bIns="0" anchor="t">
            <a:spAutoFit/>
          </a:bodyPr>
          <a:lstStyle/>
          <a:p>
            <a:pPr algn="l"/>
            <a:r>
              <a:rPr sz="1100" b="1">
                <a:solidFill>
                  <a:srgbClr val="0F172A"/>
                </a:solidFill>
                <a:latin typeface="Calibri"/>
              </a:rPr>
              <a:t>Same for process names  </a:t>
            </a:r>
            <a:r>
              <a:rPr sz="1100" b="0">
                <a:solidFill>
                  <a:srgbClr val="334155"/>
                </a:solidFill>
                <a:latin typeface="Calibri"/>
              </a:rPr>
              <a:t>:worker is fine before anything registers under it</a:t>
            </a:r>
          </a:p>
        </p:txBody>
      </p:sp>
      <p:sp>
        <p:nvSpPr>
          <p:cNvPr id="19" name="a2ud360_dot18"/>
          <p:cNvSpPr/>
          <p:nvPr/>
        </p:nvSpPr>
        <p:spPr>
          <a:xfrm>
            <a:off x="5669280" y="296265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360_b19"/>
          <p:cNvSpPr txBox="1"/>
          <p:nvPr/>
        </p:nvSpPr>
        <p:spPr>
          <a:xfrm>
            <a:off x="5888736" y="2862071"/>
            <a:ext cx="2798063" cy="694944"/>
          </a:xfrm>
          <a:prstGeom prst="rect">
            <a:avLst/>
          </a:prstGeom>
          <a:noFill/>
        </p:spPr>
        <p:txBody>
          <a:bodyPr wrap="square" lIns="0" tIns="0" rIns="0" bIns="0" anchor="t">
            <a:spAutoFit/>
          </a:bodyPr>
          <a:lstStyle/>
          <a:p>
            <a:pPr algn="l"/>
            <a:r>
              <a:rPr sz="1100" b="1">
                <a:solidFill>
                  <a:srgbClr val="0F172A"/>
                </a:solidFill>
                <a:latin typeface="Calibri"/>
              </a:rPr>
              <a:t>The error comes at call time  </a:t>
            </a:r>
            <a:r>
              <a:rPr sz="1100" b="0">
                <a:solidFill>
                  <a:srgbClr val="334155"/>
                </a:solidFill>
                <a:latin typeface="Calibri"/>
              </a:rPr>
              <a:t>not at the point the atom was written</a:t>
            </a:r>
          </a:p>
        </p:txBody>
      </p:sp>
      <p:sp>
        <p:nvSpPr>
          <p:cNvPr id="21" name="a3f_nb20"/>
          <p:cNvSpPr/>
          <p:nvPr/>
        </p:nvSpPr>
        <p:spPr>
          <a:xfrm>
            <a:off x="457200" y="3813048"/>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3f_nacc21"/>
          <p:cNvSpPr/>
          <p:nvPr/>
        </p:nvSpPr>
        <p:spPr>
          <a:xfrm>
            <a:off x="457200" y="3813048"/>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t22"/>
          <p:cNvSpPr txBox="1"/>
          <p:nvPr/>
        </p:nvSpPr>
        <p:spPr>
          <a:xfrm>
            <a:off x="658368" y="3813048"/>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Worth saying out loud, because the typo :usr instead of :user compiles perfectly and fails somewhere else entirely.</a:t>
            </a:r>
          </a:p>
        </p:txBody>
      </p:sp>
      <p:sp>
        <p:nvSpPr>
          <p:cNvPr id="24" name="ft2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5" name="ft2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ppt_y+0.1"/>
                                          </p:val>
                                        </p:tav>
                                        <p:tav tm="100000">
                                          <p:val>
                                            <p:strVal val="#ppt_y"/>
                                          </p:val>
                                        </p:tav>
                                      </p:tavLst>
                                    </p:anim>
                                    <p:animEffect transition="in" filter="fade">
                                      <p:cBhvr>
                                        <p:cTn id="41" dur="500"/>
                                        <p:tgtEl>
                                          <p:spTgt spid="15"/>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ppt_y+0.1"/>
                                          </p:val>
                                        </p:tav>
                                        <p:tav tm="100000">
                                          <p:val>
                                            <p:strVal val="#ppt_y"/>
                                          </p:val>
                                        </p:tav>
                                      </p:tavLst>
                                    </p:anim>
                                    <p:animEffect transition="in" filter="fade">
                                      <p:cBhvr>
                                        <p:cTn id="46" dur="500"/>
                                        <p:tgtEl>
                                          <p:spTgt spid="16"/>
                                        </p:tgtEl>
                                      </p:cBhvr>
                                    </p:animEffect>
                                  </p:childTnLst>
                                </p:cTn>
                              </p:par>
                              <p:par>
                                <p:cTn id="47" presetID="2" presetClass="entr" presetSubtype="4" fill="hold" grpId="0" nodeType="withEffect">
                                  <p:stCondLst>
                                    <p:cond delay="18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ppt_y+0.1"/>
                                          </p:val>
                                        </p:tav>
                                        <p:tav tm="100000">
                                          <p:val>
                                            <p:strVal val="#ppt_y"/>
                                          </p:val>
                                        </p:tav>
                                      </p:tavLst>
                                    </p:anim>
                                    <p:animEffect transition="in" filter="fade">
                                      <p:cBhvr>
                                        <p:cTn id="51" dur="500"/>
                                        <p:tgtEl>
                                          <p:spTgt spid="17"/>
                                        </p:tgtEl>
                                      </p:cBhvr>
                                    </p:animEffect>
                                  </p:childTnLst>
                                </p:cTn>
                              </p:par>
                              <p:par>
                                <p:cTn id="52" presetID="2" presetClass="entr" presetSubtype="4" fill="hold" grpId="0" nodeType="withEffect">
                                  <p:stCondLst>
                                    <p:cond delay="18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ppt_y+0.1"/>
                                          </p:val>
                                        </p:tav>
                                        <p:tav tm="100000">
                                          <p:val>
                                            <p:strVal val="#ppt_y"/>
                                          </p:val>
                                        </p:tav>
                                      </p:tavLst>
                                    </p:anim>
                                    <p:animEffect transition="in" filter="fade">
                                      <p:cBhvr>
                                        <p:cTn id="56" dur="500"/>
                                        <p:tgtEl>
                                          <p:spTgt spid="18"/>
                                        </p:tgtEl>
                                      </p:cBhvr>
                                    </p:animEffect>
                                  </p:childTnLst>
                                </p:cTn>
                              </p:par>
                              <p:par>
                                <p:cTn id="57" presetID="2" presetClass="entr" presetSubtype="4" fill="hold" grpId="0" nodeType="withEffect">
                                  <p:stCondLst>
                                    <p:cond delay="36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ppt_y+0.1"/>
                                          </p:val>
                                        </p:tav>
                                        <p:tav tm="100000">
                                          <p:val>
                                            <p:strVal val="#ppt_y"/>
                                          </p:val>
                                        </p:tav>
                                      </p:tavLst>
                                    </p:anim>
                                    <p:animEffect transition="in" filter="fade">
                                      <p:cBhvr>
                                        <p:cTn id="61" dur="500"/>
                                        <p:tgtEl>
                                          <p:spTgt spid="19"/>
                                        </p:tgtEl>
                                      </p:cBhvr>
                                    </p:animEffect>
                                  </p:childTnLst>
                                </p:cTn>
                              </p:par>
                              <p:par>
                                <p:cTn id="62" presetID="2" presetClass="entr" presetSubtype="4" fill="hold" grpId="0" nodeType="withEffect">
                                  <p:stCondLst>
                                    <p:cond delay="36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ppt_x</p:attrName>
                                        </p:attrNameLst>
                                      </p:cBhvr>
                                      <p:tavLst>
                                        <p:tav tm="0">
                                          <p:val>
                                            <p:strVal val="#ppt_x"/>
                                          </p:val>
                                        </p:tav>
                                        <p:tav tm="100000">
                                          <p:val>
                                            <p:strVal val="#ppt_x"/>
                                          </p:val>
                                        </p:tav>
                                      </p:tavLst>
                                    </p:anim>
                                    <p:anim calcmode="lin" valueType="num">
                                      <p:cBhvr additive="base">
                                        <p:cTn id="65" dur="500" fill="hold"/>
                                        <p:tgtEl>
                                          <p:spTgt spid="20"/>
                                        </p:tgtEl>
                                        <p:attrNameLst>
                                          <p:attrName>ppt_y</p:attrName>
                                        </p:attrNameLst>
                                      </p:cBhvr>
                                      <p:tavLst>
                                        <p:tav tm="0">
                                          <p:val>
                                            <p:strVal val="#ppt_y+0.1"/>
                                          </p:val>
                                        </p:tav>
                                        <p:tav tm="100000">
                                          <p:val>
                                            <p:strVal val="#ppt_y"/>
                                          </p:val>
                                        </p:tav>
                                      </p:tavLst>
                                    </p:anim>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9B72CF"/>
                </a:solidFill>
                <a:latin typeface="Calibri"/>
              </a:rPr>
              <a:t>02</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What an atom costs</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Free to carry. Permanent to create.
Both halves matter.</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0 words</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no GC</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1,048,576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CHEAP HALF</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Inside a term, an atom costs nothing</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flat_size counts the heap words a value occupies. For an atom it is zero.</a:t>
            </a:r>
          </a:p>
        </p:txBody>
      </p:sp>
      <p:sp>
        <p:nvSpPr>
          <p:cNvPr id="5" name="a1f_th4"/>
          <p:cNvSpPr/>
          <p:nvPr/>
        </p:nvSpPr>
        <p:spPr>
          <a:xfrm>
            <a:off x="457200" y="1325880"/>
            <a:ext cx="4206240" cy="33375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tht5"/>
          <p:cNvSpPr txBox="1"/>
          <p:nvPr/>
        </p:nvSpPr>
        <p:spPr>
          <a:xfrm>
            <a:off x="530352" y="1325880"/>
            <a:ext cx="4096511" cy="333756"/>
          </a:xfrm>
          <a:prstGeom prst="rect">
            <a:avLst/>
          </a:prstGeom>
          <a:noFill/>
        </p:spPr>
        <p:txBody>
          <a:bodyPr wrap="square" lIns="0" tIns="0" rIns="0" bIns="0" anchor="ctr">
            <a:spAutoFit/>
          </a:bodyPr>
          <a:lstStyle/>
          <a:p>
            <a:pPr algn="l"/>
            <a:r>
              <a:rPr sz="1050" b="1">
                <a:solidFill>
                  <a:srgbClr val="FFFFFF"/>
                </a:solidFill>
                <a:latin typeface="Courier New"/>
              </a:rPr>
              <a:t>Value</a:t>
            </a:r>
          </a:p>
        </p:txBody>
      </p:sp>
      <p:sp>
        <p:nvSpPr>
          <p:cNvPr id="7" name="a1wd90_td6"/>
          <p:cNvSpPr/>
          <p:nvPr/>
        </p:nvSpPr>
        <p:spPr>
          <a:xfrm>
            <a:off x="457200" y="1659636"/>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a1wd90_tdt7"/>
          <p:cNvSpPr txBox="1"/>
          <p:nvPr/>
        </p:nvSpPr>
        <p:spPr>
          <a:xfrm>
            <a:off x="530352" y="1659636"/>
            <a:ext cx="4096511" cy="333756"/>
          </a:xfrm>
          <a:prstGeom prst="rect">
            <a:avLst/>
          </a:prstGeom>
          <a:noFill/>
        </p:spPr>
        <p:txBody>
          <a:bodyPr wrap="square" lIns="0" tIns="0" rIns="0" bIns="0" anchor="ctr">
            <a:spAutoFit/>
          </a:bodyPr>
          <a:lstStyle/>
          <a:p>
            <a:pPr algn="l"/>
            <a:r>
              <a:rPr sz="1050" b="0">
                <a:solidFill>
                  <a:srgbClr val="334155"/>
                </a:solidFill>
                <a:latin typeface="Courier New"/>
              </a:rPr>
              <a:t>:ok</a:t>
            </a:r>
          </a:p>
        </p:txBody>
      </p:sp>
      <p:sp>
        <p:nvSpPr>
          <p:cNvPr id="9" name="a1wd180_td8"/>
          <p:cNvSpPr/>
          <p:nvPr/>
        </p:nvSpPr>
        <p:spPr>
          <a:xfrm>
            <a:off x="457200" y="1993391"/>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wd180_tdt9"/>
          <p:cNvSpPr txBox="1"/>
          <p:nvPr/>
        </p:nvSpPr>
        <p:spPr>
          <a:xfrm>
            <a:off x="530352" y="1993391"/>
            <a:ext cx="4096511" cy="333756"/>
          </a:xfrm>
          <a:prstGeom prst="rect">
            <a:avLst/>
          </a:prstGeom>
          <a:noFill/>
        </p:spPr>
        <p:txBody>
          <a:bodyPr wrap="square" lIns="0" tIns="0" rIns="0" bIns="0" anchor="ctr">
            <a:spAutoFit/>
          </a:bodyPr>
          <a:lstStyle/>
          <a:p>
            <a:pPr algn="l"/>
            <a:r>
              <a:rPr sz="1050" b="0">
                <a:solidFill>
                  <a:srgbClr val="334155"/>
                </a:solidFill>
                <a:latin typeface="Courier New"/>
              </a:rPr>
              <a:t>:error</a:t>
            </a:r>
          </a:p>
        </p:txBody>
      </p:sp>
      <p:sp>
        <p:nvSpPr>
          <p:cNvPr id="11" name="a1wd270_td10"/>
          <p:cNvSpPr/>
          <p:nvPr/>
        </p:nvSpPr>
        <p:spPr>
          <a:xfrm>
            <a:off x="457200" y="2327148"/>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wd270_tdt11"/>
          <p:cNvSpPr txBox="1"/>
          <p:nvPr/>
        </p:nvSpPr>
        <p:spPr>
          <a:xfrm>
            <a:off x="530352" y="2327148"/>
            <a:ext cx="4096511" cy="333756"/>
          </a:xfrm>
          <a:prstGeom prst="rect">
            <a:avLst/>
          </a:prstGeom>
          <a:noFill/>
        </p:spPr>
        <p:txBody>
          <a:bodyPr wrap="square" lIns="0" tIns="0" rIns="0" bIns="0" anchor="ctr">
            <a:spAutoFit/>
          </a:bodyPr>
          <a:lstStyle/>
          <a:p>
            <a:pPr algn="l"/>
            <a:r>
              <a:rPr sz="1050" b="0">
                <a:solidFill>
                  <a:srgbClr val="334155"/>
                </a:solidFill>
                <a:latin typeface="Courier New"/>
              </a:rPr>
              <a:t>:a_much_longer_atom_name_than_that_one</a:t>
            </a:r>
          </a:p>
        </p:txBody>
      </p:sp>
      <p:sp>
        <p:nvSpPr>
          <p:cNvPr id="13" name="a1wd360_td12"/>
          <p:cNvSpPr/>
          <p:nvPr/>
        </p:nvSpPr>
        <p:spPr>
          <a:xfrm>
            <a:off x="457200" y="2660904"/>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wd360_tdt13"/>
          <p:cNvSpPr txBox="1"/>
          <p:nvPr/>
        </p:nvSpPr>
        <p:spPr>
          <a:xfrm>
            <a:off x="530352" y="2660904"/>
            <a:ext cx="4096511" cy="333756"/>
          </a:xfrm>
          <a:prstGeom prst="rect">
            <a:avLst/>
          </a:prstGeom>
          <a:noFill/>
        </p:spPr>
        <p:txBody>
          <a:bodyPr wrap="square" lIns="0" tIns="0" rIns="0" bIns="0" anchor="ctr">
            <a:spAutoFit/>
          </a:bodyPr>
          <a:lstStyle/>
          <a:p>
            <a:pPr algn="l"/>
            <a:r>
              <a:rPr sz="1050" b="0">
                <a:solidFill>
                  <a:srgbClr val="334155"/>
                </a:solidFill>
                <a:latin typeface="Courier New"/>
              </a:rPr>
              <a:t>{:ok, :error}</a:t>
            </a:r>
          </a:p>
        </p:txBody>
      </p:sp>
      <p:sp>
        <p:nvSpPr>
          <p:cNvPr id="15" name="a1wd450_td14"/>
          <p:cNvSpPr/>
          <p:nvPr/>
        </p:nvSpPr>
        <p:spPr>
          <a:xfrm>
            <a:off x="457200" y="2994660"/>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wd450_tdt15"/>
          <p:cNvSpPr txBox="1"/>
          <p:nvPr/>
        </p:nvSpPr>
        <p:spPr>
          <a:xfrm>
            <a:off x="530352" y="2994660"/>
            <a:ext cx="4096511" cy="333756"/>
          </a:xfrm>
          <a:prstGeom prst="rect">
            <a:avLst/>
          </a:prstGeom>
          <a:noFill/>
        </p:spPr>
        <p:txBody>
          <a:bodyPr wrap="square" lIns="0" tIns="0" rIns="0" bIns="0" anchor="ctr">
            <a:spAutoFit/>
          </a:bodyPr>
          <a:lstStyle/>
          <a:p>
            <a:pPr algn="l"/>
            <a:r>
              <a:rPr sz="1050" b="0">
                <a:solidFill>
                  <a:srgbClr val="334155"/>
                </a:solidFill>
                <a:latin typeface="Courier New"/>
              </a:rPr>
              <a:t>{1, 2}</a:t>
            </a:r>
          </a:p>
        </p:txBody>
      </p:sp>
      <p:sp>
        <p:nvSpPr>
          <p:cNvPr id="17" name="a1wd540_td16"/>
          <p:cNvSpPr/>
          <p:nvPr/>
        </p:nvSpPr>
        <p:spPr>
          <a:xfrm>
            <a:off x="457200" y="3328415"/>
            <a:ext cx="420624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1wd540_tdt17"/>
          <p:cNvSpPr txBox="1"/>
          <p:nvPr/>
        </p:nvSpPr>
        <p:spPr>
          <a:xfrm>
            <a:off x="530352" y="3328415"/>
            <a:ext cx="4096511" cy="333756"/>
          </a:xfrm>
          <a:prstGeom prst="rect">
            <a:avLst/>
          </a:prstGeom>
          <a:noFill/>
        </p:spPr>
        <p:txBody>
          <a:bodyPr wrap="square" lIns="0" tIns="0" rIns="0" bIns="0" anchor="ctr">
            <a:spAutoFit/>
          </a:bodyPr>
          <a:lstStyle/>
          <a:p>
            <a:pPr algn="l"/>
            <a:r>
              <a:rPr sz="1050" b="0">
                <a:solidFill>
                  <a:srgbClr val="334155"/>
                </a:solidFill>
                <a:latin typeface="Courier New"/>
              </a:rPr>
              <a:t>a two-byte binary</a:t>
            </a:r>
          </a:p>
        </p:txBody>
      </p:sp>
      <p:sp>
        <p:nvSpPr>
          <p:cNvPr id="19" name="a1f_th18"/>
          <p:cNvSpPr/>
          <p:nvPr/>
        </p:nvSpPr>
        <p:spPr>
          <a:xfrm>
            <a:off x="4663440" y="1325880"/>
            <a:ext cx="1371600" cy="33375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f_tht19"/>
          <p:cNvSpPr txBox="1"/>
          <p:nvPr/>
        </p:nvSpPr>
        <p:spPr>
          <a:xfrm>
            <a:off x="4736592" y="1325880"/>
            <a:ext cx="1261872" cy="333756"/>
          </a:xfrm>
          <a:prstGeom prst="rect">
            <a:avLst/>
          </a:prstGeom>
          <a:noFill/>
        </p:spPr>
        <p:txBody>
          <a:bodyPr wrap="square" lIns="0" tIns="0" rIns="0" bIns="0" anchor="ctr">
            <a:spAutoFit/>
          </a:bodyPr>
          <a:lstStyle/>
          <a:p>
            <a:pPr algn="l"/>
            <a:r>
              <a:rPr sz="1050" b="1">
                <a:solidFill>
                  <a:srgbClr val="FFFFFF"/>
                </a:solidFill>
                <a:latin typeface="Courier New"/>
              </a:rPr>
              <a:t>flat_size</a:t>
            </a:r>
          </a:p>
        </p:txBody>
      </p:sp>
      <p:sp>
        <p:nvSpPr>
          <p:cNvPr id="21" name="a1wd90_td20"/>
          <p:cNvSpPr/>
          <p:nvPr/>
        </p:nvSpPr>
        <p:spPr>
          <a:xfrm>
            <a:off x="4663440" y="1659636"/>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1wd90_tdt21"/>
          <p:cNvSpPr txBox="1"/>
          <p:nvPr/>
        </p:nvSpPr>
        <p:spPr>
          <a:xfrm>
            <a:off x="4736592" y="1659636"/>
            <a:ext cx="1261872" cy="333756"/>
          </a:xfrm>
          <a:prstGeom prst="rect">
            <a:avLst/>
          </a:prstGeom>
          <a:noFill/>
        </p:spPr>
        <p:txBody>
          <a:bodyPr wrap="square" lIns="0" tIns="0" rIns="0" bIns="0" anchor="ctr">
            <a:spAutoFit/>
          </a:bodyPr>
          <a:lstStyle/>
          <a:p>
            <a:pPr algn="l"/>
            <a:r>
              <a:rPr sz="1050" b="0">
                <a:solidFill>
                  <a:srgbClr val="334155"/>
                </a:solidFill>
                <a:latin typeface="Courier New"/>
              </a:rPr>
              <a:t>0 words</a:t>
            </a:r>
          </a:p>
        </p:txBody>
      </p:sp>
      <p:sp>
        <p:nvSpPr>
          <p:cNvPr id="23" name="a1wd180_td22"/>
          <p:cNvSpPr/>
          <p:nvPr/>
        </p:nvSpPr>
        <p:spPr>
          <a:xfrm>
            <a:off x="4663440" y="1993391"/>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wd180_tdt23"/>
          <p:cNvSpPr txBox="1"/>
          <p:nvPr/>
        </p:nvSpPr>
        <p:spPr>
          <a:xfrm>
            <a:off x="4736592" y="1993391"/>
            <a:ext cx="1261872" cy="333756"/>
          </a:xfrm>
          <a:prstGeom prst="rect">
            <a:avLst/>
          </a:prstGeom>
          <a:noFill/>
        </p:spPr>
        <p:txBody>
          <a:bodyPr wrap="square" lIns="0" tIns="0" rIns="0" bIns="0" anchor="ctr">
            <a:spAutoFit/>
          </a:bodyPr>
          <a:lstStyle/>
          <a:p>
            <a:pPr algn="l"/>
            <a:r>
              <a:rPr sz="1050" b="0">
                <a:solidFill>
                  <a:srgbClr val="334155"/>
                </a:solidFill>
                <a:latin typeface="Courier New"/>
              </a:rPr>
              <a:t>0 words</a:t>
            </a:r>
          </a:p>
        </p:txBody>
      </p:sp>
      <p:sp>
        <p:nvSpPr>
          <p:cNvPr id="25" name="a1wd270_td24"/>
          <p:cNvSpPr/>
          <p:nvPr/>
        </p:nvSpPr>
        <p:spPr>
          <a:xfrm>
            <a:off x="4663440" y="2327148"/>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wd270_tdt25"/>
          <p:cNvSpPr txBox="1"/>
          <p:nvPr/>
        </p:nvSpPr>
        <p:spPr>
          <a:xfrm>
            <a:off x="4736592" y="2327148"/>
            <a:ext cx="1261872" cy="333756"/>
          </a:xfrm>
          <a:prstGeom prst="rect">
            <a:avLst/>
          </a:prstGeom>
          <a:noFill/>
        </p:spPr>
        <p:txBody>
          <a:bodyPr wrap="square" lIns="0" tIns="0" rIns="0" bIns="0" anchor="ctr">
            <a:spAutoFit/>
          </a:bodyPr>
          <a:lstStyle/>
          <a:p>
            <a:pPr algn="l"/>
            <a:r>
              <a:rPr sz="1050" b="0">
                <a:solidFill>
                  <a:srgbClr val="334155"/>
                </a:solidFill>
                <a:latin typeface="Courier New"/>
              </a:rPr>
              <a:t>0 words</a:t>
            </a:r>
          </a:p>
        </p:txBody>
      </p:sp>
      <p:sp>
        <p:nvSpPr>
          <p:cNvPr id="27" name="a1wd360_td26"/>
          <p:cNvSpPr/>
          <p:nvPr/>
        </p:nvSpPr>
        <p:spPr>
          <a:xfrm>
            <a:off x="4663440" y="2660904"/>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1wd360_tdt27"/>
          <p:cNvSpPr txBox="1"/>
          <p:nvPr/>
        </p:nvSpPr>
        <p:spPr>
          <a:xfrm>
            <a:off x="4736592" y="2660904"/>
            <a:ext cx="1261872" cy="333756"/>
          </a:xfrm>
          <a:prstGeom prst="rect">
            <a:avLst/>
          </a:prstGeom>
          <a:noFill/>
        </p:spPr>
        <p:txBody>
          <a:bodyPr wrap="square" lIns="0" tIns="0" rIns="0" bIns="0" anchor="ctr">
            <a:spAutoFit/>
          </a:bodyPr>
          <a:lstStyle/>
          <a:p>
            <a:pPr algn="l"/>
            <a:r>
              <a:rPr sz="1050" b="0">
                <a:solidFill>
                  <a:srgbClr val="334155"/>
                </a:solidFill>
                <a:latin typeface="Courier New"/>
              </a:rPr>
              <a:t>3 words</a:t>
            </a:r>
          </a:p>
        </p:txBody>
      </p:sp>
      <p:sp>
        <p:nvSpPr>
          <p:cNvPr id="29" name="a1wd450_td28"/>
          <p:cNvSpPr/>
          <p:nvPr/>
        </p:nvSpPr>
        <p:spPr>
          <a:xfrm>
            <a:off x="4663440" y="2994660"/>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1wd450_tdt29"/>
          <p:cNvSpPr txBox="1"/>
          <p:nvPr/>
        </p:nvSpPr>
        <p:spPr>
          <a:xfrm>
            <a:off x="4736592" y="2994660"/>
            <a:ext cx="1261872" cy="333756"/>
          </a:xfrm>
          <a:prstGeom prst="rect">
            <a:avLst/>
          </a:prstGeom>
          <a:noFill/>
        </p:spPr>
        <p:txBody>
          <a:bodyPr wrap="square" lIns="0" tIns="0" rIns="0" bIns="0" anchor="ctr">
            <a:spAutoFit/>
          </a:bodyPr>
          <a:lstStyle/>
          <a:p>
            <a:pPr algn="l"/>
            <a:r>
              <a:rPr sz="1050" b="0">
                <a:solidFill>
                  <a:srgbClr val="334155"/>
                </a:solidFill>
                <a:latin typeface="Courier New"/>
              </a:rPr>
              <a:t>3 words</a:t>
            </a:r>
          </a:p>
        </p:txBody>
      </p:sp>
      <p:sp>
        <p:nvSpPr>
          <p:cNvPr id="31" name="a1wd540_td30"/>
          <p:cNvSpPr/>
          <p:nvPr/>
        </p:nvSpPr>
        <p:spPr>
          <a:xfrm>
            <a:off x="4663440" y="3328415"/>
            <a:ext cx="137160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wd540_tdt31"/>
          <p:cNvSpPr txBox="1"/>
          <p:nvPr/>
        </p:nvSpPr>
        <p:spPr>
          <a:xfrm>
            <a:off x="4736592" y="3328415"/>
            <a:ext cx="1261872" cy="333756"/>
          </a:xfrm>
          <a:prstGeom prst="rect">
            <a:avLst/>
          </a:prstGeom>
          <a:noFill/>
        </p:spPr>
        <p:txBody>
          <a:bodyPr wrap="square" lIns="0" tIns="0" rIns="0" bIns="0" anchor="ctr">
            <a:spAutoFit/>
          </a:bodyPr>
          <a:lstStyle/>
          <a:p>
            <a:pPr algn="l"/>
            <a:r>
              <a:rPr sz="1050" b="0">
                <a:solidFill>
                  <a:srgbClr val="334155"/>
                </a:solidFill>
                <a:latin typeface="Courier New"/>
              </a:rPr>
              <a:t>3 words</a:t>
            </a:r>
          </a:p>
        </p:txBody>
      </p:sp>
      <p:sp>
        <p:nvSpPr>
          <p:cNvPr id="33" name="a1f_th32"/>
          <p:cNvSpPr/>
          <p:nvPr/>
        </p:nvSpPr>
        <p:spPr>
          <a:xfrm>
            <a:off x="6035040" y="1325880"/>
            <a:ext cx="2651760" cy="333756"/>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1f_tht33"/>
          <p:cNvSpPr txBox="1"/>
          <p:nvPr/>
        </p:nvSpPr>
        <p:spPr>
          <a:xfrm>
            <a:off x="6108192" y="1325880"/>
            <a:ext cx="2542032" cy="333756"/>
          </a:xfrm>
          <a:prstGeom prst="rect">
            <a:avLst/>
          </a:prstGeom>
          <a:noFill/>
        </p:spPr>
        <p:txBody>
          <a:bodyPr wrap="square" lIns="0" tIns="0" rIns="0" bIns="0" anchor="ctr">
            <a:spAutoFit/>
          </a:bodyPr>
          <a:lstStyle/>
          <a:p>
            <a:pPr algn="l"/>
            <a:r>
              <a:rPr sz="1050" b="1">
                <a:solidFill>
                  <a:srgbClr val="FFFFFF"/>
                </a:solidFill>
                <a:latin typeface="Calibri"/>
              </a:rPr>
              <a:t>What that means</a:t>
            </a:r>
          </a:p>
        </p:txBody>
      </p:sp>
      <p:sp>
        <p:nvSpPr>
          <p:cNvPr id="35" name="a1wd90_td34"/>
          <p:cNvSpPr/>
          <p:nvPr/>
        </p:nvSpPr>
        <p:spPr>
          <a:xfrm>
            <a:off x="6035040" y="1659636"/>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1wd90_tdt35"/>
          <p:cNvSpPr txBox="1"/>
          <p:nvPr/>
        </p:nvSpPr>
        <p:spPr>
          <a:xfrm>
            <a:off x="6108192" y="1659636"/>
            <a:ext cx="2542032" cy="333756"/>
          </a:xfrm>
          <a:prstGeom prst="rect">
            <a:avLst/>
          </a:prstGeom>
          <a:noFill/>
        </p:spPr>
        <p:txBody>
          <a:bodyPr wrap="square" lIns="0" tIns="0" rIns="0" bIns="0" anchor="ctr">
            <a:spAutoFit/>
          </a:bodyPr>
          <a:lstStyle/>
          <a:p>
            <a:pPr algn="l"/>
            <a:r>
              <a:rPr sz="1050" b="0">
                <a:solidFill>
                  <a:srgbClr val="334155"/>
                </a:solidFill>
                <a:latin typeface="Calibri"/>
              </a:rPr>
              <a:t>it is an immediate</a:t>
            </a:r>
          </a:p>
        </p:txBody>
      </p:sp>
      <p:sp>
        <p:nvSpPr>
          <p:cNvPr id="37" name="a1wd180_td36"/>
          <p:cNvSpPr/>
          <p:nvPr/>
        </p:nvSpPr>
        <p:spPr>
          <a:xfrm>
            <a:off x="6035040" y="1993391"/>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wd180_tdt37"/>
          <p:cNvSpPr txBox="1"/>
          <p:nvPr/>
        </p:nvSpPr>
        <p:spPr>
          <a:xfrm>
            <a:off x="6108192" y="1993391"/>
            <a:ext cx="2542032" cy="333756"/>
          </a:xfrm>
          <a:prstGeom prst="rect">
            <a:avLst/>
          </a:prstGeom>
          <a:noFill/>
        </p:spPr>
        <p:txBody>
          <a:bodyPr wrap="square" lIns="0" tIns="0" rIns="0" bIns="0" anchor="ctr">
            <a:spAutoFit/>
          </a:bodyPr>
          <a:lstStyle/>
          <a:p>
            <a:pPr algn="l"/>
            <a:r>
              <a:rPr sz="1050" b="0">
                <a:solidFill>
                  <a:srgbClr val="334155"/>
                </a:solidFill>
                <a:latin typeface="Calibri"/>
              </a:rPr>
              <a:t>same</a:t>
            </a:r>
          </a:p>
        </p:txBody>
      </p:sp>
      <p:sp>
        <p:nvSpPr>
          <p:cNvPr id="39" name="a1wd270_td38"/>
          <p:cNvSpPr/>
          <p:nvPr/>
        </p:nvSpPr>
        <p:spPr>
          <a:xfrm>
            <a:off x="6035040" y="2327148"/>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1wd270_tdt39"/>
          <p:cNvSpPr txBox="1"/>
          <p:nvPr/>
        </p:nvSpPr>
        <p:spPr>
          <a:xfrm>
            <a:off x="6108192" y="2327148"/>
            <a:ext cx="2542032" cy="333756"/>
          </a:xfrm>
          <a:prstGeom prst="rect">
            <a:avLst/>
          </a:prstGeom>
          <a:noFill/>
        </p:spPr>
        <p:txBody>
          <a:bodyPr wrap="square" lIns="0" tIns="0" rIns="0" bIns="0" anchor="ctr">
            <a:spAutoFit/>
          </a:bodyPr>
          <a:lstStyle/>
          <a:p>
            <a:pPr algn="l"/>
            <a:r>
              <a:rPr sz="1050" b="0">
                <a:solidFill>
                  <a:srgbClr val="334155"/>
                </a:solidFill>
                <a:latin typeface="Calibri"/>
              </a:rPr>
              <a:t>length is irrelevant</a:t>
            </a:r>
          </a:p>
        </p:txBody>
      </p:sp>
      <p:sp>
        <p:nvSpPr>
          <p:cNvPr id="41" name="a1wd360_td40"/>
          <p:cNvSpPr/>
          <p:nvPr/>
        </p:nvSpPr>
        <p:spPr>
          <a:xfrm>
            <a:off x="6035040" y="2660904"/>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1wd360_tdt41"/>
          <p:cNvSpPr txBox="1"/>
          <p:nvPr/>
        </p:nvSpPr>
        <p:spPr>
          <a:xfrm>
            <a:off x="6108192" y="2660904"/>
            <a:ext cx="2542032" cy="333756"/>
          </a:xfrm>
          <a:prstGeom prst="rect">
            <a:avLst/>
          </a:prstGeom>
          <a:noFill/>
        </p:spPr>
        <p:txBody>
          <a:bodyPr wrap="square" lIns="0" tIns="0" rIns="0" bIns="0" anchor="ctr">
            <a:spAutoFit/>
          </a:bodyPr>
          <a:lstStyle/>
          <a:p>
            <a:pPr algn="l"/>
            <a:r>
              <a:rPr sz="1050" b="0">
                <a:solidFill>
                  <a:srgbClr val="334155"/>
                </a:solidFill>
                <a:latin typeface="Calibri"/>
              </a:rPr>
              <a:t>header + 2 slots; the atoms are free</a:t>
            </a:r>
          </a:p>
        </p:txBody>
      </p:sp>
      <p:sp>
        <p:nvSpPr>
          <p:cNvPr id="43" name="a1wd450_td42"/>
          <p:cNvSpPr/>
          <p:nvPr/>
        </p:nvSpPr>
        <p:spPr>
          <a:xfrm>
            <a:off x="6035040" y="2994660"/>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wd450_tdt43"/>
          <p:cNvSpPr txBox="1"/>
          <p:nvPr/>
        </p:nvSpPr>
        <p:spPr>
          <a:xfrm>
            <a:off x="6108192" y="2994660"/>
            <a:ext cx="2542032" cy="333756"/>
          </a:xfrm>
          <a:prstGeom prst="rect">
            <a:avLst/>
          </a:prstGeom>
          <a:noFill/>
        </p:spPr>
        <p:txBody>
          <a:bodyPr wrap="square" lIns="0" tIns="0" rIns="0" bIns="0" anchor="ctr">
            <a:spAutoFit/>
          </a:bodyPr>
          <a:lstStyle/>
          <a:p>
            <a:pPr algn="l"/>
            <a:r>
              <a:rPr sz="1050" b="0">
                <a:solidFill>
                  <a:srgbClr val="334155"/>
                </a:solidFill>
                <a:latin typeface="Calibri"/>
              </a:rPr>
              <a:t>identical — atoms cost what integers cost</a:t>
            </a:r>
          </a:p>
        </p:txBody>
      </p:sp>
      <p:sp>
        <p:nvSpPr>
          <p:cNvPr id="45" name="a1wd540_td44"/>
          <p:cNvSpPr/>
          <p:nvPr/>
        </p:nvSpPr>
        <p:spPr>
          <a:xfrm>
            <a:off x="6035040" y="3328415"/>
            <a:ext cx="2651760" cy="333756"/>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1wd540_tdt45"/>
          <p:cNvSpPr txBox="1"/>
          <p:nvPr/>
        </p:nvSpPr>
        <p:spPr>
          <a:xfrm>
            <a:off x="6108192" y="3328415"/>
            <a:ext cx="2542032" cy="333756"/>
          </a:xfrm>
          <a:prstGeom prst="rect">
            <a:avLst/>
          </a:prstGeom>
          <a:noFill/>
        </p:spPr>
        <p:txBody>
          <a:bodyPr wrap="square" lIns="0" tIns="0" rIns="0" bIns="0" anchor="ctr">
            <a:spAutoFit/>
          </a:bodyPr>
          <a:lstStyle/>
          <a:p>
            <a:pPr algn="l"/>
            <a:r>
              <a:rPr sz="1050" b="0">
                <a:solidFill>
                  <a:srgbClr val="334155"/>
                </a:solidFill>
                <a:latin typeface="Calibri"/>
              </a:rPr>
              <a:t>the bytes have to live somewhere</a:t>
            </a:r>
          </a:p>
        </p:txBody>
      </p:sp>
      <p:sp>
        <p:nvSpPr>
          <p:cNvPr id="47" name="a2f_nb46"/>
          <p:cNvSpPr/>
          <p:nvPr/>
        </p:nvSpPr>
        <p:spPr>
          <a:xfrm>
            <a:off x="457200" y="3771900"/>
            <a:ext cx="8229600" cy="566928"/>
          </a:xfrm>
          <a:prstGeom prst="roundRect">
            <a:avLst>
              <a:gd name="adj" fmla="val 1290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2f_nacc47"/>
          <p:cNvSpPr/>
          <p:nvPr/>
        </p:nvSpPr>
        <p:spPr>
          <a:xfrm>
            <a:off x="457200" y="3771900"/>
            <a:ext cx="50292"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a2f_nt48"/>
          <p:cNvSpPr txBox="1"/>
          <p:nvPr/>
        </p:nvSpPr>
        <p:spPr>
          <a:xfrm>
            <a:off x="658368" y="3771900"/>
            <a:ext cx="7827264" cy="566928"/>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An atom fits in a single machine word — 8 bytes on this machine — so it is stored directly in the slot rather than pointed at. A 40-character atom is exactly as cheap to pass around, pattern-match and copy between processes as :ok.</a:t>
            </a:r>
          </a:p>
        </p:txBody>
      </p:sp>
      <p:sp>
        <p:nvSpPr>
          <p:cNvPr id="50" name="ft49"/>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500"/>
                                        <p:tgtEl>
                                          <p:spTgt spid="3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par>
                                <p:cTn id="23" presetID="22" presetClass="entr" presetSubtype="8" fill="hold" grpId="0" nodeType="withEffect">
                                  <p:stCondLst>
                                    <p:cond delay="9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fill="hold" grpId="0" nodeType="withEffect">
                                  <p:stCondLst>
                                    <p:cond delay="9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22" presetClass="entr" presetSubtype="8" fill="hold" grpId="0" nodeType="withEffect">
                                  <p:stCondLst>
                                    <p:cond delay="9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par>
                                <p:cTn id="32" presetID="22" presetClass="entr" presetSubtype="8" fill="hold" grpId="0" nodeType="withEffect">
                                  <p:stCondLst>
                                    <p:cond delay="9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par>
                                <p:cTn id="35" presetID="22" presetClass="entr" presetSubtype="8" fill="hold" grpId="0" nodeType="withEffect">
                                  <p:stCondLst>
                                    <p:cond delay="9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par>
                                <p:cTn id="38" presetID="22" presetClass="entr" presetSubtype="8" fill="hold" grpId="0" nodeType="withEffect">
                                  <p:stCondLst>
                                    <p:cond delay="90"/>
                                  </p:stCondLst>
                                  <p:childTnLst>
                                    <p:set>
                                      <p:cBhvr>
                                        <p:cTn id="39" dur="1" fill="hold">
                                          <p:stCondLst>
                                            <p:cond delay="0"/>
                                          </p:stCondLst>
                                        </p:cTn>
                                        <p:tgtEl>
                                          <p:spTgt spid="36"/>
                                        </p:tgtEl>
                                        <p:attrNameLst>
                                          <p:attrName>style.visibility</p:attrName>
                                        </p:attrNameLst>
                                      </p:cBhvr>
                                      <p:to>
                                        <p:strVal val="visible"/>
                                      </p:to>
                                    </p:set>
                                    <p:animEffect transition="in" filter="wipe(left)">
                                      <p:cBhvr>
                                        <p:cTn id="40" dur="500"/>
                                        <p:tgtEl>
                                          <p:spTgt spid="36"/>
                                        </p:tgtEl>
                                      </p:cBhvr>
                                    </p:animEffect>
                                  </p:childTnLst>
                                </p:cTn>
                              </p:par>
                              <p:par>
                                <p:cTn id="41" presetID="22" presetClass="entr" presetSubtype="8" fill="hold" grpId="0" nodeType="withEffect">
                                  <p:stCondLst>
                                    <p:cond delay="18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par>
                                <p:cTn id="44" presetID="22" presetClass="entr" presetSubtype="8" fill="hold" grpId="0" nodeType="withEffect">
                                  <p:stCondLst>
                                    <p:cond delay="18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grpId="0" nodeType="withEffect">
                                  <p:stCondLst>
                                    <p:cond delay="180"/>
                                  </p:stCondLst>
                                  <p:childTnLst>
                                    <p:set>
                                      <p:cBhvr>
                                        <p:cTn id="48" dur="1" fill="hold">
                                          <p:stCondLst>
                                            <p:cond delay="0"/>
                                          </p:stCondLst>
                                        </p:cTn>
                                        <p:tgtEl>
                                          <p:spTgt spid="23"/>
                                        </p:tgtEl>
                                        <p:attrNameLst>
                                          <p:attrName>style.visibility</p:attrName>
                                        </p:attrNameLst>
                                      </p:cBhvr>
                                      <p:to>
                                        <p:strVal val="visible"/>
                                      </p:to>
                                    </p:set>
                                    <p:animEffect transition="in" filter="wipe(left)">
                                      <p:cBhvr>
                                        <p:cTn id="49" dur="500"/>
                                        <p:tgtEl>
                                          <p:spTgt spid="23"/>
                                        </p:tgtEl>
                                      </p:cBhvr>
                                    </p:animEffect>
                                  </p:childTnLst>
                                </p:cTn>
                              </p:par>
                              <p:par>
                                <p:cTn id="50" presetID="22" presetClass="entr" presetSubtype="8" fill="hold" grpId="0" nodeType="withEffect">
                                  <p:stCondLst>
                                    <p:cond delay="18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500"/>
                                        <p:tgtEl>
                                          <p:spTgt spid="24"/>
                                        </p:tgtEl>
                                      </p:cBhvr>
                                    </p:animEffect>
                                  </p:childTnLst>
                                </p:cTn>
                              </p:par>
                              <p:par>
                                <p:cTn id="53" presetID="22" presetClass="entr" presetSubtype="8" fill="hold" grpId="0" nodeType="withEffect">
                                  <p:stCondLst>
                                    <p:cond delay="180"/>
                                  </p:stCondLst>
                                  <p:childTnLst>
                                    <p:set>
                                      <p:cBhvr>
                                        <p:cTn id="54" dur="1" fill="hold">
                                          <p:stCondLst>
                                            <p:cond delay="0"/>
                                          </p:stCondLst>
                                        </p:cTn>
                                        <p:tgtEl>
                                          <p:spTgt spid="37"/>
                                        </p:tgtEl>
                                        <p:attrNameLst>
                                          <p:attrName>style.visibility</p:attrName>
                                        </p:attrNameLst>
                                      </p:cBhvr>
                                      <p:to>
                                        <p:strVal val="visible"/>
                                      </p:to>
                                    </p:set>
                                    <p:animEffect transition="in" filter="wipe(left)">
                                      <p:cBhvr>
                                        <p:cTn id="55" dur="500"/>
                                        <p:tgtEl>
                                          <p:spTgt spid="37"/>
                                        </p:tgtEl>
                                      </p:cBhvr>
                                    </p:animEffect>
                                  </p:childTnLst>
                                </p:cTn>
                              </p:par>
                              <p:par>
                                <p:cTn id="56" presetID="22" presetClass="entr" presetSubtype="8" fill="hold" grpId="0" nodeType="withEffect">
                                  <p:stCondLst>
                                    <p:cond delay="180"/>
                                  </p:stCondLst>
                                  <p:childTnLst>
                                    <p:set>
                                      <p:cBhvr>
                                        <p:cTn id="57" dur="1" fill="hold">
                                          <p:stCondLst>
                                            <p:cond delay="0"/>
                                          </p:stCondLst>
                                        </p:cTn>
                                        <p:tgtEl>
                                          <p:spTgt spid="38"/>
                                        </p:tgtEl>
                                        <p:attrNameLst>
                                          <p:attrName>style.visibility</p:attrName>
                                        </p:attrNameLst>
                                      </p:cBhvr>
                                      <p:to>
                                        <p:strVal val="visible"/>
                                      </p:to>
                                    </p:set>
                                    <p:animEffect transition="in" filter="wipe(left)">
                                      <p:cBhvr>
                                        <p:cTn id="58" dur="500"/>
                                        <p:tgtEl>
                                          <p:spTgt spid="38"/>
                                        </p:tgtEl>
                                      </p:cBhvr>
                                    </p:animEffect>
                                  </p:childTnLst>
                                </p:cTn>
                              </p:par>
                              <p:par>
                                <p:cTn id="59" presetID="22" presetClass="entr" presetSubtype="8" fill="hold" grpId="0" nodeType="withEffect">
                                  <p:stCondLst>
                                    <p:cond delay="270"/>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par>
                                <p:cTn id="62" presetID="22" presetClass="entr" presetSubtype="8" fill="hold" grpId="0" nodeType="withEffect">
                                  <p:stCondLst>
                                    <p:cond delay="27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par>
                                <p:cTn id="65" presetID="22" presetClass="entr" presetSubtype="8" fill="hold" grpId="0" nodeType="withEffect">
                                  <p:stCondLst>
                                    <p:cond delay="27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par>
                                <p:cTn id="68" presetID="22" presetClass="entr" presetSubtype="8" fill="hold" grpId="0" nodeType="withEffect">
                                  <p:stCondLst>
                                    <p:cond delay="270"/>
                                  </p:stCondLst>
                                  <p:childTnLst>
                                    <p:set>
                                      <p:cBhvr>
                                        <p:cTn id="69" dur="1" fill="hold">
                                          <p:stCondLst>
                                            <p:cond delay="0"/>
                                          </p:stCondLst>
                                        </p:cTn>
                                        <p:tgtEl>
                                          <p:spTgt spid="26"/>
                                        </p:tgtEl>
                                        <p:attrNameLst>
                                          <p:attrName>style.visibility</p:attrName>
                                        </p:attrNameLst>
                                      </p:cBhvr>
                                      <p:to>
                                        <p:strVal val="visible"/>
                                      </p:to>
                                    </p:set>
                                    <p:animEffect transition="in" filter="wipe(left)">
                                      <p:cBhvr>
                                        <p:cTn id="70" dur="500"/>
                                        <p:tgtEl>
                                          <p:spTgt spid="26"/>
                                        </p:tgtEl>
                                      </p:cBhvr>
                                    </p:animEffect>
                                  </p:childTnLst>
                                </p:cTn>
                              </p:par>
                              <p:par>
                                <p:cTn id="71" presetID="22" presetClass="entr" presetSubtype="8" fill="hold" grpId="0" nodeType="withEffect">
                                  <p:stCondLst>
                                    <p:cond delay="270"/>
                                  </p:stCondLst>
                                  <p:childTnLst>
                                    <p:set>
                                      <p:cBhvr>
                                        <p:cTn id="72" dur="1" fill="hold">
                                          <p:stCondLst>
                                            <p:cond delay="0"/>
                                          </p:stCondLst>
                                        </p:cTn>
                                        <p:tgtEl>
                                          <p:spTgt spid="39"/>
                                        </p:tgtEl>
                                        <p:attrNameLst>
                                          <p:attrName>style.visibility</p:attrName>
                                        </p:attrNameLst>
                                      </p:cBhvr>
                                      <p:to>
                                        <p:strVal val="visible"/>
                                      </p:to>
                                    </p:set>
                                    <p:animEffect transition="in" filter="wipe(left)">
                                      <p:cBhvr>
                                        <p:cTn id="73" dur="500"/>
                                        <p:tgtEl>
                                          <p:spTgt spid="39"/>
                                        </p:tgtEl>
                                      </p:cBhvr>
                                    </p:animEffect>
                                  </p:childTnLst>
                                </p:cTn>
                              </p:par>
                              <p:par>
                                <p:cTn id="74" presetID="22" presetClass="entr" presetSubtype="8" fill="hold" grpId="0" nodeType="withEffect">
                                  <p:stCondLst>
                                    <p:cond delay="270"/>
                                  </p:stCondLst>
                                  <p:childTnLst>
                                    <p:set>
                                      <p:cBhvr>
                                        <p:cTn id="75" dur="1" fill="hold">
                                          <p:stCondLst>
                                            <p:cond delay="0"/>
                                          </p:stCondLst>
                                        </p:cTn>
                                        <p:tgtEl>
                                          <p:spTgt spid="40"/>
                                        </p:tgtEl>
                                        <p:attrNameLst>
                                          <p:attrName>style.visibility</p:attrName>
                                        </p:attrNameLst>
                                      </p:cBhvr>
                                      <p:to>
                                        <p:strVal val="visible"/>
                                      </p:to>
                                    </p:set>
                                    <p:animEffect transition="in" filter="wipe(left)">
                                      <p:cBhvr>
                                        <p:cTn id="76" dur="500"/>
                                        <p:tgtEl>
                                          <p:spTgt spid="40"/>
                                        </p:tgtEl>
                                      </p:cBhvr>
                                    </p:animEffect>
                                  </p:childTnLst>
                                </p:cTn>
                              </p:par>
                              <p:par>
                                <p:cTn id="77" presetID="22" presetClass="entr" presetSubtype="8" fill="hold" grpId="0" nodeType="withEffect">
                                  <p:stCondLst>
                                    <p:cond delay="360"/>
                                  </p:stCondLst>
                                  <p:childTnLst>
                                    <p:set>
                                      <p:cBhvr>
                                        <p:cTn id="78" dur="1" fill="hold">
                                          <p:stCondLst>
                                            <p:cond delay="0"/>
                                          </p:stCondLst>
                                        </p:cTn>
                                        <p:tgtEl>
                                          <p:spTgt spid="13"/>
                                        </p:tgtEl>
                                        <p:attrNameLst>
                                          <p:attrName>style.visibility</p:attrName>
                                        </p:attrNameLst>
                                      </p:cBhvr>
                                      <p:to>
                                        <p:strVal val="visible"/>
                                      </p:to>
                                    </p:set>
                                    <p:animEffect transition="in" filter="wipe(left)">
                                      <p:cBhvr>
                                        <p:cTn id="79" dur="500"/>
                                        <p:tgtEl>
                                          <p:spTgt spid="13"/>
                                        </p:tgtEl>
                                      </p:cBhvr>
                                    </p:animEffect>
                                  </p:childTnLst>
                                </p:cTn>
                              </p:par>
                              <p:par>
                                <p:cTn id="80" presetID="22" presetClass="entr" presetSubtype="8" fill="hold" grpId="0" nodeType="withEffect">
                                  <p:stCondLst>
                                    <p:cond delay="36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par>
                                <p:cTn id="83" presetID="22" presetClass="entr" presetSubtype="8" fill="hold" grpId="0" nodeType="withEffect">
                                  <p:stCondLst>
                                    <p:cond delay="360"/>
                                  </p:stCondLst>
                                  <p:childTnLst>
                                    <p:set>
                                      <p:cBhvr>
                                        <p:cTn id="84" dur="1" fill="hold">
                                          <p:stCondLst>
                                            <p:cond delay="0"/>
                                          </p:stCondLst>
                                        </p:cTn>
                                        <p:tgtEl>
                                          <p:spTgt spid="27"/>
                                        </p:tgtEl>
                                        <p:attrNameLst>
                                          <p:attrName>style.visibility</p:attrName>
                                        </p:attrNameLst>
                                      </p:cBhvr>
                                      <p:to>
                                        <p:strVal val="visible"/>
                                      </p:to>
                                    </p:set>
                                    <p:animEffect transition="in" filter="wipe(left)">
                                      <p:cBhvr>
                                        <p:cTn id="85" dur="500"/>
                                        <p:tgtEl>
                                          <p:spTgt spid="27"/>
                                        </p:tgtEl>
                                      </p:cBhvr>
                                    </p:animEffect>
                                  </p:childTnLst>
                                </p:cTn>
                              </p:par>
                              <p:par>
                                <p:cTn id="86" presetID="22" presetClass="entr" presetSubtype="8" fill="hold" grpId="0" nodeType="withEffect">
                                  <p:stCondLst>
                                    <p:cond delay="360"/>
                                  </p:stCondLst>
                                  <p:childTnLst>
                                    <p:set>
                                      <p:cBhvr>
                                        <p:cTn id="87" dur="1" fill="hold">
                                          <p:stCondLst>
                                            <p:cond delay="0"/>
                                          </p:stCondLst>
                                        </p:cTn>
                                        <p:tgtEl>
                                          <p:spTgt spid="28"/>
                                        </p:tgtEl>
                                        <p:attrNameLst>
                                          <p:attrName>style.visibility</p:attrName>
                                        </p:attrNameLst>
                                      </p:cBhvr>
                                      <p:to>
                                        <p:strVal val="visible"/>
                                      </p:to>
                                    </p:set>
                                    <p:animEffect transition="in" filter="wipe(left)">
                                      <p:cBhvr>
                                        <p:cTn id="88" dur="500"/>
                                        <p:tgtEl>
                                          <p:spTgt spid="28"/>
                                        </p:tgtEl>
                                      </p:cBhvr>
                                    </p:animEffect>
                                  </p:childTnLst>
                                </p:cTn>
                              </p:par>
                              <p:par>
                                <p:cTn id="89" presetID="22" presetClass="entr" presetSubtype="8" fill="hold" grpId="0" nodeType="withEffect">
                                  <p:stCondLst>
                                    <p:cond delay="360"/>
                                  </p:stCondLst>
                                  <p:childTnLst>
                                    <p:set>
                                      <p:cBhvr>
                                        <p:cTn id="90" dur="1" fill="hold">
                                          <p:stCondLst>
                                            <p:cond delay="0"/>
                                          </p:stCondLst>
                                        </p:cTn>
                                        <p:tgtEl>
                                          <p:spTgt spid="41"/>
                                        </p:tgtEl>
                                        <p:attrNameLst>
                                          <p:attrName>style.visibility</p:attrName>
                                        </p:attrNameLst>
                                      </p:cBhvr>
                                      <p:to>
                                        <p:strVal val="visible"/>
                                      </p:to>
                                    </p:set>
                                    <p:animEffect transition="in" filter="wipe(left)">
                                      <p:cBhvr>
                                        <p:cTn id="91" dur="500"/>
                                        <p:tgtEl>
                                          <p:spTgt spid="41"/>
                                        </p:tgtEl>
                                      </p:cBhvr>
                                    </p:animEffect>
                                  </p:childTnLst>
                                </p:cTn>
                              </p:par>
                              <p:par>
                                <p:cTn id="92" presetID="22" presetClass="entr" presetSubtype="8" fill="hold" grpId="0" nodeType="withEffect">
                                  <p:stCondLst>
                                    <p:cond delay="360"/>
                                  </p:stCondLst>
                                  <p:childTnLst>
                                    <p:set>
                                      <p:cBhvr>
                                        <p:cTn id="93" dur="1" fill="hold">
                                          <p:stCondLst>
                                            <p:cond delay="0"/>
                                          </p:stCondLst>
                                        </p:cTn>
                                        <p:tgtEl>
                                          <p:spTgt spid="42"/>
                                        </p:tgtEl>
                                        <p:attrNameLst>
                                          <p:attrName>style.visibility</p:attrName>
                                        </p:attrNameLst>
                                      </p:cBhvr>
                                      <p:to>
                                        <p:strVal val="visible"/>
                                      </p:to>
                                    </p:set>
                                    <p:animEffect transition="in" filter="wipe(left)">
                                      <p:cBhvr>
                                        <p:cTn id="94" dur="500"/>
                                        <p:tgtEl>
                                          <p:spTgt spid="42"/>
                                        </p:tgtEl>
                                      </p:cBhvr>
                                    </p:animEffect>
                                  </p:childTnLst>
                                </p:cTn>
                              </p:par>
                              <p:par>
                                <p:cTn id="95" presetID="22" presetClass="entr" presetSubtype="8" fill="hold" grpId="0" nodeType="withEffect">
                                  <p:stCondLst>
                                    <p:cond delay="450"/>
                                  </p:stCondLst>
                                  <p:childTnLst>
                                    <p:set>
                                      <p:cBhvr>
                                        <p:cTn id="96" dur="1" fill="hold">
                                          <p:stCondLst>
                                            <p:cond delay="0"/>
                                          </p:stCondLst>
                                        </p:cTn>
                                        <p:tgtEl>
                                          <p:spTgt spid="15"/>
                                        </p:tgtEl>
                                        <p:attrNameLst>
                                          <p:attrName>style.visibility</p:attrName>
                                        </p:attrNameLst>
                                      </p:cBhvr>
                                      <p:to>
                                        <p:strVal val="visible"/>
                                      </p:to>
                                    </p:set>
                                    <p:animEffect transition="in" filter="wipe(left)">
                                      <p:cBhvr>
                                        <p:cTn id="97" dur="500"/>
                                        <p:tgtEl>
                                          <p:spTgt spid="15"/>
                                        </p:tgtEl>
                                      </p:cBhvr>
                                    </p:animEffect>
                                  </p:childTnLst>
                                </p:cTn>
                              </p:par>
                              <p:par>
                                <p:cTn id="98" presetID="22" presetClass="entr" presetSubtype="8" fill="hold" grpId="0" nodeType="withEffect">
                                  <p:stCondLst>
                                    <p:cond delay="450"/>
                                  </p:stCondLst>
                                  <p:childTnLst>
                                    <p:set>
                                      <p:cBhvr>
                                        <p:cTn id="99" dur="1" fill="hold">
                                          <p:stCondLst>
                                            <p:cond delay="0"/>
                                          </p:stCondLst>
                                        </p:cTn>
                                        <p:tgtEl>
                                          <p:spTgt spid="16"/>
                                        </p:tgtEl>
                                        <p:attrNameLst>
                                          <p:attrName>style.visibility</p:attrName>
                                        </p:attrNameLst>
                                      </p:cBhvr>
                                      <p:to>
                                        <p:strVal val="visible"/>
                                      </p:to>
                                    </p:set>
                                    <p:animEffect transition="in" filter="wipe(left)">
                                      <p:cBhvr>
                                        <p:cTn id="100" dur="500"/>
                                        <p:tgtEl>
                                          <p:spTgt spid="16"/>
                                        </p:tgtEl>
                                      </p:cBhvr>
                                    </p:animEffect>
                                  </p:childTnLst>
                                </p:cTn>
                              </p:par>
                              <p:par>
                                <p:cTn id="101" presetID="22" presetClass="entr" presetSubtype="8" fill="hold" grpId="0" nodeType="withEffect">
                                  <p:stCondLst>
                                    <p:cond delay="450"/>
                                  </p:stCondLst>
                                  <p:childTnLst>
                                    <p:set>
                                      <p:cBhvr>
                                        <p:cTn id="102" dur="1" fill="hold">
                                          <p:stCondLst>
                                            <p:cond delay="0"/>
                                          </p:stCondLst>
                                        </p:cTn>
                                        <p:tgtEl>
                                          <p:spTgt spid="29"/>
                                        </p:tgtEl>
                                        <p:attrNameLst>
                                          <p:attrName>style.visibility</p:attrName>
                                        </p:attrNameLst>
                                      </p:cBhvr>
                                      <p:to>
                                        <p:strVal val="visible"/>
                                      </p:to>
                                    </p:set>
                                    <p:animEffect transition="in" filter="wipe(left)">
                                      <p:cBhvr>
                                        <p:cTn id="103" dur="500"/>
                                        <p:tgtEl>
                                          <p:spTgt spid="29"/>
                                        </p:tgtEl>
                                      </p:cBhvr>
                                    </p:animEffect>
                                  </p:childTnLst>
                                </p:cTn>
                              </p:par>
                              <p:par>
                                <p:cTn id="104" presetID="22" presetClass="entr" presetSubtype="8" fill="hold" grpId="0" nodeType="withEffect">
                                  <p:stCondLst>
                                    <p:cond delay="450"/>
                                  </p:stCondLst>
                                  <p:childTnLst>
                                    <p:set>
                                      <p:cBhvr>
                                        <p:cTn id="105" dur="1" fill="hold">
                                          <p:stCondLst>
                                            <p:cond delay="0"/>
                                          </p:stCondLst>
                                        </p:cTn>
                                        <p:tgtEl>
                                          <p:spTgt spid="30"/>
                                        </p:tgtEl>
                                        <p:attrNameLst>
                                          <p:attrName>style.visibility</p:attrName>
                                        </p:attrNameLst>
                                      </p:cBhvr>
                                      <p:to>
                                        <p:strVal val="visible"/>
                                      </p:to>
                                    </p:set>
                                    <p:animEffect transition="in" filter="wipe(left)">
                                      <p:cBhvr>
                                        <p:cTn id="106" dur="500"/>
                                        <p:tgtEl>
                                          <p:spTgt spid="30"/>
                                        </p:tgtEl>
                                      </p:cBhvr>
                                    </p:animEffect>
                                  </p:childTnLst>
                                </p:cTn>
                              </p:par>
                              <p:par>
                                <p:cTn id="107" presetID="22" presetClass="entr" presetSubtype="8" fill="hold" grpId="0" nodeType="withEffect">
                                  <p:stCondLst>
                                    <p:cond delay="450"/>
                                  </p:stCondLst>
                                  <p:childTnLst>
                                    <p:set>
                                      <p:cBhvr>
                                        <p:cTn id="108" dur="1" fill="hold">
                                          <p:stCondLst>
                                            <p:cond delay="0"/>
                                          </p:stCondLst>
                                        </p:cTn>
                                        <p:tgtEl>
                                          <p:spTgt spid="43"/>
                                        </p:tgtEl>
                                        <p:attrNameLst>
                                          <p:attrName>style.visibility</p:attrName>
                                        </p:attrNameLst>
                                      </p:cBhvr>
                                      <p:to>
                                        <p:strVal val="visible"/>
                                      </p:to>
                                    </p:set>
                                    <p:animEffect transition="in" filter="wipe(left)">
                                      <p:cBhvr>
                                        <p:cTn id="109" dur="500"/>
                                        <p:tgtEl>
                                          <p:spTgt spid="43"/>
                                        </p:tgtEl>
                                      </p:cBhvr>
                                    </p:animEffect>
                                  </p:childTnLst>
                                </p:cTn>
                              </p:par>
                              <p:par>
                                <p:cTn id="110" presetID="22" presetClass="entr" presetSubtype="8" fill="hold" grpId="0" nodeType="withEffect">
                                  <p:stCondLst>
                                    <p:cond delay="450"/>
                                  </p:stCondLst>
                                  <p:childTnLst>
                                    <p:set>
                                      <p:cBhvr>
                                        <p:cTn id="111" dur="1" fill="hold">
                                          <p:stCondLst>
                                            <p:cond delay="0"/>
                                          </p:stCondLst>
                                        </p:cTn>
                                        <p:tgtEl>
                                          <p:spTgt spid="44"/>
                                        </p:tgtEl>
                                        <p:attrNameLst>
                                          <p:attrName>style.visibility</p:attrName>
                                        </p:attrNameLst>
                                      </p:cBhvr>
                                      <p:to>
                                        <p:strVal val="visible"/>
                                      </p:to>
                                    </p:set>
                                    <p:animEffect transition="in" filter="wipe(left)">
                                      <p:cBhvr>
                                        <p:cTn id="112" dur="500"/>
                                        <p:tgtEl>
                                          <p:spTgt spid="44"/>
                                        </p:tgtEl>
                                      </p:cBhvr>
                                    </p:animEffect>
                                  </p:childTnLst>
                                </p:cTn>
                              </p:par>
                              <p:par>
                                <p:cTn id="113" presetID="22" presetClass="entr" presetSubtype="8" fill="hold" grpId="0" nodeType="withEffect">
                                  <p:stCondLst>
                                    <p:cond delay="540"/>
                                  </p:stCondLst>
                                  <p:childTnLst>
                                    <p:set>
                                      <p:cBhvr>
                                        <p:cTn id="114" dur="1" fill="hold">
                                          <p:stCondLst>
                                            <p:cond delay="0"/>
                                          </p:stCondLst>
                                        </p:cTn>
                                        <p:tgtEl>
                                          <p:spTgt spid="17"/>
                                        </p:tgtEl>
                                        <p:attrNameLst>
                                          <p:attrName>style.visibility</p:attrName>
                                        </p:attrNameLst>
                                      </p:cBhvr>
                                      <p:to>
                                        <p:strVal val="visible"/>
                                      </p:to>
                                    </p:set>
                                    <p:animEffect transition="in" filter="wipe(left)">
                                      <p:cBhvr>
                                        <p:cTn id="115" dur="500"/>
                                        <p:tgtEl>
                                          <p:spTgt spid="17"/>
                                        </p:tgtEl>
                                      </p:cBhvr>
                                    </p:animEffect>
                                  </p:childTnLst>
                                </p:cTn>
                              </p:par>
                              <p:par>
                                <p:cTn id="116" presetID="22" presetClass="entr" presetSubtype="8" fill="hold" grpId="0" nodeType="withEffect">
                                  <p:stCondLst>
                                    <p:cond delay="540"/>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540"/>
                                  </p:stCondLst>
                                  <p:childTnLst>
                                    <p:set>
                                      <p:cBhvr>
                                        <p:cTn id="120" dur="1" fill="hold">
                                          <p:stCondLst>
                                            <p:cond delay="0"/>
                                          </p:stCondLst>
                                        </p:cTn>
                                        <p:tgtEl>
                                          <p:spTgt spid="31"/>
                                        </p:tgtEl>
                                        <p:attrNameLst>
                                          <p:attrName>style.visibility</p:attrName>
                                        </p:attrNameLst>
                                      </p:cBhvr>
                                      <p:to>
                                        <p:strVal val="visible"/>
                                      </p:to>
                                    </p:set>
                                    <p:animEffect transition="in" filter="wipe(left)">
                                      <p:cBhvr>
                                        <p:cTn id="121" dur="500"/>
                                        <p:tgtEl>
                                          <p:spTgt spid="31"/>
                                        </p:tgtEl>
                                      </p:cBhvr>
                                    </p:animEffect>
                                  </p:childTnLst>
                                </p:cTn>
                              </p:par>
                              <p:par>
                                <p:cTn id="122" presetID="22" presetClass="entr" presetSubtype="8" fill="hold" grpId="0" nodeType="withEffect">
                                  <p:stCondLst>
                                    <p:cond delay="540"/>
                                  </p:stCondLst>
                                  <p:childTnLst>
                                    <p:set>
                                      <p:cBhvr>
                                        <p:cTn id="123" dur="1" fill="hold">
                                          <p:stCondLst>
                                            <p:cond delay="0"/>
                                          </p:stCondLst>
                                        </p:cTn>
                                        <p:tgtEl>
                                          <p:spTgt spid="32"/>
                                        </p:tgtEl>
                                        <p:attrNameLst>
                                          <p:attrName>style.visibility</p:attrName>
                                        </p:attrNameLst>
                                      </p:cBhvr>
                                      <p:to>
                                        <p:strVal val="visible"/>
                                      </p:to>
                                    </p:set>
                                    <p:animEffect transition="in" filter="wipe(left)">
                                      <p:cBhvr>
                                        <p:cTn id="124" dur="500"/>
                                        <p:tgtEl>
                                          <p:spTgt spid="32"/>
                                        </p:tgtEl>
                                      </p:cBhvr>
                                    </p:animEffect>
                                  </p:childTnLst>
                                </p:cTn>
                              </p:par>
                              <p:par>
                                <p:cTn id="125" presetID="22" presetClass="entr" presetSubtype="8" fill="hold" grpId="0" nodeType="withEffect">
                                  <p:stCondLst>
                                    <p:cond delay="540"/>
                                  </p:stCondLst>
                                  <p:childTnLst>
                                    <p:set>
                                      <p:cBhvr>
                                        <p:cTn id="126" dur="1" fill="hold">
                                          <p:stCondLst>
                                            <p:cond delay="0"/>
                                          </p:stCondLst>
                                        </p:cTn>
                                        <p:tgtEl>
                                          <p:spTgt spid="45"/>
                                        </p:tgtEl>
                                        <p:attrNameLst>
                                          <p:attrName>style.visibility</p:attrName>
                                        </p:attrNameLst>
                                      </p:cBhvr>
                                      <p:to>
                                        <p:strVal val="visible"/>
                                      </p:to>
                                    </p:set>
                                    <p:animEffect transition="in" filter="wipe(left)">
                                      <p:cBhvr>
                                        <p:cTn id="127" dur="500"/>
                                        <p:tgtEl>
                                          <p:spTgt spid="45"/>
                                        </p:tgtEl>
                                      </p:cBhvr>
                                    </p:animEffect>
                                  </p:childTnLst>
                                </p:cTn>
                              </p:par>
                              <p:par>
                                <p:cTn id="128" presetID="22" presetClass="entr" presetSubtype="8" fill="hold" grpId="0" nodeType="withEffect">
                                  <p:stCondLst>
                                    <p:cond delay="540"/>
                                  </p:stCondLst>
                                  <p:childTnLst>
                                    <p:set>
                                      <p:cBhvr>
                                        <p:cTn id="129" dur="1" fill="hold">
                                          <p:stCondLst>
                                            <p:cond delay="0"/>
                                          </p:stCondLst>
                                        </p:cTn>
                                        <p:tgtEl>
                                          <p:spTgt spid="46"/>
                                        </p:tgtEl>
                                        <p:attrNameLst>
                                          <p:attrName>style.visibility</p:attrName>
                                        </p:attrNameLst>
                                      </p:cBhvr>
                                      <p:to>
                                        <p:strVal val="visible"/>
                                      </p:to>
                                    </p:set>
                                    <p:animEffect transition="in" filter="wipe(left)">
                                      <p:cBhvr>
                                        <p:cTn id="130" dur="500"/>
                                        <p:tgtEl>
                                          <p:spTgt spid="46"/>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500"/>
                                        <p:tgtEl>
                                          <p:spTgt spid="47"/>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8"/>
                                        </p:tgtEl>
                                        <p:attrNameLst>
                                          <p:attrName>style.visibility</p:attrName>
                                        </p:attrNameLst>
                                      </p:cBhvr>
                                      <p:to>
                                        <p:strVal val="visible"/>
                                      </p:to>
                                    </p:set>
                                    <p:animEffect transition="in" filter="fade">
                                      <p:cBhvr>
                                        <p:cTn id="138" dur="500"/>
                                        <p:tgtEl>
                                          <p:spTgt spid="48"/>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9"/>
                                        </p:tgtEl>
                                        <p:attrNameLst>
                                          <p:attrName>style.visibility</p:attrName>
                                        </p:attrNameLst>
                                      </p:cBhvr>
                                      <p:to>
                                        <p:strVal val="visible"/>
                                      </p:to>
                                    </p:set>
                                    <p:animEffect transition="in" filter="fade">
                                      <p:cBhvr>
                                        <p:cTn id="14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EXPENSIVE HALF</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name lives once, in one global table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Per node. Not per process. Not per module.</a:t>
            </a:r>
          </a:p>
        </p:txBody>
      </p:sp>
      <p:sp>
        <p:nvSpPr>
          <p:cNvPr id="5" name="a1f_codebg4"/>
          <p:cNvSpPr/>
          <p:nvPr/>
        </p:nvSpPr>
        <p:spPr>
          <a:xfrm>
            <a:off x="457200" y="1362456"/>
            <a:ext cx="489204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562855" cy="219456"/>
          </a:xfrm>
          <a:prstGeom prst="rect">
            <a:avLst/>
          </a:prstGeom>
          <a:noFill/>
        </p:spPr>
        <p:txBody>
          <a:bodyPr wrap="square" lIns="0" tIns="0" rIns="0" bIns="0" anchor="ctr">
            <a:spAutoFit/>
          </a:bodyPr>
          <a:lstStyle/>
          <a:p>
            <a:pPr algn="l"/>
            <a:r>
              <a:rPr sz="950" b="1">
                <a:solidFill>
                  <a:srgbClr val="64748B"/>
                </a:solidFill>
                <a:latin typeface="Courier New"/>
              </a:rPr>
              <a:t>REAL · a freshly started VM</a:t>
            </a:r>
          </a:p>
        </p:txBody>
      </p:sp>
      <p:sp>
        <p:nvSpPr>
          <p:cNvPr id="7" name="a1w_code6"/>
          <p:cNvSpPr txBox="1"/>
          <p:nvPr/>
        </p:nvSpPr>
        <p:spPr>
          <a:xfrm>
            <a:off x="621792" y="1801368"/>
            <a:ext cx="4562855" cy="214884"/>
          </a:xfrm>
          <a:prstGeom prst="rect">
            <a:avLst/>
          </a:prstGeom>
          <a:noFill/>
        </p:spPr>
        <p:txBody>
          <a:bodyPr wrap="none" lIns="0" tIns="0" rIns="0" bIns="0" anchor="ctr">
            <a:spAutoFit/>
          </a:bodyPr>
          <a:lstStyle/>
          <a:p>
            <a:pPr algn="l"/>
            <a:r>
              <a:rPr sz="1000" b="1" dirty="0" err="1">
                <a:solidFill>
                  <a:srgbClr val="C9B3E8"/>
                </a:solidFill>
                <a:latin typeface="Courier New"/>
              </a:rPr>
              <a:t>iex</a:t>
            </a:r>
            <a:r>
              <a:rPr sz="1000" b="1" dirty="0">
                <a:solidFill>
                  <a:srgbClr val="C9B3E8"/>
                </a:solidFill>
                <a:latin typeface="Courier New"/>
              </a:rPr>
              <a:t>&gt; :</a:t>
            </a:r>
            <a:r>
              <a:rPr sz="1000" b="1" dirty="0" err="1">
                <a:solidFill>
                  <a:srgbClr val="C9B3E8"/>
                </a:solidFill>
                <a:latin typeface="Courier New"/>
              </a:rPr>
              <a:t>erlang.system_info</a:t>
            </a:r>
            <a:r>
              <a:rPr sz="1000" b="1" dirty="0">
                <a:solidFill>
                  <a:srgbClr val="C9B3E8"/>
                </a:solidFill>
                <a:latin typeface="Courier New"/>
              </a:rPr>
              <a:t>(:</a:t>
            </a:r>
            <a:r>
              <a:rPr sz="1000" b="1" dirty="0" err="1">
                <a:solidFill>
                  <a:srgbClr val="C9B3E8"/>
                </a:solidFill>
                <a:latin typeface="Courier New"/>
              </a:rPr>
              <a:t>atom_count</a:t>
            </a:r>
            <a:r>
              <a:rPr sz="1000" b="1" dirty="0">
                <a:solidFill>
                  <a:srgbClr val="C9B3E8"/>
                </a:solidFill>
                <a:latin typeface="Courier New"/>
              </a:rPr>
              <a:t>)</a:t>
            </a:r>
          </a:p>
        </p:txBody>
      </p:sp>
      <p:sp>
        <p:nvSpPr>
          <p:cNvPr id="8" name="a1wd80_code7"/>
          <p:cNvSpPr txBox="1"/>
          <p:nvPr/>
        </p:nvSpPr>
        <p:spPr>
          <a:xfrm>
            <a:off x="621792" y="2016252"/>
            <a:ext cx="4562855" cy="214884"/>
          </a:xfrm>
          <a:prstGeom prst="rect">
            <a:avLst/>
          </a:prstGeom>
          <a:noFill/>
        </p:spPr>
        <p:txBody>
          <a:bodyPr wrap="none" lIns="0" tIns="0" rIns="0" bIns="0" anchor="ctr">
            <a:spAutoFit/>
          </a:bodyPr>
          <a:lstStyle/>
          <a:p>
            <a:pPr algn="l"/>
            <a:r>
              <a:rPr sz="1000" b="0">
                <a:solidFill>
                  <a:srgbClr val="14B8A6"/>
                </a:solidFill>
                <a:latin typeface="Courier New"/>
              </a:rPr>
              <a:t>19150</a:t>
            </a:r>
          </a:p>
        </p:txBody>
      </p:sp>
      <p:sp>
        <p:nvSpPr>
          <p:cNvPr id="9" name="a1wd160_code8"/>
          <p:cNvSpPr txBox="1"/>
          <p:nvPr/>
        </p:nvSpPr>
        <p:spPr>
          <a:xfrm>
            <a:off x="621792" y="2231136"/>
            <a:ext cx="4562855" cy="214884"/>
          </a:xfrm>
          <a:prstGeom prst="rect">
            <a:avLst/>
          </a:prstGeom>
          <a:noFill/>
        </p:spPr>
        <p:txBody>
          <a:bodyPr wrap="none" lIns="0" tIns="0" rIns="0" bIns="0" anchor="ctr">
            <a:spAutoFit/>
          </a:bodyPr>
          <a:lstStyle/>
          <a:p>
            <a:pPr algn="l"/>
            <a:r>
              <a:rPr sz="1000" b="1" dirty="0" err="1">
                <a:solidFill>
                  <a:srgbClr val="C9B3E8"/>
                </a:solidFill>
                <a:latin typeface="Courier New"/>
              </a:rPr>
              <a:t>iex</a:t>
            </a:r>
            <a:r>
              <a:rPr sz="1000" b="1" dirty="0">
                <a:solidFill>
                  <a:srgbClr val="C9B3E8"/>
                </a:solidFill>
                <a:latin typeface="Courier New"/>
              </a:rPr>
              <a:t>&gt; :</a:t>
            </a:r>
            <a:r>
              <a:rPr sz="1000" b="1" dirty="0" err="1">
                <a:solidFill>
                  <a:srgbClr val="C9B3E8"/>
                </a:solidFill>
                <a:latin typeface="Courier New"/>
              </a:rPr>
              <a:t>erlang.system_info</a:t>
            </a:r>
            <a:r>
              <a:rPr sz="1000" b="1" dirty="0">
                <a:solidFill>
                  <a:srgbClr val="C9B3E8"/>
                </a:solidFill>
                <a:latin typeface="Courier New"/>
              </a:rPr>
              <a:t>(:</a:t>
            </a:r>
            <a:r>
              <a:rPr sz="1000" b="1" dirty="0" err="1">
                <a:solidFill>
                  <a:srgbClr val="C9B3E8"/>
                </a:solidFill>
                <a:latin typeface="Courier New"/>
              </a:rPr>
              <a:t>atom_limit</a:t>
            </a:r>
            <a:r>
              <a:rPr sz="1000" b="1" dirty="0">
                <a:solidFill>
                  <a:srgbClr val="C9B3E8"/>
                </a:solidFill>
                <a:latin typeface="Courier New"/>
              </a:rPr>
              <a:t>)</a:t>
            </a:r>
          </a:p>
        </p:txBody>
      </p:sp>
      <p:sp>
        <p:nvSpPr>
          <p:cNvPr id="10" name="a1wd240_code9"/>
          <p:cNvSpPr txBox="1"/>
          <p:nvPr/>
        </p:nvSpPr>
        <p:spPr>
          <a:xfrm>
            <a:off x="621792" y="2446020"/>
            <a:ext cx="4562855" cy="214884"/>
          </a:xfrm>
          <a:prstGeom prst="rect">
            <a:avLst/>
          </a:prstGeom>
          <a:noFill/>
        </p:spPr>
        <p:txBody>
          <a:bodyPr wrap="none" lIns="0" tIns="0" rIns="0" bIns="0" anchor="ctr">
            <a:spAutoFit/>
          </a:bodyPr>
          <a:lstStyle/>
          <a:p>
            <a:pPr algn="l"/>
            <a:r>
              <a:rPr sz="1000" b="0">
                <a:solidFill>
                  <a:srgbClr val="14B8A6"/>
                </a:solidFill>
                <a:latin typeface="Courier New"/>
              </a:rPr>
              <a:t>1048576</a:t>
            </a:r>
          </a:p>
        </p:txBody>
      </p:sp>
      <p:sp>
        <p:nvSpPr>
          <p:cNvPr id="11" name="a1wd320_code10"/>
          <p:cNvSpPr txBox="1"/>
          <p:nvPr/>
        </p:nvSpPr>
        <p:spPr>
          <a:xfrm>
            <a:off x="621792" y="2660904"/>
            <a:ext cx="4562855" cy="214884"/>
          </a:xfrm>
          <a:prstGeom prst="rect">
            <a:avLst/>
          </a:prstGeom>
          <a:noFill/>
        </p:spPr>
        <p:txBody>
          <a:bodyPr wrap="none" lIns="0" tIns="0" rIns="0" bIns="0" anchor="ctr">
            <a:spAutoFit/>
          </a:bodyPr>
          <a:lstStyle/>
          <a:p>
            <a:pPr algn="l"/>
            <a:r>
              <a:rPr sz="1000" b="1" dirty="0" err="1">
                <a:solidFill>
                  <a:srgbClr val="C9B3E8"/>
                </a:solidFill>
                <a:latin typeface="Courier New"/>
              </a:rPr>
              <a:t>iex</a:t>
            </a:r>
            <a:r>
              <a:rPr sz="1000" b="1" dirty="0">
                <a:solidFill>
                  <a:srgbClr val="C9B3E8"/>
                </a:solidFill>
                <a:latin typeface="Courier New"/>
              </a:rPr>
              <a:t>&gt; :</a:t>
            </a:r>
            <a:r>
              <a:rPr sz="1000" b="1" dirty="0" err="1">
                <a:solidFill>
                  <a:srgbClr val="C9B3E8"/>
                </a:solidFill>
                <a:latin typeface="Courier New"/>
              </a:rPr>
              <a:t>erlang.memory</a:t>
            </a:r>
            <a:r>
              <a:rPr sz="1000" b="1" dirty="0">
                <a:solidFill>
                  <a:srgbClr val="C9B3E8"/>
                </a:solidFill>
                <a:latin typeface="Courier New"/>
              </a:rPr>
              <a:t>(:</a:t>
            </a:r>
            <a:r>
              <a:rPr sz="1000" b="1" dirty="0" err="1">
                <a:solidFill>
                  <a:srgbClr val="C9B3E8"/>
                </a:solidFill>
                <a:latin typeface="Courier New"/>
              </a:rPr>
              <a:t>atom_used</a:t>
            </a:r>
            <a:r>
              <a:rPr sz="1000" b="1" dirty="0">
                <a:solidFill>
                  <a:srgbClr val="C9B3E8"/>
                </a:solidFill>
                <a:latin typeface="Courier New"/>
              </a:rPr>
              <a:t>)</a:t>
            </a:r>
          </a:p>
        </p:txBody>
      </p:sp>
      <p:sp>
        <p:nvSpPr>
          <p:cNvPr id="12" name="a1wd400_code11"/>
          <p:cNvSpPr txBox="1"/>
          <p:nvPr/>
        </p:nvSpPr>
        <p:spPr>
          <a:xfrm>
            <a:off x="621792" y="2875787"/>
            <a:ext cx="4562855" cy="214884"/>
          </a:xfrm>
          <a:prstGeom prst="rect">
            <a:avLst/>
          </a:prstGeom>
          <a:noFill/>
        </p:spPr>
        <p:txBody>
          <a:bodyPr wrap="none" lIns="0" tIns="0" rIns="0" bIns="0" anchor="ctr">
            <a:spAutoFit/>
          </a:bodyPr>
          <a:lstStyle/>
          <a:p>
            <a:pPr algn="l"/>
            <a:r>
              <a:rPr sz="1000" b="0">
                <a:solidFill>
                  <a:srgbClr val="14B8A6"/>
                </a:solidFill>
                <a:latin typeface="Courier New"/>
              </a:rPr>
              <a:t>568386</a:t>
            </a:r>
          </a:p>
        </p:txBody>
      </p:sp>
      <p:sp>
        <p:nvSpPr>
          <p:cNvPr id="13" name="a1wd480_code12"/>
          <p:cNvSpPr txBox="1"/>
          <p:nvPr/>
        </p:nvSpPr>
        <p:spPr>
          <a:xfrm>
            <a:off x="621792" y="3090672"/>
            <a:ext cx="4562855" cy="214884"/>
          </a:xfrm>
          <a:prstGeom prst="rect">
            <a:avLst/>
          </a:prstGeom>
          <a:noFill/>
        </p:spPr>
        <p:txBody>
          <a:bodyPr wrap="none" lIns="0" tIns="0" rIns="0" bIns="0" anchor="ctr">
            <a:spAutoFit/>
          </a:bodyPr>
          <a:lstStyle/>
          <a:p>
            <a:pPr algn="l"/>
            <a:endParaRPr/>
          </a:p>
        </p:txBody>
      </p:sp>
      <p:sp>
        <p:nvSpPr>
          <p:cNvPr id="14" name="a1wd560_code13"/>
          <p:cNvSpPr txBox="1"/>
          <p:nvPr/>
        </p:nvSpPr>
        <p:spPr>
          <a:xfrm>
            <a:off x="621792" y="3305556"/>
            <a:ext cx="4562855" cy="214884"/>
          </a:xfrm>
          <a:prstGeom prst="rect">
            <a:avLst/>
          </a:prstGeom>
          <a:noFill/>
        </p:spPr>
        <p:txBody>
          <a:bodyPr wrap="none" lIns="0" tIns="0" rIns="0" bIns="0" anchor="ctr">
            <a:spAutoFit/>
          </a:bodyPr>
          <a:lstStyle/>
          <a:p>
            <a:pPr algn="l"/>
            <a:r>
              <a:rPr sz="1000" b="0">
                <a:solidFill>
                  <a:srgbClr val="64748B"/>
                </a:solidFill>
                <a:latin typeface="Courier New"/>
              </a:rPr>
              <a:t># a bare VM already holds ~19k atoms</a:t>
            </a:r>
          </a:p>
        </p:txBody>
      </p:sp>
      <p:sp>
        <p:nvSpPr>
          <p:cNvPr id="15" name="a1wd640_code14"/>
          <p:cNvSpPr txBox="1"/>
          <p:nvPr/>
        </p:nvSpPr>
        <p:spPr>
          <a:xfrm>
            <a:off x="621792" y="3520439"/>
            <a:ext cx="4562855" cy="214884"/>
          </a:xfrm>
          <a:prstGeom prst="rect">
            <a:avLst/>
          </a:prstGeom>
          <a:noFill/>
        </p:spPr>
        <p:txBody>
          <a:bodyPr wrap="none" lIns="0" tIns="0" rIns="0" bIns="0" anchor="ctr">
            <a:spAutoFit/>
          </a:bodyPr>
          <a:lstStyle/>
          <a:p>
            <a:pPr algn="l"/>
            <a:r>
              <a:rPr sz="1000" b="0">
                <a:solidFill>
                  <a:srgbClr val="64748B"/>
                </a:solidFill>
                <a:latin typeface="Courier New"/>
              </a:rPr>
              <a:t># headroom here: 1,029,426</a:t>
            </a:r>
          </a:p>
        </p:txBody>
      </p:sp>
      <p:sp>
        <p:nvSpPr>
          <p:cNvPr id="16" name="a2u_dot15"/>
          <p:cNvSpPr/>
          <p:nvPr/>
        </p:nvSpPr>
        <p:spPr>
          <a:xfrm>
            <a:off x="548640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_b16"/>
          <p:cNvSpPr txBox="1"/>
          <p:nvPr/>
        </p:nvSpPr>
        <p:spPr>
          <a:xfrm>
            <a:off x="5705856" y="1399031"/>
            <a:ext cx="2980944" cy="694944"/>
          </a:xfrm>
          <a:prstGeom prst="rect">
            <a:avLst/>
          </a:prstGeom>
          <a:noFill/>
        </p:spPr>
        <p:txBody>
          <a:bodyPr wrap="square" lIns="0" tIns="0" rIns="0" bIns="0" anchor="t">
            <a:spAutoFit/>
          </a:bodyPr>
          <a:lstStyle/>
          <a:p>
            <a:pPr algn="l"/>
            <a:r>
              <a:rPr sz="1100" b="1">
                <a:solidFill>
                  <a:srgbClr val="0F172A"/>
                </a:solidFill>
                <a:latin typeface="Calibri"/>
              </a:rPr>
              <a:t>One table for the whole node  </a:t>
            </a:r>
            <a:r>
              <a:rPr sz="1100" b="0">
                <a:solidFill>
                  <a:srgbClr val="334155"/>
                </a:solidFill>
                <a:latin typeface="Calibri"/>
              </a:rPr>
              <a:t>every process, every library, every module shares it</a:t>
            </a:r>
          </a:p>
        </p:txBody>
      </p:sp>
      <p:sp>
        <p:nvSpPr>
          <p:cNvPr id="18" name="a2ud180_dot17"/>
          <p:cNvSpPr/>
          <p:nvPr/>
        </p:nvSpPr>
        <p:spPr>
          <a:xfrm>
            <a:off x="5486400" y="223113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ud180_b18"/>
          <p:cNvSpPr txBox="1"/>
          <p:nvPr/>
        </p:nvSpPr>
        <p:spPr>
          <a:xfrm>
            <a:off x="5705856" y="2130551"/>
            <a:ext cx="2980944" cy="694944"/>
          </a:xfrm>
          <a:prstGeom prst="rect">
            <a:avLst/>
          </a:prstGeom>
          <a:noFill/>
        </p:spPr>
        <p:txBody>
          <a:bodyPr wrap="square" lIns="0" tIns="0" rIns="0" bIns="0" anchor="t">
            <a:spAutoFit/>
          </a:bodyPr>
          <a:lstStyle/>
          <a:p>
            <a:pPr algn="l"/>
            <a:r>
              <a:rPr sz="1100" b="1">
                <a:solidFill>
                  <a:srgbClr val="0F172A"/>
                </a:solidFill>
                <a:latin typeface="Calibri"/>
              </a:rPr>
              <a:t>Entries are never removed  </a:t>
            </a:r>
            <a:r>
              <a:rPr sz="1100" b="0">
                <a:solidFill>
                  <a:srgbClr val="334155"/>
                </a:solidFill>
                <a:latin typeface="Calibri"/>
              </a:rPr>
              <a:t>there is no reference counting and no compaction</a:t>
            </a:r>
          </a:p>
        </p:txBody>
      </p:sp>
      <p:sp>
        <p:nvSpPr>
          <p:cNvPr id="20" name="a2ud360_dot19"/>
          <p:cNvSpPr/>
          <p:nvPr/>
        </p:nvSpPr>
        <p:spPr>
          <a:xfrm>
            <a:off x="5486400" y="296265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2ud360_b20"/>
          <p:cNvSpPr txBox="1"/>
          <p:nvPr/>
        </p:nvSpPr>
        <p:spPr>
          <a:xfrm>
            <a:off x="5705856" y="2862071"/>
            <a:ext cx="2980944" cy="694944"/>
          </a:xfrm>
          <a:prstGeom prst="rect">
            <a:avLst/>
          </a:prstGeom>
          <a:noFill/>
        </p:spPr>
        <p:txBody>
          <a:bodyPr wrap="square" lIns="0" tIns="0" rIns="0" bIns="0" anchor="t">
            <a:spAutoFit/>
          </a:bodyPr>
          <a:lstStyle/>
          <a:p>
            <a:pPr algn="l"/>
            <a:r>
              <a:rPr sz="1100" b="1">
                <a:solidFill>
                  <a:srgbClr val="0F172A"/>
                </a:solidFill>
                <a:latin typeface="Calibri"/>
              </a:rPr>
              <a:t>It is sized at boot  </a:t>
            </a:r>
            <a:r>
              <a:rPr sz="1100" b="0">
                <a:solidFill>
                  <a:srgbClr val="334155"/>
                </a:solidFill>
                <a:latin typeface="Calibri"/>
              </a:rPr>
              <a:t>the limit cannot be changed by a running node</a:t>
            </a:r>
          </a:p>
        </p:txBody>
      </p:sp>
      <p:sp>
        <p:nvSpPr>
          <p:cNvPr id="22" name="a3f_nb21"/>
          <p:cNvSpPr/>
          <p:nvPr/>
        </p:nvSpPr>
        <p:spPr>
          <a:xfrm>
            <a:off x="457200" y="4027931"/>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acc22"/>
          <p:cNvSpPr/>
          <p:nvPr/>
        </p:nvSpPr>
        <p:spPr>
          <a:xfrm>
            <a:off x="457200" y="4027931"/>
            <a:ext cx="50292" cy="42062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t23"/>
          <p:cNvSpPr txBox="1"/>
          <p:nvPr/>
        </p:nvSpPr>
        <p:spPr>
          <a:xfrm>
            <a:off x="658368" y="4027931"/>
            <a:ext cx="7827264" cy="420624"/>
          </a:xfrm>
          <a:prstGeom prst="rect">
            <a:avLst/>
          </a:prstGeom>
          <a:noFill/>
        </p:spPr>
        <p:txBody>
          <a:bodyPr wrap="square" lIns="0" tIns="0" rIns="0" bIns="0" anchor="ctr">
            <a:spAutoFit/>
          </a:bodyPr>
          <a:lstStyle/>
          <a:p>
            <a:pPr algn="l"/>
            <a:r>
              <a:rPr sz="1150" b="1">
                <a:solidFill>
                  <a:srgbClr val="6B3FA0"/>
                </a:solidFill>
                <a:latin typeface="Calibri"/>
              </a:rPr>
              <a:t>i  </a:t>
            </a:r>
            <a:r>
              <a:rPr sz="1150" b="0">
                <a:solidFill>
                  <a:srgbClr val="334155"/>
                </a:solidFill>
                <a:latin typeface="Calibri"/>
              </a:rPr>
              <a:t>Those 19,150 atoms are the standard library naming itself. You start with about 2% of the table already used.</a:t>
            </a:r>
          </a:p>
        </p:txBody>
      </p:sp>
      <p:sp>
        <p:nvSpPr>
          <p:cNvPr id="25" name="ft24"/>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6" name="ft25"/>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4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1"/>
                                          </p:val>
                                        </p:tav>
                                        <p:tav tm="100000">
                                          <p:val>
                                            <p:strVal val="#ppt_y"/>
                                          </p:val>
                                        </p:tav>
                                      </p:tavLst>
                                    </p:anim>
                                    <p:animEffect transition="in" filter="fade">
                                      <p:cBhvr>
                                        <p:cTn id="44" dur="500"/>
                                        <p:tgtEl>
                                          <p:spTgt spid="16"/>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1"/>
                                          </p:val>
                                        </p:tav>
                                        <p:tav tm="100000">
                                          <p:val>
                                            <p:strVal val="#ppt_y"/>
                                          </p:val>
                                        </p:tav>
                                      </p:tavLst>
                                    </p:anim>
                                    <p:animEffect transition="in" filter="fade">
                                      <p:cBhvr>
                                        <p:cTn id="49" dur="500"/>
                                        <p:tgtEl>
                                          <p:spTgt spid="17"/>
                                        </p:tgtEl>
                                      </p:cBhvr>
                                    </p:animEffect>
                                  </p:childTnLst>
                                </p:cTn>
                              </p:par>
                              <p:par>
                                <p:cTn id="50" presetID="2" presetClass="entr" presetSubtype="4" fill="hold" grpId="0" nodeType="withEffect">
                                  <p:stCondLst>
                                    <p:cond delay="18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1"/>
                                          </p:val>
                                        </p:tav>
                                        <p:tav tm="100000">
                                          <p:val>
                                            <p:strVal val="#ppt_y"/>
                                          </p:val>
                                        </p:tav>
                                      </p:tavLst>
                                    </p:anim>
                                    <p:animEffect transition="in" filter="fade">
                                      <p:cBhvr>
                                        <p:cTn id="54" dur="500"/>
                                        <p:tgtEl>
                                          <p:spTgt spid="18"/>
                                        </p:tgtEl>
                                      </p:cBhvr>
                                    </p:animEffect>
                                  </p:childTnLst>
                                </p:cTn>
                              </p:par>
                              <p:par>
                                <p:cTn id="55" presetID="2" presetClass="entr" presetSubtype="4" fill="hold" grpId="0" nodeType="withEffect">
                                  <p:stCondLst>
                                    <p:cond delay="18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0" presetID="2" presetClass="entr" presetSubtype="4" fill="hold" grpId="0" nodeType="withEffect">
                                  <p:stCondLst>
                                    <p:cond delay="3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65" presetID="2" presetClass="entr" presetSubtype="4" fill="hold" grpId="0" nodeType="withEffect">
                                  <p:stCondLst>
                                    <p:cond delay="36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EXPENSIVE HALF</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Atoms are never garbage collected</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Measured: create 10,000, force a full GC, count again.</a:t>
            </a:r>
          </a:p>
        </p:txBody>
      </p:sp>
      <p:sp>
        <p:nvSpPr>
          <p:cNvPr id="5" name="a1f_codebg4"/>
          <p:cNvSpPr/>
          <p:nvPr/>
        </p:nvSpPr>
        <p:spPr>
          <a:xfrm>
            <a:off x="457200" y="1362456"/>
            <a:ext cx="8229600" cy="2107691"/>
          </a:xfrm>
          <a:prstGeom prst="roundRect">
            <a:avLst>
              <a:gd name="adj" fmla="val 347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0" dirty="0">
                <a:solidFill>
                  <a:srgbClr val="E2E8F0"/>
                </a:solidFill>
                <a:latin typeface="Courier New"/>
              </a:rPr>
              <a:t>before: </a:t>
            </a:r>
            <a:r>
              <a:rPr sz="1000" b="0" dirty="0" err="1">
                <a:solidFill>
                  <a:srgbClr val="E2E8F0"/>
                </a:solidFill>
                <a:latin typeface="Courier New"/>
              </a:rPr>
              <a:t>atom_count</a:t>
            </a:r>
            <a:r>
              <a:rPr sz="1000" b="0" dirty="0">
                <a:solidFill>
                  <a:srgbClr val="E2E8F0"/>
                </a:solidFill>
                <a:latin typeface="Courier New"/>
              </a:rPr>
              <a:t> = 19595   memory(:</a:t>
            </a:r>
            <a:r>
              <a:rPr sz="1000" b="0" dirty="0" err="1">
                <a:solidFill>
                  <a:srgbClr val="E2E8F0"/>
                </a:solidFill>
                <a:latin typeface="Courier New"/>
              </a:rPr>
              <a:t>atom_used</a:t>
            </a:r>
            <a:r>
              <a:rPr sz="1000" b="0" dirty="0">
                <a:solidFill>
                  <a:srgbClr val="E2E8F0"/>
                </a:solidFill>
                <a:latin typeface="Courier New"/>
              </a:rPr>
              <a:t>) =   578,649 bytes</a:t>
            </a:r>
          </a:p>
        </p:txBody>
      </p:sp>
      <p:sp>
        <p:nvSpPr>
          <p:cNvPr id="8" name="a1wd90_code7"/>
          <p:cNvSpPr txBox="1"/>
          <p:nvPr/>
        </p:nvSpPr>
        <p:spPr>
          <a:xfrm>
            <a:off x="621792" y="2016252"/>
            <a:ext cx="7900416" cy="214884"/>
          </a:xfrm>
          <a:prstGeom prst="rect">
            <a:avLst/>
          </a:prstGeom>
          <a:noFill/>
        </p:spPr>
        <p:txBody>
          <a:bodyPr wrap="none" lIns="0" tIns="0" rIns="0" bIns="0" anchor="ctr">
            <a:spAutoFit/>
          </a:bodyPr>
          <a:lstStyle/>
          <a:p>
            <a:pPr algn="l"/>
            <a:endParaRPr/>
          </a:p>
        </p:txBody>
      </p:sp>
      <p:sp>
        <p:nvSpPr>
          <p:cNvPr id="9" name="a1wd180_code8"/>
          <p:cNvSpPr txBox="1"/>
          <p:nvPr/>
        </p:nvSpPr>
        <p:spPr>
          <a:xfrm>
            <a:off x="621792" y="2231136"/>
            <a:ext cx="7900416" cy="214884"/>
          </a:xfrm>
          <a:prstGeom prst="rect">
            <a:avLst/>
          </a:prstGeom>
          <a:noFill/>
        </p:spPr>
        <p:txBody>
          <a:bodyPr wrap="none" lIns="0" tIns="0" rIns="0" bIns="0" anchor="ctr">
            <a:spAutoFit/>
          </a:bodyPr>
          <a:lstStyle/>
          <a:p>
            <a:pPr algn="l"/>
            <a:r>
              <a:rPr sz="1000" b="1" dirty="0">
                <a:solidFill>
                  <a:srgbClr val="C9B3E8"/>
                </a:solidFill>
                <a:latin typeface="Courier New"/>
              </a:rPr>
              <a:t>for </a:t>
            </a:r>
            <a:r>
              <a:rPr sz="1000" b="1" dirty="0" err="1">
                <a:solidFill>
                  <a:srgbClr val="C9B3E8"/>
                </a:solidFill>
                <a:latin typeface="Courier New"/>
              </a:rPr>
              <a:t>i</a:t>
            </a:r>
            <a:r>
              <a:rPr sz="1000" b="1" dirty="0">
                <a:solidFill>
                  <a:srgbClr val="C9B3E8"/>
                </a:solidFill>
                <a:latin typeface="Courier New"/>
              </a:rPr>
              <a:t> &lt;- 1..10_000, do: </a:t>
            </a:r>
            <a:r>
              <a:rPr sz="1000" b="1" dirty="0" err="1">
                <a:solidFill>
                  <a:srgbClr val="C9B3E8"/>
                </a:solidFill>
                <a:latin typeface="Courier New"/>
              </a:rPr>
              <a:t>String.to_atom</a:t>
            </a:r>
            <a:r>
              <a:rPr sz="1000" b="1" dirty="0">
                <a:solidFill>
                  <a:srgbClr val="C9B3E8"/>
                </a:solidFill>
                <a:latin typeface="Courier New"/>
              </a:rPr>
              <a:t>("</a:t>
            </a:r>
            <a:r>
              <a:rPr sz="1000" b="1" dirty="0" err="1">
                <a:solidFill>
                  <a:srgbClr val="C9B3E8"/>
                </a:solidFill>
                <a:latin typeface="Courier New"/>
              </a:rPr>
              <a:t>probe_throwaway_atom</a:t>
            </a:r>
            <a:r>
              <a:rPr sz="1000" b="1" dirty="0">
                <a:solidFill>
                  <a:srgbClr val="C9B3E8"/>
                </a:solidFill>
                <a:latin typeface="Courier New"/>
              </a:rPr>
              <a:t>_#{</a:t>
            </a:r>
            <a:r>
              <a:rPr sz="1000" b="1" dirty="0" err="1">
                <a:solidFill>
                  <a:srgbClr val="C9B3E8"/>
                </a:solidFill>
                <a:latin typeface="Courier New"/>
              </a:rPr>
              <a:t>i</a:t>
            </a:r>
            <a:r>
              <a:rPr sz="1000" b="1" dirty="0">
                <a:solidFill>
                  <a:srgbClr val="C9B3E8"/>
                </a:solidFill>
                <a:latin typeface="Courier New"/>
              </a:rPr>
              <a:t>}")</a:t>
            </a:r>
          </a:p>
        </p:txBody>
      </p:sp>
      <p:sp>
        <p:nvSpPr>
          <p:cNvPr id="10" name="a1wd270_code9"/>
          <p:cNvSpPr txBox="1"/>
          <p:nvPr/>
        </p:nvSpPr>
        <p:spPr>
          <a:xfrm>
            <a:off x="621792" y="2446020"/>
            <a:ext cx="7900416" cy="214884"/>
          </a:xfrm>
          <a:prstGeom prst="rect">
            <a:avLst/>
          </a:prstGeom>
          <a:noFill/>
        </p:spPr>
        <p:txBody>
          <a:bodyPr wrap="none" lIns="0" tIns="0" rIns="0" bIns="0" anchor="ctr">
            <a:spAutoFit/>
          </a:bodyPr>
          <a:lstStyle/>
          <a:p>
            <a:pPr algn="l"/>
            <a:r>
              <a:rPr sz="1000" b="1" dirty="0">
                <a:solidFill>
                  <a:srgbClr val="C9B3E8"/>
                </a:solidFill>
                <a:latin typeface="Courier New"/>
              </a:rPr>
              <a:t>:</a:t>
            </a:r>
            <a:r>
              <a:rPr sz="1000" b="1" dirty="0" err="1">
                <a:solidFill>
                  <a:srgbClr val="C9B3E8"/>
                </a:solidFill>
                <a:latin typeface="Courier New"/>
              </a:rPr>
              <a:t>erlang.garbage_collect</a:t>
            </a:r>
            <a:r>
              <a:rPr sz="1000" b="1" dirty="0">
                <a:solidFill>
                  <a:srgbClr val="C9B3E8"/>
                </a:solidFill>
                <a:latin typeface="Courier New"/>
              </a:rPr>
              <a:t>()          # a FULL collection</a:t>
            </a:r>
          </a:p>
        </p:txBody>
      </p:sp>
      <p:sp>
        <p:nvSpPr>
          <p:cNvPr id="11" name="a1wd360_code10"/>
          <p:cNvSpPr txBox="1"/>
          <p:nvPr/>
        </p:nvSpPr>
        <p:spPr>
          <a:xfrm>
            <a:off x="621792" y="2660904"/>
            <a:ext cx="7900416" cy="214884"/>
          </a:xfrm>
          <a:prstGeom prst="rect">
            <a:avLst/>
          </a:prstGeom>
          <a:noFill/>
        </p:spPr>
        <p:txBody>
          <a:bodyPr wrap="none" lIns="0" tIns="0" rIns="0" bIns="0" anchor="ctr">
            <a:spAutoFit/>
          </a:bodyPr>
          <a:lstStyle/>
          <a:p>
            <a:pPr algn="l"/>
            <a:endParaRPr/>
          </a:p>
        </p:txBody>
      </p:sp>
      <p:sp>
        <p:nvSpPr>
          <p:cNvPr id="12" name="a1wd450_code11"/>
          <p:cNvSpPr txBox="1"/>
          <p:nvPr/>
        </p:nvSpPr>
        <p:spPr>
          <a:xfrm>
            <a:off x="621792" y="2875787"/>
            <a:ext cx="7900416" cy="214884"/>
          </a:xfrm>
          <a:prstGeom prst="rect">
            <a:avLst/>
          </a:prstGeom>
          <a:noFill/>
        </p:spPr>
        <p:txBody>
          <a:bodyPr wrap="none" lIns="0" tIns="0" rIns="0" bIns="0" anchor="ctr">
            <a:spAutoFit/>
          </a:bodyPr>
          <a:lstStyle/>
          <a:p>
            <a:pPr algn="l"/>
            <a:r>
              <a:rPr sz="1000" b="0">
                <a:solidFill>
                  <a:srgbClr val="14B8A6"/>
                </a:solidFill>
                <a:latin typeface="Courier New"/>
              </a:rPr>
              <a:t>after : atom_count = 29595   memory(:atom_used) = 1,032,343 bytes</a:t>
            </a:r>
          </a:p>
        </p:txBody>
      </p:sp>
      <p:sp>
        <p:nvSpPr>
          <p:cNvPr id="13" name="a1wd540_code12"/>
          <p:cNvSpPr txBox="1"/>
          <p:nvPr/>
        </p:nvSpPr>
        <p:spPr>
          <a:xfrm>
            <a:off x="621792" y="3090672"/>
            <a:ext cx="7900416" cy="214884"/>
          </a:xfrm>
          <a:prstGeom prst="rect">
            <a:avLst/>
          </a:prstGeom>
          <a:noFill/>
        </p:spPr>
        <p:txBody>
          <a:bodyPr wrap="none" lIns="0" tIns="0" rIns="0" bIns="0" anchor="ctr">
            <a:spAutoFit/>
          </a:bodyPr>
          <a:lstStyle/>
          <a:p>
            <a:pPr algn="l"/>
            <a:r>
              <a:rPr sz="1000" b="0">
                <a:solidFill>
                  <a:srgbClr val="FCA5A5"/>
                </a:solidFill>
                <a:latin typeface="Courier New"/>
              </a:rPr>
              <a:t>delta : +10,000 atoms        +453,694 bytes  =  45.4 bytes each</a:t>
            </a:r>
          </a:p>
        </p:txBody>
      </p:sp>
      <p:sp>
        <p:nvSpPr>
          <p:cNvPr id="14" name="a2u_card13"/>
          <p:cNvSpPr/>
          <p:nvPr/>
        </p:nvSpPr>
        <p:spPr>
          <a:xfrm>
            <a:off x="457200"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_acc14"/>
          <p:cNvSpPr/>
          <p:nvPr/>
        </p:nvSpPr>
        <p:spPr>
          <a:xfrm>
            <a:off x="457200" y="3616452"/>
            <a:ext cx="2609088" cy="5029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d90_ct15"/>
          <p:cNvSpPr txBox="1"/>
          <p:nvPr/>
        </p:nvSpPr>
        <p:spPr>
          <a:xfrm>
            <a:off x="621792"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Nothing was freed</a:t>
            </a:r>
          </a:p>
        </p:txBody>
      </p:sp>
      <p:sp>
        <p:nvSpPr>
          <p:cNvPr id="17" name="a2ud150_cb16"/>
          <p:cNvSpPr txBox="1"/>
          <p:nvPr/>
        </p:nvSpPr>
        <p:spPr>
          <a:xfrm>
            <a:off x="621792" y="4091939"/>
            <a:ext cx="2279904" cy="475488"/>
          </a:xfrm>
          <a:prstGeom prst="rect">
            <a:avLst/>
          </a:prstGeom>
          <a:noFill/>
        </p:spPr>
        <p:txBody>
          <a:bodyPr wrap="square" lIns="0" tIns="0" rIns="0" bIns="0" anchor="t">
            <a:spAutoFit/>
          </a:bodyPr>
          <a:lstStyle/>
          <a:p>
            <a:pPr algn="l"/>
            <a:r>
              <a:rPr sz="1050" b="1">
                <a:solidFill>
                  <a:srgbClr val="A90533"/>
                </a:solidFill>
                <a:latin typeface="Calibri"/>
              </a:rPr>
              <a:t>· </a:t>
            </a:r>
            <a:r>
              <a:rPr sz="1050" b="0">
                <a:solidFill>
                  <a:srgbClr val="334155"/>
                </a:solidFill>
                <a:latin typeface="Calibri"/>
              </a:rPr>
              <a:t>The collector never walks this table</a:t>
            </a:r>
          </a:p>
        </p:txBody>
      </p:sp>
      <p:sp>
        <p:nvSpPr>
          <p:cNvPr id="18" name="a3u_card17"/>
          <p:cNvSpPr/>
          <p:nvPr/>
        </p:nvSpPr>
        <p:spPr>
          <a:xfrm>
            <a:off x="3267456"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3u_acc18"/>
          <p:cNvSpPr/>
          <p:nvPr/>
        </p:nvSpPr>
        <p:spPr>
          <a:xfrm>
            <a:off x="3267456" y="3616452"/>
            <a:ext cx="2609088"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3ud90_ct19"/>
          <p:cNvSpPr txBox="1"/>
          <p:nvPr/>
        </p:nvSpPr>
        <p:spPr>
          <a:xfrm>
            <a:off x="3432048"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~45 bytes each</a:t>
            </a:r>
          </a:p>
        </p:txBody>
      </p:sp>
      <p:sp>
        <p:nvSpPr>
          <p:cNvPr id="21" name="a3ud150_cb20"/>
          <p:cNvSpPr txBox="1"/>
          <p:nvPr/>
        </p:nvSpPr>
        <p:spPr>
          <a:xfrm>
            <a:off x="3432048" y="4091939"/>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The entry, plus the name itself</a:t>
            </a:r>
          </a:p>
        </p:txBody>
      </p:sp>
      <p:sp>
        <p:nvSpPr>
          <p:cNvPr id="22" name="a4u_card21"/>
          <p:cNvSpPr/>
          <p:nvPr/>
        </p:nvSpPr>
        <p:spPr>
          <a:xfrm>
            <a:off x="6077712"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4u_acc22"/>
          <p:cNvSpPr/>
          <p:nvPr/>
        </p:nvSpPr>
        <p:spPr>
          <a:xfrm>
            <a:off x="6077712" y="3616452"/>
            <a:ext cx="2609088" cy="502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4ud90_ct23"/>
          <p:cNvSpPr txBox="1"/>
          <p:nvPr/>
        </p:nvSpPr>
        <p:spPr>
          <a:xfrm>
            <a:off x="6242304"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Gone until restart</a:t>
            </a:r>
          </a:p>
        </p:txBody>
      </p:sp>
      <p:sp>
        <p:nvSpPr>
          <p:cNvPr id="25" name="a4ud150_cb24"/>
          <p:cNvSpPr txBox="1"/>
          <p:nvPr/>
        </p:nvSpPr>
        <p:spPr>
          <a:xfrm>
            <a:off x="6242304" y="4091939"/>
            <a:ext cx="2279904"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Stopping the node is the only way back</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9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7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5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54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ppt_y+0.1"/>
                                          </p:val>
                                        </p:tav>
                                        <p:tav tm="100000">
                                          <p:val>
                                            <p:strVal val="#ppt_y"/>
                                          </p:val>
                                        </p:tav>
                                      </p:tavLst>
                                    </p:anim>
                                    <p:animEffect transition="in" filter="fade">
                                      <p:cBhvr>
                                        <p:cTn id="38" dur="500"/>
                                        <p:tgtEl>
                                          <p:spTgt spid="14"/>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ppt_y+0.1"/>
                                          </p:val>
                                        </p:tav>
                                        <p:tav tm="100000">
                                          <p:val>
                                            <p:strVal val="#ppt_y"/>
                                          </p:val>
                                        </p:tav>
                                      </p:tavLst>
                                    </p:anim>
                                    <p:animEffect transition="in" filter="fade">
                                      <p:cBhvr>
                                        <p:cTn id="43" dur="500"/>
                                        <p:tgtEl>
                                          <p:spTgt spid="15"/>
                                        </p:tgtEl>
                                      </p:cBhvr>
                                    </p:animEffect>
                                  </p:childTnLst>
                                </p:cTn>
                              </p:par>
                              <p:par>
                                <p:cTn id="44" presetID="2" presetClass="entr" presetSubtype="4" fill="hold" grpId="0" nodeType="withEffect">
                                  <p:stCondLst>
                                    <p:cond delay="9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ppt_y+0.1"/>
                                          </p:val>
                                        </p:tav>
                                        <p:tav tm="100000">
                                          <p:val>
                                            <p:strVal val="#ppt_y"/>
                                          </p:val>
                                        </p:tav>
                                      </p:tavLst>
                                    </p:anim>
                                    <p:animEffect transition="in" filter="fade">
                                      <p:cBhvr>
                                        <p:cTn id="48" dur="500"/>
                                        <p:tgtEl>
                                          <p:spTgt spid="16"/>
                                        </p:tgtEl>
                                      </p:cBhvr>
                                    </p:animEffect>
                                  </p:childTnLst>
                                </p:cTn>
                              </p:par>
                              <p:par>
                                <p:cTn id="49" presetID="2" presetClass="entr" presetSubtype="4" fill="hold" grpId="0" nodeType="withEffect">
                                  <p:stCondLst>
                                    <p:cond delay="15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ppt_y+0.1"/>
                                          </p:val>
                                        </p:tav>
                                        <p:tav tm="100000">
                                          <p:val>
                                            <p:strVal val="#ppt_y"/>
                                          </p:val>
                                        </p:tav>
                                      </p:tavLst>
                                    </p:anim>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ppt_y+0.1"/>
                                          </p:val>
                                        </p:tav>
                                        <p:tav tm="100000">
                                          <p:val>
                                            <p:strVal val="#ppt_y"/>
                                          </p:val>
                                        </p:tav>
                                      </p:tavLst>
                                    </p:anim>
                                    <p:animEffect transition="in" filter="fade">
                                      <p:cBhvr>
                                        <p:cTn id="65" dur="500"/>
                                        <p:tgtEl>
                                          <p:spTgt spid="19"/>
                                        </p:tgtEl>
                                      </p:cBhvr>
                                    </p:animEffect>
                                  </p:childTnLst>
                                </p:cTn>
                              </p:par>
                              <p:par>
                                <p:cTn id="66" presetID="2" presetClass="entr" presetSubtype="4" fill="hold" grpId="0" nodeType="withEffect">
                                  <p:stCondLst>
                                    <p:cond delay="9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ppt_y+0.1"/>
                                          </p:val>
                                        </p:tav>
                                        <p:tav tm="100000">
                                          <p:val>
                                            <p:strVal val="#ppt_y"/>
                                          </p:val>
                                        </p:tav>
                                      </p:tavLst>
                                    </p:anim>
                                    <p:animEffect transition="in" filter="fade">
                                      <p:cBhvr>
                                        <p:cTn id="70" dur="500"/>
                                        <p:tgtEl>
                                          <p:spTgt spid="20"/>
                                        </p:tgtEl>
                                      </p:cBhvr>
                                    </p:animEffect>
                                  </p:childTnLst>
                                </p:cTn>
                              </p:par>
                              <p:par>
                                <p:cTn id="71" presetID="2" presetClass="entr" presetSubtype="4" fill="hold" grpId="0" nodeType="withEffect">
                                  <p:stCondLst>
                                    <p:cond delay="15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ppt_y+0.1"/>
                                          </p:val>
                                        </p:tav>
                                        <p:tav tm="100000">
                                          <p:val>
                                            <p:strVal val="#ppt_y"/>
                                          </p:val>
                                        </p:tav>
                                      </p:tavLst>
                                    </p:anim>
                                    <p:animEffect transition="in" filter="fade">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ppt_x"/>
                                          </p:val>
                                        </p:tav>
                                        <p:tav tm="100000">
                                          <p:val>
                                            <p:strVal val="#ppt_x"/>
                                          </p:val>
                                        </p:tav>
                                      </p:tavLst>
                                    </p:anim>
                                    <p:anim calcmode="lin" valueType="num">
                                      <p:cBhvr additive="base">
                                        <p:cTn id="81" dur="500" fill="hold"/>
                                        <p:tgtEl>
                                          <p:spTgt spid="22"/>
                                        </p:tgtEl>
                                        <p:attrNameLst>
                                          <p:attrName>ppt_y</p:attrName>
                                        </p:attrNameLst>
                                      </p:cBhvr>
                                      <p:tavLst>
                                        <p:tav tm="0">
                                          <p:val>
                                            <p:strVal val="#ppt_y+0.1"/>
                                          </p:val>
                                        </p:tav>
                                        <p:tav tm="100000">
                                          <p:val>
                                            <p:strVal val="#ppt_y"/>
                                          </p:val>
                                        </p:tav>
                                      </p:tavLst>
                                    </p:anim>
                                    <p:animEffect transition="in" filter="fade">
                                      <p:cBhvr>
                                        <p:cTn id="82" dur="500"/>
                                        <p:tgtEl>
                                          <p:spTgt spid="22"/>
                                        </p:tgtEl>
                                      </p:cBhvr>
                                    </p:animEffect>
                                  </p:childTnLst>
                                </p:cTn>
                              </p:par>
                              <p:par>
                                <p:cTn id="83" presetID="2" presetClass="entr" presetSubtype="4"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00" fill="hold"/>
                                        <p:tgtEl>
                                          <p:spTgt spid="23"/>
                                        </p:tgtEl>
                                        <p:attrNameLst>
                                          <p:attrName>ppt_x</p:attrName>
                                        </p:attrNameLst>
                                      </p:cBhvr>
                                      <p:tavLst>
                                        <p:tav tm="0">
                                          <p:val>
                                            <p:strVal val="#ppt_x"/>
                                          </p:val>
                                        </p:tav>
                                        <p:tav tm="100000">
                                          <p:val>
                                            <p:strVal val="#ppt_x"/>
                                          </p:val>
                                        </p:tav>
                                      </p:tavLst>
                                    </p:anim>
                                    <p:anim calcmode="lin" valueType="num">
                                      <p:cBhvr additive="base">
                                        <p:cTn id="86" dur="500" fill="hold"/>
                                        <p:tgtEl>
                                          <p:spTgt spid="23"/>
                                        </p:tgtEl>
                                        <p:attrNameLst>
                                          <p:attrName>ppt_y</p:attrName>
                                        </p:attrNameLst>
                                      </p:cBhvr>
                                      <p:tavLst>
                                        <p:tav tm="0">
                                          <p:val>
                                            <p:strVal val="#ppt_y+0.1"/>
                                          </p:val>
                                        </p:tav>
                                        <p:tav tm="100000">
                                          <p:val>
                                            <p:strVal val="#ppt_y"/>
                                          </p:val>
                                        </p:tav>
                                      </p:tavLst>
                                    </p:anim>
                                    <p:animEffect transition="in" filter="fade">
                                      <p:cBhvr>
                                        <p:cTn id="87" dur="500"/>
                                        <p:tgtEl>
                                          <p:spTgt spid="23"/>
                                        </p:tgtEl>
                                      </p:cBhvr>
                                    </p:animEffect>
                                  </p:childTnLst>
                                </p:cTn>
                              </p:par>
                              <p:par>
                                <p:cTn id="88" presetID="2" presetClass="entr" presetSubtype="4" fill="hold" grpId="0" nodeType="withEffect">
                                  <p:stCondLst>
                                    <p:cond delay="9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ppt_x"/>
                                          </p:val>
                                        </p:tav>
                                        <p:tav tm="100000">
                                          <p:val>
                                            <p:strVal val="#ppt_x"/>
                                          </p:val>
                                        </p:tav>
                                      </p:tavLst>
                                    </p:anim>
                                    <p:anim calcmode="lin" valueType="num">
                                      <p:cBhvr additive="base">
                                        <p:cTn id="91" dur="500" fill="hold"/>
                                        <p:tgtEl>
                                          <p:spTgt spid="24"/>
                                        </p:tgtEl>
                                        <p:attrNameLst>
                                          <p:attrName>ppt_y</p:attrName>
                                        </p:attrNameLst>
                                      </p:cBhvr>
                                      <p:tavLst>
                                        <p:tav tm="0">
                                          <p:val>
                                            <p:strVal val="#ppt_y+0.1"/>
                                          </p:val>
                                        </p:tav>
                                        <p:tav tm="100000">
                                          <p:val>
                                            <p:strVal val="#ppt_y"/>
                                          </p:val>
                                        </p:tav>
                                      </p:tavLst>
                                    </p:anim>
                                    <p:animEffect transition="in" filter="fade">
                                      <p:cBhvr>
                                        <p:cTn id="92" dur="500"/>
                                        <p:tgtEl>
                                          <p:spTgt spid="24"/>
                                        </p:tgtEl>
                                      </p:cBhvr>
                                    </p:animEffect>
                                  </p:childTnLst>
                                </p:cTn>
                              </p:par>
                              <p:par>
                                <p:cTn id="93" presetID="2" presetClass="entr" presetSubtype="4" fill="hold" grpId="0" nodeType="withEffect">
                                  <p:stCondLst>
                                    <p:cond delay="15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ppt_y+0.1"/>
                                          </p:val>
                                        </p:tav>
                                        <p:tav tm="100000">
                                          <p:val>
                                            <p:strVal val="#ppt_y"/>
                                          </p:val>
                                        </p:tav>
                                      </p:tavLst>
                                    </p:anim>
                                    <p:animEffect transition="in" filter="fade">
                                      <p:cBhvr>
                                        <p:cTn id="9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EXPENSIVE HALF</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limit, and the one flag that moves it</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Boot time only — there is no runtime call that resizes the table.</a:t>
            </a:r>
          </a:p>
        </p:txBody>
      </p:sp>
      <p:sp>
        <p:nvSpPr>
          <p:cNvPr id="5" name="a1f_codebg4"/>
          <p:cNvSpPr/>
          <p:nvPr/>
        </p:nvSpPr>
        <p:spPr>
          <a:xfrm>
            <a:off x="457200" y="1362456"/>
            <a:ext cx="8229600" cy="1892807"/>
          </a:xfrm>
          <a:prstGeom prst="roundRect">
            <a:avLst>
              <a:gd name="adj" fmla="val 3864"/>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two child VMs, measured</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50" b="1">
                <a:solidFill>
                  <a:srgbClr val="C9B3E8"/>
                </a:solidFill>
                <a:latin typeface="Courier New"/>
              </a:rPr>
              <a:t>$ elixir limit.exs</a:t>
            </a:r>
          </a:p>
        </p:txBody>
      </p:sp>
      <p:sp>
        <p:nvSpPr>
          <p:cNvPr id="8" name="a1wd95_code7"/>
          <p:cNvSpPr txBox="1"/>
          <p:nvPr/>
        </p:nvSpPr>
        <p:spPr>
          <a:xfrm>
            <a:off x="621792" y="2016252"/>
            <a:ext cx="7900416" cy="214884"/>
          </a:xfrm>
          <a:prstGeom prst="rect">
            <a:avLst/>
          </a:prstGeom>
          <a:noFill/>
        </p:spPr>
        <p:txBody>
          <a:bodyPr wrap="none" lIns="0" tIns="0" rIns="0" bIns="0" anchor="ctr">
            <a:spAutoFit/>
          </a:bodyPr>
          <a:lstStyle/>
          <a:p>
            <a:pPr algn="l"/>
            <a:r>
              <a:rPr sz="1050" b="0">
                <a:solidFill>
                  <a:srgbClr val="14B8A6"/>
                </a:solidFill>
                <a:latin typeface="Courier New"/>
              </a:rPr>
              <a:t>1048576                      # the default</a:t>
            </a:r>
          </a:p>
        </p:txBody>
      </p:sp>
      <p:sp>
        <p:nvSpPr>
          <p:cNvPr id="9" name="a1wd190_code8"/>
          <p:cNvSpPr txBox="1"/>
          <p:nvPr/>
        </p:nvSpPr>
        <p:spPr>
          <a:xfrm>
            <a:off x="621792" y="2231136"/>
            <a:ext cx="7900416" cy="214884"/>
          </a:xfrm>
          <a:prstGeom prst="rect">
            <a:avLst/>
          </a:prstGeom>
          <a:noFill/>
        </p:spPr>
        <p:txBody>
          <a:bodyPr wrap="none" lIns="0" tIns="0" rIns="0" bIns="0" anchor="ctr">
            <a:spAutoFit/>
          </a:bodyPr>
          <a:lstStyle/>
          <a:p>
            <a:pPr algn="l"/>
            <a:endParaRPr/>
          </a:p>
        </p:txBody>
      </p:sp>
      <p:sp>
        <p:nvSpPr>
          <p:cNvPr id="10" name="a1wd285_code9"/>
          <p:cNvSpPr txBox="1"/>
          <p:nvPr/>
        </p:nvSpPr>
        <p:spPr>
          <a:xfrm>
            <a:off x="621792" y="2446020"/>
            <a:ext cx="7900416" cy="214884"/>
          </a:xfrm>
          <a:prstGeom prst="rect">
            <a:avLst/>
          </a:prstGeom>
          <a:noFill/>
        </p:spPr>
        <p:txBody>
          <a:bodyPr wrap="none" lIns="0" tIns="0" rIns="0" bIns="0" anchor="ctr">
            <a:spAutoFit/>
          </a:bodyPr>
          <a:lstStyle/>
          <a:p>
            <a:pPr algn="l"/>
            <a:r>
              <a:rPr sz="1050" b="1">
                <a:solidFill>
                  <a:srgbClr val="C9B3E8"/>
                </a:solidFill>
                <a:latin typeface="Courier New"/>
              </a:rPr>
              <a:t>$ elixir --erl "+t 2000000" limit.exs</a:t>
            </a:r>
          </a:p>
        </p:txBody>
      </p:sp>
      <p:sp>
        <p:nvSpPr>
          <p:cNvPr id="11" name="a1wd380_code10"/>
          <p:cNvSpPr txBox="1"/>
          <p:nvPr/>
        </p:nvSpPr>
        <p:spPr>
          <a:xfrm>
            <a:off x="621792" y="2660904"/>
            <a:ext cx="7900416" cy="214884"/>
          </a:xfrm>
          <a:prstGeom prst="rect">
            <a:avLst/>
          </a:prstGeom>
          <a:noFill/>
        </p:spPr>
        <p:txBody>
          <a:bodyPr wrap="none" lIns="0" tIns="0" rIns="0" bIns="0" anchor="ctr">
            <a:spAutoFit/>
          </a:bodyPr>
          <a:lstStyle/>
          <a:p>
            <a:pPr algn="l"/>
            <a:r>
              <a:rPr sz="1050" b="0">
                <a:solidFill>
                  <a:srgbClr val="14B8A6"/>
                </a:solidFill>
                <a:latin typeface="Courier New"/>
              </a:rPr>
              <a:t>2000000                      # raised, at boot</a:t>
            </a:r>
          </a:p>
        </p:txBody>
      </p:sp>
      <p:sp>
        <p:nvSpPr>
          <p:cNvPr id="12" name="a1wd475_code11"/>
          <p:cNvSpPr txBox="1"/>
          <p:nvPr/>
        </p:nvSpPr>
        <p:spPr>
          <a:xfrm>
            <a:off x="621792" y="2875787"/>
            <a:ext cx="7900416" cy="214884"/>
          </a:xfrm>
          <a:prstGeom prst="rect">
            <a:avLst/>
          </a:prstGeom>
          <a:noFill/>
        </p:spPr>
        <p:txBody>
          <a:bodyPr wrap="none" lIns="0" tIns="0" rIns="0" bIns="0" anchor="ctr">
            <a:spAutoFit/>
          </a:bodyPr>
          <a:lstStyle/>
          <a:p>
            <a:pPr algn="l"/>
            <a:r>
              <a:rPr sz="1050" b="0">
                <a:solidFill>
                  <a:srgbClr val="64748B"/>
                </a:solidFill>
                <a:latin typeface="Courier New"/>
              </a:rPr>
              <a:t># in a release:   ERL_FLAGS="+t 2000000"</a:t>
            </a:r>
          </a:p>
        </p:txBody>
      </p:sp>
      <p:sp>
        <p:nvSpPr>
          <p:cNvPr id="13" name="a2u_dot12"/>
          <p:cNvSpPr/>
          <p:nvPr/>
        </p:nvSpPr>
        <p:spPr>
          <a:xfrm>
            <a:off x="457200" y="3483863"/>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2u_b13"/>
          <p:cNvSpPr txBox="1"/>
          <p:nvPr/>
        </p:nvSpPr>
        <p:spPr>
          <a:xfrm>
            <a:off x="676656" y="3383279"/>
            <a:ext cx="8010144" cy="365760"/>
          </a:xfrm>
          <a:prstGeom prst="rect">
            <a:avLst/>
          </a:prstGeom>
          <a:noFill/>
        </p:spPr>
        <p:txBody>
          <a:bodyPr wrap="square" lIns="0" tIns="0" rIns="0" bIns="0" anchor="t">
            <a:spAutoFit/>
          </a:bodyPr>
          <a:lstStyle/>
          <a:p>
            <a:pPr algn="l"/>
            <a:r>
              <a:rPr sz="1150" b="1">
                <a:solidFill>
                  <a:srgbClr val="0F172A"/>
                </a:solidFill>
                <a:latin typeface="Calibri"/>
              </a:rPr>
              <a:t>Raising it buys time, not safety  </a:t>
            </a:r>
            <a:r>
              <a:rPr sz="1150" b="0">
                <a:solidFill>
                  <a:srgbClr val="334155"/>
                </a:solidFill>
                <a:latin typeface="Calibri"/>
              </a:rPr>
              <a:t>a leak still fills 2,000,000 — it just takes twice as long</a:t>
            </a:r>
          </a:p>
        </p:txBody>
      </p:sp>
      <p:sp>
        <p:nvSpPr>
          <p:cNvPr id="15" name="a2ud180_dot14"/>
          <p:cNvSpPr/>
          <p:nvPr/>
        </p:nvSpPr>
        <p:spPr>
          <a:xfrm>
            <a:off x="457200" y="3886200"/>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d180_b15"/>
          <p:cNvSpPr txBox="1"/>
          <p:nvPr/>
        </p:nvSpPr>
        <p:spPr>
          <a:xfrm>
            <a:off x="676656" y="3785616"/>
            <a:ext cx="8010144" cy="365760"/>
          </a:xfrm>
          <a:prstGeom prst="rect">
            <a:avLst/>
          </a:prstGeom>
          <a:noFill/>
        </p:spPr>
        <p:txBody>
          <a:bodyPr wrap="square" lIns="0" tIns="0" rIns="0" bIns="0" anchor="t">
            <a:spAutoFit/>
          </a:bodyPr>
          <a:lstStyle/>
          <a:p>
            <a:pPr algn="l"/>
            <a:r>
              <a:rPr sz="1150" b="1">
                <a:solidFill>
                  <a:srgbClr val="0F172A"/>
                </a:solidFill>
                <a:latin typeface="Calibri"/>
              </a:rPr>
              <a:t>The table is allocated up front  </a:t>
            </a:r>
            <a:r>
              <a:rPr sz="1150" b="0">
                <a:solidFill>
                  <a:srgbClr val="334155"/>
                </a:solidFill>
                <a:latin typeface="Calibri"/>
              </a:rPr>
              <a:t>a bigger limit costs memory on a node that never needs it</a:t>
            </a:r>
          </a:p>
        </p:txBody>
      </p:sp>
      <p:sp>
        <p:nvSpPr>
          <p:cNvPr id="17" name="a2ud360_dot16"/>
          <p:cNvSpPr/>
          <p:nvPr/>
        </p:nvSpPr>
        <p:spPr>
          <a:xfrm>
            <a:off x="457200" y="428853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d360_b17"/>
          <p:cNvSpPr txBox="1"/>
          <p:nvPr/>
        </p:nvSpPr>
        <p:spPr>
          <a:xfrm>
            <a:off x="676656" y="4187952"/>
            <a:ext cx="8010144" cy="365760"/>
          </a:xfrm>
          <a:prstGeom prst="rect">
            <a:avLst/>
          </a:prstGeom>
          <a:noFill/>
        </p:spPr>
        <p:txBody>
          <a:bodyPr wrap="square" lIns="0" tIns="0" rIns="0" bIns="0" anchor="t">
            <a:spAutoFit/>
          </a:bodyPr>
          <a:lstStyle/>
          <a:p>
            <a:pPr algn="l"/>
            <a:r>
              <a:rPr sz="1150" b="1">
                <a:solidFill>
                  <a:srgbClr val="0F172A"/>
                </a:solidFill>
                <a:latin typeface="Calibri"/>
              </a:rPr>
              <a:t>So +t is a diagnostic, never a fix  </a:t>
            </a:r>
            <a:r>
              <a:rPr sz="1150" b="0">
                <a:solidFill>
                  <a:srgbClr val="334155"/>
                </a:solidFill>
                <a:latin typeface="Calibri"/>
              </a:rPr>
              <a:t>it keeps a production node alive while you find the leaking line</a:t>
            </a:r>
          </a:p>
        </p:txBody>
      </p:sp>
      <p:sp>
        <p:nvSpPr>
          <p:cNvPr id="19" name="ft1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0" name="ft1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9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9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8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8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7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500" fill="hold"/>
                                        <p:tgtEl>
                                          <p:spTgt spid="13"/>
                                        </p:tgtEl>
                                        <p:attrNameLst>
                                          <p:attrName>ppt_x</p:attrName>
                                        </p:attrNameLst>
                                      </p:cBhvr>
                                      <p:tavLst>
                                        <p:tav tm="0">
                                          <p:val>
                                            <p:strVal val="#ppt_x"/>
                                          </p:val>
                                        </p:tav>
                                        <p:tav tm="100000">
                                          <p:val>
                                            <p:strVal val="#ppt_x"/>
                                          </p:val>
                                        </p:tav>
                                      </p:tavLst>
                                    </p:anim>
                                    <p:anim calcmode="lin" valueType="num">
                                      <p:cBhvr additive="base">
                                        <p:cTn id="34" dur="500" fill="hold"/>
                                        <p:tgtEl>
                                          <p:spTgt spid="13"/>
                                        </p:tgtEl>
                                        <p:attrNameLst>
                                          <p:attrName>ppt_y</p:attrName>
                                        </p:attrNameLst>
                                      </p:cBhvr>
                                      <p:tavLst>
                                        <p:tav tm="0">
                                          <p:val>
                                            <p:strVal val="#ppt_y+0.1"/>
                                          </p:val>
                                        </p:tav>
                                        <p:tav tm="100000">
                                          <p:val>
                                            <p:strVal val="#ppt_y"/>
                                          </p:val>
                                        </p:tav>
                                      </p:tavLst>
                                    </p:anim>
                                    <p:animEffect transition="in" filter="fade">
                                      <p:cBhvr>
                                        <p:cTn id="35" dur="500"/>
                                        <p:tgtEl>
                                          <p:spTgt spid="13"/>
                                        </p:tgtEl>
                                      </p:cBhvr>
                                    </p:animEffect>
                                  </p:childTnLst>
                                </p:cTn>
                              </p:par>
                              <p:par>
                                <p:cTn id="36" presetID="2" presetClass="entr" presetSubtype="4"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 calcmode="lin" valueType="num">
                                      <p:cBhvr additive="base">
                                        <p:cTn id="38" dur="500" fill="hold"/>
                                        <p:tgtEl>
                                          <p:spTgt spid="14"/>
                                        </p:tgtEl>
                                        <p:attrNameLst>
                                          <p:attrName>ppt_x</p:attrName>
                                        </p:attrNameLst>
                                      </p:cBhvr>
                                      <p:tavLst>
                                        <p:tav tm="0">
                                          <p:val>
                                            <p:strVal val="#ppt_x"/>
                                          </p:val>
                                        </p:tav>
                                        <p:tav tm="100000">
                                          <p:val>
                                            <p:strVal val="#ppt_x"/>
                                          </p:val>
                                        </p:tav>
                                      </p:tavLst>
                                    </p:anim>
                                    <p:anim calcmode="lin" valueType="num">
                                      <p:cBhvr additive="base">
                                        <p:cTn id="39" dur="500" fill="hold"/>
                                        <p:tgtEl>
                                          <p:spTgt spid="14"/>
                                        </p:tgtEl>
                                        <p:attrNameLst>
                                          <p:attrName>ppt_y</p:attrName>
                                        </p:attrNameLst>
                                      </p:cBhvr>
                                      <p:tavLst>
                                        <p:tav tm="0">
                                          <p:val>
                                            <p:strVal val="#ppt_y+0.1"/>
                                          </p:val>
                                        </p:tav>
                                        <p:tav tm="100000">
                                          <p:val>
                                            <p:strVal val="#ppt_y"/>
                                          </p:val>
                                        </p:tav>
                                      </p:tavLst>
                                    </p:anim>
                                    <p:animEffect transition="in" filter="fade">
                                      <p:cBhvr>
                                        <p:cTn id="40" dur="500"/>
                                        <p:tgtEl>
                                          <p:spTgt spid="14"/>
                                        </p:tgtEl>
                                      </p:cBhvr>
                                    </p:animEffect>
                                  </p:childTnLst>
                                </p:cTn>
                              </p:par>
                              <p:par>
                                <p:cTn id="41" presetID="2" presetClass="entr" presetSubtype="4" fill="hold" grpId="0" nodeType="withEffect">
                                  <p:stCondLst>
                                    <p:cond delay="18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ppt_y+0.1"/>
                                          </p:val>
                                        </p:tav>
                                        <p:tav tm="100000">
                                          <p:val>
                                            <p:strVal val="#ppt_y"/>
                                          </p:val>
                                        </p:tav>
                                      </p:tavLst>
                                    </p:anim>
                                    <p:animEffect transition="in" filter="fade">
                                      <p:cBhvr>
                                        <p:cTn id="45" dur="500"/>
                                        <p:tgtEl>
                                          <p:spTgt spid="15"/>
                                        </p:tgtEl>
                                      </p:cBhvr>
                                    </p:animEffect>
                                  </p:childTnLst>
                                </p:cTn>
                              </p:par>
                              <p:par>
                                <p:cTn id="46" presetID="2" presetClass="entr" presetSubtype="4" fill="hold" grpId="0" nodeType="withEffect">
                                  <p:stCondLst>
                                    <p:cond delay="180"/>
                                  </p:stCondLst>
                                  <p:childTnLst>
                                    <p:set>
                                      <p:cBhvr>
                                        <p:cTn id="47" dur="1" fill="hold">
                                          <p:stCondLst>
                                            <p:cond delay="0"/>
                                          </p:stCondLst>
                                        </p:cTn>
                                        <p:tgtEl>
                                          <p:spTgt spid="16"/>
                                        </p:tgtEl>
                                        <p:attrNameLst>
                                          <p:attrName>style.visibility</p:attrName>
                                        </p:attrNameLst>
                                      </p:cBhvr>
                                      <p:to>
                                        <p:strVal val="visible"/>
                                      </p:to>
                                    </p:set>
                                    <p:anim calcmode="lin" valueType="num">
                                      <p:cBhvr additive="base">
                                        <p:cTn id="48" dur="500" fill="hold"/>
                                        <p:tgtEl>
                                          <p:spTgt spid="16"/>
                                        </p:tgtEl>
                                        <p:attrNameLst>
                                          <p:attrName>ppt_x</p:attrName>
                                        </p:attrNameLst>
                                      </p:cBhvr>
                                      <p:tavLst>
                                        <p:tav tm="0">
                                          <p:val>
                                            <p:strVal val="#ppt_x"/>
                                          </p:val>
                                        </p:tav>
                                        <p:tav tm="100000">
                                          <p:val>
                                            <p:strVal val="#ppt_x"/>
                                          </p:val>
                                        </p:tav>
                                      </p:tavLst>
                                    </p:anim>
                                    <p:anim calcmode="lin" valueType="num">
                                      <p:cBhvr additive="base">
                                        <p:cTn id="49" dur="500" fill="hold"/>
                                        <p:tgtEl>
                                          <p:spTgt spid="16"/>
                                        </p:tgtEl>
                                        <p:attrNameLst>
                                          <p:attrName>ppt_y</p:attrName>
                                        </p:attrNameLst>
                                      </p:cBhvr>
                                      <p:tavLst>
                                        <p:tav tm="0">
                                          <p:val>
                                            <p:strVal val="#ppt_y+0.1"/>
                                          </p:val>
                                        </p:tav>
                                        <p:tav tm="100000">
                                          <p:val>
                                            <p:strVal val="#ppt_y"/>
                                          </p:val>
                                        </p:tav>
                                      </p:tavLst>
                                    </p:anim>
                                    <p:animEffect transition="in" filter="fade">
                                      <p:cBhvr>
                                        <p:cTn id="50" dur="500"/>
                                        <p:tgtEl>
                                          <p:spTgt spid="16"/>
                                        </p:tgtEl>
                                      </p:cBhvr>
                                    </p:animEffect>
                                  </p:childTnLst>
                                </p:cTn>
                              </p:par>
                              <p:par>
                                <p:cTn id="51" presetID="2" presetClass="entr" presetSubtype="4" fill="hold" grpId="0" nodeType="withEffect">
                                  <p:stCondLst>
                                    <p:cond delay="36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ppt_y+0.1"/>
                                          </p:val>
                                        </p:tav>
                                        <p:tav tm="100000">
                                          <p:val>
                                            <p:strVal val="#ppt_y"/>
                                          </p:val>
                                        </p:tav>
                                      </p:tavLst>
                                    </p:anim>
                                    <p:animEffect transition="in" filter="fade">
                                      <p:cBhvr>
                                        <p:cTn id="55" dur="500"/>
                                        <p:tgtEl>
                                          <p:spTgt spid="17"/>
                                        </p:tgtEl>
                                      </p:cBhvr>
                                    </p:animEffect>
                                  </p:childTnLst>
                                </p:cTn>
                              </p:par>
                              <p:par>
                                <p:cTn id="56" presetID="2" presetClass="entr" presetSubtype="4" fill="hold" grpId="0" nodeType="withEffect">
                                  <p:stCondLst>
                                    <p:cond delay="36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OTHER HARD LIMIT</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An atom may be at most 255 characters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Longer than that is not an error you can rescue politely.</a:t>
            </a:r>
          </a:p>
        </p:txBody>
      </p:sp>
      <p:sp>
        <p:nvSpPr>
          <p:cNvPr id="5" name="a1f_codebg4"/>
          <p:cNvSpPr/>
          <p:nvPr/>
        </p:nvSpPr>
        <p:spPr>
          <a:xfrm>
            <a:off x="457200" y="1362456"/>
            <a:ext cx="507492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String.duplicate("a", 255)</a:t>
            </a:r>
          </a:p>
        </p:txBody>
      </p:sp>
      <p:sp>
        <p:nvSpPr>
          <p:cNvPr id="8" name="a1wd80_code7"/>
          <p:cNvSpPr txBox="1"/>
          <p:nvPr/>
        </p:nvSpPr>
        <p:spPr>
          <a:xfrm>
            <a:off x="621792" y="2016252"/>
            <a:ext cx="4745736" cy="214884"/>
          </a:xfrm>
          <a:prstGeom prst="rect">
            <a:avLst/>
          </a:prstGeom>
          <a:noFill/>
        </p:spPr>
        <p:txBody>
          <a:bodyPr wrap="none" lIns="0" tIns="0" rIns="0" bIns="0" anchor="ctr">
            <a:spAutoFit/>
          </a:bodyPr>
          <a:lstStyle/>
          <a:p>
            <a:pPr algn="l"/>
            <a:r>
              <a:rPr sz="1000" b="1">
                <a:solidFill>
                  <a:srgbClr val="C9B3E8"/>
                </a:solidFill>
                <a:latin typeface="Courier New"/>
              </a:rPr>
              <a:t>...   |&gt; String.to_atom()</a:t>
            </a:r>
          </a:p>
        </p:txBody>
      </p:sp>
      <p:sp>
        <p:nvSpPr>
          <p:cNvPr id="9" name="a1wd160_code8"/>
          <p:cNvSpPr txBox="1"/>
          <p:nvPr/>
        </p:nvSpPr>
        <p:spPr>
          <a:xfrm>
            <a:off x="621792" y="2231136"/>
            <a:ext cx="4745736" cy="214884"/>
          </a:xfrm>
          <a:prstGeom prst="rect">
            <a:avLst/>
          </a:prstGeom>
          <a:noFill/>
        </p:spPr>
        <p:txBody>
          <a:bodyPr wrap="none" lIns="0" tIns="0" rIns="0" bIns="0" anchor="ctr">
            <a:spAutoFit/>
          </a:bodyPr>
          <a:lstStyle/>
          <a:p>
            <a:pPr algn="l"/>
            <a:r>
              <a:rPr sz="1000" b="0">
                <a:solidFill>
                  <a:srgbClr val="14B8A6"/>
                </a:solidFill>
                <a:latin typeface="Courier New"/>
              </a:rPr>
              <a:t>:aaaaaaaa...            # fine, 255 bytes</a:t>
            </a:r>
          </a:p>
        </p:txBody>
      </p:sp>
      <p:sp>
        <p:nvSpPr>
          <p:cNvPr id="10" name="a1wd240_code9"/>
          <p:cNvSpPr txBox="1"/>
          <p:nvPr/>
        </p:nvSpPr>
        <p:spPr>
          <a:xfrm>
            <a:off x="621792" y="2446020"/>
            <a:ext cx="4745736" cy="214884"/>
          </a:xfrm>
          <a:prstGeom prst="rect">
            <a:avLst/>
          </a:prstGeom>
          <a:noFill/>
        </p:spPr>
        <p:txBody>
          <a:bodyPr wrap="none" lIns="0" tIns="0" rIns="0" bIns="0" anchor="ctr">
            <a:spAutoFit/>
          </a:bodyPr>
          <a:lstStyle/>
          <a:p>
            <a:pPr algn="l"/>
            <a:endParaRPr/>
          </a:p>
        </p:txBody>
      </p:sp>
      <p:sp>
        <p:nvSpPr>
          <p:cNvPr id="11" name="a1wd320_code10"/>
          <p:cNvSpPr txBox="1"/>
          <p:nvPr/>
        </p:nvSpPr>
        <p:spPr>
          <a:xfrm>
            <a:off x="621792" y="2660904"/>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String.duplicate("a", 256)</a:t>
            </a:r>
          </a:p>
        </p:txBody>
      </p:sp>
      <p:sp>
        <p:nvSpPr>
          <p:cNvPr id="12" name="a1wd400_code11"/>
          <p:cNvSpPr txBox="1"/>
          <p:nvPr/>
        </p:nvSpPr>
        <p:spPr>
          <a:xfrm>
            <a:off x="621792" y="2875787"/>
            <a:ext cx="4745736" cy="214884"/>
          </a:xfrm>
          <a:prstGeom prst="rect">
            <a:avLst/>
          </a:prstGeom>
          <a:noFill/>
        </p:spPr>
        <p:txBody>
          <a:bodyPr wrap="none" lIns="0" tIns="0" rIns="0" bIns="0" anchor="ctr">
            <a:spAutoFit/>
          </a:bodyPr>
          <a:lstStyle/>
          <a:p>
            <a:pPr algn="l"/>
            <a:r>
              <a:rPr sz="1000" b="1">
                <a:solidFill>
                  <a:srgbClr val="C9B3E8"/>
                </a:solidFill>
                <a:latin typeface="Courier New"/>
              </a:rPr>
              <a:t>...   |&gt; String.to_atom()</a:t>
            </a:r>
          </a:p>
        </p:txBody>
      </p:sp>
      <p:sp>
        <p:nvSpPr>
          <p:cNvPr id="13" name="a1wd480_code12"/>
          <p:cNvSpPr txBox="1"/>
          <p:nvPr/>
        </p:nvSpPr>
        <p:spPr>
          <a:xfrm>
            <a:off x="621792" y="3090672"/>
            <a:ext cx="4745736" cy="214884"/>
          </a:xfrm>
          <a:prstGeom prst="rect">
            <a:avLst/>
          </a:prstGeom>
          <a:noFill/>
        </p:spPr>
        <p:txBody>
          <a:bodyPr wrap="none" lIns="0" tIns="0" rIns="0" bIns="0" anchor="ctr">
            <a:spAutoFit/>
          </a:bodyPr>
          <a:lstStyle/>
          <a:p>
            <a:pPr algn="l"/>
            <a:r>
              <a:rPr sz="1000" b="0">
                <a:solidFill>
                  <a:srgbClr val="FCA5A5"/>
                </a:solidFill>
                <a:latin typeface="Courier New"/>
              </a:rPr>
              <a:t>** (SystemLimitError) a system limit</a:t>
            </a:r>
          </a:p>
        </p:txBody>
      </p:sp>
      <p:sp>
        <p:nvSpPr>
          <p:cNvPr id="14" name="a1wd560_code13"/>
          <p:cNvSpPr txBox="1"/>
          <p:nvPr/>
        </p:nvSpPr>
        <p:spPr>
          <a:xfrm>
            <a:off x="621792" y="3305556"/>
            <a:ext cx="4745736" cy="214884"/>
          </a:xfrm>
          <a:prstGeom prst="rect">
            <a:avLst/>
          </a:prstGeom>
          <a:noFill/>
        </p:spPr>
        <p:txBody>
          <a:bodyPr wrap="none" lIns="0" tIns="0" rIns="0" bIns="0" anchor="ctr">
            <a:spAutoFit/>
          </a:bodyPr>
          <a:lstStyle/>
          <a:p>
            <a:pPr algn="l"/>
            <a:r>
              <a:rPr sz="1000" b="0">
                <a:solidFill>
                  <a:srgbClr val="FCA5A5"/>
                </a:solidFill>
                <a:latin typeface="Courier New"/>
              </a:rPr>
              <a:t>   has been reached</a:t>
            </a:r>
          </a:p>
        </p:txBody>
      </p:sp>
      <p:sp>
        <p:nvSpPr>
          <p:cNvPr id="15" name="a2u_dot14"/>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_b15"/>
          <p:cNvSpPr txBox="1"/>
          <p:nvPr/>
        </p:nvSpPr>
        <p:spPr>
          <a:xfrm>
            <a:off x="5888736" y="1399031"/>
            <a:ext cx="2798063" cy="694944"/>
          </a:xfrm>
          <a:prstGeom prst="rect">
            <a:avLst/>
          </a:prstGeom>
          <a:noFill/>
        </p:spPr>
        <p:txBody>
          <a:bodyPr wrap="square" lIns="0" tIns="0" rIns="0" bIns="0" anchor="t">
            <a:spAutoFit/>
          </a:bodyPr>
          <a:lstStyle/>
          <a:p>
            <a:pPr algn="l"/>
            <a:r>
              <a:rPr sz="1100" b="1">
                <a:solidFill>
                  <a:srgbClr val="0F172A"/>
                </a:solidFill>
                <a:latin typeface="Calibri"/>
              </a:rPr>
              <a:t>255 characters, not bytes  </a:t>
            </a:r>
            <a:r>
              <a:rPr sz="1100" b="0">
                <a:solidFill>
                  <a:srgbClr val="334155"/>
                </a:solidFill>
                <a:latin typeface="Calibri"/>
              </a:rPr>
              <a:t>a UTF-8 atom can exceed 255 bytes</a:t>
            </a:r>
          </a:p>
        </p:txBody>
      </p:sp>
      <p:sp>
        <p:nvSpPr>
          <p:cNvPr id="17" name="a2ud180_dot16"/>
          <p:cNvSpPr/>
          <p:nvPr/>
        </p:nvSpPr>
        <p:spPr>
          <a:xfrm>
            <a:off x="5669280" y="223113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d180_b17"/>
          <p:cNvSpPr txBox="1"/>
          <p:nvPr/>
        </p:nvSpPr>
        <p:spPr>
          <a:xfrm>
            <a:off x="5888736" y="2130551"/>
            <a:ext cx="2798063" cy="694944"/>
          </a:xfrm>
          <a:prstGeom prst="rect">
            <a:avLst/>
          </a:prstGeom>
          <a:noFill/>
        </p:spPr>
        <p:txBody>
          <a:bodyPr wrap="square" lIns="0" tIns="0" rIns="0" bIns="0" anchor="t">
            <a:spAutoFit/>
          </a:bodyPr>
          <a:lstStyle/>
          <a:p>
            <a:pPr algn="l"/>
            <a:r>
              <a:rPr sz="1100" b="1">
                <a:solidFill>
                  <a:srgbClr val="0F172A"/>
                </a:solidFill>
                <a:latin typeface="Calibri"/>
              </a:rPr>
              <a:t>SystemLimitError, not ArgumentError  </a:t>
            </a:r>
            <a:r>
              <a:rPr sz="1100" b="0">
                <a:solidFill>
                  <a:srgbClr val="334155"/>
                </a:solidFill>
                <a:latin typeface="Calibri"/>
              </a:rPr>
              <a:t>a different failure from an unknown atom</a:t>
            </a:r>
          </a:p>
        </p:txBody>
      </p:sp>
      <p:sp>
        <p:nvSpPr>
          <p:cNvPr id="19" name="a2ud360_dot18"/>
          <p:cNvSpPr/>
          <p:nvPr/>
        </p:nvSpPr>
        <p:spPr>
          <a:xfrm>
            <a:off x="5669280" y="296265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360_b19"/>
          <p:cNvSpPr txBox="1"/>
          <p:nvPr/>
        </p:nvSpPr>
        <p:spPr>
          <a:xfrm>
            <a:off x="5888736" y="2862071"/>
            <a:ext cx="2798063" cy="694944"/>
          </a:xfrm>
          <a:prstGeom prst="rect">
            <a:avLst/>
          </a:prstGeom>
          <a:noFill/>
        </p:spPr>
        <p:txBody>
          <a:bodyPr wrap="square" lIns="0" tIns="0" rIns="0" bIns="0" anchor="t">
            <a:spAutoFit/>
          </a:bodyPr>
          <a:lstStyle/>
          <a:p>
            <a:pPr algn="l"/>
            <a:r>
              <a:rPr sz="1100" b="1">
                <a:solidFill>
                  <a:srgbClr val="0F172A"/>
                </a:solidFill>
                <a:latin typeface="Calibri"/>
              </a:rPr>
              <a:t>It matters for generated names  </a:t>
            </a:r>
            <a:r>
              <a:rPr sz="1100" b="0">
                <a:solidFill>
                  <a:srgbClr val="334155"/>
                </a:solidFill>
                <a:latin typeface="Calibri"/>
              </a:rPr>
              <a:t>Module.concat on user input can reach it</a:t>
            </a:r>
          </a:p>
        </p:txBody>
      </p:sp>
      <p:sp>
        <p:nvSpPr>
          <p:cNvPr id="21" name="a3f_nb20"/>
          <p:cNvSpPr/>
          <p:nvPr/>
        </p:nvSpPr>
        <p:spPr>
          <a:xfrm>
            <a:off x="457200" y="3813048"/>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3f_nacc21"/>
          <p:cNvSpPr/>
          <p:nvPr/>
        </p:nvSpPr>
        <p:spPr>
          <a:xfrm>
            <a:off x="457200" y="3813048"/>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t22"/>
          <p:cNvSpPr txBox="1"/>
          <p:nvPr/>
        </p:nvSpPr>
        <p:spPr>
          <a:xfrm>
            <a:off x="658368" y="3813048"/>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Rare in hand-written code, routine in code that builds atom names by concatenation.</a:t>
            </a:r>
          </a:p>
        </p:txBody>
      </p:sp>
      <p:sp>
        <p:nvSpPr>
          <p:cNvPr id="24" name="ft23"/>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5" name="ft24"/>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ppt_y+0.1"/>
                                          </p:val>
                                        </p:tav>
                                        <p:tav tm="100000">
                                          <p:val>
                                            <p:strVal val="#ppt_y"/>
                                          </p:val>
                                        </p:tav>
                                      </p:tavLst>
                                    </p:anim>
                                    <p:animEffect transition="in" filter="fade">
                                      <p:cBhvr>
                                        <p:cTn id="41" dur="500"/>
                                        <p:tgtEl>
                                          <p:spTgt spid="15"/>
                                        </p:tgtEl>
                                      </p:cBhvr>
                                    </p:animEffect>
                                  </p:childTnLst>
                                </p:cTn>
                              </p:par>
                              <p:par>
                                <p:cTn id="42" presetID="2" presetClass="entr" presetSubtype="4"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ppt_y+0.1"/>
                                          </p:val>
                                        </p:tav>
                                        <p:tav tm="100000">
                                          <p:val>
                                            <p:strVal val="#ppt_y"/>
                                          </p:val>
                                        </p:tav>
                                      </p:tavLst>
                                    </p:anim>
                                    <p:animEffect transition="in" filter="fade">
                                      <p:cBhvr>
                                        <p:cTn id="46" dur="500"/>
                                        <p:tgtEl>
                                          <p:spTgt spid="16"/>
                                        </p:tgtEl>
                                      </p:cBhvr>
                                    </p:animEffect>
                                  </p:childTnLst>
                                </p:cTn>
                              </p:par>
                              <p:par>
                                <p:cTn id="47" presetID="2" presetClass="entr" presetSubtype="4" fill="hold" grpId="0" nodeType="withEffect">
                                  <p:stCondLst>
                                    <p:cond delay="18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ppt_y+0.1"/>
                                          </p:val>
                                        </p:tav>
                                        <p:tav tm="100000">
                                          <p:val>
                                            <p:strVal val="#ppt_y"/>
                                          </p:val>
                                        </p:tav>
                                      </p:tavLst>
                                    </p:anim>
                                    <p:animEffect transition="in" filter="fade">
                                      <p:cBhvr>
                                        <p:cTn id="51" dur="500"/>
                                        <p:tgtEl>
                                          <p:spTgt spid="17"/>
                                        </p:tgtEl>
                                      </p:cBhvr>
                                    </p:animEffect>
                                  </p:childTnLst>
                                </p:cTn>
                              </p:par>
                              <p:par>
                                <p:cTn id="52" presetID="2" presetClass="entr" presetSubtype="4" fill="hold" grpId="0" nodeType="withEffect">
                                  <p:stCondLst>
                                    <p:cond delay="18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ppt_y+0.1"/>
                                          </p:val>
                                        </p:tav>
                                        <p:tav tm="100000">
                                          <p:val>
                                            <p:strVal val="#ppt_y"/>
                                          </p:val>
                                        </p:tav>
                                      </p:tavLst>
                                    </p:anim>
                                    <p:animEffect transition="in" filter="fade">
                                      <p:cBhvr>
                                        <p:cTn id="56" dur="500"/>
                                        <p:tgtEl>
                                          <p:spTgt spid="18"/>
                                        </p:tgtEl>
                                      </p:cBhvr>
                                    </p:animEffect>
                                  </p:childTnLst>
                                </p:cTn>
                              </p:par>
                              <p:par>
                                <p:cTn id="57" presetID="2" presetClass="entr" presetSubtype="4" fill="hold" grpId="0" nodeType="withEffect">
                                  <p:stCondLst>
                                    <p:cond delay="36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ppt_y+0.1"/>
                                          </p:val>
                                        </p:tav>
                                        <p:tav tm="100000">
                                          <p:val>
                                            <p:strVal val="#ppt_y"/>
                                          </p:val>
                                        </p:tav>
                                      </p:tavLst>
                                    </p:anim>
                                    <p:animEffect transition="in" filter="fade">
                                      <p:cBhvr>
                                        <p:cTn id="61" dur="500"/>
                                        <p:tgtEl>
                                          <p:spTgt spid="19"/>
                                        </p:tgtEl>
                                      </p:cBhvr>
                                    </p:animEffect>
                                  </p:childTnLst>
                                </p:cTn>
                              </p:par>
                              <p:par>
                                <p:cTn id="62" presetID="2" presetClass="entr" presetSubtype="4" fill="hold" grpId="0" nodeType="withEffect">
                                  <p:stCondLst>
                                    <p:cond delay="36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00" fill="hold"/>
                                        <p:tgtEl>
                                          <p:spTgt spid="20"/>
                                        </p:tgtEl>
                                        <p:attrNameLst>
                                          <p:attrName>ppt_x</p:attrName>
                                        </p:attrNameLst>
                                      </p:cBhvr>
                                      <p:tavLst>
                                        <p:tav tm="0">
                                          <p:val>
                                            <p:strVal val="#ppt_x"/>
                                          </p:val>
                                        </p:tav>
                                        <p:tav tm="100000">
                                          <p:val>
                                            <p:strVal val="#ppt_x"/>
                                          </p:val>
                                        </p:tav>
                                      </p:tavLst>
                                    </p:anim>
                                    <p:anim calcmode="lin" valueType="num">
                                      <p:cBhvr additive="base">
                                        <p:cTn id="65" dur="500" fill="hold"/>
                                        <p:tgtEl>
                                          <p:spTgt spid="20"/>
                                        </p:tgtEl>
                                        <p:attrNameLst>
                                          <p:attrName>ppt_y</p:attrName>
                                        </p:attrNameLst>
                                      </p:cBhvr>
                                      <p:tavLst>
                                        <p:tav tm="0">
                                          <p:val>
                                            <p:strVal val="#ppt_y+0.1"/>
                                          </p:val>
                                        </p:tav>
                                        <p:tav tm="100000">
                                          <p:val>
                                            <p:strVal val="#ppt_y"/>
                                          </p:val>
                                        </p:tav>
                                      </p:tavLst>
                                    </p:anim>
                                    <p:animEffect transition="in" filter="fade">
                                      <p:cBhvr>
                                        <p:cTn id="66" dur="500"/>
                                        <p:tgtEl>
                                          <p:spTgt spid="20"/>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fade">
                                      <p:cBhvr>
                                        <p:cTn id="71" dur="500"/>
                                        <p:tgtEl>
                                          <p:spTgt spid="21"/>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9B72CF"/>
                </a:solidFill>
                <a:latin typeface="Calibri"/>
              </a:rPr>
              <a:t>03</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Why reach for one</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Because comparing a name should cost
the same as comparing a number.</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ordering</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speed</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atom or string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COMPARING ATOMS</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Atoms sort by their name, not by creation order</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Which is the only ordering that stays stable between runs.</a:t>
            </a:r>
          </a:p>
        </p:txBody>
      </p:sp>
      <p:sp>
        <p:nvSpPr>
          <p:cNvPr id="5" name="a1f_codebg4"/>
          <p:cNvSpPr/>
          <p:nvPr/>
        </p:nvSpPr>
        <p:spPr>
          <a:xfrm>
            <a:off x="457200" y="1362456"/>
            <a:ext cx="507492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1000" b="0">
                <a:solidFill>
                  <a:srgbClr val="64748B"/>
                </a:solidFill>
                <a:latin typeface="Courier New"/>
              </a:rPr>
              <a:t># :aaa_created_last was made LAST</a:t>
            </a:r>
          </a:p>
        </p:txBody>
      </p:sp>
      <p:sp>
        <p:nvSpPr>
          <p:cNvPr id="8" name="a1wd78_code7"/>
          <p:cNvSpPr txBox="1"/>
          <p:nvPr/>
        </p:nvSpPr>
        <p:spPr>
          <a:xfrm>
            <a:off x="621792" y="2016252"/>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Enum.sort([:zebra, :apple,</a:t>
            </a:r>
          </a:p>
        </p:txBody>
      </p:sp>
      <p:sp>
        <p:nvSpPr>
          <p:cNvPr id="9" name="a1wd156_code8"/>
          <p:cNvSpPr txBox="1"/>
          <p:nvPr/>
        </p:nvSpPr>
        <p:spPr>
          <a:xfrm>
            <a:off x="621792" y="2231136"/>
            <a:ext cx="4745736" cy="214884"/>
          </a:xfrm>
          <a:prstGeom prst="rect">
            <a:avLst/>
          </a:prstGeom>
          <a:noFill/>
        </p:spPr>
        <p:txBody>
          <a:bodyPr wrap="none" lIns="0" tIns="0" rIns="0" bIns="0" anchor="ctr">
            <a:spAutoFit/>
          </a:bodyPr>
          <a:lstStyle/>
          <a:p>
            <a:pPr algn="l"/>
            <a:r>
              <a:rPr sz="1000" b="1">
                <a:solidFill>
                  <a:srgbClr val="C9B3E8"/>
                </a:solidFill>
                <a:latin typeface="Courier New"/>
              </a:rPr>
              <a:t>...    :aaa_created_last, :mango])</a:t>
            </a:r>
          </a:p>
        </p:txBody>
      </p:sp>
      <p:sp>
        <p:nvSpPr>
          <p:cNvPr id="10" name="a1wd234_code9"/>
          <p:cNvSpPr txBox="1"/>
          <p:nvPr/>
        </p:nvSpPr>
        <p:spPr>
          <a:xfrm>
            <a:off x="621792" y="2446020"/>
            <a:ext cx="4745736" cy="214884"/>
          </a:xfrm>
          <a:prstGeom prst="rect">
            <a:avLst/>
          </a:prstGeom>
          <a:noFill/>
        </p:spPr>
        <p:txBody>
          <a:bodyPr wrap="none" lIns="0" tIns="0" rIns="0" bIns="0" anchor="ctr">
            <a:spAutoFit/>
          </a:bodyPr>
          <a:lstStyle/>
          <a:p>
            <a:pPr algn="l"/>
            <a:r>
              <a:rPr sz="1000" b="0">
                <a:solidFill>
                  <a:srgbClr val="14B8A6"/>
                </a:solidFill>
                <a:latin typeface="Courier New"/>
              </a:rPr>
              <a:t>[:aaa_created_last, :apple,</a:t>
            </a:r>
          </a:p>
        </p:txBody>
      </p:sp>
      <p:sp>
        <p:nvSpPr>
          <p:cNvPr id="11" name="a1wd312_code10"/>
          <p:cNvSpPr txBox="1"/>
          <p:nvPr/>
        </p:nvSpPr>
        <p:spPr>
          <a:xfrm>
            <a:off x="621792" y="2660904"/>
            <a:ext cx="4745736" cy="214884"/>
          </a:xfrm>
          <a:prstGeom prst="rect">
            <a:avLst/>
          </a:prstGeom>
          <a:noFill/>
        </p:spPr>
        <p:txBody>
          <a:bodyPr wrap="none" lIns="0" tIns="0" rIns="0" bIns="0" anchor="ctr">
            <a:spAutoFit/>
          </a:bodyPr>
          <a:lstStyle/>
          <a:p>
            <a:pPr algn="l"/>
            <a:r>
              <a:rPr sz="1000" b="0">
                <a:solidFill>
                  <a:srgbClr val="14B8A6"/>
                </a:solidFill>
                <a:latin typeface="Courier New"/>
              </a:rPr>
              <a:t> :mango, :zebra]</a:t>
            </a:r>
          </a:p>
        </p:txBody>
      </p:sp>
      <p:sp>
        <p:nvSpPr>
          <p:cNvPr id="12" name="a1wd390_code11"/>
          <p:cNvSpPr txBox="1"/>
          <p:nvPr/>
        </p:nvSpPr>
        <p:spPr>
          <a:xfrm>
            <a:off x="621792" y="2875787"/>
            <a:ext cx="4745736" cy="214884"/>
          </a:xfrm>
          <a:prstGeom prst="rect">
            <a:avLst/>
          </a:prstGeom>
          <a:noFill/>
        </p:spPr>
        <p:txBody>
          <a:bodyPr wrap="none" lIns="0" tIns="0" rIns="0" bIns="0" anchor="ctr">
            <a:spAutoFit/>
          </a:bodyPr>
          <a:lstStyle/>
          <a:p>
            <a:pPr algn="l"/>
            <a:endParaRPr/>
          </a:p>
        </p:txBody>
      </p:sp>
      <p:sp>
        <p:nvSpPr>
          <p:cNvPr id="13" name="a1wd468_code12"/>
          <p:cNvSpPr txBox="1"/>
          <p:nvPr/>
        </p:nvSpPr>
        <p:spPr>
          <a:xfrm>
            <a:off x="621792" y="3090672"/>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:error &lt; :ok       #=&gt; true</a:t>
            </a:r>
          </a:p>
        </p:txBody>
      </p:sp>
      <p:sp>
        <p:nvSpPr>
          <p:cNvPr id="14" name="a1wd546_code13"/>
          <p:cNvSpPr txBox="1"/>
          <p:nvPr/>
        </p:nvSpPr>
        <p:spPr>
          <a:xfrm>
            <a:off x="621792" y="3305556"/>
            <a:ext cx="4745736" cy="214884"/>
          </a:xfrm>
          <a:prstGeom prst="rect">
            <a:avLst/>
          </a:prstGeom>
          <a:noFill/>
        </p:spPr>
        <p:txBody>
          <a:bodyPr wrap="none" lIns="0" tIns="0" rIns="0" bIns="0" anchor="ctr">
            <a:spAutoFit/>
          </a:bodyPr>
          <a:lstStyle/>
          <a:p>
            <a:pPr algn="l"/>
            <a:r>
              <a:rPr sz="1000" b="1">
                <a:solidFill>
                  <a:srgbClr val="C9B3E8"/>
                </a:solidFill>
                <a:latin typeface="Courier New"/>
              </a:rPr>
              <a:t>iex&gt; :Z &lt; :a            #=&gt; true</a:t>
            </a:r>
          </a:p>
        </p:txBody>
      </p:sp>
      <p:sp>
        <p:nvSpPr>
          <p:cNvPr id="15" name="a1wd624_code14"/>
          <p:cNvSpPr txBox="1"/>
          <p:nvPr/>
        </p:nvSpPr>
        <p:spPr>
          <a:xfrm>
            <a:off x="621792" y="3520439"/>
            <a:ext cx="4745736" cy="214884"/>
          </a:xfrm>
          <a:prstGeom prst="rect">
            <a:avLst/>
          </a:prstGeom>
          <a:noFill/>
        </p:spPr>
        <p:txBody>
          <a:bodyPr wrap="none" lIns="0" tIns="0" rIns="0" bIns="0" anchor="ctr">
            <a:spAutoFit/>
          </a:bodyPr>
          <a:lstStyle/>
          <a:p>
            <a:pPr algn="l"/>
            <a:r>
              <a:rPr sz="1000" b="0">
                <a:solidFill>
                  <a:srgbClr val="64748B"/>
                </a:solidFill>
                <a:latin typeface="Courier New"/>
              </a:rPr>
              <a:t>#   uppercase first — codepoint order</a:t>
            </a:r>
          </a:p>
        </p:txBody>
      </p:sp>
      <p:sp>
        <p:nvSpPr>
          <p:cNvPr id="16" name="a2u_dot15"/>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_b16"/>
          <p:cNvSpPr txBox="1"/>
          <p:nvPr/>
        </p:nvSpPr>
        <p:spPr>
          <a:xfrm>
            <a:off x="5888736" y="1399031"/>
            <a:ext cx="2798063" cy="749808"/>
          </a:xfrm>
          <a:prstGeom prst="rect">
            <a:avLst/>
          </a:prstGeom>
          <a:noFill/>
        </p:spPr>
        <p:txBody>
          <a:bodyPr wrap="square" lIns="0" tIns="0" rIns="0" bIns="0" anchor="t">
            <a:spAutoFit/>
          </a:bodyPr>
          <a:lstStyle/>
          <a:p>
            <a:pPr algn="l"/>
            <a:r>
              <a:rPr sz="1100" b="1">
                <a:solidFill>
                  <a:srgbClr val="0F172A"/>
                </a:solidFill>
                <a:latin typeface="Calibri"/>
              </a:rPr>
              <a:t>Order is by codepoint  </a:t>
            </a:r>
            <a:r>
              <a:rPr sz="1100" b="0">
                <a:solidFill>
                  <a:srgbClr val="334155"/>
                </a:solidFill>
                <a:latin typeface="Calibri"/>
              </a:rPr>
              <a:t>so it is stable across nodes and restarts</a:t>
            </a:r>
          </a:p>
        </p:txBody>
      </p:sp>
      <p:sp>
        <p:nvSpPr>
          <p:cNvPr id="18" name="a2ud180_dot17"/>
          <p:cNvSpPr/>
          <p:nvPr/>
        </p:nvSpPr>
        <p:spPr>
          <a:xfrm>
            <a:off x="5669280" y="2285999"/>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ud180_b18"/>
          <p:cNvSpPr txBox="1"/>
          <p:nvPr/>
        </p:nvSpPr>
        <p:spPr>
          <a:xfrm>
            <a:off x="5888736" y="2185415"/>
            <a:ext cx="2798063" cy="749808"/>
          </a:xfrm>
          <a:prstGeom prst="rect">
            <a:avLst/>
          </a:prstGeom>
          <a:noFill/>
        </p:spPr>
        <p:txBody>
          <a:bodyPr wrap="square" lIns="0" tIns="0" rIns="0" bIns="0" anchor="t">
            <a:spAutoFit/>
          </a:bodyPr>
          <a:lstStyle/>
          <a:p>
            <a:pPr algn="l"/>
            <a:r>
              <a:rPr sz="1100" b="1">
                <a:solidFill>
                  <a:srgbClr val="0F172A"/>
                </a:solidFill>
                <a:latin typeface="Calibri"/>
              </a:rPr>
              <a:t>In the global term order  </a:t>
            </a:r>
            <a:r>
              <a:rPr sz="1100" b="0">
                <a:solidFill>
                  <a:srgbClr val="334155"/>
                </a:solidFill>
                <a:latin typeface="Calibri"/>
              </a:rPr>
              <a:t>number &lt; atom &lt; ref &lt; fun &lt; port &lt; pid &lt; tuple &lt; map &lt; list &lt; binary</a:t>
            </a:r>
          </a:p>
        </p:txBody>
      </p:sp>
      <p:sp>
        <p:nvSpPr>
          <p:cNvPr id="20" name="a2ud360_dot19"/>
          <p:cNvSpPr/>
          <p:nvPr/>
        </p:nvSpPr>
        <p:spPr>
          <a:xfrm>
            <a:off x="5669280" y="3072383"/>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2ud360_b20"/>
          <p:cNvSpPr txBox="1"/>
          <p:nvPr/>
        </p:nvSpPr>
        <p:spPr>
          <a:xfrm>
            <a:off x="5888736" y="2971799"/>
            <a:ext cx="2798063" cy="749808"/>
          </a:xfrm>
          <a:prstGeom prst="rect">
            <a:avLst/>
          </a:prstGeom>
          <a:noFill/>
        </p:spPr>
        <p:txBody>
          <a:bodyPr wrap="square" lIns="0" tIns="0" rIns="0" bIns="0" anchor="t">
            <a:spAutoFit/>
          </a:bodyPr>
          <a:lstStyle/>
          <a:p>
            <a:pPr algn="l"/>
            <a:r>
              <a:rPr sz="1100" b="1">
                <a:solidFill>
                  <a:srgbClr val="0F172A"/>
                </a:solidFill>
                <a:latin typeface="Calibri"/>
              </a:rPr>
              <a:t>So 1 &lt; :ok &lt; {1} &lt; "ok"  </a:t>
            </a:r>
            <a:r>
              <a:rPr sz="1100" b="0">
                <a:solidFill>
                  <a:srgbClr val="334155"/>
                </a:solidFill>
                <a:latin typeface="Calibri"/>
              </a:rPr>
              <a:t>any two terms compare, and never raise</a:t>
            </a:r>
          </a:p>
        </p:txBody>
      </p:sp>
      <p:sp>
        <p:nvSpPr>
          <p:cNvPr id="22" name="ft2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3" name="ft2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8"/>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6"/>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34"/>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12"/>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9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68"/>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46"/>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24"/>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1"/>
                                          </p:val>
                                        </p:tav>
                                        <p:tav tm="100000">
                                          <p:val>
                                            <p:strVal val="#ppt_y"/>
                                          </p:val>
                                        </p:tav>
                                      </p:tavLst>
                                    </p:anim>
                                    <p:animEffect transition="in" filter="fade">
                                      <p:cBhvr>
                                        <p:cTn id="44" dur="500"/>
                                        <p:tgtEl>
                                          <p:spTgt spid="16"/>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1"/>
                                          </p:val>
                                        </p:tav>
                                        <p:tav tm="100000">
                                          <p:val>
                                            <p:strVal val="#ppt_y"/>
                                          </p:val>
                                        </p:tav>
                                      </p:tavLst>
                                    </p:anim>
                                    <p:animEffect transition="in" filter="fade">
                                      <p:cBhvr>
                                        <p:cTn id="49" dur="500"/>
                                        <p:tgtEl>
                                          <p:spTgt spid="17"/>
                                        </p:tgtEl>
                                      </p:cBhvr>
                                    </p:animEffect>
                                  </p:childTnLst>
                                </p:cTn>
                              </p:par>
                              <p:par>
                                <p:cTn id="50" presetID="2" presetClass="entr" presetSubtype="4" fill="hold" grpId="0" nodeType="withEffect">
                                  <p:stCondLst>
                                    <p:cond delay="18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1"/>
                                          </p:val>
                                        </p:tav>
                                        <p:tav tm="100000">
                                          <p:val>
                                            <p:strVal val="#ppt_y"/>
                                          </p:val>
                                        </p:tav>
                                      </p:tavLst>
                                    </p:anim>
                                    <p:animEffect transition="in" filter="fade">
                                      <p:cBhvr>
                                        <p:cTn id="54" dur="500"/>
                                        <p:tgtEl>
                                          <p:spTgt spid="18"/>
                                        </p:tgtEl>
                                      </p:cBhvr>
                                    </p:animEffect>
                                  </p:childTnLst>
                                </p:cTn>
                              </p:par>
                              <p:par>
                                <p:cTn id="55" presetID="2" presetClass="entr" presetSubtype="4" fill="hold" grpId="0" nodeType="withEffect">
                                  <p:stCondLst>
                                    <p:cond delay="18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0" presetID="2" presetClass="entr" presetSubtype="4" fill="hold" grpId="0" nodeType="withEffect">
                                  <p:stCondLst>
                                    <p:cond delay="3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65" presetID="2" presetClass="entr" presetSubtype="4" fill="hold" grpId="0" nodeType="withEffect">
                                  <p:stCondLst>
                                    <p:cond delay="36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ATOM vs STRING</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Speed — measured honestly</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One million comparisons each. The naive benchmark gets this wrong.</a:t>
            </a:r>
          </a:p>
        </p:txBody>
      </p:sp>
      <p:sp>
        <p:nvSpPr>
          <p:cNvPr id="5" name="a1f_th4"/>
          <p:cNvSpPr/>
          <p:nvPr/>
        </p:nvSpPr>
        <p:spPr>
          <a:xfrm>
            <a:off x="457200" y="1325880"/>
            <a:ext cx="4297680" cy="342900"/>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tht5"/>
          <p:cNvSpPr txBox="1"/>
          <p:nvPr/>
        </p:nvSpPr>
        <p:spPr>
          <a:xfrm>
            <a:off x="530352" y="1325880"/>
            <a:ext cx="4187952" cy="342900"/>
          </a:xfrm>
          <a:prstGeom prst="rect">
            <a:avLst/>
          </a:prstGeom>
          <a:noFill/>
        </p:spPr>
        <p:txBody>
          <a:bodyPr wrap="square" lIns="0" tIns="0" rIns="0" bIns="0" anchor="ctr">
            <a:spAutoFit/>
          </a:bodyPr>
          <a:lstStyle/>
          <a:p>
            <a:pPr algn="l"/>
            <a:r>
              <a:rPr sz="1050" b="1">
                <a:solidFill>
                  <a:srgbClr val="FFFFFF"/>
                </a:solidFill>
                <a:latin typeface="Courier New"/>
              </a:rPr>
              <a:t>One million comparisons of…</a:t>
            </a:r>
          </a:p>
        </p:txBody>
      </p:sp>
      <p:sp>
        <p:nvSpPr>
          <p:cNvPr id="7" name="a1wd110_td6"/>
          <p:cNvSpPr/>
          <p:nvPr/>
        </p:nvSpPr>
        <p:spPr>
          <a:xfrm>
            <a:off x="457200" y="1668780"/>
            <a:ext cx="429768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a1wd110_tdt7"/>
          <p:cNvSpPr txBox="1"/>
          <p:nvPr/>
        </p:nvSpPr>
        <p:spPr>
          <a:xfrm>
            <a:off x="530352" y="1668780"/>
            <a:ext cx="4187952" cy="342900"/>
          </a:xfrm>
          <a:prstGeom prst="rect">
            <a:avLst/>
          </a:prstGeom>
          <a:noFill/>
        </p:spPr>
        <p:txBody>
          <a:bodyPr wrap="square" lIns="0" tIns="0" rIns="0" bIns="0" anchor="ctr">
            <a:spAutoFit/>
          </a:bodyPr>
          <a:lstStyle/>
          <a:p>
            <a:pPr algn="l"/>
            <a:r>
              <a:rPr sz="1050" b="0">
                <a:solidFill>
                  <a:srgbClr val="334155"/>
                </a:solidFill>
                <a:latin typeface="Courier New"/>
              </a:rPr>
              <a:t>atom == atom</a:t>
            </a:r>
          </a:p>
        </p:txBody>
      </p:sp>
      <p:sp>
        <p:nvSpPr>
          <p:cNvPr id="9" name="a1wd220_td8"/>
          <p:cNvSpPr/>
          <p:nvPr/>
        </p:nvSpPr>
        <p:spPr>
          <a:xfrm>
            <a:off x="457200" y="2011680"/>
            <a:ext cx="4297680" cy="342900"/>
          </a:xfrm>
          <a:prstGeom prst="rect">
            <a:avLst/>
          </a:prstGeom>
          <a:solidFill>
            <a:srgbClr val="FEF3C7"/>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wd220_tdt9"/>
          <p:cNvSpPr txBox="1"/>
          <p:nvPr/>
        </p:nvSpPr>
        <p:spPr>
          <a:xfrm>
            <a:off x="530352" y="2011680"/>
            <a:ext cx="4187952" cy="342900"/>
          </a:xfrm>
          <a:prstGeom prst="rect">
            <a:avLst/>
          </a:prstGeom>
          <a:noFill/>
        </p:spPr>
        <p:txBody>
          <a:bodyPr wrap="square" lIns="0" tIns="0" rIns="0" bIns="0" anchor="ctr">
            <a:spAutoFit/>
          </a:bodyPr>
          <a:lstStyle/>
          <a:p>
            <a:pPr algn="l"/>
            <a:r>
              <a:rPr sz="1050" b="0">
                <a:solidFill>
                  <a:srgbClr val="334155"/>
                </a:solidFill>
                <a:latin typeface="Courier New"/>
              </a:rPr>
              <a:t>binary == the SAME binary object</a:t>
            </a:r>
          </a:p>
        </p:txBody>
      </p:sp>
      <p:sp>
        <p:nvSpPr>
          <p:cNvPr id="11" name="a1wd330_td10"/>
          <p:cNvSpPr/>
          <p:nvPr/>
        </p:nvSpPr>
        <p:spPr>
          <a:xfrm>
            <a:off x="457200" y="2354580"/>
            <a:ext cx="429768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wd330_tdt11"/>
          <p:cNvSpPr txBox="1"/>
          <p:nvPr/>
        </p:nvSpPr>
        <p:spPr>
          <a:xfrm>
            <a:off x="530352" y="2354580"/>
            <a:ext cx="4187952" cy="342900"/>
          </a:xfrm>
          <a:prstGeom prst="rect">
            <a:avLst/>
          </a:prstGeom>
          <a:noFill/>
        </p:spPr>
        <p:txBody>
          <a:bodyPr wrap="square" lIns="0" tIns="0" rIns="0" bIns="0" anchor="ctr">
            <a:spAutoFit/>
          </a:bodyPr>
          <a:lstStyle/>
          <a:p>
            <a:pPr algn="l"/>
            <a:r>
              <a:rPr sz="1050" b="0">
                <a:solidFill>
                  <a:srgbClr val="334155"/>
                </a:solidFill>
                <a:latin typeface="Courier New"/>
              </a:rPr>
              <a:t>binary == an equal DISTINCT binary</a:t>
            </a:r>
          </a:p>
        </p:txBody>
      </p:sp>
      <p:sp>
        <p:nvSpPr>
          <p:cNvPr id="13" name="a1wd440_td12"/>
          <p:cNvSpPr/>
          <p:nvPr/>
        </p:nvSpPr>
        <p:spPr>
          <a:xfrm>
            <a:off x="457200" y="2697480"/>
            <a:ext cx="429768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wd440_tdt13"/>
          <p:cNvSpPr txBox="1"/>
          <p:nvPr/>
        </p:nvSpPr>
        <p:spPr>
          <a:xfrm>
            <a:off x="530352" y="2697480"/>
            <a:ext cx="4187952" cy="342900"/>
          </a:xfrm>
          <a:prstGeom prst="rect">
            <a:avLst/>
          </a:prstGeom>
          <a:noFill/>
        </p:spPr>
        <p:txBody>
          <a:bodyPr wrap="square" lIns="0" tIns="0" rIns="0" bIns="0" anchor="ctr">
            <a:spAutoFit/>
          </a:bodyPr>
          <a:lstStyle/>
          <a:p>
            <a:pPr algn="l"/>
            <a:r>
              <a:rPr sz="1050" b="0">
                <a:solidFill>
                  <a:srgbClr val="334155"/>
                </a:solidFill>
                <a:latin typeface="Courier New"/>
              </a:rPr>
              <a:t>ditto, 96-byte shared prefix</a:t>
            </a:r>
          </a:p>
        </p:txBody>
      </p:sp>
      <p:sp>
        <p:nvSpPr>
          <p:cNvPr id="15" name="a1f_th14"/>
          <p:cNvSpPr/>
          <p:nvPr/>
        </p:nvSpPr>
        <p:spPr>
          <a:xfrm>
            <a:off x="4754880" y="1325880"/>
            <a:ext cx="1234440" cy="342900"/>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f_tht15"/>
          <p:cNvSpPr txBox="1"/>
          <p:nvPr/>
        </p:nvSpPr>
        <p:spPr>
          <a:xfrm>
            <a:off x="4828032" y="1325880"/>
            <a:ext cx="1124712" cy="342900"/>
          </a:xfrm>
          <a:prstGeom prst="rect">
            <a:avLst/>
          </a:prstGeom>
          <a:noFill/>
        </p:spPr>
        <p:txBody>
          <a:bodyPr wrap="square" lIns="0" tIns="0" rIns="0" bIns="0" anchor="ctr">
            <a:spAutoFit/>
          </a:bodyPr>
          <a:lstStyle/>
          <a:p>
            <a:pPr algn="l"/>
            <a:r>
              <a:rPr sz="1050" b="1">
                <a:solidFill>
                  <a:srgbClr val="FFFFFF"/>
                </a:solidFill>
                <a:latin typeface="Courier New"/>
              </a:rPr>
              <a:t>Time</a:t>
            </a:r>
          </a:p>
        </p:txBody>
      </p:sp>
      <p:sp>
        <p:nvSpPr>
          <p:cNvPr id="17" name="a1wd110_td16"/>
          <p:cNvSpPr/>
          <p:nvPr/>
        </p:nvSpPr>
        <p:spPr>
          <a:xfrm>
            <a:off x="4754880" y="1668780"/>
            <a:ext cx="123444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1wd110_tdt17"/>
          <p:cNvSpPr txBox="1"/>
          <p:nvPr/>
        </p:nvSpPr>
        <p:spPr>
          <a:xfrm>
            <a:off x="4828032" y="1668780"/>
            <a:ext cx="1124712" cy="342900"/>
          </a:xfrm>
          <a:prstGeom prst="rect">
            <a:avLst/>
          </a:prstGeom>
          <a:noFill/>
        </p:spPr>
        <p:txBody>
          <a:bodyPr wrap="square" lIns="0" tIns="0" rIns="0" bIns="0" anchor="ctr">
            <a:spAutoFit/>
          </a:bodyPr>
          <a:lstStyle/>
          <a:p>
            <a:pPr algn="l"/>
            <a:r>
              <a:rPr sz="1050" b="0">
                <a:solidFill>
                  <a:srgbClr val="334155"/>
                </a:solidFill>
                <a:latin typeface="Courier New"/>
              </a:rPr>
              <a:t>11,878 µs</a:t>
            </a:r>
          </a:p>
        </p:txBody>
      </p:sp>
      <p:sp>
        <p:nvSpPr>
          <p:cNvPr id="19" name="a1wd220_td18"/>
          <p:cNvSpPr/>
          <p:nvPr/>
        </p:nvSpPr>
        <p:spPr>
          <a:xfrm>
            <a:off x="4754880" y="2011680"/>
            <a:ext cx="1234440" cy="342900"/>
          </a:xfrm>
          <a:prstGeom prst="rect">
            <a:avLst/>
          </a:prstGeom>
          <a:solidFill>
            <a:srgbClr val="FEF3C7"/>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wd220_tdt19"/>
          <p:cNvSpPr txBox="1"/>
          <p:nvPr/>
        </p:nvSpPr>
        <p:spPr>
          <a:xfrm>
            <a:off x="4828032" y="2011680"/>
            <a:ext cx="1124712" cy="342900"/>
          </a:xfrm>
          <a:prstGeom prst="rect">
            <a:avLst/>
          </a:prstGeom>
          <a:noFill/>
        </p:spPr>
        <p:txBody>
          <a:bodyPr wrap="square" lIns="0" tIns="0" rIns="0" bIns="0" anchor="ctr">
            <a:spAutoFit/>
          </a:bodyPr>
          <a:lstStyle/>
          <a:p>
            <a:pPr algn="l"/>
            <a:r>
              <a:rPr sz="1050" b="0">
                <a:solidFill>
                  <a:srgbClr val="334155"/>
                </a:solidFill>
                <a:latin typeface="Courier New"/>
              </a:rPr>
              <a:t>8,499 µs</a:t>
            </a:r>
          </a:p>
        </p:txBody>
      </p:sp>
      <p:sp>
        <p:nvSpPr>
          <p:cNvPr id="21" name="a1wd330_td20"/>
          <p:cNvSpPr/>
          <p:nvPr/>
        </p:nvSpPr>
        <p:spPr>
          <a:xfrm>
            <a:off x="4754880" y="2354580"/>
            <a:ext cx="123444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1wd330_tdt21"/>
          <p:cNvSpPr txBox="1"/>
          <p:nvPr/>
        </p:nvSpPr>
        <p:spPr>
          <a:xfrm>
            <a:off x="4828032" y="2354580"/>
            <a:ext cx="1124712" cy="342900"/>
          </a:xfrm>
          <a:prstGeom prst="rect">
            <a:avLst/>
          </a:prstGeom>
          <a:noFill/>
        </p:spPr>
        <p:txBody>
          <a:bodyPr wrap="square" lIns="0" tIns="0" rIns="0" bIns="0" anchor="ctr">
            <a:spAutoFit/>
          </a:bodyPr>
          <a:lstStyle/>
          <a:p>
            <a:pPr algn="l"/>
            <a:r>
              <a:rPr sz="1050" b="0">
                <a:solidFill>
                  <a:srgbClr val="334155"/>
                </a:solidFill>
                <a:latin typeface="Courier New"/>
              </a:rPr>
              <a:t>25,600 µs</a:t>
            </a:r>
          </a:p>
        </p:txBody>
      </p:sp>
      <p:sp>
        <p:nvSpPr>
          <p:cNvPr id="23" name="a1wd440_td22"/>
          <p:cNvSpPr/>
          <p:nvPr/>
        </p:nvSpPr>
        <p:spPr>
          <a:xfrm>
            <a:off x="4754880" y="2697480"/>
            <a:ext cx="123444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wd440_tdt23"/>
          <p:cNvSpPr txBox="1"/>
          <p:nvPr/>
        </p:nvSpPr>
        <p:spPr>
          <a:xfrm>
            <a:off x="4828032" y="2697480"/>
            <a:ext cx="1124712" cy="342900"/>
          </a:xfrm>
          <a:prstGeom prst="rect">
            <a:avLst/>
          </a:prstGeom>
          <a:noFill/>
        </p:spPr>
        <p:txBody>
          <a:bodyPr wrap="square" lIns="0" tIns="0" rIns="0" bIns="0" anchor="ctr">
            <a:spAutoFit/>
          </a:bodyPr>
          <a:lstStyle/>
          <a:p>
            <a:pPr algn="l"/>
            <a:r>
              <a:rPr sz="1050" b="0">
                <a:solidFill>
                  <a:srgbClr val="334155"/>
                </a:solidFill>
                <a:latin typeface="Courier New"/>
              </a:rPr>
              <a:t>33,996 µs</a:t>
            </a:r>
          </a:p>
        </p:txBody>
      </p:sp>
      <p:sp>
        <p:nvSpPr>
          <p:cNvPr id="25" name="a1f_th24"/>
          <p:cNvSpPr/>
          <p:nvPr/>
        </p:nvSpPr>
        <p:spPr>
          <a:xfrm>
            <a:off x="5989320" y="1325880"/>
            <a:ext cx="960120" cy="342900"/>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f_tht25"/>
          <p:cNvSpPr txBox="1"/>
          <p:nvPr/>
        </p:nvSpPr>
        <p:spPr>
          <a:xfrm>
            <a:off x="6062472" y="1325880"/>
            <a:ext cx="850392" cy="342900"/>
          </a:xfrm>
          <a:prstGeom prst="rect">
            <a:avLst/>
          </a:prstGeom>
          <a:noFill/>
        </p:spPr>
        <p:txBody>
          <a:bodyPr wrap="square" lIns="0" tIns="0" rIns="0" bIns="0" anchor="ctr">
            <a:spAutoFit/>
          </a:bodyPr>
          <a:lstStyle/>
          <a:p>
            <a:pPr algn="l"/>
            <a:r>
              <a:rPr sz="1050" b="1">
                <a:solidFill>
                  <a:srgbClr val="FFFFFF"/>
                </a:solidFill>
                <a:latin typeface="Courier New"/>
              </a:rPr>
              <a:t>vs atom</a:t>
            </a:r>
          </a:p>
        </p:txBody>
      </p:sp>
      <p:sp>
        <p:nvSpPr>
          <p:cNvPr id="27" name="a1wd110_td26"/>
          <p:cNvSpPr/>
          <p:nvPr/>
        </p:nvSpPr>
        <p:spPr>
          <a:xfrm>
            <a:off x="5989320" y="1668780"/>
            <a:ext cx="96012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1wd110_tdt27"/>
          <p:cNvSpPr txBox="1"/>
          <p:nvPr/>
        </p:nvSpPr>
        <p:spPr>
          <a:xfrm>
            <a:off x="6062472" y="1668780"/>
            <a:ext cx="850392" cy="342900"/>
          </a:xfrm>
          <a:prstGeom prst="rect">
            <a:avLst/>
          </a:prstGeom>
          <a:noFill/>
        </p:spPr>
        <p:txBody>
          <a:bodyPr wrap="square" lIns="0" tIns="0" rIns="0" bIns="0" anchor="ctr">
            <a:spAutoFit/>
          </a:bodyPr>
          <a:lstStyle/>
          <a:p>
            <a:pPr algn="l"/>
            <a:r>
              <a:rPr sz="1050" b="0">
                <a:solidFill>
                  <a:srgbClr val="334155"/>
                </a:solidFill>
                <a:latin typeface="Courier New"/>
              </a:rPr>
              <a:t>1.00x</a:t>
            </a:r>
          </a:p>
        </p:txBody>
      </p:sp>
      <p:sp>
        <p:nvSpPr>
          <p:cNvPr id="29" name="a1wd220_td28"/>
          <p:cNvSpPr/>
          <p:nvPr/>
        </p:nvSpPr>
        <p:spPr>
          <a:xfrm>
            <a:off x="5989320" y="2011680"/>
            <a:ext cx="960120" cy="342900"/>
          </a:xfrm>
          <a:prstGeom prst="rect">
            <a:avLst/>
          </a:prstGeom>
          <a:solidFill>
            <a:srgbClr val="FEF3C7"/>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1wd220_tdt29"/>
          <p:cNvSpPr txBox="1"/>
          <p:nvPr/>
        </p:nvSpPr>
        <p:spPr>
          <a:xfrm>
            <a:off x="6062472" y="2011680"/>
            <a:ext cx="850392" cy="342900"/>
          </a:xfrm>
          <a:prstGeom prst="rect">
            <a:avLst/>
          </a:prstGeom>
          <a:noFill/>
        </p:spPr>
        <p:txBody>
          <a:bodyPr wrap="square" lIns="0" tIns="0" rIns="0" bIns="0" anchor="ctr">
            <a:spAutoFit/>
          </a:bodyPr>
          <a:lstStyle/>
          <a:p>
            <a:pPr algn="l"/>
            <a:r>
              <a:rPr sz="1050" b="0">
                <a:solidFill>
                  <a:srgbClr val="334155"/>
                </a:solidFill>
                <a:latin typeface="Courier New"/>
              </a:rPr>
              <a:t>0.72x</a:t>
            </a:r>
          </a:p>
        </p:txBody>
      </p:sp>
      <p:sp>
        <p:nvSpPr>
          <p:cNvPr id="31" name="a1wd330_td30"/>
          <p:cNvSpPr/>
          <p:nvPr/>
        </p:nvSpPr>
        <p:spPr>
          <a:xfrm>
            <a:off x="5989320" y="2354580"/>
            <a:ext cx="96012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wd330_tdt31"/>
          <p:cNvSpPr txBox="1"/>
          <p:nvPr/>
        </p:nvSpPr>
        <p:spPr>
          <a:xfrm>
            <a:off x="6062472" y="2354580"/>
            <a:ext cx="850392" cy="342900"/>
          </a:xfrm>
          <a:prstGeom prst="rect">
            <a:avLst/>
          </a:prstGeom>
          <a:noFill/>
        </p:spPr>
        <p:txBody>
          <a:bodyPr wrap="square" lIns="0" tIns="0" rIns="0" bIns="0" anchor="ctr">
            <a:spAutoFit/>
          </a:bodyPr>
          <a:lstStyle/>
          <a:p>
            <a:pPr algn="l"/>
            <a:r>
              <a:rPr sz="1050" b="0">
                <a:solidFill>
                  <a:srgbClr val="334155"/>
                </a:solidFill>
                <a:latin typeface="Courier New"/>
              </a:rPr>
              <a:t>2.16x</a:t>
            </a:r>
          </a:p>
        </p:txBody>
      </p:sp>
      <p:sp>
        <p:nvSpPr>
          <p:cNvPr id="33" name="a1wd440_td32"/>
          <p:cNvSpPr/>
          <p:nvPr/>
        </p:nvSpPr>
        <p:spPr>
          <a:xfrm>
            <a:off x="5989320" y="2697480"/>
            <a:ext cx="96012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1wd440_tdt33"/>
          <p:cNvSpPr txBox="1"/>
          <p:nvPr/>
        </p:nvSpPr>
        <p:spPr>
          <a:xfrm>
            <a:off x="6062472" y="2697480"/>
            <a:ext cx="850392" cy="342900"/>
          </a:xfrm>
          <a:prstGeom prst="rect">
            <a:avLst/>
          </a:prstGeom>
          <a:noFill/>
        </p:spPr>
        <p:txBody>
          <a:bodyPr wrap="square" lIns="0" tIns="0" rIns="0" bIns="0" anchor="ctr">
            <a:spAutoFit/>
          </a:bodyPr>
          <a:lstStyle/>
          <a:p>
            <a:pPr algn="l"/>
            <a:r>
              <a:rPr sz="1050" b="0">
                <a:solidFill>
                  <a:srgbClr val="334155"/>
                </a:solidFill>
                <a:latin typeface="Courier New"/>
              </a:rPr>
              <a:t>2.86x</a:t>
            </a:r>
          </a:p>
        </p:txBody>
      </p:sp>
      <p:sp>
        <p:nvSpPr>
          <p:cNvPr id="35" name="a1f_th34"/>
          <p:cNvSpPr/>
          <p:nvPr/>
        </p:nvSpPr>
        <p:spPr>
          <a:xfrm>
            <a:off x="6949440" y="1325880"/>
            <a:ext cx="1737360" cy="342900"/>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1f_tht35"/>
          <p:cNvSpPr txBox="1"/>
          <p:nvPr/>
        </p:nvSpPr>
        <p:spPr>
          <a:xfrm>
            <a:off x="7022592" y="1325880"/>
            <a:ext cx="1627631" cy="342900"/>
          </a:xfrm>
          <a:prstGeom prst="rect">
            <a:avLst/>
          </a:prstGeom>
          <a:noFill/>
        </p:spPr>
        <p:txBody>
          <a:bodyPr wrap="square" lIns="0" tIns="0" rIns="0" bIns="0" anchor="ctr">
            <a:spAutoFit/>
          </a:bodyPr>
          <a:lstStyle/>
          <a:p>
            <a:pPr algn="l"/>
            <a:endParaRPr/>
          </a:p>
        </p:txBody>
      </p:sp>
      <p:sp>
        <p:nvSpPr>
          <p:cNvPr id="37" name="a1wd110_td36"/>
          <p:cNvSpPr/>
          <p:nvPr/>
        </p:nvSpPr>
        <p:spPr>
          <a:xfrm>
            <a:off x="6949440" y="1668780"/>
            <a:ext cx="173736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wd110_tdt37"/>
          <p:cNvSpPr txBox="1"/>
          <p:nvPr/>
        </p:nvSpPr>
        <p:spPr>
          <a:xfrm>
            <a:off x="7022592" y="1668780"/>
            <a:ext cx="1627631" cy="342900"/>
          </a:xfrm>
          <a:prstGeom prst="rect">
            <a:avLst/>
          </a:prstGeom>
          <a:noFill/>
        </p:spPr>
        <p:txBody>
          <a:bodyPr wrap="square" lIns="0" tIns="0" rIns="0" bIns="0" anchor="ctr">
            <a:spAutoFit/>
          </a:bodyPr>
          <a:lstStyle/>
          <a:p>
            <a:pPr algn="l"/>
            <a:r>
              <a:rPr sz="1050" b="0">
                <a:solidFill>
                  <a:srgbClr val="334155"/>
                </a:solidFill>
                <a:latin typeface="Calibri"/>
              </a:rPr>
              <a:t>one word compare</a:t>
            </a:r>
          </a:p>
        </p:txBody>
      </p:sp>
      <p:sp>
        <p:nvSpPr>
          <p:cNvPr id="39" name="a1wd220_td38"/>
          <p:cNvSpPr/>
          <p:nvPr/>
        </p:nvSpPr>
        <p:spPr>
          <a:xfrm>
            <a:off x="6949440" y="2011680"/>
            <a:ext cx="1737360" cy="342900"/>
          </a:xfrm>
          <a:prstGeom prst="rect">
            <a:avLst/>
          </a:prstGeom>
          <a:solidFill>
            <a:srgbClr val="FEF3C7"/>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1wd220_tdt39"/>
          <p:cNvSpPr txBox="1"/>
          <p:nvPr/>
        </p:nvSpPr>
        <p:spPr>
          <a:xfrm>
            <a:off x="7022592" y="2011680"/>
            <a:ext cx="1627631" cy="342900"/>
          </a:xfrm>
          <a:prstGeom prst="rect">
            <a:avLst/>
          </a:prstGeom>
          <a:noFill/>
        </p:spPr>
        <p:txBody>
          <a:bodyPr wrap="square" lIns="0" tIns="0" rIns="0" bIns="0" anchor="ctr">
            <a:spAutoFit/>
          </a:bodyPr>
          <a:lstStyle/>
          <a:p>
            <a:pPr algn="l"/>
            <a:r>
              <a:rPr sz="1050" b="0">
                <a:solidFill>
                  <a:srgbClr val="334155"/>
                </a:solidFill>
                <a:latin typeface="Calibri"/>
              </a:rPr>
              <a:t>pointer fast path</a:t>
            </a:r>
          </a:p>
        </p:txBody>
      </p:sp>
      <p:sp>
        <p:nvSpPr>
          <p:cNvPr id="41" name="a1wd330_td40"/>
          <p:cNvSpPr/>
          <p:nvPr/>
        </p:nvSpPr>
        <p:spPr>
          <a:xfrm>
            <a:off x="6949440" y="2354580"/>
            <a:ext cx="173736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1wd330_tdt41"/>
          <p:cNvSpPr txBox="1"/>
          <p:nvPr/>
        </p:nvSpPr>
        <p:spPr>
          <a:xfrm>
            <a:off x="7022592" y="2354580"/>
            <a:ext cx="1627631" cy="342900"/>
          </a:xfrm>
          <a:prstGeom prst="rect">
            <a:avLst/>
          </a:prstGeom>
          <a:noFill/>
        </p:spPr>
        <p:txBody>
          <a:bodyPr wrap="square" lIns="0" tIns="0" rIns="0" bIns="0" anchor="ctr">
            <a:spAutoFit/>
          </a:bodyPr>
          <a:lstStyle/>
          <a:p>
            <a:pPr algn="l"/>
            <a:r>
              <a:rPr sz="1050" b="0">
                <a:solidFill>
                  <a:srgbClr val="334155"/>
                </a:solidFill>
                <a:latin typeface="Calibri"/>
              </a:rPr>
              <a:t>byte by byte</a:t>
            </a:r>
          </a:p>
        </p:txBody>
      </p:sp>
      <p:sp>
        <p:nvSpPr>
          <p:cNvPr id="43" name="a1wd440_td42"/>
          <p:cNvSpPr/>
          <p:nvPr/>
        </p:nvSpPr>
        <p:spPr>
          <a:xfrm>
            <a:off x="6949440" y="2697480"/>
            <a:ext cx="1737360" cy="34290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wd440_tdt43"/>
          <p:cNvSpPr txBox="1"/>
          <p:nvPr/>
        </p:nvSpPr>
        <p:spPr>
          <a:xfrm>
            <a:off x="7022592" y="2697480"/>
            <a:ext cx="1627631" cy="342900"/>
          </a:xfrm>
          <a:prstGeom prst="rect">
            <a:avLst/>
          </a:prstGeom>
          <a:noFill/>
        </p:spPr>
        <p:txBody>
          <a:bodyPr wrap="square" lIns="0" tIns="0" rIns="0" bIns="0" anchor="ctr">
            <a:spAutoFit/>
          </a:bodyPr>
          <a:lstStyle/>
          <a:p>
            <a:pPr algn="l"/>
            <a:r>
              <a:rPr sz="1050" b="0">
                <a:solidFill>
                  <a:srgbClr val="334155"/>
                </a:solidFill>
                <a:latin typeface="Calibri"/>
              </a:rPr>
              <a:t>worst realistic case</a:t>
            </a:r>
          </a:p>
        </p:txBody>
      </p:sp>
      <p:sp>
        <p:nvSpPr>
          <p:cNvPr id="45" name="a2f_nb44"/>
          <p:cNvSpPr/>
          <p:nvPr/>
        </p:nvSpPr>
        <p:spPr>
          <a:xfrm>
            <a:off x="457200" y="3150108"/>
            <a:ext cx="8229600" cy="713232"/>
          </a:xfrm>
          <a:prstGeom prst="roundRect">
            <a:avLst>
              <a:gd name="adj" fmla="val 10256"/>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2f_nacc45"/>
          <p:cNvSpPr/>
          <p:nvPr/>
        </p:nvSpPr>
        <p:spPr>
          <a:xfrm>
            <a:off x="457200" y="3150108"/>
            <a:ext cx="50292" cy="71323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a2f_nt46"/>
          <p:cNvSpPr txBox="1"/>
          <p:nvPr/>
        </p:nvSpPr>
        <p:spPr>
          <a:xfrm>
            <a:off x="658368" y="3150108"/>
            <a:ext cx="7827264" cy="713232"/>
          </a:xfrm>
          <a:prstGeom prst="rect">
            <a:avLst/>
          </a:prstGeom>
          <a:noFill/>
        </p:spPr>
        <p:txBody>
          <a:bodyPr wrap="square" lIns="0" tIns="0" rIns="0" bIns="0" anchor="ctr">
            <a:spAutoFit/>
          </a:bodyPr>
          <a:lstStyle/>
          <a:p>
            <a:pPr algn="l"/>
            <a:r>
              <a:rPr sz="1150" b="1">
                <a:solidFill>
                  <a:srgbClr val="A90533"/>
                </a:solidFill>
                <a:latin typeface="Calibri"/>
              </a:rPr>
              <a:t>!  </a:t>
            </a:r>
            <a:r>
              <a:rPr sz="1150" b="0">
                <a:solidFill>
                  <a:srgbClr val="334155"/>
                </a:solidFill>
                <a:latin typeface="Calibri"/>
              </a:rPr>
              <a:t>Row 2 is why you cannot trust the obvious benchmark. List.duplicate/2 stores one binary a million times, so == compares a pointer with itself and wins. Parsed input gives you distinct binaries — rows 3 and 4 — and there the atom is 2–3x ahead, whatever the name's length.</a:t>
            </a:r>
          </a:p>
        </p:txBody>
      </p:sp>
      <p:sp>
        <p:nvSpPr>
          <p:cNvPr id="48" name="a3u_dot47"/>
          <p:cNvSpPr/>
          <p:nvPr/>
        </p:nvSpPr>
        <p:spPr>
          <a:xfrm>
            <a:off x="457200" y="401421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 name="a3u_b48"/>
          <p:cNvSpPr txBox="1"/>
          <p:nvPr/>
        </p:nvSpPr>
        <p:spPr>
          <a:xfrm>
            <a:off x="676656" y="3913632"/>
            <a:ext cx="8010144" cy="365760"/>
          </a:xfrm>
          <a:prstGeom prst="rect">
            <a:avLst/>
          </a:prstGeom>
          <a:noFill/>
        </p:spPr>
        <p:txBody>
          <a:bodyPr wrap="square" lIns="0" tIns="0" rIns="0" bIns="0" anchor="t">
            <a:spAutoFit/>
          </a:bodyPr>
          <a:lstStyle/>
          <a:p>
            <a:pPr algn="l"/>
            <a:r>
              <a:rPr sz="1150" b="1">
                <a:solidFill>
                  <a:srgbClr val="0F172A"/>
                </a:solidFill>
                <a:latin typeface="Calibri"/>
              </a:rPr>
              <a:t>The claim is not that atoms are fast  </a:t>
            </a:r>
            <a:r>
              <a:rPr sz="1150" b="0">
                <a:solidFill>
                  <a:srgbClr val="334155"/>
                </a:solidFill>
                <a:latin typeface="Calibri"/>
              </a:rPr>
              <a:t>it is that an atom compares in constant time and a binary does not</a:t>
            </a:r>
          </a:p>
        </p:txBody>
      </p:sp>
      <p:sp>
        <p:nvSpPr>
          <p:cNvPr id="50" name="ft49"/>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51" name="ft50"/>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fade">
                                      <p:cBhvr>
                                        <p:cTn id="25" dur="500"/>
                                        <p:tgtEl>
                                          <p:spTgt spid="3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500"/>
                                        <p:tgtEl>
                                          <p:spTgt spid="36"/>
                                        </p:tgtEl>
                                      </p:cBhvr>
                                    </p:animEffect>
                                  </p:childTnLst>
                                </p:cTn>
                              </p:par>
                              <p:par>
                                <p:cTn id="29" presetID="22" presetClass="entr" presetSubtype="8" fill="hold" grpId="0" nodeType="withEffect">
                                  <p:stCondLst>
                                    <p:cond delay="11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par>
                                <p:cTn id="32" presetID="22" presetClass="entr" presetSubtype="8" fill="hold" grpId="0" nodeType="withEffect">
                                  <p:stCondLst>
                                    <p:cond delay="11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par>
                                <p:cTn id="35" presetID="22" presetClass="entr" presetSubtype="8" fill="hold" grpId="0" nodeType="withEffect">
                                  <p:stCondLst>
                                    <p:cond delay="110"/>
                                  </p:stCondLst>
                                  <p:childTnLst>
                                    <p:set>
                                      <p:cBhvr>
                                        <p:cTn id="36" dur="1" fill="hold">
                                          <p:stCondLst>
                                            <p:cond delay="0"/>
                                          </p:stCondLst>
                                        </p:cTn>
                                        <p:tgtEl>
                                          <p:spTgt spid="17"/>
                                        </p:tgtEl>
                                        <p:attrNameLst>
                                          <p:attrName>style.visibility</p:attrName>
                                        </p:attrNameLst>
                                      </p:cBhvr>
                                      <p:to>
                                        <p:strVal val="visible"/>
                                      </p:to>
                                    </p:set>
                                    <p:animEffect transition="in" filter="wipe(left)">
                                      <p:cBhvr>
                                        <p:cTn id="37" dur="500"/>
                                        <p:tgtEl>
                                          <p:spTgt spid="17"/>
                                        </p:tgtEl>
                                      </p:cBhvr>
                                    </p:animEffect>
                                  </p:childTnLst>
                                </p:cTn>
                              </p:par>
                              <p:par>
                                <p:cTn id="38" presetID="22" presetClass="entr" presetSubtype="8" fill="hold" grpId="0" nodeType="withEffect">
                                  <p:stCondLst>
                                    <p:cond delay="11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par>
                                <p:cTn id="41" presetID="22" presetClass="entr" presetSubtype="8" fill="hold" grpId="0" nodeType="withEffect">
                                  <p:stCondLst>
                                    <p:cond delay="11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par>
                                <p:cTn id="44" presetID="22" presetClass="entr" presetSubtype="8" fill="hold" grpId="0" nodeType="withEffect">
                                  <p:stCondLst>
                                    <p:cond delay="11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par>
                                <p:cTn id="47" presetID="22" presetClass="entr" presetSubtype="8" fill="hold" grpId="0" nodeType="withEffect">
                                  <p:stCondLst>
                                    <p:cond delay="110"/>
                                  </p:stCondLst>
                                  <p:childTnLst>
                                    <p:set>
                                      <p:cBhvr>
                                        <p:cTn id="48" dur="1" fill="hold">
                                          <p:stCondLst>
                                            <p:cond delay="0"/>
                                          </p:stCondLst>
                                        </p:cTn>
                                        <p:tgtEl>
                                          <p:spTgt spid="37"/>
                                        </p:tgtEl>
                                        <p:attrNameLst>
                                          <p:attrName>style.visibility</p:attrName>
                                        </p:attrNameLst>
                                      </p:cBhvr>
                                      <p:to>
                                        <p:strVal val="visible"/>
                                      </p:to>
                                    </p:set>
                                    <p:animEffect transition="in" filter="wipe(left)">
                                      <p:cBhvr>
                                        <p:cTn id="49" dur="500"/>
                                        <p:tgtEl>
                                          <p:spTgt spid="37"/>
                                        </p:tgtEl>
                                      </p:cBhvr>
                                    </p:animEffect>
                                  </p:childTnLst>
                                </p:cTn>
                              </p:par>
                              <p:par>
                                <p:cTn id="50" presetID="22" presetClass="entr" presetSubtype="8" fill="hold" grpId="0" nodeType="withEffect">
                                  <p:stCondLst>
                                    <p:cond delay="11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500"/>
                                        <p:tgtEl>
                                          <p:spTgt spid="38"/>
                                        </p:tgtEl>
                                      </p:cBhvr>
                                    </p:animEffect>
                                  </p:childTnLst>
                                </p:cTn>
                              </p:par>
                              <p:par>
                                <p:cTn id="53" presetID="22" presetClass="entr" presetSubtype="8" fill="hold" grpId="0" nodeType="withEffect">
                                  <p:stCondLst>
                                    <p:cond delay="22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par>
                                <p:cTn id="56" presetID="22" presetClass="entr" presetSubtype="8" fill="hold" grpId="0" nodeType="withEffect">
                                  <p:stCondLst>
                                    <p:cond delay="220"/>
                                  </p:stCondLst>
                                  <p:childTnLst>
                                    <p:set>
                                      <p:cBhvr>
                                        <p:cTn id="57" dur="1" fill="hold">
                                          <p:stCondLst>
                                            <p:cond delay="0"/>
                                          </p:stCondLst>
                                        </p:cTn>
                                        <p:tgtEl>
                                          <p:spTgt spid="10"/>
                                        </p:tgtEl>
                                        <p:attrNameLst>
                                          <p:attrName>style.visibility</p:attrName>
                                        </p:attrNameLst>
                                      </p:cBhvr>
                                      <p:to>
                                        <p:strVal val="visible"/>
                                      </p:to>
                                    </p:set>
                                    <p:animEffect transition="in" filter="wipe(left)">
                                      <p:cBhvr>
                                        <p:cTn id="58" dur="500"/>
                                        <p:tgtEl>
                                          <p:spTgt spid="10"/>
                                        </p:tgtEl>
                                      </p:cBhvr>
                                    </p:animEffect>
                                  </p:childTnLst>
                                </p:cTn>
                              </p:par>
                              <p:par>
                                <p:cTn id="59" presetID="22" presetClass="entr" presetSubtype="8" fill="hold" grpId="0" nodeType="withEffect">
                                  <p:stCondLst>
                                    <p:cond delay="220"/>
                                  </p:stCondLst>
                                  <p:childTnLst>
                                    <p:set>
                                      <p:cBhvr>
                                        <p:cTn id="60" dur="1" fill="hold">
                                          <p:stCondLst>
                                            <p:cond delay="0"/>
                                          </p:stCondLst>
                                        </p:cTn>
                                        <p:tgtEl>
                                          <p:spTgt spid="19"/>
                                        </p:tgtEl>
                                        <p:attrNameLst>
                                          <p:attrName>style.visibility</p:attrName>
                                        </p:attrNameLst>
                                      </p:cBhvr>
                                      <p:to>
                                        <p:strVal val="visible"/>
                                      </p:to>
                                    </p:set>
                                    <p:animEffect transition="in" filter="wipe(left)">
                                      <p:cBhvr>
                                        <p:cTn id="61" dur="500"/>
                                        <p:tgtEl>
                                          <p:spTgt spid="19"/>
                                        </p:tgtEl>
                                      </p:cBhvr>
                                    </p:animEffect>
                                  </p:childTnLst>
                                </p:cTn>
                              </p:par>
                              <p:par>
                                <p:cTn id="62" presetID="22" presetClass="entr" presetSubtype="8" fill="hold" grpId="0" nodeType="withEffect">
                                  <p:stCondLst>
                                    <p:cond delay="22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22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par>
                                <p:cTn id="68" presetID="22" presetClass="entr" presetSubtype="8" fill="hold" grpId="0" nodeType="withEffect">
                                  <p:stCondLst>
                                    <p:cond delay="220"/>
                                  </p:stCondLst>
                                  <p:childTnLst>
                                    <p:set>
                                      <p:cBhvr>
                                        <p:cTn id="69" dur="1" fill="hold">
                                          <p:stCondLst>
                                            <p:cond delay="0"/>
                                          </p:stCondLst>
                                        </p:cTn>
                                        <p:tgtEl>
                                          <p:spTgt spid="30"/>
                                        </p:tgtEl>
                                        <p:attrNameLst>
                                          <p:attrName>style.visibility</p:attrName>
                                        </p:attrNameLst>
                                      </p:cBhvr>
                                      <p:to>
                                        <p:strVal val="visible"/>
                                      </p:to>
                                    </p:set>
                                    <p:animEffect transition="in" filter="wipe(left)">
                                      <p:cBhvr>
                                        <p:cTn id="70" dur="500"/>
                                        <p:tgtEl>
                                          <p:spTgt spid="30"/>
                                        </p:tgtEl>
                                      </p:cBhvr>
                                    </p:animEffect>
                                  </p:childTnLst>
                                </p:cTn>
                              </p:par>
                              <p:par>
                                <p:cTn id="71" presetID="22" presetClass="entr" presetSubtype="8" fill="hold" grpId="0" nodeType="withEffect">
                                  <p:stCondLst>
                                    <p:cond delay="220"/>
                                  </p:stCondLst>
                                  <p:childTnLst>
                                    <p:set>
                                      <p:cBhvr>
                                        <p:cTn id="72" dur="1" fill="hold">
                                          <p:stCondLst>
                                            <p:cond delay="0"/>
                                          </p:stCondLst>
                                        </p:cTn>
                                        <p:tgtEl>
                                          <p:spTgt spid="39"/>
                                        </p:tgtEl>
                                        <p:attrNameLst>
                                          <p:attrName>style.visibility</p:attrName>
                                        </p:attrNameLst>
                                      </p:cBhvr>
                                      <p:to>
                                        <p:strVal val="visible"/>
                                      </p:to>
                                    </p:set>
                                    <p:animEffect transition="in" filter="wipe(left)">
                                      <p:cBhvr>
                                        <p:cTn id="73" dur="500"/>
                                        <p:tgtEl>
                                          <p:spTgt spid="39"/>
                                        </p:tgtEl>
                                      </p:cBhvr>
                                    </p:animEffect>
                                  </p:childTnLst>
                                </p:cTn>
                              </p:par>
                              <p:par>
                                <p:cTn id="74" presetID="22" presetClass="entr" presetSubtype="8" fill="hold" grpId="0" nodeType="withEffect">
                                  <p:stCondLst>
                                    <p:cond delay="220"/>
                                  </p:stCondLst>
                                  <p:childTnLst>
                                    <p:set>
                                      <p:cBhvr>
                                        <p:cTn id="75" dur="1" fill="hold">
                                          <p:stCondLst>
                                            <p:cond delay="0"/>
                                          </p:stCondLst>
                                        </p:cTn>
                                        <p:tgtEl>
                                          <p:spTgt spid="40"/>
                                        </p:tgtEl>
                                        <p:attrNameLst>
                                          <p:attrName>style.visibility</p:attrName>
                                        </p:attrNameLst>
                                      </p:cBhvr>
                                      <p:to>
                                        <p:strVal val="visible"/>
                                      </p:to>
                                    </p:set>
                                    <p:animEffect transition="in" filter="wipe(left)">
                                      <p:cBhvr>
                                        <p:cTn id="76" dur="500"/>
                                        <p:tgtEl>
                                          <p:spTgt spid="40"/>
                                        </p:tgtEl>
                                      </p:cBhvr>
                                    </p:animEffect>
                                  </p:childTnLst>
                                </p:cTn>
                              </p:par>
                              <p:par>
                                <p:cTn id="77" presetID="22" presetClass="entr" presetSubtype="8" fill="hold" grpId="0" nodeType="withEffect">
                                  <p:stCondLst>
                                    <p:cond delay="330"/>
                                  </p:stCondLst>
                                  <p:childTnLst>
                                    <p:set>
                                      <p:cBhvr>
                                        <p:cTn id="78" dur="1" fill="hold">
                                          <p:stCondLst>
                                            <p:cond delay="0"/>
                                          </p:stCondLst>
                                        </p:cTn>
                                        <p:tgtEl>
                                          <p:spTgt spid="11"/>
                                        </p:tgtEl>
                                        <p:attrNameLst>
                                          <p:attrName>style.visibility</p:attrName>
                                        </p:attrNameLst>
                                      </p:cBhvr>
                                      <p:to>
                                        <p:strVal val="visible"/>
                                      </p:to>
                                    </p:set>
                                    <p:animEffect transition="in" filter="wipe(left)">
                                      <p:cBhvr>
                                        <p:cTn id="79" dur="500"/>
                                        <p:tgtEl>
                                          <p:spTgt spid="11"/>
                                        </p:tgtEl>
                                      </p:cBhvr>
                                    </p:animEffect>
                                  </p:childTnLst>
                                </p:cTn>
                              </p:par>
                              <p:par>
                                <p:cTn id="80" presetID="22" presetClass="entr" presetSubtype="8" fill="hold" grpId="0" nodeType="withEffect">
                                  <p:stCondLst>
                                    <p:cond delay="330"/>
                                  </p:stCondLst>
                                  <p:childTnLst>
                                    <p:set>
                                      <p:cBhvr>
                                        <p:cTn id="81" dur="1" fill="hold">
                                          <p:stCondLst>
                                            <p:cond delay="0"/>
                                          </p:stCondLst>
                                        </p:cTn>
                                        <p:tgtEl>
                                          <p:spTgt spid="12"/>
                                        </p:tgtEl>
                                        <p:attrNameLst>
                                          <p:attrName>style.visibility</p:attrName>
                                        </p:attrNameLst>
                                      </p:cBhvr>
                                      <p:to>
                                        <p:strVal val="visible"/>
                                      </p:to>
                                    </p:set>
                                    <p:animEffect transition="in" filter="wipe(left)">
                                      <p:cBhvr>
                                        <p:cTn id="82" dur="500"/>
                                        <p:tgtEl>
                                          <p:spTgt spid="12"/>
                                        </p:tgtEl>
                                      </p:cBhvr>
                                    </p:animEffect>
                                  </p:childTnLst>
                                </p:cTn>
                              </p:par>
                              <p:par>
                                <p:cTn id="83" presetID="22" presetClass="entr" presetSubtype="8" fill="hold" grpId="0" nodeType="withEffect">
                                  <p:stCondLst>
                                    <p:cond delay="330"/>
                                  </p:stCondLst>
                                  <p:childTnLst>
                                    <p:set>
                                      <p:cBhvr>
                                        <p:cTn id="84" dur="1" fill="hold">
                                          <p:stCondLst>
                                            <p:cond delay="0"/>
                                          </p:stCondLst>
                                        </p:cTn>
                                        <p:tgtEl>
                                          <p:spTgt spid="21"/>
                                        </p:tgtEl>
                                        <p:attrNameLst>
                                          <p:attrName>style.visibility</p:attrName>
                                        </p:attrNameLst>
                                      </p:cBhvr>
                                      <p:to>
                                        <p:strVal val="visible"/>
                                      </p:to>
                                    </p:set>
                                    <p:animEffect transition="in" filter="wipe(left)">
                                      <p:cBhvr>
                                        <p:cTn id="85" dur="500"/>
                                        <p:tgtEl>
                                          <p:spTgt spid="21"/>
                                        </p:tgtEl>
                                      </p:cBhvr>
                                    </p:animEffect>
                                  </p:childTnLst>
                                </p:cTn>
                              </p:par>
                              <p:par>
                                <p:cTn id="86" presetID="22" presetClass="entr" presetSubtype="8" fill="hold" grpId="0" nodeType="withEffect">
                                  <p:stCondLst>
                                    <p:cond delay="330"/>
                                  </p:stCondLst>
                                  <p:childTnLst>
                                    <p:set>
                                      <p:cBhvr>
                                        <p:cTn id="87" dur="1" fill="hold">
                                          <p:stCondLst>
                                            <p:cond delay="0"/>
                                          </p:stCondLst>
                                        </p:cTn>
                                        <p:tgtEl>
                                          <p:spTgt spid="22"/>
                                        </p:tgtEl>
                                        <p:attrNameLst>
                                          <p:attrName>style.visibility</p:attrName>
                                        </p:attrNameLst>
                                      </p:cBhvr>
                                      <p:to>
                                        <p:strVal val="visible"/>
                                      </p:to>
                                    </p:set>
                                    <p:animEffect transition="in" filter="wipe(left)">
                                      <p:cBhvr>
                                        <p:cTn id="88" dur="500"/>
                                        <p:tgtEl>
                                          <p:spTgt spid="22"/>
                                        </p:tgtEl>
                                      </p:cBhvr>
                                    </p:animEffect>
                                  </p:childTnLst>
                                </p:cTn>
                              </p:par>
                              <p:par>
                                <p:cTn id="89" presetID="22" presetClass="entr" presetSubtype="8" fill="hold" grpId="0" nodeType="withEffect">
                                  <p:stCondLst>
                                    <p:cond delay="330"/>
                                  </p:stCondLst>
                                  <p:childTnLst>
                                    <p:set>
                                      <p:cBhvr>
                                        <p:cTn id="90" dur="1" fill="hold">
                                          <p:stCondLst>
                                            <p:cond delay="0"/>
                                          </p:stCondLst>
                                        </p:cTn>
                                        <p:tgtEl>
                                          <p:spTgt spid="31"/>
                                        </p:tgtEl>
                                        <p:attrNameLst>
                                          <p:attrName>style.visibility</p:attrName>
                                        </p:attrNameLst>
                                      </p:cBhvr>
                                      <p:to>
                                        <p:strVal val="visible"/>
                                      </p:to>
                                    </p:set>
                                    <p:animEffect transition="in" filter="wipe(left)">
                                      <p:cBhvr>
                                        <p:cTn id="91" dur="500"/>
                                        <p:tgtEl>
                                          <p:spTgt spid="31"/>
                                        </p:tgtEl>
                                      </p:cBhvr>
                                    </p:animEffect>
                                  </p:childTnLst>
                                </p:cTn>
                              </p:par>
                              <p:par>
                                <p:cTn id="92" presetID="22" presetClass="entr" presetSubtype="8" fill="hold" grpId="0" nodeType="withEffect">
                                  <p:stCondLst>
                                    <p:cond delay="330"/>
                                  </p:stCondLst>
                                  <p:childTnLst>
                                    <p:set>
                                      <p:cBhvr>
                                        <p:cTn id="93" dur="1" fill="hold">
                                          <p:stCondLst>
                                            <p:cond delay="0"/>
                                          </p:stCondLst>
                                        </p:cTn>
                                        <p:tgtEl>
                                          <p:spTgt spid="32"/>
                                        </p:tgtEl>
                                        <p:attrNameLst>
                                          <p:attrName>style.visibility</p:attrName>
                                        </p:attrNameLst>
                                      </p:cBhvr>
                                      <p:to>
                                        <p:strVal val="visible"/>
                                      </p:to>
                                    </p:set>
                                    <p:animEffect transition="in" filter="wipe(left)">
                                      <p:cBhvr>
                                        <p:cTn id="94" dur="500"/>
                                        <p:tgtEl>
                                          <p:spTgt spid="32"/>
                                        </p:tgtEl>
                                      </p:cBhvr>
                                    </p:animEffect>
                                  </p:childTnLst>
                                </p:cTn>
                              </p:par>
                              <p:par>
                                <p:cTn id="95" presetID="22" presetClass="entr" presetSubtype="8" fill="hold" grpId="0" nodeType="withEffect">
                                  <p:stCondLst>
                                    <p:cond delay="330"/>
                                  </p:stCondLst>
                                  <p:childTnLst>
                                    <p:set>
                                      <p:cBhvr>
                                        <p:cTn id="96" dur="1" fill="hold">
                                          <p:stCondLst>
                                            <p:cond delay="0"/>
                                          </p:stCondLst>
                                        </p:cTn>
                                        <p:tgtEl>
                                          <p:spTgt spid="41"/>
                                        </p:tgtEl>
                                        <p:attrNameLst>
                                          <p:attrName>style.visibility</p:attrName>
                                        </p:attrNameLst>
                                      </p:cBhvr>
                                      <p:to>
                                        <p:strVal val="visible"/>
                                      </p:to>
                                    </p:set>
                                    <p:animEffect transition="in" filter="wipe(left)">
                                      <p:cBhvr>
                                        <p:cTn id="97" dur="500"/>
                                        <p:tgtEl>
                                          <p:spTgt spid="41"/>
                                        </p:tgtEl>
                                      </p:cBhvr>
                                    </p:animEffect>
                                  </p:childTnLst>
                                </p:cTn>
                              </p:par>
                              <p:par>
                                <p:cTn id="98" presetID="22" presetClass="entr" presetSubtype="8" fill="hold" grpId="0" nodeType="withEffect">
                                  <p:stCondLst>
                                    <p:cond delay="330"/>
                                  </p:stCondLst>
                                  <p:childTnLst>
                                    <p:set>
                                      <p:cBhvr>
                                        <p:cTn id="99" dur="1" fill="hold">
                                          <p:stCondLst>
                                            <p:cond delay="0"/>
                                          </p:stCondLst>
                                        </p:cTn>
                                        <p:tgtEl>
                                          <p:spTgt spid="42"/>
                                        </p:tgtEl>
                                        <p:attrNameLst>
                                          <p:attrName>style.visibility</p:attrName>
                                        </p:attrNameLst>
                                      </p:cBhvr>
                                      <p:to>
                                        <p:strVal val="visible"/>
                                      </p:to>
                                    </p:set>
                                    <p:animEffect transition="in" filter="wipe(left)">
                                      <p:cBhvr>
                                        <p:cTn id="100" dur="500"/>
                                        <p:tgtEl>
                                          <p:spTgt spid="42"/>
                                        </p:tgtEl>
                                      </p:cBhvr>
                                    </p:animEffect>
                                  </p:childTnLst>
                                </p:cTn>
                              </p:par>
                              <p:par>
                                <p:cTn id="101" presetID="22" presetClass="entr" presetSubtype="8" fill="hold" grpId="0" nodeType="withEffect">
                                  <p:stCondLst>
                                    <p:cond delay="440"/>
                                  </p:stCondLst>
                                  <p:childTnLst>
                                    <p:set>
                                      <p:cBhvr>
                                        <p:cTn id="102" dur="1" fill="hold">
                                          <p:stCondLst>
                                            <p:cond delay="0"/>
                                          </p:stCondLst>
                                        </p:cTn>
                                        <p:tgtEl>
                                          <p:spTgt spid="13"/>
                                        </p:tgtEl>
                                        <p:attrNameLst>
                                          <p:attrName>style.visibility</p:attrName>
                                        </p:attrNameLst>
                                      </p:cBhvr>
                                      <p:to>
                                        <p:strVal val="visible"/>
                                      </p:to>
                                    </p:set>
                                    <p:animEffect transition="in" filter="wipe(left)">
                                      <p:cBhvr>
                                        <p:cTn id="103" dur="500"/>
                                        <p:tgtEl>
                                          <p:spTgt spid="13"/>
                                        </p:tgtEl>
                                      </p:cBhvr>
                                    </p:animEffect>
                                  </p:childTnLst>
                                </p:cTn>
                              </p:par>
                              <p:par>
                                <p:cTn id="104" presetID="22" presetClass="entr" presetSubtype="8" fill="hold" grpId="0" nodeType="withEffect">
                                  <p:stCondLst>
                                    <p:cond delay="440"/>
                                  </p:stCondLst>
                                  <p:childTnLst>
                                    <p:set>
                                      <p:cBhvr>
                                        <p:cTn id="105" dur="1" fill="hold">
                                          <p:stCondLst>
                                            <p:cond delay="0"/>
                                          </p:stCondLst>
                                        </p:cTn>
                                        <p:tgtEl>
                                          <p:spTgt spid="14"/>
                                        </p:tgtEl>
                                        <p:attrNameLst>
                                          <p:attrName>style.visibility</p:attrName>
                                        </p:attrNameLst>
                                      </p:cBhvr>
                                      <p:to>
                                        <p:strVal val="visible"/>
                                      </p:to>
                                    </p:set>
                                    <p:animEffect transition="in" filter="wipe(left)">
                                      <p:cBhvr>
                                        <p:cTn id="106" dur="500"/>
                                        <p:tgtEl>
                                          <p:spTgt spid="14"/>
                                        </p:tgtEl>
                                      </p:cBhvr>
                                    </p:animEffect>
                                  </p:childTnLst>
                                </p:cTn>
                              </p:par>
                              <p:par>
                                <p:cTn id="107" presetID="22" presetClass="entr" presetSubtype="8" fill="hold" grpId="0" nodeType="withEffect">
                                  <p:stCondLst>
                                    <p:cond delay="440"/>
                                  </p:stCondLst>
                                  <p:childTnLst>
                                    <p:set>
                                      <p:cBhvr>
                                        <p:cTn id="108" dur="1" fill="hold">
                                          <p:stCondLst>
                                            <p:cond delay="0"/>
                                          </p:stCondLst>
                                        </p:cTn>
                                        <p:tgtEl>
                                          <p:spTgt spid="23"/>
                                        </p:tgtEl>
                                        <p:attrNameLst>
                                          <p:attrName>style.visibility</p:attrName>
                                        </p:attrNameLst>
                                      </p:cBhvr>
                                      <p:to>
                                        <p:strVal val="visible"/>
                                      </p:to>
                                    </p:set>
                                    <p:animEffect transition="in" filter="wipe(left)">
                                      <p:cBhvr>
                                        <p:cTn id="109" dur="500"/>
                                        <p:tgtEl>
                                          <p:spTgt spid="23"/>
                                        </p:tgtEl>
                                      </p:cBhvr>
                                    </p:animEffect>
                                  </p:childTnLst>
                                </p:cTn>
                              </p:par>
                              <p:par>
                                <p:cTn id="110" presetID="22" presetClass="entr" presetSubtype="8" fill="hold" grpId="0" nodeType="withEffect">
                                  <p:stCondLst>
                                    <p:cond delay="440"/>
                                  </p:stCondLst>
                                  <p:childTnLst>
                                    <p:set>
                                      <p:cBhvr>
                                        <p:cTn id="111" dur="1" fill="hold">
                                          <p:stCondLst>
                                            <p:cond delay="0"/>
                                          </p:stCondLst>
                                        </p:cTn>
                                        <p:tgtEl>
                                          <p:spTgt spid="24"/>
                                        </p:tgtEl>
                                        <p:attrNameLst>
                                          <p:attrName>style.visibility</p:attrName>
                                        </p:attrNameLst>
                                      </p:cBhvr>
                                      <p:to>
                                        <p:strVal val="visible"/>
                                      </p:to>
                                    </p:set>
                                    <p:animEffect transition="in" filter="wipe(left)">
                                      <p:cBhvr>
                                        <p:cTn id="112" dur="500"/>
                                        <p:tgtEl>
                                          <p:spTgt spid="24"/>
                                        </p:tgtEl>
                                      </p:cBhvr>
                                    </p:animEffect>
                                  </p:childTnLst>
                                </p:cTn>
                              </p:par>
                              <p:par>
                                <p:cTn id="113" presetID="22" presetClass="entr" presetSubtype="8" fill="hold" grpId="0" nodeType="withEffect">
                                  <p:stCondLst>
                                    <p:cond delay="440"/>
                                  </p:stCondLst>
                                  <p:childTnLst>
                                    <p:set>
                                      <p:cBhvr>
                                        <p:cTn id="114" dur="1" fill="hold">
                                          <p:stCondLst>
                                            <p:cond delay="0"/>
                                          </p:stCondLst>
                                        </p:cTn>
                                        <p:tgtEl>
                                          <p:spTgt spid="33"/>
                                        </p:tgtEl>
                                        <p:attrNameLst>
                                          <p:attrName>style.visibility</p:attrName>
                                        </p:attrNameLst>
                                      </p:cBhvr>
                                      <p:to>
                                        <p:strVal val="visible"/>
                                      </p:to>
                                    </p:set>
                                    <p:animEffect transition="in" filter="wipe(left)">
                                      <p:cBhvr>
                                        <p:cTn id="115" dur="500"/>
                                        <p:tgtEl>
                                          <p:spTgt spid="33"/>
                                        </p:tgtEl>
                                      </p:cBhvr>
                                    </p:animEffect>
                                  </p:childTnLst>
                                </p:cTn>
                              </p:par>
                              <p:par>
                                <p:cTn id="116" presetID="22" presetClass="entr" presetSubtype="8" fill="hold" grpId="0" nodeType="withEffect">
                                  <p:stCondLst>
                                    <p:cond delay="440"/>
                                  </p:stCondLst>
                                  <p:childTnLst>
                                    <p:set>
                                      <p:cBhvr>
                                        <p:cTn id="117" dur="1" fill="hold">
                                          <p:stCondLst>
                                            <p:cond delay="0"/>
                                          </p:stCondLst>
                                        </p:cTn>
                                        <p:tgtEl>
                                          <p:spTgt spid="34"/>
                                        </p:tgtEl>
                                        <p:attrNameLst>
                                          <p:attrName>style.visibility</p:attrName>
                                        </p:attrNameLst>
                                      </p:cBhvr>
                                      <p:to>
                                        <p:strVal val="visible"/>
                                      </p:to>
                                    </p:set>
                                    <p:animEffect transition="in" filter="wipe(left)">
                                      <p:cBhvr>
                                        <p:cTn id="118" dur="500"/>
                                        <p:tgtEl>
                                          <p:spTgt spid="34"/>
                                        </p:tgtEl>
                                      </p:cBhvr>
                                    </p:animEffect>
                                  </p:childTnLst>
                                </p:cTn>
                              </p:par>
                              <p:par>
                                <p:cTn id="119" presetID="22" presetClass="entr" presetSubtype="8" fill="hold" grpId="0" nodeType="withEffect">
                                  <p:stCondLst>
                                    <p:cond delay="440"/>
                                  </p:stCondLst>
                                  <p:childTnLst>
                                    <p:set>
                                      <p:cBhvr>
                                        <p:cTn id="120" dur="1" fill="hold">
                                          <p:stCondLst>
                                            <p:cond delay="0"/>
                                          </p:stCondLst>
                                        </p:cTn>
                                        <p:tgtEl>
                                          <p:spTgt spid="43"/>
                                        </p:tgtEl>
                                        <p:attrNameLst>
                                          <p:attrName>style.visibility</p:attrName>
                                        </p:attrNameLst>
                                      </p:cBhvr>
                                      <p:to>
                                        <p:strVal val="visible"/>
                                      </p:to>
                                    </p:set>
                                    <p:animEffect transition="in" filter="wipe(left)">
                                      <p:cBhvr>
                                        <p:cTn id="121" dur="500"/>
                                        <p:tgtEl>
                                          <p:spTgt spid="43"/>
                                        </p:tgtEl>
                                      </p:cBhvr>
                                    </p:animEffect>
                                  </p:childTnLst>
                                </p:cTn>
                              </p:par>
                              <p:par>
                                <p:cTn id="122" presetID="22" presetClass="entr" presetSubtype="8" fill="hold" grpId="0" nodeType="withEffect">
                                  <p:stCondLst>
                                    <p:cond delay="440"/>
                                  </p:stCondLst>
                                  <p:childTnLst>
                                    <p:set>
                                      <p:cBhvr>
                                        <p:cTn id="123" dur="1" fill="hold">
                                          <p:stCondLst>
                                            <p:cond delay="0"/>
                                          </p:stCondLst>
                                        </p:cTn>
                                        <p:tgtEl>
                                          <p:spTgt spid="44"/>
                                        </p:tgtEl>
                                        <p:attrNameLst>
                                          <p:attrName>style.visibility</p:attrName>
                                        </p:attrNameLst>
                                      </p:cBhvr>
                                      <p:to>
                                        <p:strVal val="visible"/>
                                      </p:to>
                                    </p:set>
                                    <p:animEffect transition="in" filter="wipe(left)">
                                      <p:cBhvr>
                                        <p:cTn id="124" dur="500"/>
                                        <p:tgtEl>
                                          <p:spTgt spid="44"/>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500"/>
                                        <p:tgtEl>
                                          <p:spTgt spid="45"/>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6"/>
                                        </p:tgtEl>
                                        <p:attrNameLst>
                                          <p:attrName>style.visibility</p:attrName>
                                        </p:attrNameLst>
                                      </p:cBhvr>
                                      <p:to>
                                        <p:strVal val="visible"/>
                                      </p:to>
                                    </p:set>
                                    <p:animEffect transition="in" filter="fade">
                                      <p:cBhvr>
                                        <p:cTn id="132" dur="500"/>
                                        <p:tgtEl>
                                          <p:spTgt spid="46"/>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7"/>
                                        </p:tgtEl>
                                        <p:attrNameLst>
                                          <p:attrName>style.visibility</p:attrName>
                                        </p:attrNameLst>
                                      </p:cBhvr>
                                      <p:to>
                                        <p:strVal val="visible"/>
                                      </p:to>
                                    </p:set>
                                    <p:animEffect transition="in" filter="fade">
                                      <p:cBhvr>
                                        <p:cTn id="135" dur="500"/>
                                        <p:tgtEl>
                                          <p:spTgt spid="47"/>
                                        </p:tgtEl>
                                      </p:cBhvr>
                                    </p:animEffect>
                                  </p:childTnLst>
                                </p:cTn>
                              </p:par>
                            </p:childTnLst>
                          </p:cTn>
                        </p:par>
                      </p:childTnLst>
                    </p:cTn>
                  </p:par>
                  <p:par>
                    <p:cTn id="136" fill="hold">
                      <p:stCondLst>
                        <p:cond delay="indefinite"/>
                      </p:stCondLst>
                      <p:childTnLst>
                        <p:par>
                          <p:cTn id="137" fill="hold">
                            <p:stCondLst>
                              <p:cond delay="0"/>
                            </p:stCondLst>
                            <p:childTnLst>
                              <p:par>
                                <p:cTn id="138" presetID="2" presetClass="entr" presetSubtype="4" fill="hold" grpId="0" nodeType="clickEffect">
                                  <p:stCondLst>
                                    <p:cond delay="0"/>
                                  </p:stCondLst>
                                  <p:childTnLst>
                                    <p:set>
                                      <p:cBhvr>
                                        <p:cTn id="139" dur="1" fill="hold">
                                          <p:stCondLst>
                                            <p:cond delay="0"/>
                                          </p:stCondLst>
                                        </p:cTn>
                                        <p:tgtEl>
                                          <p:spTgt spid="48"/>
                                        </p:tgtEl>
                                        <p:attrNameLst>
                                          <p:attrName>style.visibility</p:attrName>
                                        </p:attrNameLst>
                                      </p:cBhvr>
                                      <p:to>
                                        <p:strVal val="visible"/>
                                      </p:to>
                                    </p:set>
                                    <p:anim calcmode="lin" valueType="num">
                                      <p:cBhvr additive="base">
                                        <p:cTn id="140" dur="500" fill="hold"/>
                                        <p:tgtEl>
                                          <p:spTgt spid="48"/>
                                        </p:tgtEl>
                                        <p:attrNameLst>
                                          <p:attrName>ppt_x</p:attrName>
                                        </p:attrNameLst>
                                      </p:cBhvr>
                                      <p:tavLst>
                                        <p:tav tm="0">
                                          <p:val>
                                            <p:strVal val="#ppt_x"/>
                                          </p:val>
                                        </p:tav>
                                        <p:tav tm="100000">
                                          <p:val>
                                            <p:strVal val="#ppt_x"/>
                                          </p:val>
                                        </p:tav>
                                      </p:tavLst>
                                    </p:anim>
                                    <p:anim calcmode="lin" valueType="num">
                                      <p:cBhvr additive="base">
                                        <p:cTn id="141" dur="500" fill="hold"/>
                                        <p:tgtEl>
                                          <p:spTgt spid="48"/>
                                        </p:tgtEl>
                                        <p:attrNameLst>
                                          <p:attrName>ppt_y</p:attrName>
                                        </p:attrNameLst>
                                      </p:cBhvr>
                                      <p:tavLst>
                                        <p:tav tm="0">
                                          <p:val>
                                            <p:strVal val="#ppt_y+0.1"/>
                                          </p:val>
                                        </p:tav>
                                        <p:tav tm="100000">
                                          <p:val>
                                            <p:strVal val="#ppt_y"/>
                                          </p:val>
                                        </p:tav>
                                      </p:tavLst>
                                    </p:anim>
                                    <p:animEffect transition="in" filter="fade">
                                      <p:cBhvr>
                                        <p:cTn id="142" dur="500"/>
                                        <p:tgtEl>
                                          <p:spTgt spid="48"/>
                                        </p:tgtEl>
                                      </p:cBhvr>
                                    </p:animEffect>
                                  </p:childTnLst>
                                </p:cTn>
                              </p:par>
                              <p:par>
                                <p:cTn id="143" presetID="2" presetClass="entr" presetSubtype="4" fill="hold" grpId="0" nodeType="withEffect">
                                  <p:stCondLst>
                                    <p:cond delay="0"/>
                                  </p:stCondLst>
                                  <p:childTnLst>
                                    <p:set>
                                      <p:cBhvr>
                                        <p:cTn id="144" dur="1" fill="hold">
                                          <p:stCondLst>
                                            <p:cond delay="0"/>
                                          </p:stCondLst>
                                        </p:cTn>
                                        <p:tgtEl>
                                          <p:spTgt spid="49"/>
                                        </p:tgtEl>
                                        <p:attrNameLst>
                                          <p:attrName>style.visibility</p:attrName>
                                        </p:attrNameLst>
                                      </p:cBhvr>
                                      <p:to>
                                        <p:strVal val="visible"/>
                                      </p:to>
                                    </p:set>
                                    <p:anim calcmode="lin" valueType="num">
                                      <p:cBhvr additive="base">
                                        <p:cTn id="145" dur="500" fill="hold"/>
                                        <p:tgtEl>
                                          <p:spTgt spid="49"/>
                                        </p:tgtEl>
                                        <p:attrNameLst>
                                          <p:attrName>ppt_x</p:attrName>
                                        </p:attrNameLst>
                                      </p:cBhvr>
                                      <p:tavLst>
                                        <p:tav tm="0">
                                          <p:val>
                                            <p:strVal val="#ppt_x"/>
                                          </p:val>
                                        </p:tav>
                                        <p:tav tm="100000">
                                          <p:val>
                                            <p:strVal val="#ppt_x"/>
                                          </p:val>
                                        </p:tav>
                                      </p:tavLst>
                                    </p:anim>
                                    <p:anim calcmode="lin" valueType="num">
                                      <p:cBhvr additive="base">
                                        <p:cTn id="146" dur="500" fill="hold"/>
                                        <p:tgtEl>
                                          <p:spTgt spid="49"/>
                                        </p:tgtEl>
                                        <p:attrNameLst>
                                          <p:attrName>ppt_y</p:attrName>
                                        </p:attrNameLst>
                                      </p:cBhvr>
                                      <p:tavLst>
                                        <p:tav tm="0">
                                          <p:val>
                                            <p:strVal val="#ppt_y+0.1"/>
                                          </p:val>
                                        </p:tav>
                                        <p:tav tm="100000">
                                          <p:val>
                                            <p:strVal val="#ppt_y"/>
                                          </p:val>
                                        </p:tav>
                                      </p:tavLst>
                                    </p:anim>
                                    <p:animEffect transition="in" filter="fade">
                                      <p:cBhvr>
                                        <p:cTn id="147"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ATOM vs STRING</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As a map key, an atom wins on both counts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Faster to look up, and smaller to store.</a:t>
            </a:r>
          </a:p>
        </p:txBody>
      </p:sp>
      <p:sp>
        <p:nvSpPr>
          <p:cNvPr id="5" name="a1f_codebg4"/>
          <p:cNvSpPr/>
          <p:nvPr/>
        </p:nvSpPr>
        <p:spPr>
          <a:xfrm>
            <a:off x="457200" y="1362456"/>
            <a:ext cx="416052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3831335" cy="219456"/>
          </a:xfrm>
          <a:prstGeom prst="rect">
            <a:avLst/>
          </a:prstGeom>
          <a:noFill/>
        </p:spPr>
        <p:txBody>
          <a:bodyPr wrap="square" lIns="0" tIns="0" rIns="0" bIns="0" anchor="ctr">
            <a:spAutoFit/>
          </a:bodyPr>
          <a:lstStyle/>
          <a:p>
            <a:pPr algn="l"/>
            <a:r>
              <a:rPr sz="950" b="1">
                <a:solidFill>
                  <a:srgbClr val="64748B"/>
                </a:solidFill>
                <a:latin typeface="Courier New"/>
              </a:rPr>
              <a:t>REAL · lookup time</a:t>
            </a:r>
          </a:p>
        </p:txBody>
      </p:sp>
      <p:sp>
        <p:nvSpPr>
          <p:cNvPr id="7" name="a1w_code6"/>
          <p:cNvSpPr txBox="1"/>
          <p:nvPr/>
        </p:nvSpPr>
        <p:spPr>
          <a:xfrm>
            <a:off x="621792" y="1801368"/>
            <a:ext cx="3831335" cy="214884"/>
          </a:xfrm>
          <a:prstGeom prst="rect">
            <a:avLst/>
          </a:prstGeom>
          <a:noFill/>
        </p:spPr>
        <p:txBody>
          <a:bodyPr wrap="none" lIns="0" tIns="0" rIns="0" bIns="0" anchor="ctr">
            <a:spAutoFit/>
          </a:bodyPr>
          <a:lstStyle/>
          <a:p>
            <a:pPr algn="l"/>
            <a:r>
              <a:rPr sz="1000" b="0">
                <a:solidFill>
                  <a:srgbClr val="64748B"/>
                </a:solidFill>
                <a:latin typeface="Courier New"/>
              </a:rPr>
              <a:t># 1,000,000 Map.fetch!/2 calls</a:t>
            </a:r>
          </a:p>
        </p:txBody>
      </p:sp>
      <p:sp>
        <p:nvSpPr>
          <p:cNvPr id="8" name="a1wd80_code7"/>
          <p:cNvSpPr txBox="1"/>
          <p:nvPr/>
        </p:nvSpPr>
        <p:spPr>
          <a:xfrm>
            <a:off x="621792" y="2016252"/>
            <a:ext cx="3831335" cy="214884"/>
          </a:xfrm>
          <a:prstGeom prst="rect">
            <a:avLst/>
          </a:prstGeom>
          <a:noFill/>
        </p:spPr>
        <p:txBody>
          <a:bodyPr wrap="none" lIns="0" tIns="0" rIns="0" bIns="0" anchor="ctr">
            <a:spAutoFit/>
          </a:bodyPr>
          <a:lstStyle/>
          <a:p>
            <a:pPr algn="l"/>
            <a:endParaRPr/>
          </a:p>
        </p:txBody>
      </p:sp>
      <p:sp>
        <p:nvSpPr>
          <p:cNvPr id="9" name="a1wd160_code8"/>
          <p:cNvSpPr txBox="1"/>
          <p:nvPr/>
        </p:nvSpPr>
        <p:spPr>
          <a:xfrm>
            <a:off x="621792" y="2231136"/>
            <a:ext cx="3831335" cy="214884"/>
          </a:xfrm>
          <a:prstGeom prst="rect">
            <a:avLst/>
          </a:prstGeom>
          <a:noFill/>
        </p:spPr>
        <p:txBody>
          <a:bodyPr wrap="none" lIns="0" tIns="0" rIns="0" bIns="0" anchor="ctr">
            <a:spAutoFit/>
          </a:bodyPr>
          <a:lstStyle/>
          <a:p>
            <a:pPr algn="l"/>
            <a:r>
              <a:rPr sz="1000" b="1">
                <a:solidFill>
                  <a:srgbClr val="C9B3E8"/>
                </a:solidFill>
                <a:latin typeface="Courier New"/>
              </a:rPr>
              <a:t>%{some_status_value: 1}</a:t>
            </a:r>
          </a:p>
        </p:txBody>
      </p:sp>
      <p:sp>
        <p:nvSpPr>
          <p:cNvPr id="10" name="a1wd240_code9"/>
          <p:cNvSpPr txBox="1"/>
          <p:nvPr/>
        </p:nvSpPr>
        <p:spPr>
          <a:xfrm>
            <a:off x="621792" y="2446020"/>
            <a:ext cx="3831335" cy="214884"/>
          </a:xfrm>
          <a:prstGeom prst="rect">
            <a:avLst/>
          </a:prstGeom>
          <a:noFill/>
        </p:spPr>
        <p:txBody>
          <a:bodyPr wrap="none" lIns="0" tIns="0" rIns="0" bIns="0" anchor="ctr">
            <a:spAutoFit/>
          </a:bodyPr>
          <a:lstStyle/>
          <a:p>
            <a:pPr algn="l"/>
            <a:r>
              <a:rPr sz="1000" b="0">
                <a:solidFill>
                  <a:srgbClr val="14B8A6"/>
                </a:solidFill>
                <a:latin typeface="Courier New"/>
              </a:rPr>
              <a:t>  10,649 us</a:t>
            </a:r>
          </a:p>
        </p:txBody>
      </p:sp>
      <p:sp>
        <p:nvSpPr>
          <p:cNvPr id="11" name="a1wd320_code10"/>
          <p:cNvSpPr txBox="1"/>
          <p:nvPr/>
        </p:nvSpPr>
        <p:spPr>
          <a:xfrm>
            <a:off x="621792" y="2660904"/>
            <a:ext cx="3831335" cy="214884"/>
          </a:xfrm>
          <a:prstGeom prst="rect">
            <a:avLst/>
          </a:prstGeom>
          <a:noFill/>
        </p:spPr>
        <p:txBody>
          <a:bodyPr wrap="none" lIns="0" tIns="0" rIns="0" bIns="0" anchor="ctr">
            <a:spAutoFit/>
          </a:bodyPr>
          <a:lstStyle/>
          <a:p>
            <a:pPr algn="l"/>
            <a:endParaRPr/>
          </a:p>
        </p:txBody>
      </p:sp>
      <p:sp>
        <p:nvSpPr>
          <p:cNvPr id="12" name="a1wd400_code11"/>
          <p:cNvSpPr txBox="1"/>
          <p:nvPr/>
        </p:nvSpPr>
        <p:spPr>
          <a:xfrm>
            <a:off x="621792" y="2875787"/>
            <a:ext cx="3831335" cy="214884"/>
          </a:xfrm>
          <a:prstGeom prst="rect">
            <a:avLst/>
          </a:prstGeom>
          <a:noFill/>
        </p:spPr>
        <p:txBody>
          <a:bodyPr wrap="none" lIns="0" tIns="0" rIns="0" bIns="0" anchor="ctr">
            <a:spAutoFit/>
          </a:bodyPr>
          <a:lstStyle/>
          <a:p>
            <a:pPr algn="l"/>
            <a:r>
              <a:rPr sz="1000" b="1">
                <a:solidFill>
                  <a:srgbClr val="C9B3E8"/>
                </a:solidFill>
                <a:latin typeface="Courier New"/>
              </a:rPr>
              <a:t>%{"some_status_value" =&gt; 1}</a:t>
            </a:r>
          </a:p>
        </p:txBody>
      </p:sp>
      <p:sp>
        <p:nvSpPr>
          <p:cNvPr id="13" name="a1wd480_code12"/>
          <p:cNvSpPr txBox="1"/>
          <p:nvPr/>
        </p:nvSpPr>
        <p:spPr>
          <a:xfrm>
            <a:off x="621792" y="3090672"/>
            <a:ext cx="3831335" cy="214884"/>
          </a:xfrm>
          <a:prstGeom prst="rect">
            <a:avLst/>
          </a:prstGeom>
          <a:noFill/>
        </p:spPr>
        <p:txBody>
          <a:bodyPr wrap="none" lIns="0" tIns="0" rIns="0" bIns="0" anchor="ctr">
            <a:spAutoFit/>
          </a:bodyPr>
          <a:lstStyle/>
          <a:p>
            <a:pPr algn="l"/>
            <a:r>
              <a:rPr sz="1000" b="0">
                <a:solidFill>
                  <a:srgbClr val="FCA5A5"/>
                </a:solidFill>
                <a:latin typeface="Courier New"/>
              </a:rPr>
              <a:t>  37,683 us    3.54x slower</a:t>
            </a:r>
          </a:p>
        </p:txBody>
      </p:sp>
      <p:sp>
        <p:nvSpPr>
          <p:cNvPr id="14" name="a1wd560_code13"/>
          <p:cNvSpPr txBox="1"/>
          <p:nvPr/>
        </p:nvSpPr>
        <p:spPr>
          <a:xfrm>
            <a:off x="621792" y="3305556"/>
            <a:ext cx="3831335" cy="214884"/>
          </a:xfrm>
          <a:prstGeom prst="rect">
            <a:avLst/>
          </a:prstGeom>
          <a:noFill/>
        </p:spPr>
        <p:txBody>
          <a:bodyPr wrap="none" lIns="0" tIns="0" rIns="0" bIns="0" anchor="ctr">
            <a:spAutoFit/>
          </a:bodyPr>
          <a:lstStyle/>
          <a:p>
            <a:pPr algn="l"/>
            <a:endParaRPr/>
          </a:p>
        </p:txBody>
      </p:sp>
      <p:sp>
        <p:nvSpPr>
          <p:cNvPr id="15" name="a1wd640_code14"/>
          <p:cNvSpPr txBox="1"/>
          <p:nvPr/>
        </p:nvSpPr>
        <p:spPr>
          <a:xfrm>
            <a:off x="621792" y="3520439"/>
            <a:ext cx="3831335" cy="214884"/>
          </a:xfrm>
          <a:prstGeom prst="rect">
            <a:avLst/>
          </a:prstGeom>
          <a:noFill/>
        </p:spPr>
        <p:txBody>
          <a:bodyPr wrap="none" lIns="0" tIns="0" rIns="0" bIns="0" anchor="ctr">
            <a:spAutoFit/>
          </a:bodyPr>
          <a:lstStyle/>
          <a:p>
            <a:pPr algn="l"/>
            <a:r>
              <a:rPr sz="1000" b="0">
                <a:solidFill>
                  <a:srgbClr val="64748B"/>
                </a:solidFill>
                <a:latin typeface="Courier New"/>
              </a:rPr>
              <a:t># the key is HASHED first</a:t>
            </a:r>
          </a:p>
        </p:txBody>
      </p:sp>
      <p:sp>
        <p:nvSpPr>
          <p:cNvPr id="16" name="a2f_codebg15"/>
          <p:cNvSpPr/>
          <p:nvPr/>
        </p:nvSpPr>
        <p:spPr>
          <a:xfrm>
            <a:off x="4800600" y="1362456"/>
            <a:ext cx="388620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f_codeh16"/>
          <p:cNvSpPr txBox="1"/>
          <p:nvPr/>
        </p:nvSpPr>
        <p:spPr>
          <a:xfrm>
            <a:off x="4965192" y="1417320"/>
            <a:ext cx="3557016" cy="219456"/>
          </a:xfrm>
          <a:prstGeom prst="rect">
            <a:avLst/>
          </a:prstGeom>
          <a:noFill/>
        </p:spPr>
        <p:txBody>
          <a:bodyPr wrap="square" lIns="0" tIns="0" rIns="0" bIns="0" anchor="ctr">
            <a:spAutoFit/>
          </a:bodyPr>
          <a:lstStyle/>
          <a:p>
            <a:pPr algn="l"/>
            <a:r>
              <a:rPr sz="950" b="1">
                <a:solidFill>
                  <a:srgbClr val="64748B"/>
                </a:solidFill>
                <a:latin typeface="Courier New"/>
              </a:rPr>
              <a:t>REAL · memory</a:t>
            </a:r>
          </a:p>
        </p:txBody>
      </p:sp>
      <p:sp>
        <p:nvSpPr>
          <p:cNvPr id="18" name="a2w_code17"/>
          <p:cNvSpPr txBox="1"/>
          <p:nvPr/>
        </p:nvSpPr>
        <p:spPr>
          <a:xfrm>
            <a:off x="4965192" y="1801368"/>
            <a:ext cx="3557016" cy="214884"/>
          </a:xfrm>
          <a:prstGeom prst="rect">
            <a:avLst/>
          </a:prstGeom>
          <a:noFill/>
        </p:spPr>
        <p:txBody>
          <a:bodyPr wrap="none" lIns="0" tIns="0" rIns="0" bIns="0" anchor="ctr">
            <a:spAutoFit/>
          </a:bodyPr>
          <a:lstStyle/>
          <a:p>
            <a:pPr algn="l"/>
            <a:r>
              <a:rPr sz="1000" b="0">
                <a:solidFill>
                  <a:srgbClr val="64748B"/>
                </a:solidFill>
                <a:latin typeface="Courier New"/>
              </a:rPr>
              <a:t># erts_debug.flat_size, in words</a:t>
            </a:r>
          </a:p>
        </p:txBody>
      </p:sp>
      <p:sp>
        <p:nvSpPr>
          <p:cNvPr id="19" name="a2wd80_code18"/>
          <p:cNvSpPr txBox="1"/>
          <p:nvPr/>
        </p:nvSpPr>
        <p:spPr>
          <a:xfrm>
            <a:off x="4965192" y="2016252"/>
            <a:ext cx="3557016" cy="214884"/>
          </a:xfrm>
          <a:prstGeom prst="rect">
            <a:avLst/>
          </a:prstGeom>
          <a:noFill/>
        </p:spPr>
        <p:txBody>
          <a:bodyPr wrap="none" lIns="0" tIns="0" rIns="0" bIns="0" anchor="ctr">
            <a:spAutoFit/>
          </a:bodyPr>
          <a:lstStyle/>
          <a:p>
            <a:pPr algn="l"/>
            <a:endParaRPr/>
          </a:p>
        </p:txBody>
      </p:sp>
      <p:sp>
        <p:nvSpPr>
          <p:cNvPr id="20" name="a2wd160_code19"/>
          <p:cNvSpPr txBox="1"/>
          <p:nvPr/>
        </p:nvSpPr>
        <p:spPr>
          <a:xfrm>
            <a:off x="4965192" y="2231136"/>
            <a:ext cx="3557016" cy="214884"/>
          </a:xfrm>
          <a:prstGeom prst="rect">
            <a:avLst/>
          </a:prstGeom>
          <a:noFill/>
        </p:spPr>
        <p:txBody>
          <a:bodyPr wrap="none" lIns="0" tIns="0" rIns="0" bIns="0" anchor="ctr">
            <a:spAutoFit/>
          </a:bodyPr>
          <a:lstStyle/>
          <a:p>
            <a:pPr algn="l"/>
            <a:r>
              <a:rPr sz="1000" b="0">
                <a:solidFill>
                  <a:srgbClr val="14B8A6"/>
                </a:solidFill>
                <a:latin typeface="Courier New"/>
              </a:rPr>
              <a:t>%{status: :ok}            6</a:t>
            </a:r>
          </a:p>
        </p:txBody>
      </p:sp>
      <p:sp>
        <p:nvSpPr>
          <p:cNvPr id="21" name="a2wd240_code20"/>
          <p:cNvSpPr txBox="1"/>
          <p:nvPr/>
        </p:nvSpPr>
        <p:spPr>
          <a:xfrm>
            <a:off x="4965192" y="2446020"/>
            <a:ext cx="3557016" cy="214884"/>
          </a:xfrm>
          <a:prstGeom prst="rect">
            <a:avLst/>
          </a:prstGeom>
          <a:noFill/>
        </p:spPr>
        <p:txBody>
          <a:bodyPr wrap="none" lIns="0" tIns="0" rIns="0" bIns="0" anchor="ctr">
            <a:spAutoFit/>
          </a:bodyPr>
          <a:lstStyle/>
          <a:p>
            <a:pPr algn="l"/>
            <a:r>
              <a:rPr sz="1000" b="0">
                <a:solidFill>
                  <a:srgbClr val="FCA5A5"/>
                </a:solidFill>
                <a:latin typeface="Courier New"/>
              </a:rPr>
              <a:t>%{"status" =&gt; "ok"}      12</a:t>
            </a:r>
          </a:p>
        </p:txBody>
      </p:sp>
      <p:sp>
        <p:nvSpPr>
          <p:cNvPr id="22" name="a2wd320_code21"/>
          <p:cNvSpPr txBox="1"/>
          <p:nvPr/>
        </p:nvSpPr>
        <p:spPr>
          <a:xfrm>
            <a:off x="4965192" y="2660904"/>
            <a:ext cx="3557016" cy="214884"/>
          </a:xfrm>
          <a:prstGeom prst="rect">
            <a:avLst/>
          </a:prstGeom>
          <a:noFill/>
        </p:spPr>
        <p:txBody>
          <a:bodyPr wrap="none" lIns="0" tIns="0" rIns="0" bIns="0" anchor="ctr">
            <a:spAutoFit/>
          </a:bodyPr>
          <a:lstStyle/>
          <a:p>
            <a:pPr algn="l"/>
            <a:endParaRPr/>
          </a:p>
        </p:txBody>
      </p:sp>
      <p:sp>
        <p:nvSpPr>
          <p:cNvPr id="23" name="a2wd400_code22"/>
          <p:cNvSpPr txBox="1"/>
          <p:nvPr/>
        </p:nvSpPr>
        <p:spPr>
          <a:xfrm>
            <a:off x="4965192" y="2875787"/>
            <a:ext cx="3557016" cy="214884"/>
          </a:xfrm>
          <a:prstGeom prst="rect">
            <a:avLst/>
          </a:prstGeom>
          <a:noFill/>
        </p:spPr>
        <p:txBody>
          <a:bodyPr wrap="none" lIns="0" tIns="0" rIns="0" bIns="0" anchor="ctr">
            <a:spAutoFit/>
          </a:bodyPr>
          <a:lstStyle/>
          <a:p>
            <a:pPr algn="l"/>
            <a:r>
              <a:rPr sz="1000" b="0">
                <a:solidFill>
                  <a:srgbClr val="14B8A6"/>
                </a:solidFill>
                <a:latin typeface="Courier New"/>
              </a:rPr>
              <a:t>%{a: 1, b: 2, c: 3}      10</a:t>
            </a:r>
          </a:p>
        </p:txBody>
      </p:sp>
      <p:sp>
        <p:nvSpPr>
          <p:cNvPr id="24" name="a2wd480_code23"/>
          <p:cNvSpPr txBox="1"/>
          <p:nvPr/>
        </p:nvSpPr>
        <p:spPr>
          <a:xfrm>
            <a:off x="4965192" y="3090672"/>
            <a:ext cx="3557016" cy="214884"/>
          </a:xfrm>
          <a:prstGeom prst="rect">
            <a:avLst/>
          </a:prstGeom>
          <a:noFill/>
        </p:spPr>
        <p:txBody>
          <a:bodyPr wrap="none" lIns="0" tIns="0" rIns="0" bIns="0" anchor="ctr">
            <a:spAutoFit/>
          </a:bodyPr>
          <a:lstStyle/>
          <a:p>
            <a:pPr algn="l"/>
            <a:r>
              <a:rPr sz="1000" b="0">
                <a:solidFill>
                  <a:srgbClr val="FCA5A5"/>
                </a:solidFill>
                <a:latin typeface="Courier New"/>
              </a:rPr>
              <a:t>%{"a"=&gt;1,"b"=&gt;2,"c"=&gt;3}  19</a:t>
            </a:r>
          </a:p>
        </p:txBody>
      </p:sp>
      <p:sp>
        <p:nvSpPr>
          <p:cNvPr id="25" name="a2wd560_code24"/>
          <p:cNvSpPr txBox="1"/>
          <p:nvPr/>
        </p:nvSpPr>
        <p:spPr>
          <a:xfrm>
            <a:off x="4965192" y="3305556"/>
            <a:ext cx="3557016" cy="214884"/>
          </a:xfrm>
          <a:prstGeom prst="rect">
            <a:avLst/>
          </a:prstGeom>
          <a:noFill/>
        </p:spPr>
        <p:txBody>
          <a:bodyPr wrap="none" lIns="0" tIns="0" rIns="0" bIns="0" anchor="ctr">
            <a:spAutoFit/>
          </a:bodyPr>
          <a:lstStyle/>
          <a:p>
            <a:pPr algn="l"/>
            <a:endParaRPr/>
          </a:p>
        </p:txBody>
      </p:sp>
      <p:sp>
        <p:nvSpPr>
          <p:cNvPr id="26" name="a2wd640_code25"/>
          <p:cNvSpPr txBox="1"/>
          <p:nvPr/>
        </p:nvSpPr>
        <p:spPr>
          <a:xfrm>
            <a:off x="4965192" y="3520439"/>
            <a:ext cx="3557016" cy="214884"/>
          </a:xfrm>
          <a:prstGeom prst="rect">
            <a:avLst/>
          </a:prstGeom>
          <a:noFill/>
        </p:spPr>
        <p:txBody>
          <a:bodyPr wrap="none" lIns="0" tIns="0" rIns="0" bIns="0" anchor="ctr">
            <a:spAutoFit/>
          </a:bodyPr>
          <a:lstStyle/>
          <a:p>
            <a:pPr algn="l"/>
            <a:r>
              <a:rPr sz="1000" b="0">
                <a:solidFill>
                  <a:srgbClr val="64748B"/>
                </a:solidFill>
                <a:latin typeface="Courier New"/>
              </a:rPr>
              <a:t># ~2x, at 8 bytes a word</a:t>
            </a:r>
          </a:p>
        </p:txBody>
      </p:sp>
      <p:sp>
        <p:nvSpPr>
          <p:cNvPr id="27" name="a3f_nb26"/>
          <p:cNvSpPr/>
          <p:nvPr/>
        </p:nvSpPr>
        <p:spPr>
          <a:xfrm>
            <a:off x="457200" y="4027931"/>
            <a:ext cx="8229600" cy="475488"/>
          </a:xfrm>
          <a:prstGeom prst="roundRect">
            <a:avLst>
              <a:gd name="adj" fmla="val 15384"/>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3f_nacc27"/>
          <p:cNvSpPr/>
          <p:nvPr/>
        </p:nvSpPr>
        <p:spPr>
          <a:xfrm>
            <a:off x="457200" y="4027931"/>
            <a:ext cx="50292" cy="4754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3f_nt28"/>
          <p:cNvSpPr txBox="1"/>
          <p:nvPr/>
        </p:nvSpPr>
        <p:spPr>
          <a:xfrm>
            <a:off x="658368" y="4027931"/>
            <a:ext cx="7827264" cy="475488"/>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Hashing an atom means hashing one machine word. Hashing a string means walking its bytes — and then storing those bytes in every map that uses the key.</a:t>
            </a:r>
          </a:p>
        </p:txBody>
      </p:sp>
      <p:sp>
        <p:nvSpPr>
          <p:cNvPr id="30" name="ft29"/>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31" name="ft30"/>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4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left)">
                                      <p:cBhvr>
                                        <p:cTn id="48" dur="500"/>
                                        <p:tgtEl>
                                          <p:spTgt spid="18"/>
                                        </p:tgtEl>
                                      </p:cBhvr>
                                    </p:animEffect>
                                  </p:childTnLst>
                                </p:cTn>
                              </p:par>
                              <p:par>
                                <p:cTn id="49" presetID="22" presetClass="entr" presetSubtype="8" fill="hold" grpId="0" nodeType="withEffect">
                                  <p:stCondLst>
                                    <p:cond delay="8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par>
                                <p:cTn id="52" presetID="22" presetClass="entr" presetSubtype="8" fill="hold" grpId="0" nodeType="withEffect">
                                  <p:stCondLst>
                                    <p:cond delay="16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24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par>
                                <p:cTn id="58" presetID="22" presetClass="entr" presetSubtype="8" fill="hold" grpId="0" nodeType="withEffect">
                                  <p:stCondLst>
                                    <p:cond delay="32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par>
                                <p:cTn id="61" presetID="22" presetClass="entr" presetSubtype="8" fill="hold" grpId="0" nodeType="withEffect">
                                  <p:stCondLst>
                                    <p:cond delay="40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par>
                                <p:cTn id="64" presetID="22" presetClass="entr" presetSubtype="8" fill="hold" grpId="0" nodeType="withEffect">
                                  <p:stCondLst>
                                    <p:cond delay="48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par>
                                <p:cTn id="67" presetID="22" presetClass="entr" presetSubtype="8" fill="hold" grpId="0" nodeType="withEffect">
                                  <p:stCondLst>
                                    <p:cond delay="560"/>
                                  </p:stCondLst>
                                  <p:childTnLst>
                                    <p:set>
                                      <p:cBhvr>
                                        <p:cTn id="68" dur="1" fill="hold">
                                          <p:stCondLst>
                                            <p:cond delay="0"/>
                                          </p:stCondLst>
                                        </p:cTn>
                                        <p:tgtEl>
                                          <p:spTgt spid="25"/>
                                        </p:tgtEl>
                                        <p:attrNameLst>
                                          <p:attrName>style.visibility</p:attrName>
                                        </p:attrNameLst>
                                      </p:cBhvr>
                                      <p:to>
                                        <p:strVal val="visible"/>
                                      </p:to>
                                    </p:set>
                                    <p:animEffect transition="in" filter="wipe(left)">
                                      <p:cBhvr>
                                        <p:cTn id="69" dur="500"/>
                                        <p:tgtEl>
                                          <p:spTgt spid="25"/>
                                        </p:tgtEl>
                                      </p:cBhvr>
                                    </p:animEffect>
                                  </p:childTnLst>
                                </p:cTn>
                              </p:par>
                              <p:par>
                                <p:cTn id="70" presetID="22" presetClass="entr" presetSubtype="8" fill="hold" grpId="0" nodeType="withEffect">
                                  <p:stCondLst>
                                    <p:cond delay="640"/>
                                  </p:stCondLst>
                                  <p:childTnLst>
                                    <p:set>
                                      <p:cBhvr>
                                        <p:cTn id="71" dur="1" fill="hold">
                                          <p:stCondLst>
                                            <p:cond delay="0"/>
                                          </p:stCondLst>
                                        </p:cTn>
                                        <p:tgtEl>
                                          <p:spTgt spid="26"/>
                                        </p:tgtEl>
                                        <p:attrNameLst>
                                          <p:attrName>style.visibility</p:attrName>
                                        </p:attrNameLst>
                                      </p:cBhvr>
                                      <p:to>
                                        <p:strVal val="visible"/>
                                      </p:to>
                                    </p:set>
                                    <p:animEffect transition="in" filter="wipe(left)">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DECISION</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So: atom or string?</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One question decides it — who chooses the set of possible values?</a:t>
            </a:r>
          </a:p>
        </p:txBody>
      </p:sp>
      <p:sp>
        <p:nvSpPr>
          <p:cNvPr id="5" name="a1f_th4"/>
          <p:cNvSpPr/>
          <p:nvPr/>
        </p:nvSpPr>
        <p:spPr>
          <a:xfrm>
            <a:off x="457200" y="1325880"/>
            <a:ext cx="3703320" cy="306324"/>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tht5"/>
          <p:cNvSpPr txBox="1"/>
          <p:nvPr/>
        </p:nvSpPr>
        <p:spPr>
          <a:xfrm>
            <a:off x="530352" y="1325880"/>
            <a:ext cx="3593591" cy="306324"/>
          </a:xfrm>
          <a:prstGeom prst="rect">
            <a:avLst/>
          </a:prstGeom>
          <a:noFill/>
        </p:spPr>
        <p:txBody>
          <a:bodyPr wrap="square" lIns="0" tIns="0" rIns="0" bIns="0" anchor="ctr">
            <a:spAutoFit/>
          </a:bodyPr>
          <a:lstStyle/>
          <a:p>
            <a:pPr algn="l"/>
            <a:r>
              <a:rPr sz="1000" b="1">
                <a:solidFill>
                  <a:srgbClr val="FFFFFF"/>
                </a:solidFill>
                <a:latin typeface="Calibri"/>
              </a:rPr>
              <a:t>If the value…</a:t>
            </a:r>
          </a:p>
        </p:txBody>
      </p:sp>
      <p:sp>
        <p:nvSpPr>
          <p:cNvPr id="7" name="a1wd80_td6"/>
          <p:cNvSpPr/>
          <p:nvPr/>
        </p:nvSpPr>
        <p:spPr>
          <a:xfrm>
            <a:off x="457200" y="1632204"/>
            <a:ext cx="37033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a1wd80_tdt7"/>
          <p:cNvSpPr txBox="1"/>
          <p:nvPr/>
        </p:nvSpPr>
        <p:spPr>
          <a:xfrm>
            <a:off x="530352" y="1632204"/>
            <a:ext cx="3593591" cy="306324"/>
          </a:xfrm>
          <a:prstGeom prst="rect">
            <a:avLst/>
          </a:prstGeom>
          <a:noFill/>
        </p:spPr>
        <p:txBody>
          <a:bodyPr wrap="square" lIns="0" tIns="0" rIns="0" bIns="0" anchor="ctr">
            <a:spAutoFit/>
          </a:bodyPr>
          <a:lstStyle/>
          <a:p>
            <a:pPr algn="l"/>
            <a:r>
              <a:rPr sz="1000" b="0">
                <a:solidFill>
                  <a:srgbClr val="334155"/>
                </a:solidFill>
                <a:latin typeface="Calibri"/>
              </a:rPr>
              <a:t>comes from your source code</a:t>
            </a:r>
          </a:p>
        </p:txBody>
      </p:sp>
      <p:sp>
        <p:nvSpPr>
          <p:cNvPr id="9" name="a1wd160_td8"/>
          <p:cNvSpPr/>
          <p:nvPr/>
        </p:nvSpPr>
        <p:spPr>
          <a:xfrm>
            <a:off x="457200" y="1938528"/>
            <a:ext cx="37033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wd160_tdt9"/>
          <p:cNvSpPr txBox="1"/>
          <p:nvPr/>
        </p:nvSpPr>
        <p:spPr>
          <a:xfrm>
            <a:off x="530352" y="1938528"/>
            <a:ext cx="3593591" cy="306324"/>
          </a:xfrm>
          <a:prstGeom prst="rect">
            <a:avLst/>
          </a:prstGeom>
          <a:noFill/>
        </p:spPr>
        <p:txBody>
          <a:bodyPr wrap="square" lIns="0" tIns="0" rIns="0" bIns="0" anchor="ctr">
            <a:spAutoFit/>
          </a:bodyPr>
          <a:lstStyle/>
          <a:p>
            <a:pPr algn="l"/>
            <a:r>
              <a:rPr sz="1000" b="0">
                <a:solidFill>
                  <a:srgbClr val="334155"/>
                </a:solidFill>
                <a:latin typeface="Calibri"/>
              </a:rPr>
              <a:t>is one of a fixed, known list</a:t>
            </a:r>
          </a:p>
        </p:txBody>
      </p:sp>
      <p:sp>
        <p:nvSpPr>
          <p:cNvPr id="11" name="a1wd240_td10"/>
          <p:cNvSpPr/>
          <p:nvPr/>
        </p:nvSpPr>
        <p:spPr>
          <a:xfrm>
            <a:off x="457200" y="2244852"/>
            <a:ext cx="37033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wd240_tdt11"/>
          <p:cNvSpPr txBox="1"/>
          <p:nvPr/>
        </p:nvSpPr>
        <p:spPr>
          <a:xfrm>
            <a:off x="530352" y="2244852"/>
            <a:ext cx="3593591" cy="306324"/>
          </a:xfrm>
          <a:prstGeom prst="rect">
            <a:avLst/>
          </a:prstGeom>
          <a:noFill/>
        </p:spPr>
        <p:txBody>
          <a:bodyPr wrap="square" lIns="0" tIns="0" rIns="0" bIns="0" anchor="ctr">
            <a:spAutoFit/>
          </a:bodyPr>
          <a:lstStyle/>
          <a:p>
            <a:pPr algn="l"/>
            <a:r>
              <a:rPr sz="1000" b="0">
                <a:solidFill>
                  <a:srgbClr val="334155"/>
                </a:solidFill>
                <a:latin typeface="Calibri"/>
              </a:rPr>
              <a:t>names a module or a function</a:t>
            </a:r>
          </a:p>
        </p:txBody>
      </p:sp>
      <p:sp>
        <p:nvSpPr>
          <p:cNvPr id="13" name="a1wd320_td12"/>
          <p:cNvSpPr/>
          <p:nvPr/>
        </p:nvSpPr>
        <p:spPr>
          <a:xfrm>
            <a:off x="457200" y="2551176"/>
            <a:ext cx="37033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wd320_tdt13"/>
          <p:cNvSpPr txBox="1"/>
          <p:nvPr/>
        </p:nvSpPr>
        <p:spPr>
          <a:xfrm>
            <a:off x="530352" y="2551176"/>
            <a:ext cx="3593591" cy="306324"/>
          </a:xfrm>
          <a:prstGeom prst="rect">
            <a:avLst/>
          </a:prstGeom>
          <a:noFill/>
        </p:spPr>
        <p:txBody>
          <a:bodyPr wrap="square" lIns="0" tIns="0" rIns="0" bIns="0" anchor="ctr">
            <a:spAutoFit/>
          </a:bodyPr>
          <a:lstStyle/>
          <a:p>
            <a:pPr algn="l"/>
            <a:r>
              <a:rPr sz="1000" b="0">
                <a:solidFill>
                  <a:srgbClr val="334155"/>
                </a:solidFill>
                <a:latin typeface="Calibri"/>
              </a:rPr>
              <a:t>names a process or an ETS table</a:t>
            </a:r>
          </a:p>
        </p:txBody>
      </p:sp>
      <p:sp>
        <p:nvSpPr>
          <p:cNvPr id="15" name="a1wd400_td14"/>
          <p:cNvSpPr/>
          <p:nvPr/>
        </p:nvSpPr>
        <p:spPr>
          <a:xfrm>
            <a:off x="457200" y="2857500"/>
            <a:ext cx="37033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wd400_tdt15"/>
          <p:cNvSpPr txBox="1"/>
          <p:nvPr/>
        </p:nvSpPr>
        <p:spPr>
          <a:xfrm>
            <a:off x="530352" y="2857500"/>
            <a:ext cx="3593591" cy="306324"/>
          </a:xfrm>
          <a:prstGeom prst="rect">
            <a:avLst/>
          </a:prstGeom>
          <a:noFill/>
        </p:spPr>
        <p:txBody>
          <a:bodyPr wrap="square" lIns="0" tIns="0" rIns="0" bIns="0" anchor="ctr">
            <a:spAutoFit/>
          </a:bodyPr>
          <a:lstStyle/>
          <a:p>
            <a:pPr algn="l"/>
            <a:r>
              <a:rPr sz="1000" b="0">
                <a:solidFill>
                  <a:srgbClr val="334155"/>
                </a:solidFill>
                <a:latin typeface="Calibri"/>
              </a:rPr>
              <a:t>came from a user, a form or JSON</a:t>
            </a:r>
          </a:p>
        </p:txBody>
      </p:sp>
      <p:sp>
        <p:nvSpPr>
          <p:cNvPr id="17" name="a1wd480_td16"/>
          <p:cNvSpPr/>
          <p:nvPr/>
        </p:nvSpPr>
        <p:spPr>
          <a:xfrm>
            <a:off x="457200" y="3163824"/>
            <a:ext cx="37033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1wd480_tdt17"/>
          <p:cNvSpPr txBox="1"/>
          <p:nvPr/>
        </p:nvSpPr>
        <p:spPr>
          <a:xfrm>
            <a:off x="530352" y="3163824"/>
            <a:ext cx="3593591" cy="306324"/>
          </a:xfrm>
          <a:prstGeom prst="rect">
            <a:avLst/>
          </a:prstGeom>
          <a:noFill/>
        </p:spPr>
        <p:txBody>
          <a:bodyPr wrap="square" lIns="0" tIns="0" rIns="0" bIns="0" anchor="ctr">
            <a:spAutoFit/>
          </a:bodyPr>
          <a:lstStyle/>
          <a:p>
            <a:pPr algn="l"/>
            <a:r>
              <a:rPr sz="1000" b="0">
                <a:solidFill>
                  <a:srgbClr val="334155"/>
                </a:solidFill>
                <a:latin typeface="Calibri"/>
              </a:rPr>
              <a:t>came from a database column</a:t>
            </a:r>
          </a:p>
        </p:txBody>
      </p:sp>
      <p:sp>
        <p:nvSpPr>
          <p:cNvPr id="19" name="a1wd560_td18"/>
          <p:cNvSpPr/>
          <p:nvPr/>
        </p:nvSpPr>
        <p:spPr>
          <a:xfrm>
            <a:off x="457200" y="3470148"/>
            <a:ext cx="37033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wd560_tdt19"/>
          <p:cNvSpPr txBox="1"/>
          <p:nvPr/>
        </p:nvSpPr>
        <p:spPr>
          <a:xfrm>
            <a:off x="530352" y="3470148"/>
            <a:ext cx="3593591" cy="306324"/>
          </a:xfrm>
          <a:prstGeom prst="rect">
            <a:avLst/>
          </a:prstGeom>
          <a:noFill/>
        </p:spPr>
        <p:txBody>
          <a:bodyPr wrap="square" lIns="0" tIns="0" rIns="0" bIns="0" anchor="ctr">
            <a:spAutoFit/>
          </a:bodyPr>
          <a:lstStyle/>
          <a:p>
            <a:pPr algn="l"/>
            <a:r>
              <a:rPr sz="1000" b="0">
                <a:solidFill>
                  <a:srgbClr val="334155"/>
                </a:solidFill>
                <a:latin typeface="Calibri"/>
              </a:rPr>
              <a:t>is displayed to a human</a:t>
            </a:r>
          </a:p>
        </p:txBody>
      </p:sp>
      <p:sp>
        <p:nvSpPr>
          <p:cNvPr id="21" name="a1wd640_td20"/>
          <p:cNvSpPr/>
          <p:nvPr/>
        </p:nvSpPr>
        <p:spPr>
          <a:xfrm>
            <a:off x="457200" y="3776472"/>
            <a:ext cx="37033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1wd640_tdt21"/>
          <p:cNvSpPr txBox="1"/>
          <p:nvPr/>
        </p:nvSpPr>
        <p:spPr>
          <a:xfrm>
            <a:off x="530352" y="3776472"/>
            <a:ext cx="3593591" cy="306324"/>
          </a:xfrm>
          <a:prstGeom prst="rect">
            <a:avLst/>
          </a:prstGeom>
          <a:noFill/>
        </p:spPr>
        <p:txBody>
          <a:bodyPr wrap="square" lIns="0" tIns="0" rIns="0" bIns="0" anchor="ctr">
            <a:spAutoFit/>
          </a:bodyPr>
          <a:lstStyle/>
          <a:p>
            <a:pPr algn="l"/>
            <a:r>
              <a:rPr sz="1000" b="0">
                <a:solidFill>
                  <a:srgbClr val="334155"/>
                </a:solidFill>
                <a:latin typeface="Calibri"/>
              </a:rPr>
              <a:t>might one day be user-editable</a:t>
            </a:r>
          </a:p>
        </p:txBody>
      </p:sp>
      <p:sp>
        <p:nvSpPr>
          <p:cNvPr id="23" name="a1f_th22"/>
          <p:cNvSpPr/>
          <p:nvPr/>
        </p:nvSpPr>
        <p:spPr>
          <a:xfrm>
            <a:off x="4160520" y="1325880"/>
            <a:ext cx="960120" cy="306324"/>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f_tht23"/>
          <p:cNvSpPr txBox="1"/>
          <p:nvPr/>
        </p:nvSpPr>
        <p:spPr>
          <a:xfrm>
            <a:off x="4233672" y="1325880"/>
            <a:ext cx="850392" cy="306324"/>
          </a:xfrm>
          <a:prstGeom prst="rect">
            <a:avLst/>
          </a:prstGeom>
          <a:noFill/>
        </p:spPr>
        <p:txBody>
          <a:bodyPr wrap="square" lIns="0" tIns="0" rIns="0" bIns="0" anchor="ctr">
            <a:spAutoFit/>
          </a:bodyPr>
          <a:lstStyle/>
          <a:p>
            <a:pPr algn="l"/>
            <a:r>
              <a:rPr sz="1000" b="1">
                <a:solidFill>
                  <a:srgbClr val="FFFFFF"/>
                </a:solidFill>
                <a:latin typeface="Courier New"/>
              </a:rPr>
              <a:t>Use</a:t>
            </a:r>
          </a:p>
        </p:txBody>
      </p:sp>
      <p:sp>
        <p:nvSpPr>
          <p:cNvPr id="25" name="a1wd80_td24"/>
          <p:cNvSpPr/>
          <p:nvPr/>
        </p:nvSpPr>
        <p:spPr>
          <a:xfrm>
            <a:off x="4160520" y="1632204"/>
            <a:ext cx="9601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wd80_tdt25"/>
          <p:cNvSpPr txBox="1"/>
          <p:nvPr/>
        </p:nvSpPr>
        <p:spPr>
          <a:xfrm>
            <a:off x="4233672" y="1632204"/>
            <a:ext cx="850392" cy="306324"/>
          </a:xfrm>
          <a:prstGeom prst="rect">
            <a:avLst/>
          </a:prstGeom>
          <a:noFill/>
        </p:spPr>
        <p:txBody>
          <a:bodyPr wrap="square" lIns="0" tIns="0" rIns="0" bIns="0" anchor="ctr">
            <a:spAutoFit/>
          </a:bodyPr>
          <a:lstStyle/>
          <a:p>
            <a:pPr algn="l"/>
            <a:r>
              <a:rPr sz="1000" b="0">
                <a:solidFill>
                  <a:srgbClr val="334155"/>
                </a:solidFill>
                <a:latin typeface="Courier New"/>
              </a:rPr>
              <a:t>atom</a:t>
            </a:r>
          </a:p>
        </p:txBody>
      </p:sp>
      <p:sp>
        <p:nvSpPr>
          <p:cNvPr id="27" name="a1wd160_td26"/>
          <p:cNvSpPr/>
          <p:nvPr/>
        </p:nvSpPr>
        <p:spPr>
          <a:xfrm>
            <a:off x="4160520" y="1938528"/>
            <a:ext cx="9601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1wd160_tdt27"/>
          <p:cNvSpPr txBox="1"/>
          <p:nvPr/>
        </p:nvSpPr>
        <p:spPr>
          <a:xfrm>
            <a:off x="4233672" y="1938528"/>
            <a:ext cx="850392" cy="306324"/>
          </a:xfrm>
          <a:prstGeom prst="rect">
            <a:avLst/>
          </a:prstGeom>
          <a:noFill/>
        </p:spPr>
        <p:txBody>
          <a:bodyPr wrap="square" lIns="0" tIns="0" rIns="0" bIns="0" anchor="ctr">
            <a:spAutoFit/>
          </a:bodyPr>
          <a:lstStyle/>
          <a:p>
            <a:pPr algn="l"/>
            <a:r>
              <a:rPr sz="1000" b="0">
                <a:solidFill>
                  <a:srgbClr val="334155"/>
                </a:solidFill>
                <a:latin typeface="Courier New"/>
              </a:rPr>
              <a:t>atom</a:t>
            </a:r>
          </a:p>
        </p:txBody>
      </p:sp>
      <p:sp>
        <p:nvSpPr>
          <p:cNvPr id="29" name="a1wd240_td28"/>
          <p:cNvSpPr/>
          <p:nvPr/>
        </p:nvSpPr>
        <p:spPr>
          <a:xfrm>
            <a:off x="4160520" y="2244852"/>
            <a:ext cx="9601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1wd240_tdt29"/>
          <p:cNvSpPr txBox="1"/>
          <p:nvPr/>
        </p:nvSpPr>
        <p:spPr>
          <a:xfrm>
            <a:off x="4233672" y="2244852"/>
            <a:ext cx="850392" cy="306324"/>
          </a:xfrm>
          <a:prstGeom prst="rect">
            <a:avLst/>
          </a:prstGeom>
          <a:noFill/>
        </p:spPr>
        <p:txBody>
          <a:bodyPr wrap="square" lIns="0" tIns="0" rIns="0" bIns="0" anchor="ctr">
            <a:spAutoFit/>
          </a:bodyPr>
          <a:lstStyle/>
          <a:p>
            <a:pPr algn="l"/>
            <a:r>
              <a:rPr sz="1000" b="0">
                <a:solidFill>
                  <a:srgbClr val="334155"/>
                </a:solidFill>
                <a:latin typeface="Courier New"/>
              </a:rPr>
              <a:t>atom</a:t>
            </a:r>
          </a:p>
        </p:txBody>
      </p:sp>
      <p:sp>
        <p:nvSpPr>
          <p:cNvPr id="31" name="a1wd320_td30"/>
          <p:cNvSpPr/>
          <p:nvPr/>
        </p:nvSpPr>
        <p:spPr>
          <a:xfrm>
            <a:off x="4160520" y="2551176"/>
            <a:ext cx="96012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wd320_tdt31"/>
          <p:cNvSpPr txBox="1"/>
          <p:nvPr/>
        </p:nvSpPr>
        <p:spPr>
          <a:xfrm>
            <a:off x="4233672" y="2551176"/>
            <a:ext cx="850392" cy="306324"/>
          </a:xfrm>
          <a:prstGeom prst="rect">
            <a:avLst/>
          </a:prstGeom>
          <a:noFill/>
        </p:spPr>
        <p:txBody>
          <a:bodyPr wrap="square" lIns="0" tIns="0" rIns="0" bIns="0" anchor="ctr">
            <a:spAutoFit/>
          </a:bodyPr>
          <a:lstStyle/>
          <a:p>
            <a:pPr algn="l"/>
            <a:r>
              <a:rPr sz="1000" b="0">
                <a:solidFill>
                  <a:srgbClr val="334155"/>
                </a:solidFill>
                <a:latin typeface="Courier New"/>
              </a:rPr>
              <a:t>atom</a:t>
            </a:r>
          </a:p>
        </p:txBody>
      </p:sp>
      <p:sp>
        <p:nvSpPr>
          <p:cNvPr id="33" name="a1wd400_td32"/>
          <p:cNvSpPr/>
          <p:nvPr/>
        </p:nvSpPr>
        <p:spPr>
          <a:xfrm>
            <a:off x="4160520" y="2857500"/>
            <a:ext cx="9601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1wd400_tdt33"/>
          <p:cNvSpPr txBox="1"/>
          <p:nvPr/>
        </p:nvSpPr>
        <p:spPr>
          <a:xfrm>
            <a:off x="4233672" y="2857500"/>
            <a:ext cx="850392" cy="306324"/>
          </a:xfrm>
          <a:prstGeom prst="rect">
            <a:avLst/>
          </a:prstGeom>
          <a:noFill/>
        </p:spPr>
        <p:txBody>
          <a:bodyPr wrap="square" lIns="0" tIns="0" rIns="0" bIns="0" anchor="ctr">
            <a:spAutoFit/>
          </a:bodyPr>
          <a:lstStyle/>
          <a:p>
            <a:pPr algn="l"/>
            <a:r>
              <a:rPr sz="1000" b="0">
                <a:solidFill>
                  <a:srgbClr val="334155"/>
                </a:solidFill>
                <a:latin typeface="Courier New"/>
              </a:rPr>
              <a:t>string</a:t>
            </a:r>
          </a:p>
        </p:txBody>
      </p:sp>
      <p:sp>
        <p:nvSpPr>
          <p:cNvPr id="35" name="a1wd480_td34"/>
          <p:cNvSpPr/>
          <p:nvPr/>
        </p:nvSpPr>
        <p:spPr>
          <a:xfrm>
            <a:off x="4160520" y="3163824"/>
            <a:ext cx="9601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1wd480_tdt35"/>
          <p:cNvSpPr txBox="1"/>
          <p:nvPr/>
        </p:nvSpPr>
        <p:spPr>
          <a:xfrm>
            <a:off x="4233672" y="3163824"/>
            <a:ext cx="850392" cy="306324"/>
          </a:xfrm>
          <a:prstGeom prst="rect">
            <a:avLst/>
          </a:prstGeom>
          <a:noFill/>
        </p:spPr>
        <p:txBody>
          <a:bodyPr wrap="square" lIns="0" tIns="0" rIns="0" bIns="0" anchor="ctr">
            <a:spAutoFit/>
          </a:bodyPr>
          <a:lstStyle/>
          <a:p>
            <a:pPr algn="l"/>
            <a:r>
              <a:rPr sz="1000" b="0">
                <a:solidFill>
                  <a:srgbClr val="334155"/>
                </a:solidFill>
                <a:latin typeface="Courier New"/>
              </a:rPr>
              <a:t>string</a:t>
            </a:r>
          </a:p>
        </p:txBody>
      </p:sp>
      <p:sp>
        <p:nvSpPr>
          <p:cNvPr id="37" name="a1wd560_td36"/>
          <p:cNvSpPr/>
          <p:nvPr/>
        </p:nvSpPr>
        <p:spPr>
          <a:xfrm>
            <a:off x="4160520" y="3470148"/>
            <a:ext cx="9601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wd560_tdt37"/>
          <p:cNvSpPr txBox="1"/>
          <p:nvPr/>
        </p:nvSpPr>
        <p:spPr>
          <a:xfrm>
            <a:off x="4233672" y="3470148"/>
            <a:ext cx="850392" cy="306324"/>
          </a:xfrm>
          <a:prstGeom prst="rect">
            <a:avLst/>
          </a:prstGeom>
          <a:noFill/>
        </p:spPr>
        <p:txBody>
          <a:bodyPr wrap="square" lIns="0" tIns="0" rIns="0" bIns="0" anchor="ctr">
            <a:spAutoFit/>
          </a:bodyPr>
          <a:lstStyle/>
          <a:p>
            <a:pPr algn="l"/>
            <a:r>
              <a:rPr sz="1000" b="0">
                <a:solidFill>
                  <a:srgbClr val="334155"/>
                </a:solidFill>
                <a:latin typeface="Courier New"/>
              </a:rPr>
              <a:t>string</a:t>
            </a:r>
          </a:p>
        </p:txBody>
      </p:sp>
      <p:sp>
        <p:nvSpPr>
          <p:cNvPr id="39" name="a1wd640_td38"/>
          <p:cNvSpPr/>
          <p:nvPr/>
        </p:nvSpPr>
        <p:spPr>
          <a:xfrm>
            <a:off x="4160520" y="3776472"/>
            <a:ext cx="96012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1wd640_tdt39"/>
          <p:cNvSpPr txBox="1"/>
          <p:nvPr/>
        </p:nvSpPr>
        <p:spPr>
          <a:xfrm>
            <a:off x="4233672" y="3776472"/>
            <a:ext cx="850392" cy="306324"/>
          </a:xfrm>
          <a:prstGeom prst="rect">
            <a:avLst/>
          </a:prstGeom>
          <a:noFill/>
        </p:spPr>
        <p:txBody>
          <a:bodyPr wrap="square" lIns="0" tIns="0" rIns="0" bIns="0" anchor="ctr">
            <a:spAutoFit/>
          </a:bodyPr>
          <a:lstStyle/>
          <a:p>
            <a:pPr algn="l"/>
            <a:r>
              <a:rPr sz="1000" b="0">
                <a:solidFill>
                  <a:srgbClr val="334155"/>
                </a:solidFill>
                <a:latin typeface="Courier New"/>
              </a:rPr>
              <a:t>string</a:t>
            </a:r>
          </a:p>
        </p:txBody>
      </p:sp>
      <p:sp>
        <p:nvSpPr>
          <p:cNvPr id="41" name="a1f_th40"/>
          <p:cNvSpPr/>
          <p:nvPr/>
        </p:nvSpPr>
        <p:spPr>
          <a:xfrm>
            <a:off x="5120640" y="1325880"/>
            <a:ext cx="3566160" cy="306324"/>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1f_tht41"/>
          <p:cNvSpPr txBox="1"/>
          <p:nvPr/>
        </p:nvSpPr>
        <p:spPr>
          <a:xfrm>
            <a:off x="5193792" y="1325880"/>
            <a:ext cx="3456432" cy="306324"/>
          </a:xfrm>
          <a:prstGeom prst="rect">
            <a:avLst/>
          </a:prstGeom>
          <a:noFill/>
        </p:spPr>
        <p:txBody>
          <a:bodyPr wrap="square" lIns="0" tIns="0" rIns="0" bIns="0" anchor="ctr">
            <a:spAutoFit/>
          </a:bodyPr>
          <a:lstStyle/>
          <a:p>
            <a:pPr algn="l"/>
            <a:r>
              <a:rPr sz="1000" b="1">
                <a:solidFill>
                  <a:srgbClr val="FFFFFF"/>
                </a:solidFill>
                <a:latin typeface="Calibri"/>
              </a:rPr>
              <a:t>Because</a:t>
            </a:r>
          </a:p>
        </p:txBody>
      </p:sp>
      <p:sp>
        <p:nvSpPr>
          <p:cNvPr id="43" name="a1wd80_td42"/>
          <p:cNvSpPr/>
          <p:nvPr/>
        </p:nvSpPr>
        <p:spPr>
          <a:xfrm>
            <a:off x="5120640" y="1632204"/>
            <a:ext cx="356616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wd80_tdt43"/>
          <p:cNvSpPr txBox="1"/>
          <p:nvPr/>
        </p:nvSpPr>
        <p:spPr>
          <a:xfrm>
            <a:off x="5193792" y="1632204"/>
            <a:ext cx="3456432" cy="306324"/>
          </a:xfrm>
          <a:prstGeom prst="rect">
            <a:avLst/>
          </a:prstGeom>
          <a:noFill/>
        </p:spPr>
        <p:txBody>
          <a:bodyPr wrap="square" lIns="0" tIns="0" rIns="0" bIns="0" anchor="ctr">
            <a:spAutoFit/>
          </a:bodyPr>
          <a:lstStyle/>
          <a:p>
            <a:pPr algn="l"/>
            <a:r>
              <a:rPr sz="1000" b="0">
                <a:solidFill>
                  <a:srgbClr val="334155"/>
                </a:solidFill>
                <a:latin typeface="Calibri"/>
              </a:rPr>
              <a:t>the set is finite and you wrote it</a:t>
            </a:r>
          </a:p>
        </p:txBody>
      </p:sp>
      <p:sp>
        <p:nvSpPr>
          <p:cNvPr id="45" name="a1wd160_td44"/>
          <p:cNvSpPr/>
          <p:nvPr/>
        </p:nvSpPr>
        <p:spPr>
          <a:xfrm>
            <a:off x="5120640" y="1938528"/>
            <a:ext cx="356616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1wd160_tdt45"/>
          <p:cNvSpPr txBox="1"/>
          <p:nvPr/>
        </p:nvSpPr>
        <p:spPr>
          <a:xfrm>
            <a:off x="5193792" y="1938528"/>
            <a:ext cx="3456432" cy="306324"/>
          </a:xfrm>
          <a:prstGeom prst="rect">
            <a:avLst/>
          </a:prstGeom>
          <a:noFill/>
        </p:spPr>
        <p:txBody>
          <a:bodyPr wrap="square" lIns="0" tIns="0" rIns="0" bIns="0" anchor="ctr">
            <a:spAutoFit/>
          </a:bodyPr>
          <a:lstStyle/>
          <a:p>
            <a:pPr algn="l"/>
            <a:r>
              <a:rPr sz="1000" b="0">
                <a:solidFill>
                  <a:srgbClr val="334155"/>
                </a:solidFill>
                <a:latin typeface="Calibri"/>
              </a:rPr>
              <a:t>closed set — :asc, :desc, :pending</a:t>
            </a:r>
          </a:p>
        </p:txBody>
      </p:sp>
      <p:sp>
        <p:nvSpPr>
          <p:cNvPr id="47" name="a1wd240_td46"/>
          <p:cNvSpPr/>
          <p:nvPr/>
        </p:nvSpPr>
        <p:spPr>
          <a:xfrm>
            <a:off x="5120640" y="2244852"/>
            <a:ext cx="356616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1wd240_tdt47"/>
          <p:cNvSpPr txBox="1"/>
          <p:nvPr/>
        </p:nvSpPr>
        <p:spPr>
          <a:xfrm>
            <a:off x="5193792" y="2244852"/>
            <a:ext cx="3456432" cy="306324"/>
          </a:xfrm>
          <a:prstGeom prst="rect">
            <a:avLst/>
          </a:prstGeom>
          <a:noFill/>
        </p:spPr>
        <p:txBody>
          <a:bodyPr wrap="square" lIns="0" tIns="0" rIns="0" bIns="0" anchor="ctr">
            <a:spAutoFit/>
          </a:bodyPr>
          <a:lstStyle/>
          <a:p>
            <a:pPr algn="l"/>
            <a:r>
              <a:rPr sz="1000" b="0">
                <a:solidFill>
                  <a:srgbClr val="334155"/>
                </a:solidFill>
                <a:latin typeface="Calibri"/>
              </a:rPr>
              <a:t>the VM dispatches on atoms</a:t>
            </a:r>
          </a:p>
        </p:txBody>
      </p:sp>
      <p:sp>
        <p:nvSpPr>
          <p:cNvPr id="49" name="a1wd320_td48"/>
          <p:cNvSpPr/>
          <p:nvPr/>
        </p:nvSpPr>
        <p:spPr>
          <a:xfrm>
            <a:off x="5120640" y="2551176"/>
            <a:ext cx="3566160" cy="306324"/>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1wd320_tdt49"/>
          <p:cNvSpPr txBox="1"/>
          <p:nvPr/>
        </p:nvSpPr>
        <p:spPr>
          <a:xfrm>
            <a:off x="5193792" y="2551176"/>
            <a:ext cx="3456432" cy="306324"/>
          </a:xfrm>
          <a:prstGeom prst="rect">
            <a:avLst/>
          </a:prstGeom>
          <a:noFill/>
        </p:spPr>
        <p:txBody>
          <a:bodyPr wrap="square" lIns="0" tIns="0" rIns="0" bIns="0" anchor="ctr">
            <a:spAutoFit/>
          </a:bodyPr>
          <a:lstStyle/>
          <a:p>
            <a:pPr algn="l"/>
            <a:r>
              <a:rPr sz="1000" b="0">
                <a:solidFill>
                  <a:srgbClr val="334155"/>
                </a:solidFill>
                <a:latin typeface="Calibri"/>
              </a:rPr>
              <a:t>the registry is keyed by atom</a:t>
            </a:r>
          </a:p>
        </p:txBody>
      </p:sp>
      <p:sp>
        <p:nvSpPr>
          <p:cNvPr id="51" name="a1wd400_td50"/>
          <p:cNvSpPr/>
          <p:nvPr/>
        </p:nvSpPr>
        <p:spPr>
          <a:xfrm>
            <a:off x="5120640" y="2857500"/>
            <a:ext cx="356616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1wd400_tdt51"/>
          <p:cNvSpPr txBox="1"/>
          <p:nvPr/>
        </p:nvSpPr>
        <p:spPr>
          <a:xfrm>
            <a:off x="5193792" y="2857500"/>
            <a:ext cx="3456432" cy="306324"/>
          </a:xfrm>
          <a:prstGeom prst="rect">
            <a:avLst/>
          </a:prstGeom>
          <a:noFill/>
        </p:spPr>
        <p:txBody>
          <a:bodyPr wrap="square" lIns="0" tIns="0" rIns="0" bIns="0" anchor="ctr">
            <a:spAutoFit/>
          </a:bodyPr>
          <a:lstStyle/>
          <a:p>
            <a:pPr algn="l"/>
            <a:r>
              <a:rPr sz="1000" b="0">
                <a:solidFill>
                  <a:srgbClr val="334155"/>
                </a:solidFill>
                <a:latin typeface="Calibri"/>
              </a:rPr>
              <a:t>the set is unbounded and hostile</a:t>
            </a:r>
          </a:p>
        </p:txBody>
      </p:sp>
      <p:sp>
        <p:nvSpPr>
          <p:cNvPr id="53" name="a1wd480_td52"/>
          <p:cNvSpPr/>
          <p:nvPr/>
        </p:nvSpPr>
        <p:spPr>
          <a:xfrm>
            <a:off x="5120640" y="3163824"/>
            <a:ext cx="356616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1wd480_tdt53"/>
          <p:cNvSpPr txBox="1"/>
          <p:nvPr/>
        </p:nvSpPr>
        <p:spPr>
          <a:xfrm>
            <a:off x="5193792" y="3163824"/>
            <a:ext cx="3456432" cy="306324"/>
          </a:xfrm>
          <a:prstGeom prst="rect">
            <a:avLst/>
          </a:prstGeom>
          <a:noFill/>
        </p:spPr>
        <p:txBody>
          <a:bodyPr wrap="square" lIns="0" tIns="0" rIns="0" bIns="0" anchor="ctr">
            <a:spAutoFit/>
          </a:bodyPr>
          <a:lstStyle/>
          <a:p>
            <a:pPr algn="l"/>
            <a:r>
              <a:rPr sz="1000" b="0">
                <a:solidFill>
                  <a:srgbClr val="334155"/>
                </a:solidFill>
                <a:latin typeface="Calibri"/>
              </a:rPr>
              <a:t>unless you map it through a whitelist</a:t>
            </a:r>
          </a:p>
        </p:txBody>
      </p:sp>
      <p:sp>
        <p:nvSpPr>
          <p:cNvPr id="55" name="a1wd560_td54"/>
          <p:cNvSpPr/>
          <p:nvPr/>
        </p:nvSpPr>
        <p:spPr>
          <a:xfrm>
            <a:off x="5120640" y="3470148"/>
            <a:ext cx="356616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a1wd560_tdt55"/>
          <p:cNvSpPr txBox="1"/>
          <p:nvPr/>
        </p:nvSpPr>
        <p:spPr>
          <a:xfrm>
            <a:off x="5193792" y="3470148"/>
            <a:ext cx="3456432" cy="306324"/>
          </a:xfrm>
          <a:prstGeom prst="rect">
            <a:avLst/>
          </a:prstGeom>
          <a:noFill/>
        </p:spPr>
        <p:txBody>
          <a:bodyPr wrap="square" lIns="0" tIns="0" rIns="0" bIns="0" anchor="ctr">
            <a:spAutoFit/>
          </a:bodyPr>
          <a:lstStyle/>
          <a:p>
            <a:pPr algn="l"/>
            <a:r>
              <a:rPr sz="1000" b="0">
                <a:solidFill>
                  <a:srgbClr val="334155"/>
                </a:solidFill>
                <a:latin typeface="Calibri"/>
              </a:rPr>
              <a:t>it needs formatting, not identity</a:t>
            </a:r>
          </a:p>
        </p:txBody>
      </p:sp>
      <p:sp>
        <p:nvSpPr>
          <p:cNvPr id="57" name="a1wd640_td56"/>
          <p:cNvSpPr/>
          <p:nvPr/>
        </p:nvSpPr>
        <p:spPr>
          <a:xfrm>
            <a:off x="5120640" y="3776472"/>
            <a:ext cx="3566160" cy="306324"/>
          </a:xfrm>
          <a:prstGeom prst="rect">
            <a:avLst/>
          </a:prstGeom>
          <a:solidFill>
            <a:srgbClr val="FCE8ED"/>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1wd640_tdt57"/>
          <p:cNvSpPr txBox="1"/>
          <p:nvPr/>
        </p:nvSpPr>
        <p:spPr>
          <a:xfrm>
            <a:off x="5193792" y="3776472"/>
            <a:ext cx="3456432" cy="306324"/>
          </a:xfrm>
          <a:prstGeom prst="rect">
            <a:avLst/>
          </a:prstGeom>
          <a:noFill/>
        </p:spPr>
        <p:txBody>
          <a:bodyPr wrap="square" lIns="0" tIns="0" rIns="0" bIns="0" anchor="ctr">
            <a:spAutoFit/>
          </a:bodyPr>
          <a:lstStyle/>
          <a:p>
            <a:pPr algn="l"/>
            <a:r>
              <a:rPr sz="1000" b="0">
                <a:solidFill>
                  <a:srgbClr val="334155"/>
                </a:solidFill>
                <a:latin typeface="Calibri"/>
              </a:rPr>
              <a:t>the cost of getting this wrong is a leak</a:t>
            </a:r>
          </a:p>
        </p:txBody>
      </p:sp>
      <p:sp>
        <p:nvSpPr>
          <p:cNvPr id="59" name="a2f_nb58"/>
          <p:cNvSpPr/>
          <p:nvPr/>
        </p:nvSpPr>
        <p:spPr>
          <a:xfrm>
            <a:off x="457200" y="4174235"/>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a2f_nacc59"/>
          <p:cNvSpPr/>
          <p:nvPr/>
        </p:nvSpPr>
        <p:spPr>
          <a:xfrm>
            <a:off x="457200" y="4174235"/>
            <a:ext cx="50292" cy="42062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1" name="a2f_nt60"/>
          <p:cNvSpPr txBox="1"/>
          <p:nvPr/>
        </p:nvSpPr>
        <p:spPr>
          <a:xfrm>
            <a:off x="658368" y="4174235"/>
            <a:ext cx="7827264" cy="420624"/>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Top half: you control the values, so the table is bounded. Bottom half: someone else controls them, so the table is not.</a:t>
            </a:r>
          </a:p>
        </p:txBody>
      </p:sp>
      <p:sp>
        <p:nvSpPr>
          <p:cNvPr id="62" name="ft6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63" name="ft6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500"/>
                                        <p:tgtEl>
                                          <p:spTgt spid="4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par>
                                <p:cTn id="23" presetID="22" presetClass="entr" presetSubtype="8" fill="hold" grpId="0" nodeType="withEffect">
                                  <p:stCondLst>
                                    <p:cond delay="8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fill="hold" grpId="0" nodeType="withEffect">
                                  <p:stCondLst>
                                    <p:cond delay="8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22" presetClass="entr" presetSubtype="8" fill="hold" grpId="0" nodeType="withEffect">
                                  <p:stCondLst>
                                    <p:cond delay="8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00"/>
                                        <p:tgtEl>
                                          <p:spTgt spid="25"/>
                                        </p:tgtEl>
                                      </p:cBhvr>
                                    </p:animEffect>
                                  </p:childTnLst>
                                </p:cTn>
                              </p:par>
                              <p:par>
                                <p:cTn id="32" presetID="22" presetClass="entr" presetSubtype="8" fill="hold" grpId="0" nodeType="withEffect">
                                  <p:stCondLst>
                                    <p:cond delay="8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par>
                                <p:cTn id="35" presetID="22" presetClass="entr" presetSubtype="8" fill="hold" grpId="0" nodeType="withEffect">
                                  <p:stCondLst>
                                    <p:cond delay="80"/>
                                  </p:stCondLst>
                                  <p:childTnLst>
                                    <p:set>
                                      <p:cBhvr>
                                        <p:cTn id="36" dur="1" fill="hold">
                                          <p:stCondLst>
                                            <p:cond delay="0"/>
                                          </p:stCondLst>
                                        </p:cTn>
                                        <p:tgtEl>
                                          <p:spTgt spid="43"/>
                                        </p:tgtEl>
                                        <p:attrNameLst>
                                          <p:attrName>style.visibility</p:attrName>
                                        </p:attrNameLst>
                                      </p:cBhvr>
                                      <p:to>
                                        <p:strVal val="visible"/>
                                      </p:to>
                                    </p:set>
                                    <p:animEffect transition="in" filter="wipe(left)">
                                      <p:cBhvr>
                                        <p:cTn id="37" dur="500"/>
                                        <p:tgtEl>
                                          <p:spTgt spid="43"/>
                                        </p:tgtEl>
                                      </p:cBhvr>
                                    </p:animEffect>
                                  </p:childTnLst>
                                </p:cTn>
                              </p:par>
                              <p:par>
                                <p:cTn id="38" presetID="22" presetClass="entr" presetSubtype="8" fill="hold" grpId="0" nodeType="withEffect">
                                  <p:stCondLst>
                                    <p:cond delay="8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500"/>
                                        <p:tgtEl>
                                          <p:spTgt spid="44"/>
                                        </p:tgtEl>
                                      </p:cBhvr>
                                    </p:animEffect>
                                  </p:childTnLst>
                                </p:cTn>
                              </p:par>
                              <p:par>
                                <p:cTn id="41" presetID="22" presetClass="entr" presetSubtype="8" fill="hold" grpId="0" nodeType="withEffect">
                                  <p:stCondLst>
                                    <p:cond delay="16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par>
                                <p:cTn id="44" presetID="22" presetClass="entr" presetSubtype="8" fill="hold" grpId="0" nodeType="withEffect">
                                  <p:stCondLst>
                                    <p:cond delay="160"/>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grpId="0" nodeType="withEffect">
                                  <p:stCondLst>
                                    <p:cond delay="160"/>
                                  </p:stCondLst>
                                  <p:childTnLst>
                                    <p:set>
                                      <p:cBhvr>
                                        <p:cTn id="48" dur="1" fill="hold">
                                          <p:stCondLst>
                                            <p:cond delay="0"/>
                                          </p:stCondLst>
                                        </p:cTn>
                                        <p:tgtEl>
                                          <p:spTgt spid="27"/>
                                        </p:tgtEl>
                                        <p:attrNameLst>
                                          <p:attrName>style.visibility</p:attrName>
                                        </p:attrNameLst>
                                      </p:cBhvr>
                                      <p:to>
                                        <p:strVal val="visible"/>
                                      </p:to>
                                    </p:set>
                                    <p:animEffect transition="in" filter="wipe(left)">
                                      <p:cBhvr>
                                        <p:cTn id="49" dur="500"/>
                                        <p:tgtEl>
                                          <p:spTgt spid="27"/>
                                        </p:tgtEl>
                                      </p:cBhvr>
                                    </p:animEffect>
                                  </p:childTnLst>
                                </p:cTn>
                              </p:par>
                              <p:par>
                                <p:cTn id="50" presetID="22" presetClass="entr" presetSubtype="8" fill="hold" grpId="0" nodeType="withEffect">
                                  <p:stCondLst>
                                    <p:cond delay="160"/>
                                  </p:stCondLst>
                                  <p:childTnLst>
                                    <p:set>
                                      <p:cBhvr>
                                        <p:cTn id="51" dur="1" fill="hold">
                                          <p:stCondLst>
                                            <p:cond delay="0"/>
                                          </p:stCondLst>
                                        </p:cTn>
                                        <p:tgtEl>
                                          <p:spTgt spid="28"/>
                                        </p:tgtEl>
                                        <p:attrNameLst>
                                          <p:attrName>style.visibility</p:attrName>
                                        </p:attrNameLst>
                                      </p:cBhvr>
                                      <p:to>
                                        <p:strVal val="visible"/>
                                      </p:to>
                                    </p:set>
                                    <p:animEffect transition="in" filter="wipe(left)">
                                      <p:cBhvr>
                                        <p:cTn id="52" dur="500"/>
                                        <p:tgtEl>
                                          <p:spTgt spid="28"/>
                                        </p:tgtEl>
                                      </p:cBhvr>
                                    </p:animEffect>
                                  </p:childTnLst>
                                </p:cTn>
                              </p:par>
                              <p:par>
                                <p:cTn id="53" presetID="22" presetClass="entr" presetSubtype="8" fill="hold" grpId="0" nodeType="withEffect">
                                  <p:stCondLst>
                                    <p:cond delay="160"/>
                                  </p:stCondLst>
                                  <p:childTnLst>
                                    <p:set>
                                      <p:cBhvr>
                                        <p:cTn id="54" dur="1" fill="hold">
                                          <p:stCondLst>
                                            <p:cond delay="0"/>
                                          </p:stCondLst>
                                        </p:cTn>
                                        <p:tgtEl>
                                          <p:spTgt spid="45"/>
                                        </p:tgtEl>
                                        <p:attrNameLst>
                                          <p:attrName>style.visibility</p:attrName>
                                        </p:attrNameLst>
                                      </p:cBhvr>
                                      <p:to>
                                        <p:strVal val="visible"/>
                                      </p:to>
                                    </p:set>
                                    <p:animEffect transition="in" filter="wipe(left)">
                                      <p:cBhvr>
                                        <p:cTn id="55" dur="500"/>
                                        <p:tgtEl>
                                          <p:spTgt spid="45"/>
                                        </p:tgtEl>
                                      </p:cBhvr>
                                    </p:animEffect>
                                  </p:childTnLst>
                                </p:cTn>
                              </p:par>
                              <p:par>
                                <p:cTn id="56" presetID="22" presetClass="entr" presetSubtype="8" fill="hold" grpId="0" nodeType="withEffect">
                                  <p:stCondLst>
                                    <p:cond delay="160"/>
                                  </p:stCondLst>
                                  <p:childTnLst>
                                    <p:set>
                                      <p:cBhvr>
                                        <p:cTn id="57" dur="1" fill="hold">
                                          <p:stCondLst>
                                            <p:cond delay="0"/>
                                          </p:stCondLst>
                                        </p:cTn>
                                        <p:tgtEl>
                                          <p:spTgt spid="46"/>
                                        </p:tgtEl>
                                        <p:attrNameLst>
                                          <p:attrName>style.visibility</p:attrName>
                                        </p:attrNameLst>
                                      </p:cBhvr>
                                      <p:to>
                                        <p:strVal val="visible"/>
                                      </p:to>
                                    </p:set>
                                    <p:animEffect transition="in" filter="wipe(left)">
                                      <p:cBhvr>
                                        <p:cTn id="58" dur="500"/>
                                        <p:tgtEl>
                                          <p:spTgt spid="46"/>
                                        </p:tgtEl>
                                      </p:cBhvr>
                                    </p:animEffect>
                                  </p:childTnLst>
                                </p:cTn>
                              </p:par>
                              <p:par>
                                <p:cTn id="59" presetID="22" presetClass="entr" presetSubtype="8" fill="hold" grpId="0" nodeType="withEffect">
                                  <p:stCondLst>
                                    <p:cond delay="240"/>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par>
                                <p:cTn id="62" presetID="22" presetClass="entr" presetSubtype="8" fill="hold" grpId="0" nodeType="withEffect">
                                  <p:stCondLst>
                                    <p:cond delay="240"/>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par>
                                <p:cTn id="65" presetID="22" presetClass="entr" presetSubtype="8" fill="hold" grpId="0" nodeType="withEffect">
                                  <p:stCondLst>
                                    <p:cond delay="24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par>
                                <p:cTn id="68" presetID="22" presetClass="entr" presetSubtype="8" fill="hold" grpId="0" nodeType="withEffect">
                                  <p:stCondLst>
                                    <p:cond delay="240"/>
                                  </p:stCondLst>
                                  <p:childTnLst>
                                    <p:set>
                                      <p:cBhvr>
                                        <p:cTn id="69" dur="1" fill="hold">
                                          <p:stCondLst>
                                            <p:cond delay="0"/>
                                          </p:stCondLst>
                                        </p:cTn>
                                        <p:tgtEl>
                                          <p:spTgt spid="30"/>
                                        </p:tgtEl>
                                        <p:attrNameLst>
                                          <p:attrName>style.visibility</p:attrName>
                                        </p:attrNameLst>
                                      </p:cBhvr>
                                      <p:to>
                                        <p:strVal val="visible"/>
                                      </p:to>
                                    </p:set>
                                    <p:animEffect transition="in" filter="wipe(left)">
                                      <p:cBhvr>
                                        <p:cTn id="70" dur="500"/>
                                        <p:tgtEl>
                                          <p:spTgt spid="30"/>
                                        </p:tgtEl>
                                      </p:cBhvr>
                                    </p:animEffect>
                                  </p:childTnLst>
                                </p:cTn>
                              </p:par>
                              <p:par>
                                <p:cTn id="71" presetID="22" presetClass="entr" presetSubtype="8" fill="hold" grpId="0" nodeType="withEffect">
                                  <p:stCondLst>
                                    <p:cond delay="240"/>
                                  </p:stCondLst>
                                  <p:childTnLst>
                                    <p:set>
                                      <p:cBhvr>
                                        <p:cTn id="72" dur="1" fill="hold">
                                          <p:stCondLst>
                                            <p:cond delay="0"/>
                                          </p:stCondLst>
                                        </p:cTn>
                                        <p:tgtEl>
                                          <p:spTgt spid="47"/>
                                        </p:tgtEl>
                                        <p:attrNameLst>
                                          <p:attrName>style.visibility</p:attrName>
                                        </p:attrNameLst>
                                      </p:cBhvr>
                                      <p:to>
                                        <p:strVal val="visible"/>
                                      </p:to>
                                    </p:set>
                                    <p:animEffect transition="in" filter="wipe(left)">
                                      <p:cBhvr>
                                        <p:cTn id="73" dur="500"/>
                                        <p:tgtEl>
                                          <p:spTgt spid="47"/>
                                        </p:tgtEl>
                                      </p:cBhvr>
                                    </p:animEffect>
                                  </p:childTnLst>
                                </p:cTn>
                              </p:par>
                              <p:par>
                                <p:cTn id="74" presetID="22" presetClass="entr" presetSubtype="8" fill="hold" grpId="0" nodeType="withEffect">
                                  <p:stCondLst>
                                    <p:cond delay="240"/>
                                  </p:stCondLst>
                                  <p:childTnLst>
                                    <p:set>
                                      <p:cBhvr>
                                        <p:cTn id="75" dur="1" fill="hold">
                                          <p:stCondLst>
                                            <p:cond delay="0"/>
                                          </p:stCondLst>
                                        </p:cTn>
                                        <p:tgtEl>
                                          <p:spTgt spid="48"/>
                                        </p:tgtEl>
                                        <p:attrNameLst>
                                          <p:attrName>style.visibility</p:attrName>
                                        </p:attrNameLst>
                                      </p:cBhvr>
                                      <p:to>
                                        <p:strVal val="visible"/>
                                      </p:to>
                                    </p:set>
                                    <p:animEffect transition="in" filter="wipe(left)">
                                      <p:cBhvr>
                                        <p:cTn id="76" dur="500"/>
                                        <p:tgtEl>
                                          <p:spTgt spid="48"/>
                                        </p:tgtEl>
                                      </p:cBhvr>
                                    </p:animEffect>
                                  </p:childTnLst>
                                </p:cTn>
                              </p:par>
                              <p:par>
                                <p:cTn id="77" presetID="22" presetClass="entr" presetSubtype="8" fill="hold" grpId="0" nodeType="withEffect">
                                  <p:stCondLst>
                                    <p:cond delay="320"/>
                                  </p:stCondLst>
                                  <p:childTnLst>
                                    <p:set>
                                      <p:cBhvr>
                                        <p:cTn id="78" dur="1" fill="hold">
                                          <p:stCondLst>
                                            <p:cond delay="0"/>
                                          </p:stCondLst>
                                        </p:cTn>
                                        <p:tgtEl>
                                          <p:spTgt spid="13"/>
                                        </p:tgtEl>
                                        <p:attrNameLst>
                                          <p:attrName>style.visibility</p:attrName>
                                        </p:attrNameLst>
                                      </p:cBhvr>
                                      <p:to>
                                        <p:strVal val="visible"/>
                                      </p:to>
                                    </p:set>
                                    <p:animEffect transition="in" filter="wipe(left)">
                                      <p:cBhvr>
                                        <p:cTn id="79" dur="500"/>
                                        <p:tgtEl>
                                          <p:spTgt spid="13"/>
                                        </p:tgtEl>
                                      </p:cBhvr>
                                    </p:animEffect>
                                  </p:childTnLst>
                                </p:cTn>
                              </p:par>
                              <p:par>
                                <p:cTn id="80" presetID="22" presetClass="entr" presetSubtype="8" fill="hold" grpId="0" nodeType="withEffect">
                                  <p:stCondLst>
                                    <p:cond delay="320"/>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par>
                                <p:cTn id="83" presetID="22" presetClass="entr" presetSubtype="8" fill="hold" grpId="0" nodeType="withEffect">
                                  <p:stCondLst>
                                    <p:cond delay="320"/>
                                  </p:stCondLst>
                                  <p:childTnLst>
                                    <p:set>
                                      <p:cBhvr>
                                        <p:cTn id="84" dur="1" fill="hold">
                                          <p:stCondLst>
                                            <p:cond delay="0"/>
                                          </p:stCondLst>
                                        </p:cTn>
                                        <p:tgtEl>
                                          <p:spTgt spid="31"/>
                                        </p:tgtEl>
                                        <p:attrNameLst>
                                          <p:attrName>style.visibility</p:attrName>
                                        </p:attrNameLst>
                                      </p:cBhvr>
                                      <p:to>
                                        <p:strVal val="visible"/>
                                      </p:to>
                                    </p:set>
                                    <p:animEffect transition="in" filter="wipe(left)">
                                      <p:cBhvr>
                                        <p:cTn id="85" dur="500"/>
                                        <p:tgtEl>
                                          <p:spTgt spid="31"/>
                                        </p:tgtEl>
                                      </p:cBhvr>
                                    </p:animEffect>
                                  </p:childTnLst>
                                </p:cTn>
                              </p:par>
                              <p:par>
                                <p:cTn id="86" presetID="22" presetClass="entr" presetSubtype="8" fill="hold" grpId="0" nodeType="withEffect">
                                  <p:stCondLst>
                                    <p:cond delay="320"/>
                                  </p:stCondLst>
                                  <p:childTnLst>
                                    <p:set>
                                      <p:cBhvr>
                                        <p:cTn id="87" dur="1" fill="hold">
                                          <p:stCondLst>
                                            <p:cond delay="0"/>
                                          </p:stCondLst>
                                        </p:cTn>
                                        <p:tgtEl>
                                          <p:spTgt spid="32"/>
                                        </p:tgtEl>
                                        <p:attrNameLst>
                                          <p:attrName>style.visibility</p:attrName>
                                        </p:attrNameLst>
                                      </p:cBhvr>
                                      <p:to>
                                        <p:strVal val="visible"/>
                                      </p:to>
                                    </p:set>
                                    <p:animEffect transition="in" filter="wipe(left)">
                                      <p:cBhvr>
                                        <p:cTn id="88" dur="500"/>
                                        <p:tgtEl>
                                          <p:spTgt spid="32"/>
                                        </p:tgtEl>
                                      </p:cBhvr>
                                    </p:animEffect>
                                  </p:childTnLst>
                                </p:cTn>
                              </p:par>
                              <p:par>
                                <p:cTn id="89" presetID="22" presetClass="entr" presetSubtype="8" fill="hold" grpId="0" nodeType="withEffect">
                                  <p:stCondLst>
                                    <p:cond delay="320"/>
                                  </p:stCondLst>
                                  <p:childTnLst>
                                    <p:set>
                                      <p:cBhvr>
                                        <p:cTn id="90" dur="1" fill="hold">
                                          <p:stCondLst>
                                            <p:cond delay="0"/>
                                          </p:stCondLst>
                                        </p:cTn>
                                        <p:tgtEl>
                                          <p:spTgt spid="49"/>
                                        </p:tgtEl>
                                        <p:attrNameLst>
                                          <p:attrName>style.visibility</p:attrName>
                                        </p:attrNameLst>
                                      </p:cBhvr>
                                      <p:to>
                                        <p:strVal val="visible"/>
                                      </p:to>
                                    </p:set>
                                    <p:animEffect transition="in" filter="wipe(left)">
                                      <p:cBhvr>
                                        <p:cTn id="91" dur="500"/>
                                        <p:tgtEl>
                                          <p:spTgt spid="49"/>
                                        </p:tgtEl>
                                      </p:cBhvr>
                                    </p:animEffect>
                                  </p:childTnLst>
                                </p:cTn>
                              </p:par>
                              <p:par>
                                <p:cTn id="92" presetID="22" presetClass="entr" presetSubtype="8" fill="hold" grpId="0" nodeType="withEffect">
                                  <p:stCondLst>
                                    <p:cond delay="320"/>
                                  </p:stCondLst>
                                  <p:childTnLst>
                                    <p:set>
                                      <p:cBhvr>
                                        <p:cTn id="93" dur="1" fill="hold">
                                          <p:stCondLst>
                                            <p:cond delay="0"/>
                                          </p:stCondLst>
                                        </p:cTn>
                                        <p:tgtEl>
                                          <p:spTgt spid="50"/>
                                        </p:tgtEl>
                                        <p:attrNameLst>
                                          <p:attrName>style.visibility</p:attrName>
                                        </p:attrNameLst>
                                      </p:cBhvr>
                                      <p:to>
                                        <p:strVal val="visible"/>
                                      </p:to>
                                    </p:set>
                                    <p:animEffect transition="in" filter="wipe(left)">
                                      <p:cBhvr>
                                        <p:cTn id="94" dur="500"/>
                                        <p:tgtEl>
                                          <p:spTgt spid="50"/>
                                        </p:tgtEl>
                                      </p:cBhvr>
                                    </p:animEffect>
                                  </p:childTnLst>
                                </p:cTn>
                              </p:par>
                              <p:par>
                                <p:cTn id="95" presetID="22" presetClass="entr" presetSubtype="8" fill="hold" grpId="0" nodeType="withEffect">
                                  <p:stCondLst>
                                    <p:cond delay="400"/>
                                  </p:stCondLst>
                                  <p:childTnLst>
                                    <p:set>
                                      <p:cBhvr>
                                        <p:cTn id="96" dur="1" fill="hold">
                                          <p:stCondLst>
                                            <p:cond delay="0"/>
                                          </p:stCondLst>
                                        </p:cTn>
                                        <p:tgtEl>
                                          <p:spTgt spid="15"/>
                                        </p:tgtEl>
                                        <p:attrNameLst>
                                          <p:attrName>style.visibility</p:attrName>
                                        </p:attrNameLst>
                                      </p:cBhvr>
                                      <p:to>
                                        <p:strVal val="visible"/>
                                      </p:to>
                                    </p:set>
                                    <p:animEffect transition="in" filter="wipe(left)">
                                      <p:cBhvr>
                                        <p:cTn id="97" dur="500"/>
                                        <p:tgtEl>
                                          <p:spTgt spid="15"/>
                                        </p:tgtEl>
                                      </p:cBhvr>
                                    </p:animEffect>
                                  </p:childTnLst>
                                </p:cTn>
                              </p:par>
                              <p:par>
                                <p:cTn id="98" presetID="22" presetClass="entr" presetSubtype="8" fill="hold" grpId="0" nodeType="withEffect">
                                  <p:stCondLst>
                                    <p:cond delay="400"/>
                                  </p:stCondLst>
                                  <p:childTnLst>
                                    <p:set>
                                      <p:cBhvr>
                                        <p:cTn id="99" dur="1" fill="hold">
                                          <p:stCondLst>
                                            <p:cond delay="0"/>
                                          </p:stCondLst>
                                        </p:cTn>
                                        <p:tgtEl>
                                          <p:spTgt spid="16"/>
                                        </p:tgtEl>
                                        <p:attrNameLst>
                                          <p:attrName>style.visibility</p:attrName>
                                        </p:attrNameLst>
                                      </p:cBhvr>
                                      <p:to>
                                        <p:strVal val="visible"/>
                                      </p:to>
                                    </p:set>
                                    <p:animEffect transition="in" filter="wipe(left)">
                                      <p:cBhvr>
                                        <p:cTn id="100" dur="500"/>
                                        <p:tgtEl>
                                          <p:spTgt spid="16"/>
                                        </p:tgtEl>
                                      </p:cBhvr>
                                    </p:animEffect>
                                  </p:childTnLst>
                                </p:cTn>
                              </p:par>
                              <p:par>
                                <p:cTn id="101" presetID="22" presetClass="entr" presetSubtype="8" fill="hold" grpId="0" nodeType="withEffect">
                                  <p:stCondLst>
                                    <p:cond delay="400"/>
                                  </p:stCondLst>
                                  <p:childTnLst>
                                    <p:set>
                                      <p:cBhvr>
                                        <p:cTn id="102" dur="1" fill="hold">
                                          <p:stCondLst>
                                            <p:cond delay="0"/>
                                          </p:stCondLst>
                                        </p:cTn>
                                        <p:tgtEl>
                                          <p:spTgt spid="33"/>
                                        </p:tgtEl>
                                        <p:attrNameLst>
                                          <p:attrName>style.visibility</p:attrName>
                                        </p:attrNameLst>
                                      </p:cBhvr>
                                      <p:to>
                                        <p:strVal val="visible"/>
                                      </p:to>
                                    </p:set>
                                    <p:animEffect transition="in" filter="wipe(left)">
                                      <p:cBhvr>
                                        <p:cTn id="103" dur="500"/>
                                        <p:tgtEl>
                                          <p:spTgt spid="33"/>
                                        </p:tgtEl>
                                      </p:cBhvr>
                                    </p:animEffect>
                                  </p:childTnLst>
                                </p:cTn>
                              </p:par>
                              <p:par>
                                <p:cTn id="104" presetID="22" presetClass="entr" presetSubtype="8" fill="hold" grpId="0" nodeType="withEffect">
                                  <p:stCondLst>
                                    <p:cond delay="400"/>
                                  </p:stCondLst>
                                  <p:childTnLst>
                                    <p:set>
                                      <p:cBhvr>
                                        <p:cTn id="105" dur="1" fill="hold">
                                          <p:stCondLst>
                                            <p:cond delay="0"/>
                                          </p:stCondLst>
                                        </p:cTn>
                                        <p:tgtEl>
                                          <p:spTgt spid="34"/>
                                        </p:tgtEl>
                                        <p:attrNameLst>
                                          <p:attrName>style.visibility</p:attrName>
                                        </p:attrNameLst>
                                      </p:cBhvr>
                                      <p:to>
                                        <p:strVal val="visible"/>
                                      </p:to>
                                    </p:set>
                                    <p:animEffect transition="in" filter="wipe(left)">
                                      <p:cBhvr>
                                        <p:cTn id="106" dur="500"/>
                                        <p:tgtEl>
                                          <p:spTgt spid="34"/>
                                        </p:tgtEl>
                                      </p:cBhvr>
                                    </p:animEffect>
                                  </p:childTnLst>
                                </p:cTn>
                              </p:par>
                              <p:par>
                                <p:cTn id="107" presetID="22" presetClass="entr" presetSubtype="8" fill="hold" grpId="0" nodeType="withEffect">
                                  <p:stCondLst>
                                    <p:cond delay="400"/>
                                  </p:stCondLst>
                                  <p:childTnLst>
                                    <p:set>
                                      <p:cBhvr>
                                        <p:cTn id="108" dur="1" fill="hold">
                                          <p:stCondLst>
                                            <p:cond delay="0"/>
                                          </p:stCondLst>
                                        </p:cTn>
                                        <p:tgtEl>
                                          <p:spTgt spid="51"/>
                                        </p:tgtEl>
                                        <p:attrNameLst>
                                          <p:attrName>style.visibility</p:attrName>
                                        </p:attrNameLst>
                                      </p:cBhvr>
                                      <p:to>
                                        <p:strVal val="visible"/>
                                      </p:to>
                                    </p:set>
                                    <p:animEffect transition="in" filter="wipe(left)">
                                      <p:cBhvr>
                                        <p:cTn id="109" dur="500"/>
                                        <p:tgtEl>
                                          <p:spTgt spid="51"/>
                                        </p:tgtEl>
                                      </p:cBhvr>
                                    </p:animEffect>
                                  </p:childTnLst>
                                </p:cTn>
                              </p:par>
                              <p:par>
                                <p:cTn id="110" presetID="22" presetClass="entr" presetSubtype="8" fill="hold" grpId="0" nodeType="withEffect">
                                  <p:stCondLst>
                                    <p:cond delay="400"/>
                                  </p:stCondLst>
                                  <p:childTnLst>
                                    <p:set>
                                      <p:cBhvr>
                                        <p:cTn id="111" dur="1" fill="hold">
                                          <p:stCondLst>
                                            <p:cond delay="0"/>
                                          </p:stCondLst>
                                        </p:cTn>
                                        <p:tgtEl>
                                          <p:spTgt spid="52"/>
                                        </p:tgtEl>
                                        <p:attrNameLst>
                                          <p:attrName>style.visibility</p:attrName>
                                        </p:attrNameLst>
                                      </p:cBhvr>
                                      <p:to>
                                        <p:strVal val="visible"/>
                                      </p:to>
                                    </p:set>
                                    <p:animEffect transition="in" filter="wipe(left)">
                                      <p:cBhvr>
                                        <p:cTn id="112" dur="500"/>
                                        <p:tgtEl>
                                          <p:spTgt spid="52"/>
                                        </p:tgtEl>
                                      </p:cBhvr>
                                    </p:animEffect>
                                  </p:childTnLst>
                                </p:cTn>
                              </p:par>
                              <p:par>
                                <p:cTn id="113" presetID="22" presetClass="entr" presetSubtype="8" fill="hold" grpId="0" nodeType="withEffect">
                                  <p:stCondLst>
                                    <p:cond delay="480"/>
                                  </p:stCondLst>
                                  <p:childTnLst>
                                    <p:set>
                                      <p:cBhvr>
                                        <p:cTn id="114" dur="1" fill="hold">
                                          <p:stCondLst>
                                            <p:cond delay="0"/>
                                          </p:stCondLst>
                                        </p:cTn>
                                        <p:tgtEl>
                                          <p:spTgt spid="17"/>
                                        </p:tgtEl>
                                        <p:attrNameLst>
                                          <p:attrName>style.visibility</p:attrName>
                                        </p:attrNameLst>
                                      </p:cBhvr>
                                      <p:to>
                                        <p:strVal val="visible"/>
                                      </p:to>
                                    </p:set>
                                    <p:animEffect transition="in" filter="wipe(left)">
                                      <p:cBhvr>
                                        <p:cTn id="115" dur="500"/>
                                        <p:tgtEl>
                                          <p:spTgt spid="17"/>
                                        </p:tgtEl>
                                      </p:cBhvr>
                                    </p:animEffect>
                                  </p:childTnLst>
                                </p:cTn>
                              </p:par>
                              <p:par>
                                <p:cTn id="116" presetID="22" presetClass="entr" presetSubtype="8" fill="hold" grpId="0" nodeType="withEffect">
                                  <p:stCondLst>
                                    <p:cond delay="480"/>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480"/>
                                  </p:stCondLst>
                                  <p:childTnLst>
                                    <p:set>
                                      <p:cBhvr>
                                        <p:cTn id="120" dur="1" fill="hold">
                                          <p:stCondLst>
                                            <p:cond delay="0"/>
                                          </p:stCondLst>
                                        </p:cTn>
                                        <p:tgtEl>
                                          <p:spTgt spid="35"/>
                                        </p:tgtEl>
                                        <p:attrNameLst>
                                          <p:attrName>style.visibility</p:attrName>
                                        </p:attrNameLst>
                                      </p:cBhvr>
                                      <p:to>
                                        <p:strVal val="visible"/>
                                      </p:to>
                                    </p:set>
                                    <p:animEffect transition="in" filter="wipe(left)">
                                      <p:cBhvr>
                                        <p:cTn id="121" dur="500"/>
                                        <p:tgtEl>
                                          <p:spTgt spid="35"/>
                                        </p:tgtEl>
                                      </p:cBhvr>
                                    </p:animEffect>
                                  </p:childTnLst>
                                </p:cTn>
                              </p:par>
                              <p:par>
                                <p:cTn id="122" presetID="22" presetClass="entr" presetSubtype="8" fill="hold" grpId="0" nodeType="withEffect">
                                  <p:stCondLst>
                                    <p:cond delay="480"/>
                                  </p:stCondLst>
                                  <p:childTnLst>
                                    <p:set>
                                      <p:cBhvr>
                                        <p:cTn id="123" dur="1" fill="hold">
                                          <p:stCondLst>
                                            <p:cond delay="0"/>
                                          </p:stCondLst>
                                        </p:cTn>
                                        <p:tgtEl>
                                          <p:spTgt spid="36"/>
                                        </p:tgtEl>
                                        <p:attrNameLst>
                                          <p:attrName>style.visibility</p:attrName>
                                        </p:attrNameLst>
                                      </p:cBhvr>
                                      <p:to>
                                        <p:strVal val="visible"/>
                                      </p:to>
                                    </p:set>
                                    <p:animEffect transition="in" filter="wipe(left)">
                                      <p:cBhvr>
                                        <p:cTn id="124" dur="500"/>
                                        <p:tgtEl>
                                          <p:spTgt spid="36"/>
                                        </p:tgtEl>
                                      </p:cBhvr>
                                    </p:animEffect>
                                  </p:childTnLst>
                                </p:cTn>
                              </p:par>
                              <p:par>
                                <p:cTn id="125" presetID="22" presetClass="entr" presetSubtype="8" fill="hold" grpId="0" nodeType="withEffect">
                                  <p:stCondLst>
                                    <p:cond delay="480"/>
                                  </p:stCondLst>
                                  <p:childTnLst>
                                    <p:set>
                                      <p:cBhvr>
                                        <p:cTn id="126" dur="1" fill="hold">
                                          <p:stCondLst>
                                            <p:cond delay="0"/>
                                          </p:stCondLst>
                                        </p:cTn>
                                        <p:tgtEl>
                                          <p:spTgt spid="53"/>
                                        </p:tgtEl>
                                        <p:attrNameLst>
                                          <p:attrName>style.visibility</p:attrName>
                                        </p:attrNameLst>
                                      </p:cBhvr>
                                      <p:to>
                                        <p:strVal val="visible"/>
                                      </p:to>
                                    </p:set>
                                    <p:animEffect transition="in" filter="wipe(left)">
                                      <p:cBhvr>
                                        <p:cTn id="127" dur="500"/>
                                        <p:tgtEl>
                                          <p:spTgt spid="53"/>
                                        </p:tgtEl>
                                      </p:cBhvr>
                                    </p:animEffect>
                                  </p:childTnLst>
                                </p:cTn>
                              </p:par>
                              <p:par>
                                <p:cTn id="128" presetID="22" presetClass="entr" presetSubtype="8" fill="hold" grpId="0" nodeType="withEffect">
                                  <p:stCondLst>
                                    <p:cond delay="480"/>
                                  </p:stCondLst>
                                  <p:childTnLst>
                                    <p:set>
                                      <p:cBhvr>
                                        <p:cTn id="129" dur="1" fill="hold">
                                          <p:stCondLst>
                                            <p:cond delay="0"/>
                                          </p:stCondLst>
                                        </p:cTn>
                                        <p:tgtEl>
                                          <p:spTgt spid="54"/>
                                        </p:tgtEl>
                                        <p:attrNameLst>
                                          <p:attrName>style.visibility</p:attrName>
                                        </p:attrNameLst>
                                      </p:cBhvr>
                                      <p:to>
                                        <p:strVal val="visible"/>
                                      </p:to>
                                    </p:set>
                                    <p:animEffect transition="in" filter="wipe(left)">
                                      <p:cBhvr>
                                        <p:cTn id="130" dur="500"/>
                                        <p:tgtEl>
                                          <p:spTgt spid="54"/>
                                        </p:tgtEl>
                                      </p:cBhvr>
                                    </p:animEffect>
                                  </p:childTnLst>
                                </p:cTn>
                              </p:par>
                              <p:par>
                                <p:cTn id="131" presetID="22" presetClass="entr" presetSubtype="8" fill="hold" grpId="0" nodeType="withEffect">
                                  <p:stCondLst>
                                    <p:cond delay="560"/>
                                  </p:stCondLst>
                                  <p:childTnLst>
                                    <p:set>
                                      <p:cBhvr>
                                        <p:cTn id="132" dur="1" fill="hold">
                                          <p:stCondLst>
                                            <p:cond delay="0"/>
                                          </p:stCondLst>
                                        </p:cTn>
                                        <p:tgtEl>
                                          <p:spTgt spid="19"/>
                                        </p:tgtEl>
                                        <p:attrNameLst>
                                          <p:attrName>style.visibility</p:attrName>
                                        </p:attrNameLst>
                                      </p:cBhvr>
                                      <p:to>
                                        <p:strVal val="visible"/>
                                      </p:to>
                                    </p:set>
                                    <p:animEffect transition="in" filter="wipe(left)">
                                      <p:cBhvr>
                                        <p:cTn id="133" dur="500"/>
                                        <p:tgtEl>
                                          <p:spTgt spid="19"/>
                                        </p:tgtEl>
                                      </p:cBhvr>
                                    </p:animEffect>
                                  </p:childTnLst>
                                </p:cTn>
                              </p:par>
                              <p:par>
                                <p:cTn id="134" presetID="22" presetClass="entr" presetSubtype="8" fill="hold" grpId="0" nodeType="withEffect">
                                  <p:stCondLst>
                                    <p:cond delay="560"/>
                                  </p:stCondLst>
                                  <p:childTnLst>
                                    <p:set>
                                      <p:cBhvr>
                                        <p:cTn id="135" dur="1" fill="hold">
                                          <p:stCondLst>
                                            <p:cond delay="0"/>
                                          </p:stCondLst>
                                        </p:cTn>
                                        <p:tgtEl>
                                          <p:spTgt spid="20"/>
                                        </p:tgtEl>
                                        <p:attrNameLst>
                                          <p:attrName>style.visibility</p:attrName>
                                        </p:attrNameLst>
                                      </p:cBhvr>
                                      <p:to>
                                        <p:strVal val="visible"/>
                                      </p:to>
                                    </p:set>
                                    <p:animEffect transition="in" filter="wipe(left)">
                                      <p:cBhvr>
                                        <p:cTn id="136" dur="500"/>
                                        <p:tgtEl>
                                          <p:spTgt spid="20"/>
                                        </p:tgtEl>
                                      </p:cBhvr>
                                    </p:animEffect>
                                  </p:childTnLst>
                                </p:cTn>
                              </p:par>
                              <p:par>
                                <p:cTn id="137" presetID="22" presetClass="entr" presetSubtype="8" fill="hold" grpId="0" nodeType="withEffect">
                                  <p:stCondLst>
                                    <p:cond delay="560"/>
                                  </p:stCondLst>
                                  <p:childTnLst>
                                    <p:set>
                                      <p:cBhvr>
                                        <p:cTn id="138" dur="1" fill="hold">
                                          <p:stCondLst>
                                            <p:cond delay="0"/>
                                          </p:stCondLst>
                                        </p:cTn>
                                        <p:tgtEl>
                                          <p:spTgt spid="37"/>
                                        </p:tgtEl>
                                        <p:attrNameLst>
                                          <p:attrName>style.visibility</p:attrName>
                                        </p:attrNameLst>
                                      </p:cBhvr>
                                      <p:to>
                                        <p:strVal val="visible"/>
                                      </p:to>
                                    </p:set>
                                    <p:animEffect transition="in" filter="wipe(left)">
                                      <p:cBhvr>
                                        <p:cTn id="139" dur="500"/>
                                        <p:tgtEl>
                                          <p:spTgt spid="37"/>
                                        </p:tgtEl>
                                      </p:cBhvr>
                                    </p:animEffect>
                                  </p:childTnLst>
                                </p:cTn>
                              </p:par>
                              <p:par>
                                <p:cTn id="140" presetID="22" presetClass="entr" presetSubtype="8" fill="hold" grpId="0" nodeType="withEffect">
                                  <p:stCondLst>
                                    <p:cond delay="560"/>
                                  </p:stCondLst>
                                  <p:childTnLst>
                                    <p:set>
                                      <p:cBhvr>
                                        <p:cTn id="141" dur="1" fill="hold">
                                          <p:stCondLst>
                                            <p:cond delay="0"/>
                                          </p:stCondLst>
                                        </p:cTn>
                                        <p:tgtEl>
                                          <p:spTgt spid="38"/>
                                        </p:tgtEl>
                                        <p:attrNameLst>
                                          <p:attrName>style.visibility</p:attrName>
                                        </p:attrNameLst>
                                      </p:cBhvr>
                                      <p:to>
                                        <p:strVal val="visible"/>
                                      </p:to>
                                    </p:set>
                                    <p:animEffect transition="in" filter="wipe(left)">
                                      <p:cBhvr>
                                        <p:cTn id="142" dur="500"/>
                                        <p:tgtEl>
                                          <p:spTgt spid="38"/>
                                        </p:tgtEl>
                                      </p:cBhvr>
                                    </p:animEffect>
                                  </p:childTnLst>
                                </p:cTn>
                              </p:par>
                              <p:par>
                                <p:cTn id="143" presetID="22" presetClass="entr" presetSubtype="8" fill="hold" grpId="0" nodeType="withEffect">
                                  <p:stCondLst>
                                    <p:cond delay="560"/>
                                  </p:stCondLst>
                                  <p:childTnLst>
                                    <p:set>
                                      <p:cBhvr>
                                        <p:cTn id="144" dur="1" fill="hold">
                                          <p:stCondLst>
                                            <p:cond delay="0"/>
                                          </p:stCondLst>
                                        </p:cTn>
                                        <p:tgtEl>
                                          <p:spTgt spid="55"/>
                                        </p:tgtEl>
                                        <p:attrNameLst>
                                          <p:attrName>style.visibility</p:attrName>
                                        </p:attrNameLst>
                                      </p:cBhvr>
                                      <p:to>
                                        <p:strVal val="visible"/>
                                      </p:to>
                                    </p:set>
                                    <p:animEffect transition="in" filter="wipe(left)">
                                      <p:cBhvr>
                                        <p:cTn id="145" dur="500"/>
                                        <p:tgtEl>
                                          <p:spTgt spid="55"/>
                                        </p:tgtEl>
                                      </p:cBhvr>
                                    </p:animEffect>
                                  </p:childTnLst>
                                </p:cTn>
                              </p:par>
                              <p:par>
                                <p:cTn id="146" presetID="22" presetClass="entr" presetSubtype="8" fill="hold" grpId="0" nodeType="withEffect">
                                  <p:stCondLst>
                                    <p:cond delay="560"/>
                                  </p:stCondLst>
                                  <p:childTnLst>
                                    <p:set>
                                      <p:cBhvr>
                                        <p:cTn id="147" dur="1" fill="hold">
                                          <p:stCondLst>
                                            <p:cond delay="0"/>
                                          </p:stCondLst>
                                        </p:cTn>
                                        <p:tgtEl>
                                          <p:spTgt spid="56"/>
                                        </p:tgtEl>
                                        <p:attrNameLst>
                                          <p:attrName>style.visibility</p:attrName>
                                        </p:attrNameLst>
                                      </p:cBhvr>
                                      <p:to>
                                        <p:strVal val="visible"/>
                                      </p:to>
                                    </p:set>
                                    <p:animEffect transition="in" filter="wipe(left)">
                                      <p:cBhvr>
                                        <p:cTn id="148" dur="500"/>
                                        <p:tgtEl>
                                          <p:spTgt spid="56"/>
                                        </p:tgtEl>
                                      </p:cBhvr>
                                    </p:animEffect>
                                  </p:childTnLst>
                                </p:cTn>
                              </p:par>
                              <p:par>
                                <p:cTn id="149" presetID="22" presetClass="entr" presetSubtype="8" fill="hold" grpId="0" nodeType="withEffect">
                                  <p:stCondLst>
                                    <p:cond delay="640"/>
                                  </p:stCondLst>
                                  <p:childTnLst>
                                    <p:set>
                                      <p:cBhvr>
                                        <p:cTn id="150" dur="1" fill="hold">
                                          <p:stCondLst>
                                            <p:cond delay="0"/>
                                          </p:stCondLst>
                                        </p:cTn>
                                        <p:tgtEl>
                                          <p:spTgt spid="21"/>
                                        </p:tgtEl>
                                        <p:attrNameLst>
                                          <p:attrName>style.visibility</p:attrName>
                                        </p:attrNameLst>
                                      </p:cBhvr>
                                      <p:to>
                                        <p:strVal val="visible"/>
                                      </p:to>
                                    </p:set>
                                    <p:animEffect transition="in" filter="wipe(left)">
                                      <p:cBhvr>
                                        <p:cTn id="151" dur="500"/>
                                        <p:tgtEl>
                                          <p:spTgt spid="21"/>
                                        </p:tgtEl>
                                      </p:cBhvr>
                                    </p:animEffect>
                                  </p:childTnLst>
                                </p:cTn>
                              </p:par>
                              <p:par>
                                <p:cTn id="152" presetID="22" presetClass="entr" presetSubtype="8" fill="hold" grpId="0" nodeType="withEffect">
                                  <p:stCondLst>
                                    <p:cond delay="640"/>
                                  </p:stCondLst>
                                  <p:childTnLst>
                                    <p:set>
                                      <p:cBhvr>
                                        <p:cTn id="153" dur="1" fill="hold">
                                          <p:stCondLst>
                                            <p:cond delay="0"/>
                                          </p:stCondLst>
                                        </p:cTn>
                                        <p:tgtEl>
                                          <p:spTgt spid="22"/>
                                        </p:tgtEl>
                                        <p:attrNameLst>
                                          <p:attrName>style.visibility</p:attrName>
                                        </p:attrNameLst>
                                      </p:cBhvr>
                                      <p:to>
                                        <p:strVal val="visible"/>
                                      </p:to>
                                    </p:set>
                                    <p:animEffect transition="in" filter="wipe(left)">
                                      <p:cBhvr>
                                        <p:cTn id="154" dur="500"/>
                                        <p:tgtEl>
                                          <p:spTgt spid="22"/>
                                        </p:tgtEl>
                                      </p:cBhvr>
                                    </p:animEffect>
                                  </p:childTnLst>
                                </p:cTn>
                              </p:par>
                              <p:par>
                                <p:cTn id="155" presetID="22" presetClass="entr" presetSubtype="8" fill="hold" grpId="0" nodeType="withEffect">
                                  <p:stCondLst>
                                    <p:cond delay="640"/>
                                  </p:stCondLst>
                                  <p:childTnLst>
                                    <p:set>
                                      <p:cBhvr>
                                        <p:cTn id="156" dur="1" fill="hold">
                                          <p:stCondLst>
                                            <p:cond delay="0"/>
                                          </p:stCondLst>
                                        </p:cTn>
                                        <p:tgtEl>
                                          <p:spTgt spid="39"/>
                                        </p:tgtEl>
                                        <p:attrNameLst>
                                          <p:attrName>style.visibility</p:attrName>
                                        </p:attrNameLst>
                                      </p:cBhvr>
                                      <p:to>
                                        <p:strVal val="visible"/>
                                      </p:to>
                                    </p:set>
                                    <p:animEffect transition="in" filter="wipe(left)">
                                      <p:cBhvr>
                                        <p:cTn id="157" dur="500"/>
                                        <p:tgtEl>
                                          <p:spTgt spid="39"/>
                                        </p:tgtEl>
                                      </p:cBhvr>
                                    </p:animEffect>
                                  </p:childTnLst>
                                </p:cTn>
                              </p:par>
                              <p:par>
                                <p:cTn id="158" presetID="22" presetClass="entr" presetSubtype="8" fill="hold" grpId="0" nodeType="withEffect">
                                  <p:stCondLst>
                                    <p:cond delay="640"/>
                                  </p:stCondLst>
                                  <p:childTnLst>
                                    <p:set>
                                      <p:cBhvr>
                                        <p:cTn id="159" dur="1" fill="hold">
                                          <p:stCondLst>
                                            <p:cond delay="0"/>
                                          </p:stCondLst>
                                        </p:cTn>
                                        <p:tgtEl>
                                          <p:spTgt spid="40"/>
                                        </p:tgtEl>
                                        <p:attrNameLst>
                                          <p:attrName>style.visibility</p:attrName>
                                        </p:attrNameLst>
                                      </p:cBhvr>
                                      <p:to>
                                        <p:strVal val="visible"/>
                                      </p:to>
                                    </p:set>
                                    <p:animEffect transition="in" filter="wipe(left)">
                                      <p:cBhvr>
                                        <p:cTn id="160" dur="500"/>
                                        <p:tgtEl>
                                          <p:spTgt spid="40"/>
                                        </p:tgtEl>
                                      </p:cBhvr>
                                    </p:animEffect>
                                  </p:childTnLst>
                                </p:cTn>
                              </p:par>
                              <p:par>
                                <p:cTn id="161" presetID="22" presetClass="entr" presetSubtype="8" fill="hold" grpId="0" nodeType="withEffect">
                                  <p:stCondLst>
                                    <p:cond delay="640"/>
                                  </p:stCondLst>
                                  <p:childTnLst>
                                    <p:set>
                                      <p:cBhvr>
                                        <p:cTn id="162" dur="1" fill="hold">
                                          <p:stCondLst>
                                            <p:cond delay="0"/>
                                          </p:stCondLst>
                                        </p:cTn>
                                        <p:tgtEl>
                                          <p:spTgt spid="57"/>
                                        </p:tgtEl>
                                        <p:attrNameLst>
                                          <p:attrName>style.visibility</p:attrName>
                                        </p:attrNameLst>
                                      </p:cBhvr>
                                      <p:to>
                                        <p:strVal val="visible"/>
                                      </p:to>
                                    </p:set>
                                    <p:animEffect transition="in" filter="wipe(left)">
                                      <p:cBhvr>
                                        <p:cTn id="163" dur="500"/>
                                        <p:tgtEl>
                                          <p:spTgt spid="57"/>
                                        </p:tgtEl>
                                      </p:cBhvr>
                                    </p:animEffect>
                                  </p:childTnLst>
                                </p:cTn>
                              </p:par>
                              <p:par>
                                <p:cTn id="164" presetID="22" presetClass="entr" presetSubtype="8" fill="hold" grpId="0" nodeType="withEffect">
                                  <p:stCondLst>
                                    <p:cond delay="640"/>
                                  </p:stCondLst>
                                  <p:childTnLst>
                                    <p:set>
                                      <p:cBhvr>
                                        <p:cTn id="165" dur="1" fill="hold">
                                          <p:stCondLst>
                                            <p:cond delay="0"/>
                                          </p:stCondLst>
                                        </p:cTn>
                                        <p:tgtEl>
                                          <p:spTgt spid="58"/>
                                        </p:tgtEl>
                                        <p:attrNameLst>
                                          <p:attrName>style.visibility</p:attrName>
                                        </p:attrNameLst>
                                      </p:cBhvr>
                                      <p:to>
                                        <p:strVal val="visible"/>
                                      </p:to>
                                    </p:set>
                                    <p:animEffect transition="in" filter="wipe(left)">
                                      <p:cBhvr>
                                        <p:cTn id="166" dur="500"/>
                                        <p:tgtEl>
                                          <p:spTgt spid="58"/>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59"/>
                                        </p:tgtEl>
                                        <p:attrNameLst>
                                          <p:attrName>style.visibility</p:attrName>
                                        </p:attrNameLst>
                                      </p:cBhvr>
                                      <p:to>
                                        <p:strVal val="visible"/>
                                      </p:to>
                                    </p:set>
                                    <p:animEffect transition="in" filter="fade">
                                      <p:cBhvr>
                                        <p:cTn id="171" dur="500"/>
                                        <p:tgtEl>
                                          <p:spTgt spid="59"/>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60"/>
                                        </p:tgtEl>
                                        <p:attrNameLst>
                                          <p:attrName>style.visibility</p:attrName>
                                        </p:attrNameLst>
                                      </p:cBhvr>
                                      <p:to>
                                        <p:strVal val="visible"/>
                                      </p:to>
                                    </p:set>
                                    <p:animEffect transition="in" filter="fade">
                                      <p:cBhvr>
                                        <p:cTn id="174" dur="500"/>
                                        <p:tgtEl>
                                          <p:spTgt spid="60"/>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1"/>
                                        </p:tgtEl>
                                        <p:attrNameLst>
                                          <p:attrName>style.visibility</p:attrName>
                                        </p:attrNameLst>
                                      </p:cBhvr>
                                      <p:to>
                                        <p:strVal val="visible"/>
                                      </p:to>
                                    </p:set>
                                    <p:animEffect transition="in" filter="fade">
                                      <p:cBhvr>
                                        <p:cTn id="17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9B72CF"/>
                </a:solidFill>
                <a:latin typeface="Calibri"/>
              </a:rPr>
              <a:t>04</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Eight things atoms do</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Every one of these is ordinary Elixir
you will write in your first week.</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{:ok, v}</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[key: v]</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GenServer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1 · The tagged tuple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The convention the whole ecosystem is built on.</a:t>
            </a:r>
          </a:p>
        </p:txBody>
      </p:sp>
      <p:sp>
        <p:nvSpPr>
          <p:cNvPr id="5" name="a1f_codebg4"/>
          <p:cNvSpPr/>
          <p:nvPr/>
        </p:nvSpPr>
        <p:spPr>
          <a:xfrm>
            <a:off x="457200" y="1362456"/>
            <a:ext cx="489204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562855"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562855" cy="214884"/>
          </a:xfrm>
          <a:prstGeom prst="rect">
            <a:avLst/>
          </a:prstGeom>
          <a:noFill/>
        </p:spPr>
        <p:txBody>
          <a:bodyPr wrap="none" lIns="0" tIns="0" rIns="0" bIns="0" anchor="ctr">
            <a:spAutoFit/>
          </a:bodyPr>
          <a:lstStyle/>
          <a:p>
            <a:pPr algn="l"/>
            <a:r>
              <a:rPr sz="950" b="1">
                <a:solidFill>
                  <a:srgbClr val="C9B3E8"/>
                </a:solidFill>
                <a:latin typeface="Courier New"/>
              </a:rPr>
              <a:t>def safe(_a, 0), do: {:error, :division_by_zero}</a:t>
            </a:r>
          </a:p>
        </p:txBody>
      </p:sp>
      <p:sp>
        <p:nvSpPr>
          <p:cNvPr id="8" name="a1wd80_code7"/>
          <p:cNvSpPr txBox="1"/>
          <p:nvPr/>
        </p:nvSpPr>
        <p:spPr>
          <a:xfrm>
            <a:off x="621792" y="2016252"/>
            <a:ext cx="4562855" cy="214884"/>
          </a:xfrm>
          <a:prstGeom prst="rect">
            <a:avLst/>
          </a:prstGeom>
          <a:noFill/>
        </p:spPr>
        <p:txBody>
          <a:bodyPr wrap="none" lIns="0" tIns="0" rIns="0" bIns="0" anchor="ctr">
            <a:spAutoFit/>
          </a:bodyPr>
          <a:lstStyle/>
          <a:p>
            <a:pPr algn="l"/>
            <a:r>
              <a:rPr sz="950" b="1">
                <a:solidFill>
                  <a:srgbClr val="C9B3E8"/>
                </a:solidFill>
                <a:latin typeface="Courier New"/>
              </a:rPr>
              <a:t>def safe(a, b), do: {:ok, a / b}</a:t>
            </a:r>
          </a:p>
        </p:txBody>
      </p:sp>
      <p:sp>
        <p:nvSpPr>
          <p:cNvPr id="9" name="a1wd160_code8"/>
          <p:cNvSpPr txBox="1"/>
          <p:nvPr/>
        </p:nvSpPr>
        <p:spPr>
          <a:xfrm>
            <a:off x="621792" y="2231136"/>
            <a:ext cx="4562855" cy="214884"/>
          </a:xfrm>
          <a:prstGeom prst="rect">
            <a:avLst/>
          </a:prstGeom>
          <a:noFill/>
        </p:spPr>
        <p:txBody>
          <a:bodyPr wrap="none" lIns="0" tIns="0" rIns="0" bIns="0" anchor="ctr">
            <a:spAutoFit/>
          </a:bodyPr>
          <a:lstStyle/>
          <a:p>
            <a:pPr algn="l"/>
            <a:endParaRPr/>
          </a:p>
        </p:txBody>
      </p:sp>
      <p:sp>
        <p:nvSpPr>
          <p:cNvPr id="10" name="a1wd240_code9"/>
          <p:cNvSpPr txBox="1"/>
          <p:nvPr/>
        </p:nvSpPr>
        <p:spPr>
          <a:xfrm>
            <a:off x="621792" y="2446020"/>
            <a:ext cx="4562855" cy="214884"/>
          </a:xfrm>
          <a:prstGeom prst="rect">
            <a:avLst/>
          </a:prstGeom>
          <a:noFill/>
        </p:spPr>
        <p:txBody>
          <a:bodyPr wrap="none" lIns="0" tIns="0" rIns="0" bIns="0" anchor="ctr">
            <a:spAutoFit/>
          </a:bodyPr>
          <a:lstStyle/>
          <a:p>
            <a:pPr algn="l"/>
            <a:r>
              <a:rPr sz="950" b="1">
                <a:solidFill>
                  <a:srgbClr val="C9B3E8"/>
                </a:solidFill>
                <a:latin typeface="Courier New"/>
              </a:rPr>
              <a:t>case safe(10, 0) do</a:t>
            </a:r>
          </a:p>
        </p:txBody>
      </p:sp>
      <p:sp>
        <p:nvSpPr>
          <p:cNvPr id="11" name="a1wd320_code10"/>
          <p:cNvSpPr txBox="1"/>
          <p:nvPr/>
        </p:nvSpPr>
        <p:spPr>
          <a:xfrm>
            <a:off x="621792" y="2660904"/>
            <a:ext cx="4562855" cy="214884"/>
          </a:xfrm>
          <a:prstGeom prst="rect">
            <a:avLst/>
          </a:prstGeom>
          <a:noFill/>
        </p:spPr>
        <p:txBody>
          <a:bodyPr wrap="none" lIns="0" tIns="0" rIns="0" bIns="0" anchor="ctr">
            <a:spAutoFit/>
          </a:bodyPr>
          <a:lstStyle/>
          <a:p>
            <a:pPr algn="l"/>
            <a:r>
              <a:rPr sz="950" b="1">
                <a:solidFill>
                  <a:srgbClr val="C9B3E8"/>
                </a:solidFill>
                <a:latin typeface="Courier New"/>
              </a:rPr>
              <a:t>  {:ok, v}                    -&gt; v</a:t>
            </a:r>
          </a:p>
        </p:txBody>
      </p:sp>
      <p:sp>
        <p:nvSpPr>
          <p:cNvPr id="12" name="a1wd400_code11"/>
          <p:cNvSpPr txBox="1"/>
          <p:nvPr/>
        </p:nvSpPr>
        <p:spPr>
          <a:xfrm>
            <a:off x="621792" y="2875787"/>
            <a:ext cx="4562855" cy="214884"/>
          </a:xfrm>
          <a:prstGeom prst="rect">
            <a:avLst/>
          </a:prstGeom>
          <a:noFill/>
        </p:spPr>
        <p:txBody>
          <a:bodyPr wrap="none" lIns="0" tIns="0" rIns="0" bIns="0" anchor="ctr">
            <a:spAutoFit/>
          </a:bodyPr>
          <a:lstStyle/>
          <a:p>
            <a:pPr algn="l"/>
            <a:r>
              <a:rPr sz="950" b="1">
                <a:solidFill>
                  <a:srgbClr val="C9B3E8"/>
                </a:solidFill>
                <a:latin typeface="Courier New"/>
              </a:rPr>
              <a:t>  {:error, :division_by_zero} -&gt; 0.0</a:t>
            </a:r>
          </a:p>
        </p:txBody>
      </p:sp>
      <p:sp>
        <p:nvSpPr>
          <p:cNvPr id="13" name="a1wd480_code12"/>
          <p:cNvSpPr txBox="1"/>
          <p:nvPr/>
        </p:nvSpPr>
        <p:spPr>
          <a:xfrm>
            <a:off x="621792" y="3090672"/>
            <a:ext cx="4562855" cy="214884"/>
          </a:xfrm>
          <a:prstGeom prst="rect">
            <a:avLst/>
          </a:prstGeom>
          <a:noFill/>
        </p:spPr>
        <p:txBody>
          <a:bodyPr wrap="none" lIns="0" tIns="0" rIns="0" bIns="0" anchor="ctr">
            <a:spAutoFit/>
          </a:bodyPr>
          <a:lstStyle/>
          <a:p>
            <a:pPr algn="l"/>
            <a:r>
              <a:rPr sz="950" b="1">
                <a:solidFill>
                  <a:srgbClr val="C9B3E8"/>
                </a:solidFill>
                <a:latin typeface="Courier New"/>
              </a:rPr>
              <a:t>  {:error, other}             -&gt; raise other</a:t>
            </a:r>
          </a:p>
        </p:txBody>
      </p:sp>
      <p:sp>
        <p:nvSpPr>
          <p:cNvPr id="14" name="a1wd560_code13"/>
          <p:cNvSpPr txBox="1"/>
          <p:nvPr/>
        </p:nvSpPr>
        <p:spPr>
          <a:xfrm>
            <a:off x="621792" y="3305556"/>
            <a:ext cx="4562855" cy="214884"/>
          </a:xfrm>
          <a:prstGeom prst="rect">
            <a:avLst/>
          </a:prstGeom>
          <a:noFill/>
        </p:spPr>
        <p:txBody>
          <a:bodyPr wrap="none" lIns="0" tIns="0" rIns="0" bIns="0" anchor="ctr">
            <a:spAutoFit/>
          </a:bodyPr>
          <a:lstStyle/>
          <a:p>
            <a:pPr algn="l"/>
            <a:r>
              <a:rPr sz="950" b="1">
                <a:solidFill>
                  <a:srgbClr val="C9B3E8"/>
                </a:solidFill>
                <a:latin typeface="Courier New"/>
              </a:rPr>
              <a:t>end</a:t>
            </a:r>
          </a:p>
        </p:txBody>
      </p:sp>
      <p:sp>
        <p:nvSpPr>
          <p:cNvPr id="15" name="a2f_codebg14"/>
          <p:cNvSpPr/>
          <p:nvPr/>
        </p:nvSpPr>
        <p:spPr>
          <a:xfrm>
            <a:off x="5394960" y="1362456"/>
            <a:ext cx="329184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f_codeh15"/>
          <p:cNvSpPr txBox="1"/>
          <p:nvPr/>
        </p:nvSpPr>
        <p:spPr>
          <a:xfrm>
            <a:off x="5559552" y="1417320"/>
            <a:ext cx="2962656" cy="219456"/>
          </a:xfrm>
          <a:prstGeom prst="rect">
            <a:avLst/>
          </a:prstGeom>
          <a:noFill/>
        </p:spPr>
        <p:txBody>
          <a:bodyPr wrap="square" lIns="0" tIns="0" rIns="0" bIns="0" anchor="ctr">
            <a:spAutoFit/>
          </a:bodyPr>
          <a:lstStyle/>
          <a:p>
            <a:pPr algn="l"/>
            <a:r>
              <a:rPr sz="950" b="1">
                <a:solidFill>
                  <a:srgbClr val="64748B"/>
                </a:solidFill>
                <a:latin typeface="Courier New"/>
              </a:rPr>
              <a:t>REAL · the stdlib</a:t>
            </a:r>
          </a:p>
        </p:txBody>
      </p:sp>
      <p:sp>
        <p:nvSpPr>
          <p:cNvPr id="17" name="a2w_code16"/>
          <p:cNvSpPr txBox="1"/>
          <p:nvPr/>
        </p:nvSpPr>
        <p:spPr>
          <a:xfrm>
            <a:off x="5559552" y="1801368"/>
            <a:ext cx="2962656" cy="214884"/>
          </a:xfrm>
          <a:prstGeom prst="rect">
            <a:avLst/>
          </a:prstGeom>
          <a:noFill/>
        </p:spPr>
        <p:txBody>
          <a:bodyPr wrap="none" lIns="0" tIns="0" rIns="0" bIns="0" anchor="ctr">
            <a:spAutoFit/>
          </a:bodyPr>
          <a:lstStyle/>
          <a:p>
            <a:pPr algn="l"/>
            <a:r>
              <a:rPr sz="950" b="1">
                <a:solidFill>
                  <a:srgbClr val="C9B3E8"/>
                </a:solidFill>
                <a:latin typeface="Courier New"/>
              </a:rPr>
              <a:t>File.read("nope")</a:t>
            </a:r>
          </a:p>
        </p:txBody>
      </p:sp>
      <p:sp>
        <p:nvSpPr>
          <p:cNvPr id="18" name="a2wd80_code17"/>
          <p:cNvSpPr txBox="1"/>
          <p:nvPr/>
        </p:nvSpPr>
        <p:spPr>
          <a:xfrm>
            <a:off x="5559552" y="2016252"/>
            <a:ext cx="2962656" cy="214884"/>
          </a:xfrm>
          <a:prstGeom prst="rect">
            <a:avLst/>
          </a:prstGeom>
          <a:noFill/>
        </p:spPr>
        <p:txBody>
          <a:bodyPr wrap="none" lIns="0" tIns="0" rIns="0" bIns="0" anchor="ctr">
            <a:spAutoFit/>
          </a:bodyPr>
          <a:lstStyle/>
          <a:p>
            <a:pPr algn="l"/>
            <a:r>
              <a:rPr sz="950" b="0">
                <a:solidFill>
                  <a:srgbClr val="14B8A6"/>
                </a:solidFill>
                <a:latin typeface="Courier New"/>
              </a:rPr>
              <a:t>{:error, :enoent}</a:t>
            </a:r>
          </a:p>
        </p:txBody>
      </p:sp>
      <p:sp>
        <p:nvSpPr>
          <p:cNvPr id="19" name="a2wd160_code18"/>
          <p:cNvSpPr txBox="1"/>
          <p:nvPr/>
        </p:nvSpPr>
        <p:spPr>
          <a:xfrm>
            <a:off x="5559552" y="2231136"/>
            <a:ext cx="2962656" cy="214884"/>
          </a:xfrm>
          <a:prstGeom prst="rect">
            <a:avLst/>
          </a:prstGeom>
          <a:noFill/>
        </p:spPr>
        <p:txBody>
          <a:bodyPr wrap="none" lIns="0" tIns="0" rIns="0" bIns="0" anchor="ctr">
            <a:spAutoFit/>
          </a:bodyPr>
          <a:lstStyle/>
          <a:p>
            <a:pPr algn="l"/>
            <a:endParaRPr/>
          </a:p>
        </p:txBody>
      </p:sp>
      <p:sp>
        <p:nvSpPr>
          <p:cNvPr id="20" name="a2wd240_code19"/>
          <p:cNvSpPr txBox="1"/>
          <p:nvPr/>
        </p:nvSpPr>
        <p:spPr>
          <a:xfrm>
            <a:off x="5559552" y="2446020"/>
            <a:ext cx="2962656" cy="214884"/>
          </a:xfrm>
          <a:prstGeom prst="rect">
            <a:avLst/>
          </a:prstGeom>
          <a:noFill/>
        </p:spPr>
        <p:txBody>
          <a:bodyPr wrap="none" lIns="0" tIns="0" rIns="0" bIns="0" anchor="ctr">
            <a:spAutoFit/>
          </a:bodyPr>
          <a:lstStyle/>
          <a:p>
            <a:pPr algn="l"/>
            <a:r>
              <a:rPr sz="950" b="1">
                <a:solidFill>
                  <a:srgbClr val="C9B3E8"/>
                </a:solidFill>
                <a:latin typeface="Courier New"/>
              </a:rPr>
              <a:t>Map.fetch(%{a: 1}, :a)</a:t>
            </a:r>
          </a:p>
        </p:txBody>
      </p:sp>
      <p:sp>
        <p:nvSpPr>
          <p:cNvPr id="21" name="a2wd320_code20"/>
          <p:cNvSpPr txBox="1"/>
          <p:nvPr/>
        </p:nvSpPr>
        <p:spPr>
          <a:xfrm>
            <a:off x="5559552" y="2660904"/>
            <a:ext cx="2962656" cy="214884"/>
          </a:xfrm>
          <a:prstGeom prst="rect">
            <a:avLst/>
          </a:prstGeom>
          <a:noFill/>
        </p:spPr>
        <p:txBody>
          <a:bodyPr wrap="none" lIns="0" tIns="0" rIns="0" bIns="0" anchor="ctr">
            <a:spAutoFit/>
          </a:bodyPr>
          <a:lstStyle/>
          <a:p>
            <a:pPr algn="l"/>
            <a:r>
              <a:rPr sz="950" b="0">
                <a:solidFill>
                  <a:srgbClr val="14B8A6"/>
                </a:solidFill>
                <a:latin typeface="Courier New"/>
              </a:rPr>
              <a:t>{:ok, 1}</a:t>
            </a:r>
          </a:p>
        </p:txBody>
      </p:sp>
      <p:sp>
        <p:nvSpPr>
          <p:cNvPr id="22" name="a2wd400_code21"/>
          <p:cNvSpPr txBox="1"/>
          <p:nvPr/>
        </p:nvSpPr>
        <p:spPr>
          <a:xfrm>
            <a:off x="5559552" y="2875787"/>
            <a:ext cx="2962656" cy="214884"/>
          </a:xfrm>
          <a:prstGeom prst="rect">
            <a:avLst/>
          </a:prstGeom>
          <a:noFill/>
        </p:spPr>
        <p:txBody>
          <a:bodyPr wrap="none" lIns="0" tIns="0" rIns="0" bIns="0" anchor="ctr">
            <a:spAutoFit/>
          </a:bodyPr>
          <a:lstStyle/>
          <a:p>
            <a:pPr algn="l"/>
            <a:endParaRPr/>
          </a:p>
        </p:txBody>
      </p:sp>
      <p:sp>
        <p:nvSpPr>
          <p:cNvPr id="23" name="a2wd480_code22"/>
          <p:cNvSpPr txBox="1"/>
          <p:nvPr/>
        </p:nvSpPr>
        <p:spPr>
          <a:xfrm>
            <a:off x="5559552" y="3090672"/>
            <a:ext cx="2962656" cy="214884"/>
          </a:xfrm>
          <a:prstGeom prst="rect">
            <a:avLst/>
          </a:prstGeom>
          <a:noFill/>
        </p:spPr>
        <p:txBody>
          <a:bodyPr wrap="none" lIns="0" tIns="0" rIns="0" bIns="0" anchor="ctr">
            <a:spAutoFit/>
          </a:bodyPr>
          <a:lstStyle/>
          <a:p>
            <a:pPr algn="l"/>
            <a:r>
              <a:rPr sz="950" b="1">
                <a:solidFill>
                  <a:srgbClr val="C9B3E8"/>
                </a:solidFill>
                <a:latin typeface="Courier New"/>
              </a:rPr>
              <a:t>Map.fetch(%{a: 1}, :b)</a:t>
            </a:r>
          </a:p>
        </p:txBody>
      </p:sp>
      <p:sp>
        <p:nvSpPr>
          <p:cNvPr id="24" name="a2wd560_code23"/>
          <p:cNvSpPr txBox="1"/>
          <p:nvPr/>
        </p:nvSpPr>
        <p:spPr>
          <a:xfrm>
            <a:off x="5559552" y="3305556"/>
            <a:ext cx="2962656" cy="214884"/>
          </a:xfrm>
          <a:prstGeom prst="rect">
            <a:avLst/>
          </a:prstGeom>
          <a:noFill/>
        </p:spPr>
        <p:txBody>
          <a:bodyPr wrap="none" lIns="0" tIns="0" rIns="0" bIns="0" anchor="ctr">
            <a:spAutoFit/>
          </a:bodyPr>
          <a:lstStyle/>
          <a:p>
            <a:pPr algn="l"/>
            <a:r>
              <a:rPr sz="950" b="0">
                <a:solidFill>
                  <a:srgbClr val="14B8A6"/>
                </a:solidFill>
                <a:latin typeface="Courier New"/>
              </a:rPr>
              <a:t>:error</a:t>
            </a:r>
          </a:p>
        </p:txBody>
      </p:sp>
      <p:sp>
        <p:nvSpPr>
          <p:cNvPr id="25" name="a3f_nb24"/>
          <p:cNvSpPr/>
          <p:nvPr/>
        </p:nvSpPr>
        <p:spPr>
          <a:xfrm>
            <a:off x="457200" y="3813048"/>
            <a:ext cx="8229600" cy="566928"/>
          </a:xfrm>
          <a:prstGeom prst="roundRect">
            <a:avLst>
              <a:gd name="adj" fmla="val 1290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3f_nacc25"/>
          <p:cNvSpPr/>
          <p:nvPr/>
        </p:nvSpPr>
        <p:spPr>
          <a:xfrm>
            <a:off x="457200" y="3813048"/>
            <a:ext cx="50292" cy="56692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a3f_nt26"/>
          <p:cNvSpPr txBox="1"/>
          <p:nvPr/>
        </p:nvSpPr>
        <p:spPr>
          <a:xfrm>
            <a:off x="658368" y="3813048"/>
            <a:ext cx="7827264" cy="566928"/>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The atom is the tag the pattern matches on. Because it is one word, `case` over tags is as cheap as a switch on an integer — and because it is a name, the failing branch reads as :enoent rather than as errno 2.</a:t>
            </a:r>
          </a:p>
        </p:txBody>
      </p:sp>
      <p:sp>
        <p:nvSpPr>
          <p:cNvPr id="28" name="ft2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9" name="ft2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0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8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6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par>
                                <p:cTn id="46" presetID="22" presetClass="entr" presetSubtype="8" fill="hold" grpId="0" nodeType="withEffect">
                                  <p:stCondLst>
                                    <p:cond delay="80"/>
                                  </p:stCondLst>
                                  <p:childTnLst>
                                    <p:set>
                                      <p:cBhvr>
                                        <p:cTn id="47" dur="1" fill="hold">
                                          <p:stCondLst>
                                            <p:cond delay="0"/>
                                          </p:stCondLst>
                                        </p:cTn>
                                        <p:tgtEl>
                                          <p:spTgt spid="18"/>
                                        </p:tgtEl>
                                        <p:attrNameLst>
                                          <p:attrName>style.visibility</p:attrName>
                                        </p:attrNameLst>
                                      </p:cBhvr>
                                      <p:to>
                                        <p:strVal val="visible"/>
                                      </p:to>
                                    </p:set>
                                    <p:animEffect transition="in" filter="wipe(left)">
                                      <p:cBhvr>
                                        <p:cTn id="48" dur="500"/>
                                        <p:tgtEl>
                                          <p:spTgt spid="18"/>
                                        </p:tgtEl>
                                      </p:cBhvr>
                                    </p:animEffect>
                                  </p:childTnLst>
                                </p:cTn>
                              </p:par>
                              <p:par>
                                <p:cTn id="49" presetID="22" presetClass="entr" presetSubtype="8" fill="hold" grpId="0" nodeType="withEffect">
                                  <p:stCondLst>
                                    <p:cond delay="160"/>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par>
                                <p:cTn id="52" presetID="22" presetClass="entr" presetSubtype="8" fill="hold" grpId="0" nodeType="withEffect">
                                  <p:stCondLst>
                                    <p:cond delay="24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32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par>
                                <p:cTn id="58" presetID="22" presetClass="entr" presetSubtype="8" fill="hold" grpId="0" nodeType="withEffect">
                                  <p:stCondLst>
                                    <p:cond delay="40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par>
                                <p:cTn id="61" presetID="22" presetClass="entr" presetSubtype="8" fill="hold" grpId="0" nodeType="withEffect">
                                  <p:stCondLst>
                                    <p:cond delay="48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par>
                                <p:cTn id="64" presetID="22" presetClass="entr" presetSubtype="8" fill="hold" grpId="0" nodeType="withEffect">
                                  <p:stCondLst>
                                    <p:cond delay="56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2 · Options, via keyword lists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[sort: :asc] is sugar for a list of two-element tuples with atom keys.</a:t>
            </a:r>
          </a:p>
        </p:txBody>
      </p:sp>
      <p:sp>
        <p:nvSpPr>
          <p:cNvPr id="5" name="a1f_codebg4"/>
          <p:cNvSpPr/>
          <p:nvPr/>
        </p:nvSpPr>
        <p:spPr>
          <a:xfrm>
            <a:off x="457200" y="1362456"/>
            <a:ext cx="8229600" cy="1677923"/>
          </a:xfrm>
          <a:prstGeom prst="roundRect">
            <a:avLst>
              <a:gd name="adj" fmla="val 435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opts = [sort: :asc, limit: 10]</a:t>
            </a:r>
          </a:p>
        </p:txBody>
      </p:sp>
      <p:sp>
        <p:nvSpPr>
          <p:cNvPr id="8" name="a1wd80_code7"/>
          <p:cNvSpPr txBox="1"/>
          <p:nvPr/>
        </p:nvSpPr>
        <p:spPr>
          <a:xfrm>
            <a:off x="621792" y="2016252"/>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opts == [{:sort, :asc}, {:limit, 10}]</a:t>
            </a:r>
          </a:p>
        </p:txBody>
      </p:sp>
      <p:sp>
        <p:nvSpPr>
          <p:cNvPr id="9" name="a1wd160_code8"/>
          <p:cNvSpPr txBox="1"/>
          <p:nvPr/>
        </p:nvSpPr>
        <p:spPr>
          <a:xfrm>
            <a:off x="621792" y="2231136"/>
            <a:ext cx="7900416" cy="214884"/>
          </a:xfrm>
          <a:prstGeom prst="rect">
            <a:avLst/>
          </a:prstGeom>
          <a:noFill/>
        </p:spPr>
        <p:txBody>
          <a:bodyPr wrap="none" lIns="0" tIns="0" rIns="0" bIns="0" anchor="ctr">
            <a:spAutoFit/>
          </a:bodyPr>
          <a:lstStyle/>
          <a:p>
            <a:pPr algn="l"/>
            <a:r>
              <a:rPr sz="1000" b="0">
                <a:solidFill>
                  <a:srgbClr val="14B8A6"/>
                </a:solidFill>
                <a:latin typeface="Courier New"/>
              </a:rPr>
              <a:t>true                      # the sugar is exactly this</a:t>
            </a:r>
          </a:p>
        </p:txBody>
      </p:sp>
      <p:sp>
        <p:nvSpPr>
          <p:cNvPr id="10" name="a1wd240_code9"/>
          <p:cNvSpPr txBox="1"/>
          <p:nvPr/>
        </p:nvSpPr>
        <p:spPr>
          <a:xfrm>
            <a:off x="621792" y="2446020"/>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Keyword.get(opts, :limit)            #=&gt; 10</a:t>
            </a:r>
          </a:p>
        </p:txBody>
      </p:sp>
      <p:sp>
        <p:nvSpPr>
          <p:cNvPr id="11" name="a1wd320_code10"/>
          <p:cNvSpPr txBox="1"/>
          <p:nvPr/>
        </p:nvSpPr>
        <p:spPr>
          <a:xfrm>
            <a:off x="621792" y="2660904"/>
            <a:ext cx="7900416" cy="214884"/>
          </a:xfrm>
          <a:prstGeom prst="rect">
            <a:avLst/>
          </a:prstGeom>
          <a:noFill/>
        </p:spPr>
        <p:txBody>
          <a:bodyPr wrap="none" lIns="0" tIns="0" rIns="0" bIns="0" anchor="ctr">
            <a:spAutoFit/>
          </a:bodyPr>
          <a:lstStyle/>
          <a:p>
            <a:pPr algn="l"/>
            <a:r>
              <a:rPr sz="1000" b="0">
                <a:solidFill>
                  <a:srgbClr val="FCA5A5"/>
                </a:solidFill>
                <a:latin typeface="Courier New"/>
              </a:rPr>
              <a:t>iex&gt; Keyword.keyword?([{"a", 1}])         #=&gt; false  &lt;- string keys</a:t>
            </a:r>
          </a:p>
        </p:txBody>
      </p:sp>
      <p:sp>
        <p:nvSpPr>
          <p:cNvPr id="12" name="a2u_dot11"/>
          <p:cNvSpPr/>
          <p:nvPr/>
        </p:nvSpPr>
        <p:spPr>
          <a:xfrm>
            <a:off x="457200" y="3268979"/>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2u_b12"/>
          <p:cNvSpPr txBox="1"/>
          <p:nvPr/>
        </p:nvSpPr>
        <p:spPr>
          <a:xfrm>
            <a:off x="676656" y="3168396"/>
            <a:ext cx="8010144" cy="365760"/>
          </a:xfrm>
          <a:prstGeom prst="rect">
            <a:avLst/>
          </a:prstGeom>
          <a:noFill/>
        </p:spPr>
        <p:txBody>
          <a:bodyPr wrap="square" lIns="0" tIns="0" rIns="0" bIns="0" anchor="t">
            <a:spAutoFit/>
          </a:bodyPr>
          <a:lstStyle/>
          <a:p>
            <a:pPr algn="l"/>
            <a:r>
              <a:rPr sz="1150" b="1">
                <a:solidFill>
                  <a:srgbClr val="0F172A"/>
                </a:solidFill>
                <a:latin typeface="Calibri"/>
              </a:rPr>
              <a:t>The key MUST be an atom  </a:t>
            </a:r>
            <a:r>
              <a:rPr sz="1150" b="0">
                <a:solidFill>
                  <a:srgbClr val="334155"/>
                </a:solidFill>
                <a:latin typeface="Calibri"/>
              </a:rPr>
              <a:t>that is the definition of a keyword list — no atom, no sugar</a:t>
            </a:r>
          </a:p>
        </p:txBody>
      </p:sp>
      <p:sp>
        <p:nvSpPr>
          <p:cNvPr id="14" name="a2ud180_dot13"/>
          <p:cNvSpPr/>
          <p:nvPr/>
        </p:nvSpPr>
        <p:spPr>
          <a:xfrm>
            <a:off x="457200" y="367131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d180_b14"/>
          <p:cNvSpPr txBox="1"/>
          <p:nvPr/>
        </p:nvSpPr>
        <p:spPr>
          <a:xfrm>
            <a:off x="676656" y="3570732"/>
            <a:ext cx="8010144" cy="365760"/>
          </a:xfrm>
          <a:prstGeom prst="rect">
            <a:avLst/>
          </a:prstGeom>
          <a:noFill/>
        </p:spPr>
        <p:txBody>
          <a:bodyPr wrap="square" lIns="0" tIns="0" rIns="0" bIns="0" anchor="t">
            <a:spAutoFit/>
          </a:bodyPr>
          <a:lstStyle/>
          <a:p>
            <a:pPr algn="l"/>
            <a:r>
              <a:rPr sz="1150" b="1">
                <a:solidFill>
                  <a:srgbClr val="0F172A"/>
                </a:solidFill>
                <a:latin typeface="Calibri"/>
              </a:rPr>
              <a:t>Duplicates and order are kept  </a:t>
            </a:r>
            <a:r>
              <a:rPr sz="1150" b="0">
                <a:solidFill>
                  <a:srgbClr val="334155"/>
                </a:solidFill>
                <a:latin typeface="Calibri"/>
              </a:rPr>
              <a:t>which is why it is a list and not a map</a:t>
            </a:r>
          </a:p>
        </p:txBody>
      </p:sp>
      <p:sp>
        <p:nvSpPr>
          <p:cNvPr id="16" name="a2ud360_dot15"/>
          <p:cNvSpPr/>
          <p:nvPr/>
        </p:nvSpPr>
        <p:spPr>
          <a:xfrm>
            <a:off x="457200" y="4073652"/>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d360_b16"/>
          <p:cNvSpPr txBox="1"/>
          <p:nvPr/>
        </p:nvSpPr>
        <p:spPr>
          <a:xfrm>
            <a:off x="676656" y="3973068"/>
            <a:ext cx="8010144" cy="365760"/>
          </a:xfrm>
          <a:prstGeom prst="rect">
            <a:avLst/>
          </a:prstGeom>
          <a:noFill/>
        </p:spPr>
        <p:txBody>
          <a:bodyPr wrap="square" lIns="0" tIns="0" rIns="0" bIns="0" anchor="t">
            <a:spAutoFit/>
          </a:bodyPr>
          <a:lstStyle/>
          <a:p>
            <a:pPr algn="l"/>
            <a:r>
              <a:rPr sz="1150" b="1">
                <a:solidFill>
                  <a:srgbClr val="0F172A"/>
                </a:solidFill>
                <a:latin typeface="Calibri"/>
              </a:rPr>
              <a:t>Atoms as mode flags too  </a:t>
            </a:r>
            <a:r>
              <a:rPr sz="1150" b="0">
                <a:solidFill>
                  <a:srgbClr val="334155"/>
                </a:solidFill>
                <a:latin typeface="Calibri"/>
              </a:rPr>
              <a:t>:asc, :desc, :trim — a closed set, chosen by you</a:t>
            </a:r>
          </a:p>
        </p:txBody>
      </p:sp>
      <p:sp>
        <p:nvSpPr>
          <p:cNvPr id="18" name="ft1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19" name="ft1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6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4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2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ppt_y+0.1"/>
                                          </p:val>
                                        </p:tav>
                                        <p:tav tm="100000">
                                          <p:val>
                                            <p:strVal val="#ppt_y"/>
                                          </p:val>
                                        </p:tav>
                                      </p:tavLst>
                                    </p:anim>
                                    <p:animEffect transition="in" filter="fade">
                                      <p:cBhvr>
                                        <p:cTn id="32" dur="500"/>
                                        <p:tgtEl>
                                          <p:spTgt spid="12"/>
                                        </p:tgtEl>
                                      </p:cBhvr>
                                    </p:animEffect>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ppt_y+0.1"/>
                                          </p:val>
                                        </p:tav>
                                        <p:tav tm="100000">
                                          <p:val>
                                            <p:strVal val="#ppt_y"/>
                                          </p:val>
                                        </p:tav>
                                      </p:tavLst>
                                    </p:anim>
                                    <p:animEffect transition="in" filter="fade">
                                      <p:cBhvr>
                                        <p:cTn id="37" dur="500"/>
                                        <p:tgtEl>
                                          <p:spTgt spid="13"/>
                                        </p:tgtEl>
                                      </p:cBhvr>
                                    </p:animEffect>
                                  </p:childTnLst>
                                </p:cTn>
                              </p:par>
                              <p:par>
                                <p:cTn id="38" presetID="2" presetClass="entr" presetSubtype="4" fill="hold" grpId="0" nodeType="withEffect">
                                  <p:stCondLst>
                                    <p:cond delay="18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ppt_x"/>
                                          </p:val>
                                        </p:tav>
                                        <p:tav tm="100000">
                                          <p:val>
                                            <p:strVal val="#ppt_x"/>
                                          </p:val>
                                        </p:tav>
                                      </p:tavLst>
                                    </p:anim>
                                    <p:anim calcmode="lin" valueType="num">
                                      <p:cBhvr additive="base">
                                        <p:cTn id="41" dur="500" fill="hold"/>
                                        <p:tgtEl>
                                          <p:spTgt spid="14"/>
                                        </p:tgtEl>
                                        <p:attrNameLst>
                                          <p:attrName>ppt_y</p:attrName>
                                        </p:attrNameLst>
                                      </p:cBhvr>
                                      <p:tavLst>
                                        <p:tav tm="0">
                                          <p:val>
                                            <p:strVal val="#ppt_y+0.1"/>
                                          </p:val>
                                        </p:tav>
                                        <p:tav tm="100000">
                                          <p:val>
                                            <p:strVal val="#ppt_y"/>
                                          </p:val>
                                        </p:tav>
                                      </p:tavLst>
                                    </p:anim>
                                    <p:animEffect transition="in" filter="fade">
                                      <p:cBhvr>
                                        <p:cTn id="42" dur="500"/>
                                        <p:tgtEl>
                                          <p:spTgt spid="14"/>
                                        </p:tgtEl>
                                      </p:cBhvr>
                                    </p:animEffect>
                                  </p:childTnLst>
                                </p:cTn>
                              </p:par>
                              <p:par>
                                <p:cTn id="43" presetID="2" presetClass="entr" presetSubtype="4" fill="hold" grpId="0" nodeType="withEffect">
                                  <p:stCondLst>
                                    <p:cond delay="18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ppt_y+0.1"/>
                                          </p:val>
                                        </p:tav>
                                        <p:tav tm="100000">
                                          <p:val>
                                            <p:strVal val="#ppt_y"/>
                                          </p:val>
                                        </p:tav>
                                      </p:tavLst>
                                    </p:anim>
                                    <p:animEffect transition="in" filter="fade">
                                      <p:cBhvr>
                                        <p:cTn id="47" dur="500"/>
                                        <p:tgtEl>
                                          <p:spTgt spid="15"/>
                                        </p:tgtEl>
                                      </p:cBhvr>
                                    </p:animEffect>
                                  </p:childTnLst>
                                </p:cTn>
                              </p:par>
                              <p:par>
                                <p:cTn id="48" presetID="2" presetClass="entr" presetSubtype="4" fill="hold" grpId="0" nodeType="withEffect">
                                  <p:stCondLst>
                                    <p:cond delay="36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ppt_y+0.1"/>
                                          </p:val>
                                        </p:tav>
                                        <p:tav tm="100000">
                                          <p:val>
                                            <p:strVal val="#ppt_y"/>
                                          </p:val>
                                        </p:tav>
                                      </p:tavLst>
                                    </p:anim>
                                    <p:animEffect transition="in" filter="fade">
                                      <p:cBhvr>
                                        <p:cTn id="52" dur="500"/>
                                        <p:tgtEl>
                                          <p:spTgt spid="16"/>
                                        </p:tgtEl>
                                      </p:cBhvr>
                                    </p:animEffect>
                                  </p:childTnLst>
                                </p:cTn>
                              </p:par>
                              <p:par>
                                <p:cTn id="53" presetID="2" presetClass="entr" presetSubtype="4" fill="hold" grpId="0" nodeType="withEffect">
                                  <p:stCondLst>
                                    <p:cond delay="36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ppt_y+0.1"/>
                                          </p:val>
                                        </p:tav>
                                        <p:tav tm="100000">
                                          <p:val>
                                            <p:strVal val="#ppt_y"/>
                                          </p:val>
                                        </p:tav>
                                      </p:tavLst>
                                    </p:anim>
                                    <p:animEffect transition="in" filter="fade">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3 · Struct fields and map keys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Every struct is a map whose keys are atoms — including its own name.</a:t>
            </a:r>
          </a:p>
        </p:txBody>
      </p:sp>
      <p:sp>
        <p:nvSpPr>
          <p:cNvPr id="5" name="a1f_codebg4"/>
          <p:cNvSpPr/>
          <p:nvPr/>
        </p:nvSpPr>
        <p:spPr>
          <a:xfrm>
            <a:off x="457200" y="1362456"/>
            <a:ext cx="5074920" cy="2752344"/>
          </a:xfrm>
          <a:prstGeom prst="roundRect">
            <a:avLst>
              <a:gd name="adj" fmla="val 2657"/>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950" b="1">
                <a:solidFill>
                  <a:srgbClr val="C9B3E8"/>
                </a:solidFill>
                <a:latin typeface="Courier New"/>
              </a:rPr>
              <a:t>defmodule User do</a:t>
            </a:r>
          </a:p>
        </p:txBody>
      </p:sp>
      <p:sp>
        <p:nvSpPr>
          <p:cNvPr id="8" name="a1wd72_code7"/>
          <p:cNvSpPr txBox="1"/>
          <p:nvPr/>
        </p:nvSpPr>
        <p:spPr>
          <a:xfrm>
            <a:off x="621792" y="2016252"/>
            <a:ext cx="4745736" cy="214884"/>
          </a:xfrm>
          <a:prstGeom prst="rect">
            <a:avLst/>
          </a:prstGeom>
          <a:noFill/>
        </p:spPr>
        <p:txBody>
          <a:bodyPr wrap="none" lIns="0" tIns="0" rIns="0" bIns="0" anchor="ctr">
            <a:spAutoFit/>
          </a:bodyPr>
          <a:lstStyle/>
          <a:p>
            <a:pPr algn="l"/>
            <a:r>
              <a:rPr sz="950" b="1">
                <a:solidFill>
                  <a:srgbClr val="C9B3E8"/>
                </a:solidFill>
                <a:latin typeface="Courier New"/>
              </a:rPr>
              <a:t>  defstruct name: "anon", role: :guest,</a:t>
            </a:r>
          </a:p>
        </p:txBody>
      </p:sp>
      <p:sp>
        <p:nvSpPr>
          <p:cNvPr id="9" name="a1wd144_code8"/>
          <p:cNvSpPr txBox="1"/>
          <p:nvPr/>
        </p:nvSpPr>
        <p:spPr>
          <a:xfrm>
            <a:off x="621792" y="2231136"/>
            <a:ext cx="4745736" cy="214884"/>
          </a:xfrm>
          <a:prstGeom prst="rect">
            <a:avLst/>
          </a:prstGeom>
          <a:noFill/>
        </p:spPr>
        <p:txBody>
          <a:bodyPr wrap="none" lIns="0" tIns="0" rIns="0" bIns="0" anchor="ctr">
            <a:spAutoFit/>
          </a:bodyPr>
          <a:lstStyle/>
          <a:p>
            <a:pPr algn="l"/>
            <a:r>
              <a:rPr sz="950" b="1">
                <a:solidFill>
                  <a:srgbClr val="C9B3E8"/>
                </a:solidFill>
                <a:latin typeface="Courier New"/>
              </a:rPr>
              <a:t>            active: true</a:t>
            </a:r>
          </a:p>
        </p:txBody>
      </p:sp>
      <p:sp>
        <p:nvSpPr>
          <p:cNvPr id="10" name="a1wd216_code9"/>
          <p:cNvSpPr txBox="1"/>
          <p:nvPr/>
        </p:nvSpPr>
        <p:spPr>
          <a:xfrm>
            <a:off x="621792" y="2446020"/>
            <a:ext cx="4745736" cy="214884"/>
          </a:xfrm>
          <a:prstGeom prst="rect">
            <a:avLst/>
          </a:prstGeom>
          <a:noFill/>
        </p:spPr>
        <p:txBody>
          <a:bodyPr wrap="none" lIns="0" tIns="0" rIns="0" bIns="0" anchor="ctr">
            <a:spAutoFit/>
          </a:bodyPr>
          <a:lstStyle/>
          <a:p>
            <a:pPr algn="l"/>
            <a:r>
              <a:rPr sz="950" b="1">
                <a:solidFill>
                  <a:srgbClr val="C9B3E8"/>
                </a:solidFill>
                <a:latin typeface="Courier New"/>
              </a:rPr>
              <a:t>end</a:t>
            </a:r>
          </a:p>
        </p:txBody>
      </p:sp>
      <p:sp>
        <p:nvSpPr>
          <p:cNvPr id="11" name="a1wd288_code10"/>
          <p:cNvSpPr txBox="1"/>
          <p:nvPr/>
        </p:nvSpPr>
        <p:spPr>
          <a:xfrm>
            <a:off x="621792" y="2660904"/>
            <a:ext cx="4745736" cy="214884"/>
          </a:xfrm>
          <a:prstGeom prst="rect">
            <a:avLst/>
          </a:prstGeom>
          <a:noFill/>
        </p:spPr>
        <p:txBody>
          <a:bodyPr wrap="none" lIns="0" tIns="0" rIns="0" bIns="0" anchor="ctr">
            <a:spAutoFit/>
          </a:bodyPr>
          <a:lstStyle/>
          <a:p>
            <a:pPr algn="l"/>
            <a:endParaRPr/>
          </a:p>
        </p:txBody>
      </p:sp>
      <p:sp>
        <p:nvSpPr>
          <p:cNvPr id="12" name="a1wd360_code11"/>
          <p:cNvSpPr txBox="1"/>
          <p:nvPr/>
        </p:nvSpPr>
        <p:spPr>
          <a:xfrm>
            <a:off x="621792" y="2875787"/>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u = %User{name: "Ada", role: :admin}</a:t>
            </a:r>
          </a:p>
        </p:txBody>
      </p:sp>
      <p:sp>
        <p:nvSpPr>
          <p:cNvPr id="13" name="a1wd432_code12"/>
          <p:cNvSpPr txBox="1"/>
          <p:nvPr/>
        </p:nvSpPr>
        <p:spPr>
          <a:xfrm>
            <a:off x="621792" y="3090672"/>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u.__struct__</a:t>
            </a:r>
          </a:p>
        </p:txBody>
      </p:sp>
      <p:sp>
        <p:nvSpPr>
          <p:cNvPr id="14" name="a1wd504_code13"/>
          <p:cNvSpPr txBox="1"/>
          <p:nvPr/>
        </p:nvSpPr>
        <p:spPr>
          <a:xfrm>
            <a:off x="621792" y="3305556"/>
            <a:ext cx="4745736" cy="214884"/>
          </a:xfrm>
          <a:prstGeom prst="rect">
            <a:avLst/>
          </a:prstGeom>
          <a:noFill/>
        </p:spPr>
        <p:txBody>
          <a:bodyPr wrap="none" lIns="0" tIns="0" rIns="0" bIns="0" anchor="ctr">
            <a:spAutoFit/>
          </a:bodyPr>
          <a:lstStyle/>
          <a:p>
            <a:pPr algn="l"/>
            <a:r>
              <a:rPr sz="950" b="0">
                <a:solidFill>
                  <a:srgbClr val="14B8A6"/>
                </a:solidFill>
                <a:latin typeface="Courier New"/>
              </a:rPr>
              <a:t>User            # the MODULE atom, stored in the map</a:t>
            </a:r>
          </a:p>
        </p:txBody>
      </p:sp>
      <p:sp>
        <p:nvSpPr>
          <p:cNvPr id="15" name="a1wd576_code14"/>
          <p:cNvSpPr txBox="1"/>
          <p:nvPr/>
        </p:nvSpPr>
        <p:spPr>
          <a:xfrm>
            <a:off x="621792" y="3520439"/>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Map.keys(Map.from_struct(u))</a:t>
            </a:r>
          </a:p>
        </p:txBody>
      </p:sp>
      <p:sp>
        <p:nvSpPr>
          <p:cNvPr id="16" name="a1wd648_code15"/>
          <p:cNvSpPr txBox="1"/>
          <p:nvPr/>
        </p:nvSpPr>
        <p:spPr>
          <a:xfrm>
            <a:off x="621792" y="3735324"/>
            <a:ext cx="4745736" cy="214884"/>
          </a:xfrm>
          <a:prstGeom prst="rect">
            <a:avLst/>
          </a:prstGeom>
          <a:noFill/>
        </p:spPr>
        <p:txBody>
          <a:bodyPr wrap="none" lIns="0" tIns="0" rIns="0" bIns="0" anchor="ctr">
            <a:spAutoFit/>
          </a:bodyPr>
          <a:lstStyle/>
          <a:p>
            <a:pPr algn="l"/>
            <a:r>
              <a:rPr sz="950" b="0">
                <a:solidFill>
                  <a:srgbClr val="14B8A6"/>
                </a:solidFill>
                <a:latin typeface="Courier New"/>
              </a:rPr>
              <a:t>[:active, :name, :role]</a:t>
            </a:r>
          </a:p>
        </p:txBody>
      </p:sp>
      <p:sp>
        <p:nvSpPr>
          <p:cNvPr id="17" name="a2u_dot16"/>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_b17"/>
          <p:cNvSpPr txBox="1"/>
          <p:nvPr/>
        </p:nvSpPr>
        <p:spPr>
          <a:xfrm>
            <a:off x="5888736" y="1399031"/>
            <a:ext cx="2798063" cy="731519"/>
          </a:xfrm>
          <a:prstGeom prst="rect">
            <a:avLst/>
          </a:prstGeom>
          <a:noFill/>
        </p:spPr>
        <p:txBody>
          <a:bodyPr wrap="square" lIns="0" tIns="0" rIns="0" bIns="0" anchor="t">
            <a:spAutoFit/>
          </a:bodyPr>
          <a:lstStyle/>
          <a:p>
            <a:pPr algn="l"/>
            <a:r>
              <a:rPr sz="1100" b="1">
                <a:solidFill>
                  <a:srgbClr val="0F172A"/>
                </a:solidFill>
                <a:latin typeface="Calibri"/>
              </a:rPr>
              <a:t>u.role is atom-key sugar  </a:t>
            </a:r>
            <a:r>
              <a:rPr sz="1100" b="0">
                <a:solidFill>
                  <a:srgbClr val="334155"/>
                </a:solidFill>
                <a:latin typeface="Calibri"/>
              </a:rPr>
              <a:t>the dot syntax only exists for atom keys</a:t>
            </a:r>
          </a:p>
        </p:txBody>
      </p:sp>
      <p:sp>
        <p:nvSpPr>
          <p:cNvPr id="19" name="a2ud180_dot18"/>
          <p:cNvSpPr/>
          <p:nvPr/>
        </p:nvSpPr>
        <p:spPr>
          <a:xfrm>
            <a:off x="5669280" y="2267711"/>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180_b19"/>
          <p:cNvSpPr txBox="1"/>
          <p:nvPr/>
        </p:nvSpPr>
        <p:spPr>
          <a:xfrm>
            <a:off x="5888736" y="2167127"/>
            <a:ext cx="2798063" cy="731519"/>
          </a:xfrm>
          <a:prstGeom prst="rect">
            <a:avLst/>
          </a:prstGeom>
          <a:noFill/>
        </p:spPr>
        <p:txBody>
          <a:bodyPr wrap="square" lIns="0" tIns="0" rIns="0" bIns="0" anchor="t">
            <a:spAutoFit/>
          </a:bodyPr>
          <a:lstStyle/>
          <a:p>
            <a:pPr algn="l"/>
            <a:r>
              <a:rPr sz="1100" b="1">
                <a:solidFill>
                  <a:srgbClr val="0F172A"/>
                </a:solidFill>
                <a:latin typeface="Calibri"/>
              </a:rPr>
              <a:t>Defaults are known at compile time  </a:t>
            </a:r>
            <a:r>
              <a:rPr sz="1100" b="0">
                <a:solidFill>
                  <a:srgbClr val="334155"/>
                </a:solidFill>
                <a:latin typeface="Calibri"/>
              </a:rPr>
              <a:t>so the field atoms are created then, not at run time</a:t>
            </a:r>
          </a:p>
        </p:txBody>
      </p:sp>
      <p:sp>
        <p:nvSpPr>
          <p:cNvPr id="21" name="a2ud360_dot20"/>
          <p:cNvSpPr/>
          <p:nvPr/>
        </p:nvSpPr>
        <p:spPr>
          <a:xfrm>
            <a:off x="5669280" y="3035807"/>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2ud360_b21"/>
          <p:cNvSpPr txBox="1"/>
          <p:nvPr/>
        </p:nvSpPr>
        <p:spPr>
          <a:xfrm>
            <a:off x="5888736" y="2935223"/>
            <a:ext cx="2798063" cy="731519"/>
          </a:xfrm>
          <a:prstGeom prst="rect">
            <a:avLst/>
          </a:prstGeom>
          <a:noFill/>
        </p:spPr>
        <p:txBody>
          <a:bodyPr wrap="square" lIns="0" tIns="0" rIns="0" bIns="0" anchor="t">
            <a:spAutoFit/>
          </a:bodyPr>
          <a:lstStyle/>
          <a:p>
            <a:pPr algn="l"/>
            <a:r>
              <a:rPr sz="1100" b="1">
                <a:solidFill>
                  <a:srgbClr val="0F172A"/>
                </a:solidFill>
                <a:latin typeface="Calibri"/>
              </a:rPr>
              <a:t>A struct is tagged by :__struct__  </a:t>
            </a:r>
            <a:r>
              <a:rPr sz="1100" b="0">
                <a:solidFill>
                  <a:srgbClr val="334155"/>
                </a:solidFill>
                <a:latin typeface="Calibri"/>
              </a:rPr>
              <a:t>which is how protocols find its implementation</a:t>
            </a:r>
          </a:p>
        </p:txBody>
      </p:sp>
      <p:sp>
        <p:nvSpPr>
          <p:cNvPr id="23" name="a3f_nb22"/>
          <p:cNvSpPr/>
          <p:nvPr/>
        </p:nvSpPr>
        <p:spPr>
          <a:xfrm>
            <a:off x="457200" y="4242816"/>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acc23"/>
          <p:cNvSpPr/>
          <p:nvPr/>
        </p:nvSpPr>
        <p:spPr>
          <a:xfrm>
            <a:off x="457200" y="4242816"/>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3f_nt24"/>
          <p:cNvSpPr txBox="1"/>
          <p:nvPr/>
        </p:nvSpPr>
        <p:spPr>
          <a:xfrm>
            <a:off x="658368" y="4242816"/>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%{"name" =&gt; 1} and %{name: 1} are different maps with no overlap — Map.fetch!/2 with :name on the first raises KeyError.</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19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2"/>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44"/>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16"/>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288"/>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32"/>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04"/>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576"/>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648"/>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ppt_y+0.1"/>
                                          </p:val>
                                        </p:tav>
                                        <p:tav tm="100000">
                                          <p:val>
                                            <p:strVal val="#ppt_y"/>
                                          </p:val>
                                        </p:tav>
                                      </p:tavLst>
                                    </p:anim>
                                    <p:animEffect transition="in" filter="fade">
                                      <p:cBhvr>
                                        <p:cTn id="47" dur="500"/>
                                        <p:tgtEl>
                                          <p:spTgt spid="17"/>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ppt_y+0.1"/>
                                          </p:val>
                                        </p:tav>
                                        <p:tav tm="100000">
                                          <p:val>
                                            <p:strVal val="#ppt_y"/>
                                          </p:val>
                                        </p:tav>
                                      </p:tavLst>
                                    </p:anim>
                                    <p:animEffect transition="in" filter="fade">
                                      <p:cBhvr>
                                        <p:cTn id="52" dur="500"/>
                                        <p:tgtEl>
                                          <p:spTgt spid="18"/>
                                        </p:tgtEl>
                                      </p:cBhvr>
                                    </p:animEffect>
                                  </p:childTnLst>
                                </p:cTn>
                              </p:par>
                              <p:par>
                                <p:cTn id="53" presetID="2" presetClass="entr" presetSubtype="4" fill="hold" grpId="0" nodeType="withEffect">
                                  <p:stCondLst>
                                    <p:cond delay="18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ppt_y+0.1"/>
                                          </p:val>
                                        </p:tav>
                                        <p:tav tm="100000">
                                          <p:val>
                                            <p:strVal val="#ppt_y"/>
                                          </p:val>
                                        </p:tav>
                                      </p:tavLst>
                                    </p:anim>
                                    <p:animEffect transition="in" filter="fade">
                                      <p:cBhvr>
                                        <p:cTn id="57" dur="500"/>
                                        <p:tgtEl>
                                          <p:spTgt spid="19"/>
                                        </p:tgtEl>
                                      </p:cBhvr>
                                    </p:animEffect>
                                  </p:childTnLst>
                                </p:cTn>
                              </p:par>
                              <p:par>
                                <p:cTn id="58" presetID="2" presetClass="entr" presetSubtype="4" fill="hold" grpId="0" nodeType="withEffect">
                                  <p:stCondLst>
                                    <p:cond delay="18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500" fill="hold"/>
                                        <p:tgtEl>
                                          <p:spTgt spid="20"/>
                                        </p:tgtEl>
                                        <p:attrNameLst>
                                          <p:attrName>ppt_x</p:attrName>
                                        </p:attrNameLst>
                                      </p:cBhvr>
                                      <p:tavLst>
                                        <p:tav tm="0">
                                          <p:val>
                                            <p:strVal val="#ppt_x"/>
                                          </p:val>
                                        </p:tav>
                                        <p:tav tm="100000">
                                          <p:val>
                                            <p:strVal val="#ppt_x"/>
                                          </p:val>
                                        </p:tav>
                                      </p:tavLst>
                                    </p:anim>
                                    <p:anim calcmode="lin" valueType="num">
                                      <p:cBhvr additive="base">
                                        <p:cTn id="61" dur="500" fill="hold"/>
                                        <p:tgtEl>
                                          <p:spTgt spid="20"/>
                                        </p:tgtEl>
                                        <p:attrNameLst>
                                          <p:attrName>ppt_y</p:attrName>
                                        </p:attrNameLst>
                                      </p:cBhvr>
                                      <p:tavLst>
                                        <p:tav tm="0">
                                          <p:val>
                                            <p:strVal val="#ppt_y+0.1"/>
                                          </p:val>
                                        </p:tav>
                                        <p:tav tm="100000">
                                          <p:val>
                                            <p:strVal val="#ppt_y"/>
                                          </p:val>
                                        </p:tav>
                                      </p:tavLst>
                                    </p:anim>
                                    <p:animEffect transition="in" filter="fade">
                                      <p:cBhvr>
                                        <p:cTn id="62" dur="500"/>
                                        <p:tgtEl>
                                          <p:spTgt spid="20"/>
                                        </p:tgtEl>
                                      </p:cBhvr>
                                    </p:animEffect>
                                  </p:childTnLst>
                                </p:cTn>
                              </p:par>
                              <p:par>
                                <p:cTn id="63" presetID="2" presetClass="entr" presetSubtype="4" fill="hold" grpId="0" nodeType="withEffect">
                                  <p:stCondLst>
                                    <p:cond delay="36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ppt_y+0.1"/>
                                          </p:val>
                                        </p:tav>
                                        <p:tav tm="100000">
                                          <p:val>
                                            <p:strVal val="#ppt_y"/>
                                          </p:val>
                                        </p:tav>
                                      </p:tavLst>
                                    </p:anim>
                                    <p:animEffect transition="in" filter="fade">
                                      <p:cBhvr>
                                        <p:cTn id="67" dur="500"/>
                                        <p:tgtEl>
                                          <p:spTgt spid="21"/>
                                        </p:tgtEl>
                                      </p:cBhvr>
                                    </p:animEffect>
                                  </p:childTnLst>
                                </p:cTn>
                              </p:par>
                              <p:par>
                                <p:cTn id="68" presetID="2" presetClass="entr" presetSubtype="4" fill="hold" grpId="0" nodeType="withEffect">
                                  <p:stCondLst>
                                    <p:cond delay="36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ppt_x"/>
                                          </p:val>
                                        </p:tav>
                                        <p:tav tm="100000">
                                          <p:val>
                                            <p:strVal val="#ppt_x"/>
                                          </p:val>
                                        </p:tav>
                                      </p:tavLst>
                                    </p:anim>
                                    <p:anim calcmode="lin" valueType="num">
                                      <p:cBhvr additive="base">
                                        <p:cTn id="71" dur="500" fill="hold"/>
                                        <p:tgtEl>
                                          <p:spTgt spid="22"/>
                                        </p:tgtEl>
                                        <p:attrNameLst>
                                          <p:attrName>ppt_y</p:attrName>
                                        </p:attrNameLst>
                                      </p:cBhvr>
                                      <p:tavLst>
                                        <p:tav tm="0">
                                          <p:val>
                                            <p:strVal val="#ppt_y+0.1"/>
                                          </p:val>
                                        </p:tav>
                                        <p:tav tm="100000">
                                          <p:val>
                                            <p:strVal val="#ppt_y"/>
                                          </p:val>
                                        </p:tav>
                                      </p:tavLst>
                                    </p:anim>
                                    <p:animEffect transition="in" filter="fad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4 · States in a state machine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The state is an atom, and the transitions are function clauses.</a:t>
            </a:r>
          </a:p>
        </p:txBody>
      </p:sp>
      <p:sp>
        <p:nvSpPr>
          <p:cNvPr id="5" name="a1f_codebg4"/>
          <p:cNvSpPr/>
          <p:nvPr/>
        </p:nvSpPr>
        <p:spPr>
          <a:xfrm>
            <a:off x="457200" y="1362456"/>
            <a:ext cx="507492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950" b="1">
                <a:solidFill>
                  <a:srgbClr val="C9B3E8"/>
                </a:solidFill>
                <a:latin typeface="Courier New"/>
              </a:rPr>
              <a:t>@states [:cart, :paid, :shipped,</a:t>
            </a:r>
          </a:p>
        </p:txBody>
      </p:sp>
      <p:sp>
        <p:nvSpPr>
          <p:cNvPr id="8" name="a1wd72_code7"/>
          <p:cNvSpPr txBox="1"/>
          <p:nvPr/>
        </p:nvSpPr>
        <p:spPr>
          <a:xfrm>
            <a:off x="621792" y="2016252"/>
            <a:ext cx="4745736" cy="214884"/>
          </a:xfrm>
          <a:prstGeom prst="rect">
            <a:avLst/>
          </a:prstGeom>
          <a:noFill/>
        </p:spPr>
        <p:txBody>
          <a:bodyPr wrap="none" lIns="0" tIns="0" rIns="0" bIns="0" anchor="ctr">
            <a:spAutoFit/>
          </a:bodyPr>
          <a:lstStyle/>
          <a:p>
            <a:pPr algn="l"/>
            <a:r>
              <a:rPr sz="950" b="1">
                <a:solidFill>
                  <a:srgbClr val="C9B3E8"/>
                </a:solidFill>
                <a:latin typeface="Courier New"/>
              </a:rPr>
              <a:t>         :delivered, :cancelled]</a:t>
            </a:r>
          </a:p>
        </p:txBody>
      </p:sp>
      <p:sp>
        <p:nvSpPr>
          <p:cNvPr id="9" name="a1wd144_code8"/>
          <p:cNvSpPr txBox="1"/>
          <p:nvPr/>
        </p:nvSpPr>
        <p:spPr>
          <a:xfrm>
            <a:off x="621792" y="2231136"/>
            <a:ext cx="4745736" cy="214884"/>
          </a:xfrm>
          <a:prstGeom prst="rect">
            <a:avLst/>
          </a:prstGeom>
          <a:noFill/>
        </p:spPr>
        <p:txBody>
          <a:bodyPr wrap="none" lIns="0" tIns="0" rIns="0" bIns="0" anchor="ctr">
            <a:spAutoFit/>
          </a:bodyPr>
          <a:lstStyle/>
          <a:p>
            <a:pPr algn="l"/>
            <a:endParaRPr/>
          </a:p>
        </p:txBody>
      </p:sp>
      <p:sp>
        <p:nvSpPr>
          <p:cNvPr id="10" name="a1wd216_code9"/>
          <p:cNvSpPr txBox="1"/>
          <p:nvPr/>
        </p:nvSpPr>
        <p:spPr>
          <a:xfrm>
            <a:off x="621792" y="2446020"/>
            <a:ext cx="4745736" cy="214884"/>
          </a:xfrm>
          <a:prstGeom prst="rect">
            <a:avLst/>
          </a:prstGeom>
          <a:noFill/>
        </p:spPr>
        <p:txBody>
          <a:bodyPr wrap="none" lIns="0" tIns="0" rIns="0" bIns="0" anchor="ctr">
            <a:spAutoFit/>
          </a:bodyPr>
          <a:lstStyle/>
          <a:p>
            <a:pPr algn="l"/>
            <a:r>
              <a:rPr sz="950" b="1">
                <a:solidFill>
                  <a:srgbClr val="C9B3E8"/>
                </a:solidFill>
                <a:latin typeface="Courier New"/>
              </a:rPr>
              <a:t>def next(:cart,    :pay),     do: {:ok, :paid}</a:t>
            </a:r>
          </a:p>
        </p:txBody>
      </p:sp>
      <p:sp>
        <p:nvSpPr>
          <p:cNvPr id="11" name="a1wd288_code10"/>
          <p:cNvSpPr txBox="1"/>
          <p:nvPr/>
        </p:nvSpPr>
        <p:spPr>
          <a:xfrm>
            <a:off x="621792" y="2660904"/>
            <a:ext cx="4745736" cy="214884"/>
          </a:xfrm>
          <a:prstGeom prst="rect">
            <a:avLst/>
          </a:prstGeom>
          <a:noFill/>
        </p:spPr>
        <p:txBody>
          <a:bodyPr wrap="none" lIns="0" tIns="0" rIns="0" bIns="0" anchor="ctr">
            <a:spAutoFit/>
          </a:bodyPr>
          <a:lstStyle/>
          <a:p>
            <a:pPr algn="l"/>
            <a:r>
              <a:rPr sz="950" b="1">
                <a:solidFill>
                  <a:srgbClr val="C9B3E8"/>
                </a:solidFill>
                <a:latin typeface="Courier New"/>
              </a:rPr>
              <a:t>def next(:paid,    :ship),    do: {:ok, :shipped}</a:t>
            </a:r>
          </a:p>
        </p:txBody>
      </p:sp>
      <p:sp>
        <p:nvSpPr>
          <p:cNvPr id="12" name="a1wd360_code11"/>
          <p:cNvSpPr txBox="1"/>
          <p:nvPr/>
        </p:nvSpPr>
        <p:spPr>
          <a:xfrm>
            <a:off x="621792" y="2875787"/>
            <a:ext cx="4745736" cy="214884"/>
          </a:xfrm>
          <a:prstGeom prst="rect">
            <a:avLst/>
          </a:prstGeom>
          <a:noFill/>
        </p:spPr>
        <p:txBody>
          <a:bodyPr wrap="none" lIns="0" tIns="0" rIns="0" bIns="0" anchor="ctr">
            <a:spAutoFit/>
          </a:bodyPr>
          <a:lstStyle/>
          <a:p>
            <a:pPr algn="l"/>
            <a:r>
              <a:rPr sz="950" b="1">
                <a:solidFill>
                  <a:srgbClr val="C9B3E8"/>
                </a:solidFill>
                <a:latin typeface="Courier New"/>
              </a:rPr>
              <a:t>def next(:shipped, :deliver), do: {:ok, :delivered}</a:t>
            </a:r>
          </a:p>
        </p:txBody>
      </p:sp>
      <p:sp>
        <p:nvSpPr>
          <p:cNvPr id="13" name="a1wd432_code12"/>
          <p:cNvSpPr txBox="1"/>
          <p:nvPr/>
        </p:nvSpPr>
        <p:spPr>
          <a:xfrm>
            <a:off x="621792" y="3090672"/>
            <a:ext cx="4745736" cy="214884"/>
          </a:xfrm>
          <a:prstGeom prst="rect">
            <a:avLst/>
          </a:prstGeom>
          <a:noFill/>
        </p:spPr>
        <p:txBody>
          <a:bodyPr wrap="none" lIns="0" tIns="0" rIns="0" bIns="0" anchor="ctr">
            <a:spAutoFit/>
          </a:bodyPr>
          <a:lstStyle/>
          <a:p>
            <a:pPr algn="l"/>
            <a:r>
              <a:rPr sz="950" b="1">
                <a:solidFill>
                  <a:srgbClr val="C9B3E8"/>
                </a:solidFill>
                <a:latin typeface="Courier New"/>
              </a:rPr>
              <a:t>def next(s, :cancel) when s in [:cart, :paid],</a:t>
            </a:r>
          </a:p>
        </p:txBody>
      </p:sp>
      <p:sp>
        <p:nvSpPr>
          <p:cNvPr id="14" name="a1wd504_code13"/>
          <p:cNvSpPr txBox="1"/>
          <p:nvPr/>
        </p:nvSpPr>
        <p:spPr>
          <a:xfrm>
            <a:off x="621792" y="3305556"/>
            <a:ext cx="4745736" cy="214884"/>
          </a:xfrm>
          <a:prstGeom prst="rect">
            <a:avLst/>
          </a:prstGeom>
          <a:noFill/>
        </p:spPr>
        <p:txBody>
          <a:bodyPr wrap="none" lIns="0" tIns="0" rIns="0" bIns="0" anchor="ctr">
            <a:spAutoFit/>
          </a:bodyPr>
          <a:lstStyle/>
          <a:p>
            <a:pPr algn="l"/>
            <a:r>
              <a:rPr sz="950" b="1">
                <a:solidFill>
                  <a:srgbClr val="C9B3E8"/>
                </a:solidFill>
                <a:latin typeface="Courier New"/>
              </a:rPr>
              <a:t>                              do: {:ok, :cancelled}</a:t>
            </a:r>
          </a:p>
        </p:txBody>
      </p:sp>
      <p:sp>
        <p:nvSpPr>
          <p:cNvPr id="15" name="a1wd576_code14"/>
          <p:cNvSpPr txBox="1"/>
          <p:nvPr/>
        </p:nvSpPr>
        <p:spPr>
          <a:xfrm>
            <a:off x="621792" y="3520439"/>
            <a:ext cx="4745736" cy="214884"/>
          </a:xfrm>
          <a:prstGeom prst="rect">
            <a:avLst/>
          </a:prstGeom>
          <a:noFill/>
        </p:spPr>
        <p:txBody>
          <a:bodyPr wrap="none" lIns="0" tIns="0" rIns="0" bIns="0" anchor="ctr">
            <a:spAutoFit/>
          </a:bodyPr>
          <a:lstStyle/>
          <a:p>
            <a:pPr algn="l"/>
            <a:r>
              <a:rPr sz="950" b="1">
                <a:solidFill>
                  <a:srgbClr val="C9B3E8"/>
                </a:solidFill>
                <a:latin typeface="Courier New"/>
              </a:rPr>
              <a:t>def next(s, e), do: {:error, {:illegal, s, e}}</a:t>
            </a:r>
          </a:p>
        </p:txBody>
      </p:sp>
      <p:sp>
        <p:nvSpPr>
          <p:cNvPr id="16" name="a2f_codebg15"/>
          <p:cNvSpPr/>
          <p:nvPr/>
        </p:nvSpPr>
        <p:spPr>
          <a:xfrm>
            <a:off x="5669280" y="1362456"/>
            <a:ext cx="3017520" cy="2107691"/>
          </a:xfrm>
          <a:prstGeom prst="roundRect">
            <a:avLst>
              <a:gd name="adj" fmla="val 347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f_codeh16"/>
          <p:cNvSpPr txBox="1"/>
          <p:nvPr/>
        </p:nvSpPr>
        <p:spPr>
          <a:xfrm>
            <a:off x="5833872" y="1417320"/>
            <a:ext cx="2688336" cy="219456"/>
          </a:xfrm>
          <a:prstGeom prst="rect">
            <a:avLst/>
          </a:prstGeom>
          <a:noFill/>
        </p:spPr>
        <p:txBody>
          <a:bodyPr wrap="square" lIns="0" tIns="0" rIns="0" bIns="0" anchor="ctr">
            <a:spAutoFit/>
          </a:bodyPr>
          <a:lstStyle/>
          <a:p>
            <a:pPr algn="l"/>
            <a:r>
              <a:rPr sz="950" b="1">
                <a:solidFill>
                  <a:srgbClr val="64748B"/>
                </a:solidFill>
                <a:latin typeface="Courier New"/>
              </a:rPr>
              <a:t>REAL</a:t>
            </a:r>
          </a:p>
        </p:txBody>
      </p:sp>
      <p:sp>
        <p:nvSpPr>
          <p:cNvPr id="18" name="a2w_code17"/>
          <p:cNvSpPr txBox="1"/>
          <p:nvPr/>
        </p:nvSpPr>
        <p:spPr>
          <a:xfrm>
            <a:off x="5833872" y="1801368"/>
            <a:ext cx="2688336" cy="214884"/>
          </a:xfrm>
          <a:prstGeom prst="rect">
            <a:avLst/>
          </a:prstGeom>
          <a:noFill/>
        </p:spPr>
        <p:txBody>
          <a:bodyPr wrap="none" lIns="0" tIns="0" rIns="0" bIns="0" anchor="ctr">
            <a:spAutoFit/>
          </a:bodyPr>
          <a:lstStyle/>
          <a:p>
            <a:pPr algn="l"/>
            <a:r>
              <a:rPr sz="950" b="1">
                <a:solidFill>
                  <a:srgbClr val="C9B3E8"/>
                </a:solidFill>
                <a:latin typeface="Courier New"/>
              </a:rPr>
              <a:t>next(:cart, :pay)</a:t>
            </a:r>
          </a:p>
        </p:txBody>
      </p:sp>
      <p:sp>
        <p:nvSpPr>
          <p:cNvPr id="19" name="a2wd85_code18"/>
          <p:cNvSpPr txBox="1"/>
          <p:nvPr/>
        </p:nvSpPr>
        <p:spPr>
          <a:xfrm>
            <a:off x="5833872" y="2016252"/>
            <a:ext cx="2688336" cy="214884"/>
          </a:xfrm>
          <a:prstGeom prst="rect">
            <a:avLst/>
          </a:prstGeom>
          <a:noFill/>
        </p:spPr>
        <p:txBody>
          <a:bodyPr wrap="none" lIns="0" tIns="0" rIns="0" bIns="0" anchor="ctr">
            <a:spAutoFit/>
          </a:bodyPr>
          <a:lstStyle/>
          <a:p>
            <a:pPr algn="l"/>
            <a:r>
              <a:rPr sz="950" b="0">
                <a:solidFill>
                  <a:srgbClr val="14B8A6"/>
                </a:solidFill>
                <a:latin typeface="Courier New"/>
              </a:rPr>
              <a:t>{:ok, :paid}</a:t>
            </a:r>
          </a:p>
        </p:txBody>
      </p:sp>
      <p:sp>
        <p:nvSpPr>
          <p:cNvPr id="20" name="a2wd170_code19"/>
          <p:cNvSpPr txBox="1"/>
          <p:nvPr/>
        </p:nvSpPr>
        <p:spPr>
          <a:xfrm>
            <a:off x="5833872" y="2231136"/>
            <a:ext cx="2688336" cy="214884"/>
          </a:xfrm>
          <a:prstGeom prst="rect">
            <a:avLst/>
          </a:prstGeom>
          <a:noFill/>
        </p:spPr>
        <p:txBody>
          <a:bodyPr wrap="none" lIns="0" tIns="0" rIns="0" bIns="0" anchor="ctr">
            <a:spAutoFit/>
          </a:bodyPr>
          <a:lstStyle/>
          <a:p>
            <a:pPr algn="l"/>
            <a:endParaRPr/>
          </a:p>
        </p:txBody>
      </p:sp>
      <p:sp>
        <p:nvSpPr>
          <p:cNvPr id="21" name="a2wd255_code20"/>
          <p:cNvSpPr txBox="1"/>
          <p:nvPr/>
        </p:nvSpPr>
        <p:spPr>
          <a:xfrm>
            <a:off x="5833872" y="2446020"/>
            <a:ext cx="2688336" cy="214884"/>
          </a:xfrm>
          <a:prstGeom prst="rect">
            <a:avLst/>
          </a:prstGeom>
          <a:noFill/>
        </p:spPr>
        <p:txBody>
          <a:bodyPr wrap="none" lIns="0" tIns="0" rIns="0" bIns="0" anchor="ctr">
            <a:spAutoFit/>
          </a:bodyPr>
          <a:lstStyle/>
          <a:p>
            <a:pPr algn="l"/>
            <a:r>
              <a:rPr sz="950" b="1">
                <a:solidFill>
                  <a:srgbClr val="C9B3E8"/>
                </a:solidFill>
                <a:latin typeface="Courier New"/>
              </a:rPr>
              <a:t>next(:cart, :ship)</a:t>
            </a:r>
          </a:p>
        </p:txBody>
      </p:sp>
      <p:sp>
        <p:nvSpPr>
          <p:cNvPr id="22" name="a2wd340_code21"/>
          <p:cNvSpPr txBox="1"/>
          <p:nvPr/>
        </p:nvSpPr>
        <p:spPr>
          <a:xfrm>
            <a:off x="5833872" y="2660904"/>
            <a:ext cx="2688336" cy="214884"/>
          </a:xfrm>
          <a:prstGeom prst="rect">
            <a:avLst/>
          </a:prstGeom>
          <a:noFill/>
        </p:spPr>
        <p:txBody>
          <a:bodyPr wrap="none" lIns="0" tIns="0" rIns="0" bIns="0" anchor="ctr">
            <a:spAutoFit/>
          </a:bodyPr>
          <a:lstStyle/>
          <a:p>
            <a:pPr algn="l"/>
            <a:r>
              <a:rPr sz="950" b="0">
                <a:solidFill>
                  <a:srgbClr val="FCA5A5"/>
                </a:solidFill>
                <a:latin typeface="Courier New"/>
              </a:rPr>
              <a:t>{:error,</a:t>
            </a:r>
          </a:p>
        </p:txBody>
      </p:sp>
      <p:sp>
        <p:nvSpPr>
          <p:cNvPr id="23" name="a2wd425_code22"/>
          <p:cNvSpPr txBox="1"/>
          <p:nvPr/>
        </p:nvSpPr>
        <p:spPr>
          <a:xfrm>
            <a:off x="5833872" y="2875787"/>
            <a:ext cx="2688336" cy="214884"/>
          </a:xfrm>
          <a:prstGeom prst="rect">
            <a:avLst/>
          </a:prstGeom>
          <a:noFill/>
        </p:spPr>
        <p:txBody>
          <a:bodyPr wrap="none" lIns="0" tIns="0" rIns="0" bIns="0" anchor="ctr">
            <a:spAutoFit/>
          </a:bodyPr>
          <a:lstStyle/>
          <a:p>
            <a:pPr algn="l"/>
            <a:r>
              <a:rPr sz="950" b="0">
                <a:solidFill>
                  <a:srgbClr val="FCA5A5"/>
                </a:solidFill>
                <a:latin typeface="Courier New"/>
              </a:rPr>
              <a:t>  {:illegal, :cart,</a:t>
            </a:r>
          </a:p>
        </p:txBody>
      </p:sp>
      <p:sp>
        <p:nvSpPr>
          <p:cNvPr id="24" name="a2wd510_code23"/>
          <p:cNvSpPr txBox="1"/>
          <p:nvPr/>
        </p:nvSpPr>
        <p:spPr>
          <a:xfrm>
            <a:off x="5833872" y="3090672"/>
            <a:ext cx="2688336" cy="214884"/>
          </a:xfrm>
          <a:prstGeom prst="rect">
            <a:avLst/>
          </a:prstGeom>
          <a:noFill/>
        </p:spPr>
        <p:txBody>
          <a:bodyPr wrap="none" lIns="0" tIns="0" rIns="0" bIns="0" anchor="ctr">
            <a:spAutoFit/>
          </a:bodyPr>
          <a:lstStyle/>
          <a:p>
            <a:pPr algn="l"/>
            <a:r>
              <a:rPr sz="950" b="0">
                <a:solidFill>
                  <a:srgbClr val="FCA5A5"/>
                </a:solidFill>
                <a:latin typeface="Courier New"/>
              </a:rPr>
              <a:t>   :ship}}</a:t>
            </a:r>
          </a:p>
        </p:txBody>
      </p:sp>
      <p:sp>
        <p:nvSpPr>
          <p:cNvPr id="25" name="a3f_nb24"/>
          <p:cNvSpPr/>
          <p:nvPr/>
        </p:nvSpPr>
        <p:spPr>
          <a:xfrm>
            <a:off x="457200" y="4027931"/>
            <a:ext cx="8229600" cy="548640"/>
          </a:xfrm>
          <a:prstGeom prst="roundRect">
            <a:avLst>
              <a:gd name="adj" fmla="val 1333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3f_nacc25"/>
          <p:cNvSpPr/>
          <p:nvPr/>
        </p:nvSpPr>
        <p:spPr>
          <a:xfrm>
            <a:off x="457200" y="4027931"/>
            <a:ext cx="50292" cy="54864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a3f_nt26"/>
          <p:cNvSpPr txBox="1"/>
          <p:nvPr/>
        </p:nvSpPr>
        <p:spPr>
          <a:xfrm>
            <a:off x="658368" y="4027931"/>
            <a:ext cx="7827264" cy="548640"/>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An illegal transition is a compile-time-shaped problem, not a runtime string comparison: the clause simply does not match. And `s in [:cart, :paid]` inside a guard compiles down to a chain of one-word equality tests.</a:t>
            </a:r>
          </a:p>
        </p:txBody>
      </p:sp>
      <p:sp>
        <p:nvSpPr>
          <p:cNvPr id="28" name="ft2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9" name="ft2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2"/>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44"/>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16"/>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288"/>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6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32"/>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04"/>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576"/>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left)">
                                      <p:cBhvr>
                                        <p:cTn id="48" dur="500"/>
                                        <p:tgtEl>
                                          <p:spTgt spid="18"/>
                                        </p:tgtEl>
                                      </p:cBhvr>
                                    </p:animEffect>
                                  </p:childTnLst>
                                </p:cTn>
                              </p:par>
                              <p:par>
                                <p:cTn id="49" presetID="22" presetClass="entr" presetSubtype="8" fill="hold" grpId="0" nodeType="withEffect">
                                  <p:stCondLst>
                                    <p:cond delay="85"/>
                                  </p:stCondLst>
                                  <p:childTnLst>
                                    <p:set>
                                      <p:cBhvr>
                                        <p:cTn id="50" dur="1" fill="hold">
                                          <p:stCondLst>
                                            <p:cond delay="0"/>
                                          </p:stCondLst>
                                        </p:cTn>
                                        <p:tgtEl>
                                          <p:spTgt spid="19"/>
                                        </p:tgtEl>
                                        <p:attrNameLst>
                                          <p:attrName>style.visibility</p:attrName>
                                        </p:attrNameLst>
                                      </p:cBhvr>
                                      <p:to>
                                        <p:strVal val="visible"/>
                                      </p:to>
                                    </p:set>
                                    <p:animEffect transition="in" filter="wipe(left)">
                                      <p:cBhvr>
                                        <p:cTn id="51" dur="500"/>
                                        <p:tgtEl>
                                          <p:spTgt spid="19"/>
                                        </p:tgtEl>
                                      </p:cBhvr>
                                    </p:animEffect>
                                  </p:childTnLst>
                                </p:cTn>
                              </p:par>
                              <p:par>
                                <p:cTn id="52" presetID="22" presetClass="entr" presetSubtype="8" fill="hold" grpId="0" nodeType="withEffect">
                                  <p:stCondLst>
                                    <p:cond delay="17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22" presetClass="entr" presetSubtype="8" fill="hold" grpId="0" nodeType="withEffect">
                                  <p:stCondLst>
                                    <p:cond delay="255"/>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par>
                                <p:cTn id="58" presetID="22" presetClass="entr" presetSubtype="8" fill="hold" grpId="0" nodeType="withEffect">
                                  <p:stCondLst>
                                    <p:cond delay="34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par>
                                <p:cTn id="61" presetID="22" presetClass="entr" presetSubtype="8" fill="hold" grpId="0" nodeType="withEffect">
                                  <p:stCondLst>
                                    <p:cond delay="425"/>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par>
                                <p:cTn id="64" presetID="22" presetClass="entr" presetSubtype="8" fill="hold" grpId="0" nodeType="withEffect">
                                  <p:stCondLst>
                                    <p:cond delay="510"/>
                                  </p:stCondLst>
                                  <p:childTnLst>
                                    <p:set>
                                      <p:cBhvr>
                                        <p:cTn id="65" dur="1" fill="hold">
                                          <p:stCondLst>
                                            <p:cond delay="0"/>
                                          </p:stCondLst>
                                        </p:cTn>
                                        <p:tgtEl>
                                          <p:spTgt spid="24"/>
                                        </p:tgtEl>
                                        <p:attrNameLst>
                                          <p:attrName>style.visibility</p:attrName>
                                        </p:attrNameLst>
                                      </p:cBhvr>
                                      <p:to>
                                        <p:strVal val="visible"/>
                                      </p:to>
                                    </p:set>
                                    <p:animEffect transition="in" filter="wipe(left)">
                                      <p:cBhvr>
                                        <p:cTn id="66" dur="5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5 · Dynamic dispatch</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apply/3 takes two atoms and a list. That is the whole calling convention.</a:t>
            </a:r>
          </a:p>
        </p:txBody>
      </p:sp>
      <p:sp>
        <p:nvSpPr>
          <p:cNvPr id="5" name="a1f_codebg4"/>
          <p:cNvSpPr/>
          <p:nvPr/>
        </p:nvSpPr>
        <p:spPr>
          <a:xfrm>
            <a:off x="457200" y="1362456"/>
            <a:ext cx="8229600" cy="2107691"/>
          </a:xfrm>
          <a:prstGeom prst="roundRect">
            <a:avLst>
              <a:gd name="adj" fmla="val 347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apply(String, :upcase, ["abc"])            #=&gt; "ABC"</a:t>
            </a:r>
          </a:p>
        </p:txBody>
      </p:sp>
      <p:sp>
        <p:nvSpPr>
          <p:cNvPr id="8" name="a1wd85_code7"/>
          <p:cNvSpPr txBox="1"/>
          <p:nvPr/>
        </p:nvSpPr>
        <p:spPr>
          <a:xfrm>
            <a:off x="621792" y="2016252"/>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fun_name = :reverse</a:t>
            </a:r>
          </a:p>
        </p:txBody>
      </p:sp>
      <p:sp>
        <p:nvSpPr>
          <p:cNvPr id="9" name="a1wd170_code8"/>
          <p:cNvSpPr txBox="1"/>
          <p:nvPr/>
        </p:nvSpPr>
        <p:spPr>
          <a:xfrm>
            <a:off x="621792" y="2231136"/>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apply(String, fun_name, ["abc"])           #=&gt; "cba"</a:t>
            </a:r>
          </a:p>
        </p:txBody>
      </p:sp>
      <p:sp>
        <p:nvSpPr>
          <p:cNvPr id="10" name="a1wd255_code9"/>
          <p:cNvSpPr txBox="1"/>
          <p:nvPr/>
        </p:nvSpPr>
        <p:spPr>
          <a:xfrm>
            <a:off x="621792" y="2446020"/>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apply(:erlang, :length, [[1, 2, 3]])       #=&gt; 3</a:t>
            </a:r>
          </a:p>
        </p:txBody>
      </p:sp>
      <p:sp>
        <p:nvSpPr>
          <p:cNvPr id="11" name="a1wd340_code10"/>
          <p:cNvSpPr txBox="1"/>
          <p:nvPr/>
        </p:nvSpPr>
        <p:spPr>
          <a:xfrm>
            <a:off x="621792" y="2660904"/>
            <a:ext cx="7900416" cy="214884"/>
          </a:xfrm>
          <a:prstGeom prst="rect">
            <a:avLst/>
          </a:prstGeom>
          <a:noFill/>
        </p:spPr>
        <p:txBody>
          <a:bodyPr wrap="none" lIns="0" tIns="0" rIns="0" bIns="0" anchor="ctr">
            <a:spAutoFit/>
          </a:bodyPr>
          <a:lstStyle/>
          <a:p>
            <a:pPr algn="l"/>
            <a:endParaRPr/>
          </a:p>
        </p:txBody>
      </p:sp>
      <p:sp>
        <p:nvSpPr>
          <p:cNvPr id="12" name="a1wd425_code11"/>
          <p:cNvSpPr txBox="1"/>
          <p:nvPr/>
        </p:nvSpPr>
        <p:spPr>
          <a:xfrm>
            <a:off x="621792" y="2875787"/>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function_exported?(String, :upcase, 1)     #=&gt; true</a:t>
            </a:r>
          </a:p>
        </p:txBody>
      </p:sp>
      <p:sp>
        <p:nvSpPr>
          <p:cNvPr id="13" name="a1wd510_code12"/>
          <p:cNvSpPr txBox="1"/>
          <p:nvPr/>
        </p:nvSpPr>
        <p:spPr>
          <a:xfrm>
            <a:off x="621792" y="3090672"/>
            <a:ext cx="7900416" cy="214884"/>
          </a:xfrm>
          <a:prstGeom prst="rect">
            <a:avLst/>
          </a:prstGeom>
          <a:noFill/>
        </p:spPr>
        <p:txBody>
          <a:bodyPr wrap="none" lIns="0" tIns="0" rIns="0" bIns="0" anchor="ctr">
            <a:spAutoFit/>
          </a:bodyPr>
          <a:lstStyle/>
          <a:p>
            <a:pPr algn="l"/>
            <a:r>
              <a:rPr sz="1000" b="0">
                <a:solidFill>
                  <a:srgbClr val="14B8A6"/>
                </a:solidFill>
                <a:latin typeface="Courier New"/>
              </a:rPr>
              <a:t>iex&gt; length(String.__info__(:functions))        #=&gt; 77</a:t>
            </a:r>
          </a:p>
        </p:txBody>
      </p:sp>
      <p:sp>
        <p:nvSpPr>
          <p:cNvPr id="14" name="a2u_card13"/>
          <p:cNvSpPr/>
          <p:nvPr/>
        </p:nvSpPr>
        <p:spPr>
          <a:xfrm>
            <a:off x="457200"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_acc14"/>
          <p:cNvSpPr/>
          <p:nvPr/>
        </p:nvSpPr>
        <p:spPr>
          <a:xfrm>
            <a:off x="457200" y="3616452"/>
            <a:ext cx="2609088" cy="502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d90_ct15"/>
          <p:cNvSpPr txBox="1"/>
          <p:nvPr/>
        </p:nvSpPr>
        <p:spPr>
          <a:xfrm>
            <a:off x="621792"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Behaviours</a:t>
            </a:r>
          </a:p>
        </p:txBody>
      </p:sp>
      <p:sp>
        <p:nvSpPr>
          <p:cNvPr id="17" name="a2ud150_cb16"/>
          <p:cNvSpPr txBox="1"/>
          <p:nvPr/>
        </p:nvSpPr>
        <p:spPr>
          <a:xfrm>
            <a:off x="621792" y="4091939"/>
            <a:ext cx="2279904"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A callback module is an atom in config</a:t>
            </a:r>
          </a:p>
        </p:txBody>
      </p:sp>
      <p:sp>
        <p:nvSpPr>
          <p:cNvPr id="18" name="a3u_card17"/>
          <p:cNvSpPr/>
          <p:nvPr/>
        </p:nvSpPr>
        <p:spPr>
          <a:xfrm>
            <a:off x="3267456"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3u_acc18"/>
          <p:cNvSpPr/>
          <p:nvPr/>
        </p:nvSpPr>
        <p:spPr>
          <a:xfrm>
            <a:off x="3267456" y="3616452"/>
            <a:ext cx="2609088" cy="50292"/>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3ud90_ct19"/>
          <p:cNvSpPr txBox="1"/>
          <p:nvPr/>
        </p:nvSpPr>
        <p:spPr>
          <a:xfrm>
            <a:off x="3432048"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Plugs &amp; adapters</a:t>
            </a:r>
          </a:p>
        </p:txBody>
      </p:sp>
      <p:sp>
        <p:nvSpPr>
          <p:cNvPr id="21" name="a3ud150_cb20"/>
          <p:cNvSpPr txBox="1"/>
          <p:nvPr/>
        </p:nvSpPr>
        <p:spPr>
          <a:xfrm>
            <a:off x="3432048" y="4091939"/>
            <a:ext cx="2279904" cy="475488"/>
          </a:xfrm>
          <a:prstGeom prst="rect">
            <a:avLst/>
          </a:prstGeom>
          <a:noFill/>
        </p:spPr>
        <p:txBody>
          <a:bodyPr wrap="square" lIns="0" tIns="0" rIns="0" bIns="0" anchor="t">
            <a:spAutoFit/>
          </a:bodyPr>
          <a:lstStyle/>
          <a:p>
            <a:pPr algn="l"/>
            <a:r>
              <a:rPr sz="1050" b="1">
                <a:solidFill>
                  <a:srgbClr val="0F766E"/>
                </a:solidFill>
                <a:latin typeface="Calibri"/>
              </a:rPr>
              <a:t>· </a:t>
            </a:r>
            <a:r>
              <a:rPr sz="1050" b="0">
                <a:solidFill>
                  <a:srgbClr val="334155"/>
                </a:solidFill>
                <a:latin typeface="Calibri"/>
              </a:rPr>
              <a:t>config :app, adapter: MyAdapter</a:t>
            </a:r>
          </a:p>
        </p:txBody>
      </p:sp>
      <p:sp>
        <p:nvSpPr>
          <p:cNvPr id="22" name="a4u_card21"/>
          <p:cNvSpPr/>
          <p:nvPr/>
        </p:nvSpPr>
        <p:spPr>
          <a:xfrm>
            <a:off x="6077712" y="3616452"/>
            <a:ext cx="2609088" cy="960120"/>
          </a:xfrm>
          <a:prstGeom prst="roundRect">
            <a:avLst>
              <a:gd name="adj" fmla="val 952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4u_acc22"/>
          <p:cNvSpPr/>
          <p:nvPr/>
        </p:nvSpPr>
        <p:spPr>
          <a:xfrm>
            <a:off x="6077712" y="3616452"/>
            <a:ext cx="2609088"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4ud90_ct23"/>
          <p:cNvSpPr txBox="1"/>
          <p:nvPr/>
        </p:nvSpPr>
        <p:spPr>
          <a:xfrm>
            <a:off x="6242304"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Check before you call</a:t>
            </a:r>
          </a:p>
        </p:txBody>
      </p:sp>
      <p:sp>
        <p:nvSpPr>
          <p:cNvPr id="25" name="a4ud150_cb24"/>
          <p:cNvSpPr txBox="1"/>
          <p:nvPr/>
        </p:nvSpPr>
        <p:spPr>
          <a:xfrm>
            <a:off x="6242304" y="4091939"/>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function_exported?/3 and ensure_loaded?/1</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7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5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4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2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51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ppt_y+0.1"/>
                                          </p:val>
                                        </p:tav>
                                        <p:tav tm="100000">
                                          <p:val>
                                            <p:strVal val="#ppt_y"/>
                                          </p:val>
                                        </p:tav>
                                      </p:tavLst>
                                    </p:anim>
                                    <p:animEffect transition="in" filter="fade">
                                      <p:cBhvr>
                                        <p:cTn id="38" dur="500"/>
                                        <p:tgtEl>
                                          <p:spTgt spid="14"/>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ppt_y+0.1"/>
                                          </p:val>
                                        </p:tav>
                                        <p:tav tm="100000">
                                          <p:val>
                                            <p:strVal val="#ppt_y"/>
                                          </p:val>
                                        </p:tav>
                                      </p:tavLst>
                                    </p:anim>
                                    <p:animEffect transition="in" filter="fade">
                                      <p:cBhvr>
                                        <p:cTn id="43" dur="500"/>
                                        <p:tgtEl>
                                          <p:spTgt spid="15"/>
                                        </p:tgtEl>
                                      </p:cBhvr>
                                    </p:animEffect>
                                  </p:childTnLst>
                                </p:cTn>
                              </p:par>
                              <p:par>
                                <p:cTn id="44" presetID="2" presetClass="entr" presetSubtype="4" fill="hold" grpId="0" nodeType="withEffect">
                                  <p:stCondLst>
                                    <p:cond delay="9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ppt_y+0.1"/>
                                          </p:val>
                                        </p:tav>
                                        <p:tav tm="100000">
                                          <p:val>
                                            <p:strVal val="#ppt_y"/>
                                          </p:val>
                                        </p:tav>
                                      </p:tavLst>
                                    </p:anim>
                                    <p:animEffect transition="in" filter="fade">
                                      <p:cBhvr>
                                        <p:cTn id="48" dur="500"/>
                                        <p:tgtEl>
                                          <p:spTgt spid="16"/>
                                        </p:tgtEl>
                                      </p:cBhvr>
                                    </p:animEffect>
                                  </p:childTnLst>
                                </p:cTn>
                              </p:par>
                              <p:par>
                                <p:cTn id="49" presetID="2" presetClass="entr" presetSubtype="4" fill="hold" grpId="0" nodeType="withEffect">
                                  <p:stCondLst>
                                    <p:cond delay="15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ppt_y+0.1"/>
                                          </p:val>
                                        </p:tav>
                                        <p:tav tm="100000">
                                          <p:val>
                                            <p:strVal val="#ppt_y"/>
                                          </p:val>
                                        </p:tav>
                                      </p:tavLst>
                                    </p:anim>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ppt_y+0.1"/>
                                          </p:val>
                                        </p:tav>
                                        <p:tav tm="100000">
                                          <p:val>
                                            <p:strVal val="#ppt_y"/>
                                          </p:val>
                                        </p:tav>
                                      </p:tavLst>
                                    </p:anim>
                                    <p:animEffect transition="in" filter="fade">
                                      <p:cBhvr>
                                        <p:cTn id="65" dur="500"/>
                                        <p:tgtEl>
                                          <p:spTgt spid="19"/>
                                        </p:tgtEl>
                                      </p:cBhvr>
                                    </p:animEffect>
                                  </p:childTnLst>
                                </p:cTn>
                              </p:par>
                              <p:par>
                                <p:cTn id="66" presetID="2" presetClass="entr" presetSubtype="4" fill="hold" grpId="0" nodeType="withEffect">
                                  <p:stCondLst>
                                    <p:cond delay="9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ppt_y+0.1"/>
                                          </p:val>
                                        </p:tav>
                                        <p:tav tm="100000">
                                          <p:val>
                                            <p:strVal val="#ppt_y"/>
                                          </p:val>
                                        </p:tav>
                                      </p:tavLst>
                                    </p:anim>
                                    <p:animEffect transition="in" filter="fade">
                                      <p:cBhvr>
                                        <p:cTn id="70" dur="500"/>
                                        <p:tgtEl>
                                          <p:spTgt spid="20"/>
                                        </p:tgtEl>
                                      </p:cBhvr>
                                    </p:animEffect>
                                  </p:childTnLst>
                                </p:cTn>
                              </p:par>
                              <p:par>
                                <p:cTn id="71" presetID="2" presetClass="entr" presetSubtype="4" fill="hold" grpId="0" nodeType="withEffect">
                                  <p:stCondLst>
                                    <p:cond delay="15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ppt_y+0.1"/>
                                          </p:val>
                                        </p:tav>
                                        <p:tav tm="100000">
                                          <p:val>
                                            <p:strVal val="#ppt_y"/>
                                          </p:val>
                                        </p:tav>
                                      </p:tavLst>
                                    </p:anim>
                                    <p:animEffect transition="in" filter="fade">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ppt_x"/>
                                          </p:val>
                                        </p:tav>
                                        <p:tav tm="100000">
                                          <p:val>
                                            <p:strVal val="#ppt_x"/>
                                          </p:val>
                                        </p:tav>
                                      </p:tavLst>
                                    </p:anim>
                                    <p:anim calcmode="lin" valueType="num">
                                      <p:cBhvr additive="base">
                                        <p:cTn id="81" dur="500" fill="hold"/>
                                        <p:tgtEl>
                                          <p:spTgt spid="22"/>
                                        </p:tgtEl>
                                        <p:attrNameLst>
                                          <p:attrName>ppt_y</p:attrName>
                                        </p:attrNameLst>
                                      </p:cBhvr>
                                      <p:tavLst>
                                        <p:tav tm="0">
                                          <p:val>
                                            <p:strVal val="#ppt_y+0.1"/>
                                          </p:val>
                                        </p:tav>
                                        <p:tav tm="100000">
                                          <p:val>
                                            <p:strVal val="#ppt_y"/>
                                          </p:val>
                                        </p:tav>
                                      </p:tavLst>
                                    </p:anim>
                                    <p:animEffect transition="in" filter="fade">
                                      <p:cBhvr>
                                        <p:cTn id="82" dur="500"/>
                                        <p:tgtEl>
                                          <p:spTgt spid="22"/>
                                        </p:tgtEl>
                                      </p:cBhvr>
                                    </p:animEffect>
                                  </p:childTnLst>
                                </p:cTn>
                              </p:par>
                              <p:par>
                                <p:cTn id="83" presetID="2" presetClass="entr" presetSubtype="4"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00" fill="hold"/>
                                        <p:tgtEl>
                                          <p:spTgt spid="23"/>
                                        </p:tgtEl>
                                        <p:attrNameLst>
                                          <p:attrName>ppt_x</p:attrName>
                                        </p:attrNameLst>
                                      </p:cBhvr>
                                      <p:tavLst>
                                        <p:tav tm="0">
                                          <p:val>
                                            <p:strVal val="#ppt_x"/>
                                          </p:val>
                                        </p:tav>
                                        <p:tav tm="100000">
                                          <p:val>
                                            <p:strVal val="#ppt_x"/>
                                          </p:val>
                                        </p:tav>
                                      </p:tavLst>
                                    </p:anim>
                                    <p:anim calcmode="lin" valueType="num">
                                      <p:cBhvr additive="base">
                                        <p:cTn id="86" dur="500" fill="hold"/>
                                        <p:tgtEl>
                                          <p:spTgt spid="23"/>
                                        </p:tgtEl>
                                        <p:attrNameLst>
                                          <p:attrName>ppt_y</p:attrName>
                                        </p:attrNameLst>
                                      </p:cBhvr>
                                      <p:tavLst>
                                        <p:tav tm="0">
                                          <p:val>
                                            <p:strVal val="#ppt_y+0.1"/>
                                          </p:val>
                                        </p:tav>
                                        <p:tav tm="100000">
                                          <p:val>
                                            <p:strVal val="#ppt_y"/>
                                          </p:val>
                                        </p:tav>
                                      </p:tavLst>
                                    </p:anim>
                                    <p:animEffect transition="in" filter="fade">
                                      <p:cBhvr>
                                        <p:cTn id="87" dur="500"/>
                                        <p:tgtEl>
                                          <p:spTgt spid="23"/>
                                        </p:tgtEl>
                                      </p:cBhvr>
                                    </p:animEffect>
                                  </p:childTnLst>
                                </p:cTn>
                              </p:par>
                              <p:par>
                                <p:cTn id="88" presetID="2" presetClass="entr" presetSubtype="4" fill="hold" grpId="0" nodeType="withEffect">
                                  <p:stCondLst>
                                    <p:cond delay="9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ppt_x"/>
                                          </p:val>
                                        </p:tav>
                                        <p:tav tm="100000">
                                          <p:val>
                                            <p:strVal val="#ppt_x"/>
                                          </p:val>
                                        </p:tav>
                                      </p:tavLst>
                                    </p:anim>
                                    <p:anim calcmode="lin" valueType="num">
                                      <p:cBhvr additive="base">
                                        <p:cTn id="91" dur="500" fill="hold"/>
                                        <p:tgtEl>
                                          <p:spTgt spid="24"/>
                                        </p:tgtEl>
                                        <p:attrNameLst>
                                          <p:attrName>ppt_y</p:attrName>
                                        </p:attrNameLst>
                                      </p:cBhvr>
                                      <p:tavLst>
                                        <p:tav tm="0">
                                          <p:val>
                                            <p:strVal val="#ppt_y+0.1"/>
                                          </p:val>
                                        </p:tav>
                                        <p:tav tm="100000">
                                          <p:val>
                                            <p:strVal val="#ppt_y"/>
                                          </p:val>
                                        </p:tav>
                                      </p:tavLst>
                                    </p:anim>
                                    <p:animEffect transition="in" filter="fade">
                                      <p:cBhvr>
                                        <p:cTn id="92" dur="500"/>
                                        <p:tgtEl>
                                          <p:spTgt spid="24"/>
                                        </p:tgtEl>
                                      </p:cBhvr>
                                    </p:animEffect>
                                  </p:childTnLst>
                                </p:cTn>
                              </p:par>
                              <p:par>
                                <p:cTn id="93" presetID="2" presetClass="entr" presetSubtype="4" fill="hold" grpId="0" nodeType="withEffect">
                                  <p:stCondLst>
                                    <p:cond delay="15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ppt_y+0.1"/>
                                          </p:val>
                                        </p:tav>
                                        <p:tav tm="100000">
                                          <p:val>
                                            <p:strVal val="#ppt_y"/>
                                          </p:val>
                                        </p:tav>
                                      </p:tavLst>
                                    </p:anim>
                                    <p:animEffect transition="in" filter="fade">
                                      <p:cBhvr>
                                        <p:cTn id="9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6 · Naming a process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A pid changes every restart. A name does not.</a:t>
            </a:r>
          </a:p>
        </p:txBody>
      </p:sp>
      <p:sp>
        <p:nvSpPr>
          <p:cNvPr id="5" name="a1f_codebg4"/>
          <p:cNvSpPr/>
          <p:nvPr/>
        </p:nvSpPr>
        <p:spPr>
          <a:xfrm>
            <a:off x="457200" y="1362456"/>
            <a:ext cx="507492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pid = spawn(fn -&gt; receive do: (:stop -&gt; :ok) end)</a:t>
            </a:r>
          </a:p>
        </p:txBody>
      </p:sp>
      <p:sp>
        <p:nvSpPr>
          <p:cNvPr id="8" name="a1wd75_code7"/>
          <p:cNvSpPr txBox="1"/>
          <p:nvPr/>
        </p:nvSpPr>
        <p:spPr>
          <a:xfrm>
            <a:off x="621792" y="2016252"/>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Process.register(pid, :probe_worker)</a:t>
            </a:r>
          </a:p>
        </p:txBody>
      </p:sp>
      <p:sp>
        <p:nvSpPr>
          <p:cNvPr id="9" name="a1wd150_code8"/>
          <p:cNvSpPr txBox="1"/>
          <p:nvPr/>
        </p:nvSpPr>
        <p:spPr>
          <a:xfrm>
            <a:off x="621792" y="2231136"/>
            <a:ext cx="4745736" cy="214884"/>
          </a:xfrm>
          <a:prstGeom prst="rect">
            <a:avLst/>
          </a:prstGeom>
          <a:noFill/>
        </p:spPr>
        <p:txBody>
          <a:bodyPr wrap="none" lIns="0" tIns="0" rIns="0" bIns="0" anchor="ctr">
            <a:spAutoFit/>
          </a:bodyPr>
          <a:lstStyle/>
          <a:p>
            <a:pPr algn="l"/>
            <a:r>
              <a:rPr sz="950" b="0">
                <a:solidFill>
                  <a:srgbClr val="14B8A6"/>
                </a:solidFill>
                <a:latin typeface="Courier New"/>
              </a:rPr>
              <a:t>true</a:t>
            </a:r>
          </a:p>
        </p:txBody>
      </p:sp>
      <p:sp>
        <p:nvSpPr>
          <p:cNvPr id="10" name="a1wd225_code9"/>
          <p:cNvSpPr txBox="1"/>
          <p:nvPr/>
        </p:nvSpPr>
        <p:spPr>
          <a:xfrm>
            <a:off x="621792" y="2446020"/>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Process.whereis(:probe_worker)</a:t>
            </a:r>
          </a:p>
        </p:txBody>
      </p:sp>
      <p:sp>
        <p:nvSpPr>
          <p:cNvPr id="11" name="a1wd300_code10"/>
          <p:cNvSpPr txBox="1"/>
          <p:nvPr/>
        </p:nvSpPr>
        <p:spPr>
          <a:xfrm>
            <a:off x="621792" y="2660904"/>
            <a:ext cx="4745736" cy="214884"/>
          </a:xfrm>
          <a:prstGeom prst="rect">
            <a:avLst/>
          </a:prstGeom>
          <a:noFill/>
        </p:spPr>
        <p:txBody>
          <a:bodyPr wrap="none" lIns="0" tIns="0" rIns="0" bIns="0" anchor="ctr">
            <a:spAutoFit/>
          </a:bodyPr>
          <a:lstStyle/>
          <a:p>
            <a:pPr algn="l"/>
            <a:r>
              <a:rPr sz="950" b="0">
                <a:solidFill>
                  <a:srgbClr val="14B8A6"/>
                </a:solidFill>
                <a:latin typeface="Courier New"/>
              </a:rPr>
              <a:t>#PID&lt;0.108.0&gt;</a:t>
            </a:r>
          </a:p>
        </p:txBody>
      </p:sp>
      <p:sp>
        <p:nvSpPr>
          <p:cNvPr id="12" name="a1wd375_code11"/>
          <p:cNvSpPr txBox="1"/>
          <p:nvPr/>
        </p:nvSpPr>
        <p:spPr>
          <a:xfrm>
            <a:off x="621792" y="2875787"/>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send(:probe_worker, :ping)   # send BY NAME</a:t>
            </a:r>
          </a:p>
        </p:txBody>
      </p:sp>
      <p:sp>
        <p:nvSpPr>
          <p:cNvPr id="13" name="a1wd450_code12"/>
          <p:cNvSpPr txBox="1"/>
          <p:nvPr/>
        </p:nvSpPr>
        <p:spPr>
          <a:xfrm>
            <a:off x="621792" y="3090672"/>
            <a:ext cx="4745736" cy="214884"/>
          </a:xfrm>
          <a:prstGeom prst="rect">
            <a:avLst/>
          </a:prstGeom>
          <a:noFill/>
        </p:spPr>
        <p:txBody>
          <a:bodyPr wrap="none" lIns="0" tIns="0" rIns="0" bIns="0" anchor="ctr">
            <a:spAutoFit/>
          </a:bodyPr>
          <a:lstStyle/>
          <a:p>
            <a:pPr algn="l"/>
            <a:r>
              <a:rPr sz="950" b="0">
                <a:solidFill>
                  <a:srgbClr val="14B8A6"/>
                </a:solidFill>
                <a:latin typeface="Courier New"/>
              </a:rPr>
              <a:t>:ping</a:t>
            </a:r>
          </a:p>
        </p:txBody>
      </p:sp>
      <p:sp>
        <p:nvSpPr>
          <p:cNvPr id="14" name="a1wd525_code13"/>
          <p:cNvSpPr txBox="1"/>
          <p:nvPr/>
        </p:nvSpPr>
        <p:spPr>
          <a:xfrm>
            <a:off x="621792" y="3305556"/>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length(Process.registered())</a:t>
            </a:r>
          </a:p>
        </p:txBody>
      </p:sp>
      <p:sp>
        <p:nvSpPr>
          <p:cNvPr id="15" name="a1wd600_code14"/>
          <p:cNvSpPr txBox="1"/>
          <p:nvPr/>
        </p:nvSpPr>
        <p:spPr>
          <a:xfrm>
            <a:off x="621792" y="3520439"/>
            <a:ext cx="4745736" cy="214884"/>
          </a:xfrm>
          <a:prstGeom prst="rect">
            <a:avLst/>
          </a:prstGeom>
          <a:noFill/>
        </p:spPr>
        <p:txBody>
          <a:bodyPr wrap="none" lIns="0" tIns="0" rIns="0" bIns="0" anchor="ctr">
            <a:spAutoFit/>
          </a:bodyPr>
          <a:lstStyle/>
          <a:p>
            <a:pPr algn="l"/>
            <a:r>
              <a:rPr sz="950" b="0">
                <a:solidFill>
                  <a:srgbClr val="14B8A6"/>
                </a:solidFill>
                <a:latin typeface="Courier New"/>
              </a:rPr>
              <a:t>33                 # on a bare VM</a:t>
            </a:r>
          </a:p>
        </p:txBody>
      </p:sp>
      <p:sp>
        <p:nvSpPr>
          <p:cNvPr id="16" name="a2u_dot15"/>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_b16"/>
          <p:cNvSpPr txBox="1"/>
          <p:nvPr/>
        </p:nvSpPr>
        <p:spPr>
          <a:xfrm>
            <a:off x="5888736" y="1399031"/>
            <a:ext cx="2798063" cy="731519"/>
          </a:xfrm>
          <a:prstGeom prst="rect">
            <a:avLst/>
          </a:prstGeom>
          <a:noFill/>
        </p:spPr>
        <p:txBody>
          <a:bodyPr wrap="square" lIns="0" tIns="0" rIns="0" bIns="0" anchor="t">
            <a:spAutoFit/>
          </a:bodyPr>
          <a:lstStyle/>
          <a:p>
            <a:pPr algn="l"/>
            <a:r>
              <a:rPr sz="1100" b="1">
                <a:solidFill>
                  <a:srgbClr val="0F172A"/>
                </a:solidFill>
                <a:latin typeface="Calibri"/>
              </a:rPr>
              <a:t>This is why GenServer takes name:  </a:t>
            </a:r>
            <a:r>
              <a:rPr sz="1100" b="0">
                <a:solidFill>
                  <a:srgbClr val="334155"/>
                </a:solidFill>
                <a:latin typeface="Calibri"/>
              </a:rPr>
              <a:t>GenServer.start_link(Mod, [], name: :worker)</a:t>
            </a:r>
          </a:p>
        </p:txBody>
      </p:sp>
      <p:sp>
        <p:nvSpPr>
          <p:cNvPr id="18" name="a2ud180_dot17"/>
          <p:cNvSpPr/>
          <p:nvPr/>
        </p:nvSpPr>
        <p:spPr>
          <a:xfrm>
            <a:off x="5669280" y="2267711"/>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ud180_b18"/>
          <p:cNvSpPr txBox="1"/>
          <p:nvPr/>
        </p:nvSpPr>
        <p:spPr>
          <a:xfrm>
            <a:off x="5888736" y="2167127"/>
            <a:ext cx="2798063" cy="731519"/>
          </a:xfrm>
          <a:prstGeom prst="rect">
            <a:avLst/>
          </a:prstGeom>
          <a:noFill/>
        </p:spPr>
        <p:txBody>
          <a:bodyPr wrap="square" lIns="0" tIns="0" rIns="0" bIns="0" anchor="t">
            <a:spAutoFit/>
          </a:bodyPr>
          <a:lstStyle/>
          <a:p>
            <a:pPr algn="l"/>
            <a:r>
              <a:rPr sz="1100" b="1">
                <a:solidFill>
                  <a:srgbClr val="0F172A"/>
                </a:solidFill>
                <a:latin typeface="Calibri"/>
              </a:rPr>
              <a:t>The name outlives the process  </a:t>
            </a:r>
            <a:r>
              <a:rPr sz="1100" b="0">
                <a:solidFill>
                  <a:srgbClr val="334155"/>
                </a:solidFill>
                <a:latin typeface="Calibri"/>
              </a:rPr>
              <a:t>a supervisor restarts it and the name still resolves</a:t>
            </a:r>
          </a:p>
        </p:txBody>
      </p:sp>
      <p:sp>
        <p:nvSpPr>
          <p:cNvPr id="20" name="a2ud360_dot19"/>
          <p:cNvSpPr/>
          <p:nvPr/>
        </p:nvSpPr>
        <p:spPr>
          <a:xfrm>
            <a:off x="5669280" y="3035807"/>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2ud360_b20"/>
          <p:cNvSpPr txBox="1"/>
          <p:nvPr/>
        </p:nvSpPr>
        <p:spPr>
          <a:xfrm>
            <a:off x="5888736" y="2935223"/>
            <a:ext cx="2798063" cy="731519"/>
          </a:xfrm>
          <a:prstGeom prst="rect">
            <a:avLst/>
          </a:prstGeom>
          <a:noFill/>
        </p:spPr>
        <p:txBody>
          <a:bodyPr wrap="square" lIns="0" tIns="0" rIns="0" bIns="0" anchor="t">
            <a:spAutoFit/>
          </a:bodyPr>
          <a:lstStyle/>
          <a:p>
            <a:pPr algn="l"/>
            <a:r>
              <a:rPr sz="1100" b="1">
                <a:solidFill>
                  <a:srgbClr val="0F172A"/>
                </a:solidFill>
                <a:latin typeface="Calibri"/>
              </a:rPr>
              <a:t>Names are a closed set by design  </a:t>
            </a:r>
            <a:r>
              <a:rPr sz="1100" b="0">
                <a:solidFill>
                  <a:srgbClr val="334155"/>
                </a:solidFill>
                <a:latin typeface="Calibri"/>
              </a:rPr>
              <a:t>never register a name built from user input</a:t>
            </a:r>
          </a:p>
        </p:txBody>
      </p:sp>
      <p:sp>
        <p:nvSpPr>
          <p:cNvPr id="22" name="a3f_nb21"/>
          <p:cNvSpPr/>
          <p:nvPr/>
        </p:nvSpPr>
        <p:spPr>
          <a:xfrm>
            <a:off x="457200" y="4027931"/>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acc22"/>
          <p:cNvSpPr/>
          <p:nvPr/>
        </p:nvSpPr>
        <p:spPr>
          <a:xfrm>
            <a:off x="457200" y="4027931"/>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t23"/>
          <p:cNvSpPr txBox="1"/>
          <p:nvPr/>
        </p:nvSpPr>
        <p:spPr>
          <a:xfrm>
            <a:off x="658368" y="4027931"/>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Registering a taken name raises ArgumentError — the registry is one more global, atom-keyed table.</a:t>
            </a:r>
          </a:p>
        </p:txBody>
      </p:sp>
      <p:sp>
        <p:nvSpPr>
          <p:cNvPr id="25" name="ft24"/>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6" name="ft25"/>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2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7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5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25"/>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0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1"/>
                                          </p:val>
                                        </p:tav>
                                        <p:tav tm="100000">
                                          <p:val>
                                            <p:strVal val="#ppt_y"/>
                                          </p:val>
                                        </p:tav>
                                      </p:tavLst>
                                    </p:anim>
                                    <p:animEffect transition="in" filter="fade">
                                      <p:cBhvr>
                                        <p:cTn id="44" dur="500"/>
                                        <p:tgtEl>
                                          <p:spTgt spid="16"/>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1"/>
                                          </p:val>
                                        </p:tav>
                                        <p:tav tm="100000">
                                          <p:val>
                                            <p:strVal val="#ppt_y"/>
                                          </p:val>
                                        </p:tav>
                                      </p:tavLst>
                                    </p:anim>
                                    <p:animEffect transition="in" filter="fade">
                                      <p:cBhvr>
                                        <p:cTn id="49" dur="500"/>
                                        <p:tgtEl>
                                          <p:spTgt spid="17"/>
                                        </p:tgtEl>
                                      </p:cBhvr>
                                    </p:animEffect>
                                  </p:childTnLst>
                                </p:cTn>
                              </p:par>
                              <p:par>
                                <p:cTn id="50" presetID="2" presetClass="entr" presetSubtype="4" fill="hold" grpId="0" nodeType="withEffect">
                                  <p:stCondLst>
                                    <p:cond delay="18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1"/>
                                          </p:val>
                                        </p:tav>
                                        <p:tav tm="100000">
                                          <p:val>
                                            <p:strVal val="#ppt_y"/>
                                          </p:val>
                                        </p:tav>
                                      </p:tavLst>
                                    </p:anim>
                                    <p:animEffect transition="in" filter="fade">
                                      <p:cBhvr>
                                        <p:cTn id="54" dur="500"/>
                                        <p:tgtEl>
                                          <p:spTgt spid="18"/>
                                        </p:tgtEl>
                                      </p:cBhvr>
                                    </p:animEffect>
                                  </p:childTnLst>
                                </p:cTn>
                              </p:par>
                              <p:par>
                                <p:cTn id="55" presetID="2" presetClass="entr" presetSubtype="4" fill="hold" grpId="0" nodeType="withEffect">
                                  <p:stCondLst>
                                    <p:cond delay="18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0" presetID="2" presetClass="entr" presetSubtype="4" fill="hold" grpId="0" nodeType="withEffect">
                                  <p:stCondLst>
                                    <p:cond delay="3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65" presetID="2" presetClass="entr" presetSubtype="4" fill="hold" grpId="0" nodeType="withEffect">
                                  <p:stCondLst>
                                    <p:cond delay="36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7 · Tables, nodes and configuration</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Once you look, the atom is the naming mechanism of the whole runtime.</a:t>
            </a:r>
          </a:p>
        </p:txBody>
      </p:sp>
      <p:sp>
        <p:nvSpPr>
          <p:cNvPr id="5" name="a1f_codebg4"/>
          <p:cNvSpPr/>
          <p:nvPr/>
        </p:nvSpPr>
        <p:spPr>
          <a:xfrm>
            <a:off x="457200" y="1362456"/>
            <a:ext cx="8229600" cy="2322576"/>
          </a:xfrm>
          <a:prstGeom prst="roundRect">
            <a:avLst>
              <a:gd name="adj" fmla="val 314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:ets.new(:probe_table, [:set, :named_table])</a:t>
            </a:r>
          </a:p>
        </p:txBody>
      </p:sp>
      <p:sp>
        <p:nvSpPr>
          <p:cNvPr id="8" name="a1wd75_code7"/>
          <p:cNvSpPr txBox="1"/>
          <p:nvPr/>
        </p:nvSpPr>
        <p:spPr>
          <a:xfrm>
            <a:off x="621792" y="2016252"/>
            <a:ext cx="7900416" cy="214884"/>
          </a:xfrm>
          <a:prstGeom prst="rect">
            <a:avLst/>
          </a:prstGeom>
          <a:noFill/>
        </p:spPr>
        <p:txBody>
          <a:bodyPr wrap="none" lIns="0" tIns="0" rIns="0" bIns="0" anchor="ctr">
            <a:spAutoFit/>
          </a:bodyPr>
          <a:lstStyle/>
          <a:p>
            <a:pPr algn="l"/>
            <a:r>
              <a:rPr sz="1000" b="0">
                <a:solidFill>
                  <a:srgbClr val="14B8A6"/>
                </a:solidFill>
                <a:latin typeface="Courier New"/>
              </a:rPr>
              <a:t>:probe_table              # the table AND its options are atoms</a:t>
            </a:r>
          </a:p>
        </p:txBody>
      </p:sp>
      <p:sp>
        <p:nvSpPr>
          <p:cNvPr id="9" name="a1wd150_code8"/>
          <p:cNvSpPr txBox="1"/>
          <p:nvPr/>
        </p:nvSpPr>
        <p:spPr>
          <a:xfrm>
            <a:off x="621792" y="2231136"/>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node()</a:t>
            </a:r>
          </a:p>
        </p:txBody>
      </p:sp>
      <p:sp>
        <p:nvSpPr>
          <p:cNvPr id="10" name="a1wd225_code9"/>
          <p:cNvSpPr txBox="1"/>
          <p:nvPr/>
        </p:nvSpPr>
        <p:spPr>
          <a:xfrm>
            <a:off x="621792" y="2446020"/>
            <a:ext cx="7900416" cy="214884"/>
          </a:xfrm>
          <a:prstGeom prst="rect">
            <a:avLst/>
          </a:prstGeom>
          <a:noFill/>
        </p:spPr>
        <p:txBody>
          <a:bodyPr wrap="none" lIns="0" tIns="0" rIns="0" bIns="0" anchor="ctr">
            <a:spAutoFit/>
          </a:bodyPr>
          <a:lstStyle/>
          <a:p>
            <a:pPr algn="l"/>
            <a:r>
              <a:rPr sz="1000" b="0">
                <a:solidFill>
                  <a:srgbClr val="14B8A6"/>
                </a:solidFill>
                <a:latin typeface="Courier New"/>
              </a:rPr>
              <a:t>:nonode@nohost            # a node name is an atom too</a:t>
            </a:r>
          </a:p>
        </p:txBody>
      </p:sp>
      <p:sp>
        <p:nvSpPr>
          <p:cNvPr id="11" name="a1wd300_code10"/>
          <p:cNvSpPr txBox="1"/>
          <p:nvPr/>
        </p:nvSpPr>
        <p:spPr>
          <a:xfrm>
            <a:off x="621792" y="2660904"/>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Application.spec(:elixir, :vsn)</a:t>
            </a:r>
          </a:p>
        </p:txBody>
      </p:sp>
      <p:sp>
        <p:nvSpPr>
          <p:cNvPr id="12" name="a1wd375_code11"/>
          <p:cNvSpPr txBox="1"/>
          <p:nvPr/>
        </p:nvSpPr>
        <p:spPr>
          <a:xfrm>
            <a:off x="621792" y="2875787"/>
            <a:ext cx="7900416" cy="214884"/>
          </a:xfrm>
          <a:prstGeom prst="rect">
            <a:avLst/>
          </a:prstGeom>
          <a:noFill/>
        </p:spPr>
        <p:txBody>
          <a:bodyPr wrap="none" lIns="0" tIns="0" rIns="0" bIns="0" anchor="ctr">
            <a:spAutoFit/>
          </a:bodyPr>
          <a:lstStyle/>
          <a:p>
            <a:pPr algn="l"/>
            <a:r>
              <a:rPr sz="1000" b="0">
                <a:solidFill>
                  <a:srgbClr val="14B8A6"/>
                </a:solidFill>
                <a:latin typeface="Courier New"/>
              </a:rPr>
              <a:t>~c"1.20.4"                # app :elixir, key :vsn</a:t>
            </a:r>
          </a:p>
        </p:txBody>
      </p:sp>
      <p:sp>
        <p:nvSpPr>
          <p:cNvPr id="13" name="a1wd450_code12"/>
          <p:cNvSpPr txBox="1"/>
          <p:nvPr/>
        </p:nvSpPr>
        <p:spPr>
          <a:xfrm>
            <a:off x="621792" y="3090672"/>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:logger.get_primary_config()[:level]</a:t>
            </a:r>
          </a:p>
        </p:txBody>
      </p:sp>
      <p:sp>
        <p:nvSpPr>
          <p:cNvPr id="14" name="a1wd525_code13"/>
          <p:cNvSpPr txBox="1"/>
          <p:nvPr/>
        </p:nvSpPr>
        <p:spPr>
          <a:xfrm>
            <a:off x="621792" y="3305556"/>
            <a:ext cx="7900416" cy="214884"/>
          </a:xfrm>
          <a:prstGeom prst="rect">
            <a:avLst/>
          </a:prstGeom>
          <a:noFill/>
        </p:spPr>
        <p:txBody>
          <a:bodyPr wrap="none" lIns="0" tIns="0" rIns="0" bIns="0" anchor="ctr">
            <a:spAutoFit/>
          </a:bodyPr>
          <a:lstStyle/>
          <a:p>
            <a:pPr algn="l"/>
            <a:r>
              <a:rPr sz="1000" b="0">
                <a:solidFill>
                  <a:srgbClr val="14B8A6"/>
                </a:solidFill>
                <a:latin typeface="Courier New"/>
              </a:rPr>
              <a:t>:debug</a:t>
            </a:r>
          </a:p>
        </p:txBody>
      </p:sp>
      <p:sp>
        <p:nvSpPr>
          <p:cNvPr id="15" name="a2f_nb14"/>
          <p:cNvSpPr/>
          <p:nvPr/>
        </p:nvSpPr>
        <p:spPr>
          <a:xfrm>
            <a:off x="457200" y="3813048"/>
            <a:ext cx="8229600" cy="548640"/>
          </a:xfrm>
          <a:prstGeom prst="roundRect">
            <a:avLst>
              <a:gd name="adj" fmla="val 1333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f_nacc15"/>
          <p:cNvSpPr/>
          <p:nvPr/>
        </p:nvSpPr>
        <p:spPr>
          <a:xfrm>
            <a:off x="457200" y="3813048"/>
            <a:ext cx="50292" cy="54864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f_nt16"/>
          <p:cNvSpPr txBox="1"/>
          <p:nvPr/>
        </p:nvSpPr>
        <p:spPr>
          <a:xfrm>
            <a:off x="658368" y="3813048"/>
            <a:ext cx="7827264" cy="548640"/>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Application names, config keys, ETS tables, node names, logger levels, supervisor strategies, ETS access modes — all atoms, because all of them are sets that the system defines rather than the user.</a:t>
            </a:r>
          </a:p>
        </p:txBody>
      </p:sp>
      <p:sp>
        <p:nvSpPr>
          <p:cNvPr id="18" name="ft1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19" name="ft1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2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7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5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25"/>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USE CASE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8 · Tagging messages between processes</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A mailbox holds any term, so every message says what it is.</a:t>
            </a:r>
          </a:p>
        </p:txBody>
      </p:sp>
      <p:sp>
        <p:nvSpPr>
          <p:cNvPr id="5" name="a1f_codebg4"/>
          <p:cNvSpPr/>
          <p:nvPr/>
        </p:nvSpPr>
        <p:spPr>
          <a:xfrm>
            <a:off x="457200" y="1362456"/>
            <a:ext cx="4892040" cy="2537459"/>
          </a:xfrm>
          <a:prstGeom prst="roundRect">
            <a:avLst>
              <a:gd name="adj" fmla="val 2882"/>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562855"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562855" cy="214884"/>
          </a:xfrm>
          <a:prstGeom prst="rect">
            <a:avLst/>
          </a:prstGeom>
          <a:noFill/>
        </p:spPr>
        <p:txBody>
          <a:bodyPr wrap="none" lIns="0" tIns="0" rIns="0" bIns="0" anchor="ctr">
            <a:spAutoFit/>
          </a:bodyPr>
          <a:lstStyle/>
          <a:p>
            <a:pPr algn="l"/>
            <a:r>
              <a:rPr sz="950" b="1">
                <a:solidFill>
                  <a:srgbClr val="C9B3E8"/>
                </a:solidFill>
                <a:latin typeface="Courier New"/>
              </a:rPr>
              <a:t>parent = self()</a:t>
            </a:r>
          </a:p>
        </p:txBody>
      </p:sp>
      <p:sp>
        <p:nvSpPr>
          <p:cNvPr id="8" name="a1wd78_code7"/>
          <p:cNvSpPr txBox="1"/>
          <p:nvPr/>
        </p:nvSpPr>
        <p:spPr>
          <a:xfrm>
            <a:off x="621792" y="2016252"/>
            <a:ext cx="4562855" cy="214884"/>
          </a:xfrm>
          <a:prstGeom prst="rect">
            <a:avLst/>
          </a:prstGeom>
          <a:noFill/>
        </p:spPr>
        <p:txBody>
          <a:bodyPr wrap="none" lIns="0" tIns="0" rIns="0" bIns="0" anchor="ctr">
            <a:spAutoFit/>
          </a:bodyPr>
          <a:lstStyle/>
          <a:p>
            <a:pPr algn="l"/>
            <a:r>
              <a:rPr sz="950" b="1">
                <a:solidFill>
                  <a:srgbClr val="C9B3E8"/>
                </a:solidFill>
                <a:latin typeface="Courier New"/>
              </a:rPr>
              <a:t>spawn(fn -&gt; send(parent, {:probe_reply, 42}) end)</a:t>
            </a:r>
          </a:p>
        </p:txBody>
      </p:sp>
      <p:sp>
        <p:nvSpPr>
          <p:cNvPr id="9" name="a1wd156_code8"/>
          <p:cNvSpPr txBox="1"/>
          <p:nvPr/>
        </p:nvSpPr>
        <p:spPr>
          <a:xfrm>
            <a:off x="621792" y="2231136"/>
            <a:ext cx="4562855" cy="214884"/>
          </a:xfrm>
          <a:prstGeom prst="rect">
            <a:avLst/>
          </a:prstGeom>
          <a:noFill/>
        </p:spPr>
        <p:txBody>
          <a:bodyPr wrap="none" lIns="0" tIns="0" rIns="0" bIns="0" anchor="ctr">
            <a:spAutoFit/>
          </a:bodyPr>
          <a:lstStyle/>
          <a:p>
            <a:pPr algn="l"/>
            <a:endParaRPr/>
          </a:p>
        </p:txBody>
      </p:sp>
      <p:sp>
        <p:nvSpPr>
          <p:cNvPr id="10" name="a1wd234_code9"/>
          <p:cNvSpPr txBox="1"/>
          <p:nvPr/>
        </p:nvSpPr>
        <p:spPr>
          <a:xfrm>
            <a:off x="621792" y="2446020"/>
            <a:ext cx="4562855" cy="214884"/>
          </a:xfrm>
          <a:prstGeom prst="rect">
            <a:avLst/>
          </a:prstGeom>
          <a:noFill/>
        </p:spPr>
        <p:txBody>
          <a:bodyPr wrap="none" lIns="0" tIns="0" rIns="0" bIns="0" anchor="ctr">
            <a:spAutoFit/>
          </a:bodyPr>
          <a:lstStyle/>
          <a:p>
            <a:pPr algn="l"/>
            <a:r>
              <a:rPr sz="950" b="1">
                <a:solidFill>
                  <a:srgbClr val="C9B3E8"/>
                </a:solidFill>
                <a:latin typeface="Courier New"/>
              </a:rPr>
              <a:t>receive do</a:t>
            </a:r>
          </a:p>
        </p:txBody>
      </p:sp>
      <p:sp>
        <p:nvSpPr>
          <p:cNvPr id="11" name="a1wd312_code10"/>
          <p:cNvSpPr txBox="1"/>
          <p:nvPr/>
        </p:nvSpPr>
        <p:spPr>
          <a:xfrm>
            <a:off x="621792" y="2660904"/>
            <a:ext cx="4562855" cy="214884"/>
          </a:xfrm>
          <a:prstGeom prst="rect">
            <a:avLst/>
          </a:prstGeom>
          <a:noFill/>
        </p:spPr>
        <p:txBody>
          <a:bodyPr wrap="none" lIns="0" tIns="0" rIns="0" bIns="0" anchor="ctr">
            <a:spAutoFit/>
          </a:bodyPr>
          <a:lstStyle/>
          <a:p>
            <a:pPr algn="l"/>
            <a:r>
              <a:rPr sz="950" b="1">
                <a:solidFill>
                  <a:srgbClr val="C9B3E8"/>
                </a:solidFill>
                <a:latin typeface="Courier New"/>
              </a:rPr>
              <a:t>  {:probe_reply, v} -&gt; v</a:t>
            </a:r>
          </a:p>
        </p:txBody>
      </p:sp>
      <p:sp>
        <p:nvSpPr>
          <p:cNvPr id="12" name="a1wd390_code11"/>
          <p:cNvSpPr txBox="1"/>
          <p:nvPr/>
        </p:nvSpPr>
        <p:spPr>
          <a:xfrm>
            <a:off x="621792" y="2875787"/>
            <a:ext cx="4562855" cy="214884"/>
          </a:xfrm>
          <a:prstGeom prst="rect">
            <a:avLst/>
          </a:prstGeom>
          <a:noFill/>
        </p:spPr>
        <p:txBody>
          <a:bodyPr wrap="none" lIns="0" tIns="0" rIns="0" bIns="0" anchor="ctr">
            <a:spAutoFit/>
          </a:bodyPr>
          <a:lstStyle/>
          <a:p>
            <a:pPr algn="l"/>
            <a:r>
              <a:rPr sz="950" b="1">
                <a:solidFill>
                  <a:srgbClr val="C9B3E8"/>
                </a:solidFill>
                <a:latin typeface="Courier New"/>
              </a:rPr>
              <a:t>after</a:t>
            </a:r>
          </a:p>
        </p:txBody>
      </p:sp>
      <p:sp>
        <p:nvSpPr>
          <p:cNvPr id="13" name="a1wd468_code12"/>
          <p:cNvSpPr txBox="1"/>
          <p:nvPr/>
        </p:nvSpPr>
        <p:spPr>
          <a:xfrm>
            <a:off x="621792" y="3090672"/>
            <a:ext cx="4562855" cy="214884"/>
          </a:xfrm>
          <a:prstGeom prst="rect">
            <a:avLst/>
          </a:prstGeom>
          <a:noFill/>
        </p:spPr>
        <p:txBody>
          <a:bodyPr wrap="none" lIns="0" tIns="0" rIns="0" bIns="0" anchor="ctr">
            <a:spAutoFit/>
          </a:bodyPr>
          <a:lstStyle/>
          <a:p>
            <a:pPr algn="l"/>
            <a:r>
              <a:rPr sz="950" b="1">
                <a:solidFill>
                  <a:srgbClr val="C9B3E8"/>
                </a:solidFill>
                <a:latin typeface="Courier New"/>
              </a:rPr>
              <a:t>  1000 -&gt; :timeout</a:t>
            </a:r>
          </a:p>
        </p:txBody>
      </p:sp>
      <p:sp>
        <p:nvSpPr>
          <p:cNvPr id="14" name="a1wd546_code13"/>
          <p:cNvSpPr txBox="1"/>
          <p:nvPr/>
        </p:nvSpPr>
        <p:spPr>
          <a:xfrm>
            <a:off x="621792" y="3305556"/>
            <a:ext cx="4562855" cy="214884"/>
          </a:xfrm>
          <a:prstGeom prst="rect">
            <a:avLst/>
          </a:prstGeom>
          <a:noFill/>
        </p:spPr>
        <p:txBody>
          <a:bodyPr wrap="none" lIns="0" tIns="0" rIns="0" bIns="0" anchor="ctr">
            <a:spAutoFit/>
          </a:bodyPr>
          <a:lstStyle/>
          <a:p>
            <a:pPr algn="l"/>
            <a:r>
              <a:rPr sz="950" b="1">
                <a:solidFill>
                  <a:srgbClr val="C9B3E8"/>
                </a:solidFill>
                <a:latin typeface="Courier New"/>
              </a:rPr>
              <a:t>end</a:t>
            </a:r>
          </a:p>
        </p:txBody>
      </p:sp>
      <p:sp>
        <p:nvSpPr>
          <p:cNvPr id="15" name="a1wd624_code14"/>
          <p:cNvSpPr txBox="1"/>
          <p:nvPr/>
        </p:nvSpPr>
        <p:spPr>
          <a:xfrm>
            <a:off x="621792" y="3520439"/>
            <a:ext cx="4562855" cy="214884"/>
          </a:xfrm>
          <a:prstGeom prst="rect">
            <a:avLst/>
          </a:prstGeom>
          <a:noFill/>
        </p:spPr>
        <p:txBody>
          <a:bodyPr wrap="none" lIns="0" tIns="0" rIns="0" bIns="0" anchor="ctr">
            <a:spAutoFit/>
          </a:bodyPr>
          <a:lstStyle/>
          <a:p>
            <a:pPr algn="l"/>
            <a:r>
              <a:rPr sz="950" b="0">
                <a:solidFill>
                  <a:srgbClr val="14B8A6"/>
                </a:solidFill>
                <a:latin typeface="Courier New"/>
              </a:rPr>
              <a:t>#=&gt; 42</a:t>
            </a:r>
          </a:p>
        </p:txBody>
      </p:sp>
      <p:sp>
        <p:nvSpPr>
          <p:cNvPr id="16" name="a2u_dot15"/>
          <p:cNvSpPr/>
          <p:nvPr/>
        </p:nvSpPr>
        <p:spPr>
          <a:xfrm>
            <a:off x="539496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_b16"/>
          <p:cNvSpPr txBox="1"/>
          <p:nvPr/>
        </p:nvSpPr>
        <p:spPr>
          <a:xfrm>
            <a:off x="5614416" y="1399031"/>
            <a:ext cx="3072384" cy="731519"/>
          </a:xfrm>
          <a:prstGeom prst="rect">
            <a:avLst/>
          </a:prstGeom>
          <a:noFill/>
        </p:spPr>
        <p:txBody>
          <a:bodyPr wrap="square" lIns="0" tIns="0" rIns="0" bIns="0" anchor="t">
            <a:spAutoFit/>
          </a:bodyPr>
          <a:lstStyle/>
          <a:p>
            <a:pPr algn="l"/>
            <a:r>
              <a:rPr sz="1100" b="1">
                <a:solidFill>
                  <a:srgbClr val="0F172A"/>
                </a:solidFill>
                <a:latin typeface="Calibri"/>
              </a:rPr>
              <a:t>OTP is built from these tags  </a:t>
            </a:r>
            <a:r>
              <a:rPr sz="1100" b="0">
                <a:solidFill>
                  <a:srgbClr val="334155"/>
                </a:solidFill>
                <a:latin typeface="Calibri"/>
              </a:rPr>
              <a:t>{:reply, v, state} · {:noreply, state} · {:stop, reason, state}</a:t>
            </a:r>
          </a:p>
        </p:txBody>
      </p:sp>
      <p:sp>
        <p:nvSpPr>
          <p:cNvPr id="18" name="a2ud180_dot17"/>
          <p:cNvSpPr/>
          <p:nvPr/>
        </p:nvSpPr>
        <p:spPr>
          <a:xfrm>
            <a:off x="5394960" y="2267711"/>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ud180_b18"/>
          <p:cNvSpPr txBox="1"/>
          <p:nvPr/>
        </p:nvSpPr>
        <p:spPr>
          <a:xfrm>
            <a:off x="5614416" y="2167127"/>
            <a:ext cx="3072384" cy="731519"/>
          </a:xfrm>
          <a:prstGeom prst="rect">
            <a:avLst/>
          </a:prstGeom>
          <a:noFill/>
        </p:spPr>
        <p:txBody>
          <a:bodyPr wrap="square" lIns="0" tIns="0" rIns="0" bIns="0" anchor="t">
            <a:spAutoFit/>
          </a:bodyPr>
          <a:lstStyle/>
          <a:p>
            <a:pPr algn="l"/>
            <a:r>
              <a:rPr sz="1100" b="1">
                <a:solidFill>
                  <a:srgbClr val="0F172A"/>
                </a:solidFill>
                <a:latin typeface="Calibri"/>
              </a:rPr>
              <a:t>So are the strategies  </a:t>
            </a:r>
            <a:r>
              <a:rPr sz="1100" b="0">
                <a:solidFill>
                  <a:srgbClr val="334155"/>
                </a:solidFill>
                <a:latin typeface="Calibri"/>
              </a:rPr>
              <a:t>:one_for_one · :one_for_all · :rest_for_one</a:t>
            </a:r>
          </a:p>
        </p:txBody>
      </p:sp>
      <p:sp>
        <p:nvSpPr>
          <p:cNvPr id="20" name="a2ud360_dot19"/>
          <p:cNvSpPr/>
          <p:nvPr/>
        </p:nvSpPr>
        <p:spPr>
          <a:xfrm>
            <a:off x="5394960" y="3035807"/>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2ud360_b20"/>
          <p:cNvSpPr txBox="1"/>
          <p:nvPr/>
        </p:nvSpPr>
        <p:spPr>
          <a:xfrm>
            <a:off x="5614416" y="2935223"/>
            <a:ext cx="3072384" cy="731519"/>
          </a:xfrm>
          <a:prstGeom prst="rect">
            <a:avLst/>
          </a:prstGeom>
          <a:noFill/>
        </p:spPr>
        <p:txBody>
          <a:bodyPr wrap="square" lIns="0" tIns="0" rIns="0" bIns="0" anchor="t">
            <a:spAutoFit/>
          </a:bodyPr>
          <a:lstStyle/>
          <a:p>
            <a:pPr algn="l"/>
            <a:r>
              <a:rPr sz="1100" b="1">
                <a:solidFill>
                  <a:srgbClr val="0F172A"/>
                </a:solidFill>
                <a:latin typeface="Calibri"/>
              </a:rPr>
              <a:t>And the exit reasons  </a:t>
            </a:r>
            <a:r>
              <a:rPr sz="1100" b="0">
                <a:solidFill>
                  <a:srgbClr val="334155"/>
                </a:solidFill>
                <a:latin typeface="Calibri"/>
              </a:rPr>
              <a:t>:normal · :shutdown · :killed</a:t>
            </a:r>
          </a:p>
        </p:txBody>
      </p:sp>
      <p:sp>
        <p:nvSpPr>
          <p:cNvPr id="22" name="a3f_nb21"/>
          <p:cNvSpPr/>
          <p:nvPr/>
        </p:nvSpPr>
        <p:spPr>
          <a:xfrm>
            <a:off x="457200" y="4027931"/>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3f_nacc22"/>
          <p:cNvSpPr/>
          <p:nvPr/>
        </p:nvSpPr>
        <p:spPr>
          <a:xfrm>
            <a:off x="457200" y="4027931"/>
            <a:ext cx="50292" cy="420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t23"/>
          <p:cNvSpPr txBox="1"/>
          <p:nvPr/>
        </p:nvSpPr>
        <p:spPr>
          <a:xfrm>
            <a:off x="658368" y="4027931"/>
            <a:ext cx="7827264" cy="420624"/>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Pattern matching a tag in a receive block is one word compare per clause — which is why a process can sit on a busy mailbox cheaply.</a:t>
            </a:r>
          </a:p>
        </p:txBody>
      </p:sp>
      <p:sp>
        <p:nvSpPr>
          <p:cNvPr id="25" name="ft24"/>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6" name="ft25"/>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24</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8"/>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6"/>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34"/>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12"/>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9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68"/>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46"/>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24"/>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 calcmode="lin" valueType="num">
                                      <p:cBhvr additive="base">
                                        <p:cTn id="42" dur="500" fill="hold"/>
                                        <p:tgtEl>
                                          <p:spTgt spid="16"/>
                                        </p:tgtEl>
                                        <p:attrNameLst>
                                          <p:attrName>ppt_x</p:attrName>
                                        </p:attrNameLst>
                                      </p:cBhvr>
                                      <p:tavLst>
                                        <p:tav tm="0">
                                          <p:val>
                                            <p:strVal val="#ppt_x"/>
                                          </p:val>
                                        </p:tav>
                                        <p:tav tm="100000">
                                          <p:val>
                                            <p:strVal val="#ppt_x"/>
                                          </p:val>
                                        </p:tav>
                                      </p:tavLst>
                                    </p:anim>
                                    <p:anim calcmode="lin" valueType="num">
                                      <p:cBhvr additive="base">
                                        <p:cTn id="43" dur="500" fill="hold"/>
                                        <p:tgtEl>
                                          <p:spTgt spid="16"/>
                                        </p:tgtEl>
                                        <p:attrNameLst>
                                          <p:attrName>ppt_y</p:attrName>
                                        </p:attrNameLst>
                                      </p:cBhvr>
                                      <p:tavLst>
                                        <p:tav tm="0">
                                          <p:val>
                                            <p:strVal val="#ppt_y+0.1"/>
                                          </p:val>
                                        </p:tav>
                                        <p:tav tm="100000">
                                          <p:val>
                                            <p:strVal val="#ppt_y"/>
                                          </p:val>
                                        </p:tav>
                                      </p:tavLst>
                                    </p:anim>
                                    <p:animEffect transition="in" filter="fade">
                                      <p:cBhvr>
                                        <p:cTn id="44" dur="500"/>
                                        <p:tgtEl>
                                          <p:spTgt spid="16"/>
                                        </p:tgtEl>
                                      </p:cBhvr>
                                    </p:animEffect>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ppt_y+0.1"/>
                                          </p:val>
                                        </p:tav>
                                        <p:tav tm="100000">
                                          <p:val>
                                            <p:strVal val="#ppt_y"/>
                                          </p:val>
                                        </p:tav>
                                      </p:tavLst>
                                    </p:anim>
                                    <p:animEffect transition="in" filter="fade">
                                      <p:cBhvr>
                                        <p:cTn id="49" dur="500"/>
                                        <p:tgtEl>
                                          <p:spTgt spid="17"/>
                                        </p:tgtEl>
                                      </p:cBhvr>
                                    </p:animEffect>
                                  </p:childTnLst>
                                </p:cTn>
                              </p:par>
                              <p:par>
                                <p:cTn id="50" presetID="2" presetClass="entr" presetSubtype="4" fill="hold" grpId="0" nodeType="withEffect">
                                  <p:stCondLst>
                                    <p:cond delay="18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fill="hold"/>
                                        <p:tgtEl>
                                          <p:spTgt spid="18"/>
                                        </p:tgtEl>
                                        <p:attrNameLst>
                                          <p:attrName>ppt_x</p:attrName>
                                        </p:attrNameLst>
                                      </p:cBhvr>
                                      <p:tavLst>
                                        <p:tav tm="0">
                                          <p:val>
                                            <p:strVal val="#ppt_x"/>
                                          </p:val>
                                        </p:tav>
                                        <p:tav tm="100000">
                                          <p:val>
                                            <p:strVal val="#ppt_x"/>
                                          </p:val>
                                        </p:tav>
                                      </p:tavLst>
                                    </p:anim>
                                    <p:anim calcmode="lin" valueType="num">
                                      <p:cBhvr additive="base">
                                        <p:cTn id="53" dur="500" fill="hold"/>
                                        <p:tgtEl>
                                          <p:spTgt spid="18"/>
                                        </p:tgtEl>
                                        <p:attrNameLst>
                                          <p:attrName>ppt_y</p:attrName>
                                        </p:attrNameLst>
                                      </p:cBhvr>
                                      <p:tavLst>
                                        <p:tav tm="0">
                                          <p:val>
                                            <p:strVal val="#ppt_y+0.1"/>
                                          </p:val>
                                        </p:tav>
                                        <p:tav tm="100000">
                                          <p:val>
                                            <p:strVal val="#ppt_y"/>
                                          </p:val>
                                        </p:tav>
                                      </p:tavLst>
                                    </p:anim>
                                    <p:animEffect transition="in" filter="fade">
                                      <p:cBhvr>
                                        <p:cTn id="54" dur="500"/>
                                        <p:tgtEl>
                                          <p:spTgt spid="18"/>
                                        </p:tgtEl>
                                      </p:cBhvr>
                                    </p:animEffect>
                                  </p:childTnLst>
                                </p:cTn>
                              </p:par>
                              <p:par>
                                <p:cTn id="55" presetID="2" presetClass="entr" presetSubtype="4" fill="hold" grpId="0" nodeType="withEffect">
                                  <p:stCondLst>
                                    <p:cond delay="18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ppt_x"/>
                                          </p:val>
                                        </p:tav>
                                        <p:tav tm="100000">
                                          <p:val>
                                            <p:strVal val="#ppt_x"/>
                                          </p:val>
                                        </p:tav>
                                      </p:tavLst>
                                    </p:anim>
                                    <p:anim calcmode="lin" valueType="num">
                                      <p:cBhvr additive="base">
                                        <p:cTn id="58" dur="500" fill="hold"/>
                                        <p:tgtEl>
                                          <p:spTgt spid="19"/>
                                        </p:tgtEl>
                                        <p:attrNameLst>
                                          <p:attrName>ppt_y</p:attrName>
                                        </p:attrNameLst>
                                      </p:cBhvr>
                                      <p:tavLst>
                                        <p:tav tm="0">
                                          <p:val>
                                            <p:strVal val="#ppt_y+0.1"/>
                                          </p:val>
                                        </p:tav>
                                        <p:tav tm="100000">
                                          <p:val>
                                            <p:strVal val="#ppt_y"/>
                                          </p:val>
                                        </p:tav>
                                      </p:tavLst>
                                    </p:anim>
                                    <p:animEffect transition="in" filter="fade">
                                      <p:cBhvr>
                                        <p:cTn id="59" dur="500"/>
                                        <p:tgtEl>
                                          <p:spTgt spid="19"/>
                                        </p:tgtEl>
                                      </p:cBhvr>
                                    </p:animEffect>
                                  </p:childTnLst>
                                </p:cTn>
                              </p:par>
                              <p:par>
                                <p:cTn id="60" presetID="2" presetClass="entr" presetSubtype="4" fill="hold" grpId="0" nodeType="withEffect">
                                  <p:stCondLst>
                                    <p:cond delay="36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500" fill="hold"/>
                                        <p:tgtEl>
                                          <p:spTgt spid="20"/>
                                        </p:tgtEl>
                                        <p:attrNameLst>
                                          <p:attrName>ppt_x</p:attrName>
                                        </p:attrNameLst>
                                      </p:cBhvr>
                                      <p:tavLst>
                                        <p:tav tm="0">
                                          <p:val>
                                            <p:strVal val="#ppt_x"/>
                                          </p:val>
                                        </p:tav>
                                        <p:tav tm="100000">
                                          <p:val>
                                            <p:strVal val="#ppt_x"/>
                                          </p:val>
                                        </p:tav>
                                      </p:tavLst>
                                    </p:anim>
                                    <p:anim calcmode="lin" valueType="num">
                                      <p:cBhvr additive="base">
                                        <p:cTn id="63" dur="500" fill="hold"/>
                                        <p:tgtEl>
                                          <p:spTgt spid="20"/>
                                        </p:tgtEl>
                                        <p:attrNameLst>
                                          <p:attrName>ppt_y</p:attrName>
                                        </p:attrNameLst>
                                      </p:cBhvr>
                                      <p:tavLst>
                                        <p:tav tm="0">
                                          <p:val>
                                            <p:strVal val="#ppt_y+0.1"/>
                                          </p:val>
                                        </p:tav>
                                        <p:tav tm="100000">
                                          <p:val>
                                            <p:strVal val="#ppt_y"/>
                                          </p:val>
                                        </p:tav>
                                      </p:tavLst>
                                    </p:anim>
                                    <p:animEffect transition="in" filter="fade">
                                      <p:cBhvr>
                                        <p:cTn id="64" dur="500"/>
                                        <p:tgtEl>
                                          <p:spTgt spid="20"/>
                                        </p:tgtEl>
                                      </p:cBhvr>
                                    </p:animEffect>
                                  </p:childTnLst>
                                </p:cTn>
                              </p:par>
                              <p:par>
                                <p:cTn id="65" presetID="2" presetClass="entr" presetSubtype="4" fill="hold" grpId="0" nodeType="withEffect">
                                  <p:stCondLst>
                                    <p:cond delay="36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500" fill="hold"/>
                                        <p:tgtEl>
                                          <p:spTgt spid="21"/>
                                        </p:tgtEl>
                                        <p:attrNameLst>
                                          <p:attrName>ppt_x</p:attrName>
                                        </p:attrNameLst>
                                      </p:cBhvr>
                                      <p:tavLst>
                                        <p:tav tm="0">
                                          <p:val>
                                            <p:strVal val="#ppt_x"/>
                                          </p:val>
                                        </p:tav>
                                        <p:tav tm="100000">
                                          <p:val>
                                            <p:strVal val="#ppt_x"/>
                                          </p:val>
                                        </p:tav>
                                      </p:tavLst>
                                    </p:anim>
                                    <p:anim calcmode="lin" valueType="num">
                                      <p:cBhvr additive="base">
                                        <p:cTn id="68" dur="500" fill="hold"/>
                                        <p:tgtEl>
                                          <p:spTgt spid="21"/>
                                        </p:tgtEl>
                                        <p:attrNameLst>
                                          <p:attrName>ppt_y</p:attrName>
                                        </p:attrNameLst>
                                      </p:cBhvr>
                                      <p:tavLst>
                                        <p:tav tm="0">
                                          <p:val>
                                            <p:strVal val="#ppt_y+0.1"/>
                                          </p:val>
                                        </p:tav>
                                        <p:tav tm="100000">
                                          <p:val>
                                            <p:strVal val="#ppt_y"/>
                                          </p:val>
                                        </p:tav>
                                      </p:tavLst>
                                    </p:anim>
                                    <p:animEffect transition="in" filter="fade">
                                      <p:cBhvr>
                                        <p:cTn id="69" dur="5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2"/>
                                        </p:tgtEl>
                                        <p:attrNameLst>
                                          <p:attrName>style.visibility</p:attrName>
                                        </p:attrNameLst>
                                      </p:cBhvr>
                                      <p:to>
                                        <p:strVal val="visible"/>
                                      </p:to>
                                    </p:set>
                                    <p:animEffect transition="in" filter="fade">
                                      <p:cBhvr>
                                        <p:cTn id="74" dur="500"/>
                                        <p:tgtEl>
                                          <p:spTgt spid="2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VOCABULARY</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atoms you will meet in week one</a:t>
            </a:r>
          </a:p>
        </p:txBody>
      </p:sp>
      <p:sp>
        <p:nvSpPr>
          <p:cNvPr id="4" name="a1u_pill3"/>
          <p:cNvSpPr/>
          <p:nvPr/>
        </p:nvSpPr>
        <p:spPr>
          <a:xfrm>
            <a:off x="457200"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:ok</a:t>
            </a:r>
          </a:p>
        </p:txBody>
      </p:sp>
      <p:sp>
        <p:nvSpPr>
          <p:cNvPr id="5" name="a1ud55_pill4"/>
          <p:cNvSpPr/>
          <p:nvPr/>
        </p:nvSpPr>
        <p:spPr>
          <a:xfrm>
            <a:off x="1865376"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:error</a:t>
            </a:r>
          </a:p>
        </p:txBody>
      </p:sp>
      <p:sp>
        <p:nvSpPr>
          <p:cNvPr id="6" name="a1ud110_pill5"/>
          <p:cNvSpPr/>
          <p:nvPr/>
        </p:nvSpPr>
        <p:spPr>
          <a:xfrm>
            <a:off x="3273552"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true</a:t>
            </a:r>
          </a:p>
        </p:txBody>
      </p:sp>
      <p:sp>
        <p:nvSpPr>
          <p:cNvPr id="7" name="a1ud165_pill6"/>
          <p:cNvSpPr/>
          <p:nvPr/>
        </p:nvSpPr>
        <p:spPr>
          <a:xfrm>
            <a:off x="4681728"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false</a:t>
            </a:r>
          </a:p>
        </p:txBody>
      </p:sp>
      <p:sp>
        <p:nvSpPr>
          <p:cNvPr id="8" name="a1ud220_pill7"/>
          <p:cNvSpPr/>
          <p:nvPr/>
        </p:nvSpPr>
        <p:spPr>
          <a:xfrm>
            <a:off x="6089904"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nil</a:t>
            </a:r>
          </a:p>
        </p:txBody>
      </p:sp>
      <p:sp>
        <p:nvSpPr>
          <p:cNvPr id="9" name="a1ud275_pill8"/>
          <p:cNvSpPr/>
          <p:nvPr/>
        </p:nvSpPr>
        <p:spPr>
          <a:xfrm>
            <a:off x="7498079" y="1115568"/>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:noreply</a:t>
            </a:r>
          </a:p>
        </p:txBody>
      </p:sp>
      <p:sp>
        <p:nvSpPr>
          <p:cNvPr id="10" name="a1ud330_pill9"/>
          <p:cNvSpPr/>
          <p:nvPr/>
        </p:nvSpPr>
        <p:spPr>
          <a:xfrm>
            <a:off x="457200"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:reply</a:t>
            </a:r>
          </a:p>
        </p:txBody>
      </p:sp>
      <p:sp>
        <p:nvSpPr>
          <p:cNvPr id="11" name="a1ud385_pill10"/>
          <p:cNvSpPr/>
          <p:nvPr/>
        </p:nvSpPr>
        <p:spPr>
          <a:xfrm>
            <a:off x="1865376"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:stop</a:t>
            </a:r>
          </a:p>
        </p:txBody>
      </p:sp>
      <p:sp>
        <p:nvSpPr>
          <p:cNvPr id="12" name="a1ud440_pill11"/>
          <p:cNvSpPr/>
          <p:nvPr/>
        </p:nvSpPr>
        <p:spPr>
          <a:xfrm>
            <a:off x="3273552"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:normal</a:t>
            </a:r>
          </a:p>
        </p:txBody>
      </p:sp>
      <p:sp>
        <p:nvSpPr>
          <p:cNvPr id="13" name="a1ud495_pill12"/>
          <p:cNvSpPr/>
          <p:nvPr/>
        </p:nvSpPr>
        <p:spPr>
          <a:xfrm>
            <a:off x="4681728"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:shutdown</a:t>
            </a:r>
          </a:p>
        </p:txBody>
      </p:sp>
      <p:sp>
        <p:nvSpPr>
          <p:cNvPr id="14" name="a1ud550_pill13"/>
          <p:cNvSpPr/>
          <p:nvPr/>
        </p:nvSpPr>
        <p:spPr>
          <a:xfrm>
            <a:off x="6089904"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:enoent</a:t>
            </a:r>
          </a:p>
        </p:txBody>
      </p:sp>
      <p:sp>
        <p:nvSpPr>
          <p:cNvPr id="15" name="a1ud605_pill14"/>
          <p:cNvSpPr/>
          <p:nvPr/>
        </p:nvSpPr>
        <p:spPr>
          <a:xfrm>
            <a:off x="7498079" y="1636776"/>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:timeout</a:t>
            </a:r>
          </a:p>
        </p:txBody>
      </p:sp>
      <p:sp>
        <p:nvSpPr>
          <p:cNvPr id="16" name="a1ud660_pill15"/>
          <p:cNvSpPr/>
          <p:nvPr/>
        </p:nvSpPr>
        <p:spPr>
          <a:xfrm>
            <a:off x="457200"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:asc</a:t>
            </a:r>
          </a:p>
        </p:txBody>
      </p:sp>
      <p:sp>
        <p:nvSpPr>
          <p:cNvPr id="17" name="a1ud715_pill16"/>
          <p:cNvSpPr/>
          <p:nvPr/>
        </p:nvSpPr>
        <p:spPr>
          <a:xfrm>
            <a:off x="1865376"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:desc</a:t>
            </a:r>
          </a:p>
        </p:txBody>
      </p:sp>
      <p:sp>
        <p:nvSpPr>
          <p:cNvPr id="18" name="a1ud770_pill17"/>
          <p:cNvSpPr/>
          <p:nvPr/>
        </p:nvSpPr>
        <p:spPr>
          <a:xfrm>
            <a:off x="3273552"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:infinity</a:t>
            </a:r>
          </a:p>
        </p:txBody>
      </p:sp>
      <p:sp>
        <p:nvSpPr>
          <p:cNvPr id="19" name="a1ud825_pill18"/>
          <p:cNvSpPr/>
          <p:nvPr/>
        </p:nvSpPr>
        <p:spPr>
          <a:xfrm>
            <a:off x="4681728"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:one_for_one</a:t>
            </a:r>
          </a:p>
        </p:txBody>
      </p:sp>
      <p:sp>
        <p:nvSpPr>
          <p:cNvPr id="20" name="a1ud880_pill19"/>
          <p:cNvSpPr/>
          <p:nvPr/>
        </p:nvSpPr>
        <p:spPr>
          <a:xfrm>
            <a:off x="6089904"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:set</a:t>
            </a:r>
          </a:p>
        </p:txBody>
      </p:sp>
      <p:sp>
        <p:nvSpPr>
          <p:cNvPr id="21" name="a1ud935_pill20"/>
          <p:cNvSpPr/>
          <p:nvPr/>
        </p:nvSpPr>
        <p:spPr>
          <a:xfrm>
            <a:off x="7498079" y="2157984"/>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:named_table</a:t>
            </a:r>
          </a:p>
        </p:txBody>
      </p:sp>
      <p:sp>
        <p:nvSpPr>
          <p:cNvPr id="22" name="a1ud990_pill21"/>
          <p:cNvSpPr/>
          <p:nvPr/>
        </p:nvSpPr>
        <p:spPr>
          <a:xfrm>
            <a:off x="457200"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:undefined</a:t>
            </a:r>
          </a:p>
        </p:txBody>
      </p:sp>
      <p:sp>
        <p:nvSpPr>
          <p:cNvPr id="23" name="a1ud1045_pill22"/>
          <p:cNvSpPr/>
          <p:nvPr/>
        </p:nvSpPr>
        <p:spPr>
          <a:xfrm>
            <a:off x="1865376"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:badarg</a:t>
            </a:r>
          </a:p>
        </p:txBody>
      </p:sp>
      <p:sp>
        <p:nvSpPr>
          <p:cNvPr id="24" name="a1ud1100_pill23"/>
          <p:cNvSpPr/>
          <p:nvPr/>
        </p:nvSpPr>
        <p:spPr>
          <a:xfrm>
            <a:off x="3273552"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:continue</a:t>
            </a:r>
          </a:p>
        </p:txBody>
      </p:sp>
      <p:sp>
        <p:nvSpPr>
          <p:cNvPr id="25" name="a1ud1155_pill24"/>
          <p:cNvSpPr/>
          <p:nvPr/>
        </p:nvSpPr>
        <p:spPr>
          <a:xfrm>
            <a:off x="4681728"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:hibernate</a:t>
            </a:r>
          </a:p>
        </p:txBody>
      </p:sp>
      <p:sp>
        <p:nvSpPr>
          <p:cNvPr id="26" name="a1ud1210_pill25"/>
          <p:cNvSpPr/>
          <p:nvPr/>
        </p:nvSpPr>
        <p:spPr>
          <a:xfrm>
            <a:off x="6089904"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:global</a:t>
            </a:r>
          </a:p>
        </p:txBody>
      </p:sp>
      <p:sp>
        <p:nvSpPr>
          <p:cNvPr id="27" name="a1ud1265_pill26"/>
          <p:cNvSpPr/>
          <p:nvPr/>
        </p:nvSpPr>
        <p:spPr>
          <a:xfrm>
            <a:off x="7498079" y="2679191"/>
            <a:ext cx="1316736" cy="429768"/>
          </a:xfrm>
          <a:prstGeom prst="roundRect">
            <a:avLst>
              <a:gd name="adj" fmla="val 50000"/>
            </a:avLst>
          </a:prstGeom>
          <a:solidFill>
            <a:srgbClr val="F1EAF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4B275F"/>
                </a:solidFill>
                <a:latin typeface="Courier New"/>
              </a:rPr>
              <a:t>:via</a:t>
            </a:r>
          </a:p>
        </p:txBody>
      </p:sp>
      <p:sp>
        <p:nvSpPr>
          <p:cNvPr id="28" name="a2f_nb27"/>
          <p:cNvSpPr/>
          <p:nvPr/>
        </p:nvSpPr>
        <p:spPr>
          <a:xfrm>
            <a:off x="457200" y="3346704"/>
            <a:ext cx="8229600" cy="640080"/>
          </a:xfrm>
          <a:prstGeom prst="roundRect">
            <a:avLst>
              <a:gd name="adj" fmla="val 11428"/>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2f_nacc28"/>
          <p:cNvSpPr/>
          <p:nvPr/>
        </p:nvSpPr>
        <p:spPr>
          <a:xfrm>
            <a:off x="457200" y="3346704"/>
            <a:ext cx="50292" cy="6400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2f_nt29"/>
          <p:cNvSpPr txBox="1"/>
          <p:nvPr/>
        </p:nvSpPr>
        <p:spPr>
          <a:xfrm>
            <a:off x="658368" y="3346704"/>
            <a:ext cx="7827264" cy="640080"/>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None of these are keywords. Every one is an ordinary atom that some library agreed to treat as meaningful — which is exactly what you will do when you define your own return tags. There is no registry to add them to.</a:t>
            </a:r>
          </a:p>
        </p:txBody>
      </p:sp>
      <p:sp>
        <p:nvSpPr>
          <p:cNvPr id="31" name="ft30"/>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32" name="ft31"/>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ppt_y+0.1"/>
                                          </p:val>
                                        </p:tav>
                                        <p:tav tm="100000">
                                          <p:val>
                                            <p:strVal val="#ppt_y"/>
                                          </p:val>
                                        </p:tav>
                                      </p:tavLst>
                                    </p:anim>
                                    <p:animEffect transition="in" filter="fade">
                                      <p:cBhvr>
                                        <p:cTn id="9" dur="500"/>
                                        <p:tgtEl>
                                          <p:spTgt spid="4"/>
                                        </p:tgtEl>
                                      </p:cBhvr>
                                    </p:animEffect>
                                  </p:childTnLst>
                                </p:cTn>
                              </p:par>
                              <p:par>
                                <p:cTn id="10" presetID="2" presetClass="entr" presetSubtype="4" fill="hold" grpId="0" nodeType="withEffect">
                                  <p:stCondLst>
                                    <p:cond delay="55"/>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ppt_y+0.1"/>
                                          </p:val>
                                        </p:tav>
                                        <p:tav tm="100000">
                                          <p:val>
                                            <p:strVal val="#ppt_y"/>
                                          </p:val>
                                        </p:tav>
                                      </p:tavLst>
                                    </p:anim>
                                    <p:animEffect transition="in" filter="fade">
                                      <p:cBhvr>
                                        <p:cTn id="14" dur="500"/>
                                        <p:tgtEl>
                                          <p:spTgt spid="5"/>
                                        </p:tgtEl>
                                      </p:cBhvr>
                                    </p:animEffect>
                                  </p:childTnLst>
                                </p:cTn>
                              </p:par>
                              <p:par>
                                <p:cTn id="15" presetID="2" presetClass="entr" presetSubtype="4" fill="hold" grpId="0" nodeType="withEffect">
                                  <p:stCondLst>
                                    <p:cond delay="11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ppt_y+0.1"/>
                                          </p:val>
                                        </p:tav>
                                        <p:tav tm="100000">
                                          <p:val>
                                            <p:strVal val="#ppt_y"/>
                                          </p:val>
                                        </p:tav>
                                      </p:tavLst>
                                    </p:anim>
                                    <p:animEffect transition="in" filter="fade">
                                      <p:cBhvr>
                                        <p:cTn id="19" dur="500"/>
                                        <p:tgtEl>
                                          <p:spTgt spid="6"/>
                                        </p:tgtEl>
                                      </p:cBhvr>
                                    </p:animEffect>
                                  </p:childTnLst>
                                </p:cTn>
                              </p:par>
                              <p:par>
                                <p:cTn id="20" presetID="2" presetClass="entr" presetSubtype="4" fill="hold" grpId="0" nodeType="withEffect">
                                  <p:stCondLst>
                                    <p:cond delay="165"/>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ppt_y+0.1"/>
                                          </p:val>
                                        </p:tav>
                                        <p:tav tm="100000">
                                          <p:val>
                                            <p:strVal val="#ppt_y"/>
                                          </p:val>
                                        </p:tav>
                                      </p:tavLst>
                                    </p:anim>
                                    <p:animEffect transition="in" filter="fade">
                                      <p:cBhvr>
                                        <p:cTn id="24" dur="500"/>
                                        <p:tgtEl>
                                          <p:spTgt spid="7"/>
                                        </p:tgtEl>
                                      </p:cBhvr>
                                    </p:animEffect>
                                  </p:childTnLst>
                                </p:cTn>
                              </p:par>
                              <p:par>
                                <p:cTn id="25" presetID="2" presetClass="entr" presetSubtype="4" fill="hold" grpId="0" nodeType="withEffect">
                                  <p:stCondLst>
                                    <p:cond delay="22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ppt_y+0.1"/>
                                          </p:val>
                                        </p:tav>
                                        <p:tav tm="100000">
                                          <p:val>
                                            <p:strVal val="#ppt_y"/>
                                          </p:val>
                                        </p:tav>
                                      </p:tavLst>
                                    </p:anim>
                                    <p:animEffect transition="in" filter="fade">
                                      <p:cBhvr>
                                        <p:cTn id="29" dur="500"/>
                                        <p:tgtEl>
                                          <p:spTgt spid="8"/>
                                        </p:tgtEl>
                                      </p:cBhvr>
                                    </p:animEffect>
                                  </p:childTnLst>
                                </p:cTn>
                              </p:par>
                              <p:par>
                                <p:cTn id="30" presetID="2" presetClass="entr" presetSubtype="4" fill="hold" grpId="0" nodeType="withEffect">
                                  <p:stCondLst>
                                    <p:cond delay="275"/>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ppt_y+0.1"/>
                                          </p:val>
                                        </p:tav>
                                        <p:tav tm="100000">
                                          <p:val>
                                            <p:strVal val="#ppt_y"/>
                                          </p:val>
                                        </p:tav>
                                      </p:tavLst>
                                    </p:anim>
                                    <p:animEffect transition="in" filter="fade">
                                      <p:cBhvr>
                                        <p:cTn id="34" dur="500"/>
                                        <p:tgtEl>
                                          <p:spTgt spid="9"/>
                                        </p:tgtEl>
                                      </p:cBhvr>
                                    </p:animEffect>
                                  </p:childTnLst>
                                </p:cTn>
                              </p:par>
                              <p:par>
                                <p:cTn id="35" presetID="2" presetClass="entr" presetSubtype="4" fill="hold" grpId="0" nodeType="withEffect">
                                  <p:stCondLst>
                                    <p:cond delay="33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ppt_y+0.1"/>
                                          </p:val>
                                        </p:tav>
                                        <p:tav tm="100000">
                                          <p:val>
                                            <p:strVal val="#ppt_y"/>
                                          </p:val>
                                        </p:tav>
                                      </p:tavLst>
                                    </p:anim>
                                    <p:animEffect transition="in" filter="fade">
                                      <p:cBhvr>
                                        <p:cTn id="39" dur="500"/>
                                        <p:tgtEl>
                                          <p:spTgt spid="10"/>
                                        </p:tgtEl>
                                      </p:cBhvr>
                                    </p:animEffect>
                                  </p:childTnLst>
                                </p:cTn>
                              </p:par>
                              <p:par>
                                <p:cTn id="40" presetID="2" presetClass="entr" presetSubtype="4" fill="hold" grpId="0" nodeType="withEffect">
                                  <p:stCondLst>
                                    <p:cond delay="385"/>
                                  </p:stCondLst>
                                  <p:childTnLst>
                                    <p:set>
                                      <p:cBhvr>
                                        <p:cTn id="41" dur="1" fill="hold">
                                          <p:stCondLst>
                                            <p:cond delay="0"/>
                                          </p:stCondLst>
                                        </p:cTn>
                                        <p:tgtEl>
                                          <p:spTgt spid="11"/>
                                        </p:tgtEl>
                                        <p:attrNameLst>
                                          <p:attrName>style.visibility</p:attrName>
                                        </p:attrNameLst>
                                      </p:cBhvr>
                                      <p:to>
                                        <p:strVal val="visible"/>
                                      </p:to>
                                    </p:set>
                                    <p:anim calcmode="lin" valueType="num">
                                      <p:cBhvr additive="base">
                                        <p:cTn id="42" dur="500" fill="hold"/>
                                        <p:tgtEl>
                                          <p:spTgt spid="11"/>
                                        </p:tgtEl>
                                        <p:attrNameLst>
                                          <p:attrName>ppt_x</p:attrName>
                                        </p:attrNameLst>
                                      </p:cBhvr>
                                      <p:tavLst>
                                        <p:tav tm="0">
                                          <p:val>
                                            <p:strVal val="#ppt_x"/>
                                          </p:val>
                                        </p:tav>
                                        <p:tav tm="100000">
                                          <p:val>
                                            <p:strVal val="#ppt_x"/>
                                          </p:val>
                                        </p:tav>
                                      </p:tavLst>
                                    </p:anim>
                                    <p:anim calcmode="lin" valueType="num">
                                      <p:cBhvr additive="base">
                                        <p:cTn id="43" dur="500" fill="hold"/>
                                        <p:tgtEl>
                                          <p:spTgt spid="11"/>
                                        </p:tgtEl>
                                        <p:attrNameLst>
                                          <p:attrName>ppt_y</p:attrName>
                                        </p:attrNameLst>
                                      </p:cBhvr>
                                      <p:tavLst>
                                        <p:tav tm="0">
                                          <p:val>
                                            <p:strVal val="#ppt_y+0.1"/>
                                          </p:val>
                                        </p:tav>
                                        <p:tav tm="100000">
                                          <p:val>
                                            <p:strVal val="#ppt_y"/>
                                          </p:val>
                                        </p:tav>
                                      </p:tavLst>
                                    </p:anim>
                                    <p:animEffect transition="in" filter="fade">
                                      <p:cBhvr>
                                        <p:cTn id="44" dur="500"/>
                                        <p:tgtEl>
                                          <p:spTgt spid="11"/>
                                        </p:tgtEl>
                                      </p:cBhvr>
                                    </p:animEffect>
                                  </p:childTnLst>
                                </p:cTn>
                              </p:par>
                              <p:par>
                                <p:cTn id="45" presetID="2" presetClass="entr" presetSubtype="4" fill="hold" grpId="0" nodeType="withEffect">
                                  <p:stCondLst>
                                    <p:cond delay="44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500" fill="hold"/>
                                        <p:tgtEl>
                                          <p:spTgt spid="12"/>
                                        </p:tgtEl>
                                        <p:attrNameLst>
                                          <p:attrName>ppt_x</p:attrName>
                                        </p:attrNameLst>
                                      </p:cBhvr>
                                      <p:tavLst>
                                        <p:tav tm="0">
                                          <p:val>
                                            <p:strVal val="#ppt_x"/>
                                          </p:val>
                                        </p:tav>
                                        <p:tav tm="100000">
                                          <p:val>
                                            <p:strVal val="#ppt_x"/>
                                          </p:val>
                                        </p:tav>
                                      </p:tavLst>
                                    </p:anim>
                                    <p:anim calcmode="lin" valueType="num">
                                      <p:cBhvr additive="base">
                                        <p:cTn id="48" dur="500" fill="hold"/>
                                        <p:tgtEl>
                                          <p:spTgt spid="12"/>
                                        </p:tgtEl>
                                        <p:attrNameLst>
                                          <p:attrName>ppt_y</p:attrName>
                                        </p:attrNameLst>
                                      </p:cBhvr>
                                      <p:tavLst>
                                        <p:tav tm="0">
                                          <p:val>
                                            <p:strVal val="#ppt_y+0.1"/>
                                          </p:val>
                                        </p:tav>
                                        <p:tav tm="100000">
                                          <p:val>
                                            <p:strVal val="#ppt_y"/>
                                          </p:val>
                                        </p:tav>
                                      </p:tavLst>
                                    </p:anim>
                                    <p:animEffect transition="in" filter="fade">
                                      <p:cBhvr>
                                        <p:cTn id="49" dur="500"/>
                                        <p:tgtEl>
                                          <p:spTgt spid="12"/>
                                        </p:tgtEl>
                                      </p:cBhvr>
                                    </p:animEffect>
                                  </p:childTnLst>
                                </p:cTn>
                              </p:par>
                              <p:par>
                                <p:cTn id="50" presetID="2" presetClass="entr" presetSubtype="4" fill="hold" grpId="0" nodeType="withEffect">
                                  <p:stCondLst>
                                    <p:cond delay="495"/>
                                  </p:stCondLst>
                                  <p:childTnLst>
                                    <p:set>
                                      <p:cBhvr>
                                        <p:cTn id="51" dur="1" fill="hold">
                                          <p:stCondLst>
                                            <p:cond delay="0"/>
                                          </p:stCondLst>
                                        </p:cTn>
                                        <p:tgtEl>
                                          <p:spTgt spid="13"/>
                                        </p:tgtEl>
                                        <p:attrNameLst>
                                          <p:attrName>style.visibility</p:attrName>
                                        </p:attrNameLst>
                                      </p:cBhvr>
                                      <p:to>
                                        <p:strVal val="visible"/>
                                      </p:to>
                                    </p:set>
                                    <p:anim calcmode="lin" valueType="num">
                                      <p:cBhvr additive="base">
                                        <p:cTn id="52" dur="500" fill="hold"/>
                                        <p:tgtEl>
                                          <p:spTgt spid="13"/>
                                        </p:tgtEl>
                                        <p:attrNameLst>
                                          <p:attrName>ppt_x</p:attrName>
                                        </p:attrNameLst>
                                      </p:cBhvr>
                                      <p:tavLst>
                                        <p:tav tm="0">
                                          <p:val>
                                            <p:strVal val="#ppt_x"/>
                                          </p:val>
                                        </p:tav>
                                        <p:tav tm="100000">
                                          <p:val>
                                            <p:strVal val="#ppt_x"/>
                                          </p:val>
                                        </p:tav>
                                      </p:tavLst>
                                    </p:anim>
                                    <p:anim calcmode="lin" valueType="num">
                                      <p:cBhvr additive="base">
                                        <p:cTn id="53" dur="500" fill="hold"/>
                                        <p:tgtEl>
                                          <p:spTgt spid="13"/>
                                        </p:tgtEl>
                                        <p:attrNameLst>
                                          <p:attrName>ppt_y</p:attrName>
                                        </p:attrNameLst>
                                      </p:cBhvr>
                                      <p:tavLst>
                                        <p:tav tm="0">
                                          <p:val>
                                            <p:strVal val="#ppt_y+0.1"/>
                                          </p:val>
                                        </p:tav>
                                        <p:tav tm="100000">
                                          <p:val>
                                            <p:strVal val="#ppt_y"/>
                                          </p:val>
                                        </p:tav>
                                      </p:tavLst>
                                    </p:anim>
                                    <p:animEffect transition="in" filter="fade">
                                      <p:cBhvr>
                                        <p:cTn id="54" dur="500"/>
                                        <p:tgtEl>
                                          <p:spTgt spid="13"/>
                                        </p:tgtEl>
                                      </p:cBhvr>
                                    </p:animEffect>
                                  </p:childTnLst>
                                </p:cTn>
                              </p:par>
                              <p:par>
                                <p:cTn id="55" presetID="2" presetClass="entr" presetSubtype="4" fill="hold" grpId="0" nodeType="withEffect">
                                  <p:stCondLst>
                                    <p:cond delay="550"/>
                                  </p:stCondLst>
                                  <p:childTnLst>
                                    <p:set>
                                      <p:cBhvr>
                                        <p:cTn id="56" dur="1" fill="hold">
                                          <p:stCondLst>
                                            <p:cond delay="0"/>
                                          </p:stCondLst>
                                        </p:cTn>
                                        <p:tgtEl>
                                          <p:spTgt spid="14"/>
                                        </p:tgtEl>
                                        <p:attrNameLst>
                                          <p:attrName>style.visibility</p:attrName>
                                        </p:attrNameLst>
                                      </p:cBhvr>
                                      <p:to>
                                        <p:strVal val="visible"/>
                                      </p:to>
                                    </p:set>
                                    <p:anim calcmode="lin" valueType="num">
                                      <p:cBhvr additive="base">
                                        <p:cTn id="57" dur="500" fill="hold"/>
                                        <p:tgtEl>
                                          <p:spTgt spid="14"/>
                                        </p:tgtEl>
                                        <p:attrNameLst>
                                          <p:attrName>ppt_x</p:attrName>
                                        </p:attrNameLst>
                                      </p:cBhvr>
                                      <p:tavLst>
                                        <p:tav tm="0">
                                          <p:val>
                                            <p:strVal val="#ppt_x"/>
                                          </p:val>
                                        </p:tav>
                                        <p:tav tm="100000">
                                          <p:val>
                                            <p:strVal val="#ppt_x"/>
                                          </p:val>
                                        </p:tav>
                                      </p:tavLst>
                                    </p:anim>
                                    <p:anim calcmode="lin" valueType="num">
                                      <p:cBhvr additive="base">
                                        <p:cTn id="58" dur="500" fill="hold"/>
                                        <p:tgtEl>
                                          <p:spTgt spid="14"/>
                                        </p:tgtEl>
                                        <p:attrNameLst>
                                          <p:attrName>ppt_y</p:attrName>
                                        </p:attrNameLst>
                                      </p:cBhvr>
                                      <p:tavLst>
                                        <p:tav tm="0">
                                          <p:val>
                                            <p:strVal val="#ppt_y+0.1"/>
                                          </p:val>
                                        </p:tav>
                                        <p:tav tm="100000">
                                          <p:val>
                                            <p:strVal val="#ppt_y"/>
                                          </p:val>
                                        </p:tav>
                                      </p:tavLst>
                                    </p:anim>
                                    <p:animEffect transition="in" filter="fade">
                                      <p:cBhvr>
                                        <p:cTn id="59" dur="500"/>
                                        <p:tgtEl>
                                          <p:spTgt spid="14"/>
                                        </p:tgtEl>
                                      </p:cBhvr>
                                    </p:animEffect>
                                  </p:childTnLst>
                                </p:cTn>
                              </p:par>
                              <p:par>
                                <p:cTn id="60" presetID="2" presetClass="entr" presetSubtype="4" fill="hold" grpId="0" nodeType="withEffect">
                                  <p:stCondLst>
                                    <p:cond delay="605"/>
                                  </p:stCondLst>
                                  <p:childTnLst>
                                    <p:set>
                                      <p:cBhvr>
                                        <p:cTn id="61" dur="1" fill="hold">
                                          <p:stCondLst>
                                            <p:cond delay="0"/>
                                          </p:stCondLst>
                                        </p:cTn>
                                        <p:tgtEl>
                                          <p:spTgt spid="15"/>
                                        </p:tgtEl>
                                        <p:attrNameLst>
                                          <p:attrName>style.visibility</p:attrName>
                                        </p:attrNameLst>
                                      </p:cBhvr>
                                      <p:to>
                                        <p:strVal val="visible"/>
                                      </p:to>
                                    </p:set>
                                    <p:anim calcmode="lin" valueType="num">
                                      <p:cBhvr additive="base">
                                        <p:cTn id="62" dur="500" fill="hold"/>
                                        <p:tgtEl>
                                          <p:spTgt spid="15"/>
                                        </p:tgtEl>
                                        <p:attrNameLst>
                                          <p:attrName>ppt_x</p:attrName>
                                        </p:attrNameLst>
                                      </p:cBhvr>
                                      <p:tavLst>
                                        <p:tav tm="0">
                                          <p:val>
                                            <p:strVal val="#ppt_x"/>
                                          </p:val>
                                        </p:tav>
                                        <p:tav tm="100000">
                                          <p:val>
                                            <p:strVal val="#ppt_x"/>
                                          </p:val>
                                        </p:tav>
                                      </p:tavLst>
                                    </p:anim>
                                    <p:anim calcmode="lin" valueType="num">
                                      <p:cBhvr additive="base">
                                        <p:cTn id="63" dur="500" fill="hold"/>
                                        <p:tgtEl>
                                          <p:spTgt spid="15"/>
                                        </p:tgtEl>
                                        <p:attrNameLst>
                                          <p:attrName>ppt_y</p:attrName>
                                        </p:attrNameLst>
                                      </p:cBhvr>
                                      <p:tavLst>
                                        <p:tav tm="0">
                                          <p:val>
                                            <p:strVal val="#ppt_y+0.1"/>
                                          </p:val>
                                        </p:tav>
                                        <p:tav tm="100000">
                                          <p:val>
                                            <p:strVal val="#ppt_y"/>
                                          </p:val>
                                        </p:tav>
                                      </p:tavLst>
                                    </p:anim>
                                    <p:animEffect transition="in" filter="fade">
                                      <p:cBhvr>
                                        <p:cTn id="64" dur="500"/>
                                        <p:tgtEl>
                                          <p:spTgt spid="15"/>
                                        </p:tgtEl>
                                      </p:cBhvr>
                                    </p:animEffect>
                                  </p:childTnLst>
                                </p:cTn>
                              </p:par>
                              <p:par>
                                <p:cTn id="65" presetID="2" presetClass="entr" presetSubtype="4" fill="hold" grpId="0" nodeType="withEffect">
                                  <p:stCondLst>
                                    <p:cond delay="660"/>
                                  </p:stCondLst>
                                  <p:childTnLst>
                                    <p:set>
                                      <p:cBhvr>
                                        <p:cTn id="66" dur="1" fill="hold">
                                          <p:stCondLst>
                                            <p:cond delay="0"/>
                                          </p:stCondLst>
                                        </p:cTn>
                                        <p:tgtEl>
                                          <p:spTgt spid="16"/>
                                        </p:tgtEl>
                                        <p:attrNameLst>
                                          <p:attrName>style.visibility</p:attrName>
                                        </p:attrNameLst>
                                      </p:cBhvr>
                                      <p:to>
                                        <p:strVal val="visible"/>
                                      </p:to>
                                    </p:set>
                                    <p:anim calcmode="lin" valueType="num">
                                      <p:cBhvr additive="base">
                                        <p:cTn id="67" dur="500" fill="hold"/>
                                        <p:tgtEl>
                                          <p:spTgt spid="16"/>
                                        </p:tgtEl>
                                        <p:attrNameLst>
                                          <p:attrName>ppt_x</p:attrName>
                                        </p:attrNameLst>
                                      </p:cBhvr>
                                      <p:tavLst>
                                        <p:tav tm="0">
                                          <p:val>
                                            <p:strVal val="#ppt_x"/>
                                          </p:val>
                                        </p:tav>
                                        <p:tav tm="100000">
                                          <p:val>
                                            <p:strVal val="#ppt_x"/>
                                          </p:val>
                                        </p:tav>
                                      </p:tavLst>
                                    </p:anim>
                                    <p:anim calcmode="lin" valueType="num">
                                      <p:cBhvr additive="base">
                                        <p:cTn id="68" dur="500" fill="hold"/>
                                        <p:tgtEl>
                                          <p:spTgt spid="16"/>
                                        </p:tgtEl>
                                        <p:attrNameLst>
                                          <p:attrName>ppt_y</p:attrName>
                                        </p:attrNameLst>
                                      </p:cBhvr>
                                      <p:tavLst>
                                        <p:tav tm="0">
                                          <p:val>
                                            <p:strVal val="#ppt_y+0.1"/>
                                          </p:val>
                                        </p:tav>
                                        <p:tav tm="100000">
                                          <p:val>
                                            <p:strVal val="#ppt_y"/>
                                          </p:val>
                                        </p:tav>
                                      </p:tavLst>
                                    </p:anim>
                                    <p:animEffect transition="in" filter="fade">
                                      <p:cBhvr>
                                        <p:cTn id="69" dur="500"/>
                                        <p:tgtEl>
                                          <p:spTgt spid="16"/>
                                        </p:tgtEl>
                                      </p:cBhvr>
                                    </p:animEffect>
                                  </p:childTnLst>
                                </p:cTn>
                              </p:par>
                              <p:par>
                                <p:cTn id="70" presetID="2" presetClass="entr" presetSubtype="4" fill="hold" grpId="0" nodeType="withEffect">
                                  <p:stCondLst>
                                    <p:cond delay="715"/>
                                  </p:stCondLst>
                                  <p:childTnLst>
                                    <p:set>
                                      <p:cBhvr>
                                        <p:cTn id="71" dur="1" fill="hold">
                                          <p:stCondLst>
                                            <p:cond delay="0"/>
                                          </p:stCondLst>
                                        </p:cTn>
                                        <p:tgtEl>
                                          <p:spTgt spid="17"/>
                                        </p:tgtEl>
                                        <p:attrNameLst>
                                          <p:attrName>style.visibility</p:attrName>
                                        </p:attrNameLst>
                                      </p:cBhvr>
                                      <p:to>
                                        <p:strVal val="visible"/>
                                      </p:to>
                                    </p:set>
                                    <p:anim calcmode="lin" valueType="num">
                                      <p:cBhvr additive="base">
                                        <p:cTn id="72" dur="500" fill="hold"/>
                                        <p:tgtEl>
                                          <p:spTgt spid="17"/>
                                        </p:tgtEl>
                                        <p:attrNameLst>
                                          <p:attrName>ppt_x</p:attrName>
                                        </p:attrNameLst>
                                      </p:cBhvr>
                                      <p:tavLst>
                                        <p:tav tm="0">
                                          <p:val>
                                            <p:strVal val="#ppt_x"/>
                                          </p:val>
                                        </p:tav>
                                        <p:tav tm="100000">
                                          <p:val>
                                            <p:strVal val="#ppt_x"/>
                                          </p:val>
                                        </p:tav>
                                      </p:tavLst>
                                    </p:anim>
                                    <p:anim calcmode="lin" valueType="num">
                                      <p:cBhvr additive="base">
                                        <p:cTn id="73" dur="500" fill="hold"/>
                                        <p:tgtEl>
                                          <p:spTgt spid="17"/>
                                        </p:tgtEl>
                                        <p:attrNameLst>
                                          <p:attrName>ppt_y</p:attrName>
                                        </p:attrNameLst>
                                      </p:cBhvr>
                                      <p:tavLst>
                                        <p:tav tm="0">
                                          <p:val>
                                            <p:strVal val="#ppt_y+0.1"/>
                                          </p:val>
                                        </p:tav>
                                        <p:tav tm="100000">
                                          <p:val>
                                            <p:strVal val="#ppt_y"/>
                                          </p:val>
                                        </p:tav>
                                      </p:tavLst>
                                    </p:anim>
                                    <p:animEffect transition="in" filter="fade">
                                      <p:cBhvr>
                                        <p:cTn id="74" dur="500"/>
                                        <p:tgtEl>
                                          <p:spTgt spid="17"/>
                                        </p:tgtEl>
                                      </p:cBhvr>
                                    </p:animEffect>
                                  </p:childTnLst>
                                </p:cTn>
                              </p:par>
                              <p:par>
                                <p:cTn id="75" presetID="2" presetClass="entr" presetSubtype="4" fill="hold" grpId="0" nodeType="withEffect">
                                  <p:stCondLst>
                                    <p:cond delay="770"/>
                                  </p:stCondLst>
                                  <p:childTnLst>
                                    <p:set>
                                      <p:cBhvr>
                                        <p:cTn id="76" dur="1" fill="hold">
                                          <p:stCondLst>
                                            <p:cond delay="0"/>
                                          </p:stCondLst>
                                        </p:cTn>
                                        <p:tgtEl>
                                          <p:spTgt spid="18"/>
                                        </p:tgtEl>
                                        <p:attrNameLst>
                                          <p:attrName>style.visibility</p:attrName>
                                        </p:attrNameLst>
                                      </p:cBhvr>
                                      <p:to>
                                        <p:strVal val="visible"/>
                                      </p:to>
                                    </p:set>
                                    <p:anim calcmode="lin" valueType="num">
                                      <p:cBhvr additive="base">
                                        <p:cTn id="77" dur="500" fill="hold"/>
                                        <p:tgtEl>
                                          <p:spTgt spid="18"/>
                                        </p:tgtEl>
                                        <p:attrNameLst>
                                          <p:attrName>ppt_x</p:attrName>
                                        </p:attrNameLst>
                                      </p:cBhvr>
                                      <p:tavLst>
                                        <p:tav tm="0">
                                          <p:val>
                                            <p:strVal val="#ppt_x"/>
                                          </p:val>
                                        </p:tav>
                                        <p:tav tm="100000">
                                          <p:val>
                                            <p:strVal val="#ppt_x"/>
                                          </p:val>
                                        </p:tav>
                                      </p:tavLst>
                                    </p:anim>
                                    <p:anim calcmode="lin" valueType="num">
                                      <p:cBhvr additive="base">
                                        <p:cTn id="78" dur="500" fill="hold"/>
                                        <p:tgtEl>
                                          <p:spTgt spid="18"/>
                                        </p:tgtEl>
                                        <p:attrNameLst>
                                          <p:attrName>ppt_y</p:attrName>
                                        </p:attrNameLst>
                                      </p:cBhvr>
                                      <p:tavLst>
                                        <p:tav tm="0">
                                          <p:val>
                                            <p:strVal val="#ppt_y+0.1"/>
                                          </p:val>
                                        </p:tav>
                                        <p:tav tm="100000">
                                          <p:val>
                                            <p:strVal val="#ppt_y"/>
                                          </p:val>
                                        </p:tav>
                                      </p:tavLst>
                                    </p:anim>
                                    <p:animEffect transition="in" filter="fade">
                                      <p:cBhvr>
                                        <p:cTn id="79" dur="500"/>
                                        <p:tgtEl>
                                          <p:spTgt spid="18"/>
                                        </p:tgtEl>
                                      </p:cBhvr>
                                    </p:animEffect>
                                  </p:childTnLst>
                                </p:cTn>
                              </p:par>
                              <p:par>
                                <p:cTn id="80" presetID="2" presetClass="entr" presetSubtype="4" fill="hold" grpId="0" nodeType="withEffect">
                                  <p:stCondLst>
                                    <p:cond delay="825"/>
                                  </p:stCondLst>
                                  <p:childTnLst>
                                    <p:set>
                                      <p:cBhvr>
                                        <p:cTn id="81" dur="1" fill="hold">
                                          <p:stCondLst>
                                            <p:cond delay="0"/>
                                          </p:stCondLst>
                                        </p:cTn>
                                        <p:tgtEl>
                                          <p:spTgt spid="19"/>
                                        </p:tgtEl>
                                        <p:attrNameLst>
                                          <p:attrName>style.visibility</p:attrName>
                                        </p:attrNameLst>
                                      </p:cBhvr>
                                      <p:to>
                                        <p:strVal val="visible"/>
                                      </p:to>
                                    </p:set>
                                    <p:anim calcmode="lin" valueType="num">
                                      <p:cBhvr additive="base">
                                        <p:cTn id="82" dur="500" fill="hold"/>
                                        <p:tgtEl>
                                          <p:spTgt spid="19"/>
                                        </p:tgtEl>
                                        <p:attrNameLst>
                                          <p:attrName>ppt_x</p:attrName>
                                        </p:attrNameLst>
                                      </p:cBhvr>
                                      <p:tavLst>
                                        <p:tav tm="0">
                                          <p:val>
                                            <p:strVal val="#ppt_x"/>
                                          </p:val>
                                        </p:tav>
                                        <p:tav tm="100000">
                                          <p:val>
                                            <p:strVal val="#ppt_x"/>
                                          </p:val>
                                        </p:tav>
                                      </p:tavLst>
                                    </p:anim>
                                    <p:anim calcmode="lin" valueType="num">
                                      <p:cBhvr additive="base">
                                        <p:cTn id="83" dur="500" fill="hold"/>
                                        <p:tgtEl>
                                          <p:spTgt spid="19"/>
                                        </p:tgtEl>
                                        <p:attrNameLst>
                                          <p:attrName>ppt_y</p:attrName>
                                        </p:attrNameLst>
                                      </p:cBhvr>
                                      <p:tavLst>
                                        <p:tav tm="0">
                                          <p:val>
                                            <p:strVal val="#ppt_y+0.1"/>
                                          </p:val>
                                        </p:tav>
                                        <p:tav tm="100000">
                                          <p:val>
                                            <p:strVal val="#ppt_y"/>
                                          </p:val>
                                        </p:tav>
                                      </p:tavLst>
                                    </p:anim>
                                    <p:animEffect transition="in" filter="fade">
                                      <p:cBhvr>
                                        <p:cTn id="84" dur="500"/>
                                        <p:tgtEl>
                                          <p:spTgt spid="19"/>
                                        </p:tgtEl>
                                      </p:cBhvr>
                                    </p:animEffect>
                                  </p:childTnLst>
                                </p:cTn>
                              </p:par>
                              <p:par>
                                <p:cTn id="85" presetID="2" presetClass="entr" presetSubtype="4" fill="hold" grpId="0" nodeType="withEffect">
                                  <p:stCondLst>
                                    <p:cond delay="880"/>
                                  </p:stCondLst>
                                  <p:childTnLst>
                                    <p:set>
                                      <p:cBhvr>
                                        <p:cTn id="86" dur="1" fill="hold">
                                          <p:stCondLst>
                                            <p:cond delay="0"/>
                                          </p:stCondLst>
                                        </p:cTn>
                                        <p:tgtEl>
                                          <p:spTgt spid="20"/>
                                        </p:tgtEl>
                                        <p:attrNameLst>
                                          <p:attrName>style.visibility</p:attrName>
                                        </p:attrNameLst>
                                      </p:cBhvr>
                                      <p:to>
                                        <p:strVal val="visible"/>
                                      </p:to>
                                    </p:set>
                                    <p:anim calcmode="lin" valueType="num">
                                      <p:cBhvr additive="base">
                                        <p:cTn id="87" dur="500" fill="hold"/>
                                        <p:tgtEl>
                                          <p:spTgt spid="20"/>
                                        </p:tgtEl>
                                        <p:attrNameLst>
                                          <p:attrName>ppt_x</p:attrName>
                                        </p:attrNameLst>
                                      </p:cBhvr>
                                      <p:tavLst>
                                        <p:tav tm="0">
                                          <p:val>
                                            <p:strVal val="#ppt_x"/>
                                          </p:val>
                                        </p:tav>
                                        <p:tav tm="100000">
                                          <p:val>
                                            <p:strVal val="#ppt_x"/>
                                          </p:val>
                                        </p:tav>
                                      </p:tavLst>
                                    </p:anim>
                                    <p:anim calcmode="lin" valueType="num">
                                      <p:cBhvr additive="base">
                                        <p:cTn id="88" dur="500" fill="hold"/>
                                        <p:tgtEl>
                                          <p:spTgt spid="20"/>
                                        </p:tgtEl>
                                        <p:attrNameLst>
                                          <p:attrName>ppt_y</p:attrName>
                                        </p:attrNameLst>
                                      </p:cBhvr>
                                      <p:tavLst>
                                        <p:tav tm="0">
                                          <p:val>
                                            <p:strVal val="#ppt_y+0.1"/>
                                          </p:val>
                                        </p:tav>
                                        <p:tav tm="100000">
                                          <p:val>
                                            <p:strVal val="#ppt_y"/>
                                          </p:val>
                                        </p:tav>
                                      </p:tavLst>
                                    </p:anim>
                                    <p:animEffect transition="in" filter="fade">
                                      <p:cBhvr>
                                        <p:cTn id="89" dur="500"/>
                                        <p:tgtEl>
                                          <p:spTgt spid="20"/>
                                        </p:tgtEl>
                                      </p:cBhvr>
                                    </p:animEffect>
                                  </p:childTnLst>
                                </p:cTn>
                              </p:par>
                              <p:par>
                                <p:cTn id="90" presetID="2" presetClass="entr" presetSubtype="4" fill="hold" grpId="0" nodeType="withEffect">
                                  <p:stCondLst>
                                    <p:cond delay="935"/>
                                  </p:stCondLst>
                                  <p:childTnLst>
                                    <p:set>
                                      <p:cBhvr>
                                        <p:cTn id="91" dur="1" fill="hold">
                                          <p:stCondLst>
                                            <p:cond delay="0"/>
                                          </p:stCondLst>
                                        </p:cTn>
                                        <p:tgtEl>
                                          <p:spTgt spid="21"/>
                                        </p:tgtEl>
                                        <p:attrNameLst>
                                          <p:attrName>style.visibility</p:attrName>
                                        </p:attrNameLst>
                                      </p:cBhvr>
                                      <p:to>
                                        <p:strVal val="visible"/>
                                      </p:to>
                                    </p:set>
                                    <p:anim calcmode="lin" valueType="num">
                                      <p:cBhvr additive="base">
                                        <p:cTn id="92" dur="500" fill="hold"/>
                                        <p:tgtEl>
                                          <p:spTgt spid="21"/>
                                        </p:tgtEl>
                                        <p:attrNameLst>
                                          <p:attrName>ppt_x</p:attrName>
                                        </p:attrNameLst>
                                      </p:cBhvr>
                                      <p:tavLst>
                                        <p:tav tm="0">
                                          <p:val>
                                            <p:strVal val="#ppt_x"/>
                                          </p:val>
                                        </p:tav>
                                        <p:tav tm="100000">
                                          <p:val>
                                            <p:strVal val="#ppt_x"/>
                                          </p:val>
                                        </p:tav>
                                      </p:tavLst>
                                    </p:anim>
                                    <p:anim calcmode="lin" valueType="num">
                                      <p:cBhvr additive="base">
                                        <p:cTn id="93" dur="500" fill="hold"/>
                                        <p:tgtEl>
                                          <p:spTgt spid="21"/>
                                        </p:tgtEl>
                                        <p:attrNameLst>
                                          <p:attrName>ppt_y</p:attrName>
                                        </p:attrNameLst>
                                      </p:cBhvr>
                                      <p:tavLst>
                                        <p:tav tm="0">
                                          <p:val>
                                            <p:strVal val="#ppt_y+0.1"/>
                                          </p:val>
                                        </p:tav>
                                        <p:tav tm="100000">
                                          <p:val>
                                            <p:strVal val="#ppt_y"/>
                                          </p:val>
                                        </p:tav>
                                      </p:tavLst>
                                    </p:anim>
                                    <p:animEffect transition="in" filter="fade">
                                      <p:cBhvr>
                                        <p:cTn id="94" dur="500"/>
                                        <p:tgtEl>
                                          <p:spTgt spid="21"/>
                                        </p:tgtEl>
                                      </p:cBhvr>
                                    </p:animEffect>
                                  </p:childTnLst>
                                </p:cTn>
                              </p:par>
                              <p:par>
                                <p:cTn id="95" presetID="2" presetClass="entr" presetSubtype="4" fill="hold" grpId="0" nodeType="withEffect">
                                  <p:stCondLst>
                                    <p:cond delay="990"/>
                                  </p:stCondLst>
                                  <p:childTnLst>
                                    <p:set>
                                      <p:cBhvr>
                                        <p:cTn id="96" dur="1" fill="hold">
                                          <p:stCondLst>
                                            <p:cond delay="0"/>
                                          </p:stCondLst>
                                        </p:cTn>
                                        <p:tgtEl>
                                          <p:spTgt spid="22"/>
                                        </p:tgtEl>
                                        <p:attrNameLst>
                                          <p:attrName>style.visibility</p:attrName>
                                        </p:attrNameLst>
                                      </p:cBhvr>
                                      <p:to>
                                        <p:strVal val="visible"/>
                                      </p:to>
                                    </p:set>
                                    <p:anim calcmode="lin" valueType="num">
                                      <p:cBhvr additive="base">
                                        <p:cTn id="97" dur="500" fill="hold"/>
                                        <p:tgtEl>
                                          <p:spTgt spid="22"/>
                                        </p:tgtEl>
                                        <p:attrNameLst>
                                          <p:attrName>ppt_x</p:attrName>
                                        </p:attrNameLst>
                                      </p:cBhvr>
                                      <p:tavLst>
                                        <p:tav tm="0">
                                          <p:val>
                                            <p:strVal val="#ppt_x"/>
                                          </p:val>
                                        </p:tav>
                                        <p:tav tm="100000">
                                          <p:val>
                                            <p:strVal val="#ppt_x"/>
                                          </p:val>
                                        </p:tav>
                                      </p:tavLst>
                                    </p:anim>
                                    <p:anim calcmode="lin" valueType="num">
                                      <p:cBhvr additive="base">
                                        <p:cTn id="98" dur="500" fill="hold"/>
                                        <p:tgtEl>
                                          <p:spTgt spid="22"/>
                                        </p:tgtEl>
                                        <p:attrNameLst>
                                          <p:attrName>ppt_y</p:attrName>
                                        </p:attrNameLst>
                                      </p:cBhvr>
                                      <p:tavLst>
                                        <p:tav tm="0">
                                          <p:val>
                                            <p:strVal val="#ppt_y+0.1"/>
                                          </p:val>
                                        </p:tav>
                                        <p:tav tm="100000">
                                          <p:val>
                                            <p:strVal val="#ppt_y"/>
                                          </p:val>
                                        </p:tav>
                                      </p:tavLst>
                                    </p:anim>
                                    <p:animEffect transition="in" filter="fade">
                                      <p:cBhvr>
                                        <p:cTn id="99" dur="500"/>
                                        <p:tgtEl>
                                          <p:spTgt spid="22"/>
                                        </p:tgtEl>
                                      </p:cBhvr>
                                    </p:animEffect>
                                  </p:childTnLst>
                                </p:cTn>
                              </p:par>
                              <p:par>
                                <p:cTn id="100" presetID="2" presetClass="entr" presetSubtype="4" fill="hold" grpId="0" nodeType="withEffect">
                                  <p:stCondLst>
                                    <p:cond delay="1045"/>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fill="hold"/>
                                        <p:tgtEl>
                                          <p:spTgt spid="23"/>
                                        </p:tgtEl>
                                        <p:attrNameLst>
                                          <p:attrName>ppt_x</p:attrName>
                                        </p:attrNameLst>
                                      </p:cBhvr>
                                      <p:tavLst>
                                        <p:tav tm="0">
                                          <p:val>
                                            <p:strVal val="#ppt_x"/>
                                          </p:val>
                                        </p:tav>
                                        <p:tav tm="100000">
                                          <p:val>
                                            <p:strVal val="#ppt_x"/>
                                          </p:val>
                                        </p:tav>
                                      </p:tavLst>
                                    </p:anim>
                                    <p:anim calcmode="lin" valueType="num">
                                      <p:cBhvr additive="base">
                                        <p:cTn id="103" dur="500" fill="hold"/>
                                        <p:tgtEl>
                                          <p:spTgt spid="23"/>
                                        </p:tgtEl>
                                        <p:attrNameLst>
                                          <p:attrName>ppt_y</p:attrName>
                                        </p:attrNameLst>
                                      </p:cBhvr>
                                      <p:tavLst>
                                        <p:tav tm="0">
                                          <p:val>
                                            <p:strVal val="#ppt_y+0.1"/>
                                          </p:val>
                                        </p:tav>
                                        <p:tav tm="100000">
                                          <p:val>
                                            <p:strVal val="#ppt_y"/>
                                          </p:val>
                                        </p:tav>
                                      </p:tavLst>
                                    </p:anim>
                                    <p:animEffect transition="in" filter="fade">
                                      <p:cBhvr>
                                        <p:cTn id="104" dur="500"/>
                                        <p:tgtEl>
                                          <p:spTgt spid="23"/>
                                        </p:tgtEl>
                                      </p:cBhvr>
                                    </p:animEffect>
                                  </p:childTnLst>
                                </p:cTn>
                              </p:par>
                              <p:par>
                                <p:cTn id="105" presetID="2" presetClass="entr" presetSubtype="4" fill="hold" grpId="0" nodeType="withEffect">
                                  <p:stCondLst>
                                    <p:cond delay="110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500" fill="hold"/>
                                        <p:tgtEl>
                                          <p:spTgt spid="24"/>
                                        </p:tgtEl>
                                        <p:attrNameLst>
                                          <p:attrName>ppt_x</p:attrName>
                                        </p:attrNameLst>
                                      </p:cBhvr>
                                      <p:tavLst>
                                        <p:tav tm="0">
                                          <p:val>
                                            <p:strVal val="#ppt_x"/>
                                          </p:val>
                                        </p:tav>
                                        <p:tav tm="100000">
                                          <p:val>
                                            <p:strVal val="#ppt_x"/>
                                          </p:val>
                                        </p:tav>
                                      </p:tavLst>
                                    </p:anim>
                                    <p:anim calcmode="lin" valueType="num">
                                      <p:cBhvr additive="base">
                                        <p:cTn id="108" dur="500" fill="hold"/>
                                        <p:tgtEl>
                                          <p:spTgt spid="24"/>
                                        </p:tgtEl>
                                        <p:attrNameLst>
                                          <p:attrName>ppt_y</p:attrName>
                                        </p:attrNameLst>
                                      </p:cBhvr>
                                      <p:tavLst>
                                        <p:tav tm="0">
                                          <p:val>
                                            <p:strVal val="#ppt_y+0.1"/>
                                          </p:val>
                                        </p:tav>
                                        <p:tav tm="100000">
                                          <p:val>
                                            <p:strVal val="#ppt_y"/>
                                          </p:val>
                                        </p:tav>
                                      </p:tavLst>
                                    </p:anim>
                                    <p:animEffect transition="in" filter="fade">
                                      <p:cBhvr>
                                        <p:cTn id="109" dur="500"/>
                                        <p:tgtEl>
                                          <p:spTgt spid="24"/>
                                        </p:tgtEl>
                                      </p:cBhvr>
                                    </p:animEffect>
                                  </p:childTnLst>
                                </p:cTn>
                              </p:par>
                              <p:par>
                                <p:cTn id="110" presetID="2" presetClass="entr" presetSubtype="4" fill="hold" grpId="0" nodeType="withEffect">
                                  <p:stCondLst>
                                    <p:cond delay="1155"/>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ppt_x</p:attrName>
                                        </p:attrNameLst>
                                      </p:cBhvr>
                                      <p:tavLst>
                                        <p:tav tm="0">
                                          <p:val>
                                            <p:strVal val="#ppt_x"/>
                                          </p:val>
                                        </p:tav>
                                        <p:tav tm="100000">
                                          <p:val>
                                            <p:strVal val="#ppt_x"/>
                                          </p:val>
                                        </p:tav>
                                      </p:tavLst>
                                    </p:anim>
                                    <p:anim calcmode="lin" valueType="num">
                                      <p:cBhvr additive="base">
                                        <p:cTn id="113" dur="500" fill="hold"/>
                                        <p:tgtEl>
                                          <p:spTgt spid="25"/>
                                        </p:tgtEl>
                                        <p:attrNameLst>
                                          <p:attrName>ppt_y</p:attrName>
                                        </p:attrNameLst>
                                      </p:cBhvr>
                                      <p:tavLst>
                                        <p:tav tm="0">
                                          <p:val>
                                            <p:strVal val="#ppt_y+0.1"/>
                                          </p:val>
                                        </p:tav>
                                        <p:tav tm="100000">
                                          <p:val>
                                            <p:strVal val="#ppt_y"/>
                                          </p:val>
                                        </p:tav>
                                      </p:tavLst>
                                    </p:anim>
                                    <p:animEffect transition="in" filter="fade">
                                      <p:cBhvr>
                                        <p:cTn id="114" dur="500"/>
                                        <p:tgtEl>
                                          <p:spTgt spid="25"/>
                                        </p:tgtEl>
                                      </p:cBhvr>
                                    </p:animEffect>
                                  </p:childTnLst>
                                </p:cTn>
                              </p:par>
                              <p:par>
                                <p:cTn id="115" presetID="2" presetClass="entr" presetSubtype="4" fill="hold" grpId="0" nodeType="withEffect">
                                  <p:stCondLst>
                                    <p:cond delay="121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ppt_x</p:attrName>
                                        </p:attrNameLst>
                                      </p:cBhvr>
                                      <p:tavLst>
                                        <p:tav tm="0">
                                          <p:val>
                                            <p:strVal val="#ppt_x"/>
                                          </p:val>
                                        </p:tav>
                                        <p:tav tm="100000">
                                          <p:val>
                                            <p:strVal val="#ppt_x"/>
                                          </p:val>
                                        </p:tav>
                                      </p:tavLst>
                                    </p:anim>
                                    <p:anim calcmode="lin" valueType="num">
                                      <p:cBhvr additive="base">
                                        <p:cTn id="118" dur="500" fill="hold"/>
                                        <p:tgtEl>
                                          <p:spTgt spid="26"/>
                                        </p:tgtEl>
                                        <p:attrNameLst>
                                          <p:attrName>ppt_y</p:attrName>
                                        </p:attrNameLst>
                                      </p:cBhvr>
                                      <p:tavLst>
                                        <p:tav tm="0">
                                          <p:val>
                                            <p:strVal val="#ppt_y+0.1"/>
                                          </p:val>
                                        </p:tav>
                                        <p:tav tm="100000">
                                          <p:val>
                                            <p:strVal val="#ppt_y"/>
                                          </p:val>
                                        </p:tav>
                                      </p:tavLst>
                                    </p:anim>
                                    <p:animEffect transition="in" filter="fade">
                                      <p:cBhvr>
                                        <p:cTn id="119" dur="500"/>
                                        <p:tgtEl>
                                          <p:spTgt spid="26"/>
                                        </p:tgtEl>
                                      </p:cBhvr>
                                    </p:animEffect>
                                  </p:childTnLst>
                                </p:cTn>
                              </p:par>
                              <p:par>
                                <p:cTn id="120" presetID="2" presetClass="entr" presetSubtype="4" fill="hold" grpId="0" nodeType="withEffect">
                                  <p:stCondLst>
                                    <p:cond delay="1265"/>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ppt_x</p:attrName>
                                        </p:attrNameLst>
                                      </p:cBhvr>
                                      <p:tavLst>
                                        <p:tav tm="0">
                                          <p:val>
                                            <p:strVal val="#ppt_x"/>
                                          </p:val>
                                        </p:tav>
                                        <p:tav tm="100000">
                                          <p:val>
                                            <p:strVal val="#ppt_x"/>
                                          </p:val>
                                        </p:tav>
                                      </p:tavLst>
                                    </p:anim>
                                    <p:anim calcmode="lin" valueType="num">
                                      <p:cBhvr additive="base">
                                        <p:cTn id="123" dur="500" fill="hold"/>
                                        <p:tgtEl>
                                          <p:spTgt spid="27"/>
                                        </p:tgtEl>
                                        <p:attrNameLst>
                                          <p:attrName>ppt_y</p:attrName>
                                        </p:attrNameLst>
                                      </p:cBhvr>
                                      <p:tavLst>
                                        <p:tav tm="0">
                                          <p:val>
                                            <p:strVal val="#ppt_y+0.1"/>
                                          </p:val>
                                        </p:tav>
                                        <p:tav tm="100000">
                                          <p:val>
                                            <p:strVal val="#ppt_y"/>
                                          </p:val>
                                        </p:tav>
                                      </p:tavLst>
                                    </p:anim>
                                    <p:animEffect transition="in" filter="fade">
                                      <p:cBhvr>
                                        <p:cTn id="124" dur="500"/>
                                        <p:tgtEl>
                                          <p:spTgt spid="27"/>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500"/>
                                        <p:tgtEl>
                                          <p:spTgt spid="28"/>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Effect transition="in" filter="fade">
                                      <p:cBhvr>
                                        <p:cTn id="132" dur="500"/>
                                        <p:tgtEl>
                                          <p:spTgt spid="29"/>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30"/>
                                        </p:tgtEl>
                                        <p:attrNameLst>
                                          <p:attrName>style.visibility</p:attrName>
                                        </p:attrNameLst>
                                      </p:cBhvr>
                                      <p:to>
                                        <p:strVal val="visible"/>
                                      </p:to>
                                    </p:set>
                                    <p:animEffect transition="in" filter="fade">
                                      <p:cBhvr>
                                        <p:cTn id="13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n1"/>
          <p:cNvSpPr txBox="1"/>
          <p:nvPr/>
        </p:nvSpPr>
        <p:spPr>
          <a:xfrm>
            <a:off x="548640" y="1143000"/>
            <a:ext cx="2743200" cy="822960"/>
          </a:xfrm>
          <a:prstGeom prst="rect">
            <a:avLst/>
          </a:prstGeom>
          <a:noFill/>
        </p:spPr>
        <p:txBody>
          <a:bodyPr wrap="square" lIns="0" tIns="0" rIns="0" bIns="0" anchor="ctr">
            <a:spAutoFit/>
          </a:bodyPr>
          <a:lstStyle/>
          <a:p>
            <a:pPr algn="l"/>
            <a:r>
              <a:rPr sz="5800" b="1">
                <a:solidFill>
                  <a:srgbClr val="9B72CF"/>
                </a:solidFill>
                <a:latin typeface="Calibri"/>
              </a:rPr>
              <a:t>05</a:t>
            </a:r>
          </a:p>
        </p:txBody>
      </p:sp>
      <p:sp>
        <p:nvSpPr>
          <p:cNvPr id="3" name="a0ud200_h2"/>
          <p:cNvSpPr txBox="1"/>
          <p:nvPr/>
        </p:nvSpPr>
        <p:spPr>
          <a:xfrm>
            <a:off x="548640" y="1938528"/>
            <a:ext cx="5852160" cy="777240"/>
          </a:xfrm>
          <a:prstGeom prst="rect">
            <a:avLst/>
          </a:prstGeom>
          <a:noFill/>
        </p:spPr>
        <p:txBody>
          <a:bodyPr wrap="square" lIns="0" tIns="0" rIns="0" bIns="0" anchor="ctr">
            <a:spAutoFit/>
          </a:bodyPr>
          <a:lstStyle/>
          <a:p>
            <a:pPr algn="l"/>
            <a:r>
              <a:rPr sz="3800" b="1">
                <a:solidFill>
                  <a:srgbClr val="FFFFFF"/>
                </a:solidFill>
                <a:latin typeface="Calibri"/>
              </a:rPr>
              <a:t>The one way to get hurt</a:t>
            </a:r>
          </a:p>
        </p:txBody>
      </p:sp>
      <p:sp>
        <p:nvSpPr>
          <p:cNvPr id="4" name="a0fd450_t3"/>
          <p:cNvSpPr txBox="1"/>
          <p:nvPr/>
        </p:nvSpPr>
        <p:spPr>
          <a:xfrm>
            <a:off x="548640" y="2743200"/>
            <a:ext cx="5120640" cy="731520"/>
          </a:xfrm>
          <a:prstGeom prst="rect">
            <a:avLst/>
          </a:prstGeom>
          <a:noFill/>
        </p:spPr>
        <p:txBody>
          <a:bodyPr wrap="square" lIns="0" tIns="0" rIns="0" bIns="0" anchor="t">
            <a:spAutoFit/>
          </a:bodyPr>
          <a:lstStyle/>
          <a:p>
            <a:pPr algn="l"/>
            <a:r>
              <a:rPr sz="1600" b="0">
                <a:solidFill>
                  <a:srgbClr val="CBD5E1"/>
                </a:solidFill>
                <a:latin typeface="Calibri"/>
              </a:rPr>
              <a:t>A table that only grows, fed by
someone who is not you.</a:t>
            </a:r>
          </a:p>
        </p:txBody>
      </p:sp>
      <p:sp>
        <p:nvSpPr>
          <p:cNvPr id="5" name="a0ud600_pill4"/>
          <p:cNvSpPr/>
          <p:nvPr/>
        </p:nvSpPr>
        <p:spPr>
          <a:xfrm>
            <a:off x="5532120" y="1325880"/>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to_atom</a:t>
            </a:r>
          </a:p>
        </p:txBody>
      </p:sp>
      <p:sp>
        <p:nvSpPr>
          <p:cNvPr id="6" name="a0ud750_pill5"/>
          <p:cNvSpPr/>
          <p:nvPr/>
        </p:nvSpPr>
        <p:spPr>
          <a:xfrm>
            <a:off x="5532120" y="1801368"/>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the crash</a:t>
            </a:r>
          </a:p>
        </p:txBody>
      </p:sp>
      <p:sp>
        <p:nvSpPr>
          <p:cNvPr id="7" name="a0ud900_pill6"/>
          <p:cNvSpPr/>
          <p:nvPr/>
        </p:nvSpPr>
        <p:spPr>
          <a:xfrm>
            <a:off x="5532120" y="2276856"/>
            <a:ext cx="3063240" cy="365760"/>
          </a:xfrm>
          <a:prstGeom prst="roundRect">
            <a:avLst>
              <a:gd name="adj" fmla="val 5000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50" b="1">
                <a:solidFill>
                  <a:srgbClr val="CBD5E1"/>
                </a:solidFill>
                <a:latin typeface="Courier New"/>
              </a:rPr>
              <a:t>the safe door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ppt_x"/>
                                          </p:val>
                                        </p:tav>
                                        <p:tav tm="100000">
                                          <p:val>
                                            <p:strVal val="#ppt_x"/>
                                          </p:val>
                                        </p:tav>
                                      </p:tavLst>
                                    </p:anim>
                                    <p:anim calcmode="lin" valueType="num">
                                      <p:cBhvr additive="base">
                                        <p:cTn id="11" dur="500" fill="hold"/>
                                        <p:tgtEl>
                                          <p:spTgt spid="3"/>
                                        </p:tgtEl>
                                        <p:attrNameLst>
                                          <p:attrName>ppt_y</p:attrName>
                                        </p:attrNameLst>
                                      </p:cBhvr>
                                      <p:tavLst>
                                        <p:tav tm="0">
                                          <p:val>
                                            <p:strVal val="#ppt_y+0.1"/>
                                          </p:val>
                                        </p:tav>
                                        <p:tav tm="100000">
                                          <p:val>
                                            <p:strVal val="#ppt_y"/>
                                          </p:val>
                                        </p:tav>
                                      </p:tavLst>
                                    </p:anim>
                                    <p:animEffect transition="in" filter="fade">
                                      <p:cBhvr>
                                        <p:cTn id="12" dur="500"/>
                                        <p:tgtEl>
                                          <p:spTgt spid="3"/>
                                        </p:tgtEl>
                                      </p:cBhvr>
                                    </p:animEffect>
                                  </p:childTnLst>
                                </p:cTn>
                              </p:par>
                              <p:par>
                                <p:cTn id="13" presetID="10" presetClass="entr" presetSubtype="0" fill="hold" grpId="0" nodeType="withEffect">
                                  <p:stCondLst>
                                    <p:cond delay="45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2" presetClass="entr" presetSubtype="4"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ppt_y+0.1"/>
                                          </p:val>
                                        </p:tav>
                                        <p:tav tm="100000">
                                          <p:val>
                                            <p:strVal val="#ppt_y"/>
                                          </p:val>
                                        </p:tav>
                                      </p:tavLst>
                                    </p:anim>
                                    <p:animEffect transition="in" filter="fade">
                                      <p:cBhvr>
                                        <p:cTn id="20" dur="500"/>
                                        <p:tgtEl>
                                          <p:spTgt spid="5"/>
                                        </p:tgtEl>
                                      </p:cBhvr>
                                    </p:animEffect>
                                  </p:childTnLst>
                                </p:cTn>
                              </p:par>
                              <p:par>
                                <p:cTn id="21" presetID="2" presetClass="entr" presetSubtype="4" fill="hold" grpId="0" nodeType="withEffect">
                                  <p:stCondLst>
                                    <p:cond delay="75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ppt_y+0.1"/>
                                          </p:val>
                                        </p:tav>
                                        <p:tav tm="100000">
                                          <p:val>
                                            <p:strVal val="#ppt_y"/>
                                          </p:val>
                                        </p:tav>
                                      </p:tavLst>
                                    </p:anim>
                                    <p:animEffect transition="in" filter="fade">
                                      <p:cBhvr>
                                        <p:cTn id="25" dur="500"/>
                                        <p:tgtEl>
                                          <p:spTgt spid="6"/>
                                        </p:tgtEl>
                                      </p:cBhvr>
                                    </p:animEffect>
                                  </p:childTnLst>
                                </p:cTn>
                              </p:par>
                              <p:par>
                                <p:cTn id="26" presetID="2" presetClass="entr" presetSubtype="4"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ppt_y+0.1"/>
                                          </p:val>
                                        </p:tav>
                                        <p:tav tm="100000">
                                          <p:val>
                                            <p:strVal val="#ppt_y"/>
                                          </p:val>
                                        </p:tav>
                                      </p:tavLst>
                                    </p:anim>
                                    <p:animEffect transition="in" filter="fade">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DANGER</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Atomising user input kills the node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Measured: 5,000 requests in, 5,000 permanent atoms — and no way back.</a:t>
            </a:r>
          </a:p>
        </p:txBody>
      </p:sp>
      <p:sp>
        <p:nvSpPr>
          <p:cNvPr id="5" name="a1f_codebg4"/>
          <p:cNvSpPr/>
          <p:nvPr/>
        </p:nvSpPr>
        <p:spPr>
          <a:xfrm>
            <a:off x="457200" y="1362456"/>
            <a:ext cx="8229600" cy="2107691"/>
          </a:xfrm>
          <a:prstGeom prst="roundRect">
            <a:avLst>
              <a:gd name="adj" fmla="val 347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0">
                <a:solidFill>
                  <a:srgbClr val="64748B"/>
                </a:solidFill>
                <a:latin typeface="Courier New"/>
              </a:rPr>
              <a:t># the line that does it — in a controller, a parser, anywhere</a:t>
            </a:r>
          </a:p>
        </p:txBody>
      </p:sp>
      <p:sp>
        <p:nvSpPr>
          <p:cNvPr id="8" name="a1wd90_code7"/>
          <p:cNvSpPr txBox="1"/>
          <p:nvPr/>
        </p:nvSpPr>
        <p:spPr>
          <a:xfrm>
            <a:off x="621792" y="2016252"/>
            <a:ext cx="7900416" cy="214884"/>
          </a:xfrm>
          <a:prstGeom prst="rect">
            <a:avLst/>
          </a:prstGeom>
          <a:noFill/>
        </p:spPr>
        <p:txBody>
          <a:bodyPr wrap="none" lIns="0" tIns="0" rIns="0" bIns="0" anchor="ctr">
            <a:spAutoFit/>
          </a:bodyPr>
          <a:lstStyle/>
          <a:p>
            <a:pPr algn="l"/>
            <a:r>
              <a:rPr sz="1000" b="0">
                <a:solidFill>
                  <a:srgbClr val="FCA5A5"/>
                </a:solidFill>
                <a:latin typeface="Courier New"/>
              </a:rPr>
              <a:t>def handle(params), do: String.to_atom(params["type"])</a:t>
            </a:r>
          </a:p>
        </p:txBody>
      </p:sp>
      <p:sp>
        <p:nvSpPr>
          <p:cNvPr id="9" name="a1wd180_code8"/>
          <p:cNvSpPr txBox="1"/>
          <p:nvPr/>
        </p:nvSpPr>
        <p:spPr>
          <a:xfrm>
            <a:off x="621792" y="2231136"/>
            <a:ext cx="7900416" cy="214884"/>
          </a:xfrm>
          <a:prstGeom prst="rect">
            <a:avLst/>
          </a:prstGeom>
          <a:noFill/>
        </p:spPr>
        <p:txBody>
          <a:bodyPr wrap="none" lIns="0" tIns="0" rIns="0" bIns="0" anchor="ctr">
            <a:spAutoFit/>
          </a:bodyPr>
          <a:lstStyle/>
          <a:p>
            <a:pPr algn="l"/>
            <a:endParaRPr/>
          </a:p>
        </p:txBody>
      </p:sp>
      <p:sp>
        <p:nvSpPr>
          <p:cNvPr id="10" name="a1wd270_code9"/>
          <p:cNvSpPr txBox="1"/>
          <p:nvPr/>
        </p:nvSpPr>
        <p:spPr>
          <a:xfrm>
            <a:off x="621792" y="2446020"/>
            <a:ext cx="7900416" cy="214884"/>
          </a:xfrm>
          <a:prstGeom prst="rect">
            <a:avLst/>
          </a:prstGeom>
          <a:noFill/>
        </p:spPr>
        <p:txBody>
          <a:bodyPr wrap="none" lIns="0" tIns="0" rIns="0" bIns="0" anchor="ctr">
            <a:spAutoFit/>
          </a:bodyPr>
          <a:lstStyle/>
          <a:p>
            <a:pPr algn="l"/>
            <a:r>
              <a:rPr sz="1000" b="0">
                <a:solidFill>
                  <a:srgbClr val="64748B"/>
                </a:solidFill>
                <a:latin typeface="Courier New"/>
              </a:rPr>
              <a:t># 5,000 requests with a different "type" each time:</a:t>
            </a:r>
          </a:p>
        </p:txBody>
      </p:sp>
      <p:sp>
        <p:nvSpPr>
          <p:cNvPr id="11" name="a1wd360_code10"/>
          <p:cNvSpPr txBox="1"/>
          <p:nvPr/>
        </p:nvSpPr>
        <p:spPr>
          <a:xfrm>
            <a:off x="621792" y="2660904"/>
            <a:ext cx="7900416" cy="214884"/>
          </a:xfrm>
          <a:prstGeom prst="rect">
            <a:avLst/>
          </a:prstGeom>
          <a:noFill/>
        </p:spPr>
        <p:txBody>
          <a:bodyPr wrap="none" lIns="0" tIns="0" rIns="0" bIns="0" anchor="ctr">
            <a:spAutoFit/>
          </a:bodyPr>
          <a:lstStyle/>
          <a:p>
            <a:pPr algn="l"/>
            <a:r>
              <a:rPr sz="1000" b="0">
                <a:solidFill>
                  <a:srgbClr val="14B8A6"/>
                </a:solidFill>
                <a:latin typeface="Courier New"/>
              </a:rPr>
              <a:t>atom_count  31,314  -&gt;  36,314      (+5,000, permanent)</a:t>
            </a:r>
          </a:p>
        </p:txBody>
      </p:sp>
      <p:sp>
        <p:nvSpPr>
          <p:cNvPr id="12" name="a1wd450_code11"/>
          <p:cNvSpPr txBox="1"/>
          <p:nvPr/>
        </p:nvSpPr>
        <p:spPr>
          <a:xfrm>
            <a:off x="621792" y="2875787"/>
            <a:ext cx="7900416" cy="214884"/>
          </a:xfrm>
          <a:prstGeom prst="rect">
            <a:avLst/>
          </a:prstGeom>
          <a:noFill/>
        </p:spPr>
        <p:txBody>
          <a:bodyPr wrap="none" lIns="0" tIns="0" rIns="0" bIns="0" anchor="ctr">
            <a:spAutoFit/>
          </a:bodyPr>
          <a:lstStyle/>
          <a:p>
            <a:pPr algn="l"/>
            <a:r>
              <a:rPr sz="1000" b="0">
                <a:solidFill>
                  <a:srgbClr val="14B8A6"/>
                </a:solidFill>
                <a:latin typeface="Courier New"/>
              </a:rPr>
              <a:t>headroom left:      1,012,262</a:t>
            </a:r>
          </a:p>
        </p:txBody>
      </p:sp>
      <p:sp>
        <p:nvSpPr>
          <p:cNvPr id="13" name="a1wd540_code12"/>
          <p:cNvSpPr txBox="1"/>
          <p:nvPr/>
        </p:nvSpPr>
        <p:spPr>
          <a:xfrm>
            <a:off x="621792" y="3090672"/>
            <a:ext cx="7900416" cy="214884"/>
          </a:xfrm>
          <a:prstGeom prst="rect">
            <a:avLst/>
          </a:prstGeom>
          <a:noFill/>
        </p:spPr>
        <p:txBody>
          <a:bodyPr wrap="none" lIns="0" tIns="0" rIns="0" bIns="0" anchor="ctr">
            <a:spAutoFit/>
          </a:bodyPr>
          <a:lstStyle/>
          <a:p>
            <a:pPr algn="l"/>
            <a:r>
              <a:rPr sz="1000" b="0">
                <a:solidFill>
                  <a:srgbClr val="FCA5A5"/>
                </a:solidFill>
                <a:latin typeface="Courier New"/>
              </a:rPr>
              <a:t>at this rate the node dies after ~202 more such batches</a:t>
            </a:r>
          </a:p>
        </p:txBody>
      </p:sp>
      <p:sp>
        <p:nvSpPr>
          <p:cNvPr id="14" name="a2u_card13"/>
          <p:cNvSpPr/>
          <p:nvPr/>
        </p:nvSpPr>
        <p:spPr>
          <a:xfrm>
            <a:off x="457200" y="3616452"/>
            <a:ext cx="2609088" cy="950976"/>
          </a:xfrm>
          <a:prstGeom prst="roundRect">
            <a:avLst>
              <a:gd name="adj" fmla="val 9615"/>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_acc14"/>
          <p:cNvSpPr/>
          <p:nvPr/>
        </p:nvSpPr>
        <p:spPr>
          <a:xfrm>
            <a:off x="457200" y="3616452"/>
            <a:ext cx="2609088" cy="5029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2ud90_ct15"/>
          <p:cNvSpPr txBox="1"/>
          <p:nvPr/>
        </p:nvSpPr>
        <p:spPr>
          <a:xfrm>
            <a:off x="621792"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No warning</a:t>
            </a:r>
          </a:p>
        </p:txBody>
      </p:sp>
      <p:sp>
        <p:nvSpPr>
          <p:cNvPr id="17" name="a2ud150_cb16"/>
          <p:cNvSpPr txBox="1"/>
          <p:nvPr/>
        </p:nvSpPr>
        <p:spPr>
          <a:xfrm>
            <a:off x="621792" y="4091939"/>
            <a:ext cx="2279904" cy="475488"/>
          </a:xfrm>
          <a:prstGeom prst="rect">
            <a:avLst/>
          </a:prstGeom>
          <a:noFill/>
        </p:spPr>
        <p:txBody>
          <a:bodyPr wrap="square" lIns="0" tIns="0" rIns="0" bIns="0" anchor="t">
            <a:spAutoFit/>
          </a:bodyPr>
          <a:lstStyle/>
          <a:p>
            <a:pPr algn="l"/>
            <a:r>
              <a:rPr sz="1050" b="1">
                <a:solidFill>
                  <a:srgbClr val="B45309"/>
                </a:solidFill>
                <a:latin typeface="Calibri"/>
              </a:rPr>
              <a:t>· </a:t>
            </a:r>
            <a:r>
              <a:rPr sz="1050" b="0">
                <a:solidFill>
                  <a:srgbClr val="334155"/>
                </a:solidFill>
                <a:latin typeface="Calibri"/>
              </a:rPr>
              <a:t>Nothing logs and nothing slows down</a:t>
            </a:r>
          </a:p>
        </p:txBody>
      </p:sp>
      <p:sp>
        <p:nvSpPr>
          <p:cNvPr id="18" name="a3u_card17"/>
          <p:cNvSpPr/>
          <p:nvPr/>
        </p:nvSpPr>
        <p:spPr>
          <a:xfrm>
            <a:off x="3267456" y="3616452"/>
            <a:ext cx="2609088" cy="950976"/>
          </a:xfrm>
          <a:prstGeom prst="roundRect">
            <a:avLst>
              <a:gd name="adj" fmla="val 9615"/>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3u_acc18"/>
          <p:cNvSpPr/>
          <p:nvPr/>
        </p:nvSpPr>
        <p:spPr>
          <a:xfrm>
            <a:off x="3267456" y="3616452"/>
            <a:ext cx="2609088" cy="5029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3ud90_ct19"/>
          <p:cNvSpPr txBox="1"/>
          <p:nvPr/>
        </p:nvSpPr>
        <p:spPr>
          <a:xfrm>
            <a:off x="3432048"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No exception</a:t>
            </a:r>
          </a:p>
        </p:txBody>
      </p:sp>
      <p:sp>
        <p:nvSpPr>
          <p:cNvPr id="21" name="a3ud150_cb20"/>
          <p:cNvSpPr txBox="1"/>
          <p:nvPr/>
        </p:nvSpPr>
        <p:spPr>
          <a:xfrm>
            <a:off x="3432048" y="4091939"/>
            <a:ext cx="2279904" cy="475488"/>
          </a:xfrm>
          <a:prstGeom prst="rect">
            <a:avLst/>
          </a:prstGeom>
          <a:noFill/>
        </p:spPr>
        <p:txBody>
          <a:bodyPr wrap="square" lIns="0" tIns="0" rIns="0" bIns="0" anchor="t">
            <a:spAutoFit/>
          </a:bodyPr>
          <a:lstStyle/>
          <a:p>
            <a:pPr algn="l"/>
            <a:r>
              <a:rPr sz="1050" b="1">
                <a:solidFill>
                  <a:srgbClr val="A90533"/>
                </a:solidFill>
                <a:latin typeface="Calibri"/>
              </a:rPr>
              <a:t>· </a:t>
            </a:r>
            <a:r>
              <a:rPr sz="1050" b="0">
                <a:solidFill>
                  <a:srgbClr val="334155"/>
                </a:solidFill>
                <a:latin typeface="Calibri"/>
              </a:rPr>
              <a:t>The VM aborts the node, it does not raise</a:t>
            </a:r>
          </a:p>
        </p:txBody>
      </p:sp>
      <p:sp>
        <p:nvSpPr>
          <p:cNvPr id="22" name="a4u_card21"/>
          <p:cNvSpPr/>
          <p:nvPr/>
        </p:nvSpPr>
        <p:spPr>
          <a:xfrm>
            <a:off x="6077712" y="3616452"/>
            <a:ext cx="2609088" cy="950976"/>
          </a:xfrm>
          <a:prstGeom prst="roundRect">
            <a:avLst>
              <a:gd name="adj" fmla="val 9615"/>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4u_acc22"/>
          <p:cNvSpPr/>
          <p:nvPr/>
        </p:nvSpPr>
        <p:spPr>
          <a:xfrm>
            <a:off x="6077712" y="3616452"/>
            <a:ext cx="2609088" cy="50292"/>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4ud90_ct23"/>
          <p:cNvSpPr txBox="1"/>
          <p:nvPr/>
        </p:nvSpPr>
        <p:spPr>
          <a:xfrm>
            <a:off x="6242304" y="3817620"/>
            <a:ext cx="2279904" cy="274320"/>
          </a:xfrm>
          <a:prstGeom prst="rect">
            <a:avLst/>
          </a:prstGeom>
          <a:noFill/>
        </p:spPr>
        <p:txBody>
          <a:bodyPr wrap="square" lIns="0" tIns="0" rIns="0" bIns="0" anchor="ctr">
            <a:spAutoFit/>
          </a:bodyPr>
          <a:lstStyle/>
          <a:p>
            <a:pPr algn="l"/>
            <a:r>
              <a:rPr sz="1400" b="1">
                <a:solidFill>
                  <a:srgbClr val="0F172A"/>
                </a:solidFill>
                <a:latin typeface="Calibri"/>
              </a:rPr>
              <a:t>No recovery</a:t>
            </a:r>
          </a:p>
        </p:txBody>
      </p:sp>
      <p:sp>
        <p:nvSpPr>
          <p:cNvPr id="25" name="a4ud150_cb24"/>
          <p:cNvSpPr txBox="1"/>
          <p:nvPr/>
        </p:nvSpPr>
        <p:spPr>
          <a:xfrm>
            <a:off x="6242304" y="4091939"/>
            <a:ext cx="2279904" cy="475488"/>
          </a:xfrm>
          <a:prstGeom prst="rect">
            <a:avLst/>
          </a:prstGeom>
          <a:noFill/>
        </p:spPr>
        <p:txBody>
          <a:bodyPr wrap="square" lIns="0" tIns="0" rIns="0" bIns="0" anchor="t">
            <a:spAutoFit/>
          </a:bodyPr>
          <a:lstStyle/>
          <a:p>
            <a:pPr algn="l"/>
            <a:r>
              <a:rPr sz="1050" b="1">
                <a:solidFill>
                  <a:srgbClr val="6B3FA0"/>
                </a:solidFill>
                <a:latin typeface="Calibri"/>
              </a:rPr>
              <a:t>· </a:t>
            </a:r>
            <a:r>
              <a:rPr sz="1050" b="0">
                <a:solidFill>
                  <a:srgbClr val="334155"/>
                </a:solidFill>
                <a:latin typeface="Calibri"/>
              </a:rPr>
              <a:t>The supervisor died along with it</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9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8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7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6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450"/>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54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ppt_x"/>
                                          </p:val>
                                        </p:tav>
                                        <p:tav tm="100000">
                                          <p:val>
                                            <p:strVal val="#ppt_x"/>
                                          </p:val>
                                        </p:tav>
                                      </p:tavLst>
                                    </p:anim>
                                    <p:anim calcmode="lin" valueType="num">
                                      <p:cBhvr additive="base">
                                        <p:cTn id="37" dur="500" fill="hold"/>
                                        <p:tgtEl>
                                          <p:spTgt spid="14"/>
                                        </p:tgtEl>
                                        <p:attrNameLst>
                                          <p:attrName>ppt_y</p:attrName>
                                        </p:attrNameLst>
                                      </p:cBhvr>
                                      <p:tavLst>
                                        <p:tav tm="0">
                                          <p:val>
                                            <p:strVal val="#ppt_y+0.1"/>
                                          </p:val>
                                        </p:tav>
                                        <p:tav tm="100000">
                                          <p:val>
                                            <p:strVal val="#ppt_y"/>
                                          </p:val>
                                        </p:tav>
                                      </p:tavLst>
                                    </p:anim>
                                    <p:animEffect transition="in" filter="fade">
                                      <p:cBhvr>
                                        <p:cTn id="38" dur="500"/>
                                        <p:tgtEl>
                                          <p:spTgt spid="14"/>
                                        </p:tgtEl>
                                      </p:cBhvr>
                                    </p:animEffect>
                                  </p:childTnLst>
                                </p:cTn>
                              </p:par>
                              <p:par>
                                <p:cTn id="39" presetID="2" presetClass="entr" presetSubtype="4"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ppt_x"/>
                                          </p:val>
                                        </p:tav>
                                        <p:tav tm="100000">
                                          <p:val>
                                            <p:strVal val="#ppt_x"/>
                                          </p:val>
                                        </p:tav>
                                      </p:tavLst>
                                    </p:anim>
                                    <p:anim calcmode="lin" valueType="num">
                                      <p:cBhvr additive="base">
                                        <p:cTn id="42" dur="500" fill="hold"/>
                                        <p:tgtEl>
                                          <p:spTgt spid="15"/>
                                        </p:tgtEl>
                                        <p:attrNameLst>
                                          <p:attrName>ppt_y</p:attrName>
                                        </p:attrNameLst>
                                      </p:cBhvr>
                                      <p:tavLst>
                                        <p:tav tm="0">
                                          <p:val>
                                            <p:strVal val="#ppt_y+0.1"/>
                                          </p:val>
                                        </p:tav>
                                        <p:tav tm="100000">
                                          <p:val>
                                            <p:strVal val="#ppt_y"/>
                                          </p:val>
                                        </p:tav>
                                      </p:tavLst>
                                    </p:anim>
                                    <p:animEffect transition="in" filter="fade">
                                      <p:cBhvr>
                                        <p:cTn id="43" dur="500"/>
                                        <p:tgtEl>
                                          <p:spTgt spid="15"/>
                                        </p:tgtEl>
                                      </p:cBhvr>
                                    </p:animEffect>
                                  </p:childTnLst>
                                </p:cTn>
                              </p:par>
                              <p:par>
                                <p:cTn id="44" presetID="2" presetClass="entr" presetSubtype="4" fill="hold" grpId="0" nodeType="withEffect">
                                  <p:stCondLst>
                                    <p:cond delay="90"/>
                                  </p:stCondLst>
                                  <p:childTnLst>
                                    <p:set>
                                      <p:cBhvr>
                                        <p:cTn id="45" dur="1" fill="hold">
                                          <p:stCondLst>
                                            <p:cond delay="0"/>
                                          </p:stCondLst>
                                        </p:cTn>
                                        <p:tgtEl>
                                          <p:spTgt spid="16"/>
                                        </p:tgtEl>
                                        <p:attrNameLst>
                                          <p:attrName>style.visibility</p:attrName>
                                        </p:attrNameLst>
                                      </p:cBhvr>
                                      <p:to>
                                        <p:strVal val="visible"/>
                                      </p:to>
                                    </p:set>
                                    <p:anim calcmode="lin" valueType="num">
                                      <p:cBhvr additive="base">
                                        <p:cTn id="46" dur="500" fill="hold"/>
                                        <p:tgtEl>
                                          <p:spTgt spid="16"/>
                                        </p:tgtEl>
                                        <p:attrNameLst>
                                          <p:attrName>ppt_x</p:attrName>
                                        </p:attrNameLst>
                                      </p:cBhvr>
                                      <p:tavLst>
                                        <p:tav tm="0">
                                          <p:val>
                                            <p:strVal val="#ppt_x"/>
                                          </p:val>
                                        </p:tav>
                                        <p:tav tm="100000">
                                          <p:val>
                                            <p:strVal val="#ppt_x"/>
                                          </p:val>
                                        </p:tav>
                                      </p:tavLst>
                                    </p:anim>
                                    <p:anim calcmode="lin" valueType="num">
                                      <p:cBhvr additive="base">
                                        <p:cTn id="47" dur="500" fill="hold"/>
                                        <p:tgtEl>
                                          <p:spTgt spid="16"/>
                                        </p:tgtEl>
                                        <p:attrNameLst>
                                          <p:attrName>ppt_y</p:attrName>
                                        </p:attrNameLst>
                                      </p:cBhvr>
                                      <p:tavLst>
                                        <p:tav tm="0">
                                          <p:val>
                                            <p:strVal val="#ppt_y+0.1"/>
                                          </p:val>
                                        </p:tav>
                                        <p:tav tm="100000">
                                          <p:val>
                                            <p:strVal val="#ppt_y"/>
                                          </p:val>
                                        </p:tav>
                                      </p:tavLst>
                                    </p:anim>
                                    <p:animEffect transition="in" filter="fade">
                                      <p:cBhvr>
                                        <p:cTn id="48" dur="500"/>
                                        <p:tgtEl>
                                          <p:spTgt spid="16"/>
                                        </p:tgtEl>
                                      </p:cBhvr>
                                    </p:animEffect>
                                  </p:childTnLst>
                                </p:cTn>
                              </p:par>
                              <p:par>
                                <p:cTn id="49" presetID="2" presetClass="entr" presetSubtype="4" fill="hold" grpId="0" nodeType="withEffect">
                                  <p:stCondLst>
                                    <p:cond delay="15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ppt_y+0.1"/>
                                          </p:val>
                                        </p:tav>
                                        <p:tav tm="100000">
                                          <p:val>
                                            <p:strVal val="#ppt_y"/>
                                          </p:val>
                                        </p:tav>
                                      </p:tavLst>
                                    </p:anim>
                                    <p:animEffect transition="in" filter="fade">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500" fill="hold"/>
                                        <p:tgtEl>
                                          <p:spTgt spid="18"/>
                                        </p:tgtEl>
                                        <p:attrNameLst>
                                          <p:attrName>ppt_x</p:attrName>
                                        </p:attrNameLst>
                                      </p:cBhvr>
                                      <p:tavLst>
                                        <p:tav tm="0">
                                          <p:val>
                                            <p:strVal val="#ppt_x"/>
                                          </p:val>
                                        </p:tav>
                                        <p:tav tm="100000">
                                          <p:val>
                                            <p:strVal val="#ppt_x"/>
                                          </p:val>
                                        </p:tav>
                                      </p:tavLst>
                                    </p:anim>
                                    <p:anim calcmode="lin" valueType="num">
                                      <p:cBhvr additive="base">
                                        <p:cTn id="59" dur="500" fill="hold"/>
                                        <p:tgtEl>
                                          <p:spTgt spid="18"/>
                                        </p:tgtEl>
                                        <p:attrNameLst>
                                          <p:attrName>ppt_y</p:attrName>
                                        </p:attrNameLst>
                                      </p:cBhvr>
                                      <p:tavLst>
                                        <p:tav tm="0">
                                          <p:val>
                                            <p:strVal val="#ppt_y+0.1"/>
                                          </p:val>
                                        </p:tav>
                                        <p:tav tm="100000">
                                          <p:val>
                                            <p:strVal val="#ppt_y"/>
                                          </p:val>
                                        </p:tav>
                                      </p:tavLst>
                                    </p:anim>
                                    <p:animEffect transition="in" filter="fade">
                                      <p:cBhvr>
                                        <p:cTn id="60" dur="500"/>
                                        <p:tgtEl>
                                          <p:spTgt spid="18"/>
                                        </p:tgtEl>
                                      </p:cBhvr>
                                    </p:animEffect>
                                  </p:childTnLst>
                                </p:cTn>
                              </p:par>
                              <p:par>
                                <p:cTn id="61" presetID="2" presetClass="entr" presetSubtype="4"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00" fill="hold"/>
                                        <p:tgtEl>
                                          <p:spTgt spid="19"/>
                                        </p:tgtEl>
                                        <p:attrNameLst>
                                          <p:attrName>ppt_x</p:attrName>
                                        </p:attrNameLst>
                                      </p:cBhvr>
                                      <p:tavLst>
                                        <p:tav tm="0">
                                          <p:val>
                                            <p:strVal val="#ppt_x"/>
                                          </p:val>
                                        </p:tav>
                                        <p:tav tm="100000">
                                          <p:val>
                                            <p:strVal val="#ppt_x"/>
                                          </p:val>
                                        </p:tav>
                                      </p:tavLst>
                                    </p:anim>
                                    <p:anim calcmode="lin" valueType="num">
                                      <p:cBhvr additive="base">
                                        <p:cTn id="64" dur="500" fill="hold"/>
                                        <p:tgtEl>
                                          <p:spTgt spid="19"/>
                                        </p:tgtEl>
                                        <p:attrNameLst>
                                          <p:attrName>ppt_y</p:attrName>
                                        </p:attrNameLst>
                                      </p:cBhvr>
                                      <p:tavLst>
                                        <p:tav tm="0">
                                          <p:val>
                                            <p:strVal val="#ppt_y+0.1"/>
                                          </p:val>
                                        </p:tav>
                                        <p:tav tm="100000">
                                          <p:val>
                                            <p:strVal val="#ppt_y"/>
                                          </p:val>
                                        </p:tav>
                                      </p:tavLst>
                                    </p:anim>
                                    <p:animEffect transition="in" filter="fade">
                                      <p:cBhvr>
                                        <p:cTn id="65" dur="500"/>
                                        <p:tgtEl>
                                          <p:spTgt spid="19"/>
                                        </p:tgtEl>
                                      </p:cBhvr>
                                    </p:animEffect>
                                  </p:childTnLst>
                                </p:cTn>
                              </p:par>
                              <p:par>
                                <p:cTn id="66" presetID="2" presetClass="entr" presetSubtype="4" fill="hold" grpId="0" nodeType="withEffect">
                                  <p:stCondLst>
                                    <p:cond delay="90"/>
                                  </p:stCondLst>
                                  <p:childTnLst>
                                    <p:set>
                                      <p:cBhvr>
                                        <p:cTn id="67" dur="1" fill="hold">
                                          <p:stCondLst>
                                            <p:cond delay="0"/>
                                          </p:stCondLst>
                                        </p:cTn>
                                        <p:tgtEl>
                                          <p:spTgt spid="20"/>
                                        </p:tgtEl>
                                        <p:attrNameLst>
                                          <p:attrName>style.visibility</p:attrName>
                                        </p:attrNameLst>
                                      </p:cBhvr>
                                      <p:to>
                                        <p:strVal val="visible"/>
                                      </p:to>
                                    </p:set>
                                    <p:anim calcmode="lin" valueType="num">
                                      <p:cBhvr additive="base">
                                        <p:cTn id="68" dur="500" fill="hold"/>
                                        <p:tgtEl>
                                          <p:spTgt spid="20"/>
                                        </p:tgtEl>
                                        <p:attrNameLst>
                                          <p:attrName>ppt_x</p:attrName>
                                        </p:attrNameLst>
                                      </p:cBhvr>
                                      <p:tavLst>
                                        <p:tav tm="0">
                                          <p:val>
                                            <p:strVal val="#ppt_x"/>
                                          </p:val>
                                        </p:tav>
                                        <p:tav tm="100000">
                                          <p:val>
                                            <p:strVal val="#ppt_x"/>
                                          </p:val>
                                        </p:tav>
                                      </p:tavLst>
                                    </p:anim>
                                    <p:anim calcmode="lin" valueType="num">
                                      <p:cBhvr additive="base">
                                        <p:cTn id="69" dur="500" fill="hold"/>
                                        <p:tgtEl>
                                          <p:spTgt spid="20"/>
                                        </p:tgtEl>
                                        <p:attrNameLst>
                                          <p:attrName>ppt_y</p:attrName>
                                        </p:attrNameLst>
                                      </p:cBhvr>
                                      <p:tavLst>
                                        <p:tav tm="0">
                                          <p:val>
                                            <p:strVal val="#ppt_y+0.1"/>
                                          </p:val>
                                        </p:tav>
                                        <p:tav tm="100000">
                                          <p:val>
                                            <p:strVal val="#ppt_y"/>
                                          </p:val>
                                        </p:tav>
                                      </p:tavLst>
                                    </p:anim>
                                    <p:animEffect transition="in" filter="fade">
                                      <p:cBhvr>
                                        <p:cTn id="70" dur="500"/>
                                        <p:tgtEl>
                                          <p:spTgt spid="20"/>
                                        </p:tgtEl>
                                      </p:cBhvr>
                                    </p:animEffect>
                                  </p:childTnLst>
                                </p:cTn>
                              </p:par>
                              <p:par>
                                <p:cTn id="71" presetID="2" presetClass="entr" presetSubtype="4" fill="hold" grpId="0" nodeType="withEffect">
                                  <p:stCondLst>
                                    <p:cond delay="15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ppt_y+0.1"/>
                                          </p:val>
                                        </p:tav>
                                        <p:tav tm="100000">
                                          <p:val>
                                            <p:strVal val="#ppt_y"/>
                                          </p:val>
                                        </p:tav>
                                      </p:tavLst>
                                    </p:anim>
                                    <p:animEffect transition="in" filter="fade">
                                      <p:cBhvr>
                                        <p:cTn id="75" dur="500"/>
                                        <p:tgtEl>
                                          <p:spTgt spid="21"/>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grpId="0" nodeType="clickEffect">
                                  <p:stCondLst>
                                    <p:cond delay="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500" fill="hold"/>
                                        <p:tgtEl>
                                          <p:spTgt spid="22"/>
                                        </p:tgtEl>
                                        <p:attrNameLst>
                                          <p:attrName>ppt_x</p:attrName>
                                        </p:attrNameLst>
                                      </p:cBhvr>
                                      <p:tavLst>
                                        <p:tav tm="0">
                                          <p:val>
                                            <p:strVal val="#ppt_x"/>
                                          </p:val>
                                        </p:tav>
                                        <p:tav tm="100000">
                                          <p:val>
                                            <p:strVal val="#ppt_x"/>
                                          </p:val>
                                        </p:tav>
                                      </p:tavLst>
                                    </p:anim>
                                    <p:anim calcmode="lin" valueType="num">
                                      <p:cBhvr additive="base">
                                        <p:cTn id="81" dur="500" fill="hold"/>
                                        <p:tgtEl>
                                          <p:spTgt spid="22"/>
                                        </p:tgtEl>
                                        <p:attrNameLst>
                                          <p:attrName>ppt_y</p:attrName>
                                        </p:attrNameLst>
                                      </p:cBhvr>
                                      <p:tavLst>
                                        <p:tav tm="0">
                                          <p:val>
                                            <p:strVal val="#ppt_y+0.1"/>
                                          </p:val>
                                        </p:tav>
                                        <p:tav tm="100000">
                                          <p:val>
                                            <p:strVal val="#ppt_y"/>
                                          </p:val>
                                        </p:tav>
                                      </p:tavLst>
                                    </p:anim>
                                    <p:animEffect transition="in" filter="fade">
                                      <p:cBhvr>
                                        <p:cTn id="82" dur="500"/>
                                        <p:tgtEl>
                                          <p:spTgt spid="22"/>
                                        </p:tgtEl>
                                      </p:cBhvr>
                                    </p:animEffect>
                                  </p:childTnLst>
                                </p:cTn>
                              </p:par>
                              <p:par>
                                <p:cTn id="83" presetID="2" presetClass="entr" presetSubtype="4" fill="hold" grpId="0" nodeType="withEffect">
                                  <p:stCondLst>
                                    <p:cond delay="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500" fill="hold"/>
                                        <p:tgtEl>
                                          <p:spTgt spid="23"/>
                                        </p:tgtEl>
                                        <p:attrNameLst>
                                          <p:attrName>ppt_x</p:attrName>
                                        </p:attrNameLst>
                                      </p:cBhvr>
                                      <p:tavLst>
                                        <p:tav tm="0">
                                          <p:val>
                                            <p:strVal val="#ppt_x"/>
                                          </p:val>
                                        </p:tav>
                                        <p:tav tm="100000">
                                          <p:val>
                                            <p:strVal val="#ppt_x"/>
                                          </p:val>
                                        </p:tav>
                                      </p:tavLst>
                                    </p:anim>
                                    <p:anim calcmode="lin" valueType="num">
                                      <p:cBhvr additive="base">
                                        <p:cTn id="86" dur="500" fill="hold"/>
                                        <p:tgtEl>
                                          <p:spTgt spid="23"/>
                                        </p:tgtEl>
                                        <p:attrNameLst>
                                          <p:attrName>ppt_y</p:attrName>
                                        </p:attrNameLst>
                                      </p:cBhvr>
                                      <p:tavLst>
                                        <p:tav tm="0">
                                          <p:val>
                                            <p:strVal val="#ppt_y+0.1"/>
                                          </p:val>
                                        </p:tav>
                                        <p:tav tm="100000">
                                          <p:val>
                                            <p:strVal val="#ppt_y"/>
                                          </p:val>
                                        </p:tav>
                                      </p:tavLst>
                                    </p:anim>
                                    <p:animEffect transition="in" filter="fade">
                                      <p:cBhvr>
                                        <p:cTn id="87" dur="500"/>
                                        <p:tgtEl>
                                          <p:spTgt spid="23"/>
                                        </p:tgtEl>
                                      </p:cBhvr>
                                    </p:animEffect>
                                  </p:childTnLst>
                                </p:cTn>
                              </p:par>
                              <p:par>
                                <p:cTn id="88" presetID="2" presetClass="entr" presetSubtype="4" fill="hold" grpId="0" nodeType="withEffect">
                                  <p:stCondLst>
                                    <p:cond delay="9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00" fill="hold"/>
                                        <p:tgtEl>
                                          <p:spTgt spid="24"/>
                                        </p:tgtEl>
                                        <p:attrNameLst>
                                          <p:attrName>ppt_x</p:attrName>
                                        </p:attrNameLst>
                                      </p:cBhvr>
                                      <p:tavLst>
                                        <p:tav tm="0">
                                          <p:val>
                                            <p:strVal val="#ppt_x"/>
                                          </p:val>
                                        </p:tav>
                                        <p:tav tm="100000">
                                          <p:val>
                                            <p:strVal val="#ppt_x"/>
                                          </p:val>
                                        </p:tav>
                                      </p:tavLst>
                                    </p:anim>
                                    <p:anim calcmode="lin" valueType="num">
                                      <p:cBhvr additive="base">
                                        <p:cTn id="91" dur="500" fill="hold"/>
                                        <p:tgtEl>
                                          <p:spTgt spid="24"/>
                                        </p:tgtEl>
                                        <p:attrNameLst>
                                          <p:attrName>ppt_y</p:attrName>
                                        </p:attrNameLst>
                                      </p:cBhvr>
                                      <p:tavLst>
                                        <p:tav tm="0">
                                          <p:val>
                                            <p:strVal val="#ppt_y+0.1"/>
                                          </p:val>
                                        </p:tav>
                                        <p:tav tm="100000">
                                          <p:val>
                                            <p:strVal val="#ppt_y"/>
                                          </p:val>
                                        </p:tav>
                                      </p:tavLst>
                                    </p:anim>
                                    <p:animEffect transition="in" filter="fade">
                                      <p:cBhvr>
                                        <p:cTn id="92" dur="500"/>
                                        <p:tgtEl>
                                          <p:spTgt spid="24"/>
                                        </p:tgtEl>
                                      </p:cBhvr>
                                    </p:animEffect>
                                  </p:childTnLst>
                                </p:cTn>
                              </p:par>
                              <p:par>
                                <p:cTn id="93" presetID="2" presetClass="entr" presetSubtype="4" fill="hold" grpId="0" nodeType="withEffect">
                                  <p:stCondLst>
                                    <p:cond delay="15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ppt_y+0.1"/>
                                          </p:val>
                                        </p:tav>
                                        <p:tav tm="100000">
                                          <p:val>
                                            <p:strVal val="#ppt_y"/>
                                          </p:val>
                                        </p:tav>
                                      </p:tavLst>
                                    </p:anim>
                                    <p:animEffect transition="in" filter="fade">
                                      <p:cBhvr>
                                        <p:cTn id="9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FIX</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safe door: String.to_existing_atom/1</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It raises instead of growing the table. That is the entire difference.</a:t>
            </a:r>
          </a:p>
        </p:txBody>
      </p:sp>
      <p:sp>
        <p:nvSpPr>
          <p:cNvPr id="5" name="a1f_codebg4"/>
          <p:cNvSpPr/>
          <p:nvPr/>
        </p:nvSpPr>
        <p:spPr>
          <a:xfrm>
            <a:off x="457200" y="1362456"/>
            <a:ext cx="8229600" cy="1677923"/>
          </a:xfrm>
          <a:prstGeom prst="roundRect">
            <a:avLst>
              <a:gd name="adj" fmla="val 4359"/>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String.to_existing_atom("ok")</a:t>
            </a:r>
          </a:p>
        </p:txBody>
      </p:sp>
      <p:sp>
        <p:nvSpPr>
          <p:cNvPr id="8" name="a1wd85_code7"/>
          <p:cNvSpPr txBox="1"/>
          <p:nvPr/>
        </p:nvSpPr>
        <p:spPr>
          <a:xfrm>
            <a:off x="621792" y="2016252"/>
            <a:ext cx="7900416" cy="214884"/>
          </a:xfrm>
          <a:prstGeom prst="rect">
            <a:avLst/>
          </a:prstGeom>
          <a:noFill/>
        </p:spPr>
        <p:txBody>
          <a:bodyPr wrap="none" lIns="0" tIns="0" rIns="0" bIns="0" anchor="ctr">
            <a:spAutoFit/>
          </a:bodyPr>
          <a:lstStyle/>
          <a:p>
            <a:pPr algn="l"/>
            <a:r>
              <a:rPr sz="1000" b="0">
                <a:solidFill>
                  <a:srgbClr val="14B8A6"/>
                </a:solidFill>
                <a:latin typeface="Courier New"/>
              </a:rPr>
              <a:t>:ok</a:t>
            </a:r>
          </a:p>
        </p:txBody>
      </p:sp>
      <p:sp>
        <p:nvSpPr>
          <p:cNvPr id="9" name="a1wd170_code8"/>
          <p:cNvSpPr txBox="1"/>
          <p:nvPr/>
        </p:nvSpPr>
        <p:spPr>
          <a:xfrm>
            <a:off x="621792" y="2231136"/>
            <a:ext cx="7900416" cy="214884"/>
          </a:xfrm>
          <a:prstGeom prst="rect">
            <a:avLst/>
          </a:prstGeom>
          <a:noFill/>
        </p:spPr>
        <p:txBody>
          <a:bodyPr wrap="none" lIns="0" tIns="0" rIns="0" bIns="0" anchor="ctr">
            <a:spAutoFit/>
          </a:bodyPr>
          <a:lstStyle/>
          <a:p>
            <a:pPr algn="l"/>
            <a:r>
              <a:rPr sz="1000" b="1">
                <a:solidFill>
                  <a:srgbClr val="C9B3E8"/>
                </a:solidFill>
                <a:latin typeface="Courier New"/>
              </a:rPr>
              <a:t>iex&gt; String.to_existing_atom("never_seen_xyz")</a:t>
            </a:r>
          </a:p>
        </p:txBody>
      </p:sp>
      <p:sp>
        <p:nvSpPr>
          <p:cNvPr id="10" name="a1wd255_code9"/>
          <p:cNvSpPr txBox="1"/>
          <p:nvPr/>
        </p:nvSpPr>
        <p:spPr>
          <a:xfrm>
            <a:off x="621792" y="2446020"/>
            <a:ext cx="7900416" cy="214884"/>
          </a:xfrm>
          <a:prstGeom prst="rect">
            <a:avLst/>
          </a:prstGeom>
          <a:noFill/>
        </p:spPr>
        <p:txBody>
          <a:bodyPr wrap="none" lIns="0" tIns="0" rIns="0" bIns="0" anchor="ctr">
            <a:spAutoFit/>
          </a:bodyPr>
          <a:lstStyle/>
          <a:p>
            <a:pPr algn="l"/>
            <a:r>
              <a:rPr sz="1000" b="0">
                <a:solidFill>
                  <a:srgbClr val="FCA5A5"/>
                </a:solidFill>
                <a:latin typeface="Courier New"/>
              </a:rPr>
              <a:t>** (ArgumentError) errors were found at the given arguments:</a:t>
            </a:r>
          </a:p>
        </p:txBody>
      </p:sp>
      <p:sp>
        <p:nvSpPr>
          <p:cNvPr id="11" name="a1wd340_code10"/>
          <p:cNvSpPr txBox="1"/>
          <p:nvPr/>
        </p:nvSpPr>
        <p:spPr>
          <a:xfrm>
            <a:off x="621792" y="2660904"/>
            <a:ext cx="7900416" cy="214884"/>
          </a:xfrm>
          <a:prstGeom prst="rect">
            <a:avLst/>
          </a:prstGeom>
          <a:noFill/>
        </p:spPr>
        <p:txBody>
          <a:bodyPr wrap="none" lIns="0" tIns="0" rIns="0" bIns="0" anchor="ctr">
            <a:spAutoFit/>
          </a:bodyPr>
          <a:lstStyle/>
          <a:p>
            <a:pPr algn="l"/>
            <a:r>
              <a:rPr sz="1000" b="0">
                <a:solidFill>
                  <a:srgbClr val="14B8A6"/>
                </a:solidFill>
                <a:latin typeface="Courier New"/>
              </a:rPr>
              <a:t># and the table did NOT move: 29,685 -&gt; 29,685  (delta 0)</a:t>
            </a:r>
          </a:p>
        </p:txBody>
      </p:sp>
      <p:sp>
        <p:nvSpPr>
          <p:cNvPr id="12" name="a2u_dot11"/>
          <p:cNvSpPr/>
          <p:nvPr/>
        </p:nvSpPr>
        <p:spPr>
          <a:xfrm>
            <a:off x="457200" y="3268979"/>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2u_b12"/>
          <p:cNvSpPr txBox="1"/>
          <p:nvPr/>
        </p:nvSpPr>
        <p:spPr>
          <a:xfrm>
            <a:off x="676656" y="3168396"/>
            <a:ext cx="8010144" cy="365760"/>
          </a:xfrm>
          <a:prstGeom prst="rect">
            <a:avLst/>
          </a:prstGeom>
          <a:noFill/>
        </p:spPr>
        <p:txBody>
          <a:bodyPr wrap="square" lIns="0" tIns="0" rIns="0" bIns="0" anchor="t">
            <a:spAutoFit/>
          </a:bodyPr>
          <a:lstStyle/>
          <a:p>
            <a:pPr algn="l"/>
            <a:r>
              <a:rPr sz="1150" b="1">
                <a:solidFill>
                  <a:srgbClr val="0F172A"/>
                </a:solidFill>
                <a:latin typeface="Calibri"/>
              </a:rPr>
              <a:t>The atom must already exist  </a:t>
            </a:r>
            <a:r>
              <a:rPr sz="1150" b="0">
                <a:solidFill>
                  <a:srgbClr val="334155"/>
                </a:solidFill>
                <a:latin typeface="Calibri"/>
              </a:rPr>
              <a:t>a literal somewhere in your code, or a module/field name</a:t>
            </a:r>
          </a:p>
        </p:txBody>
      </p:sp>
      <p:sp>
        <p:nvSpPr>
          <p:cNvPr id="14" name="a2ud180_dot13"/>
          <p:cNvSpPr/>
          <p:nvPr/>
        </p:nvSpPr>
        <p:spPr>
          <a:xfrm>
            <a:off x="457200" y="3671315"/>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2ud180_b14"/>
          <p:cNvSpPr txBox="1"/>
          <p:nvPr/>
        </p:nvSpPr>
        <p:spPr>
          <a:xfrm>
            <a:off x="676656" y="3570732"/>
            <a:ext cx="8010144" cy="365760"/>
          </a:xfrm>
          <a:prstGeom prst="rect">
            <a:avLst/>
          </a:prstGeom>
          <a:noFill/>
        </p:spPr>
        <p:txBody>
          <a:bodyPr wrap="square" lIns="0" tIns="0" rIns="0" bIns="0" anchor="t">
            <a:spAutoFit/>
          </a:bodyPr>
          <a:lstStyle/>
          <a:p>
            <a:pPr algn="l"/>
            <a:r>
              <a:rPr sz="1150" b="1">
                <a:solidFill>
                  <a:srgbClr val="0F172A"/>
                </a:solidFill>
                <a:latin typeface="Calibri"/>
              </a:rPr>
              <a:t>Beware the compile-time trap  </a:t>
            </a:r>
            <a:r>
              <a:rPr sz="1150" b="0">
                <a:solidFill>
                  <a:srgbClr val="334155"/>
                </a:solidFill>
                <a:latin typeface="Calibri"/>
              </a:rPr>
              <a:t>if the only mention was optimised away, the atom is not there</a:t>
            </a:r>
          </a:p>
        </p:txBody>
      </p:sp>
      <p:sp>
        <p:nvSpPr>
          <p:cNvPr id="16" name="a2ud360_dot15"/>
          <p:cNvSpPr/>
          <p:nvPr/>
        </p:nvSpPr>
        <p:spPr>
          <a:xfrm>
            <a:off x="457200" y="4073652"/>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2ud360_b16"/>
          <p:cNvSpPr txBox="1"/>
          <p:nvPr/>
        </p:nvSpPr>
        <p:spPr>
          <a:xfrm>
            <a:off x="676656" y="3973068"/>
            <a:ext cx="8010144" cy="365760"/>
          </a:xfrm>
          <a:prstGeom prst="rect">
            <a:avLst/>
          </a:prstGeom>
          <a:noFill/>
        </p:spPr>
        <p:txBody>
          <a:bodyPr wrap="square" lIns="0" tIns="0" rIns="0" bIns="0" anchor="t">
            <a:spAutoFit/>
          </a:bodyPr>
          <a:lstStyle/>
          <a:p>
            <a:pPr algn="l"/>
            <a:r>
              <a:rPr sz="1150" b="1">
                <a:solidFill>
                  <a:srgbClr val="0F172A"/>
                </a:solidFill>
                <a:latin typeface="Calibri"/>
              </a:rPr>
              <a:t>:erlang.list_to_existing_atom/1  </a:t>
            </a:r>
            <a:r>
              <a:rPr sz="1150" b="0">
                <a:solidFill>
                  <a:srgbClr val="334155"/>
                </a:solidFill>
                <a:latin typeface="Calibri"/>
              </a:rPr>
              <a:t>the same door, for charlists coming out of Erlang code</a:t>
            </a:r>
          </a:p>
        </p:txBody>
      </p:sp>
      <p:sp>
        <p:nvSpPr>
          <p:cNvPr id="18" name="ft1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19" name="ft1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8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7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5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4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 calcmode="lin" valueType="num">
                                      <p:cBhvr additive="base">
                                        <p:cTn id="30" dur="500" fill="hold"/>
                                        <p:tgtEl>
                                          <p:spTgt spid="12"/>
                                        </p:tgtEl>
                                        <p:attrNameLst>
                                          <p:attrName>ppt_x</p:attrName>
                                        </p:attrNameLst>
                                      </p:cBhvr>
                                      <p:tavLst>
                                        <p:tav tm="0">
                                          <p:val>
                                            <p:strVal val="#ppt_x"/>
                                          </p:val>
                                        </p:tav>
                                        <p:tav tm="100000">
                                          <p:val>
                                            <p:strVal val="#ppt_x"/>
                                          </p:val>
                                        </p:tav>
                                      </p:tavLst>
                                    </p:anim>
                                    <p:anim calcmode="lin" valueType="num">
                                      <p:cBhvr additive="base">
                                        <p:cTn id="31" dur="500" fill="hold"/>
                                        <p:tgtEl>
                                          <p:spTgt spid="12"/>
                                        </p:tgtEl>
                                        <p:attrNameLst>
                                          <p:attrName>ppt_y</p:attrName>
                                        </p:attrNameLst>
                                      </p:cBhvr>
                                      <p:tavLst>
                                        <p:tav tm="0">
                                          <p:val>
                                            <p:strVal val="#ppt_y+0.1"/>
                                          </p:val>
                                        </p:tav>
                                        <p:tav tm="100000">
                                          <p:val>
                                            <p:strVal val="#ppt_y"/>
                                          </p:val>
                                        </p:tav>
                                      </p:tavLst>
                                    </p:anim>
                                    <p:animEffect transition="in" filter="fade">
                                      <p:cBhvr>
                                        <p:cTn id="32" dur="500"/>
                                        <p:tgtEl>
                                          <p:spTgt spid="12"/>
                                        </p:tgtEl>
                                      </p:cBhvr>
                                    </p:animEffect>
                                  </p:childTnLst>
                                </p:cTn>
                              </p:par>
                              <p:par>
                                <p:cTn id="33" presetID="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ppt_y+0.1"/>
                                          </p:val>
                                        </p:tav>
                                        <p:tav tm="100000">
                                          <p:val>
                                            <p:strVal val="#ppt_y"/>
                                          </p:val>
                                        </p:tav>
                                      </p:tavLst>
                                    </p:anim>
                                    <p:animEffect transition="in" filter="fade">
                                      <p:cBhvr>
                                        <p:cTn id="37" dur="500"/>
                                        <p:tgtEl>
                                          <p:spTgt spid="13"/>
                                        </p:tgtEl>
                                      </p:cBhvr>
                                    </p:animEffect>
                                  </p:childTnLst>
                                </p:cTn>
                              </p:par>
                              <p:par>
                                <p:cTn id="38" presetID="2" presetClass="entr" presetSubtype="4" fill="hold" grpId="0" nodeType="withEffect">
                                  <p:stCondLst>
                                    <p:cond delay="180"/>
                                  </p:stCondLst>
                                  <p:childTnLst>
                                    <p:set>
                                      <p:cBhvr>
                                        <p:cTn id="39" dur="1" fill="hold">
                                          <p:stCondLst>
                                            <p:cond delay="0"/>
                                          </p:stCondLst>
                                        </p:cTn>
                                        <p:tgtEl>
                                          <p:spTgt spid="14"/>
                                        </p:tgtEl>
                                        <p:attrNameLst>
                                          <p:attrName>style.visibility</p:attrName>
                                        </p:attrNameLst>
                                      </p:cBhvr>
                                      <p:to>
                                        <p:strVal val="visible"/>
                                      </p:to>
                                    </p:set>
                                    <p:anim calcmode="lin" valueType="num">
                                      <p:cBhvr additive="base">
                                        <p:cTn id="40" dur="500" fill="hold"/>
                                        <p:tgtEl>
                                          <p:spTgt spid="14"/>
                                        </p:tgtEl>
                                        <p:attrNameLst>
                                          <p:attrName>ppt_x</p:attrName>
                                        </p:attrNameLst>
                                      </p:cBhvr>
                                      <p:tavLst>
                                        <p:tav tm="0">
                                          <p:val>
                                            <p:strVal val="#ppt_x"/>
                                          </p:val>
                                        </p:tav>
                                        <p:tav tm="100000">
                                          <p:val>
                                            <p:strVal val="#ppt_x"/>
                                          </p:val>
                                        </p:tav>
                                      </p:tavLst>
                                    </p:anim>
                                    <p:anim calcmode="lin" valueType="num">
                                      <p:cBhvr additive="base">
                                        <p:cTn id="41" dur="500" fill="hold"/>
                                        <p:tgtEl>
                                          <p:spTgt spid="14"/>
                                        </p:tgtEl>
                                        <p:attrNameLst>
                                          <p:attrName>ppt_y</p:attrName>
                                        </p:attrNameLst>
                                      </p:cBhvr>
                                      <p:tavLst>
                                        <p:tav tm="0">
                                          <p:val>
                                            <p:strVal val="#ppt_y+0.1"/>
                                          </p:val>
                                        </p:tav>
                                        <p:tav tm="100000">
                                          <p:val>
                                            <p:strVal val="#ppt_y"/>
                                          </p:val>
                                        </p:tav>
                                      </p:tavLst>
                                    </p:anim>
                                    <p:animEffect transition="in" filter="fade">
                                      <p:cBhvr>
                                        <p:cTn id="42" dur="500"/>
                                        <p:tgtEl>
                                          <p:spTgt spid="14"/>
                                        </p:tgtEl>
                                      </p:cBhvr>
                                    </p:animEffect>
                                  </p:childTnLst>
                                </p:cTn>
                              </p:par>
                              <p:par>
                                <p:cTn id="43" presetID="2" presetClass="entr" presetSubtype="4" fill="hold" grpId="0" nodeType="withEffect">
                                  <p:stCondLst>
                                    <p:cond delay="18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ppt_y+0.1"/>
                                          </p:val>
                                        </p:tav>
                                        <p:tav tm="100000">
                                          <p:val>
                                            <p:strVal val="#ppt_y"/>
                                          </p:val>
                                        </p:tav>
                                      </p:tavLst>
                                    </p:anim>
                                    <p:animEffect transition="in" filter="fade">
                                      <p:cBhvr>
                                        <p:cTn id="47" dur="500"/>
                                        <p:tgtEl>
                                          <p:spTgt spid="15"/>
                                        </p:tgtEl>
                                      </p:cBhvr>
                                    </p:animEffect>
                                  </p:childTnLst>
                                </p:cTn>
                              </p:par>
                              <p:par>
                                <p:cTn id="48" presetID="2" presetClass="entr" presetSubtype="4" fill="hold" grpId="0" nodeType="withEffect">
                                  <p:stCondLst>
                                    <p:cond delay="36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ppt_x</p:attrName>
                                        </p:attrNameLst>
                                      </p:cBhvr>
                                      <p:tavLst>
                                        <p:tav tm="0">
                                          <p:val>
                                            <p:strVal val="#ppt_x"/>
                                          </p:val>
                                        </p:tav>
                                        <p:tav tm="100000">
                                          <p:val>
                                            <p:strVal val="#ppt_x"/>
                                          </p:val>
                                        </p:tav>
                                      </p:tavLst>
                                    </p:anim>
                                    <p:anim calcmode="lin" valueType="num">
                                      <p:cBhvr additive="base">
                                        <p:cTn id="51" dur="500" fill="hold"/>
                                        <p:tgtEl>
                                          <p:spTgt spid="16"/>
                                        </p:tgtEl>
                                        <p:attrNameLst>
                                          <p:attrName>ppt_y</p:attrName>
                                        </p:attrNameLst>
                                      </p:cBhvr>
                                      <p:tavLst>
                                        <p:tav tm="0">
                                          <p:val>
                                            <p:strVal val="#ppt_y+0.1"/>
                                          </p:val>
                                        </p:tav>
                                        <p:tav tm="100000">
                                          <p:val>
                                            <p:strVal val="#ppt_y"/>
                                          </p:val>
                                        </p:tav>
                                      </p:tavLst>
                                    </p:anim>
                                    <p:animEffect transition="in" filter="fade">
                                      <p:cBhvr>
                                        <p:cTn id="52" dur="500"/>
                                        <p:tgtEl>
                                          <p:spTgt spid="16"/>
                                        </p:tgtEl>
                                      </p:cBhvr>
                                    </p:animEffect>
                                  </p:childTnLst>
                                </p:cTn>
                              </p:par>
                              <p:par>
                                <p:cTn id="53" presetID="2" presetClass="entr" presetSubtype="4" fill="hold" grpId="0" nodeType="withEffect">
                                  <p:stCondLst>
                                    <p:cond delay="36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ppt_y+0.1"/>
                                          </p:val>
                                        </p:tav>
                                        <p:tav tm="100000">
                                          <p:val>
                                            <p:strVal val="#ppt_y"/>
                                          </p:val>
                                        </p:tav>
                                      </p:tavLst>
                                    </p:anim>
                                    <p:animEffect transition="in" filter="fade">
                                      <p:cBhvr>
                                        <p:cTn id="5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FIX</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JSON trap, and three ways out</a:t>
            </a:r>
          </a:p>
        </p:txBody>
      </p:sp>
      <p:sp>
        <p:nvSpPr>
          <p:cNvPr id="4" name="a1f_codebg3"/>
          <p:cNvSpPr/>
          <p:nvPr/>
        </p:nvSpPr>
        <p:spPr>
          <a:xfrm>
            <a:off x="457200" y="1133856"/>
            <a:ext cx="8229600" cy="3040380"/>
          </a:xfrm>
          <a:prstGeom prst="roundRect">
            <a:avLst>
              <a:gd name="adj" fmla="val 2406"/>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a1f_codeh4"/>
          <p:cNvSpPr txBox="1"/>
          <p:nvPr/>
        </p:nvSpPr>
        <p:spPr>
          <a:xfrm>
            <a:off x="621792" y="1188720"/>
            <a:ext cx="7900416" cy="219456"/>
          </a:xfrm>
          <a:prstGeom prst="rect">
            <a:avLst/>
          </a:prstGeom>
          <a:noFill/>
        </p:spPr>
        <p:txBody>
          <a:bodyPr wrap="square" lIns="0" tIns="0" rIns="0" bIns="0" anchor="ctr">
            <a:spAutoFit/>
          </a:bodyPr>
          <a:lstStyle/>
          <a:p>
            <a:pPr algn="l"/>
            <a:r>
              <a:rPr sz="950" b="1">
                <a:solidFill>
                  <a:srgbClr val="64748B"/>
                </a:solidFill>
                <a:latin typeface="Courier New"/>
              </a:rPr>
              <a:t>REAL · all three give %{name: "Ada", role: "admin"}</a:t>
            </a:r>
          </a:p>
        </p:txBody>
      </p:sp>
      <p:sp>
        <p:nvSpPr>
          <p:cNvPr id="6" name="a1w_code5"/>
          <p:cNvSpPr txBox="1"/>
          <p:nvPr/>
        </p:nvSpPr>
        <p:spPr>
          <a:xfrm>
            <a:off x="621792" y="1572768"/>
            <a:ext cx="7900416" cy="187452"/>
          </a:xfrm>
          <a:prstGeom prst="rect">
            <a:avLst/>
          </a:prstGeom>
          <a:noFill/>
        </p:spPr>
        <p:txBody>
          <a:bodyPr wrap="none" lIns="0" tIns="0" rIns="0" bIns="0" anchor="ctr">
            <a:spAutoFit/>
          </a:bodyPr>
          <a:lstStyle/>
          <a:p>
            <a:pPr algn="l"/>
            <a:r>
              <a:rPr sz="950" b="0">
                <a:solidFill>
                  <a:srgbClr val="64748B"/>
                </a:solidFill>
                <a:latin typeface="Courier New"/>
              </a:rPr>
              <a:t>raw = %{"name" =&gt; "Ada", "role" =&gt; "admin"}</a:t>
            </a:r>
          </a:p>
        </p:txBody>
      </p:sp>
      <p:sp>
        <p:nvSpPr>
          <p:cNvPr id="7" name="a1wd62_code6"/>
          <p:cNvSpPr txBox="1"/>
          <p:nvPr/>
        </p:nvSpPr>
        <p:spPr>
          <a:xfrm>
            <a:off x="621792" y="1760220"/>
            <a:ext cx="7900416" cy="187452"/>
          </a:xfrm>
          <a:prstGeom prst="rect">
            <a:avLst/>
          </a:prstGeom>
          <a:noFill/>
        </p:spPr>
        <p:txBody>
          <a:bodyPr wrap="none" lIns="0" tIns="0" rIns="0" bIns="0" anchor="ctr">
            <a:spAutoFit/>
          </a:bodyPr>
          <a:lstStyle/>
          <a:p>
            <a:pPr algn="l"/>
            <a:endParaRPr/>
          </a:p>
        </p:txBody>
      </p:sp>
      <p:sp>
        <p:nvSpPr>
          <p:cNvPr id="8" name="a1wd124_code7"/>
          <p:cNvSpPr txBox="1"/>
          <p:nvPr/>
        </p:nvSpPr>
        <p:spPr>
          <a:xfrm>
            <a:off x="621792" y="1947672"/>
            <a:ext cx="7900416" cy="187452"/>
          </a:xfrm>
          <a:prstGeom prst="rect">
            <a:avLst/>
          </a:prstGeom>
          <a:noFill/>
        </p:spPr>
        <p:txBody>
          <a:bodyPr wrap="none" lIns="0" tIns="0" rIns="0" bIns="0" anchor="ctr">
            <a:spAutoFit/>
          </a:bodyPr>
          <a:lstStyle/>
          <a:p>
            <a:pPr algn="l"/>
            <a:r>
              <a:rPr sz="950" b="0">
                <a:solidFill>
                  <a:srgbClr val="FCA5A5"/>
                </a:solidFill>
                <a:latin typeface="Courier New"/>
              </a:rPr>
              <a:t># 1. NEVER</a:t>
            </a:r>
          </a:p>
        </p:txBody>
      </p:sp>
      <p:sp>
        <p:nvSpPr>
          <p:cNvPr id="9" name="a1wd186_code8"/>
          <p:cNvSpPr txBox="1"/>
          <p:nvPr/>
        </p:nvSpPr>
        <p:spPr>
          <a:xfrm>
            <a:off x="621792" y="2135124"/>
            <a:ext cx="7900416" cy="187452"/>
          </a:xfrm>
          <a:prstGeom prst="rect">
            <a:avLst/>
          </a:prstGeom>
          <a:noFill/>
        </p:spPr>
        <p:txBody>
          <a:bodyPr wrap="none" lIns="0" tIns="0" rIns="0" bIns="0" anchor="ctr">
            <a:spAutoFit/>
          </a:bodyPr>
          <a:lstStyle/>
          <a:p>
            <a:pPr algn="l"/>
            <a:r>
              <a:rPr sz="950" b="0">
                <a:solidFill>
                  <a:srgbClr val="FCA5A5"/>
                </a:solidFill>
                <a:latin typeface="Courier New"/>
              </a:rPr>
              <a:t>Map.new(raw, fn {k, v} -&gt; {String.to_atom(k), v} end)</a:t>
            </a:r>
          </a:p>
        </p:txBody>
      </p:sp>
      <p:sp>
        <p:nvSpPr>
          <p:cNvPr id="10" name="a1wd248_code9"/>
          <p:cNvSpPr txBox="1"/>
          <p:nvPr/>
        </p:nvSpPr>
        <p:spPr>
          <a:xfrm>
            <a:off x="621792" y="2322576"/>
            <a:ext cx="7900416" cy="187452"/>
          </a:xfrm>
          <a:prstGeom prst="rect">
            <a:avLst/>
          </a:prstGeom>
          <a:noFill/>
        </p:spPr>
        <p:txBody>
          <a:bodyPr wrap="none" lIns="0" tIns="0" rIns="0" bIns="0" anchor="ctr">
            <a:spAutoFit/>
          </a:bodyPr>
          <a:lstStyle/>
          <a:p>
            <a:pPr algn="l"/>
            <a:endParaRPr/>
          </a:p>
        </p:txBody>
      </p:sp>
      <p:sp>
        <p:nvSpPr>
          <p:cNvPr id="11" name="a1wd310_code10"/>
          <p:cNvSpPr txBox="1"/>
          <p:nvPr/>
        </p:nvSpPr>
        <p:spPr>
          <a:xfrm>
            <a:off x="621792" y="2510028"/>
            <a:ext cx="7900416" cy="187452"/>
          </a:xfrm>
          <a:prstGeom prst="rect">
            <a:avLst/>
          </a:prstGeom>
          <a:noFill/>
        </p:spPr>
        <p:txBody>
          <a:bodyPr wrap="none" lIns="0" tIns="0" rIns="0" bIns="0" anchor="ctr">
            <a:spAutoFit/>
          </a:bodyPr>
          <a:lstStyle/>
          <a:p>
            <a:pPr algn="l"/>
            <a:r>
              <a:rPr sz="950" b="0">
                <a:solidFill>
                  <a:srgbClr val="86EFAC"/>
                </a:solidFill>
                <a:latin typeface="Courier New"/>
              </a:rPr>
              <a:t># 2. safe — unknown keys stay strings</a:t>
            </a:r>
          </a:p>
        </p:txBody>
      </p:sp>
      <p:sp>
        <p:nvSpPr>
          <p:cNvPr id="12" name="a1wd372_code11"/>
          <p:cNvSpPr txBox="1"/>
          <p:nvPr/>
        </p:nvSpPr>
        <p:spPr>
          <a:xfrm>
            <a:off x="621792" y="2697480"/>
            <a:ext cx="7900416" cy="187452"/>
          </a:xfrm>
          <a:prstGeom prst="rect">
            <a:avLst/>
          </a:prstGeom>
          <a:noFill/>
        </p:spPr>
        <p:txBody>
          <a:bodyPr wrap="none" lIns="0" tIns="0" rIns="0" bIns="0" anchor="ctr">
            <a:spAutoFit/>
          </a:bodyPr>
          <a:lstStyle/>
          <a:p>
            <a:pPr algn="l"/>
            <a:r>
              <a:rPr sz="950" b="1">
                <a:solidFill>
                  <a:srgbClr val="C9B3E8"/>
                </a:solidFill>
                <a:latin typeface="Courier New"/>
              </a:rPr>
              <a:t>Map.new(raw, fn {k, v} -&gt;</a:t>
            </a:r>
          </a:p>
        </p:txBody>
      </p:sp>
      <p:sp>
        <p:nvSpPr>
          <p:cNvPr id="13" name="a1wd434_code12"/>
          <p:cNvSpPr txBox="1"/>
          <p:nvPr/>
        </p:nvSpPr>
        <p:spPr>
          <a:xfrm>
            <a:off x="621792" y="2884932"/>
            <a:ext cx="7900416" cy="187452"/>
          </a:xfrm>
          <a:prstGeom prst="rect">
            <a:avLst/>
          </a:prstGeom>
          <a:noFill/>
        </p:spPr>
        <p:txBody>
          <a:bodyPr wrap="none" lIns="0" tIns="0" rIns="0" bIns="0" anchor="ctr">
            <a:spAutoFit/>
          </a:bodyPr>
          <a:lstStyle/>
          <a:p>
            <a:pPr algn="l"/>
            <a:r>
              <a:rPr sz="950" b="1">
                <a:solidFill>
                  <a:srgbClr val="C9B3E8"/>
                </a:solidFill>
                <a:latin typeface="Courier New"/>
              </a:rPr>
              <a:t>  try do {String.to_existing_atom(k), v}</a:t>
            </a:r>
          </a:p>
        </p:txBody>
      </p:sp>
      <p:sp>
        <p:nvSpPr>
          <p:cNvPr id="14" name="a1wd496_code13"/>
          <p:cNvSpPr txBox="1"/>
          <p:nvPr/>
        </p:nvSpPr>
        <p:spPr>
          <a:xfrm>
            <a:off x="621792" y="3072384"/>
            <a:ext cx="7900416" cy="187452"/>
          </a:xfrm>
          <a:prstGeom prst="rect">
            <a:avLst/>
          </a:prstGeom>
          <a:noFill/>
        </p:spPr>
        <p:txBody>
          <a:bodyPr wrap="none" lIns="0" tIns="0" rIns="0" bIns="0" anchor="ctr">
            <a:spAutoFit/>
          </a:bodyPr>
          <a:lstStyle/>
          <a:p>
            <a:pPr algn="l"/>
            <a:r>
              <a:rPr sz="950" b="1">
                <a:solidFill>
                  <a:srgbClr val="C9B3E8"/>
                </a:solidFill>
                <a:latin typeface="Courier New"/>
              </a:rPr>
              <a:t>  rescue ArgumentError -&gt; {k, v} end end)</a:t>
            </a:r>
          </a:p>
        </p:txBody>
      </p:sp>
      <p:sp>
        <p:nvSpPr>
          <p:cNvPr id="15" name="a1wd558_code14"/>
          <p:cNvSpPr txBox="1"/>
          <p:nvPr/>
        </p:nvSpPr>
        <p:spPr>
          <a:xfrm>
            <a:off x="621792" y="3259836"/>
            <a:ext cx="7900416" cy="187452"/>
          </a:xfrm>
          <a:prstGeom prst="rect">
            <a:avLst/>
          </a:prstGeom>
          <a:noFill/>
        </p:spPr>
        <p:txBody>
          <a:bodyPr wrap="none" lIns="0" tIns="0" rIns="0" bIns="0" anchor="ctr">
            <a:spAutoFit/>
          </a:bodyPr>
          <a:lstStyle/>
          <a:p>
            <a:pPr algn="l"/>
            <a:endParaRPr/>
          </a:p>
        </p:txBody>
      </p:sp>
      <p:sp>
        <p:nvSpPr>
          <p:cNvPr id="16" name="a1wd620_code15"/>
          <p:cNvSpPr txBox="1"/>
          <p:nvPr/>
        </p:nvSpPr>
        <p:spPr>
          <a:xfrm>
            <a:off x="621792" y="3447287"/>
            <a:ext cx="7900416" cy="187452"/>
          </a:xfrm>
          <a:prstGeom prst="rect">
            <a:avLst/>
          </a:prstGeom>
          <a:noFill/>
        </p:spPr>
        <p:txBody>
          <a:bodyPr wrap="none" lIns="0" tIns="0" rIns="0" bIns="0" anchor="ctr">
            <a:spAutoFit/>
          </a:bodyPr>
          <a:lstStyle/>
          <a:p>
            <a:pPr algn="l"/>
            <a:r>
              <a:rPr sz="950" b="0">
                <a:solidFill>
                  <a:srgbClr val="86EFAC"/>
                </a:solidFill>
                <a:latin typeface="Courier New"/>
              </a:rPr>
              <a:t># 3. best — a whitelist you wrote</a:t>
            </a:r>
          </a:p>
        </p:txBody>
      </p:sp>
      <p:sp>
        <p:nvSpPr>
          <p:cNvPr id="17" name="a1wd682_code16"/>
          <p:cNvSpPr txBox="1"/>
          <p:nvPr/>
        </p:nvSpPr>
        <p:spPr>
          <a:xfrm>
            <a:off x="621792" y="3634739"/>
            <a:ext cx="7900416" cy="187452"/>
          </a:xfrm>
          <a:prstGeom prst="rect">
            <a:avLst/>
          </a:prstGeom>
          <a:noFill/>
        </p:spPr>
        <p:txBody>
          <a:bodyPr wrap="none" lIns="0" tIns="0" rIns="0" bIns="0" anchor="ctr">
            <a:spAutoFit/>
          </a:bodyPr>
          <a:lstStyle/>
          <a:p>
            <a:pPr algn="l"/>
            <a:r>
              <a:rPr sz="950" b="1">
                <a:solidFill>
                  <a:srgbClr val="C9B3E8"/>
                </a:solidFill>
                <a:latin typeface="Courier New"/>
              </a:rPr>
              <a:t>@allowed %{"name" =&gt; :name, "role" =&gt; :role}</a:t>
            </a:r>
          </a:p>
        </p:txBody>
      </p:sp>
      <p:sp>
        <p:nvSpPr>
          <p:cNvPr id="18" name="a1wd744_code17"/>
          <p:cNvSpPr txBox="1"/>
          <p:nvPr/>
        </p:nvSpPr>
        <p:spPr>
          <a:xfrm>
            <a:off x="621792" y="3822191"/>
            <a:ext cx="7900416" cy="187452"/>
          </a:xfrm>
          <a:prstGeom prst="rect">
            <a:avLst/>
          </a:prstGeom>
          <a:noFill/>
        </p:spPr>
        <p:txBody>
          <a:bodyPr wrap="none" lIns="0" tIns="0" rIns="0" bIns="0" anchor="ctr">
            <a:spAutoFit/>
          </a:bodyPr>
          <a:lstStyle/>
          <a:p>
            <a:pPr algn="l"/>
            <a:r>
              <a:rPr sz="950" b="1">
                <a:solidFill>
                  <a:srgbClr val="C9B3E8"/>
                </a:solidFill>
                <a:latin typeface="Courier New"/>
              </a:rPr>
              <a:t>Map.new(raw, fn {k, v} -&gt; {Map.get(@allowed, k, k), v} end)</a:t>
            </a:r>
          </a:p>
        </p:txBody>
      </p:sp>
      <p:sp>
        <p:nvSpPr>
          <p:cNvPr id="19" name="a2f_nb18"/>
          <p:cNvSpPr/>
          <p:nvPr/>
        </p:nvSpPr>
        <p:spPr>
          <a:xfrm>
            <a:off x="457200" y="4283964"/>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f_nacc19"/>
          <p:cNvSpPr/>
          <p:nvPr/>
        </p:nvSpPr>
        <p:spPr>
          <a:xfrm>
            <a:off x="457200" y="4283964"/>
            <a:ext cx="50292" cy="420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2f_nt20"/>
          <p:cNvSpPr txBox="1"/>
          <p:nvPr/>
        </p:nvSpPr>
        <p:spPr>
          <a:xfrm>
            <a:off x="658368" y="4283964"/>
            <a:ext cx="7827264" cy="420624"/>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Option 3 is the only one where the set of atoms is visible in your source. That is the property worth having, not the syntax.</a:t>
            </a:r>
          </a:p>
        </p:txBody>
      </p:sp>
      <p:sp>
        <p:nvSpPr>
          <p:cNvPr id="22" name="ft21"/>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3" name="ft22"/>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28</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par>
                                <p:cTn id="14" presetID="22" presetClass="entr" presetSubtype="8" fill="hold" grpId="0" nodeType="withEffect">
                                  <p:stCondLst>
                                    <p:cond delay="62"/>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8" fill="hold" grpId="0" nodeType="withEffect">
                                  <p:stCondLst>
                                    <p:cond delay="124"/>
                                  </p:stCondLst>
                                  <p:childTnLst>
                                    <p:set>
                                      <p:cBhvr>
                                        <p:cTn id="18" dur="1" fill="hold">
                                          <p:stCondLst>
                                            <p:cond delay="0"/>
                                          </p:stCondLst>
                                        </p:cTn>
                                        <p:tgtEl>
                                          <p:spTgt spid="8"/>
                                        </p:tgtEl>
                                        <p:attrNameLst>
                                          <p:attrName>style.visibility</p:attrName>
                                        </p:attrNameLst>
                                      </p:cBhvr>
                                      <p:to>
                                        <p:strVal val="visible"/>
                                      </p:to>
                                    </p:set>
                                    <p:animEffect transition="in" filter="wipe(left)">
                                      <p:cBhvr>
                                        <p:cTn id="19" dur="500"/>
                                        <p:tgtEl>
                                          <p:spTgt spid="8"/>
                                        </p:tgtEl>
                                      </p:cBhvr>
                                    </p:animEffect>
                                  </p:childTnLst>
                                </p:cTn>
                              </p:par>
                              <p:par>
                                <p:cTn id="20" presetID="22" presetClass="entr" presetSubtype="8" fill="hold" grpId="0" nodeType="withEffect">
                                  <p:stCondLst>
                                    <p:cond delay="186"/>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par>
                                <p:cTn id="23" presetID="22" presetClass="entr" presetSubtype="8" fill="hold" grpId="0" nodeType="withEffect">
                                  <p:stCondLst>
                                    <p:cond delay="248"/>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par>
                                <p:cTn id="26" presetID="22" presetClass="entr" presetSubtype="8" fill="hold" grpId="0" nodeType="withEffect">
                                  <p:stCondLst>
                                    <p:cond delay="31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par>
                                <p:cTn id="29" presetID="22" presetClass="entr" presetSubtype="8" fill="hold" grpId="0" nodeType="withEffect">
                                  <p:stCondLst>
                                    <p:cond delay="372"/>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par>
                                <p:cTn id="32" presetID="22" presetClass="entr" presetSubtype="8" fill="hold" grpId="0" nodeType="withEffect">
                                  <p:stCondLst>
                                    <p:cond delay="434"/>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par>
                                <p:cTn id="35" presetID="22" presetClass="entr" presetSubtype="8" fill="hold" grpId="0" nodeType="withEffect">
                                  <p:stCondLst>
                                    <p:cond delay="496"/>
                                  </p:stCondLst>
                                  <p:childTnLst>
                                    <p:set>
                                      <p:cBhvr>
                                        <p:cTn id="36" dur="1" fill="hold">
                                          <p:stCondLst>
                                            <p:cond delay="0"/>
                                          </p:stCondLst>
                                        </p:cTn>
                                        <p:tgtEl>
                                          <p:spTgt spid="14"/>
                                        </p:tgtEl>
                                        <p:attrNameLst>
                                          <p:attrName>style.visibility</p:attrName>
                                        </p:attrNameLst>
                                      </p:cBhvr>
                                      <p:to>
                                        <p:strVal val="visible"/>
                                      </p:to>
                                    </p:set>
                                    <p:animEffect transition="in" filter="wipe(left)">
                                      <p:cBhvr>
                                        <p:cTn id="37" dur="500"/>
                                        <p:tgtEl>
                                          <p:spTgt spid="14"/>
                                        </p:tgtEl>
                                      </p:cBhvr>
                                    </p:animEffect>
                                  </p:childTnLst>
                                </p:cTn>
                              </p:par>
                              <p:par>
                                <p:cTn id="38" presetID="22" presetClass="entr" presetSubtype="8" fill="hold" grpId="0" nodeType="withEffect">
                                  <p:stCondLst>
                                    <p:cond delay="558"/>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par>
                                <p:cTn id="41" presetID="22" presetClass="entr" presetSubtype="8" fill="hold" grpId="0" nodeType="withEffect">
                                  <p:stCondLst>
                                    <p:cond delay="620"/>
                                  </p:stCondLst>
                                  <p:childTnLst>
                                    <p:set>
                                      <p:cBhvr>
                                        <p:cTn id="42" dur="1" fill="hold">
                                          <p:stCondLst>
                                            <p:cond delay="0"/>
                                          </p:stCondLst>
                                        </p:cTn>
                                        <p:tgtEl>
                                          <p:spTgt spid="16"/>
                                        </p:tgtEl>
                                        <p:attrNameLst>
                                          <p:attrName>style.visibility</p:attrName>
                                        </p:attrNameLst>
                                      </p:cBhvr>
                                      <p:to>
                                        <p:strVal val="visible"/>
                                      </p:to>
                                    </p:set>
                                    <p:animEffect transition="in" filter="wipe(left)">
                                      <p:cBhvr>
                                        <p:cTn id="43" dur="500"/>
                                        <p:tgtEl>
                                          <p:spTgt spid="16"/>
                                        </p:tgtEl>
                                      </p:cBhvr>
                                    </p:animEffect>
                                  </p:childTnLst>
                                </p:cTn>
                              </p:par>
                              <p:par>
                                <p:cTn id="44" presetID="22" presetClass="entr" presetSubtype="8" fill="hold" grpId="0" nodeType="withEffect">
                                  <p:stCondLst>
                                    <p:cond delay="682"/>
                                  </p:stCondLst>
                                  <p:childTnLst>
                                    <p:set>
                                      <p:cBhvr>
                                        <p:cTn id="45" dur="1" fill="hold">
                                          <p:stCondLst>
                                            <p:cond delay="0"/>
                                          </p:stCondLst>
                                        </p:cTn>
                                        <p:tgtEl>
                                          <p:spTgt spid="17"/>
                                        </p:tgtEl>
                                        <p:attrNameLst>
                                          <p:attrName>style.visibility</p:attrName>
                                        </p:attrNameLst>
                                      </p:cBhvr>
                                      <p:to>
                                        <p:strVal val="visible"/>
                                      </p:to>
                                    </p:set>
                                    <p:animEffect transition="in" filter="wipe(left)">
                                      <p:cBhvr>
                                        <p:cTn id="46" dur="500"/>
                                        <p:tgtEl>
                                          <p:spTgt spid="17"/>
                                        </p:tgtEl>
                                      </p:cBhvr>
                                    </p:animEffect>
                                  </p:childTnLst>
                                </p:cTn>
                              </p:par>
                              <p:par>
                                <p:cTn id="47" presetID="22" presetClass="entr" presetSubtype="8" fill="hold" grpId="0" nodeType="withEffect">
                                  <p:stCondLst>
                                    <p:cond delay="744"/>
                                  </p:stCondLst>
                                  <p:childTnLst>
                                    <p:set>
                                      <p:cBhvr>
                                        <p:cTn id="48" dur="1" fill="hold">
                                          <p:stCondLst>
                                            <p:cond delay="0"/>
                                          </p:stCondLst>
                                        </p:cTn>
                                        <p:tgtEl>
                                          <p:spTgt spid="18"/>
                                        </p:tgtEl>
                                        <p:attrNameLst>
                                          <p:attrName>style.visibility</p:attrName>
                                        </p:attrNameLst>
                                      </p:cBhvr>
                                      <p:to>
                                        <p:strVal val="visible"/>
                                      </p:to>
                                    </p:set>
                                    <p:animEffect transition="in" filter="wipe(left)">
                                      <p:cBhvr>
                                        <p:cTn id="49" dur="500"/>
                                        <p:tgtEl>
                                          <p:spTgt spid="18"/>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CHECKLIST</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rules, in order of how often they save you</a:t>
            </a:r>
          </a:p>
        </p:txBody>
      </p:sp>
      <p:sp>
        <p:nvSpPr>
          <p:cNvPr id="4" name="a1f_th3"/>
          <p:cNvSpPr/>
          <p:nvPr/>
        </p:nvSpPr>
        <p:spPr>
          <a:xfrm>
            <a:off x="457200" y="1097280"/>
            <a:ext cx="4617720" cy="37033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a1f_tht4"/>
          <p:cNvSpPr txBox="1"/>
          <p:nvPr/>
        </p:nvSpPr>
        <p:spPr>
          <a:xfrm>
            <a:off x="530352" y="1097280"/>
            <a:ext cx="4507992" cy="370332"/>
          </a:xfrm>
          <a:prstGeom prst="rect">
            <a:avLst/>
          </a:prstGeom>
          <a:noFill/>
        </p:spPr>
        <p:txBody>
          <a:bodyPr wrap="square" lIns="0" tIns="0" rIns="0" bIns="0" anchor="ctr">
            <a:spAutoFit/>
          </a:bodyPr>
          <a:lstStyle/>
          <a:p>
            <a:pPr algn="l"/>
            <a:r>
              <a:rPr sz="1100" b="1">
                <a:solidFill>
                  <a:srgbClr val="FFFFFF"/>
                </a:solidFill>
                <a:latin typeface="Calibri"/>
              </a:rPr>
              <a:t>Rule</a:t>
            </a:r>
          </a:p>
        </p:txBody>
      </p:sp>
      <p:sp>
        <p:nvSpPr>
          <p:cNvPr id="6" name="a1wd95_td5"/>
          <p:cNvSpPr/>
          <p:nvPr/>
        </p:nvSpPr>
        <p:spPr>
          <a:xfrm>
            <a:off x="457200" y="1467612"/>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a1wd95_tdt6"/>
          <p:cNvSpPr txBox="1"/>
          <p:nvPr/>
        </p:nvSpPr>
        <p:spPr>
          <a:xfrm>
            <a:off x="530352" y="1467612"/>
            <a:ext cx="4507992" cy="370332"/>
          </a:xfrm>
          <a:prstGeom prst="rect">
            <a:avLst/>
          </a:prstGeom>
          <a:noFill/>
        </p:spPr>
        <p:txBody>
          <a:bodyPr wrap="square" lIns="0" tIns="0" rIns="0" bIns="0" anchor="ctr">
            <a:spAutoFit/>
          </a:bodyPr>
          <a:lstStyle/>
          <a:p>
            <a:pPr algn="l"/>
            <a:r>
              <a:rPr sz="1100" b="0">
                <a:solidFill>
                  <a:srgbClr val="334155"/>
                </a:solidFill>
                <a:latin typeface="Calibri"/>
              </a:rPr>
              <a:t>Never String.to_atom/1 on anything external</a:t>
            </a:r>
          </a:p>
        </p:txBody>
      </p:sp>
      <p:sp>
        <p:nvSpPr>
          <p:cNvPr id="8" name="a1wd190_td7"/>
          <p:cNvSpPr/>
          <p:nvPr/>
        </p:nvSpPr>
        <p:spPr>
          <a:xfrm>
            <a:off x="457200" y="1837943"/>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a1wd190_tdt8"/>
          <p:cNvSpPr txBox="1"/>
          <p:nvPr/>
        </p:nvSpPr>
        <p:spPr>
          <a:xfrm>
            <a:off x="530352" y="1837943"/>
            <a:ext cx="4507992" cy="370332"/>
          </a:xfrm>
          <a:prstGeom prst="rect">
            <a:avLst/>
          </a:prstGeom>
          <a:noFill/>
        </p:spPr>
        <p:txBody>
          <a:bodyPr wrap="square" lIns="0" tIns="0" rIns="0" bIns="0" anchor="ctr">
            <a:spAutoFit/>
          </a:bodyPr>
          <a:lstStyle/>
          <a:p>
            <a:pPr algn="l"/>
            <a:r>
              <a:rPr sz="1100" b="0">
                <a:solidFill>
                  <a:srgbClr val="334155"/>
                </a:solidFill>
                <a:latin typeface="Calibri"/>
              </a:rPr>
              <a:t>Never build atoms in a loop or per request</a:t>
            </a:r>
          </a:p>
        </p:txBody>
      </p:sp>
      <p:sp>
        <p:nvSpPr>
          <p:cNvPr id="10" name="a1wd285_td9"/>
          <p:cNvSpPr/>
          <p:nvPr/>
        </p:nvSpPr>
        <p:spPr>
          <a:xfrm>
            <a:off x="457200" y="2208276"/>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a1wd285_tdt10"/>
          <p:cNvSpPr txBox="1"/>
          <p:nvPr/>
        </p:nvSpPr>
        <p:spPr>
          <a:xfrm>
            <a:off x="530352" y="2208276"/>
            <a:ext cx="4507992" cy="370332"/>
          </a:xfrm>
          <a:prstGeom prst="rect">
            <a:avLst/>
          </a:prstGeom>
          <a:noFill/>
        </p:spPr>
        <p:txBody>
          <a:bodyPr wrap="square" lIns="0" tIns="0" rIns="0" bIns="0" anchor="ctr">
            <a:spAutoFit/>
          </a:bodyPr>
          <a:lstStyle/>
          <a:p>
            <a:pPr algn="l"/>
            <a:r>
              <a:rPr sz="1100" b="0">
                <a:solidFill>
                  <a:srgbClr val="334155"/>
                </a:solidFill>
                <a:latin typeface="Calibri"/>
              </a:rPr>
              <a:t>Never Module.concat/2 on user input</a:t>
            </a:r>
          </a:p>
        </p:txBody>
      </p:sp>
      <p:sp>
        <p:nvSpPr>
          <p:cNvPr id="12" name="a1wd380_td11"/>
          <p:cNvSpPr/>
          <p:nvPr/>
        </p:nvSpPr>
        <p:spPr>
          <a:xfrm>
            <a:off x="457200" y="2578608"/>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1wd380_tdt12"/>
          <p:cNvSpPr txBox="1"/>
          <p:nvPr/>
        </p:nvSpPr>
        <p:spPr>
          <a:xfrm>
            <a:off x="530352" y="2578608"/>
            <a:ext cx="4507992" cy="370332"/>
          </a:xfrm>
          <a:prstGeom prst="rect">
            <a:avLst/>
          </a:prstGeom>
          <a:noFill/>
        </p:spPr>
        <p:txBody>
          <a:bodyPr wrap="square" lIns="0" tIns="0" rIns="0" bIns="0" anchor="ctr">
            <a:spAutoFit/>
          </a:bodyPr>
          <a:lstStyle/>
          <a:p>
            <a:pPr algn="l"/>
            <a:r>
              <a:rPr sz="1100" b="0">
                <a:solidFill>
                  <a:srgbClr val="334155"/>
                </a:solidFill>
                <a:latin typeface="Calibri"/>
              </a:rPr>
              <a:t>Do not atomise database rows wholesale</a:t>
            </a:r>
          </a:p>
        </p:txBody>
      </p:sp>
      <p:sp>
        <p:nvSpPr>
          <p:cNvPr id="14" name="a1wd475_td13"/>
          <p:cNvSpPr/>
          <p:nvPr/>
        </p:nvSpPr>
        <p:spPr>
          <a:xfrm>
            <a:off x="457200" y="2948940"/>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1wd475_tdt14"/>
          <p:cNvSpPr txBox="1"/>
          <p:nvPr/>
        </p:nvSpPr>
        <p:spPr>
          <a:xfrm>
            <a:off x="530352" y="2948940"/>
            <a:ext cx="4507992" cy="370332"/>
          </a:xfrm>
          <a:prstGeom prst="rect">
            <a:avLst/>
          </a:prstGeom>
          <a:noFill/>
        </p:spPr>
        <p:txBody>
          <a:bodyPr wrap="square" lIns="0" tIns="0" rIns="0" bIns="0" anchor="ctr">
            <a:spAutoFit/>
          </a:bodyPr>
          <a:lstStyle/>
          <a:p>
            <a:pPr algn="l"/>
            <a:r>
              <a:rPr sz="1100" b="0">
                <a:solidFill>
                  <a:srgbClr val="334155"/>
                </a:solidFill>
                <a:latin typeface="Calibri"/>
              </a:rPr>
              <a:t>Watch :erlang.system_info(:atom_count)</a:t>
            </a:r>
          </a:p>
        </p:txBody>
      </p:sp>
      <p:sp>
        <p:nvSpPr>
          <p:cNvPr id="16" name="a1wd570_td15"/>
          <p:cNvSpPr/>
          <p:nvPr/>
        </p:nvSpPr>
        <p:spPr>
          <a:xfrm>
            <a:off x="457200" y="3319272"/>
            <a:ext cx="461772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1wd570_tdt16"/>
          <p:cNvSpPr txBox="1"/>
          <p:nvPr/>
        </p:nvSpPr>
        <p:spPr>
          <a:xfrm>
            <a:off x="530352" y="3319272"/>
            <a:ext cx="4507992" cy="370332"/>
          </a:xfrm>
          <a:prstGeom prst="rect">
            <a:avLst/>
          </a:prstGeom>
          <a:noFill/>
        </p:spPr>
        <p:txBody>
          <a:bodyPr wrap="square" lIns="0" tIns="0" rIns="0" bIns="0" anchor="ctr">
            <a:spAutoFit/>
          </a:bodyPr>
          <a:lstStyle/>
          <a:p>
            <a:pPr algn="l"/>
            <a:r>
              <a:rPr sz="1100" b="0">
                <a:solidFill>
                  <a:srgbClr val="334155"/>
                </a:solidFill>
                <a:latin typeface="Calibri"/>
              </a:rPr>
              <a:t>Treat +t as a stopgap, never a fix</a:t>
            </a:r>
          </a:p>
        </p:txBody>
      </p:sp>
      <p:sp>
        <p:nvSpPr>
          <p:cNvPr id="18" name="a1f_th17"/>
          <p:cNvSpPr/>
          <p:nvPr/>
        </p:nvSpPr>
        <p:spPr>
          <a:xfrm>
            <a:off x="5074920" y="1097280"/>
            <a:ext cx="3611880" cy="370332"/>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1f_tht18"/>
          <p:cNvSpPr txBox="1"/>
          <p:nvPr/>
        </p:nvSpPr>
        <p:spPr>
          <a:xfrm>
            <a:off x="5148072" y="1097280"/>
            <a:ext cx="3502152" cy="370332"/>
          </a:xfrm>
          <a:prstGeom prst="rect">
            <a:avLst/>
          </a:prstGeom>
          <a:noFill/>
        </p:spPr>
        <p:txBody>
          <a:bodyPr wrap="square" lIns="0" tIns="0" rIns="0" bIns="0" anchor="ctr">
            <a:spAutoFit/>
          </a:bodyPr>
          <a:lstStyle/>
          <a:p>
            <a:pPr algn="l"/>
            <a:r>
              <a:rPr sz="1100" b="1">
                <a:solidFill>
                  <a:srgbClr val="FFFFFF"/>
                </a:solidFill>
                <a:latin typeface="Calibri"/>
              </a:rPr>
              <a:t>Instead</a:t>
            </a:r>
          </a:p>
        </p:txBody>
      </p:sp>
      <p:sp>
        <p:nvSpPr>
          <p:cNvPr id="20" name="a1wd95_td19"/>
          <p:cNvSpPr/>
          <p:nvPr/>
        </p:nvSpPr>
        <p:spPr>
          <a:xfrm>
            <a:off x="5074920" y="1467612"/>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1wd95_tdt20"/>
          <p:cNvSpPr txBox="1"/>
          <p:nvPr/>
        </p:nvSpPr>
        <p:spPr>
          <a:xfrm>
            <a:off x="5148072" y="1467612"/>
            <a:ext cx="3502152" cy="370332"/>
          </a:xfrm>
          <a:prstGeom prst="rect">
            <a:avLst/>
          </a:prstGeom>
          <a:noFill/>
        </p:spPr>
        <p:txBody>
          <a:bodyPr wrap="square" lIns="0" tIns="0" rIns="0" bIns="0" anchor="ctr">
            <a:spAutoFit/>
          </a:bodyPr>
          <a:lstStyle/>
          <a:p>
            <a:pPr algn="l"/>
            <a:r>
              <a:rPr sz="1100" b="0">
                <a:solidFill>
                  <a:srgbClr val="334155"/>
                </a:solidFill>
                <a:latin typeface="Calibri"/>
              </a:rPr>
              <a:t>String.to_existing_atom/1, or a whitelist</a:t>
            </a:r>
          </a:p>
        </p:txBody>
      </p:sp>
      <p:sp>
        <p:nvSpPr>
          <p:cNvPr id="22" name="a1wd190_td21"/>
          <p:cNvSpPr/>
          <p:nvPr/>
        </p:nvSpPr>
        <p:spPr>
          <a:xfrm>
            <a:off x="5074920" y="1837943"/>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1wd190_tdt22"/>
          <p:cNvSpPr txBox="1"/>
          <p:nvPr/>
        </p:nvSpPr>
        <p:spPr>
          <a:xfrm>
            <a:off x="5148072" y="1837943"/>
            <a:ext cx="3502152" cy="370332"/>
          </a:xfrm>
          <a:prstGeom prst="rect">
            <a:avLst/>
          </a:prstGeom>
          <a:noFill/>
        </p:spPr>
        <p:txBody>
          <a:bodyPr wrap="square" lIns="0" tIns="0" rIns="0" bIns="0" anchor="ctr">
            <a:spAutoFit/>
          </a:bodyPr>
          <a:lstStyle/>
          <a:p>
            <a:pPr algn="l"/>
            <a:r>
              <a:rPr sz="1100" b="0">
                <a:solidFill>
                  <a:srgbClr val="334155"/>
                </a:solidFill>
                <a:latin typeface="Calibri"/>
              </a:rPr>
              <a:t>build them once, at compile time</a:t>
            </a:r>
          </a:p>
        </p:txBody>
      </p:sp>
      <p:sp>
        <p:nvSpPr>
          <p:cNvPr id="24" name="a1wd285_td23"/>
          <p:cNvSpPr/>
          <p:nvPr/>
        </p:nvSpPr>
        <p:spPr>
          <a:xfrm>
            <a:off x="5074920" y="2208276"/>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1wd285_tdt24"/>
          <p:cNvSpPr txBox="1"/>
          <p:nvPr/>
        </p:nvSpPr>
        <p:spPr>
          <a:xfrm>
            <a:off x="5148072" y="2208276"/>
            <a:ext cx="3502152" cy="370332"/>
          </a:xfrm>
          <a:prstGeom prst="rect">
            <a:avLst/>
          </a:prstGeom>
          <a:noFill/>
        </p:spPr>
        <p:txBody>
          <a:bodyPr wrap="square" lIns="0" tIns="0" rIns="0" bIns="0" anchor="ctr">
            <a:spAutoFit/>
          </a:bodyPr>
          <a:lstStyle/>
          <a:p>
            <a:pPr algn="l"/>
            <a:r>
              <a:rPr sz="1100" b="0">
                <a:solidFill>
                  <a:srgbClr val="334155"/>
                </a:solidFill>
                <a:latin typeface="Calibri"/>
              </a:rPr>
              <a:t>match the input against known modules</a:t>
            </a:r>
          </a:p>
        </p:txBody>
      </p:sp>
      <p:sp>
        <p:nvSpPr>
          <p:cNvPr id="26" name="a1wd380_td25"/>
          <p:cNvSpPr/>
          <p:nvPr/>
        </p:nvSpPr>
        <p:spPr>
          <a:xfrm>
            <a:off x="5074920" y="2578608"/>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a1wd380_tdt26"/>
          <p:cNvSpPr txBox="1"/>
          <p:nvPr/>
        </p:nvSpPr>
        <p:spPr>
          <a:xfrm>
            <a:off x="5148072" y="2578608"/>
            <a:ext cx="3502152" cy="370332"/>
          </a:xfrm>
          <a:prstGeom prst="rect">
            <a:avLst/>
          </a:prstGeom>
          <a:noFill/>
        </p:spPr>
        <p:txBody>
          <a:bodyPr wrap="square" lIns="0" tIns="0" rIns="0" bIns="0" anchor="ctr">
            <a:spAutoFit/>
          </a:bodyPr>
          <a:lstStyle/>
          <a:p>
            <a:pPr algn="l"/>
            <a:r>
              <a:rPr sz="1100" b="0">
                <a:solidFill>
                  <a:srgbClr val="334155"/>
                </a:solidFill>
                <a:latin typeface="Calibri"/>
              </a:rPr>
              <a:t>map the columns you know about</a:t>
            </a:r>
          </a:p>
        </p:txBody>
      </p:sp>
      <p:sp>
        <p:nvSpPr>
          <p:cNvPr id="28" name="a1wd475_td27"/>
          <p:cNvSpPr/>
          <p:nvPr/>
        </p:nvSpPr>
        <p:spPr>
          <a:xfrm>
            <a:off x="5074920" y="2948940"/>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1wd475_tdt28"/>
          <p:cNvSpPr txBox="1"/>
          <p:nvPr/>
        </p:nvSpPr>
        <p:spPr>
          <a:xfrm>
            <a:off x="5148072" y="2948940"/>
            <a:ext cx="3502152" cy="370332"/>
          </a:xfrm>
          <a:prstGeom prst="rect">
            <a:avLst/>
          </a:prstGeom>
          <a:noFill/>
        </p:spPr>
        <p:txBody>
          <a:bodyPr wrap="square" lIns="0" tIns="0" rIns="0" bIns="0" anchor="ctr">
            <a:spAutoFit/>
          </a:bodyPr>
          <a:lstStyle/>
          <a:p>
            <a:pPr algn="l"/>
            <a:r>
              <a:rPr sz="1100" b="0">
                <a:solidFill>
                  <a:srgbClr val="334155"/>
                </a:solidFill>
                <a:latin typeface="Calibri"/>
              </a:rPr>
              <a:t>alert on growth, not on an absolute number</a:t>
            </a:r>
          </a:p>
        </p:txBody>
      </p:sp>
      <p:sp>
        <p:nvSpPr>
          <p:cNvPr id="30" name="a1wd570_td29"/>
          <p:cNvSpPr/>
          <p:nvPr/>
        </p:nvSpPr>
        <p:spPr>
          <a:xfrm>
            <a:off x="5074920" y="3319272"/>
            <a:ext cx="3611880" cy="370332"/>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a1wd570_tdt30"/>
          <p:cNvSpPr txBox="1"/>
          <p:nvPr/>
        </p:nvSpPr>
        <p:spPr>
          <a:xfrm>
            <a:off x="5148072" y="3319272"/>
            <a:ext cx="3502152" cy="370332"/>
          </a:xfrm>
          <a:prstGeom prst="rect">
            <a:avLst/>
          </a:prstGeom>
          <a:noFill/>
        </p:spPr>
        <p:txBody>
          <a:bodyPr wrap="square" lIns="0" tIns="0" rIns="0" bIns="0" anchor="ctr">
            <a:spAutoFit/>
          </a:bodyPr>
          <a:lstStyle/>
          <a:p>
            <a:pPr algn="l"/>
            <a:r>
              <a:rPr sz="1100" b="0">
                <a:solidFill>
                  <a:srgbClr val="334155"/>
                </a:solidFill>
                <a:latin typeface="Calibri"/>
              </a:rPr>
              <a:t>find the line that leaks</a:t>
            </a:r>
          </a:p>
        </p:txBody>
      </p:sp>
      <p:sp>
        <p:nvSpPr>
          <p:cNvPr id="32" name="a2f_nb31"/>
          <p:cNvSpPr/>
          <p:nvPr/>
        </p:nvSpPr>
        <p:spPr>
          <a:xfrm>
            <a:off x="457200" y="3799332"/>
            <a:ext cx="8229600" cy="548640"/>
          </a:xfrm>
          <a:prstGeom prst="roundRect">
            <a:avLst>
              <a:gd name="adj" fmla="val 1333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2f_nacc32"/>
          <p:cNvSpPr/>
          <p:nvPr/>
        </p:nvSpPr>
        <p:spPr>
          <a:xfrm>
            <a:off x="457200" y="3799332"/>
            <a:ext cx="50292" cy="54864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2f_nt33"/>
          <p:cNvSpPr txBox="1"/>
          <p:nvPr/>
        </p:nvSpPr>
        <p:spPr>
          <a:xfrm>
            <a:off x="658368" y="3799332"/>
            <a:ext cx="7827264" cy="548640"/>
          </a:xfrm>
          <a:prstGeom prst="rect">
            <a:avLst/>
          </a:prstGeom>
          <a:noFill/>
        </p:spPr>
        <p:txBody>
          <a:bodyPr wrap="square" lIns="0" tIns="0" rIns="0" bIns="0" anchor="ctr">
            <a:spAutoFit/>
          </a:bodyPr>
          <a:lstStyle/>
          <a:p>
            <a:pPr algn="l"/>
            <a:r>
              <a:rPr sz="1150" b="1">
                <a:solidFill>
                  <a:srgbClr val="6B3FA0"/>
                </a:solidFill>
                <a:latin typeface="Calibri"/>
              </a:rPr>
              <a:t>→  </a:t>
            </a:r>
            <a:r>
              <a:rPr sz="1150" b="0">
                <a:solidFill>
                  <a:srgbClr val="334155"/>
                </a:solidFill>
                <a:latin typeface="Calibri"/>
              </a:rPr>
              <a:t>One monitoring line is worth all six: graph atom_count. It is flat on a healthy node and a straight rising line on a leaking one, and it costs nothing to sample.</a:t>
            </a:r>
          </a:p>
        </p:txBody>
      </p:sp>
      <p:sp>
        <p:nvSpPr>
          <p:cNvPr id="35" name="ft34"/>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36" name="ft35"/>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29</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22" presetClass="entr" presetSubtype="8" fill="hold" grpId="0" nodeType="withEffect">
                                  <p:stCondLst>
                                    <p:cond delay="95"/>
                                  </p:stCondLst>
                                  <p:childTnLst>
                                    <p:set>
                                      <p:cBhvr>
                                        <p:cTn id="18" dur="1" fill="hold">
                                          <p:stCondLst>
                                            <p:cond delay="0"/>
                                          </p:stCondLst>
                                        </p:cTn>
                                        <p:tgtEl>
                                          <p:spTgt spid="6"/>
                                        </p:tgtEl>
                                        <p:attrNameLst>
                                          <p:attrName>style.visibility</p:attrName>
                                        </p:attrNameLst>
                                      </p:cBhvr>
                                      <p:to>
                                        <p:strVal val="visible"/>
                                      </p:to>
                                    </p:set>
                                    <p:animEffect transition="in" filter="wipe(left)">
                                      <p:cBhvr>
                                        <p:cTn id="19" dur="500"/>
                                        <p:tgtEl>
                                          <p:spTgt spid="6"/>
                                        </p:tgtEl>
                                      </p:cBhvr>
                                    </p:animEffect>
                                  </p:childTnLst>
                                </p:cTn>
                              </p:par>
                              <p:par>
                                <p:cTn id="20" presetID="22" presetClass="entr" presetSubtype="8" fill="hold" grpId="0" nodeType="withEffect">
                                  <p:stCondLst>
                                    <p:cond delay="95"/>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par>
                                <p:cTn id="23" presetID="22" presetClass="entr" presetSubtype="8" fill="hold" grpId="0" nodeType="withEffect">
                                  <p:stCondLst>
                                    <p:cond delay="95"/>
                                  </p:stCondLst>
                                  <p:childTnLst>
                                    <p:set>
                                      <p:cBhvr>
                                        <p:cTn id="24" dur="1" fill="hold">
                                          <p:stCondLst>
                                            <p:cond delay="0"/>
                                          </p:stCondLst>
                                        </p:cTn>
                                        <p:tgtEl>
                                          <p:spTgt spid="20"/>
                                        </p:tgtEl>
                                        <p:attrNameLst>
                                          <p:attrName>style.visibility</p:attrName>
                                        </p:attrNameLst>
                                      </p:cBhvr>
                                      <p:to>
                                        <p:strVal val="visible"/>
                                      </p:to>
                                    </p:set>
                                    <p:animEffect transition="in" filter="wipe(left)">
                                      <p:cBhvr>
                                        <p:cTn id="25" dur="500"/>
                                        <p:tgtEl>
                                          <p:spTgt spid="20"/>
                                        </p:tgtEl>
                                      </p:cBhvr>
                                    </p:animEffect>
                                  </p:childTnLst>
                                </p:cTn>
                              </p:par>
                              <p:par>
                                <p:cTn id="26" presetID="22" presetClass="entr" presetSubtype="8" fill="hold" grpId="0" nodeType="withEffect">
                                  <p:stCondLst>
                                    <p:cond delay="95"/>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par>
                                <p:cTn id="29" presetID="22" presetClass="entr" presetSubtype="8" fill="hold" grpId="0" nodeType="withEffect">
                                  <p:stCondLst>
                                    <p:cond delay="19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500"/>
                                        <p:tgtEl>
                                          <p:spTgt spid="8"/>
                                        </p:tgtEl>
                                      </p:cBhvr>
                                    </p:animEffect>
                                  </p:childTnLst>
                                </p:cTn>
                              </p:par>
                              <p:par>
                                <p:cTn id="32" presetID="22" presetClass="entr" presetSubtype="8" fill="hold" grpId="0" nodeType="withEffect">
                                  <p:stCondLst>
                                    <p:cond delay="190"/>
                                  </p:stCondLst>
                                  <p:childTnLst>
                                    <p:set>
                                      <p:cBhvr>
                                        <p:cTn id="33" dur="1" fill="hold">
                                          <p:stCondLst>
                                            <p:cond delay="0"/>
                                          </p:stCondLst>
                                        </p:cTn>
                                        <p:tgtEl>
                                          <p:spTgt spid="9"/>
                                        </p:tgtEl>
                                        <p:attrNameLst>
                                          <p:attrName>style.visibility</p:attrName>
                                        </p:attrNameLst>
                                      </p:cBhvr>
                                      <p:to>
                                        <p:strVal val="visible"/>
                                      </p:to>
                                    </p:set>
                                    <p:animEffect transition="in" filter="wipe(left)">
                                      <p:cBhvr>
                                        <p:cTn id="34" dur="500"/>
                                        <p:tgtEl>
                                          <p:spTgt spid="9"/>
                                        </p:tgtEl>
                                      </p:cBhvr>
                                    </p:animEffect>
                                  </p:childTnLst>
                                </p:cTn>
                              </p:par>
                              <p:par>
                                <p:cTn id="35" presetID="22" presetClass="entr" presetSubtype="8" fill="hold" grpId="0" nodeType="withEffect">
                                  <p:stCondLst>
                                    <p:cond delay="190"/>
                                  </p:stCondLst>
                                  <p:childTnLst>
                                    <p:set>
                                      <p:cBhvr>
                                        <p:cTn id="36" dur="1" fill="hold">
                                          <p:stCondLst>
                                            <p:cond delay="0"/>
                                          </p:stCondLst>
                                        </p:cTn>
                                        <p:tgtEl>
                                          <p:spTgt spid="22"/>
                                        </p:tgtEl>
                                        <p:attrNameLst>
                                          <p:attrName>style.visibility</p:attrName>
                                        </p:attrNameLst>
                                      </p:cBhvr>
                                      <p:to>
                                        <p:strVal val="visible"/>
                                      </p:to>
                                    </p:set>
                                    <p:animEffect transition="in" filter="wipe(left)">
                                      <p:cBhvr>
                                        <p:cTn id="37" dur="500"/>
                                        <p:tgtEl>
                                          <p:spTgt spid="22"/>
                                        </p:tgtEl>
                                      </p:cBhvr>
                                    </p:animEffect>
                                  </p:childTnLst>
                                </p:cTn>
                              </p:par>
                              <p:par>
                                <p:cTn id="38" presetID="22" presetClass="entr" presetSubtype="8" fill="hold" grpId="0" nodeType="withEffect">
                                  <p:stCondLst>
                                    <p:cond delay="19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par>
                                <p:cTn id="41" presetID="22" presetClass="entr" presetSubtype="8" fill="hold" grpId="0" nodeType="withEffect">
                                  <p:stCondLst>
                                    <p:cond delay="285"/>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500"/>
                                        <p:tgtEl>
                                          <p:spTgt spid="10"/>
                                        </p:tgtEl>
                                      </p:cBhvr>
                                    </p:animEffect>
                                  </p:childTnLst>
                                </p:cTn>
                              </p:par>
                              <p:par>
                                <p:cTn id="44" presetID="22" presetClass="entr" presetSubtype="8" fill="hold" grpId="0" nodeType="withEffect">
                                  <p:stCondLst>
                                    <p:cond delay="285"/>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500"/>
                                        <p:tgtEl>
                                          <p:spTgt spid="11"/>
                                        </p:tgtEl>
                                      </p:cBhvr>
                                    </p:animEffect>
                                  </p:childTnLst>
                                </p:cTn>
                              </p:par>
                              <p:par>
                                <p:cTn id="47" presetID="22" presetClass="entr" presetSubtype="8" fill="hold" grpId="0" nodeType="withEffect">
                                  <p:stCondLst>
                                    <p:cond delay="285"/>
                                  </p:stCondLst>
                                  <p:childTnLst>
                                    <p:set>
                                      <p:cBhvr>
                                        <p:cTn id="48" dur="1" fill="hold">
                                          <p:stCondLst>
                                            <p:cond delay="0"/>
                                          </p:stCondLst>
                                        </p:cTn>
                                        <p:tgtEl>
                                          <p:spTgt spid="24"/>
                                        </p:tgtEl>
                                        <p:attrNameLst>
                                          <p:attrName>style.visibility</p:attrName>
                                        </p:attrNameLst>
                                      </p:cBhvr>
                                      <p:to>
                                        <p:strVal val="visible"/>
                                      </p:to>
                                    </p:set>
                                    <p:animEffect transition="in" filter="wipe(left)">
                                      <p:cBhvr>
                                        <p:cTn id="49" dur="500"/>
                                        <p:tgtEl>
                                          <p:spTgt spid="24"/>
                                        </p:tgtEl>
                                      </p:cBhvr>
                                    </p:animEffect>
                                  </p:childTnLst>
                                </p:cTn>
                              </p:par>
                              <p:par>
                                <p:cTn id="50" presetID="22" presetClass="entr" presetSubtype="8" fill="hold" grpId="0" nodeType="withEffect">
                                  <p:stCondLst>
                                    <p:cond delay="285"/>
                                  </p:stCondLst>
                                  <p:childTnLst>
                                    <p:set>
                                      <p:cBhvr>
                                        <p:cTn id="51" dur="1" fill="hold">
                                          <p:stCondLst>
                                            <p:cond delay="0"/>
                                          </p:stCondLst>
                                        </p:cTn>
                                        <p:tgtEl>
                                          <p:spTgt spid="25"/>
                                        </p:tgtEl>
                                        <p:attrNameLst>
                                          <p:attrName>style.visibility</p:attrName>
                                        </p:attrNameLst>
                                      </p:cBhvr>
                                      <p:to>
                                        <p:strVal val="visible"/>
                                      </p:to>
                                    </p:set>
                                    <p:animEffect transition="in" filter="wipe(left)">
                                      <p:cBhvr>
                                        <p:cTn id="52" dur="500"/>
                                        <p:tgtEl>
                                          <p:spTgt spid="25"/>
                                        </p:tgtEl>
                                      </p:cBhvr>
                                    </p:animEffect>
                                  </p:childTnLst>
                                </p:cTn>
                              </p:par>
                              <p:par>
                                <p:cTn id="53" presetID="22" presetClass="entr" presetSubtype="8" fill="hold" grpId="0" nodeType="withEffect">
                                  <p:stCondLst>
                                    <p:cond delay="380"/>
                                  </p:stCondLst>
                                  <p:childTnLst>
                                    <p:set>
                                      <p:cBhvr>
                                        <p:cTn id="54" dur="1" fill="hold">
                                          <p:stCondLst>
                                            <p:cond delay="0"/>
                                          </p:stCondLst>
                                        </p:cTn>
                                        <p:tgtEl>
                                          <p:spTgt spid="12"/>
                                        </p:tgtEl>
                                        <p:attrNameLst>
                                          <p:attrName>style.visibility</p:attrName>
                                        </p:attrNameLst>
                                      </p:cBhvr>
                                      <p:to>
                                        <p:strVal val="visible"/>
                                      </p:to>
                                    </p:set>
                                    <p:animEffect transition="in" filter="wipe(left)">
                                      <p:cBhvr>
                                        <p:cTn id="55" dur="500"/>
                                        <p:tgtEl>
                                          <p:spTgt spid="12"/>
                                        </p:tgtEl>
                                      </p:cBhvr>
                                    </p:animEffect>
                                  </p:childTnLst>
                                </p:cTn>
                              </p:par>
                              <p:par>
                                <p:cTn id="56" presetID="22" presetClass="entr" presetSubtype="8" fill="hold" grpId="0" nodeType="withEffect">
                                  <p:stCondLst>
                                    <p:cond delay="380"/>
                                  </p:stCondLst>
                                  <p:childTnLst>
                                    <p:set>
                                      <p:cBhvr>
                                        <p:cTn id="57" dur="1" fill="hold">
                                          <p:stCondLst>
                                            <p:cond delay="0"/>
                                          </p:stCondLst>
                                        </p:cTn>
                                        <p:tgtEl>
                                          <p:spTgt spid="13"/>
                                        </p:tgtEl>
                                        <p:attrNameLst>
                                          <p:attrName>style.visibility</p:attrName>
                                        </p:attrNameLst>
                                      </p:cBhvr>
                                      <p:to>
                                        <p:strVal val="visible"/>
                                      </p:to>
                                    </p:set>
                                    <p:animEffect transition="in" filter="wipe(left)">
                                      <p:cBhvr>
                                        <p:cTn id="58" dur="500"/>
                                        <p:tgtEl>
                                          <p:spTgt spid="13"/>
                                        </p:tgtEl>
                                      </p:cBhvr>
                                    </p:animEffect>
                                  </p:childTnLst>
                                </p:cTn>
                              </p:par>
                              <p:par>
                                <p:cTn id="59" presetID="22" presetClass="entr" presetSubtype="8" fill="hold" grpId="0" nodeType="withEffect">
                                  <p:stCondLst>
                                    <p:cond delay="380"/>
                                  </p:stCondLst>
                                  <p:childTnLst>
                                    <p:set>
                                      <p:cBhvr>
                                        <p:cTn id="60" dur="1" fill="hold">
                                          <p:stCondLst>
                                            <p:cond delay="0"/>
                                          </p:stCondLst>
                                        </p:cTn>
                                        <p:tgtEl>
                                          <p:spTgt spid="26"/>
                                        </p:tgtEl>
                                        <p:attrNameLst>
                                          <p:attrName>style.visibility</p:attrName>
                                        </p:attrNameLst>
                                      </p:cBhvr>
                                      <p:to>
                                        <p:strVal val="visible"/>
                                      </p:to>
                                    </p:set>
                                    <p:animEffect transition="in" filter="wipe(left)">
                                      <p:cBhvr>
                                        <p:cTn id="61" dur="500"/>
                                        <p:tgtEl>
                                          <p:spTgt spid="26"/>
                                        </p:tgtEl>
                                      </p:cBhvr>
                                    </p:animEffect>
                                  </p:childTnLst>
                                </p:cTn>
                              </p:par>
                              <p:par>
                                <p:cTn id="62" presetID="22" presetClass="entr" presetSubtype="8" fill="hold" grpId="0" nodeType="withEffect">
                                  <p:stCondLst>
                                    <p:cond delay="38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500"/>
                                        <p:tgtEl>
                                          <p:spTgt spid="27"/>
                                        </p:tgtEl>
                                      </p:cBhvr>
                                    </p:animEffect>
                                  </p:childTnLst>
                                </p:cTn>
                              </p:par>
                              <p:par>
                                <p:cTn id="65" presetID="22" presetClass="entr" presetSubtype="8" fill="hold" grpId="0" nodeType="withEffect">
                                  <p:stCondLst>
                                    <p:cond delay="475"/>
                                  </p:stCondLst>
                                  <p:childTnLst>
                                    <p:set>
                                      <p:cBhvr>
                                        <p:cTn id="66" dur="1" fill="hold">
                                          <p:stCondLst>
                                            <p:cond delay="0"/>
                                          </p:stCondLst>
                                        </p:cTn>
                                        <p:tgtEl>
                                          <p:spTgt spid="14"/>
                                        </p:tgtEl>
                                        <p:attrNameLst>
                                          <p:attrName>style.visibility</p:attrName>
                                        </p:attrNameLst>
                                      </p:cBhvr>
                                      <p:to>
                                        <p:strVal val="visible"/>
                                      </p:to>
                                    </p:set>
                                    <p:animEffect transition="in" filter="wipe(left)">
                                      <p:cBhvr>
                                        <p:cTn id="67" dur="500"/>
                                        <p:tgtEl>
                                          <p:spTgt spid="14"/>
                                        </p:tgtEl>
                                      </p:cBhvr>
                                    </p:animEffect>
                                  </p:childTnLst>
                                </p:cTn>
                              </p:par>
                              <p:par>
                                <p:cTn id="68" presetID="22" presetClass="entr" presetSubtype="8" fill="hold" grpId="0" nodeType="withEffect">
                                  <p:stCondLst>
                                    <p:cond delay="475"/>
                                  </p:stCondLst>
                                  <p:childTnLst>
                                    <p:set>
                                      <p:cBhvr>
                                        <p:cTn id="69" dur="1" fill="hold">
                                          <p:stCondLst>
                                            <p:cond delay="0"/>
                                          </p:stCondLst>
                                        </p:cTn>
                                        <p:tgtEl>
                                          <p:spTgt spid="15"/>
                                        </p:tgtEl>
                                        <p:attrNameLst>
                                          <p:attrName>style.visibility</p:attrName>
                                        </p:attrNameLst>
                                      </p:cBhvr>
                                      <p:to>
                                        <p:strVal val="visible"/>
                                      </p:to>
                                    </p:set>
                                    <p:animEffect transition="in" filter="wipe(left)">
                                      <p:cBhvr>
                                        <p:cTn id="70" dur="500"/>
                                        <p:tgtEl>
                                          <p:spTgt spid="15"/>
                                        </p:tgtEl>
                                      </p:cBhvr>
                                    </p:animEffect>
                                  </p:childTnLst>
                                </p:cTn>
                              </p:par>
                              <p:par>
                                <p:cTn id="71" presetID="22" presetClass="entr" presetSubtype="8" fill="hold" grpId="0" nodeType="withEffect">
                                  <p:stCondLst>
                                    <p:cond delay="475"/>
                                  </p:stCondLst>
                                  <p:childTnLst>
                                    <p:set>
                                      <p:cBhvr>
                                        <p:cTn id="72" dur="1" fill="hold">
                                          <p:stCondLst>
                                            <p:cond delay="0"/>
                                          </p:stCondLst>
                                        </p:cTn>
                                        <p:tgtEl>
                                          <p:spTgt spid="28"/>
                                        </p:tgtEl>
                                        <p:attrNameLst>
                                          <p:attrName>style.visibility</p:attrName>
                                        </p:attrNameLst>
                                      </p:cBhvr>
                                      <p:to>
                                        <p:strVal val="visible"/>
                                      </p:to>
                                    </p:set>
                                    <p:animEffect transition="in" filter="wipe(left)">
                                      <p:cBhvr>
                                        <p:cTn id="73" dur="500"/>
                                        <p:tgtEl>
                                          <p:spTgt spid="28"/>
                                        </p:tgtEl>
                                      </p:cBhvr>
                                    </p:animEffect>
                                  </p:childTnLst>
                                </p:cTn>
                              </p:par>
                              <p:par>
                                <p:cTn id="74" presetID="22" presetClass="entr" presetSubtype="8" fill="hold" grpId="0" nodeType="withEffect">
                                  <p:stCondLst>
                                    <p:cond delay="475"/>
                                  </p:stCondLst>
                                  <p:childTnLst>
                                    <p:set>
                                      <p:cBhvr>
                                        <p:cTn id="75" dur="1" fill="hold">
                                          <p:stCondLst>
                                            <p:cond delay="0"/>
                                          </p:stCondLst>
                                        </p:cTn>
                                        <p:tgtEl>
                                          <p:spTgt spid="29"/>
                                        </p:tgtEl>
                                        <p:attrNameLst>
                                          <p:attrName>style.visibility</p:attrName>
                                        </p:attrNameLst>
                                      </p:cBhvr>
                                      <p:to>
                                        <p:strVal val="visible"/>
                                      </p:to>
                                    </p:set>
                                    <p:animEffect transition="in" filter="wipe(left)">
                                      <p:cBhvr>
                                        <p:cTn id="76" dur="500"/>
                                        <p:tgtEl>
                                          <p:spTgt spid="29"/>
                                        </p:tgtEl>
                                      </p:cBhvr>
                                    </p:animEffect>
                                  </p:childTnLst>
                                </p:cTn>
                              </p:par>
                              <p:par>
                                <p:cTn id="77" presetID="22" presetClass="entr" presetSubtype="8" fill="hold" grpId="0" nodeType="withEffect">
                                  <p:stCondLst>
                                    <p:cond delay="570"/>
                                  </p:stCondLst>
                                  <p:childTnLst>
                                    <p:set>
                                      <p:cBhvr>
                                        <p:cTn id="78" dur="1" fill="hold">
                                          <p:stCondLst>
                                            <p:cond delay="0"/>
                                          </p:stCondLst>
                                        </p:cTn>
                                        <p:tgtEl>
                                          <p:spTgt spid="16"/>
                                        </p:tgtEl>
                                        <p:attrNameLst>
                                          <p:attrName>style.visibility</p:attrName>
                                        </p:attrNameLst>
                                      </p:cBhvr>
                                      <p:to>
                                        <p:strVal val="visible"/>
                                      </p:to>
                                    </p:set>
                                    <p:animEffect transition="in" filter="wipe(left)">
                                      <p:cBhvr>
                                        <p:cTn id="79" dur="500"/>
                                        <p:tgtEl>
                                          <p:spTgt spid="16"/>
                                        </p:tgtEl>
                                      </p:cBhvr>
                                    </p:animEffect>
                                  </p:childTnLst>
                                </p:cTn>
                              </p:par>
                              <p:par>
                                <p:cTn id="80" presetID="22" presetClass="entr" presetSubtype="8" fill="hold" grpId="0" nodeType="withEffect">
                                  <p:stCondLst>
                                    <p:cond delay="570"/>
                                  </p:stCondLst>
                                  <p:childTnLst>
                                    <p:set>
                                      <p:cBhvr>
                                        <p:cTn id="81" dur="1" fill="hold">
                                          <p:stCondLst>
                                            <p:cond delay="0"/>
                                          </p:stCondLst>
                                        </p:cTn>
                                        <p:tgtEl>
                                          <p:spTgt spid="17"/>
                                        </p:tgtEl>
                                        <p:attrNameLst>
                                          <p:attrName>style.visibility</p:attrName>
                                        </p:attrNameLst>
                                      </p:cBhvr>
                                      <p:to>
                                        <p:strVal val="visible"/>
                                      </p:to>
                                    </p:set>
                                    <p:animEffect transition="in" filter="wipe(left)">
                                      <p:cBhvr>
                                        <p:cTn id="82" dur="500"/>
                                        <p:tgtEl>
                                          <p:spTgt spid="17"/>
                                        </p:tgtEl>
                                      </p:cBhvr>
                                    </p:animEffect>
                                  </p:childTnLst>
                                </p:cTn>
                              </p:par>
                              <p:par>
                                <p:cTn id="83" presetID="22" presetClass="entr" presetSubtype="8" fill="hold" grpId="0" nodeType="withEffect">
                                  <p:stCondLst>
                                    <p:cond delay="570"/>
                                  </p:stCondLst>
                                  <p:childTnLst>
                                    <p:set>
                                      <p:cBhvr>
                                        <p:cTn id="84" dur="1" fill="hold">
                                          <p:stCondLst>
                                            <p:cond delay="0"/>
                                          </p:stCondLst>
                                        </p:cTn>
                                        <p:tgtEl>
                                          <p:spTgt spid="30"/>
                                        </p:tgtEl>
                                        <p:attrNameLst>
                                          <p:attrName>style.visibility</p:attrName>
                                        </p:attrNameLst>
                                      </p:cBhvr>
                                      <p:to>
                                        <p:strVal val="visible"/>
                                      </p:to>
                                    </p:set>
                                    <p:animEffect transition="in" filter="wipe(left)">
                                      <p:cBhvr>
                                        <p:cTn id="85" dur="500"/>
                                        <p:tgtEl>
                                          <p:spTgt spid="30"/>
                                        </p:tgtEl>
                                      </p:cBhvr>
                                    </p:animEffect>
                                  </p:childTnLst>
                                </p:cTn>
                              </p:par>
                              <p:par>
                                <p:cTn id="86" presetID="22" presetClass="entr" presetSubtype="8" fill="hold" grpId="0" nodeType="withEffect">
                                  <p:stCondLst>
                                    <p:cond delay="570"/>
                                  </p:stCondLst>
                                  <p:childTnLst>
                                    <p:set>
                                      <p:cBhvr>
                                        <p:cTn id="87" dur="1" fill="hold">
                                          <p:stCondLst>
                                            <p:cond delay="0"/>
                                          </p:stCondLst>
                                        </p:cTn>
                                        <p:tgtEl>
                                          <p:spTgt spid="31"/>
                                        </p:tgtEl>
                                        <p:attrNameLst>
                                          <p:attrName>style.visibility</p:attrName>
                                        </p:attrNameLst>
                                      </p:cBhvr>
                                      <p:to>
                                        <p:strVal val="visible"/>
                                      </p:to>
                                    </p:set>
                                    <p:animEffect transition="in" filter="wipe(left)">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THE EXCEPTION</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One place a long atom is not free: the wire</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In memory the name is stored once. Across a link it is sent every time.</a:t>
            </a:r>
          </a:p>
        </p:txBody>
      </p:sp>
      <p:sp>
        <p:nvSpPr>
          <p:cNvPr id="5" name="a1f_codebg4"/>
          <p:cNvSpPr/>
          <p:nvPr/>
        </p:nvSpPr>
        <p:spPr>
          <a:xfrm>
            <a:off x="457200" y="1362456"/>
            <a:ext cx="5074920" cy="2752344"/>
          </a:xfrm>
          <a:prstGeom prst="roundRect">
            <a:avLst>
              <a:gd name="adj" fmla="val 2657"/>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codeh5"/>
          <p:cNvSpPr txBox="1"/>
          <p:nvPr/>
        </p:nvSpPr>
        <p:spPr>
          <a:xfrm>
            <a:off x="621792" y="1417320"/>
            <a:ext cx="4745736" cy="219456"/>
          </a:xfrm>
          <a:prstGeom prst="rect">
            <a:avLst/>
          </a:prstGeom>
          <a:noFill/>
        </p:spPr>
        <p:txBody>
          <a:bodyPr wrap="square" lIns="0" tIns="0" rIns="0" bIns="0" anchor="ctr">
            <a:spAutoFit/>
          </a:bodyPr>
          <a:lstStyle/>
          <a:p>
            <a:pPr algn="l"/>
            <a:r>
              <a:rPr sz="950" b="1">
                <a:solidFill>
                  <a:srgbClr val="64748B"/>
                </a:solidFill>
                <a:latin typeface="Courier New"/>
              </a:rPr>
              <a:t>REAL · probe_atoms.exs</a:t>
            </a:r>
          </a:p>
        </p:txBody>
      </p:sp>
      <p:sp>
        <p:nvSpPr>
          <p:cNvPr id="7" name="a1w_code6"/>
          <p:cNvSpPr txBox="1"/>
          <p:nvPr/>
        </p:nvSpPr>
        <p:spPr>
          <a:xfrm>
            <a:off x="621792" y="1801368"/>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:erlang.term_to_binary(:ok)</a:t>
            </a:r>
          </a:p>
        </p:txBody>
      </p:sp>
      <p:sp>
        <p:nvSpPr>
          <p:cNvPr id="8" name="a1wd75_code7"/>
          <p:cNvSpPr txBox="1"/>
          <p:nvPr/>
        </p:nvSpPr>
        <p:spPr>
          <a:xfrm>
            <a:off x="621792" y="2016252"/>
            <a:ext cx="4745736" cy="214884"/>
          </a:xfrm>
          <a:prstGeom prst="rect">
            <a:avLst/>
          </a:prstGeom>
          <a:noFill/>
        </p:spPr>
        <p:txBody>
          <a:bodyPr wrap="none" lIns="0" tIns="0" rIns="0" bIns="0" anchor="ctr">
            <a:spAutoFit/>
          </a:bodyPr>
          <a:lstStyle/>
          <a:p>
            <a:pPr algn="l"/>
            <a:r>
              <a:rPr sz="950" b="0">
                <a:solidFill>
                  <a:srgbClr val="14B8A6"/>
                </a:solidFill>
                <a:latin typeface="Courier New"/>
              </a:rPr>
              <a:t>&lt;&lt;131, 119, 2, 111, 107&gt;&gt;     # 5 bytes</a:t>
            </a:r>
          </a:p>
        </p:txBody>
      </p:sp>
      <p:sp>
        <p:nvSpPr>
          <p:cNvPr id="9" name="a1wd150_code8"/>
          <p:cNvSpPr txBox="1"/>
          <p:nvPr/>
        </p:nvSpPr>
        <p:spPr>
          <a:xfrm>
            <a:off x="621792" y="2231136"/>
            <a:ext cx="4745736" cy="214884"/>
          </a:xfrm>
          <a:prstGeom prst="rect">
            <a:avLst/>
          </a:prstGeom>
          <a:noFill/>
        </p:spPr>
        <p:txBody>
          <a:bodyPr wrap="none" lIns="0" tIns="0" rIns="0" bIns="0" anchor="ctr">
            <a:spAutoFit/>
          </a:bodyPr>
          <a:lstStyle/>
          <a:p>
            <a:pPr algn="l"/>
            <a:r>
              <a:rPr sz="950" b="0">
                <a:solidFill>
                  <a:srgbClr val="64748B"/>
                </a:solidFill>
                <a:latin typeface="Courier New"/>
              </a:rPr>
              <a:t>#            ^len  ^o  ^k     the NAME travels</a:t>
            </a:r>
          </a:p>
        </p:txBody>
      </p:sp>
      <p:sp>
        <p:nvSpPr>
          <p:cNvPr id="10" name="a1wd225_code9"/>
          <p:cNvSpPr txBox="1"/>
          <p:nvPr/>
        </p:nvSpPr>
        <p:spPr>
          <a:xfrm>
            <a:off x="621792" y="2446020"/>
            <a:ext cx="4745736" cy="214884"/>
          </a:xfrm>
          <a:prstGeom prst="rect">
            <a:avLst/>
          </a:prstGeom>
          <a:noFill/>
        </p:spPr>
        <p:txBody>
          <a:bodyPr wrap="none" lIns="0" tIns="0" rIns="0" bIns="0" anchor="ctr">
            <a:spAutoFit/>
          </a:bodyPr>
          <a:lstStyle/>
          <a:p>
            <a:pPr algn="l"/>
            <a:endParaRPr/>
          </a:p>
        </p:txBody>
      </p:sp>
      <p:sp>
        <p:nvSpPr>
          <p:cNvPr id="11" name="a1wd300_code10"/>
          <p:cNvSpPr txBox="1"/>
          <p:nvPr/>
        </p:nvSpPr>
        <p:spPr>
          <a:xfrm>
            <a:off x="621792" y="2660904"/>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byte_size(:erlang.term_to_binary(</a:t>
            </a:r>
          </a:p>
        </p:txBody>
      </p:sp>
      <p:sp>
        <p:nvSpPr>
          <p:cNvPr id="12" name="a1wd375_code11"/>
          <p:cNvSpPr txBox="1"/>
          <p:nvPr/>
        </p:nvSpPr>
        <p:spPr>
          <a:xfrm>
            <a:off x="621792" y="2875787"/>
            <a:ext cx="4745736" cy="214884"/>
          </a:xfrm>
          <a:prstGeom prst="rect">
            <a:avLst/>
          </a:prstGeom>
          <a:noFill/>
        </p:spPr>
        <p:txBody>
          <a:bodyPr wrap="none" lIns="0" tIns="0" rIns="0" bIns="0" anchor="ctr">
            <a:spAutoFit/>
          </a:bodyPr>
          <a:lstStyle/>
          <a:p>
            <a:pPr algn="l"/>
            <a:r>
              <a:rPr sz="950" b="1">
                <a:solidFill>
                  <a:srgbClr val="C9B3E8"/>
                </a:solidFill>
                <a:latin typeface="Courier New"/>
              </a:rPr>
              <a:t>...    :a_very_long_atom_name_for_the_wire))</a:t>
            </a:r>
          </a:p>
        </p:txBody>
      </p:sp>
      <p:sp>
        <p:nvSpPr>
          <p:cNvPr id="13" name="a1wd450_code12"/>
          <p:cNvSpPr txBox="1"/>
          <p:nvPr/>
        </p:nvSpPr>
        <p:spPr>
          <a:xfrm>
            <a:off x="621792" y="3090672"/>
            <a:ext cx="4745736" cy="214884"/>
          </a:xfrm>
          <a:prstGeom prst="rect">
            <a:avLst/>
          </a:prstGeom>
          <a:noFill/>
        </p:spPr>
        <p:txBody>
          <a:bodyPr wrap="none" lIns="0" tIns="0" rIns="0" bIns="0" anchor="ctr">
            <a:spAutoFit/>
          </a:bodyPr>
          <a:lstStyle/>
          <a:p>
            <a:pPr algn="l"/>
            <a:r>
              <a:rPr sz="950" b="0">
                <a:solidFill>
                  <a:srgbClr val="FCA5A5"/>
                </a:solidFill>
                <a:latin typeface="Courier New"/>
              </a:rPr>
              <a:t>37                            # 37 bytes</a:t>
            </a:r>
          </a:p>
        </p:txBody>
      </p:sp>
      <p:sp>
        <p:nvSpPr>
          <p:cNvPr id="14" name="a1wd525_code13"/>
          <p:cNvSpPr txBox="1"/>
          <p:nvPr/>
        </p:nvSpPr>
        <p:spPr>
          <a:xfrm>
            <a:off x="621792" y="3305556"/>
            <a:ext cx="4745736" cy="214884"/>
          </a:xfrm>
          <a:prstGeom prst="rect">
            <a:avLst/>
          </a:prstGeom>
          <a:noFill/>
        </p:spPr>
        <p:txBody>
          <a:bodyPr wrap="none" lIns="0" tIns="0" rIns="0" bIns="0" anchor="ctr">
            <a:spAutoFit/>
          </a:bodyPr>
          <a:lstStyle/>
          <a:p>
            <a:pPr algn="l"/>
            <a:endParaRPr/>
          </a:p>
        </p:txBody>
      </p:sp>
      <p:sp>
        <p:nvSpPr>
          <p:cNvPr id="15" name="a1wd600_code14"/>
          <p:cNvSpPr txBox="1"/>
          <p:nvPr/>
        </p:nvSpPr>
        <p:spPr>
          <a:xfrm>
            <a:off x="621792" y="3520439"/>
            <a:ext cx="4745736" cy="214884"/>
          </a:xfrm>
          <a:prstGeom prst="rect">
            <a:avLst/>
          </a:prstGeom>
          <a:noFill/>
        </p:spPr>
        <p:txBody>
          <a:bodyPr wrap="none" lIns="0" tIns="0" rIns="0" bIns="0" anchor="ctr">
            <a:spAutoFit/>
          </a:bodyPr>
          <a:lstStyle/>
          <a:p>
            <a:pPr algn="l"/>
            <a:r>
              <a:rPr sz="950" b="1">
                <a:solidFill>
                  <a:srgbClr val="C9B3E8"/>
                </a:solidFill>
                <a:latin typeface="Courier New"/>
              </a:rPr>
              <a:t>iex&gt; byte_size(:erlang.term_to_binary(1))</a:t>
            </a:r>
          </a:p>
        </p:txBody>
      </p:sp>
      <p:sp>
        <p:nvSpPr>
          <p:cNvPr id="16" name="a1wd675_code15"/>
          <p:cNvSpPr txBox="1"/>
          <p:nvPr/>
        </p:nvSpPr>
        <p:spPr>
          <a:xfrm>
            <a:off x="621792" y="3735324"/>
            <a:ext cx="4745736" cy="214884"/>
          </a:xfrm>
          <a:prstGeom prst="rect">
            <a:avLst/>
          </a:prstGeom>
          <a:noFill/>
        </p:spPr>
        <p:txBody>
          <a:bodyPr wrap="none" lIns="0" tIns="0" rIns="0" bIns="0" anchor="ctr">
            <a:spAutoFit/>
          </a:bodyPr>
          <a:lstStyle/>
          <a:p>
            <a:pPr algn="l"/>
            <a:r>
              <a:rPr sz="950" b="0">
                <a:solidFill>
                  <a:srgbClr val="14B8A6"/>
                </a:solidFill>
                <a:latin typeface="Courier New"/>
              </a:rPr>
              <a:t>3</a:t>
            </a:r>
          </a:p>
        </p:txBody>
      </p:sp>
      <p:sp>
        <p:nvSpPr>
          <p:cNvPr id="17" name="a2u_dot16"/>
          <p:cNvSpPr/>
          <p:nvPr/>
        </p:nvSpPr>
        <p:spPr>
          <a:xfrm>
            <a:off x="5669280" y="1499616"/>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2u_b17"/>
          <p:cNvSpPr txBox="1"/>
          <p:nvPr/>
        </p:nvSpPr>
        <p:spPr>
          <a:xfrm>
            <a:off x="5888736" y="1399031"/>
            <a:ext cx="2798063" cy="731519"/>
          </a:xfrm>
          <a:prstGeom prst="rect">
            <a:avLst/>
          </a:prstGeom>
          <a:noFill/>
        </p:spPr>
        <p:txBody>
          <a:bodyPr wrap="square" lIns="0" tIns="0" rIns="0" bIns="0" anchor="t">
            <a:spAutoFit/>
          </a:bodyPr>
          <a:lstStyle/>
          <a:p>
            <a:pPr algn="l"/>
            <a:r>
              <a:rPr sz="1100" b="1">
                <a:solidFill>
                  <a:srgbClr val="0F172A"/>
                </a:solidFill>
                <a:latin typeface="Calibri"/>
              </a:rPr>
              <a:t>flat_size said 0 words  </a:t>
            </a:r>
            <a:r>
              <a:rPr sz="1100" b="0">
                <a:solidFill>
                  <a:srgbClr val="334155"/>
                </a:solidFill>
                <a:latin typeface="Calibri"/>
              </a:rPr>
              <a:t>that is heap cost, and it is still true</a:t>
            </a:r>
          </a:p>
        </p:txBody>
      </p:sp>
      <p:sp>
        <p:nvSpPr>
          <p:cNvPr id="19" name="a2ud180_dot18"/>
          <p:cNvSpPr/>
          <p:nvPr/>
        </p:nvSpPr>
        <p:spPr>
          <a:xfrm>
            <a:off x="5669280" y="2267711"/>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2ud180_b19"/>
          <p:cNvSpPr txBox="1"/>
          <p:nvPr/>
        </p:nvSpPr>
        <p:spPr>
          <a:xfrm>
            <a:off x="5888736" y="2167127"/>
            <a:ext cx="2798063" cy="731519"/>
          </a:xfrm>
          <a:prstGeom prst="rect">
            <a:avLst/>
          </a:prstGeom>
          <a:noFill/>
        </p:spPr>
        <p:txBody>
          <a:bodyPr wrap="square" lIns="0" tIns="0" rIns="0" bIns="0" anchor="t">
            <a:spAutoFit/>
          </a:bodyPr>
          <a:lstStyle/>
          <a:p>
            <a:pPr algn="l"/>
            <a:r>
              <a:rPr sz="1100" b="1">
                <a:solidFill>
                  <a:srgbClr val="0F172A"/>
                </a:solidFill>
                <a:latin typeface="Calibri"/>
              </a:rPr>
              <a:t>term_to_binary says 37 bytes  </a:t>
            </a:r>
            <a:r>
              <a:rPr sz="1100" b="0">
                <a:solidFill>
                  <a:srgbClr val="334155"/>
                </a:solidFill>
                <a:latin typeface="Calibri"/>
              </a:rPr>
              <a:t>external format carries the text of the name</a:t>
            </a:r>
          </a:p>
        </p:txBody>
      </p:sp>
      <p:sp>
        <p:nvSpPr>
          <p:cNvPr id="21" name="a2ud360_dot20"/>
          <p:cNvSpPr/>
          <p:nvPr/>
        </p:nvSpPr>
        <p:spPr>
          <a:xfrm>
            <a:off x="5669280" y="3035807"/>
            <a:ext cx="82296" cy="82296"/>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2ud360_b21"/>
          <p:cNvSpPr txBox="1"/>
          <p:nvPr/>
        </p:nvSpPr>
        <p:spPr>
          <a:xfrm>
            <a:off x="5888736" y="2935223"/>
            <a:ext cx="2798063" cy="731519"/>
          </a:xfrm>
          <a:prstGeom prst="rect">
            <a:avLst/>
          </a:prstGeom>
          <a:noFill/>
        </p:spPr>
        <p:txBody>
          <a:bodyPr wrap="square" lIns="0" tIns="0" rIns="0" bIns="0" anchor="t">
            <a:spAutoFit/>
          </a:bodyPr>
          <a:lstStyle/>
          <a:p>
            <a:pPr algn="l"/>
            <a:r>
              <a:rPr sz="1100" b="1">
                <a:solidFill>
                  <a:srgbClr val="0F172A"/>
                </a:solidFill>
                <a:latin typeface="Calibri"/>
              </a:rPr>
              <a:t>Matters for distribution  </a:t>
            </a:r>
            <a:r>
              <a:rPr sz="1100" b="0">
                <a:solidFill>
                  <a:srgbClr val="334155"/>
                </a:solidFill>
                <a:latin typeface="Calibri"/>
              </a:rPr>
              <a:t>and for anything you cache or persist as a term</a:t>
            </a:r>
          </a:p>
        </p:txBody>
      </p:sp>
      <p:sp>
        <p:nvSpPr>
          <p:cNvPr id="23" name="a3f_nb22"/>
          <p:cNvSpPr/>
          <p:nvPr/>
        </p:nvSpPr>
        <p:spPr>
          <a:xfrm>
            <a:off x="457200" y="4242816"/>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3f_nacc23"/>
          <p:cNvSpPr/>
          <p:nvPr/>
        </p:nvSpPr>
        <p:spPr>
          <a:xfrm>
            <a:off x="457200" y="4242816"/>
            <a:ext cx="50292" cy="42062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3f_nt24"/>
          <p:cNvSpPr txBox="1"/>
          <p:nvPr/>
        </p:nvSpPr>
        <p:spPr>
          <a:xfrm>
            <a:off x="658368" y="4242816"/>
            <a:ext cx="7827264" cy="420624"/>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Not a reason to avoid atoms — a reason not to make message tags 40 characters long.</a:t>
            </a:r>
          </a:p>
        </p:txBody>
      </p:sp>
      <p:sp>
        <p:nvSpPr>
          <p:cNvPr id="26" name="ft25"/>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27" name="ft26"/>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30</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75"/>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15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par>
                                <p:cTn id="20" presetID="22" presetClass="entr" presetSubtype="8" fill="hold" grpId="0" nodeType="withEffect">
                                  <p:stCondLst>
                                    <p:cond delay="225"/>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par>
                                <p:cTn id="23" presetID="22" presetClass="entr" presetSubtype="8" fill="hold" grpId="0" nodeType="withEffect">
                                  <p:stCondLst>
                                    <p:cond delay="3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500"/>
                                        <p:tgtEl>
                                          <p:spTgt spid="11"/>
                                        </p:tgtEl>
                                      </p:cBhvr>
                                    </p:animEffect>
                                  </p:childTnLst>
                                </p:cTn>
                              </p:par>
                              <p:par>
                                <p:cTn id="26" presetID="22" presetClass="entr" presetSubtype="8" fill="hold" grpId="0" nodeType="withEffect">
                                  <p:stCondLst>
                                    <p:cond delay="375"/>
                                  </p:stCondLst>
                                  <p:childTnLst>
                                    <p:set>
                                      <p:cBhvr>
                                        <p:cTn id="27" dur="1" fill="hold">
                                          <p:stCondLst>
                                            <p:cond delay="0"/>
                                          </p:stCondLst>
                                        </p:cTn>
                                        <p:tgtEl>
                                          <p:spTgt spid="12"/>
                                        </p:tgtEl>
                                        <p:attrNameLst>
                                          <p:attrName>style.visibility</p:attrName>
                                        </p:attrNameLst>
                                      </p:cBhvr>
                                      <p:to>
                                        <p:strVal val="visible"/>
                                      </p:to>
                                    </p:set>
                                    <p:animEffect transition="in" filter="wipe(left)">
                                      <p:cBhvr>
                                        <p:cTn id="28" dur="500"/>
                                        <p:tgtEl>
                                          <p:spTgt spid="12"/>
                                        </p:tgtEl>
                                      </p:cBhvr>
                                    </p:animEffect>
                                  </p:childTnLst>
                                </p:cTn>
                              </p:par>
                              <p:par>
                                <p:cTn id="29" presetID="22" presetClass="entr" presetSubtype="8" fill="hold" grpId="0" nodeType="withEffect">
                                  <p:stCondLst>
                                    <p:cond delay="45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500"/>
                                        <p:tgtEl>
                                          <p:spTgt spid="13"/>
                                        </p:tgtEl>
                                      </p:cBhvr>
                                    </p:animEffect>
                                  </p:childTnLst>
                                </p:cTn>
                              </p:par>
                              <p:par>
                                <p:cTn id="32" presetID="22" presetClass="entr" presetSubtype="8" fill="hold" grpId="0" nodeType="withEffect">
                                  <p:stCondLst>
                                    <p:cond delay="525"/>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par>
                                <p:cTn id="35" presetID="22" presetClass="entr" presetSubtype="8" fill="hold" grpId="0" nodeType="withEffect">
                                  <p:stCondLst>
                                    <p:cond delay="60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par>
                                <p:cTn id="38" presetID="22" presetClass="entr" presetSubtype="8" fill="hold" grpId="0" nodeType="withEffect">
                                  <p:stCondLst>
                                    <p:cond delay="675"/>
                                  </p:stCondLst>
                                  <p:childTnLst>
                                    <p:set>
                                      <p:cBhvr>
                                        <p:cTn id="39" dur="1" fill="hold">
                                          <p:stCondLst>
                                            <p:cond delay="0"/>
                                          </p:stCondLst>
                                        </p:cTn>
                                        <p:tgtEl>
                                          <p:spTgt spid="16"/>
                                        </p:tgtEl>
                                        <p:attrNameLst>
                                          <p:attrName>style.visibility</p:attrName>
                                        </p:attrNameLst>
                                      </p:cBhvr>
                                      <p:to>
                                        <p:strVal val="visible"/>
                                      </p:to>
                                    </p:set>
                                    <p:animEffect transition="in" filter="wipe(left)">
                                      <p:cBhvr>
                                        <p:cTn id="40" dur="5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500" fill="hold"/>
                                        <p:tgtEl>
                                          <p:spTgt spid="17"/>
                                        </p:tgtEl>
                                        <p:attrNameLst>
                                          <p:attrName>ppt_x</p:attrName>
                                        </p:attrNameLst>
                                      </p:cBhvr>
                                      <p:tavLst>
                                        <p:tav tm="0">
                                          <p:val>
                                            <p:strVal val="#ppt_x"/>
                                          </p:val>
                                        </p:tav>
                                        <p:tav tm="100000">
                                          <p:val>
                                            <p:strVal val="#ppt_x"/>
                                          </p:val>
                                        </p:tav>
                                      </p:tavLst>
                                    </p:anim>
                                    <p:anim calcmode="lin" valueType="num">
                                      <p:cBhvr additive="base">
                                        <p:cTn id="46" dur="500" fill="hold"/>
                                        <p:tgtEl>
                                          <p:spTgt spid="17"/>
                                        </p:tgtEl>
                                        <p:attrNameLst>
                                          <p:attrName>ppt_y</p:attrName>
                                        </p:attrNameLst>
                                      </p:cBhvr>
                                      <p:tavLst>
                                        <p:tav tm="0">
                                          <p:val>
                                            <p:strVal val="#ppt_y+0.1"/>
                                          </p:val>
                                        </p:tav>
                                        <p:tav tm="100000">
                                          <p:val>
                                            <p:strVal val="#ppt_y"/>
                                          </p:val>
                                        </p:tav>
                                      </p:tavLst>
                                    </p:anim>
                                    <p:animEffect transition="in" filter="fade">
                                      <p:cBhvr>
                                        <p:cTn id="47" dur="500"/>
                                        <p:tgtEl>
                                          <p:spTgt spid="17"/>
                                        </p:tgtEl>
                                      </p:cBhvr>
                                    </p:animEffect>
                                  </p:childTnLst>
                                </p:cTn>
                              </p:par>
                              <p:par>
                                <p:cTn id="48" presetID="2" presetClass="entr" presetSubtype="4"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 calcmode="lin" valueType="num">
                                      <p:cBhvr additive="base">
                                        <p:cTn id="50" dur="500" fill="hold"/>
                                        <p:tgtEl>
                                          <p:spTgt spid="18"/>
                                        </p:tgtEl>
                                        <p:attrNameLst>
                                          <p:attrName>ppt_x</p:attrName>
                                        </p:attrNameLst>
                                      </p:cBhvr>
                                      <p:tavLst>
                                        <p:tav tm="0">
                                          <p:val>
                                            <p:strVal val="#ppt_x"/>
                                          </p:val>
                                        </p:tav>
                                        <p:tav tm="100000">
                                          <p:val>
                                            <p:strVal val="#ppt_x"/>
                                          </p:val>
                                        </p:tav>
                                      </p:tavLst>
                                    </p:anim>
                                    <p:anim calcmode="lin" valueType="num">
                                      <p:cBhvr additive="base">
                                        <p:cTn id="51" dur="500" fill="hold"/>
                                        <p:tgtEl>
                                          <p:spTgt spid="18"/>
                                        </p:tgtEl>
                                        <p:attrNameLst>
                                          <p:attrName>ppt_y</p:attrName>
                                        </p:attrNameLst>
                                      </p:cBhvr>
                                      <p:tavLst>
                                        <p:tav tm="0">
                                          <p:val>
                                            <p:strVal val="#ppt_y+0.1"/>
                                          </p:val>
                                        </p:tav>
                                        <p:tav tm="100000">
                                          <p:val>
                                            <p:strVal val="#ppt_y"/>
                                          </p:val>
                                        </p:tav>
                                      </p:tavLst>
                                    </p:anim>
                                    <p:animEffect transition="in" filter="fade">
                                      <p:cBhvr>
                                        <p:cTn id="52" dur="500"/>
                                        <p:tgtEl>
                                          <p:spTgt spid="18"/>
                                        </p:tgtEl>
                                      </p:cBhvr>
                                    </p:animEffect>
                                  </p:childTnLst>
                                </p:cTn>
                              </p:par>
                              <p:par>
                                <p:cTn id="53" presetID="2" presetClass="entr" presetSubtype="4" fill="hold" grpId="0" nodeType="withEffect">
                                  <p:stCondLst>
                                    <p:cond delay="18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ppt_y+0.1"/>
                                          </p:val>
                                        </p:tav>
                                        <p:tav tm="100000">
                                          <p:val>
                                            <p:strVal val="#ppt_y"/>
                                          </p:val>
                                        </p:tav>
                                      </p:tavLst>
                                    </p:anim>
                                    <p:animEffect transition="in" filter="fade">
                                      <p:cBhvr>
                                        <p:cTn id="57" dur="500"/>
                                        <p:tgtEl>
                                          <p:spTgt spid="19"/>
                                        </p:tgtEl>
                                      </p:cBhvr>
                                    </p:animEffect>
                                  </p:childTnLst>
                                </p:cTn>
                              </p:par>
                              <p:par>
                                <p:cTn id="58" presetID="2" presetClass="entr" presetSubtype="4" fill="hold" grpId="0" nodeType="withEffect">
                                  <p:stCondLst>
                                    <p:cond delay="18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500" fill="hold"/>
                                        <p:tgtEl>
                                          <p:spTgt spid="20"/>
                                        </p:tgtEl>
                                        <p:attrNameLst>
                                          <p:attrName>ppt_x</p:attrName>
                                        </p:attrNameLst>
                                      </p:cBhvr>
                                      <p:tavLst>
                                        <p:tav tm="0">
                                          <p:val>
                                            <p:strVal val="#ppt_x"/>
                                          </p:val>
                                        </p:tav>
                                        <p:tav tm="100000">
                                          <p:val>
                                            <p:strVal val="#ppt_x"/>
                                          </p:val>
                                        </p:tav>
                                      </p:tavLst>
                                    </p:anim>
                                    <p:anim calcmode="lin" valueType="num">
                                      <p:cBhvr additive="base">
                                        <p:cTn id="61" dur="500" fill="hold"/>
                                        <p:tgtEl>
                                          <p:spTgt spid="20"/>
                                        </p:tgtEl>
                                        <p:attrNameLst>
                                          <p:attrName>ppt_y</p:attrName>
                                        </p:attrNameLst>
                                      </p:cBhvr>
                                      <p:tavLst>
                                        <p:tav tm="0">
                                          <p:val>
                                            <p:strVal val="#ppt_y+0.1"/>
                                          </p:val>
                                        </p:tav>
                                        <p:tav tm="100000">
                                          <p:val>
                                            <p:strVal val="#ppt_y"/>
                                          </p:val>
                                        </p:tav>
                                      </p:tavLst>
                                    </p:anim>
                                    <p:animEffect transition="in" filter="fade">
                                      <p:cBhvr>
                                        <p:cTn id="62" dur="500"/>
                                        <p:tgtEl>
                                          <p:spTgt spid="20"/>
                                        </p:tgtEl>
                                      </p:cBhvr>
                                    </p:animEffect>
                                  </p:childTnLst>
                                </p:cTn>
                              </p:par>
                              <p:par>
                                <p:cTn id="63" presetID="2" presetClass="entr" presetSubtype="4" fill="hold" grpId="0" nodeType="withEffect">
                                  <p:stCondLst>
                                    <p:cond delay="36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ppt_y+0.1"/>
                                          </p:val>
                                        </p:tav>
                                        <p:tav tm="100000">
                                          <p:val>
                                            <p:strVal val="#ppt_y"/>
                                          </p:val>
                                        </p:tav>
                                      </p:tavLst>
                                    </p:anim>
                                    <p:animEffect transition="in" filter="fade">
                                      <p:cBhvr>
                                        <p:cTn id="67" dur="500"/>
                                        <p:tgtEl>
                                          <p:spTgt spid="21"/>
                                        </p:tgtEl>
                                      </p:cBhvr>
                                    </p:animEffect>
                                  </p:childTnLst>
                                </p:cTn>
                              </p:par>
                              <p:par>
                                <p:cTn id="68" presetID="2" presetClass="entr" presetSubtype="4" fill="hold" grpId="0" nodeType="withEffect">
                                  <p:stCondLst>
                                    <p:cond delay="360"/>
                                  </p:stCondLst>
                                  <p:childTnLst>
                                    <p:set>
                                      <p:cBhvr>
                                        <p:cTn id="69" dur="1" fill="hold">
                                          <p:stCondLst>
                                            <p:cond delay="0"/>
                                          </p:stCondLst>
                                        </p:cTn>
                                        <p:tgtEl>
                                          <p:spTgt spid="22"/>
                                        </p:tgtEl>
                                        <p:attrNameLst>
                                          <p:attrName>style.visibility</p:attrName>
                                        </p:attrNameLst>
                                      </p:cBhvr>
                                      <p:to>
                                        <p:strVal val="visible"/>
                                      </p:to>
                                    </p:set>
                                    <p:anim calcmode="lin" valueType="num">
                                      <p:cBhvr additive="base">
                                        <p:cTn id="70" dur="500" fill="hold"/>
                                        <p:tgtEl>
                                          <p:spTgt spid="22"/>
                                        </p:tgtEl>
                                        <p:attrNameLst>
                                          <p:attrName>ppt_x</p:attrName>
                                        </p:attrNameLst>
                                      </p:cBhvr>
                                      <p:tavLst>
                                        <p:tav tm="0">
                                          <p:val>
                                            <p:strVal val="#ppt_x"/>
                                          </p:val>
                                        </p:tav>
                                        <p:tav tm="100000">
                                          <p:val>
                                            <p:strVal val="#ppt_x"/>
                                          </p:val>
                                        </p:tav>
                                      </p:tavLst>
                                    </p:anim>
                                    <p:anim calcmode="lin" valueType="num">
                                      <p:cBhvr additive="base">
                                        <p:cTn id="71" dur="500" fill="hold"/>
                                        <p:tgtEl>
                                          <p:spTgt spid="22"/>
                                        </p:tgtEl>
                                        <p:attrNameLst>
                                          <p:attrName>ppt_y</p:attrName>
                                        </p:attrNameLst>
                                      </p:cBhvr>
                                      <p:tavLst>
                                        <p:tav tm="0">
                                          <p:val>
                                            <p:strVal val="#ppt_y+0.1"/>
                                          </p:val>
                                        </p:tav>
                                        <p:tav tm="100000">
                                          <p:val>
                                            <p:strVal val="#ppt_y"/>
                                          </p:val>
                                        </p:tav>
                                      </p:tavLst>
                                    </p:anim>
                                    <p:animEffect transition="in" filter="fade">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fade">
                                      <p:cBhvr>
                                        <p:cTn id="77" dur="500"/>
                                        <p:tgtEl>
                                          <p:spTgt spid="23"/>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500"/>
                                        <p:tgtEl>
                                          <p:spTgt spid="2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fade">
                                      <p:cBhvr>
                                        <p:cTn id="8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REFERENCE</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The whole toolbox</a:t>
            </a:r>
          </a:p>
        </p:txBody>
      </p:sp>
      <p:sp>
        <p:nvSpPr>
          <p:cNvPr id="4" name="sub3"/>
          <p:cNvSpPr txBox="1"/>
          <p:nvPr/>
        </p:nvSpPr>
        <p:spPr>
          <a:xfrm>
            <a:off x="457200" y="932688"/>
            <a:ext cx="8229600" cy="292608"/>
          </a:xfrm>
          <a:prstGeom prst="rect">
            <a:avLst/>
          </a:prstGeom>
          <a:noFill/>
        </p:spPr>
        <p:txBody>
          <a:bodyPr wrap="square" lIns="0" tIns="0" rIns="0" bIns="0" anchor="ctr">
            <a:spAutoFit/>
          </a:bodyPr>
          <a:lstStyle/>
          <a:p>
            <a:pPr algn="l"/>
            <a:r>
              <a:rPr sz="1250" b="0">
                <a:solidFill>
                  <a:srgbClr val="64748B"/>
                </a:solidFill>
                <a:latin typeface="Calibri"/>
              </a:rPr>
              <a:t>The Atom module has three functions. Everything else lives elsewhere.</a:t>
            </a:r>
          </a:p>
        </p:txBody>
      </p:sp>
      <p:sp>
        <p:nvSpPr>
          <p:cNvPr id="5" name="a1f_th4"/>
          <p:cNvSpPr/>
          <p:nvPr/>
        </p:nvSpPr>
        <p:spPr>
          <a:xfrm>
            <a:off x="457200" y="1325880"/>
            <a:ext cx="352044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a1f_tht5"/>
          <p:cNvSpPr txBox="1"/>
          <p:nvPr/>
        </p:nvSpPr>
        <p:spPr>
          <a:xfrm>
            <a:off x="530352" y="1325880"/>
            <a:ext cx="3410712" cy="260603"/>
          </a:xfrm>
          <a:prstGeom prst="rect">
            <a:avLst/>
          </a:prstGeom>
          <a:noFill/>
        </p:spPr>
        <p:txBody>
          <a:bodyPr wrap="square" lIns="0" tIns="0" rIns="0" bIns="0" anchor="ctr">
            <a:spAutoFit/>
          </a:bodyPr>
          <a:lstStyle/>
          <a:p>
            <a:pPr algn="l"/>
            <a:r>
              <a:rPr sz="950" b="1">
                <a:solidFill>
                  <a:srgbClr val="FFFFFF"/>
                </a:solidFill>
                <a:latin typeface="Courier New"/>
              </a:rPr>
              <a:t>Call</a:t>
            </a:r>
          </a:p>
        </p:txBody>
      </p:sp>
      <p:sp>
        <p:nvSpPr>
          <p:cNvPr id="7" name="a1wd72_td6"/>
          <p:cNvSpPr/>
          <p:nvPr/>
        </p:nvSpPr>
        <p:spPr>
          <a:xfrm>
            <a:off x="457200" y="1586484"/>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a1wd72_tdt7"/>
          <p:cNvSpPr txBox="1"/>
          <p:nvPr/>
        </p:nvSpPr>
        <p:spPr>
          <a:xfrm>
            <a:off x="530352" y="1586484"/>
            <a:ext cx="3410712" cy="260603"/>
          </a:xfrm>
          <a:prstGeom prst="rect">
            <a:avLst/>
          </a:prstGeom>
          <a:noFill/>
        </p:spPr>
        <p:txBody>
          <a:bodyPr wrap="square" lIns="0" tIns="0" rIns="0" bIns="0" anchor="ctr">
            <a:spAutoFit/>
          </a:bodyPr>
          <a:lstStyle/>
          <a:p>
            <a:pPr algn="l"/>
            <a:r>
              <a:rPr sz="950" b="0">
                <a:solidFill>
                  <a:srgbClr val="334155"/>
                </a:solidFill>
                <a:latin typeface="Courier New"/>
              </a:rPr>
              <a:t>Atom.to_string/1</a:t>
            </a:r>
          </a:p>
        </p:txBody>
      </p:sp>
      <p:sp>
        <p:nvSpPr>
          <p:cNvPr id="9" name="a1wd144_td8"/>
          <p:cNvSpPr/>
          <p:nvPr/>
        </p:nvSpPr>
        <p:spPr>
          <a:xfrm>
            <a:off x="457200" y="1847088"/>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wd144_tdt9"/>
          <p:cNvSpPr txBox="1"/>
          <p:nvPr/>
        </p:nvSpPr>
        <p:spPr>
          <a:xfrm>
            <a:off x="530352" y="1847088"/>
            <a:ext cx="3410712" cy="260603"/>
          </a:xfrm>
          <a:prstGeom prst="rect">
            <a:avLst/>
          </a:prstGeom>
          <a:noFill/>
        </p:spPr>
        <p:txBody>
          <a:bodyPr wrap="square" lIns="0" tIns="0" rIns="0" bIns="0" anchor="ctr">
            <a:spAutoFit/>
          </a:bodyPr>
          <a:lstStyle/>
          <a:p>
            <a:pPr algn="l"/>
            <a:r>
              <a:rPr sz="950" b="0">
                <a:solidFill>
                  <a:srgbClr val="334155"/>
                </a:solidFill>
                <a:latin typeface="Courier New"/>
              </a:rPr>
              <a:t>Atom.to_charlist/1</a:t>
            </a:r>
          </a:p>
        </p:txBody>
      </p:sp>
      <p:sp>
        <p:nvSpPr>
          <p:cNvPr id="11" name="a1wd216_td10"/>
          <p:cNvSpPr/>
          <p:nvPr/>
        </p:nvSpPr>
        <p:spPr>
          <a:xfrm>
            <a:off x="457200" y="2107691"/>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a1wd216_tdt11"/>
          <p:cNvSpPr txBox="1"/>
          <p:nvPr/>
        </p:nvSpPr>
        <p:spPr>
          <a:xfrm>
            <a:off x="530352" y="2107691"/>
            <a:ext cx="3410712" cy="260603"/>
          </a:xfrm>
          <a:prstGeom prst="rect">
            <a:avLst/>
          </a:prstGeom>
          <a:noFill/>
        </p:spPr>
        <p:txBody>
          <a:bodyPr wrap="square" lIns="0" tIns="0" rIns="0" bIns="0" anchor="ctr">
            <a:spAutoFit/>
          </a:bodyPr>
          <a:lstStyle/>
          <a:p>
            <a:pPr algn="l"/>
            <a:r>
              <a:rPr sz="950" b="0">
                <a:solidFill>
                  <a:srgbClr val="334155"/>
                </a:solidFill>
                <a:latin typeface="Courier New"/>
              </a:rPr>
              <a:t>String.to_atom/1</a:t>
            </a:r>
          </a:p>
        </p:txBody>
      </p:sp>
      <p:sp>
        <p:nvSpPr>
          <p:cNvPr id="13" name="a1wd288_td12"/>
          <p:cNvSpPr/>
          <p:nvPr/>
        </p:nvSpPr>
        <p:spPr>
          <a:xfrm>
            <a:off x="457200" y="2368296"/>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a1wd288_tdt13"/>
          <p:cNvSpPr txBox="1"/>
          <p:nvPr/>
        </p:nvSpPr>
        <p:spPr>
          <a:xfrm>
            <a:off x="530352" y="2368296"/>
            <a:ext cx="3410712" cy="260603"/>
          </a:xfrm>
          <a:prstGeom prst="rect">
            <a:avLst/>
          </a:prstGeom>
          <a:noFill/>
        </p:spPr>
        <p:txBody>
          <a:bodyPr wrap="square" lIns="0" tIns="0" rIns="0" bIns="0" anchor="ctr">
            <a:spAutoFit/>
          </a:bodyPr>
          <a:lstStyle/>
          <a:p>
            <a:pPr algn="l"/>
            <a:r>
              <a:rPr sz="950" b="0">
                <a:solidFill>
                  <a:srgbClr val="334155"/>
                </a:solidFill>
                <a:latin typeface="Courier New"/>
              </a:rPr>
              <a:t>String.to_existing_atom/1</a:t>
            </a:r>
          </a:p>
        </p:txBody>
      </p:sp>
      <p:sp>
        <p:nvSpPr>
          <p:cNvPr id="15" name="a1wd360_td14"/>
          <p:cNvSpPr/>
          <p:nvPr/>
        </p:nvSpPr>
        <p:spPr>
          <a:xfrm>
            <a:off x="457200" y="2628900"/>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wd360_tdt15"/>
          <p:cNvSpPr txBox="1"/>
          <p:nvPr/>
        </p:nvSpPr>
        <p:spPr>
          <a:xfrm>
            <a:off x="530352" y="2628900"/>
            <a:ext cx="3410712" cy="260603"/>
          </a:xfrm>
          <a:prstGeom prst="rect">
            <a:avLst/>
          </a:prstGeom>
          <a:noFill/>
        </p:spPr>
        <p:txBody>
          <a:bodyPr wrap="square" lIns="0" tIns="0" rIns="0" bIns="0" anchor="ctr">
            <a:spAutoFit/>
          </a:bodyPr>
          <a:lstStyle/>
          <a:p>
            <a:pPr algn="l"/>
            <a:r>
              <a:rPr sz="950" b="0">
                <a:solidFill>
                  <a:srgbClr val="334155"/>
                </a:solidFill>
                <a:latin typeface="Courier New"/>
              </a:rPr>
              <a:t>:erlang.binary_to_atom/2</a:t>
            </a:r>
          </a:p>
        </p:txBody>
      </p:sp>
      <p:sp>
        <p:nvSpPr>
          <p:cNvPr id="17" name="a1wd432_td16"/>
          <p:cNvSpPr/>
          <p:nvPr/>
        </p:nvSpPr>
        <p:spPr>
          <a:xfrm>
            <a:off x="457200" y="2889504"/>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a1wd432_tdt17"/>
          <p:cNvSpPr txBox="1"/>
          <p:nvPr/>
        </p:nvSpPr>
        <p:spPr>
          <a:xfrm>
            <a:off x="530352" y="2889504"/>
            <a:ext cx="3410712" cy="260603"/>
          </a:xfrm>
          <a:prstGeom prst="rect">
            <a:avLst/>
          </a:prstGeom>
          <a:noFill/>
        </p:spPr>
        <p:txBody>
          <a:bodyPr wrap="square" lIns="0" tIns="0" rIns="0" bIns="0" anchor="ctr">
            <a:spAutoFit/>
          </a:bodyPr>
          <a:lstStyle/>
          <a:p>
            <a:pPr algn="l"/>
            <a:r>
              <a:rPr sz="950" b="0">
                <a:solidFill>
                  <a:srgbClr val="334155"/>
                </a:solidFill>
                <a:latin typeface="Courier New"/>
              </a:rPr>
              <a:t>:erlang.system_info(:atom_count)</a:t>
            </a:r>
          </a:p>
        </p:txBody>
      </p:sp>
      <p:sp>
        <p:nvSpPr>
          <p:cNvPr id="19" name="a1wd504_td18"/>
          <p:cNvSpPr/>
          <p:nvPr/>
        </p:nvSpPr>
        <p:spPr>
          <a:xfrm>
            <a:off x="457200" y="3150108"/>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a1wd504_tdt19"/>
          <p:cNvSpPr txBox="1"/>
          <p:nvPr/>
        </p:nvSpPr>
        <p:spPr>
          <a:xfrm>
            <a:off x="530352" y="3150108"/>
            <a:ext cx="3410712" cy="260603"/>
          </a:xfrm>
          <a:prstGeom prst="rect">
            <a:avLst/>
          </a:prstGeom>
          <a:noFill/>
        </p:spPr>
        <p:txBody>
          <a:bodyPr wrap="square" lIns="0" tIns="0" rIns="0" bIns="0" anchor="ctr">
            <a:spAutoFit/>
          </a:bodyPr>
          <a:lstStyle/>
          <a:p>
            <a:pPr algn="l"/>
            <a:r>
              <a:rPr sz="950" b="0">
                <a:solidFill>
                  <a:srgbClr val="334155"/>
                </a:solidFill>
                <a:latin typeface="Courier New"/>
              </a:rPr>
              <a:t>:erlang.system_info(:atom_limit)</a:t>
            </a:r>
          </a:p>
        </p:txBody>
      </p:sp>
      <p:sp>
        <p:nvSpPr>
          <p:cNvPr id="21" name="a1wd576_td20"/>
          <p:cNvSpPr/>
          <p:nvPr/>
        </p:nvSpPr>
        <p:spPr>
          <a:xfrm>
            <a:off x="457200" y="3410711"/>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a1wd576_tdt21"/>
          <p:cNvSpPr txBox="1"/>
          <p:nvPr/>
        </p:nvSpPr>
        <p:spPr>
          <a:xfrm>
            <a:off x="530352" y="3410711"/>
            <a:ext cx="3410712" cy="260603"/>
          </a:xfrm>
          <a:prstGeom prst="rect">
            <a:avLst/>
          </a:prstGeom>
          <a:noFill/>
        </p:spPr>
        <p:txBody>
          <a:bodyPr wrap="square" lIns="0" tIns="0" rIns="0" bIns="0" anchor="ctr">
            <a:spAutoFit/>
          </a:bodyPr>
          <a:lstStyle/>
          <a:p>
            <a:pPr algn="l"/>
            <a:r>
              <a:rPr sz="950" b="0">
                <a:solidFill>
                  <a:srgbClr val="334155"/>
                </a:solidFill>
                <a:latin typeface="Courier New"/>
              </a:rPr>
              <a:t>:erlang.memory(:atom_used)</a:t>
            </a:r>
          </a:p>
        </p:txBody>
      </p:sp>
      <p:sp>
        <p:nvSpPr>
          <p:cNvPr id="23" name="a1wd648_td22"/>
          <p:cNvSpPr/>
          <p:nvPr/>
        </p:nvSpPr>
        <p:spPr>
          <a:xfrm>
            <a:off x="457200" y="3671315"/>
            <a:ext cx="35204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a1wd648_tdt23"/>
          <p:cNvSpPr txBox="1"/>
          <p:nvPr/>
        </p:nvSpPr>
        <p:spPr>
          <a:xfrm>
            <a:off x="530352" y="3671315"/>
            <a:ext cx="3410712" cy="260603"/>
          </a:xfrm>
          <a:prstGeom prst="rect">
            <a:avLst/>
          </a:prstGeom>
          <a:noFill/>
        </p:spPr>
        <p:txBody>
          <a:bodyPr wrap="square" lIns="0" tIns="0" rIns="0" bIns="0" anchor="ctr">
            <a:spAutoFit/>
          </a:bodyPr>
          <a:lstStyle/>
          <a:p>
            <a:pPr algn="l"/>
            <a:r>
              <a:rPr sz="950" b="0">
                <a:solidFill>
                  <a:srgbClr val="334155"/>
                </a:solidFill>
                <a:latin typeface="Courier New"/>
              </a:rPr>
              <a:t>is_atom/1</a:t>
            </a:r>
          </a:p>
        </p:txBody>
      </p:sp>
      <p:sp>
        <p:nvSpPr>
          <p:cNvPr id="25" name="a1f_th24"/>
          <p:cNvSpPr/>
          <p:nvPr/>
        </p:nvSpPr>
        <p:spPr>
          <a:xfrm>
            <a:off x="3977639" y="1325880"/>
            <a:ext cx="214884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a1f_tht25"/>
          <p:cNvSpPr txBox="1"/>
          <p:nvPr/>
        </p:nvSpPr>
        <p:spPr>
          <a:xfrm>
            <a:off x="4050791" y="1325880"/>
            <a:ext cx="2039112" cy="260603"/>
          </a:xfrm>
          <a:prstGeom prst="rect">
            <a:avLst/>
          </a:prstGeom>
          <a:noFill/>
        </p:spPr>
        <p:txBody>
          <a:bodyPr wrap="square" lIns="0" tIns="0" rIns="0" bIns="0" anchor="ctr">
            <a:spAutoFit/>
          </a:bodyPr>
          <a:lstStyle/>
          <a:p>
            <a:pPr algn="l"/>
            <a:r>
              <a:rPr sz="950" b="1">
                <a:solidFill>
                  <a:srgbClr val="FFFFFF"/>
                </a:solidFill>
                <a:latin typeface="Calibri"/>
              </a:rPr>
              <a:t>Gives</a:t>
            </a:r>
          </a:p>
        </p:txBody>
      </p:sp>
      <p:sp>
        <p:nvSpPr>
          <p:cNvPr id="27" name="a1wd72_td26"/>
          <p:cNvSpPr/>
          <p:nvPr/>
        </p:nvSpPr>
        <p:spPr>
          <a:xfrm>
            <a:off x="3977639" y="1586484"/>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a1wd72_tdt27"/>
          <p:cNvSpPr txBox="1"/>
          <p:nvPr/>
        </p:nvSpPr>
        <p:spPr>
          <a:xfrm>
            <a:off x="4050791" y="1586484"/>
            <a:ext cx="2039112" cy="260603"/>
          </a:xfrm>
          <a:prstGeom prst="rect">
            <a:avLst/>
          </a:prstGeom>
          <a:noFill/>
        </p:spPr>
        <p:txBody>
          <a:bodyPr wrap="square" lIns="0" tIns="0" rIns="0" bIns="0" anchor="ctr">
            <a:spAutoFit/>
          </a:bodyPr>
          <a:lstStyle/>
          <a:p>
            <a:pPr algn="l"/>
            <a:r>
              <a:rPr sz="950" b="0">
                <a:solidFill>
                  <a:srgbClr val="334155"/>
                </a:solidFill>
                <a:latin typeface="Calibri"/>
              </a:rPr>
              <a:t>a binary</a:t>
            </a:r>
          </a:p>
        </p:txBody>
      </p:sp>
      <p:sp>
        <p:nvSpPr>
          <p:cNvPr id="29" name="a1wd144_td28"/>
          <p:cNvSpPr/>
          <p:nvPr/>
        </p:nvSpPr>
        <p:spPr>
          <a:xfrm>
            <a:off x="3977639" y="1847088"/>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a1wd144_tdt29"/>
          <p:cNvSpPr txBox="1"/>
          <p:nvPr/>
        </p:nvSpPr>
        <p:spPr>
          <a:xfrm>
            <a:off x="4050791" y="1847088"/>
            <a:ext cx="2039112" cy="260603"/>
          </a:xfrm>
          <a:prstGeom prst="rect">
            <a:avLst/>
          </a:prstGeom>
          <a:noFill/>
        </p:spPr>
        <p:txBody>
          <a:bodyPr wrap="square" lIns="0" tIns="0" rIns="0" bIns="0" anchor="ctr">
            <a:spAutoFit/>
          </a:bodyPr>
          <a:lstStyle/>
          <a:p>
            <a:pPr algn="l"/>
            <a:r>
              <a:rPr sz="950" b="0">
                <a:solidFill>
                  <a:srgbClr val="334155"/>
                </a:solidFill>
                <a:latin typeface="Calibri"/>
              </a:rPr>
              <a:t>a charlist</a:t>
            </a:r>
          </a:p>
        </p:txBody>
      </p:sp>
      <p:sp>
        <p:nvSpPr>
          <p:cNvPr id="31" name="a1wd216_td30"/>
          <p:cNvSpPr/>
          <p:nvPr/>
        </p:nvSpPr>
        <p:spPr>
          <a:xfrm>
            <a:off x="3977639" y="2107691"/>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a1wd216_tdt31"/>
          <p:cNvSpPr txBox="1"/>
          <p:nvPr/>
        </p:nvSpPr>
        <p:spPr>
          <a:xfrm>
            <a:off x="4050791" y="2107691"/>
            <a:ext cx="2039112" cy="260603"/>
          </a:xfrm>
          <a:prstGeom prst="rect">
            <a:avLst/>
          </a:prstGeom>
          <a:noFill/>
        </p:spPr>
        <p:txBody>
          <a:bodyPr wrap="square" lIns="0" tIns="0" rIns="0" bIns="0" anchor="ctr">
            <a:spAutoFit/>
          </a:bodyPr>
          <a:lstStyle/>
          <a:p>
            <a:pPr algn="l"/>
            <a:r>
              <a:rPr sz="950" b="0">
                <a:solidFill>
                  <a:srgbClr val="334155"/>
                </a:solidFill>
                <a:latin typeface="Calibri"/>
              </a:rPr>
              <a:t>an atom</a:t>
            </a:r>
          </a:p>
        </p:txBody>
      </p:sp>
      <p:sp>
        <p:nvSpPr>
          <p:cNvPr id="33" name="a1wd288_td32"/>
          <p:cNvSpPr/>
          <p:nvPr/>
        </p:nvSpPr>
        <p:spPr>
          <a:xfrm>
            <a:off x="3977639" y="2368296"/>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a1wd288_tdt33"/>
          <p:cNvSpPr txBox="1"/>
          <p:nvPr/>
        </p:nvSpPr>
        <p:spPr>
          <a:xfrm>
            <a:off x="4050791" y="2368296"/>
            <a:ext cx="2039112" cy="260603"/>
          </a:xfrm>
          <a:prstGeom prst="rect">
            <a:avLst/>
          </a:prstGeom>
          <a:noFill/>
        </p:spPr>
        <p:txBody>
          <a:bodyPr wrap="square" lIns="0" tIns="0" rIns="0" bIns="0" anchor="ctr">
            <a:spAutoFit/>
          </a:bodyPr>
          <a:lstStyle/>
          <a:p>
            <a:pPr algn="l"/>
            <a:r>
              <a:rPr sz="950" b="0">
                <a:solidFill>
                  <a:srgbClr val="334155"/>
                </a:solidFill>
                <a:latin typeface="Calibri"/>
              </a:rPr>
              <a:t>an atom</a:t>
            </a:r>
          </a:p>
        </p:txBody>
      </p:sp>
      <p:sp>
        <p:nvSpPr>
          <p:cNvPr id="35" name="a1wd360_td34"/>
          <p:cNvSpPr/>
          <p:nvPr/>
        </p:nvSpPr>
        <p:spPr>
          <a:xfrm>
            <a:off x="3977639" y="2628900"/>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a1wd360_tdt35"/>
          <p:cNvSpPr txBox="1"/>
          <p:nvPr/>
        </p:nvSpPr>
        <p:spPr>
          <a:xfrm>
            <a:off x="4050791" y="2628900"/>
            <a:ext cx="2039112" cy="260603"/>
          </a:xfrm>
          <a:prstGeom prst="rect">
            <a:avLst/>
          </a:prstGeom>
          <a:noFill/>
        </p:spPr>
        <p:txBody>
          <a:bodyPr wrap="square" lIns="0" tIns="0" rIns="0" bIns="0" anchor="ctr">
            <a:spAutoFit/>
          </a:bodyPr>
          <a:lstStyle/>
          <a:p>
            <a:pPr algn="l"/>
            <a:r>
              <a:rPr sz="950" b="0">
                <a:solidFill>
                  <a:srgbClr val="334155"/>
                </a:solidFill>
                <a:latin typeface="Calibri"/>
              </a:rPr>
              <a:t>an atom</a:t>
            </a:r>
          </a:p>
        </p:txBody>
      </p:sp>
      <p:sp>
        <p:nvSpPr>
          <p:cNvPr id="37" name="a1wd432_td36"/>
          <p:cNvSpPr/>
          <p:nvPr/>
        </p:nvSpPr>
        <p:spPr>
          <a:xfrm>
            <a:off x="3977639" y="2889504"/>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8" name="a1wd432_tdt37"/>
          <p:cNvSpPr txBox="1"/>
          <p:nvPr/>
        </p:nvSpPr>
        <p:spPr>
          <a:xfrm>
            <a:off x="4050791" y="2889504"/>
            <a:ext cx="2039112" cy="260603"/>
          </a:xfrm>
          <a:prstGeom prst="rect">
            <a:avLst/>
          </a:prstGeom>
          <a:noFill/>
        </p:spPr>
        <p:txBody>
          <a:bodyPr wrap="square" lIns="0" tIns="0" rIns="0" bIns="0" anchor="ctr">
            <a:spAutoFit/>
          </a:bodyPr>
          <a:lstStyle/>
          <a:p>
            <a:pPr algn="l"/>
            <a:r>
              <a:rPr sz="950" b="0">
                <a:solidFill>
                  <a:srgbClr val="334155"/>
                </a:solidFill>
                <a:latin typeface="Calibri"/>
              </a:rPr>
              <a:t>an integer</a:t>
            </a:r>
          </a:p>
        </p:txBody>
      </p:sp>
      <p:sp>
        <p:nvSpPr>
          <p:cNvPr id="39" name="a1wd504_td38"/>
          <p:cNvSpPr/>
          <p:nvPr/>
        </p:nvSpPr>
        <p:spPr>
          <a:xfrm>
            <a:off x="3977639" y="3150108"/>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a1wd504_tdt39"/>
          <p:cNvSpPr txBox="1"/>
          <p:nvPr/>
        </p:nvSpPr>
        <p:spPr>
          <a:xfrm>
            <a:off x="4050791" y="3150108"/>
            <a:ext cx="2039112" cy="260603"/>
          </a:xfrm>
          <a:prstGeom prst="rect">
            <a:avLst/>
          </a:prstGeom>
          <a:noFill/>
        </p:spPr>
        <p:txBody>
          <a:bodyPr wrap="square" lIns="0" tIns="0" rIns="0" bIns="0" anchor="ctr">
            <a:spAutoFit/>
          </a:bodyPr>
          <a:lstStyle/>
          <a:p>
            <a:pPr algn="l"/>
            <a:r>
              <a:rPr sz="950" b="0">
                <a:solidFill>
                  <a:srgbClr val="334155"/>
                </a:solidFill>
                <a:latin typeface="Calibri"/>
              </a:rPr>
              <a:t>an integer</a:t>
            </a:r>
          </a:p>
        </p:txBody>
      </p:sp>
      <p:sp>
        <p:nvSpPr>
          <p:cNvPr id="41" name="a1wd576_td40"/>
          <p:cNvSpPr/>
          <p:nvPr/>
        </p:nvSpPr>
        <p:spPr>
          <a:xfrm>
            <a:off x="3977639" y="3410711"/>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a1wd576_tdt41"/>
          <p:cNvSpPr txBox="1"/>
          <p:nvPr/>
        </p:nvSpPr>
        <p:spPr>
          <a:xfrm>
            <a:off x="4050791" y="3410711"/>
            <a:ext cx="2039112" cy="260603"/>
          </a:xfrm>
          <a:prstGeom prst="rect">
            <a:avLst/>
          </a:prstGeom>
          <a:noFill/>
        </p:spPr>
        <p:txBody>
          <a:bodyPr wrap="square" lIns="0" tIns="0" rIns="0" bIns="0" anchor="ctr">
            <a:spAutoFit/>
          </a:bodyPr>
          <a:lstStyle/>
          <a:p>
            <a:pPr algn="l"/>
            <a:r>
              <a:rPr sz="950" b="0">
                <a:solidFill>
                  <a:srgbClr val="334155"/>
                </a:solidFill>
                <a:latin typeface="Calibri"/>
              </a:rPr>
              <a:t>bytes</a:t>
            </a:r>
          </a:p>
        </p:txBody>
      </p:sp>
      <p:sp>
        <p:nvSpPr>
          <p:cNvPr id="43" name="a1wd648_td42"/>
          <p:cNvSpPr/>
          <p:nvPr/>
        </p:nvSpPr>
        <p:spPr>
          <a:xfrm>
            <a:off x="3977639" y="3671315"/>
            <a:ext cx="214884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a1wd648_tdt43"/>
          <p:cNvSpPr txBox="1"/>
          <p:nvPr/>
        </p:nvSpPr>
        <p:spPr>
          <a:xfrm>
            <a:off x="4050791" y="3671315"/>
            <a:ext cx="2039112" cy="260603"/>
          </a:xfrm>
          <a:prstGeom prst="rect">
            <a:avLst/>
          </a:prstGeom>
          <a:noFill/>
        </p:spPr>
        <p:txBody>
          <a:bodyPr wrap="square" lIns="0" tIns="0" rIns="0" bIns="0" anchor="ctr">
            <a:spAutoFit/>
          </a:bodyPr>
          <a:lstStyle/>
          <a:p>
            <a:pPr algn="l"/>
            <a:r>
              <a:rPr sz="950" b="0">
                <a:solidFill>
                  <a:srgbClr val="334155"/>
                </a:solidFill>
                <a:latin typeface="Calibri"/>
              </a:rPr>
              <a:t>a boolean</a:t>
            </a:r>
          </a:p>
        </p:txBody>
      </p:sp>
      <p:sp>
        <p:nvSpPr>
          <p:cNvPr id="45" name="a1f_th44"/>
          <p:cNvSpPr/>
          <p:nvPr/>
        </p:nvSpPr>
        <p:spPr>
          <a:xfrm>
            <a:off x="6126479" y="1325880"/>
            <a:ext cx="2560320" cy="260603"/>
          </a:xfrm>
          <a:prstGeom prst="rect">
            <a:avLst/>
          </a:prstGeom>
          <a:solidFill>
            <a:srgbClr val="4B275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6" name="a1f_tht45"/>
          <p:cNvSpPr txBox="1"/>
          <p:nvPr/>
        </p:nvSpPr>
        <p:spPr>
          <a:xfrm>
            <a:off x="6199631" y="1325880"/>
            <a:ext cx="2450591" cy="260603"/>
          </a:xfrm>
          <a:prstGeom prst="rect">
            <a:avLst/>
          </a:prstGeom>
          <a:noFill/>
        </p:spPr>
        <p:txBody>
          <a:bodyPr wrap="square" lIns="0" tIns="0" rIns="0" bIns="0" anchor="ctr">
            <a:spAutoFit/>
          </a:bodyPr>
          <a:lstStyle/>
          <a:p>
            <a:pPr algn="l"/>
            <a:r>
              <a:rPr sz="950" b="1">
                <a:solidFill>
                  <a:srgbClr val="FFFFFF"/>
                </a:solidFill>
                <a:latin typeface="Calibri"/>
              </a:rPr>
              <a:t>Note</a:t>
            </a:r>
          </a:p>
        </p:txBody>
      </p:sp>
      <p:sp>
        <p:nvSpPr>
          <p:cNvPr id="47" name="a1wd72_td46"/>
          <p:cNvSpPr/>
          <p:nvPr/>
        </p:nvSpPr>
        <p:spPr>
          <a:xfrm>
            <a:off x="6126479" y="1586484"/>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1wd72_tdt47"/>
          <p:cNvSpPr txBox="1"/>
          <p:nvPr/>
        </p:nvSpPr>
        <p:spPr>
          <a:xfrm>
            <a:off x="6199631" y="1586484"/>
            <a:ext cx="2450591" cy="260603"/>
          </a:xfrm>
          <a:prstGeom prst="rect">
            <a:avLst/>
          </a:prstGeom>
          <a:noFill/>
        </p:spPr>
        <p:txBody>
          <a:bodyPr wrap="square" lIns="0" tIns="0" rIns="0" bIns="0" anchor="ctr">
            <a:spAutoFit/>
          </a:bodyPr>
          <a:lstStyle/>
          <a:p>
            <a:pPr algn="l"/>
            <a:r>
              <a:rPr sz="950" b="0">
                <a:solidFill>
                  <a:srgbClr val="334155"/>
                </a:solidFill>
                <a:latin typeface="Calibri"/>
              </a:rPr>
              <a:t>always succeeds</a:t>
            </a:r>
          </a:p>
        </p:txBody>
      </p:sp>
      <p:sp>
        <p:nvSpPr>
          <p:cNvPr id="49" name="a1wd144_td48"/>
          <p:cNvSpPr/>
          <p:nvPr/>
        </p:nvSpPr>
        <p:spPr>
          <a:xfrm>
            <a:off x="6126479" y="1847088"/>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0" name="a1wd144_tdt49"/>
          <p:cNvSpPr txBox="1"/>
          <p:nvPr/>
        </p:nvSpPr>
        <p:spPr>
          <a:xfrm>
            <a:off x="6199631" y="1847088"/>
            <a:ext cx="2450591" cy="260603"/>
          </a:xfrm>
          <a:prstGeom prst="rect">
            <a:avLst/>
          </a:prstGeom>
          <a:noFill/>
        </p:spPr>
        <p:txBody>
          <a:bodyPr wrap="square" lIns="0" tIns="0" rIns="0" bIns="0" anchor="ctr">
            <a:spAutoFit/>
          </a:bodyPr>
          <a:lstStyle/>
          <a:p>
            <a:pPr algn="l"/>
            <a:r>
              <a:rPr sz="950" b="0">
                <a:solidFill>
                  <a:srgbClr val="334155"/>
                </a:solidFill>
                <a:latin typeface="Calibri"/>
              </a:rPr>
              <a:t>for Erlang interop</a:t>
            </a:r>
          </a:p>
        </p:txBody>
      </p:sp>
      <p:sp>
        <p:nvSpPr>
          <p:cNvPr id="51" name="a1wd216_td50"/>
          <p:cNvSpPr/>
          <p:nvPr/>
        </p:nvSpPr>
        <p:spPr>
          <a:xfrm>
            <a:off x="6126479" y="2107691"/>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2" name="a1wd216_tdt51"/>
          <p:cNvSpPr txBox="1"/>
          <p:nvPr/>
        </p:nvSpPr>
        <p:spPr>
          <a:xfrm>
            <a:off x="6199631" y="2107691"/>
            <a:ext cx="2450591" cy="260603"/>
          </a:xfrm>
          <a:prstGeom prst="rect">
            <a:avLst/>
          </a:prstGeom>
          <a:noFill/>
        </p:spPr>
        <p:txBody>
          <a:bodyPr wrap="square" lIns="0" tIns="0" rIns="0" bIns="0" anchor="ctr">
            <a:spAutoFit/>
          </a:bodyPr>
          <a:lstStyle/>
          <a:p>
            <a:pPr algn="l"/>
            <a:r>
              <a:rPr sz="950" b="0">
                <a:solidFill>
                  <a:srgbClr val="334155"/>
                </a:solidFill>
                <a:latin typeface="Calibri"/>
              </a:rPr>
              <a:t>GROWS the table</a:t>
            </a:r>
          </a:p>
        </p:txBody>
      </p:sp>
      <p:sp>
        <p:nvSpPr>
          <p:cNvPr id="53" name="a1wd288_td52"/>
          <p:cNvSpPr/>
          <p:nvPr/>
        </p:nvSpPr>
        <p:spPr>
          <a:xfrm>
            <a:off x="6126479" y="2368296"/>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a1wd288_tdt53"/>
          <p:cNvSpPr txBox="1"/>
          <p:nvPr/>
        </p:nvSpPr>
        <p:spPr>
          <a:xfrm>
            <a:off x="6199631" y="2368296"/>
            <a:ext cx="2450591" cy="260603"/>
          </a:xfrm>
          <a:prstGeom prst="rect">
            <a:avLst/>
          </a:prstGeom>
          <a:noFill/>
        </p:spPr>
        <p:txBody>
          <a:bodyPr wrap="square" lIns="0" tIns="0" rIns="0" bIns="0" anchor="ctr">
            <a:spAutoFit/>
          </a:bodyPr>
          <a:lstStyle/>
          <a:p>
            <a:pPr algn="l"/>
            <a:r>
              <a:rPr sz="950" b="0">
                <a:solidFill>
                  <a:srgbClr val="334155"/>
                </a:solidFill>
                <a:latin typeface="Calibri"/>
              </a:rPr>
              <a:t>raises instead</a:t>
            </a:r>
          </a:p>
        </p:txBody>
      </p:sp>
      <p:sp>
        <p:nvSpPr>
          <p:cNvPr id="55" name="a1wd360_td54"/>
          <p:cNvSpPr/>
          <p:nvPr/>
        </p:nvSpPr>
        <p:spPr>
          <a:xfrm>
            <a:off x="6126479" y="2628900"/>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a1wd360_tdt55"/>
          <p:cNvSpPr txBox="1"/>
          <p:nvPr/>
        </p:nvSpPr>
        <p:spPr>
          <a:xfrm>
            <a:off x="6199631" y="2628900"/>
            <a:ext cx="2450591" cy="260603"/>
          </a:xfrm>
          <a:prstGeom prst="rect">
            <a:avLst/>
          </a:prstGeom>
          <a:noFill/>
        </p:spPr>
        <p:txBody>
          <a:bodyPr wrap="square" lIns="0" tIns="0" rIns="0" bIns="0" anchor="ctr">
            <a:spAutoFit/>
          </a:bodyPr>
          <a:lstStyle/>
          <a:p>
            <a:pPr algn="l"/>
            <a:r>
              <a:rPr sz="950" b="0">
                <a:solidFill>
                  <a:srgbClr val="334155"/>
                </a:solidFill>
                <a:latin typeface="Calibri"/>
              </a:rPr>
              <a:t>takes :utf8</a:t>
            </a:r>
          </a:p>
        </p:txBody>
      </p:sp>
      <p:sp>
        <p:nvSpPr>
          <p:cNvPr id="57" name="a1wd432_td56"/>
          <p:cNvSpPr/>
          <p:nvPr/>
        </p:nvSpPr>
        <p:spPr>
          <a:xfrm>
            <a:off x="6126479" y="2889504"/>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8" name="a1wd432_tdt57"/>
          <p:cNvSpPr txBox="1"/>
          <p:nvPr/>
        </p:nvSpPr>
        <p:spPr>
          <a:xfrm>
            <a:off x="6199631" y="2889504"/>
            <a:ext cx="2450591" cy="260603"/>
          </a:xfrm>
          <a:prstGeom prst="rect">
            <a:avLst/>
          </a:prstGeom>
          <a:noFill/>
        </p:spPr>
        <p:txBody>
          <a:bodyPr wrap="square" lIns="0" tIns="0" rIns="0" bIns="0" anchor="ctr">
            <a:spAutoFit/>
          </a:bodyPr>
          <a:lstStyle/>
          <a:p>
            <a:pPr algn="l"/>
            <a:r>
              <a:rPr sz="950" b="0">
                <a:solidFill>
                  <a:srgbClr val="334155"/>
                </a:solidFill>
                <a:latin typeface="Calibri"/>
              </a:rPr>
              <a:t>monitor this</a:t>
            </a:r>
          </a:p>
        </p:txBody>
      </p:sp>
      <p:sp>
        <p:nvSpPr>
          <p:cNvPr id="59" name="a1wd504_td58"/>
          <p:cNvSpPr/>
          <p:nvPr/>
        </p:nvSpPr>
        <p:spPr>
          <a:xfrm>
            <a:off x="6126479" y="3150108"/>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a1wd504_tdt59"/>
          <p:cNvSpPr txBox="1"/>
          <p:nvPr/>
        </p:nvSpPr>
        <p:spPr>
          <a:xfrm>
            <a:off x="6199631" y="3150108"/>
            <a:ext cx="2450591" cy="260603"/>
          </a:xfrm>
          <a:prstGeom prst="rect">
            <a:avLst/>
          </a:prstGeom>
          <a:noFill/>
        </p:spPr>
        <p:txBody>
          <a:bodyPr wrap="square" lIns="0" tIns="0" rIns="0" bIns="0" anchor="ctr">
            <a:spAutoFit/>
          </a:bodyPr>
          <a:lstStyle/>
          <a:p>
            <a:pPr algn="l"/>
            <a:r>
              <a:rPr sz="950" b="0">
                <a:solidFill>
                  <a:srgbClr val="334155"/>
                </a:solidFill>
                <a:latin typeface="Calibri"/>
              </a:rPr>
              <a:t>1,048,576 by default</a:t>
            </a:r>
          </a:p>
        </p:txBody>
      </p:sp>
      <p:sp>
        <p:nvSpPr>
          <p:cNvPr id="61" name="a1wd576_td60"/>
          <p:cNvSpPr/>
          <p:nvPr/>
        </p:nvSpPr>
        <p:spPr>
          <a:xfrm>
            <a:off x="6126479" y="3410711"/>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2" name="a1wd576_tdt61"/>
          <p:cNvSpPr txBox="1"/>
          <p:nvPr/>
        </p:nvSpPr>
        <p:spPr>
          <a:xfrm>
            <a:off x="6199631" y="3410711"/>
            <a:ext cx="2450591" cy="260603"/>
          </a:xfrm>
          <a:prstGeom prst="rect">
            <a:avLst/>
          </a:prstGeom>
          <a:noFill/>
        </p:spPr>
        <p:txBody>
          <a:bodyPr wrap="square" lIns="0" tIns="0" rIns="0" bIns="0" anchor="ctr">
            <a:spAutoFit/>
          </a:bodyPr>
          <a:lstStyle/>
          <a:p>
            <a:pPr algn="l"/>
            <a:r>
              <a:rPr sz="950" b="0">
                <a:solidFill>
                  <a:srgbClr val="334155"/>
                </a:solidFill>
                <a:latin typeface="Calibri"/>
              </a:rPr>
              <a:t>the names themselves</a:t>
            </a:r>
          </a:p>
        </p:txBody>
      </p:sp>
      <p:sp>
        <p:nvSpPr>
          <p:cNvPr id="63" name="a1wd648_td62"/>
          <p:cNvSpPr/>
          <p:nvPr/>
        </p:nvSpPr>
        <p:spPr>
          <a:xfrm>
            <a:off x="6126479" y="3671315"/>
            <a:ext cx="2560320" cy="260603"/>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4" name="a1wd648_tdt63"/>
          <p:cNvSpPr txBox="1"/>
          <p:nvPr/>
        </p:nvSpPr>
        <p:spPr>
          <a:xfrm>
            <a:off x="6199631" y="3671315"/>
            <a:ext cx="2450591" cy="260603"/>
          </a:xfrm>
          <a:prstGeom prst="rect">
            <a:avLst/>
          </a:prstGeom>
          <a:noFill/>
        </p:spPr>
        <p:txBody>
          <a:bodyPr wrap="square" lIns="0" tIns="0" rIns="0" bIns="0" anchor="ctr">
            <a:spAutoFit/>
          </a:bodyPr>
          <a:lstStyle/>
          <a:p>
            <a:pPr algn="l"/>
            <a:r>
              <a:rPr sz="950" b="0">
                <a:solidFill>
                  <a:srgbClr val="334155"/>
                </a:solidFill>
                <a:latin typeface="Calibri"/>
              </a:rPr>
              <a:t>guard-safe</a:t>
            </a:r>
          </a:p>
        </p:txBody>
      </p:sp>
      <p:sp>
        <p:nvSpPr>
          <p:cNvPr id="65" name="a2f_nb64"/>
          <p:cNvSpPr/>
          <p:nvPr/>
        </p:nvSpPr>
        <p:spPr>
          <a:xfrm>
            <a:off x="457200" y="4023359"/>
            <a:ext cx="8229600" cy="420624"/>
          </a:xfrm>
          <a:prstGeom prst="roundRect">
            <a:avLst>
              <a:gd name="adj" fmla="val 17391"/>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6" name="a2f_nacc65"/>
          <p:cNvSpPr/>
          <p:nvPr/>
        </p:nvSpPr>
        <p:spPr>
          <a:xfrm>
            <a:off x="457200" y="4023359"/>
            <a:ext cx="50292" cy="420624"/>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7" name="a2f_nt66"/>
          <p:cNvSpPr txBox="1"/>
          <p:nvPr/>
        </p:nvSpPr>
        <p:spPr>
          <a:xfrm>
            <a:off x="658368" y="4023359"/>
            <a:ext cx="7827264" cy="420624"/>
          </a:xfrm>
          <a:prstGeom prst="rect">
            <a:avLst/>
          </a:prstGeom>
          <a:noFill/>
        </p:spPr>
        <p:txBody>
          <a:bodyPr wrap="square" lIns="0" tIns="0" rIns="0" bIns="0" anchor="ctr">
            <a:spAutoFit/>
          </a:bodyPr>
          <a:lstStyle/>
          <a:p>
            <a:pPr algn="l"/>
            <a:r>
              <a:rPr sz="1150" b="1">
                <a:solidFill>
                  <a:srgbClr val="0F766E"/>
                </a:solidFill>
                <a:latin typeface="Calibri"/>
              </a:rPr>
              <a:t>✓  </a:t>
            </a:r>
            <a:r>
              <a:rPr sz="1150" b="0">
                <a:solidFill>
                  <a:srgbClr val="334155"/>
                </a:solidFill>
                <a:latin typeface="Calibri"/>
              </a:rPr>
              <a:t>Atom.__info__(:functions) really does return just three entries. The type is small because there is almost nothing to do to a name.</a:t>
            </a:r>
          </a:p>
        </p:txBody>
      </p:sp>
      <p:sp>
        <p:nvSpPr>
          <p:cNvPr id="68" name="ft67"/>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69" name="ft68"/>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31</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500"/>
                                        <p:tgtEl>
                                          <p:spTgt spid="4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fade">
                                      <p:cBhvr>
                                        <p:cTn id="22" dur="500"/>
                                        <p:tgtEl>
                                          <p:spTgt spid="46"/>
                                        </p:tgtEl>
                                      </p:cBhvr>
                                    </p:animEffect>
                                  </p:childTnLst>
                                </p:cTn>
                              </p:par>
                              <p:par>
                                <p:cTn id="23" presetID="22" presetClass="entr" presetSubtype="8" fill="hold" grpId="0" nodeType="withEffect">
                                  <p:stCondLst>
                                    <p:cond delay="72"/>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par>
                                <p:cTn id="26" presetID="22" presetClass="entr" presetSubtype="8" fill="hold" grpId="0" nodeType="withEffect">
                                  <p:stCondLst>
                                    <p:cond delay="72"/>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par>
                                <p:cTn id="29" presetID="22" presetClass="entr" presetSubtype="8" fill="hold" grpId="0" nodeType="withEffect">
                                  <p:stCondLst>
                                    <p:cond delay="72"/>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par>
                                <p:cTn id="32" presetID="22" presetClass="entr" presetSubtype="8" fill="hold" grpId="0" nodeType="withEffect">
                                  <p:stCondLst>
                                    <p:cond delay="72"/>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par>
                                <p:cTn id="35" presetID="22" presetClass="entr" presetSubtype="8" fill="hold" grpId="0" nodeType="withEffect">
                                  <p:stCondLst>
                                    <p:cond delay="72"/>
                                  </p:stCondLst>
                                  <p:childTnLst>
                                    <p:set>
                                      <p:cBhvr>
                                        <p:cTn id="36" dur="1" fill="hold">
                                          <p:stCondLst>
                                            <p:cond delay="0"/>
                                          </p:stCondLst>
                                        </p:cTn>
                                        <p:tgtEl>
                                          <p:spTgt spid="47"/>
                                        </p:tgtEl>
                                        <p:attrNameLst>
                                          <p:attrName>style.visibility</p:attrName>
                                        </p:attrNameLst>
                                      </p:cBhvr>
                                      <p:to>
                                        <p:strVal val="visible"/>
                                      </p:to>
                                    </p:set>
                                    <p:animEffect transition="in" filter="wipe(left)">
                                      <p:cBhvr>
                                        <p:cTn id="37" dur="500"/>
                                        <p:tgtEl>
                                          <p:spTgt spid="47"/>
                                        </p:tgtEl>
                                      </p:cBhvr>
                                    </p:animEffect>
                                  </p:childTnLst>
                                </p:cTn>
                              </p:par>
                              <p:par>
                                <p:cTn id="38" presetID="22" presetClass="entr" presetSubtype="8" fill="hold" grpId="0" nodeType="withEffect">
                                  <p:stCondLst>
                                    <p:cond delay="72"/>
                                  </p:stCondLst>
                                  <p:childTnLst>
                                    <p:set>
                                      <p:cBhvr>
                                        <p:cTn id="39" dur="1" fill="hold">
                                          <p:stCondLst>
                                            <p:cond delay="0"/>
                                          </p:stCondLst>
                                        </p:cTn>
                                        <p:tgtEl>
                                          <p:spTgt spid="48"/>
                                        </p:tgtEl>
                                        <p:attrNameLst>
                                          <p:attrName>style.visibility</p:attrName>
                                        </p:attrNameLst>
                                      </p:cBhvr>
                                      <p:to>
                                        <p:strVal val="visible"/>
                                      </p:to>
                                    </p:set>
                                    <p:animEffect transition="in" filter="wipe(left)">
                                      <p:cBhvr>
                                        <p:cTn id="40" dur="500"/>
                                        <p:tgtEl>
                                          <p:spTgt spid="48"/>
                                        </p:tgtEl>
                                      </p:cBhvr>
                                    </p:animEffect>
                                  </p:childTnLst>
                                </p:cTn>
                              </p:par>
                              <p:par>
                                <p:cTn id="41" presetID="22" presetClass="entr" presetSubtype="8" fill="hold" grpId="0" nodeType="withEffect">
                                  <p:stCondLst>
                                    <p:cond delay="144"/>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par>
                                <p:cTn id="44" presetID="22" presetClass="entr" presetSubtype="8" fill="hold" grpId="0" nodeType="withEffect">
                                  <p:stCondLst>
                                    <p:cond delay="144"/>
                                  </p:stCondLst>
                                  <p:childTnLst>
                                    <p:set>
                                      <p:cBhvr>
                                        <p:cTn id="45" dur="1" fill="hold">
                                          <p:stCondLst>
                                            <p:cond delay="0"/>
                                          </p:stCondLst>
                                        </p:cTn>
                                        <p:tgtEl>
                                          <p:spTgt spid="10"/>
                                        </p:tgtEl>
                                        <p:attrNameLst>
                                          <p:attrName>style.visibility</p:attrName>
                                        </p:attrNameLst>
                                      </p:cBhvr>
                                      <p:to>
                                        <p:strVal val="visible"/>
                                      </p:to>
                                    </p:set>
                                    <p:animEffect transition="in" filter="wipe(left)">
                                      <p:cBhvr>
                                        <p:cTn id="46" dur="500"/>
                                        <p:tgtEl>
                                          <p:spTgt spid="10"/>
                                        </p:tgtEl>
                                      </p:cBhvr>
                                    </p:animEffect>
                                  </p:childTnLst>
                                </p:cTn>
                              </p:par>
                              <p:par>
                                <p:cTn id="47" presetID="22" presetClass="entr" presetSubtype="8" fill="hold" grpId="0" nodeType="withEffect">
                                  <p:stCondLst>
                                    <p:cond delay="144"/>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par>
                                <p:cTn id="50" presetID="22" presetClass="entr" presetSubtype="8" fill="hold" grpId="0" nodeType="withEffect">
                                  <p:stCondLst>
                                    <p:cond delay="144"/>
                                  </p:stCondLst>
                                  <p:childTnLst>
                                    <p:set>
                                      <p:cBhvr>
                                        <p:cTn id="51" dur="1" fill="hold">
                                          <p:stCondLst>
                                            <p:cond delay="0"/>
                                          </p:stCondLst>
                                        </p:cTn>
                                        <p:tgtEl>
                                          <p:spTgt spid="30"/>
                                        </p:tgtEl>
                                        <p:attrNameLst>
                                          <p:attrName>style.visibility</p:attrName>
                                        </p:attrNameLst>
                                      </p:cBhvr>
                                      <p:to>
                                        <p:strVal val="visible"/>
                                      </p:to>
                                    </p:set>
                                    <p:animEffect transition="in" filter="wipe(left)">
                                      <p:cBhvr>
                                        <p:cTn id="52" dur="500"/>
                                        <p:tgtEl>
                                          <p:spTgt spid="30"/>
                                        </p:tgtEl>
                                      </p:cBhvr>
                                    </p:animEffect>
                                  </p:childTnLst>
                                </p:cTn>
                              </p:par>
                              <p:par>
                                <p:cTn id="53" presetID="22" presetClass="entr" presetSubtype="8" fill="hold" grpId="0" nodeType="withEffect">
                                  <p:stCondLst>
                                    <p:cond delay="144"/>
                                  </p:stCondLst>
                                  <p:childTnLst>
                                    <p:set>
                                      <p:cBhvr>
                                        <p:cTn id="54" dur="1" fill="hold">
                                          <p:stCondLst>
                                            <p:cond delay="0"/>
                                          </p:stCondLst>
                                        </p:cTn>
                                        <p:tgtEl>
                                          <p:spTgt spid="49"/>
                                        </p:tgtEl>
                                        <p:attrNameLst>
                                          <p:attrName>style.visibility</p:attrName>
                                        </p:attrNameLst>
                                      </p:cBhvr>
                                      <p:to>
                                        <p:strVal val="visible"/>
                                      </p:to>
                                    </p:set>
                                    <p:animEffect transition="in" filter="wipe(left)">
                                      <p:cBhvr>
                                        <p:cTn id="55" dur="500"/>
                                        <p:tgtEl>
                                          <p:spTgt spid="49"/>
                                        </p:tgtEl>
                                      </p:cBhvr>
                                    </p:animEffect>
                                  </p:childTnLst>
                                </p:cTn>
                              </p:par>
                              <p:par>
                                <p:cTn id="56" presetID="22" presetClass="entr" presetSubtype="8" fill="hold" grpId="0" nodeType="withEffect">
                                  <p:stCondLst>
                                    <p:cond delay="144"/>
                                  </p:stCondLst>
                                  <p:childTnLst>
                                    <p:set>
                                      <p:cBhvr>
                                        <p:cTn id="57" dur="1" fill="hold">
                                          <p:stCondLst>
                                            <p:cond delay="0"/>
                                          </p:stCondLst>
                                        </p:cTn>
                                        <p:tgtEl>
                                          <p:spTgt spid="50"/>
                                        </p:tgtEl>
                                        <p:attrNameLst>
                                          <p:attrName>style.visibility</p:attrName>
                                        </p:attrNameLst>
                                      </p:cBhvr>
                                      <p:to>
                                        <p:strVal val="visible"/>
                                      </p:to>
                                    </p:set>
                                    <p:animEffect transition="in" filter="wipe(left)">
                                      <p:cBhvr>
                                        <p:cTn id="58" dur="500"/>
                                        <p:tgtEl>
                                          <p:spTgt spid="50"/>
                                        </p:tgtEl>
                                      </p:cBhvr>
                                    </p:animEffect>
                                  </p:childTnLst>
                                </p:cTn>
                              </p:par>
                              <p:par>
                                <p:cTn id="59" presetID="22" presetClass="entr" presetSubtype="8" fill="hold" grpId="0" nodeType="withEffect">
                                  <p:stCondLst>
                                    <p:cond delay="216"/>
                                  </p:stCondLst>
                                  <p:childTnLst>
                                    <p:set>
                                      <p:cBhvr>
                                        <p:cTn id="60" dur="1" fill="hold">
                                          <p:stCondLst>
                                            <p:cond delay="0"/>
                                          </p:stCondLst>
                                        </p:cTn>
                                        <p:tgtEl>
                                          <p:spTgt spid="11"/>
                                        </p:tgtEl>
                                        <p:attrNameLst>
                                          <p:attrName>style.visibility</p:attrName>
                                        </p:attrNameLst>
                                      </p:cBhvr>
                                      <p:to>
                                        <p:strVal val="visible"/>
                                      </p:to>
                                    </p:set>
                                    <p:animEffect transition="in" filter="wipe(left)">
                                      <p:cBhvr>
                                        <p:cTn id="61" dur="500"/>
                                        <p:tgtEl>
                                          <p:spTgt spid="11"/>
                                        </p:tgtEl>
                                      </p:cBhvr>
                                    </p:animEffect>
                                  </p:childTnLst>
                                </p:cTn>
                              </p:par>
                              <p:par>
                                <p:cTn id="62" presetID="22" presetClass="entr" presetSubtype="8" fill="hold" grpId="0" nodeType="withEffect">
                                  <p:stCondLst>
                                    <p:cond delay="216"/>
                                  </p:stCondLst>
                                  <p:childTnLst>
                                    <p:set>
                                      <p:cBhvr>
                                        <p:cTn id="63" dur="1" fill="hold">
                                          <p:stCondLst>
                                            <p:cond delay="0"/>
                                          </p:stCondLst>
                                        </p:cTn>
                                        <p:tgtEl>
                                          <p:spTgt spid="12"/>
                                        </p:tgtEl>
                                        <p:attrNameLst>
                                          <p:attrName>style.visibility</p:attrName>
                                        </p:attrNameLst>
                                      </p:cBhvr>
                                      <p:to>
                                        <p:strVal val="visible"/>
                                      </p:to>
                                    </p:set>
                                    <p:animEffect transition="in" filter="wipe(left)">
                                      <p:cBhvr>
                                        <p:cTn id="64" dur="500"/>
                                        <p:tgtEl>
                                          <p:spTgt spid="12"/>
                                        </p:tgtEl>
                                      </p:cBhvr>
                                    </p:animEffect>
                                  </p:childTnLst>
                                </p:cTn>
                              </p:par>
                              <p:par>
                                <p:cTn id="65" presetID="22" presetClass="entr" presetSubtype="8" fill="hold" grpId="0" nodeType="withEffect">
                                  <p:stCondLst>
                                    <p:cond delay="216"/>
                                  </p:stCondLst>
                                  <p:childTnLst>
                                    <p:set>
                                      <p:cBhvr>
                                        <p:cTn id="66" dur="1" fill="hold">
                                          <p:stCondLst>
                                            <p:cond delay="0"/>
                                          </p:stCondLst>
                                        </p:cTn>
                                        <p:tgtEl>
                                          <p:spTgt spid="31"/>
                                        </p:tgtEl>
                                        <p:attrNameLst>
                                          <p:attrName>style.visibility</p:attrName>
                                        </p:attrNameLst>
                                      </p:cBhvr>
                                      <p:to>
                                        <p:strVal val="visible"/>
                                      </p:to>
                                    </p:set>
                                    <p:animEffect transition="in" filter="wipe(left)">
                                      <p:cBhvr>
                                        <p:cTn id="67" dur="500"/>
                                        <p:tgtEl>
                                          <p:spTgt spid="31"/>
                                        </p:tgtEl>
                                      </p:cBhvr>
                                    </p:animEffect>
                                  </p:childTnLst>
                                </p:cTn>
                              </p:par>
                              <p:par>
                                <p:cTn id="68" presetID="22" presetClass="entr" presetSubtype="8" fill="hold" grpId="0" nodeType="withEffect">
                                  <p:stCondLst>
                                    <p:cond delay="216"/>
                                  </p:stCondLst>
                                  <p:childTnLst>
                                    <p:set>
                                      <p:cBhvr>
                                        <p:cTn id="69" dur="1" fill="hold">
                                          <p:stCondLst>
                                            <p:cond delay="0"/>
                                          </p:stCondLst>
                                        </p:cTn>
                                        <p:tgtEl>
                                          <p:spTgt spid="32"/>
                                        </p:tgtEl>
                                        <p:attrNameLst>
                                          <p:attrName>style.visibility</p:attrName>
                                        </p:attrNameLst>
                                      </p:cBhvr>
                                      <p:to>
                                        <p:strVal val="visible"/>
                                      </p:to>
                                    </p:set>
                                    <p:animEffect transition="in" filter="wipe(left)">
                                      <p:cBhvr>
                                        <p:cTn id="70" dur="500"/>
                                        <p:tgtEl>
                                          <p:spTgt spid="32"/>
                                        </p:tgtEl>
                                      </p:cBhvr>
                                    </p:animEffect>
                                  </p:childTnLst>
                                </p:cTn>
                              </p:par>
                              <p:par>
                                <p:cTn id="71" presetID="22" presetClass="entr" presetSubtype="8" fill="hold" grpId="0" nodeType="withEffect">
                                  <p:stCondLst>
                                    <p:cond delay="216"/>
                                  </p:stCondLst>
                                  <p:childTnLst>
                                    <p:set>
                                      <p:cBhvr>
                                        <p:cTn id="72" dur="1" fill="hold">
                                          <p:stCondLst>
                                            <p:cond delay="0"/>
                                          </p:stCondLst>
                                        </p:cTn>
                                        <p:tgtEl>
                                          <p:spTgt spid="51"/>
                                        </p:tgtEl>
                                        <p:attrNameLst>
                                          <p:attrName>style.visibility</p:attrName>
                                        </p:attrNameLst>
                                      </p:cBhvr>
                                      <p:to>
                                        <p:strVal val="visible"/>
                                      </p:to>
                                    </p:set>
                                    <p:animEffect transition="in" filter="wipe(left)">
                                      <p:cBhvr>
                                        <p:cTn id="73" dur="500"/>
                                        <p:tgtEl>
                                          <p:spTgt spid="51"/>
                                        </p:tgtEl>
                                      </p:cBhvr>
                                    </p:animEffect>
                                  </p:childTnLst>
                                </p:cTn>
                              </p:par>
                              <p:par>
                                <p:cTn id="74" presetID="22" presetClass="entr" presetSubtype="8" fill="hold" grpId="0" nodeType="withEffect">
                                  <p:stCondLst>
                                    <p:cond delay="216"/>
                                  </p:stCondLst>
                                  <p:childTnLst>
                                    <p:set>
                                      <p:cBhvr>
                                        <p:cTn id="75" dur="1" fill="hold">
                                          <p:stCondLst>
                                            <p:cond delay="0"/>
                                          </p:stCondLst>
                                        </p:cTn>
                                        <p:tgtEl>
                                          <p:spTgt spid="52"/>
                                        </p:tgtEl>
                                        <p:attrNameLst>
                                          <p:attrName>style.visibility</p:attrName>
                                        </p:attrNameLst>
                                      </p:cBhvr>
                                      <p:to>
                                        <p:strVal val="visible"/>
                                      </p:to>
                                    </p:set>
                                    <p:animEffect transition="in" filter="wipe(left)">
                                      <p:cBhvr>
                                        <p:cTn id="76" dur="500"/>
                                        <p:tgtEl>
                                          <p:spTgt spid="52"/>
                                        </p:tgtEl>
                                      </p:cBhvr>
                                    </p:animEffect>
                                  </p:childTnLst>
                                </p:cTn>
                              </p:par>
                              <p:par>
                                <p:cTn id="77" presetID="22" presetClass="entr" presetSubtype="8" fill="hold" grpId="0" nodeType="withEffect">
                                  <p:stCondLst>
                                    <p:cond delay="288"/>
                                  </p:stCondLst>
                                  <p:childTnLst>
                                    <p:set>
                                      <p:cBhvr>
                                        <p:cTn id="78" dur="1" fill="hold">
                                          <p:stCondLst>
                                            <p:cond delay="0"/>
                                          </p:stCondLst>
                                        </p:cTn>
                                        <p:tgtEl>
                                          <p:spTgt spid="13"/>
                                        </p:tgtEl>
                                        <p:attrNameLst>
                                          <p:attrName>style.visibility</p:attrName>
                                        </p:attrNameLst>
                                      </p:cBhvr>
                                      <p:to>
                                        <p:strVal val="visible"/>
                                      </p:to>
                                    </p:set>
                                    <p:animEffect transition="in" filter="wipe(left)">
                                      <p:cBhvr>
                                        <p:cTn id="79" dur="500"/>
                                        <p:tgtEl>
                                          <p:spTgt spid="13"/>
                                        </p:tgtEl>
                                      </p:cBhvr>
                                    </p:animEffect>
                                  </p:childTnLst>
                                </p:cTn>
                              </p:par>
                              <p:par>
                                <p:cTn id="80" presetID="22" presetClass="entr" presetSubtype="8" fill="hold" grpId="0" nodeType="withEffect">
                                  <p:stCondLst>
                                    <p:cond delay="288"/>
                                  </p:stCondLst>
                                  <p:childTnLst>
                                    <p:set>
                                      <p:cBhvr>
                                        <p:cTn id="81" dur="1" fill="hold">
                                          <p:stCondLst>
                                            <p:cond delay="0"/>
                                          </p:stCondLst>
                                        </p:cTn>
                                        <p:tgtEl>
                                          <p:spTgt spid="14"/>
                                        </p:tgtEl>
                                        <p:attrNameLst>
                                          <p:attrName>style.visibility</p:attrName>
                                        </p:attrNameLst>
                                      </p:cBhvr>
                                      <p:to>
                                        <p:strVal val="visible"/>
                                      </p:to>
                                    </p:set>
                                    <p:animEffect transition="in" filter="wipe(left)">
                                      <p:cBhvr>
                                        <p:cTn id="82" dur="500"/>
                                        <p:tgtEl>
                                          <p:spTgt spid="14"/>
                                        </p:tgtEl>
                                      </p:cBhvr>
                                    </p:animEffect>
                                  </p:childTnLst>
                                </p:cTn>
                              </p:par>
                              <p:par>
                                <p:cTn id="83" presetID="22" presetClass="entr" presetSubtype="8" fill="hold" grpId="0" nodeType="withEffect">
                                  <p:stCondLst>
                                    <p:cond delay="288"/>
                                  </p:stCondLst>
                                  <p:childTnLst>
                                    <p:set>
                                      <p:cBhvr>
                                        <p:cTn id="84" dur="1" fill="hold">
                                          <p:stCondLst>
                                            <p:cond delay="0"/>
                                          </p:stCondLst>
                                        </p:cTn>
                                        <p:tgtEl>
                                          <p:spTgt spid="33"/>
                                        </p:tgtEl>
                                        <p:attrNameLst>
                                          <p:attrName>style.visibility</p:attrName>
                                        </p:attrNameLst>
                                      </p:cBhvr>
                                      <p:to>
                                        <p:strVal val="visible"/>
                                      </p:to>
                                    </p:set>
                                    <p:animEffect transition="in" filter="wipe(left)">
                                      <p:cBhvr>
                                        <p:cTn id="85" dur="500"/>
                                        <p:tgtEl>
                                          <p:spTgt spid="33"/>
                                        </p:tgtEl>
                                      </p:cBhvr>
                                    </p:animEffect>
                                  </p:childTnLst>
                                </p:cTn>
                              </p:par>
                              <p:par>
                                <p:cTn id="86" presetID="22" presetClass="entr" presetSubtype="8" fill="hold" grpId="0" nodeType="withEffect">
                                  <p:stCondLst>
                                    <p:cond delay="288"/>
                                  </p:stCondLst>
                                  <p:childTnLst>
                                    <p:set>
                                      <p:cBhvr>
                                        <p:cTn id="87" dur="1" fill="hold">
                                          <p:stCondLst>
                                            <p:cond delay="0"/>
                                          </p:stCondLst>
                                        </p:cTn>
                                        <p:tgtEl>
                                          <p:spTgt spid="34"/>
                                        </p:tgtEl>
                                        <p:attrNameLst>
                                          <p:attrName>style.visibility</p:attrName>
                                        </p:attrNameLst>
                                      </p:cBhvr>
                                      <p:to>
                                        <p:strVal val="visible"/>
                                      </p:to>
                                    </p:set>
                                    <p:animEffect transition="in" filter="wipe(left)">
                                      <p:cBhvr>
                                        <p:cTn id="88" dur="500"/>
                                        <p:tgtEl>
                                          <p:spTgt spid="34"/>
                                        </p:tgtEl>
                                      </p:cBhvr>
                                    </p:animEffect>
                                  </p:childTnLst>
                                </p:cTn>
                              </p:par>
                              <p:par>
                                <p:cTn id="89" presetID="22" presetClass="entr" presetSubtype="8" fill="hold" grpId="0" nodeType="withEffect">
                                  <p:stCondLst>
                                    <p:cond delay="288"/>
                                  </p:stCondLst>
                                  <p:childTnLst>
                                    <p:set>
                                      <p:cBhvr>
                                        <p:cTn id="90" dur="1" fill="hold">
                                          <p:stCondLst>
                                            <p:cond delay="0"/>
                                          </p:stCondLst>
                                        </p:cTn>
                                        <p:tgtEl>
                                          <p:spTgt spid="53"/>
                                        </p:tgtEl>
                                        <p:attrNameLst>
                                          <p:attrName>style.visibility</p:attrName>
                                        </p:attrNameLst>
                                      </p:cBhvr>
                                      <p:to>
                                        <p:strVal val="visible"/>
                                      </p:to>
                                    </p:set>
                                    <p:animEffect transition="in" filter="wipe(left)">
                                      <p:cBhvr>
                                        <p:cTn id="91" dur="500"/>
                                        <p:tgtEl>
                                          <p:spTgt spid="53"/>
                                        </p:tgtEl>
                                      </p:cBhvr>
                                    </p:animEffect>
                                  </p:childTnLst>
                                </p:cTn>
                              </p:par>
                              <p:par>
                                <p:cTn id="92" presetID="22" presetClass="entr" presetSubtype="8" fill="hold" grpId="0" nodeType="withEffect">
                                  <p:stCondLst>
                                    <p:cond delay="288"/>
                                  </p:stCondLst>
                                  <p:childTnLst>
                                    <p:set>
                                      <p:cBhvr>
                                        <p:cTn id="93" dur="1" fill="hold">
                                          <p:stCondLst>
                                            <p:cond delay="0"/>
                                          </p:stCondLst>
                                        </p:cTn>
                                        <p:tgtEl>
                                          <p:spTgt spid="54"/>
                                        </p:tgtEl>
                                        <p:attrNameLst>
                                          <p:attrName>style.visibility</p:attrName>
                                        </p:attrNameLst>
                                      </p:cBhvr>
                                      <p:to>
                                        <p:strVal val="visible"/>
                                      </p:to>
                                    </p:set>
                                    <p:animEffect transition="in" filter="wipe(left)">
                                      <p:cBhvr>
                                        <p:cTn id="94" dur="500"/>
                                        <p:tgtEl>
                                          <p:spTgt spid="54"/>
                                        </p:tgtEl>
                                      </p:cBhvr>
                                    </p:animEffect>
                                  </p:childTnLst>
                                </p:cTn>
                              </p:par>
                              <p:par>
                                <p:cTn id="95" presetID="22" presetClass="entr" presetSubtype="8" fill="hold" grpId="0" nodeType="withEffect">
                                  <p:stCondLst>
                                    <p:cond delay="360"/>
                                  </p:stCondLst>
                                  <p:childTnLst>
                                    <p:set>
                                      <p:cBhvr>
                                        <p:cTn id="96" dur="1" fill="hold">
                                          <p:stCondLst>
                                            <p:cond delay="0"/>
                                          </p:stCondLst>
                                        </p:cTn>
                                        <p:tgtEl>
                                          <p:spTgt spid="15"/>
                                        </p:tgtEl>
                                        <p:attrNameLst>
                                          <p:attrName>style.visibility</p:attrName>
                                        </p:attrNameLst>
                                      </p:cBhvr>
                                      <p:to>
                                        <p:strVal val="visible"/>
                                      </p:to>
                                    </p:set>
                                    <p:animEffect transition="in" filter="wipe(left)">
                                      <p:cBhvr>
                                        <p:cTn id="97" dur="500"/>
                                        <p:tgtEl>
                                          <p:spTgt spid="15"/>
                                        </p:tgtEl>
                                      </p:cBhvr>
                                    </p:animEffect>
                                  </p:childTnLst>
                                </p:cTn>
                              </p:par>
                              <p:par>
                                <p:cTn id="98" presetID="22" presetClass="entr" presetSubtype="8" fill="hold" grpId="0" nodeType="withEffect">
                                  <p:stCondLst>
                                    <p:cond delay="360"/>
                                  </p:stCondLst>
                                  <p:childTnLst>
                                    <p:set>
                                      <p:cBhvr>
                                        <p:cTn id="99" dur="1" fill="hold">
                                          <p:stCondLst>
                                            <p:cond delay="0"/>
                                          </p:stCondLst>
                                        </p:cTn>
                                        <p:tgtEl>
                                          <p:spTgt spid="16"/>
                                        </p:tgtEl>
                                        <p:attrNameLst>
                                          <p:attrName>style.visibility</p:attrName>
                                        </p:attrNameLst>
                                      </p:cBhvr>
                                      <p:to>
                                        <p:strVal val="visible"/>
                                      </p:to>
                                    </p:set>
                                    <p:animEffect transition="in" filter="wipe(left)">
                                      <p:cBhvr>
                                        <p:cTn id="100" dur="500"/>
                                        <p:tgtEl>
                                          <p:spTgt spid="16"/>
                                        </p:tgtEl>
                                      </p:cBhvr>
                                    </p:animEffect>
                                  </p:childTnLst>
                                </p:cTn>
                              </p:par>
                              <p:par>
                                <p:cTn id="101" presetID="22" presetClass="entr" presetSubtype="8" fill="hold" grpId="0" nodeType="withEffect">
                                  <p:stCondLst>
                                    <p:cond delay="360"/>
                                  </p:stCondLst>
                                  <p:childTnLst>
                                    <p:set>
                                      <p:cBhvr>
                                        <p:cTn id="102" dur="1" fill="hold">
                                          <p:stCondLst>
                                            <p:cond delay="0"/>
                                          </p:stCondLst>
                                        </p:cTn>
                                        <p:tgtEl>
                                          <p:spTgt spid="35"/>
                                        </p:tgtEl>
                                        <p:attrNameLst>
                                          <p:attrName>style.visibility</p:attrName>
                                        </p:attrNameLst>
                                      </p:cBhvr>
                                      <p:to>
                                        <p:strVal val="visible"/>
                                      </p:to>
                                    </p:set>
                                    <p:animEffect transition="in" filter="wipe(left)">
                                      <p:cBhvr>
                                        <p:cTn id="103" dur="500"/>
                                        <p:tgtEl>
                                          <p:spTgt spid="35"/>
                                        </p:tgtEl>
                                      </p:cBhvr>
                                    </p:animEffect>
                                  </p:childTnLst>
                                </p:cTn>
                              </p:par>
                              <p:par>
                                <p:cTn id="104" presetID="22" presetClass="entr" presetSubtype="8" fill="hold" grpId="0" nodeType="withEffect">
                                  <p:stCondLst>
                                    <p:cond delay="360"/>
                                  </p:stCondLst>
                                  <p:childTnLst>
                                    <p:set>
                                      <p:cBhvr>
                                        <p:cTn id="105" dur="1" fill="hold">
                                          <p:stCondLst>
                                            <p:cond delay="0"/>
                                          </p:stCondLst>
                                        </p:cTn>
                                        <p:tgtEl>
                                          <p:spTgt spid="36"/>
                                        </p:tgtEl>
                                        <p:attrNameLst>
                                          <p:attrName>style.visibility</p:attrName>
                                        </p:attrNameLst>
                                      </p:cBhvr>
                                      <p:to>
                                        <p:strVal val="visible"/>
                                      </p:to>
                                    </p:set>
                                    <p:animEffect transition="in" filter="wipe(left)">
                                      <p:cBhvr>
                                        <p:cTn id="106" dur="500"/>
                                        <p:tgtEl>
                                          <p:spTgt spid="36"/>
                                        </p:tgtEl>
                                      </p:cBhvr>
                                    </p:animEffect>
                                  </p:childTnLst>
                                </p:cTn>
                              </p:par>
                              <p:par>
                                <p:cTn id="107" presetID="22" presetClass="entr" presetSubtype="8" fill="hold" grpId="0" nodeType="withEffect">
                                  <p:stCondLst>
                                    <p:cond delay="360"/>
                                  </p:stCondLst>
                                  <p:childTnLst>
                                    <p:set>
                                      <p:cBhvr>
                                        <p:cTn id="108" dur="1" fill="hold">
                                          <p:stCondLst>
                                            <p:cond delay="0"/>
                                          </p:stCondLst>
                                        </p:cTn>
                                        <p:tgtEl>
                                          <p:spTgt spid="55"/>
                                        </p:tgtEl>
                                        <p:attrNameLst>
                                          <p:attrName>style.visibility</p:attrName>
                                        </p:attrNameLst>
                                      </p:cBhvr>
                                      <p:to>
                                        <p:strVal val="visible"/>
                                      </p:to>
                                    </p:set>
                                    <p:animEffect transition="in" filter="wipe(left)">
                                      <p:cBhvr>
                                        <p:cTn id="109" dur="500"/>
                                        <p:tgtEl>
                                          <p:spTgt spid="55"/>
                                        </p:tgtEl>
                                      </p:cBhvr>
                                    </p:animEffect>
                                  </p:childTnLst>
                                </p:cTn>
                              </p:par>
                              <p:par>
                                <p:cTn id="110" presetID="22" presetClass="entr" presetSubtype="8" fill="hold" grpId="0" nodeType="withEffect">
                                  <p:stCondLst>
                                    <p:cond delay="360"/>
                                  </p:stCondLst>
                                  <p:childTnLst>
                                    <p:set>
                                      <p:cBhvr>
                                        <p:cTn id="111" dur="1" fill="hold">
                                          <p:stCondLst>
                                            <p:cond delay="0"/>
                                          </p:stCondLst>
                                        </p:cTn>
                                        <p:tgtEl>
                                          <p:spTgt spid="56"/>
                                        </p:tgtEl>
                                        <p:attrNameLst>
                                          <p:attrName>style.visibility</p:attrName>
                                        </p:attrNameLst>
                                      </p:cBhvr>
                                      <p:to>
                                        <p:strVal val="visible"/>
                                      </p:to>
                                    </p:set>
                                    <p:animEffect transition="in" filter="wipe(left)">
                                      <p:cBhvr>
                                        <p:cTn id="112" dur="500"/>
                                        <p:tgtEl>
                                          <p:spTgt spid="56"/>
                                        </p:tgtEl>
                                      </p:cBhvr>
                                    </p:animEffect>
                                  </p:childTnLst>
                                </p:cTn>
                              </p:par>
                              <p:par>
                                <p:cTn id="113" presetID="22" presetClass="entr" presetSubtype="8" fill="hold" grpId="0" nodeType="withEffect">
                                  <p:stCondLst>
                                    <p:cond delay="432"/>
                                  </p:stCondLst>
                                  <p:childTnLst>
                                    <p:set>
                                      <p:cBhvr>
                                        <p:cTn id="114" dur="1" fill="hold">
                                          <p:stCondLst>
                                            <p:cond delay="0"/>
                                          </p:stCondLst>
                                        </p:cTn>
                                        <p:tgtEl>
                                          <p:spTgt spid="17"/>
                                        </p:tgtEl>
                                        <p:attrNameLst>
                                          <p:attrName>style.visibility</p:attrName>
                                        </p:attrNameLst>
                                      </p:cBhvr>
                                      <p:to>
                                        <p:strVal val="visible"/>
                                      </p:to>
                                    </p:set>
                                    <p:animEffect transition="in" filter="wipe(left)">
                                      <p:cBhvr>
                                        <p:cTn id="115" dur="500"/>
                                        <p:tgtEl>
                                          <p:spTgt spid="17"/>
                                        </p:tgtEl>
                                      </p:cBhvr>
                                    </p:animEffect>
                                  </p:childTnLst>
                                </p:cTn>
                              </p:par>
                              <p:par>
                                <p:cTn id="116" presetID="22" presetClass="entr" presetSubtype="8" fill="hold" grpId="0" nodeType="withEffect">
                                  <p:stCondLst>
                                    <p:cond delay="432"/>
                                  </p:stCondLst>
                                  <p:childTnLst>
                                    <p:set>
                                      <p:cBhvr>
                                        <p:cTn id="117" dur="1" fill="hold">
                                          <p:stCondLst>
                                            <p:cond delay="0"/>
                                          </p:stCondLst>
                                        </p:cTn>
                                        <p:tgtEl>
                                          <p:spTgt spid="18"/>
                                        </p:tgtEl>
                                        <p:attrNameLst>
                                          <p:attrName>style.visibility</p:attrName>
                                        </p:attrNameLst>
                                      </p:cBhvr>
                                      <p:to>
                                        <p:strVal val="visible"/>
                                      </p:to>
                                    </p:set>
                                    <p:animEffect transition="in" filter="wipe(left)">
                                      <p:cBhvr>
                                        <p:cTn id="118" dur="500"/>
                                        <p:tgtEl>
                                          <p:spTgt spid="18"/>
                                        </p:tgtEl>
                                      </p:cBhvr>
                                    </p:animEffect>
                                  </p:childTnLst>
                                </p:cTn>
                              </p:par>
                              <p:par>
                                <p:cTn id="119" presetID="22" presetClass="entr" presetSubtype="8" fill="hold" grpId="0" nodeType="withEffect">
                                  <p:stCondLst>
                                    <p:cond delay="432"/>
                                  </p:stCondLst>
                                  <p:childTnLst>
                                    <p:set>
                                      <p:cBhvr>
                                        <p:cTn id="120" dur="1" fill="hold">
                                          <p:stCondLst>
                                            <p:cond delay="0"/>
                                          </p:stCondLst>
                                        </p:cTn>
                                        <p:tgtEl>
                                          <p:spTgt spid="37"/>
                                        </p:tgtEl>
                                        <p:attrNameLst>
                                          <p:attrName>style.visibility</p:attrName>
                                        </p:attrNameLst>
                                      </p:cBhvr>
                                      <p:to>
                                        <p:strVal val="visible"/>
                                      </p:to>
                                    </p:set>
                                    <p:animEffect transition="in" filter="wipe(left)">
                                      <p:cBhvr>
                                        <p:cTn id="121" dur="500"/>
                                        <p:tgtEl>
                                          <p:spTgt spid="37"/>
                                        </p:tgtEl>
                                      </p:cBhvr>
                                    </p:animEffect>
                                  </p:childTnLst>
                                </p:cTn>
                              </p:par>
                              <p:par>
                                <p:cTn id="122" presetID="22" presetClass="entr" presetSubtype="8" fill="hold" grpId="0" nodeType="withEffect">
                                  <p:stCondLst>
                                    <p:cond delay="432"/>
                                  </p:stCondLst>
                                  <p:childTnLst>
                                    <p:set>
                                      <p:cBhvr>
                                        <p:cTn id="123" dur="1" fill="hold">
                                          <p:stCondLst>
                                            <p:cond delay="0"/>
                                          </p:stCondLst>
                                        </p:cTn>
                                        <p:tgtEl>
                                          <p:spTgt spid="38"/>
                                        </p:tgtEl>
                                        <p:attrNameLst>
                                          <p:attrName>style.visibility</p:attrName>
                                        </p:attrNameLst>
                                      </p:cBhvr>
                                      <p:to>
                                        <p:strVal val="visible"/>
                                      </p:to>
                                    </p:set>
                                    <p:animEffect transition="in" filter="wipe(left)">
                                      <p:cBhvr>
                                        <p:cTn id="124" dur="500"/>
                                        <p:tgtEl>
                                          <p:spTgt spid="38"/>
                                        </p:tgtEl>
                                      </p:cBhvr>
                                    </p:animEffect>
                                  </p:childTnLst>
                                </p:cTn>
                              </p:par>
                              <p:par>
                                <p:cTn id="125" presetID="22" presetClass="entr" presetSubtype="8" fill="hold" grpId="0" nodeType="withEffect">
                                  <p:stCondLst>
                                    <p:cond delay="432"/>
                                  </p:stCondLst>
                                  <p:childTnLst>
                                    <p:set>
                                      <p:cBhvr>
                                        <p:cTn id="126" dur="1" fill="hold">
                                          <p:stCondLst>
                                            <p:cond delay="0"/>
                                          </p:stCondLst>
                                        </p:cTn>
                                        <p:tgtEl>
                                          <p:spTgt spid="57"/>
                                        </p:tgtEl>
                                        <p:attrNameLst>
                                          <p:attrName>style.visibility</p:attrName>
                                        </p:attrNameLst>
                                      </p:cBhvr>
                                      <p:to>
                                        <p:strVal val="visible"/>
                                      </p:to>
                                    </p:set>
                                    <p:animEffect transition="in" filter="wipe(left)">
                                      <p:cBhvr>
                                        <p:cTn id="127" dur="500"/>
                                        <p:tgtEl>
                                          <p:spTgt spid="57"/>
                                        </p:tgtEl>
                                      </p:cBhvr>
                                    </p:animEffect>
                                  </p:childTnLst>
                                </p:cTn>
                              </p:par>
                              <p:par>
                                <p:cTn id="128" presetID="22" presetClass="entr" presetSubtype="8" fill="hold" grpId="0" nodeType="withEffect">
                                  <p:stCondLst>
                                    <p:cond delay="432"/>
                                  </p:stCondLst>
                                  <p:childTnLst>
                                    <p:set>
                                      <p:cBhvr>
                                        <p:cTn id="129" dur="1" fill="hold">
                                          <p:stCondLst>
                                            <p:cond delay="0"/>
                                          </p:stCondLst>
                                        </p:cTn>
                                        <p:tgtEl>
                                          <p:spTgt spid="58"/>
                                        </p:tgtEl>
                                        <p:attrNameLst>
                                          <p:attrName>style.visibility</p:attrName>
                                        </p:attrNameLst>
                                      </p:cBhvr>
                                      <p:to>
                                        <p:strVal val="visible"/>
                                      </p:to>
                                    </p:set>
                                    <p:animEffect transition="in" filter="wipe(left)">
                                      <p:cBhvr>
                                        <p:cTn id="130" dur="500"/>
                                        <p:tgtEl>
                                          <p:spTgt spid="58"/>
                                        </p:tgtEl>
                                      </p:cBhvr>
                                    </p:animEffect>
                                  </p:childTnLst>
                                </p:cTn>
                              </p:par>
                              <p:par>
                                <p:cTn id="131" presetID="22" presetClass="entr" presetSubtype="8" fill="hold" grpId="0" nodeType="withEffect">
                                  <p:stCondLst>
                                    <p:cond delay="504"/>
                                  </p:stCondLst>
                                  <p:childTnLst>
                                    <p:set>
                                      <p:cBhvr>
                                        <p:cTn id="132" dur="1" fill="hold">
                                          <p:stCondLst>
                                            <p:cond delay="0"/>
                                          </p:stCondLst>
                                        </p:cTn>
                                        <p:tgtEl>
                                          <p:spTgt spid="19"/>
                                        </p:tgtEl>
                                        <p:attrNameLst>
                                          <p:attrName>style.visibility</p:attrName>
                                        </p:attrNameLst>
                                      </p:cBhvr>
                                      <p:to>
                                        <p:strVal val="visible"/>
                                      </p:to>
                                    </p:set>
                                    <p:animEffect transition="in" filter="wipe(left)">
                                      <p:cBhvr>
                                        <p:cTn id="133" dur="500"/>
                                        <p:tgtEl>
                                          <p:spTgt spid="19"/>
                                        </p:tgtEl>
                                      </p:cBhvr>
                                    </p:animEffect>
                                  </p:childTnLst>
                                </p:cTn>
                              </p:par>
                              <p:par>
                                <p:cTn id="134" presetID="22" presetClass="entr" presetSubtype="8" fill="hold" grpId="0" nodeType="withEffect">
                                  <p:stCondLst>
                                    <p:cond delay="504"/>
                                  </p:stCondLst>
                                  <p:childTnLst>
                                    <p:set>
                                      <p:cBhvr>
                                        <p:cTn id="135" dur="1" fill="hold">
                                          <p:stCondLst>
                                            <p:cond delay="0"/>
                                          </p:stCondLst>
                                        </p:cTn>
                                        <p:tgtEl>
                                          <p:spTgt spid="20"/>
                                        </p:tgtEl>
                                        <p:attrNameLst>
                                          <p:attrName>style.visibility</p:attrName>
                                        </p:attrNameLst>
                                      </p:cBhvr>
                                      <p:to>
                                        <p:strVal val="visible"/>
                                      </p:to>
                                    </p:set>
                                    <p:animEffect transition="in" filter="wipe(left)">
                                      <p:cBhvr>
                                        <p:cTn id="136" dur="500"/>
                                        <p:tgtEl>
                                          <p:spTgt spid="20"/>
                                        </p:tgtEl>
                                      </p:cBhvr>
                                    </p:animEffect>
                                  </p:childTnLst>
                                </p:cTn>
                              </p:par>
                              <p:par>
                                <p:cTn id="137" presetID="22" presetClass="entr" presetSubtype="8" fill="hold" grpId="0" nodeType="withEffect">
                                  <p:stCondLst>
                                    <p:cond delay="504"/>
                                  </p:stCondLst>
                                  <p:childTnLst>
                                    <p:set>
                                      <p:cBhvr>
                                        <p:cTn id="138" dur="1" fill="hold">
                                          <p:stCondLst>
                                            <p:cond delay="0"/>
                                          </p:stCondLst>
                                        </p:cTn>
                                        <p:tgtEl>
                                          <p:spTgt spid="39"/>
                                        </p:tgtEl>
                                        <p:attrNameLst>
                                          <p:attrName>style.visibility</p:attrName>
                                        </p:attrNameLst>
                                      </p:cBhvr>
                                      <p:to>
                                        <p:strVal val="visible"/>
                                      </p:to>
                                    </p:set>
                                    <p:animEffect transition="in" filter="wipe(left)">
                                      <p:cBhvr>
                                        <p:cTn id="139" dur="500"/>
                                        <p:tgtEl>
                                          <p:spTgt spid="39"/>
                                        </p:tgtEl>
                                      </p:cBhvr>
                                    </p:animEffect>
                                  </p:childTnLst>
                                </p:cTn>
                              </p:par>
                              <p:par>
                                <p:cTn id="140" presetID="22" presetClass="entr" presetSubtype="8" fill="hold" grpId="0" nodeType="withEffect">
                                  <p:stCondLst>
                                    <p:cond delay="504"/>
                                  </p:stCondLst>
                                  <p:childTnLst>
                                    <p:set>
                                      <p:cBhvr>
                                        <p:cTn id="141" dur="1" fill="hold">
                                          <p:stCondLst>
                                            <p:cond delay="0"/>
                                          </p:stCondLst>
                                        </p:cTn>
                                        <p:tgtEl>
                                          <p:spTgt spid="40"/>
                                        </p:tgtEl>
                                        <p:attrNameLst>
                                          <p:attrName>style.visibility</p:attrName>
                                        </p:attrNameLst>
                                      </p:cBhvr>
                                      <p:to>
                                        <p:strVal val="visible"/>
                                      </p:to>
                                    </p:set>
                                    <p:animEffect transition="in" filter="wipe(left)">
                                      <p:cBhvr>
                                        <p:cTn id="142" dur="500"/>
                                        <p:tgtEl>
                                          <p:spTgt spid="40"/>
                                        </p:tgtEl>
                                      </p:cBhvr>
                                    </p:animEffect>
                                  </p:childTnLst>
                                </p:cTn>
                              </p:par>
                              <p:par>
                                <p:cTn id="143" presetID="22" presetClass="entr" presetSubtype="8" fill="hold" grpId="0" nodeType="withEffect">
                                  <p:stCondLst>
                                    <p:cond delay="504"/>
                                  </p:stCondLst>
                                  <p:childTnLst>
                                    <p:set>
                                      <p:cBhvr>
                                        <p:cTn id="144" dur="1" fill="hold">
                                          <p:stCondLst>
                                            <p:cond delay="0"/>
                                          </p:stCondLst>
                                        </p:cTn>
                                        <p:tgtEl>
                                          <p:spTgt spid="59"/>
                                        </p:tgtEl>
                                        <p:attrNameLst>
                                          <p:attrName>style.visibility</p:attrName>
                                        </p:attrNameLst>
                                      </p:cBhvr>
                                      <p:to>
                                        <p:strVal val="visible"/>
                                      </p:to>
                                    </p:set>
                                    <p:animEffect transition="in" filter="wipe(left)">
                                      <p:cBhvr>
                                        <p:cTn id="145" dur="500"/>
                                        <p:tgtEl>
                                          <p:spTgt spid="59"/>
                                        </p:tgtEl>
                                      </p:cBhvr>
                                    </p:animEffect>
                                  </p:childTnLst>
                                </p:cTn>
                              </p:par>
                              <p:par>
                                <p:cTn id="146" presetID="22" presetClass="entr" presetSubtype="8" fill="hold" grpId="0" nodeType="withEffect">
                                  <p:stCondLst>
                                    <p:cond delay="504"/>
                                  </p:stCondLst>
                                  <p:childTnLst>
                                    <p:set>
                                      <p:cBhvr>
                                        <p:cTn id="147" dur="1" fill="hold">
                                          <p:stCondLst>
                                            <p:cond delay="0"/>
                                          </p:stCondLst>
                                        </p:cTn>
                                        <p:tgtEl>
                                          <p:spTgt spid="60"/>
                                        </p:tgtEl>
                                        <p:attrNameLst>
                                          <p:attrName>style.visibility</p:attrName>
                                        </p:attrNameLst>
                                      </p:cBhvr>
                                      <p:to>
                                        <p:strVal val="visible"/>
                                      </p:to>
                                    </p:set>
                                    <p:animEffect transition="in" filter="wipe(left)">
                                      <p:cBhvr>
                                        <p:cTn id="148" dur="500"/>
                                        <p:tgtEl>
                                          <p:spTgt spid="60"/>
                                        </p:tgtEl>
                                      </p:cBhvr>
                                    </p:animEffect>
                                  </p:childTnLst>
                                </p:cTn>
                              </p:par>
                              <p:par>
                                <p:cTn id="149" presetID="22" presetClass="entr" presetSubtype="8" fill="hold" grpId="0" nodeType="withEffect">
                                  <p:stCondLst>
                                    <p:cond delay="576"/>
                                  </p:stCondLst>
                                  <p:childTnLst>
                                    <p:set>
                                      <p:cBhvr>
                                        <p:cTn id="150" dur="1" fill="hold">
                                          <p:stCondLst>
                                            <p:cond delay="0"/>
                                          </p:stCondLst>
                                        </p:cTn>
                                        <p:tgtEl>
                                          <p:spTgt spid="21"/>
                                        </p:tgtEl>
                                        <p:attrNameLst>
                                          <p:attrName>style.visibility</p:attrName>
                                        </p:attrNameLst>
                                      </p:cBhvr>
                                      <p:to>
                                        <p:strVal val="visible"/>
                                      </p:to>
                                    </p:set>
                                    <p:animEffect transition="in" filter="wipe(left)">
                                      <p:cBhvr>
                                        <p:cTn id="151" dur="500"/>
                                        <p:tgtEl>
                                          <p:spTgt spid="21"/>
                                        </p:tgtEl>
                                      </p:cBhvr>
                                    </p:animEffect>
                                  </p:childTnLst>
                                </p:cTn>
                              </p:par>
                              <p:par>
                                <p:cTn id="152" presetID="22" presetClass="entr" presetSubtype="8" fill="hold" grpId="0" nodeType="withEffect">
                                  <p:stCondLst>
                                    <p:cond delay="576"/>
                                  </p:stCondLst>
                                  <p:childTnLst>
                                    <p:set>
                                      <p:cBhvr>
                                        <p:cTn id="153" dur="1" fill="hold">
                                          <p:stCondLst>
                                            <p:cond delay="0"/>
                                          </p:stCondLst>
                                        </p:cTn>
                                        <p:tgtEl>
                                          <p:spTgt spid="22"/>
                                        </p:tgtEl>
                                        <p:attrNameLst>
                                          <p:attrName>style.visibility</p:attrName>
                                        </p:attrNameLst>
                                      </p:cBhvr>
                                      <p:to>
                                        <p:strVal val="visible"/>
                                      </p:to>
                                    </p:set>
                                    <p:animEffect transition="in" filter="wipe(left)">
                                      <p:cBhvr>
                                        <p:cTn id="154" dur="500"/>
                                        <p:tgtEl>
                                          <p:spTgt spid="22"/>
                                        </p:tgtEl>
                                      </p:cBhvr>
                                    </p:animEffect>
                                  </p:childTnLst>
                                </p:cTn>
                              </p:par>
                              <p:par>
                                <p:cTn id="155" presetID="22" presetClass="entr" presetSubtype="8" fill="hold" grpId="0" nodeType="withEffect">
                                  <p:stCondLst>
                                    <p:cond delay="576"/>
                                  </p:stCondLst>
                                  <p:childTnLst>
                                    <p:set>
                                      <p:cBhvr>
                                        <p:cTn id="156" dur="1" fill="hold">
                                          <p:stCondLst>
                                            <p:cond delay="0"/>
                                          </p:stCondLst>
                                        </p:cTn>
                                        <p:tgtEl>
                                          <p:spTgt spid="41"/>
                                        </p:tgtEl>
                                        <p:attrNameLst>
                                          <p:attrName>style.visibility</p:attrName>
                                        </p:attrNameLst>
                                      </p:cBhvr>
                                      <p:to>
                                        <p:strVal val="visible"/>
                                      </p:to>
                                    </p:set>
                                    <p:animEffect transition="in" filter="wipe(left)">
                                      <p:cBhvr>
                                        <p:cTn id="157" dur="500"/>
                                        <p:tgtEl>
                                          <p:spTgt spid="41"/>
                                        </p:tgtEl>
                                      </p:cBhvr>
                                    </p:animEffect>
                                  </p:childTnLst>
                                </p:cTn>
                              </p:par>
                              <p:par>
                                <p:cTn id="158" presetID="22" presetClass="entr" presetSubtype="8" fill="hold" grpId="0" nodeType="withEffect">
                                  <p:stCondLst>
                                    <p:cond delay="576"/>
                                  </p:stCondLst>
                                  <p:childTnLst>
                                    <p:set>
                                      <p:cBhvr>
                                        <p:cTn id="159" dur="1" fill="hold">
                                          <p:stCondLst>
                                            <p:cond delay="0"/>
                                          </p:stCondLst>
                                        </p:cTn>
                                        <p:tgtEl>
                                          <p:spTgt spid="42"/>
                                        </p:tgtEl>
                                        <p:attrNameLst>
                                          <p:attrName>style.visibility</p:attrName>
                                        </p:attrNameLst>
                                      </p:cBhvr>
                                      <p:to>
                                        <p:strVal val="visible"/>
                                      </p:to>
                                    </p:set>
                                    <p:animEffect transition="in" filter="wipe(left)">
                                      <p:cBhvr>
                                        <p:cTn id="160" dur="500"/>
                                        <p:tgtEl>
                                          <p:spTgt spid="42"/>
                                        </p:tgtEl>
                                      </p:cBhvr>
                                    </p:animEffect>
                                  </p:childTnLst>
                                </p:cTn>
                              </p:par>
                              <p:par>
                                <p:cTn id="161" presetID="22" presetClass="entr" presetSubtype="8" fill="hold" grpId="0" nodeType="withEffect">
                                  <p:stCondLst>
                                    <p:cond delay="576"/>
                                  </p:stCondLst>
                                  <p:childTnLst>
                                    <p:set>
                                      <p:cBhvr>
                                        <p:cTn id="162" dur="1" fill="hold">
                                          <p:stCondLst>
                                            <p:cond delay="0"/>
                                          </p:stCondLst>
                                        </p:cTn>
                                        <p:tgtEl>
                                          <p:spTgt spid="61"/>
                                        </p:tgtEl>
                                        <p:attrNameLst>
                                          <p:attrName>style.visibility</p:attrName>
                                        </p:attrNameLst>
                                      </p:cBhvr>
                                      <p:to>
                                        <p:strVal val="visible"/>
                                      </p:to>
                                    </p:set>
                                    <p:animEffect transition="in" filter="wipe(left)">
                                      <p:cBhvr>
                                        <p:cTn id="163" dur="500"/>
                                        <p:tgtEl>
                                          <p:spTgt spid="61"/>
                                        </p:tgtEl>
                                      </p:cBhvr>
                                    </p:animEffect>
                                  </p:childTnLst>
                                </p:cTn>
                              </p:par>
                              <p:par>
                                <p:cTn id="164" presetID="22" presetClass="entr" presetSubtype="8" fill="hold" grpId="0" nodeType="withEffect">
                                  <p:stCondLst>
                                    <p:cond delay="576"/>
                                  </p:stCondLst>
                                  <p:childTnLst>
                                    <p:set>
                                      <p:cBhvr>
                                        <p:cTn id="165" dur="1" fill="hold">
                                          <p:stCondLst>
                                            <p:cond delay="0"/>
                                          </p:stCondLst>
                                        </p:cTn>
                                        <p:tgtEl>
                                          <p:spTgt spid="62"/>
                                        </p:tgtEl>
                                        <p:attrNameLst>
                                          <p:attrName>style.visibility</p:attrName>
                                        </p:attrNameLst>
                                      </p:cBhvr>
                                      <p:to>
                                        <p:strVal val="visible"/>
                                      </p:to>
                                    </p:set>
                                    <p:animEffect transition="in" filter="wipe(left)">
                                      <p:cBhvr>
                                        <p:cTn id="166" dur="500"/>
                                        <p:tgtEl>
                                          <p:spTgt spid="62"/>
                                        </p:tgtEl>
                                      </p:cBhvr>
                                    </p:animEffect>
                                  </p:childTnLst>
                                </p:cTn>
                              </p:par>
                              <p:par>
                                <p:cTn id="167" presetID="22" presetClass="entr" presetSubtype="8" fill="hold" grpId="0" nodeType="withEffect">
                                  <p:stCondLst>
                                    <p:cond delay="648"/>
                                  </p:stCondLst>
                                  <p:childTnLst>
                                    <p:set>
                                      <p:cBhvr>
                                        <p:cTn id="168" dur="1" fill="hold">
                                          <p:stCondLst>
                                            <p:cond delay="0"/>
                                          </p:stCondLst>
                                        </p:cTn>
                                        <p:tgtEl>
                                          <p:spTgt spid="23"/>
                                        </p:tgtEl>
                                        <p:attrNameLst>
                                          <p:attrName>style.visibility</p:attrName>
                                        </p:attrNameLst>
                                      </p:cBhvr>
                                      <p:to>
                                        <p:strVal val="visible"/>
                                      </p:to>
                                    </p:set>
                                    <p:animEffect transition="in" filter="wipe(left)">
                                      <p:cBhvr>
                                        <p:cTn id="169" dur="500"/>
                                        <p:tgtEl>
                                          <p:spTgt spid="23"/>
                                        </p:tgtEl>
                                      </p:cBhvr>
                                    </p:animEffect>
                                  </p:childTnLst>
                                </p:cTn>
                              </p:par>
                              <p:par>
                                <p:cTn id="170" presetID="22" presetClass="entr" presetSubtype="8" fill="hold" grpId="0" nodeType="withEffect">
                                  <p:stCondLst>
                                    <p:cond delay="648"/>
                                  </p:stCondLst>
                                  <p:childTnLst>
                                    <p:set>
                                      <p:cBhvr>
                                        <p:cTn id="171" dur="1" fill="hold">
                                          <p:stCondLst>
                                            <p:cond delay="0"/>
                                          </p:stCondLst>
                                        </p:cTn>
                                        <p:tgtEl>
                                          <p:spTgt spid="24"/>
                                        </p:tgtEl>
                                        <p:attrNameLst>
                                          <p:attrName>style.visibility</p:attrName>
                                        </p:attrNameLst>
                                      </p:cBhvr>
                                      <p:to>
                                        <p:strVal val="visible"/>
                                      </p:to>
                                    </p:set>
                                    <p:animEffect transition="in" filter="wipe(left)">
                                      <p:cBhvr>
                                        <p:cTn id="172" dur="500"/>
                                        <p:tgtEl>
                                          <p:spTgt spid="24"/>
                                        </p:tgtEl>
                                      </p:cBhvr>
                                    </p:animEffect>
                                  </p:childTnLst>
                                </p:cTn>
                              </p:par>
                              <p:par>
                                <p:cTn id="173" presetID="22" presetClass="entr" presetSubtype="8" fill="hold" grpId="0" nodeType="withEffect">
                                  <p:stCondLst>
                                    <p:cond delay="648"/>
                                  </p:stCondLst>
                                  <p:childTnLst>
                                    <p:set>
                                      <p:cBhvr>
                                        <p:cTn id="174" dur="1" fill="hold">
                                          <p:stCondLst>
                                            <p:cond delay="0"/>
                                          </p:stCondLst>
                                        </p:cTn>
                                        <p:tgtEl>
                                          <p:spTgt spid="43"/>
                                        </p:tgtEl>
                                        <p:attrNameLst>
                                          <p:attrName>style.visibility</p:attrName>
                                        </p:attrNameLst>
                                      </p:cBhvr>
                                      <p:to>
                                        <p:strVal val="visible"/>
                                      </p:to>
                                    </p:set>
                                    <p:animEffect transition="in" filter="wipe(left)">
                                      <p:cBhvr>
                                        <p:cTn id="175" dur="500"/>
                                        <p:tgtEl>
                                          <p:spTgt spid="43"/>
                                        </p:tgtEl>
                                      </p:cBhvr>
                                    </p:animEffect>
                                  </p:childTnLst>
                                </p:cTn>
                              </p:par>
                              <p:par>
                                <p:cTn id="176" presetID="22" presetClass="entr" presetSubtype="8" fill="hold" grpId="0" nodeType="withEffect">
                                  <p:stCondLst>
                                    <p:cond delay="648"/>
                                  </p:stCondLst>
                                  <p:childTnLst>
                                    <p:set>
                                      <p:cBhvr>
                                        <p:cTn id="177" dur="1" fill="hold">
                                          <p:stCondLst>
                                            <p:cond delay="0"/>
                                          </p:stCondLst>
                                        </p:cTn>
                                        <p:tgtEl>
                                          <p:spTgt spid="44"/>
                                        </p:tgtEl>
                                        <p:attrNameLst>
                                          <p:attrName>style.visibility</p:attrName>
                                        </p:attrNameLst>
                                      </p:cBhvr>
                                      <p:to>
                                        <p:strVal val="visible"/>
                                      </p:to>
                                    </p:set>
                                    <p:animEffect transition="in" filter="wipe(left)">
                                      <p:cBhvr>
                                        <p:cTn id="178" dur="500"/>
                                        <p:tgtEl>
                                          <p:spTgt spid="44"/>
                                        </p:tgtEl>
                                      </p:cBhvr>
                                    </p:animEffect>
                                  </p:childTnLst>
                                </p:cTn>
                              </p:par>
                              <p:par>
                                <p:cTn id="179" presetID="22" presetClass="entr" presetSubtype="8" fill="hold" grpId="0" nodeType="withEffect">
                                  <p:stCondLst>
                                    <p:cond delay="648"/>
                                  </p:stCondLst>
                                  <p:childTnLst>
                                    <p:set>
                                      <p:cBhvr>
                                        <p:cTn id="180" dur="1" fill="hold">
                                          <p:stCondLst>
                                            <p:cond delay="0"/>
                                          </p:stCondLst>
                                        </p:cTn>
                                        <p:tgtEl>
                                          <p:spTgt spid="63"/>
                                        </p:tgtEl>
                                        <p:attrNameLst>
                                          <p:attrName>style.visibility</p:attrName>
                                        </p:attrNameLst>
                                      </p:cBhvr>
                                      <p:to>
                                        <p:strVal val="visible"/>
                                      </p:to>
                                    </p:set>
                                    <p:animEffect transition="in" filter="wipe(left)">
                                      <p:cBhvr>
                                        <p:cTn id="181" dur="500"/>
                                        <p:tgtEl>
                                          <p:spTgt spid="63"/>
                                        </p:tgtEl>
                                      </p:cBhvr>
                                    </p:animEffect>
                                  </p:childTnLst>
                                </p:cTn>
                              </p:par>
                              <p:par>
                                <p:cTn id="182" presetID="22" presetClass="entr" presetSubtype="8" fill="hold" grpId="0" nodeType="withEffect">
                                  <p:stCondLst>
                                    <p:cond delay="648"/>
                                  </p:stCondLst>
                                  <p:childTnLst>
                                    <p:set>
                                      <p:cBhvr>
                                        <p:cTn id="183" dur="1" fill="hold">
                                          <p:stCondLst>
                                            <p:cond delay="0"/>
                                          </p:stCondLst>
                                        </p:cTn>
                                        <p:tgtEl>
                                          <p:spTgt spid="64"/>
                                        </p:tgtEl>
                                        <p:attrNameLst>
                                          <p:attrName>style.visibility</p:attrName>
                                        </p:attrNameLst>
                                      </p:cBhvr>
                                      <p:to>
                                        <p:strVal val="visible"/>
                                      </p:to>
                                    </p:set>
                                    <p:animEffect transition="in" filter="wipe(left)">
                                      <p:cBhvr>
                                        <p:cTn id="184" dur="500"/>
                                        <p:tgtEl>
                                          <p:spTgt spid="64"/>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ntr" presetSubtype="0" fill="hold" grpId="0" nodeType="clickEffect">
                                  <p:stCondLst>
                                    <p:cond delay="0"/>
                                  </p:stCondLst>
                                  <p:childTnLst>
                                    <p:set>
                                      <p:cBhvr>
                                        <p:cTn id="188" dur="1" fill="hold">
                                          <p:stCondLst>
                                            <p:cond delay="0"/>
                                          </p:stCondLst>
                                        </p:cTn>
                                        <p:tgtEl>
                                          <p:spTgt spid="65"/>
                                        </p:tgtEl>
                                        <p:attrNameLst>
                                          <p:attrName>style.visibility</p:attrName>
                                        </p:attrNameLst>
                                      </p:cBhvr>
                                      <p:to>
                                        <p:strVal val="visible"/>
                                      </p:to>
                                    </p:set>
                                    <p:animEffect transition="in" filter="fade">
                                      <p:cBhvr>
                                        <p:cTn id="189" dur="500"/>
                                        <p:tgtEl>
                                          <p:spTgt spid="65"/>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6"/>
                                        </p:tgtEl>
                                        <p:attrNameLst>
                                          <p:attrName>style.visibility</p:attrName>
                                        </p:attrNameLst>
                                      </p:cBhvr>
                                      <p:to>
                                        <p:strVal val="visible"/>
                                      </p:to>
                                    </p:set>
                                    <p:animEffect transition="in" filter="fade">
                                      <p:cBhvr>
                                        <p:cTn id="192" dur="500"/>
                                        <p:tgtEl>
                                          <p:spTgt spid="66"/>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7"/>
                                        </p:tgtEl>
                                        <p:attrNameLst>
                                          <p:attrName>style.visibility</p:attrName>
                                        </p:attrNameLst>
                                      </p:cBhvr>
                                      <p:to>
                                        <p:strVal val="visible"/>
                                      </p:to>
                                    </p:set>
                                    <p:animEffect transition="in" filter="fade">
                                      <p:cBhvr>
                                        <p:cTn id="195"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k1"/>
          <p:cNvSpPr txBox="1"/>
          <p:nvPr/>
        </p:nvSpPr>
        <p:spPr>
          <a:xfrm>
            <a:off x="457200" y="182880"/>
            <a:ext cx="8229600" cy="237744"/>
          </a:xfrm>
          <a:prstGeom prst="rect">
            <a:avLst/>
          </a:prstGeom>
          <a:noFill/>
        </p:spPr>
        <p:txBody>
          <a:bodyPr wrap="square" lIns="0" tIns="0" rIns="0" bIns="0" anchor="ctr">
            <a:spAutoFit/>
          </a:bodyPr>
          <a:lstStyle/>
          <a:p>
            <a:pPr algn="l"/>
            <a:r>
              <a:rPr sz="950" b="1" spc="260">
                <a:solidFill>
                  <a:srgbClr val="4B275F"/>
                </a:solidFill>
                <a:latin typeface="Calibri"/>
              </a:rPr>
              <a:t>COMMON MISTAKES</a:t>
            </a:r>
          </a:p>
        </p:txBody>
      </p:sp>
      <p:sp>
        <p:nvSpPr>
          <p:cNvPr id="3" name="h2"/>
          <p:cNvSpPr txBox="1"/>
          <p:nvPr/>
        </p:nvSpPr>
        <p:spPr>
          <a:xfrm>
            <a:off x="457200" y="420624"/>
            <a:ext cx="8229600" cy="502920"/>
          </a:xfrm>
          <a:prstGeom prst="rect">
            <a:avLst/>
          </a:prstGeom>
          <a:noFill/>
        </p:spPr>
        <p:txBody>
          <a:bodyPr wrap="square" lIns="0" tIns="0" rIns="0" bIns="0" anchor="ctr">
            <a:spAutoFit/>
          </a:bodyPr>
          <a:lstStyle/>
          <a:p>
            <a:pPr algn="l"/>
            <a:r>
              <a:rPr sz="2700" b="1">
                <a:solidFill>
                  <a:srgbClr val="0F172A"/>
                </a:solidFill>
                <a:latin typeface="Calibri"/>
              </a:rPr>
              <a:t>What goes wrong, and what it looks like</a:t>
            </a:r>
          </a:p>
        </p:txBody>
      </p:sp>
      <p:sp>
        <p:nvSpPr>
          <p:cNvPr id="4" name="a1f_th3"/>
          <p:cNvSpPr/>
          <p:nvPr/>
        </p:nvSpPr>
        <p:spPr>
          <a:xfrm>
            <a:off x="457200" y="1097280"/>
            <a:ext cx="3246120" cy="361188"/>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a1f_tht4"/>
          <p:cNvSpPr txBox="1"/>
          <p:nvPr/>
        </p:nvSpPr>
        <p:spPr>
          <a:xfrm>
            <a:off x="530352" y="1097280"/>
            <a:ext cx="3136391" cy="361188"/>
          </a:xfrm>
          <a:prstGeom prst="rect">
            <a:avLst/>
          </a:prstGeom>
          <a:noFill/>
        </p:spPr>
        <p:txBody>
          <a:bodyPr wrap="square" lIns="0" tIns="0" rIns="0" bIns="0" anchor="ctr">
            <a:spAutoFit/>
          </a:bodyPr>
          <a:lstStyle/>
          <a:p>
            <a:pPr algn="l"/>
            <a:r>
              <a:rPr sz="1050" b="1">
                <a:solidFill>
                  <a:srgbClr val="FFFFFF"/>
                </a:solidFill>
                <a:latin typeface="Courier New"/>
              </a:rPr>
              <a:t>You wrote</a:t>
            </a:r>
          </a:p>
        </p:txBody>
      </p:sp>
      <p:sp>
        <p:nvSpPr>
          <p:cNvPr id="6" name="a1wd95_td5"/>
          <p:cNvSpPr/>
          <p:nvPr/>
        </p:nvSpPr>
        <p:spPr>
          <a:xfrm>
            <a:off x="457200" y="1458468"/>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a1wd95_tdt6"/>
          <p:cNvSpPr txBox="1"/>
          <p:nvPr/>
        </p:nvSpPr>
        <p:spPr>
          <a:xfrm>
            <a:off x="530352" y="1458468"/>
            <a:ext cx="3136391" cy="361188"/>
          </a:xfrm>
          <a:prstGeom prst="rect">
            <a:avLst/>
          </a:prstGeom>
          <a:noFill/>
        </p:spPr>
        <p:txBody>
          <a:bodyPr wrap="square" lIns="0" tIns="0" rIns="0" bIns="0" anchor="ctr">
            <a:spAutoFit/>
          </a:bodyPr>
          <a:lstStyle/>
          <a:p>
            <a:pPr algn="l"/>
            <a:r>
              <a:rPr sz="1050" b="0">
                <a:solidFill>
                  <a:srgbClr val="334155"/>
                </a:solidFill>
                <a:latin typeface="Courier New"/>
              </a:rPr>
              <a:t>%{"name" =&gt; v} then u.name</a:t>
            </a:r>
          </a:p>
        </p:txBody>
      </p:sp>
      <p:sp>
        <p:nvSpPr>
          <p:cNvPr id="8" name="a1wd190_td7"/>
          <p:cNvSpPr/>
          <p:nvPr/>
        </p:nvSpPr>
        <p:spPr>
          <a:xfrm>
            <a:off x="457200" y="1819656"/>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a1wd190_tdt8"/>
          <p:cNvSpPr txBox="1"/>
          <p:nvPr/>
        </p:nvSpPr>
        <p:spPr>
          <a:xfrm>
            <a:off x="530352" y="1819656"/>
            <a:ext cx="3136391" cy="361188"/>
          </a:xfrm>
          <a:prstGeom prst="rect">
            <a:avLst/>
          </a:prstGeom>
          <a:noFill/>
        </p:spPr>
        <p:txBody>
          <a:bodyPr wrap="square" lIns="0" tIns="0" rIns="0" bIns="0" anchor="ctr">
            <a:spAutoFit/>
          </a:bodyPr>
          <a:lstStyle/>
          <a:p>
            <a:pPr algn="l"/>
            <a:r>
              <a:rPr sz="1050" b="0">
                <a:solidFill>
                  <a:srgbClr val="334155"/>
                </a:solidFill>
                <a:latin typeface="Courier New"/>
              </a:rPr>
              <a:t>String.to_atom(params[..])</a:t>
            </a:r>
          </a:p>
        </p:txBody>
      </p:sp>
      <p:sp>
        <p:nvSpPr>
          <p:cNvPr id="10" name="a1wd285_td9"/>
          <p:cNvSpPr/>
          <p:nvPr/>
        </p:nvSpPr>
        <p:spPr>
          <a:xfrm>
            <a:off x="457200" y="2180844"/>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a1wd285_tdt10"/>
          <p:cNvSpPr txBox="1"/>
          <p:nvPr/>
        </p:nvSpPr>
        <p:spPr>
          <a:xfrm>
            <a:off x="530352" y="2180844"/>
            <a:ext cx="3136391" cy="361188"/>
          </a:xfrm>
          <a:prstGeom prst="rect">
            <a:avLst/>
          </a:prstGeom>
          <a:noFill/>
        </p:spPr>
        <p:txBody>
          <a:bodyPr wrap="square" lIns="0" tIns="0" rIns="0" bIns="0" anchor="ctr">
            <a:spAutoFit/>
          </a:bodyPr>
          <a:lstStyle/>
          <a:p>
            <a:pPr algn="l"/>
            <a:r>
              <a:rPr sz="1050" b="0">
                <a:solidFill>
                  <a:srgbClr val="334155"/>
                </a:solidFill>
                <a:latin typeface="Courier New"/>
              </a:rPr>
              <a:t>a 256-character atom</a:t>
            </a:r>
          </a:p>
        </p:txBody>
      </p:sp>
      <p:sp>
        <p:nvSpPr>
          <p:cNvPr id="12" name="a1wd380_td11"/>
          <p:cNvSpPr/>
          <p:nvPr/>
        </p:nvSpPr>
        <p:spPr>
          <a:xfrm>
            <a:off x="457200" y="2542032"/>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1wd380_tdt12"/>
          <p:cNvSpPr txBox="1"/>
          <p:nvPr/>
        </p:nvSpPr>
        <p:spPr>
          <a:xfrm>
            <a:off x="530352" y="2542032"/>
            <a:ext cx="3136391" cy="361188"/>
          </a:xfrm>
          <a:prstGeom prst="rect">
            <a:avLst/>
          </a:prstGeom>
          <a:noFill/>
        </p:spPr>
        <p:txBody>
          <a:bodyPr wrap="square" lIns="0" tIns="0" rIns="0" bIns="0" anchor="ctr">
            <a:spAutoFit/>
          </a:bodyPr>
          <a:lstStyle/>
          <a:p>
            <a:pPr algn="l"/>
            <a:r>
              <a:rPr sz="1050" b="0">
                <a:solidFill>
                  <a:srgbClr val="334155"/>
                </a:solidFill>
                <a:latin typeface="Courier New"/>
              </a:rPr>
              <a:t>to_existing_atom too early</a:t>
            </a:r>
          </a:p>
        </p:txBody>
      </p:sp>
      <p:sp>
        <p:nvSpPr>
          <p:cNvPr id="14" name="a1wd475_td13"/>
          <p:cNvSpPr/>
          <p:nvPr/>
        </p:nvSpPr>
        <p:spPr>
          <a:xfrm>
            <a:off x="457200" y="2903220"/>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a1wd475_tdt14"/>
          <p:cNvSpPr txBox="1"/>
          <p:nvPr/>
        </p:nvSpPr>
        <p:spPr>
          <a:xfrm>
            <a:off x="530352" y="2903220"/>
            <a:ext cx="3136391" cy="361188"/>
          </a:xfrm>
          <a:prstGeom prst="rect">
            <a:avLst/>
          </a:prstGeom>
          <a:noFill/>
        </p:spPr>
        <p:txBody>
          <a:bodyPr wrap="square" lIns="0" tIns="0" rIns="0" bIns="0" anchor="ctr">
            <a:spAutoFit/>
          </a:bodyPr>
          <a:lstStyle/>
          <a:p>
            <a:pPr algn="l"/>
            <a:r>
              <a:rPr sz="1050" b="0">
                <a:solidFill>
                  <a:srgbClr val="334155"/>
                </a:solidFill>
                <a:latin typeface="Courier New"/>
              </a:rPr>
              <a:t>comparing :ok with "ok"</a:t>
            </a:r>
          </a:p>
        </p:txBody>
      </p:sp>
      <p:sp>
        <p:nvSpPr>
          <p:cNvPr id="16" name="a1wd570_td15"/>
          <p:cNvSpPr/>
          <p:nvPr/>
        </p:nvSpPr>
        <p:spPr>
          <a:xfrm>
            <a:off x="457200" y="3264408"/>
            <a:ext cx="324612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a1wd570_tdt16"/>
          <p:cNvSpPr txBox="1"/>
          <p:nvPr/>
        </p:nvSpPr>
        <p:spPr>
          <a:xfrm>
            <a:off x="530352" y="3264408"/>
            <a:ext cx="3136391" cy="361188"/>
          </a:xfrm>
          <a:prstGeom prst="rect">
            <a:avLst/>
          </a:prstGeom>
          <a:noFill/>
        </p:spPr>
        <p:txBody>
          <a:bodyPr wrap="square" lIns="0" tIns="0" rIns="0" bIns="0" anchor="ctr">
            <a:spAutoFit/>
          </a:bodyPr>
          <a:lstStyle/>
          <a:p>
            <a:pPr algn="l"/>
            <a:r>
              <a:rPr sz="1050" b="0">
                <a:solidFill>
                  <a:srgbClr val="334155"/>
                </a:solidFill>
                <a:latin typeface="Courier New"/>
              </a:rPr>
              <a:t>Keyword.get on string keys</a:t>
            </a:r>
          </a:p>
        </p:txBody>
      </p:sp>
      <p:sp>
        <p:nvSpPr>
          <p:cNvPr id="18" name="a1f_th17"/>
          <p:cNvSpPr/>
          <p:nvPr/>
        </p:nvSpPr>
        <p:spPr>
          <a:xfrm>
            <a:off x="3703320" y="1097280"/>
            <a:ext cx="2606040" cy="361188"/>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1f_tht18"/>
          <p:cNvSpPr txBox="1"/>
          <p:nvPr/>
        </p:nvSpPr>
        <p:spPr>
          <a:xfrm>
            <a:off x="3776472" y="1097280"/>
            <a:ext cx="2496312" cy="361188"/>
          </a:xfrm>
          <a:prstGeom prst="rect">
            <a:avLst/>
          </a:prstGeom>
          <a:noFill/>
        </p:spPr>
        <p:txBody>
          <a:bodyPr wrap="square" lIns="0" tIns="0" rIns="0" bIns="0" anchor="ctr">
            <a:spAutoFit/>
          </a:bodyPr>
          <a:lstStyle/>
          <a:p>
            <a:pPr algn="l"/>
            <a:r>
              <a:rPr sz="1050" b="1">
                <a:solidFill>
                  <a:srgbClr val="FFFFFF"/>
                </a:solidFill>
                <a:latin typeface="Courier New"/>
              </a:rPr>
              <a:t>You get</a:t>
            </a:r>
          </a:p>
        </p:txBody>
      </p:sp>
      <p:sp>
        <p:nvSpPr>
          <p:cNvPr id="20" name="a1wd95_td19"/>
          <p:cNvSpPr/>
          <p:nvPr/>
        </p:nvSpPr>
        <p:spPr>
          <a:xfrm>
            <a:off x="3703320" y="1458468"/>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a1wd95_tdt20"/>
          <p:cNvSpPr txBox="1"/>
          <p:nvPr/>
        </p:nvSpPr>
        <p:spPr>
          <a:xfrm>
            <a:off x="3776472" y="1458468"/>
            <a:ext cx="2496312" cy="361188"/>
          </a:xfrm>
          <a:prstGeom prst="rect">
            <a:avLst/>
          </a:prstGeom>
          <a:noFill/>
        </p:spPr>
        <p:txBody>
          <a:bodyPr wrap="square" lIns="0" tIns="0" rIns="0" bIns="0" anchor="ctr">
            <a:spAutoFit/>
          </a:bodyPr>
          <a:lstStyle/>
          <a:p>
            <a:pPr algn="l"/>
            <a:r>
              <a:rPr sz="1050" b="0">
                <a:solidFill>
                  <a:srgbClr val="334155"/>
                </a:solidFill>
                <a:latin typeface="Courier New"/>
              </a:rPr>
              <a:t>KeyError</a:t>
            </a:r>
          </a:p>
        </p:txBody>
      </p:sp>
      <p:sp>
        <p:nvSpPr>
          <p:cNvPr id="22" name="a1wd190_td21"/>
          <p:cNvSpPr/>
          <p:nvPr/>
        </p:nvSpPr>
        <p:spPr>
          <a:xfrm>
            <a:off x="3703320" y="1819656"/>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a1wd190_tdt22"/>
          <p:cNvSpPr txBox="1"/>
          <p:nvPr/>
        </p:nvSpPr>
        <p:spPr>
          <a:xfrm>
            <a:off x="3776472" y="1819656"/>
            <a:ext cx="2496312" cy="361188"/>
          </a:xfrm>
          <a:prstGeom prst="rect">
            <a:avLst/>
          </a:prstGeom>
          <a:noFill/>
        </p:spPr>
        <p:txBody>
          <a:bodyPr wrap="square" lIns="0" tIns="0" rIns="0" bIns="0" anchor="ctr">
            <a:spAutoFit/>
          </a:bodyPr>
          <a:lstStyle/>
          <a:p>
            <a:pPr algn="l"/>
            <a:r>
              <a:rPr sz="1050" b="0">
                <a:solidFill>
                  <a:srgbClr val="334155"/>
                </a:solidFill>
                <a:latin typeface="Courier New"/>
              </a:rPr>
              <a:t>a node that dies later</a:t>
            </a:r>
          </a:p>
        </p:txBody>
      </p:sp>
      <p:sp>
        <p:nvSpPr>
          <p:cNvPr id="24" name="a1wd285_td23"/>
          <p:cNvSpPr/>
          <p:nvPr/>
        </p:nvSpPr>
        <p:spPr>
          <a:xfrm>
            <a:off x="3703320" y="2180844"/>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a1wd285_tdt24"/>
          <p:cNvSpPr txBox="1"/>
          <p:nvPr/>
        </p:nvSpPr>
        <p:spPr>
          <a:xfrm>
            <a:off x="3776472" y="2180844"/>
            <a:ext cx="2496312" cy="361188"/>
          </a:xfrm>
          <a:prstGeom prst="rect">
            <a:avLst/>
          </a:prstGeom>
          <a:noFill/>
        </p:spPr>
        <p:txBody>
          <a:bodyPr wrap="square" lIns="0" tIns="0" rIns="0" bIns="0" anchor="ctr">
            <a:spAutoFit/>
          </a:bodyPr>
          <a:lstStyle/>
          <a:p>
            <a:pPr algn="l"/>
            <a:r>
              <a:rPr sz="1050" b="0">
                <a:solidFill>
                  <a:srgbClr val="334155"/>
                </a:solidFill>
                <a:latin typeface="Courier New"/>
              </a:rPr>
              <a:t>SystemLimitError</a:t>
            </a:r>
          </a:p>
        </p:txBody>
      </p:sp>
      <p:sp>
        <p:nvSpPr>
          <p:cNvPr id="26" name="a1wd380_td25"/>
          <p:cNvSpPr/>
          <p:nvPr/>
        </p:nvSpPr>
        <p:spPr>
          <a:xfrm>
            <a:off x="3703320" y="2542032"/>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a1wd380_tdt26"/>
          <p:cNvSpPr txBox="1"/>
          <p:nvPr/>
        </p:nvSpPr>
        <p:spPr>
          <a:xfrm>
            <a:off x="3776472" y="2542032"/>
            <a:ext cx="2496312" cy="361188"/>
          </a:xfrm>
          <a:prstGeom prst="rect">
            <a:avLst/>
          </a:prstGeom>
          <a:noFill/>
        </p:spPr>
        <p:txBody>
          <a:bodyPr wrap="square" lIns="0" tIns="0" rIns="0" bIns="0" anchor="ctr">
            <a:spAutoFit/>
          </a:bodyPr>
          <a:lstStyle/>
          <a:p>
            <a:pPr algn="l"/>
            <a:r>
              <a:rPr sz="1050" b="0">
                <a:solidFill>
                  <a:srgbClr val="334155"/>
                </a:solidFill>
                <a:latin typeface="Courier New"/>
              </a:rPr>
              <a:t>ArgumentError at boot</a:t>
            </a:r>
          </a:p>
        </p:txBody>
      </p:sp>
      <p:sp>
        <p:nvSpPr>
          <p:cNvPr id="28" name="a1wd475_td27"/>
          <p:cNvSpPr/>
          <p:nvPr/>
        </p:nvSpPr>
        <p:spPr>
          <a:xfrm>
            <a:off x="3703320" y="2903220"/>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a1wd475_tdt28"/>
          <p:cNvSpPr txBox="1"/>
          <p:nvPr/>
        </p:nvSpPr>
        <p:spPr>
          <a:xfrm>
            <a:off x="3776472" y="2903220"/>
            <a:ext cx="2496312" cy="361188"/>
          </a:xfrm>
          <a:prstGeom prst="rect">
            <a:avLst/>
          </a:prstGeom>
          <a:noFill/>
        </p:spPr>
        <p:txBody>
          <a:bodyPr wrap="square" lIns="0" tIns="0" rIns="0" bIns="0" anchor="ctr">
            <a:spAutoFit/>
          </a:bodyPr>
          <a:lstStyle/>
          <a:p>
            <a:pPr algn="l"/>
            <a:r>
              <a:rPr sz="1050" b="0">
                <a:solidFill>
                  <a:srgbClr val="334155"/>
                </a:solidFill>
                <a:latin typeface="Courier New"/>
              </a:rPr>
              <a:t>false, silently</a:t>
            </a:r>
          </a:p>
        </p:txBody>
      </p:sp>
      <p:sp>
        <p:nvSpPr>
          <p:cNvPr id="30" name="a1wd570_td29"/>
          <p:cNvSpPr/>
          <p:nvPr/>
        </p:nvSpPr>
        <p:spPr>
          <a:xfrm>
            <a:off x="3703320" y="3264408"/>
            <a:ext cx="26060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a1wd570_tdt30"/>
          <p:cNvSpPr txBox="1"/>
          <p:nvPr/>
        </p:nvSpPr>
        <p:spPr>
          <a:xfrm>
            <a:off x="3776472" y="3264408"/>
            <a:ext cx="2496312" cy="361188"/>
          </a:xfrm>
          <a:prstGeom prst="rect">
            <a:avLst/>
          </a:prstGeom>
          <a:noFill/>
        </p:spPr>
        <p:txBody>
          <a:bodyPr wrap="square" lIns="0" tIns="0" rIns="0" bIns="0" anchor="ctr">
            <a:spAutoFit/>
          </a:bodyPr>
          <a:lstStyle/>
          <a:p>
            <a:pPr algn="l"/>
            <a:r>
              <a:rPr sz="1050" b="0">
                <a:solidFill>
                  <a:srgbClr val="334155"/>
                </a:solidFill>
                <a:latin typeface="Courier New"/>
              </a:rPr>
              <a:t>nil, silently</a:t>
            </a:r>
          </a:p>
        </p:txBody>
      </p:sp>
      <p:sp>
        <p:nvSpPr>
          <p:cNvPr id="32" name="a1f_th31"/>
          <p:cNvSpPr/>
          <p:nvPr/>
        </p:nvSpPr>
        <p:spPr>
          <a:xfrm>
            <a:off x="6309360" y="1097280"/>
            <a:ext cx="2377440" cy="361188"/>
          </a:xfrm>
          <a:prstGeom prst="rect">
            <a:avLst/>
          </a:prstGeom>
          <a:solidFill>
            <a:srgbClr val="A90533"/>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a1f_tht32"/>
          <p:cNvSpPr txBox="1"/>
          <p:nvPr/>
        </p:nvSpPr>
        <p:spPr>
          <a:xfrm>
            <a:off x="6382512" y="1097280"/>
            <a:ext cx="2267712" cy="361188"/>
          </a:xfrm>
          <a:prstGeom prst="rect">
            <a:avLst/>
          </a:prstGeom>
          <a:noFill/>
        </p:spPr>
        <p:txBody>
          <a:bodyPr wrap="square" lIns="0" tIns="0" rIns="0" bIns="0" anchor="ctr">
            <a:spAutoFit/>
          </a:bodyPr>
          <a:lstStyle/>
          <a:p>
            <a:pPr algn="l"/>
            <a:r>
              <a:rPr sz="1050" b="1">
                <a:solidFill>
                  <a:srgbClr val="FFFFFF"/>
                </a:solidFill>
                <a:latin typeface="Calibri"/>
              </a:rPr>
              <a:t>Fix</a:t>
            </a:r>
          </a:p>
        </p:txBody>
      </p:sp>
      <p:sp>
        <p:nvSpPr>
          <p:cNvPr id="34" name="a1wd95_td33"/>
          <p:cNvSpPr/>
          <p:nvPr/>
        </p:nvSpPr>
        <p:spPr>
          <a:xfrm>
            <a:off x="6309360" y="1458468"/>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a1wd95_tdt34"/>
          <p:cNvSpPr txBox="1"/>
          <p:nvPr/>
        </p:nvSpPr>
        <p:spPr>
          <a:xfrm>
            <a:off x="6382512" y="1458468"/>
            <a:ext cx="2267712" cy="361188"/>
          </a:xfrm>
          <a:prstGeom prst="rect">
            <a:avLst/>
          </a:prstGeom>
          <a:noFill/>
        </p:spPr>
        <p:txBody>
          <a:bodyPr wrap="square" lIns="0" tIns="0" rIns="0" bIns="0" anchor="ctr">
            <a:spAutoFit/>
          </a:bodyPr>
          <a:lstStyle/>
          <a:p>
            <a:pPr algn="l"/>
            <a:r>
              <a:rPr sz="1050" b="0">
                <a:solidFill>
                  <a:srgbClr val="334155"/>
                </a:solidFill>
                <a:latin typeface="Calibri"/>
              </a:rPr>
              <a:t>pick one key type</a:t>
            </a:r>
          </a:p>
        </p:txBody>
      </p:sp>
      <p:sp>
        <p:nvSpPr>
          <p:cNvPr id="36" name="a1wd190_td35"/>
          <p:cNvSpPr/>
          <p:nvPr/>
        </p:nvSpPr>
        <p:spPr>
          <a:xfrm>
            <a:off x="6309360" y="1819656"/>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a1wd190_tdt36"/>
          <p:cNvSpPr txBox="1"/>
          <p:nvPr/>
        </p:nvSpPr>
        <p:spPr>
          <a:xfrm>
            <a:off x="6382512" y="1819656"/>
            <a:ext cx="2267712" cy="361188"/>
          </a:xfrm>
          <a:prstGeom prst="rect">
            <a:avLst/>
          </a:prstGeom>
          <a:noFill/>
        </p:spPr>
        <p:txBody>
          <a:bodyPr wrap="square" lIns="0" tIns="0" rIns="0" bIns="0" anchor="ctr">
            <a:spAutoFit/>
          </a:bodyPr>
          <a:lstStyle/>
          <a:p>
            <a:pPr algn="l"/>
            <a:r>
              <a:rPr sz="1050" b="0">
                <a:solidFill>
                  <a:srgbClr val="334155"/>
                </a:solidFill>
                <a:latin typeface="Calibri"/>
              </a:rPr>
              <a:t>to_existing_atom</a:t>
            </a:r>
          </a:p>
        </p:txBody>
      </p:sp>
      <p:sp>
        <p:nvSpPr>
          <p:cNvPr id="38" name="a1wd285_td37"/>
          <p:cNvSpPr/>
          <p:nvPr/>
        </p:nvSpPr>
        <p:spPr>
          <a:xfrm>
            <a:off x="6309360" y="2180844"/>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a1wd285_tdt38"/>
          <p:cNvSpPr txBox="1"/>
          <p:nvPr/>
        </p:nvSpPr>
        <p:spPr>
          <a:xfrm>
            <a:off x="6382512" y="2180844"/>
            <a:ext cx="2267712" cy="361188"/>
          </a:xfrm>
          <a:prstGeom prst="rect">
            <a:avLst/>
          </a:prstGeom>
          <a:noFill/>
        </p:spPr>
        <p:txBody>
          <a:bodyPr wrap="square" lIns="0" tIns="0" rIns="0" bIns="0" anchor="ctr">
            <a:spAutoFit/>
          </a:bodyPr>
          <a:lstStyle/>
          <a:p>
            <a:pPr algn="l"/>
            <a:r>
              <a:rPr sz="1050" b="0">
                <a:solidFill>
                  <a:srgbClr val="334155"/>
                </a:solidFill>
                <a:latin typeface="Calibri"/>
              </a:rPr>
              <a:t>do not build names</a:t>
            </a:r>
          </a:p>
        </p:txBody>
      </p:sp>
      <p:sp>
        <p:nvSpPr>
          <p:cNvPr id="40" name="a1wd380_td39"/>
          <p:cNvSpPr/>
          <p:nvPr/>
        </p:nvSpPr>
        <p:spPr>
          <a:xfrm>
            <a:off x="6309360" y="2542032"/>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a1wd380_tdt40"/>
          <p:cNvSpPr txBox="1"/>
          <p:nvPr/>
        </p:nvSpPr>
        <p:spPr>
          <a:xfrm>
            <a:off x="6382512" y="2542032"/>
            <a:ext cx="2267712" cy="361188"/>
          </a:xfrm>
          <a:prstGeom prst="rect">
            <a:avLst/>
          </a:prstGeom>
          <a:noFill/>
        </p:spPr>
        <p:txBody>
          <a:bodyPr wrap="square" lIns="0" tIns="0" rIns="0" bIns="0" anchor="ctr">
            <a:spAutoFit/>
          </a:bodyPr>
          <a:lstStyle/>
          <a:p>
            <a:pPr algn="l"/>
            <a:r>
              <a:rPr sz="1050" b="0">
                <a:solidFill>
                  <a:srgbClr val="334155"/>
                </a:solidFill>
                <a:latin typeface="Calibri"/>
              </a:rPr>
              <a:t>reference it literally</a:t>
            </a:r>
          </a:p>
        </p:txBody>
      </p:sp>
      <p:sp>
        <p:nvSpPr>
          <p:cNvPr id="42" name="a1wd475_td41"/>
          <p:cNvSpPr/>
          <p:nvPr/>
        </p:nvSpPr>
        <p:spPr>
          <a:xfrm>
            <a:off x="6309360" y="2903220"/>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3" name="a1wd475_tdt42"/>
          <p:cNvSpPr txBox="1"/>
          <p:nvPr/>
        </p:nvSpPr>
        <p:spPr>
          <a:xfrm>
            <a:off x="6382512" y="2903220"/>
            <a:ext cx="2267712" cy="361188"/>
          </a:xfrm>
          <a:prstGeom prst="rect">
            <a:avLst/>
          </a:prstGeom>
          <a:noFill/>
        </p:spPr>
        <p:txBody>
          <a:bodyPr wrap="square" lIns="0" tIns="0" rIns="0" bIns="0" anchor="ctr">
            <a:spAutoFit/>
          </a:bodyPr>
          <a:lstStyle/>
          <a:p>
            <a:pPr algn="l"/>
            <a:r>
              <a:rPr sz="1050" b="0">
                <a:solidFill>
                  <a:srgbClr val="334155"/>
                </a:solidFill>
                <a:latin typeface="Calibri"/>
              </a:rPr>
              <a:t>they are different types</a:t>
            </a:r>
          </a:p>
        </p:txBody>
      </p:sp>
      <p:sp>
        <p:nvSpPr>
          <p:cNvPr id="44" name="a1wd570_td43"/>
          <p:cNvSpPr/>
          <p:nvPr/>
        </p:nvSpPr>
        <p:spPr>
          <a:xfrm>
            <a:off x="6309360" y="3264408"/>
            <a:ext cx="2377440" cy="361188"/>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a1wd570_tdt44"/>
          <p:cNvSpPr txBox="1"/>
          <p:nvPr/>
        </p:nvSpPr>
        <p:spPr>
          <a:xfrm>
            <a:off x="6382512" y="3264408"/>
            <a:ext cx="2267712" cy="361188"/>
          </a:xfrm>
          <a:prstGeom prst="rect">
            <a:avLst/>
          </a:prstGeom>
          <a:noFill/>
        </p:spPr>
        <p:txBody>
          <a:bodyPr wrap="square" lIns="0" tIns="0" rIns="0" bIns="0" anchor="ctr">
            <a:spAutoFit/>
          </a:bodyPr>
          <a:lstStyle/>
          <a:p>
            <a:pPr algn="l"/>
            <a:r>
              <a:rPr sz="1050" b="0">
                <a:solidFill>
                  <a:srgbClr val="334155"/>
                </a:solidFill>
                <a:latin typeface="Calibri"/>
              </a:rPr>
              <a:t>Keyword.keyword?/1</a:t>
            </a:r>
          </a:p>
        </p:txBody>
      </p:sp>
      <p:sp>
        <p:nvSpPr>
          <p:cNvPr id="46" name="a2f_nb45"/>
          <p:cNvSpPr/>
          <p:nvPr/>
        </p:nvSpPr>
        <p:spPr>
          <a:xfrm>
            <a:off x="457200" y="3735324"/>
            <a:ext cx="8229600" cy="548640"/>
          </a:xfrm>
          <a:prstGeom prst="roundRect">
            <a:avLst>
              <a:gd name="adj" fmla="val 13333"/>
            </a:avLst>
          </a:prstGeom>
          <a:solidFill>
            <a:srgbClr val="FFFFFF"/>
          </a:solidFill>
          <a:ln w="12700">
            <a:solidFill>
              <a:srgbClr val="E2E8F0"/>
            </a:solidFill>
          </a:ln>
          <a:effectLst>
            <a:outerShdw blurRad="76200" dist="25400" dir="5400000" algn="bl" rotWithShape="0">
              <a:srgbClr val="000000">
                <a:alpha val="12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a2f_nacc46"/>
          <p:cNvSpPr/>
          <p:nvPr/>
        </p:nvSpPr>
        <p:spPr>
          <a:xfrm>
            <a:off x="457200" y="3735324"/>
            <a:ext cx="50292" cy="54864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a2f_nt47"/>
          <p:cNvSpPr txBox="1"/>
          <p:nvPr/>
        </p:nvSpPr>
        <p:spPr>
          <a:xfrm>
            <a:off x="658368" y="3735324"/>
            <a:ext cx="7827264" cy="548640"/>
          </a:xfrm>
          <a:prstGeom prst="rect">
            <a:avLst/>
          </a:prstGeom>
          <a:noFill/>
        </p:spPr>
        <p:txBody>
          <a:bodyPr wrap="square" lIns="0" tIns="0" rIns="0" bIns="0" anchor="ctr">
            <a:spAutoFit/>
          </a:bodyPr>
          <a:lstStyle/>
          <a:p>
            <a:pPr algn="l"/>
            <a:r>
              <a:rPr sz="1150" b="1">
                <a:solidFill>
                  <a:srgbClr val="B45309"/>
                </a:solidFill>
                <a:latin typeface="Calibri"/>
              </a:rPr>
              <a:t>!  </a:t>
            </a:r>
            <a:r>
              <a:rPr sz="1150" b="0">
                <a:solidFill>
                  <a:srgbClr val="334155"/>
                </a:solidFill>
                <a:latin typeface="Calibri"/>
              </a:rPr>
              <a:t>Two of these six fail silently rather than raising. Both are the same mistake — mixing atoms and strings for the same concept — and both are caught by deciding, once, at the boundary of your system.</a:t>
            </a:r>
          </a:p>
        </p:txBody>
      </p:sp>
      <p:sp>
        <p:nvSpPr>
          <p:cNvPr id="49" name="ft48"/>
          <p:cNvSpPr txBox="1"/>
          <p:nvPr/>
        </p:nvSpPr>
        <p:spPr>
          <a:xfrm>
            <a:off x="457200" y="4736592"/>
            <a:ext cx="5486400" cy="219456"/>
          </a:xfrm>
          <a:prstGeom prst="rect">
            <a:avLst/>
          </a:prstGeom>
          <a:noFill/>
        </p:spPr>
        <p:txBody>
          <a:bodyPr wrap="square" lIns="0" tIns="0" rIns="0" bIns="0" anchor="ctr">
            <a:spAutoFit/>
          </a:bodyPr>
          <a:lstStyle/>
          <a:p>
            <a:pPr algn="l"/>
            <a:r>
              <a:rPr sz="850" b="0">
                <a:solidFill>
                  <a:srgbClr val="64748B"/>
                </a:solidFill>
                <a:latin typeface="Calibri"/>
              </a:rPr>
              <a:t>Elixir 1.20.4 · OTP 29 · every size, timing and error on these slides is measured output</a:t>
            </a:r>
          </a:p>
        </p:txBody>
      </p:sp>
      <p:sp>
        <p:nvSpPr>
          <p:cNvPr id="50" name="ft49"/>
          <p:cNvSpPr txBox="1"/>
          <p:nvPr/>
        </p:nvSpPr>
        <p:spPr>
          <a:xfrm>
            <a:off x="5486400" y="4736592"/>
            <a:ext cx="3200400" cy="219456"/>
          </a:xfrm>
          <a:prstGeom prst="rect">
            <a:avLst/>
          </a:prstGeom>
          <a:noFill/>
        </p:spPr>
        <p:txBody>
          <a:bodyPr wrap="square" lIns="0" tIns="0" rIns="0" bIns="0" anchor="ctr">
            <a:spAutoFit/>
          </a:bodyPr>
          <a:lstStyle/>
          <a:p>
            <a:pPr algn="r"/>
            <a:r>
              <a:rPr sz="850" b="0">
                <a:solidFill>
                  <a:srgbClr val="64748B"/>
                </a:solidFill>
                <a:latin typeface="Calibri"/>
              </a:rPr>
              <a:t>32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fade">
                                      <p:cBhvr>
                                        <p:cTn id="19" dur="500"/>
                                        <p:tgtEl>
                                          <p:spTgt spid="3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500"/>
                                        <p:tgtEl>
                                          <p:spTgt spid="33"/>
                                        </p:tgtEl>
                                      </p:cBhvr>
                                    </p:animEffect>
                                  </p:childTnLst>
                                </p:cTn>
                              </p:par>
                              <p:par>
                                <p:cTn id="23" presetID="22" presetClass="entr" presetSubtype="8" fill="hold" grpId="0" nodeType="withEffect">
                                  <p:stCondLst>
                                    <p:cond delay="95"/>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par>
                                <p:cTn id="26" presetID="22" presetClass="entr" presetSubtype="8" fill="hold" grpId="0" nodeType="withEffect">
                                  <p:stCondLst>
                                    <p:cond delay="95"/>
                                  </p:stCondLst>
                                  <p:childTnLst>
                                    <p:set>
                                      <p:cBhvr>
                                        <p:cTn id="27" dur="1" fill="hold">
                                          <p:stCondLst>
                                            <p:cond delay="0"/>
                                          </p:stCondLst>
                                        </p:cTn>
                                        <p:tgtEl>
                                          <p:spTgt spid="7"/>
                                        </p:tgtEl>
                                        <p:attrNameLst>
                                          <p:attrName>style.visibility</p:attrName>
                                        </p:attrNameLst>
                                      </p:cBhvr>
                                      <p:to>
                                        <p:strVal val="visible"/>
                                      </p:to>
                                    </p:set>
                                    <p:animEffect transition="in" filter="wipe(left)">
                                      <p:cBhvr>
                                        <p:cTn id="28" dur="500"/>
                                        <p:tgtEl>
                                          <p:spTgt spid="7"/>
                                        </p:tgtEl>
                                      </p:cBhvr>
                                    </p:animEffect>
                                  </p:childTnLst>
                                </p:cTn>
                              </p:par>
                              <p:par>
                                <p:cTn id="29" presetID="22" presetClass="entr" presetSubtype="8" fill="hold" grpId="0" nodeType="withEffect">
                                  <p:stCondLst>
                                    <p:cond delay="95"/>
                                  </p:stCondLst>
                                  <p:childTnLst>
                                    <p:set>
                                      <p:cBhvr>
                                        <p:cTn id="30" dur="1" fill="hold">
                                          <p:stCondLst>
                                            <p:cond delay="0"/>
                                          </p:stCondLst>
                                        </p:cTn>
                                        <p:tgtEl>
                                          <p:spTgt spid="20"/>
                                        </p:tgtEl>
                                        <p:attrNameLst>
                                          <p:attrName>style.visibility</p:attrName>
                                        </p:attrNameLst>
                                      </p:cBhvr>
                                      <p:to>
                                        <p:strVal val="visible"/>
                                      </p:to>
                                    </p:set>
                                    <p:animEffect transition="in" filter="wipe(left)">
                                      <p:cBhvr>
                                        <p:cTn id="31" dur="500"/>
                                        <p:tgtEl>
                                          <p:spTgt spid="20"/>
                                        </p:tgtEl>
                                      </p:cBhvr>
                                    </p:animEffect>
                                  </p:childTnLst>
                                </p:cTn>
                              </p:par>
                              <p:par>
                                <p:cTn id="32" presetID="22" presetClass="entr" presetSubtype="8" fill="hold" grpId="0" nodeType="withEffect">
                                  <p:stCondLst>
                                    <p:cond delay="95"/>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par>
                                <p:cTn id="35" presetID="22" presetClass="entr" presetSubtype="8" fill="hold" grpId="0" nodeType="withEffect">
                                  <p:stCondLst>
                                    <p:cond delay="95"/>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par>
                                <p:cTn id="38" presetID="22" presetClass="entr" presetSubtype="8" fill="hold" grpId="0" nodeType="withEffect">
                                  <p:stCondLst>
                                    <p:cond delay="95"/>
                                  </p:stCondLst>
                                  <p:childTnLst>
                                    <p:set>
                                      <p:cBhvr>
                                        <p:cTn id="39" dur="1" fill="hold">
                                          <p:stCondLst>
                                            <p:cond delay="0"/>
                                          </p:stCondLst>
                                        </p:cTn>
                                        <p:tgtEl>
                                          <p:spTgt spid="35"/>
                                        </p:tgtEl>
                                        <p:attrNameLst>
                                          <p:attrName>style.visibility</p:attrName>
                                        </p:attrNameLst>
                                      </p:cBhvr>
                                      <p:to>
                                        <p:strVal val="visible"/>
                                      </p:to>
                                    </p:set>
                                    <p:animEffect transition="in" filter="wipe(left)">
                                      <p:cBhvr>
                                        <p:cTn id="40" dur="500"/>
                                        <p:tgtEl>
                                          <p:spTgt spid="35"/>
                                        </p:tgtEl>
                                      </p:cBhvr>
                                    </p:animEffect>
                                  </p:childTnLst>
                                </p:cTn>
                              </p:par>
                              <p:par>
                                <p:cTn id="41" presetID="22" presetClass="entr" presetSubtype="8" fill="hold" grpId="0" nodeType="withEffect">
                                  <p:stCondLst>
                                    <p:cond delay="190"/>
                                  </p:stCondLst>
                                  <p:childTnLst>
                                    <p:set>
                                      <p:cBhvr>
                                        <p:cTn id="42" dur="1" fill="hold">
                                          <p:stCondLst>
                                            <p:cond delay="0"/>
                                          </p:stCondLst>
                                        </p:cTn>
                                        <p:tgtEl>
                                          <p:spTgt spid="8"/>
                                        </p:tgtEl>
                                        <p:attrNameLst>
                                          <p:attrName>style.visibility</p:attrName>
                                        </p:attrNameLst>
                                      </p:cBhvr>
                                      <p:to>
                                        <p:strVal val="visible"/>
                                      </p:to>
                                    </p:set>
                                    <p:animEffect transition="in" filter="wipe(left)">
                                      <p:cBhvr>
                                        <p:cTn id="43" dur="500"/>
                                        <p:tgtEl>
                                          <p:spTgt spid="8"/>
                                        </p:tgtEl>
                                      </p:cBhvr>
                                    </p:animEffect>
                                  </p:childTnLst>
                                </p:cTn>
                              </p:par>
                              <p:par>
                                <p:cTn id="44" presetID="22" presetClass="entr" presetSubtype="8" fill="hold" grpId="0" nodeType="withEffect">
                                  <p:stCondLst>
                                    <p:cond delay="190"/>
                                  </p:stCondLst>
                                  <p:childTnLst>
                                    <p:set>
                                      <p:cBhvr>
                                        <p:cTn id="45" dur="1" fill="hold">
                                          <p:stCondLst>
                                            <p:cond delay="0"/>
                                          </p:stCondLst>
                                        </p:cTn>
                                        <p:tgtEl>
                                          <p:spTgt spid="9"/>
                                        </p:tgtEl>
                                        <p:attrNameLst>
                                          <p:attrName>style.visibility</p:attrName>
                                        </p:attrNameLst>
                                      </p:cBhvr>
                                      <p:to>
                                        <p:strVal val="visible"/>
                                      </p:to>
                                    </p:set>
                                    <p:animEffect transition="in" filter="wipe(left)">
                                      <p:cBhvr>
                                        <p:cTn id="46" dur="500"/>
                                        <p:tgtEl>
                                          <p:spTgt spid="9"/>
                                        </p:tgtEl>
                                      </p:cBhvr>
                                    </p:animEffect>
                                  </p:childTnLst>
                                </p:cTn>
                              </p:par>
                              <p:par>
                                <p:cTn id="47" presetID="22" presetClass="entr" presetSubtype="8" fill="hold" grpId="0" nodeType="withEffect">
                                  <p:stCondLst>
                                    <p:cond delay="190"/>
                                  </p:stCondLst>
                                  <p:childTnLst>
                                    <p:set>
                                      <p:cBhvr>
                                        <p:cTn id="48" dur="1" fill="hold">
                                          <p:stCondLst>
                                            <p:cond delay="0"/>
                                          </p:stCondLst>
                                        </p:cTn>
                                        <p:tgtEl>
                                          <p:spTgt spid="22"/>
                                        </p:tgtEl>
                                        <p:attrNameLst>
                                          <p:attrName>style.visibility</p:attrName>
                                        </p:attrNameLst>
                                      </p:cBhvr>
                                      <p:to>
                                        <p:strVal val="visible"/>
                                      </p:to>
                                    </p:set>
                                    <p:animEffect transition="in" filter="wipe(left)">
                                      <p:cBhvr>
                                        <p:cTn id="49" dur="500"/>
                                        <p:tgtEl>
                                          <p:spTgt spid="22"/>
                                        </p:tgtEl>
                                      </p:cBhvr>
                                    </p:animEffect>
                                  </p:childTnLst>
                                </p:cTn>
                              </p:par>
                              <p:par>
                                <p:cTn id="50" presetID="22" presetClass="entr" presetSubtype="8" fill="hold" grpId="0" nodeType="withEffect">
                                  <p:stCondLst>
                                    <p:cond delay="190"/>
                                  </p:stCondLst>
                                  <p:childTnLst>
                                    <p:set>
                                      <p:cBhvr>
                                        <p:cTn id="51" dur="1" fill="hold">
                                          <p:stCondLst>
                                            <p:cond delay="0"/>
                                          </p:stCondLst>
                                        </p:cTn>
                                        <p:tgtEl>
                                          <p:spTgt spid="23"/>
                                        </p:tgtEl>
                                        <p:attrNameLst>
                                          <p:attrName>style.visibility</p:attrName>
                                        </p:attrNameLst>
                                      </p:cBhvr>
                                      <p:to>
                                        <p:strVal val="visible"/>
                                      </p:to>
                                    </p:set>
                                    <p:animEffect transition="in" filter="wipe(left)">
                                      <p:cBhvr>
                                        <p:cTn id="52" dur="500"/>
                                        <p:tgtEl>
                                          <p:spTgt spid="23"/>
                                        </p:tgtEl>
                                      </p:cBhvr>
                                    </p:animEffect>
                                  </p:childTnLst>
                                </p:cTn>
                              </p:par>
                              <p:par>
                                <p:cTn id="53" presetID="22" presetClass="entr" presetSubtype="8" fill="hold" grpId="0" nodeType="withEffect">
                                  <p:stCondLst>
                                    <p:cond delay="190"/>
                                  </p:stCondLst>
                                  <p:childTnLst>
                                    <p:set>
                                      <p:cBhvr>
                                        <p:cTn id="54" dur="1" fill="hold">
                                          <p:stCondLst>
                                            <p:cond delay="0"/>
                                          </p:stCondLst>
                                        </p:cTn>
                                        <p:tgtEl>
                                          <p:spTgt spid="36"/>
                                        </p:tgtEl>
                                        <p:attrNameLst>
                                          <p:attrName>style.visibility</p:attrName>
                                        </p:attrNameLst>
                                      </p:cBhvr>
                                      <p:to>
                                        <p:strVal val="visible"/>
                                      </p:to>
                                    </p:set>
                                    <p:animEffect transition="in" filter="wipe(left)">
                                      <p:cBhvr>
                                        <p:cTn id="55" dur="500"/>
                                        <p:tgtEl>
                                          <p:spTgt spid="36"/>
                                        </p:tgtEl>
                                      </p:cBhvr>
                                    </p:animEffect>
                                  </p:childTnLst>
                                </p:cTn>
                              </p:par>
                              <p:par>
                                <p:cTn id="56" presetID="22" presetClass="entr" presetSubtype="8" fill="hold" grpId="0" nodeType="withEffect">
                                  <p:stCondLst>
                                    <p:cond delay="190"/>
                                  </p:stCondLst>
                                  <p:childTnLst>
                                    <p:set>
                                      <p:cBhvr>
                                        <p:cTn id="57" dur="1" fill="hold">
                                          <p:stCondLst>
                                            <p:cond delay="0"/>
                                          </p:stCondLst>
                                        </p:cTn>
                                        <p:tgtEl>
                                          <p:spTgt spid="37"/>
                                        </p:tgtEl>
                                        <p:attrNameLst>
                                          <p:attrName>style.visibility</p:attrName>
                                        </p:attrNameLst>
                                      </p:cBhvr>
                                      <p:to>
                                        <p:strVal val="visible"/>
                                      </p:to>
                                    </p:set>
                                    <p:animEffect transition="in" filter="wipe(left)">
                                      <p:cBhvr>
                                        <p:cTn id="58" dur="500"/>
                                        <p:tgtEl>
                                          <p:spTgt spid="37"/>
                                        </p:tgtEl>
                                      </p:cBhvr>
                                    </p:animEffect>
                                  </p:childTnLst>
                                </p:cTn>
                              </p:par>
                              <p:par>
                                <p:cTn id="59" presetID="22" presetClass="entr" presetSubtype="8" fill="hold" grpId="0" nodeType="withEffect">
                                  <p:stCondLst>
                                    <p:cond delay="285"/>
                                  </p:stCondLst>
                                  <p:childTnLst>
                                    <p:set>
                                      <p:cBhvr>
                                        <p:cTn id="60" dur="1" fill="hold">
                                          <p:stCondLst>
                                            <p:cond delay="0"/>
                                          </p:stCondLst>
                                        </p:cTn>
                                        <p:tgtEl>
                                          <p:spTgt spid="10"/>
                                        </p:tgtEl>
                                        <p:attrNameLst>
                                          <p:attrName>style.visibility</p:attrName>
                                        </p:attrNameLst>
                                      </p:cBhvr>
                                      <p:to>
                                        <p:strVal val="visible"/>
                                      </p:to>
                                    </p:set>
                                    <p:animEffect transition="in" filter="wipe(left)">
                                      <p:cBhvr>
                                        <p:cTn id="61" dur="500"/>
                                        <p:tgtEl>
                                          <p:spTgt spid="10"/>
                                        </p:tgtEl>
                                      </p:cBhvr>
                                    </p:animEffect>
                                  </p:childTnLst>
                                </p:cTn>
                              </p:par>
                              <p:par>
                                <p:cTn id="62" presetID="22" presetClass="entr" presetSubtype="8" fill="hold" grpId="0" nodeType="withEffect">
                                  <p:stCondLst>
                                    <p:cond delay="285"/>
                                  </p:stCondLst>
                                  <p:childTnLst>
                                    <p:set>
                                      <p:cBhvr>
                                        <p:cTn id="63" dur="1" fill="hold">
                                          <p:stCondLst>
                                            <p:cond delay="0"/>
                                          </p:stCondLst>
                                        </p:cTn>
                                        <p:tgtEl>
                                          <p:spTgt spid="11"/>
                                        </p:tgtEl>
                                        <p:attrNameLst>
                                          <p:attrName>style.visibility</p:attrName>
                                        </p:attrNameLst>
                                      </p:cBhvr>
                                      <p:to>
                                        <p:strVal val="visible"/>
                                      </p:to>
                                    </p:set>
                                    <p:animEffect transition="in" filter="wipe(left)">
                                      <p:cBhvr>
                                        <p:cTn id="64" dur="500"/>
                                        <p:tgtEl>
                                          <p:spTgt spid="11"/>
                                        </p:tgtEl>
                                      </p:cBhvr>
                                    </p:animEffect>
                                  </p:childTnLst>
                                </p:cTn>
                              </p:par>
                              <p:par>
                                <p:cTn id="65" presetID="22" presetClass="entr" presetSubtype="8" fill="hold" grpId="0" nodeType="withEffect">
                                  <p:stCondLst>
                                    <p:cond delay="285"/>
                                  </p:stCondLst>
                                  <p:childTnLst>
                                    <p:set>
                                      <p:cBhvr>
                                        <p:cTn id="66" dur="1" fill="hold">
                                          <p:stCondLst>
                                            <p:cond delay="0"/>
                                          </p:stCondLst>
                                        </p:cTn>
                                        <p:tgtEl>
                                          <p:spTgt spid="24"/>
                                        </p:tgtEl>
                                        <p:attrNameLst>
                                          <p:attrName>style.visibility</p:attrName>
                                        </p:attrNameLst>
                                      </p:cBhvr>
                                      <p:to>
                                        <p:strVal val="visible"/>
                                      </p:to>
                                    </p:set>
                                    <p:animEffect transition="in" filter="wipe(left)">
                                      <p:cBhvr>
                                        <p:cTn id="67" dur="500"/>
                                        <p:tgtEl>
                                          <p:spTgt spid="24"/>
                                        </p:tgtEl>
                                      </p:cBhvr>
                                    </p:animEffect>
                                  </p:childTnLst>
                                </p:cTn>
                              </p:par>
                              <p:par>
                                <p:cTn id="68" presetID="22" presetClass="entr" presetSubtype="8" fill="hold" grpId="0" nodeType="withEffect">
                                  <p:stCondLst>
                                    <p:cond delay="285"/>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par>
                                <p:cTn id="71" presetID="22" presetClass="entr" presetSubtype="8" fill="hold" grpId="0" nodeType="withEffect">
                                  <p:stCondLst>
                                    <p:cond delay="285"/>
                                  </p:stCondLst>
                                  <p:childTnLst>
                                    <p:set>
                                      <p:cBhvr>
                                        <p:cTn id="72" dur="1" fill="hold">
                                          <p:stCondLst>
                                            <p:cond delay="0"/>
                                          </p:stCondLst>
                                        </p:cTn>
                                        <p:tgtEl>
                                          <p:spTgt spid="38"/>
                                        </p:tgtEl>
                                        <p:attrNameLst>
                                          <p:attrName>style.visibility</p:attrName>
                                        </p:attrNameLst>
                                      </p:cBhvr>
                                      <p:to>
                                        <p:strVal val="visible"/>
                                      </p:to>
                                    </p:set>
                                    <p:animEffect transition="in" filter="wipe(left)">
                                      <p:cBhvr>
                                        <p:cTn id="73" dur="500"/>
                                        <p:tgtEl>
                                          <p:spTgt spid="38"/>
                                        </p:tgtEl>
                                      </p:cBhvr>
                                    </p:animEffect>
                                  </p:childTnLst>
                                </p:cTn>
                              </p:par>
                              <p:par>
                                <p:cTn id="74" presetID="22" presetClass="entr" presetSubtype="8" fill="hold" grpId="0" nodeType="withEffect">
                                  <p:stCondLst>
                                    <p:cond delay="285"/>
                                  </p:stCondLst>
                                  <p:childTnLst>
                                    <p:set>
                                      <p:cBhvr>
                                        <p:cTn id="75" dur="1" fill="hold">
                                          <p:stCondLst>
                                            <p:cond delay="0"/>
                                          </p:stCondLst>
                                        </p:cTn>
                                        <p:tgtEl>
                                          <p:spTgt spid="39"/>
                                        </p:tgtEl>
                                        <p:attrNameLst>
                                          <p:attrName>style.visibility</p:attrName>
                                        </p:attrNameLst>
                                      </p:cBhvr>
                                      <p:to>
                                        <p:strVal val="visible"/>
                                      </p:to>
                                    </p:set>
                                    <p:animEffect transition="in" filter="wipe(left)">
                                      <p:cBhvr>
                                        <p:cTn id="76" dur="500"/>
                                        <p:tgtEl>
                                          <p:spTgt spid="39"/>
                                        </p:tgtEl>
                                      </p:cBhvr>
                                    </p:animEffect>
                                  </p:childTnLst>
                                </p:cTn>
                              </p:par>
                              <p:par>
                                <p:cTn id="77" presetID="22" presetClass="entr" presetSubtype="8" fill="hold" grpId="0" nodeType="withEffect">
                                  <p:stCondLst>
                                    <p:cond delay="380"/>
                                  </p:stCondLst>
                                  <p:childTnLst>
                                    <p:set>
                                      <p:cBhvr>
                                        <p:cTn id="78" dur="1" fill="hold">
                                          <p:stCondLst>
                                            <p:cond delay="0"/>
                                          </p:stCondLst>
                                        </p:cTn>
                                        <p:tgtEl>
                                          <p:spTgt spid="12"/>
                                        </p:tgtEl>
                                        <p:attrNameLst>
                                          <p:attrName>style.visibility</p:attrName>
                                        </p:attrNameLst>
                                      </p:cBhvr>
                                      <p:to>
                                        <p:strVal val="visible"/>
                                      </p:to>
                                    </p:set>
                                    <p:animEffect transition="in" filter="wipe(left)">
                                      <p:cBhvr>
                                        <p:cTn id="79" dur="500"/>
                                        <p:tgtEl>
                                          <p:spTgt spid="12"/>
                                        </p:tgtEl>
                                      </p:cBhvr>
                                    </p:animEffect>
                                  </p:childTnLst>
                                </p:cTn>
                              </p:par>
                              <p:par>
                                <p:cTn id="80" presetID="22" presetClass="entr" presetSubtype="8" fill="hold" grpId="0" nodeType="withEffect">
                                  <p:stCondLst>
                                    <p:cond delay="380"/>
                                  </p:stCondLst>
                                  <p:childTnLst>
                                    <p:set>
                                      <p:cBhvr>
                                        <p:cTn id="81" dur="1" fill="hold">
                                          <p:stCondLst>
                                            <p:cond delay="0"/>
                                          </p:stCondLst>
                                        </p:cTn>
                                        <p:tgtEl>
                                          <p:spTgt spid="13"/>
                                        </p:tgtEl>
                                        <p:attrNameLst>
                                          <p:attrName>style.visibility</p:attrName>
                                        </p:attrNameLst>
                                      </p:cBhvr>
                                      <p:to>
                                        <p:strVal val="visible"/>
                                      </p:to>
                                    </p:set>
                                    <p:animEffect transition="in" filter="wipe(left)">
                                      <p:cBhvr>
                                        <p:cTn id="82" dur="500"/>
                                        <p:tgtEl>
                                          <p:spTgt spid="13"/>
                                        </p:tgtEl>
                                      </p:cBhvr>
                                    </p:animEffect>
                                  </p:childTnLst>
                                </p:cTn>
                              </p:par>
                              <p:par>
                                <p:cTn id="83" presetID="22" presetClass="entr" presetSubtype="8" fill="hold" grpId="0" nodeType="withEffect">
                                  <p:stCondLst>
                                    <p:cond delay="380"/>
                                  </p:stCondLst>
                                  <p:childTnLst>
                                    <p:set>
                                      <p:cBhvr>
                                        <p:cTn id="84" dur="1" fill="hold">
                                          <p:stCondLst>
                                            <p:cond delay="0"/>
                                          </p:stCondLst>
                                        </p:cTn>
                                        <p:tgtEl>
                                          <p:spTgt spid="26"/>
                                        </p:tgtEl>
                                        <p:attrNameLst>
                                          <p:attrName>style.visibility</p:attrName>
                                        </p:attrNameLst>
                                      </p:cBhvr>
                                      <p:to>
                                        <p:strVal val="visible"/>
                                      </p:to>
                                    </p:set>
                                    <p:animEffect transition="in" filter="wipe(left)">
                                      <p:cBhvr>
                                        <p:cTn id="85" dur="500"/>
                                        <p:tgtEl>
                                          <p:spTgt spid="26"/>
                                        </p:tgtEl>
                                      </p:cBhvr>
                                    </p:animEffect>
                                  </p:childTnLst>
                                </p:cTn>
                              </p:par>
                              <p:par>
                                <p:cTn id="86" presetID="22" presetClass="entr" presetSubtype="8" fill="hold" grpId="0" nodeType="withEffect">
                                  <p:stCondLst>
                                    <p:cond delay="380"/>
                                  </p:stCondLst>
                                  <p:childTnLst>
                                    <p:set>
                                      <p:cBhvr>
                                        <p:cTn id="87" dur="1" fill="hold">
                                          <p:stCondLst>
                                            <p:cond delay="0"/>
                                          </p:stCondLst>
                                        </p:cTn>
                                        <p:tgtEl>
                                          <p:spTgt spid="27"/>
                                        </p:tgtEl>
                                        <p:attrNameLst>
                                          <p:attrName>style.visibility</p:attrName>
                                        </p:attrNameLst>
                                      </p:cBhvr>
                                      <p:to>
                                        <p:strVal val="visible"/>
                                      </p:to>
                                    </p:set>
                                    <p:animEffect transition="in" filter="wipe(left)">
                                      <p:cBhvr>
                                        <p:cTn id="88" dur="500"/>
                                        <p:tgtEl>
                                          <p:spTgt spid="27"/>
                                        </p:tgtEl>
                                      </p:cBhvr>
                                    </p:animEffect>
                                  </p:childTnLst>
                                </p:cTn>
                              </p:par>
                              <p:par>
                                <p:cTn id="89" presetID="22" presetClass="entr" presetSubtype="8" fill="hold" grpId="0" nodeType="withEffect">
                                  <p:stCondLst>
                                    <p:cond delay="380"/>
                                  </p:stCondLst>
                                  <p:childTnLst>
                                    <p:set>
                                      <p:cBhvr>
                                        <p:cTn id="90" dur="1" fill="hold">
                                          <p:stCondLst>
                                            <p:cond delay="0"/>
                                          </p:stCondLst>
                                        </p:cTn>
                                        <p:tgtEl>
                                          <p:spTgt spid="40"/>
                                        </p:tgtEl>
                                        <p:attrNameLst>
                                          <p:attrName>style.visibility</p:attrName>
                                        </p:attrNameLst>
                                      </p:cBhvr>
                                      <p:to>
                                        <p:strVal val="visible"/>
                                      </p:to>
                                    </p:set>
                                    <p:animEffect transition="in" filter="wipe(left)">
                                      <p:cBhvr>
                                        <p:cTn id="91" dur="500"/>
                                        <p:tgtEl>
                                          <p:spTgt spid="40"/>
                                        </p:tgtEl>
                                      </p:cBhvr>
                                    </p:animEffect>
                                  </p:childTnLst>
                                </p:cTn>
                              </p:par>
                              <p:par>
                                <p:cTn id="92" presetID="22" presetClass="entr" presetSubtype="8" fill="hold" grpId="0" nodeType="withEffect">
                                  <p:stCondLst>
                                    <p:cond delay="380"/>
                                  </p:stCondLst>
                                  <p:childTnLst>
                                    <p:set>
                                      <p:cBhvr>
                                        <p:cTn id="93" dur="1" fill="hold">
                                          <p:stCondLst>
                                            <p:cond delay="0"/>
                                          </p:stCondLst>
                                        </p:cTn>
                                        <p:tgtEl>
                                          <p:spTgt spid="41"/>
                                        </p:tgtEl>
                                        <p:attrNameLst>
                                          <p:attrName>style.visibility</p:attrName>
                                        </p:attrNameLst>
                                      </p:cBhvr>
                                      <p:to>
                                        <p:strVal val="visible"/>
                                      </p:to>
                                    </p:set>
                                    <p:animEffect transition="in" filter="wipe(left)">
                                      <p:cBhvr>
                                        <p:cTn id="94" dur="500"/>
                                        <p:tgtEl>
                                          <p:spTgt spid="41"/>
                                        </p:tgtEl>
                                      </p:cBhvr>
                                    </p:animEffect>
                                  </p:childTnLst>
                                </p:cTn>
                              </p:par>
                              <p:par>
                                <p:cTn id="95" presetID="22" presetClass="entr" presetSubtype="8" fill="hold" grpId="0" nodeType="withEffect">
                                  <p:stCondLst>
                                    <p:cond delay="475"/>
                                  </p:stCondLst>
                                  <p:childTnLst>
                                    <p:set>
                                      <p:cBhvr>
                                        <p:cTn id="96" dur="1" fill="hold">
                                          <p:stCondLst>
                                            <p:cond delay="0"/>
                                          </p:stCondLst>
                                        </p:cTn>
                                        <p:tgtEl>
                                          <p:spTgt spid="14"/>
                                        </p:tgtEl>
                                        <p:attrNameLst>
                                          <p:attrName>style.visibility</p:attrName>
                                        </p:attrNameLst>
                                      </p:cBhvr>
                                      <p:to>
                                        <p:strVal val="visible"/>
                                      </p:to>
                                    </p:set>
                                    <p:animEffect transition="in" filter="wipe(left)">
                                      <p:cBhvr>
                                        <p:cTn id="97" dur="500"/>
                                        <p:tgtEl>
                                          <p:spTgt spid="14"/>
                                        </p:tgtEl>
                                      </p:cBhvr>
                                    </p:animEffect>
                                  </p:childTnLst>
                                </p:cTn>
                              </p:par>
                              <p:par>
                                <p:cTn id="98" presetID="22" presetClass="entr" presetSubtype="8" fill="hold" grpId="0" nodeType="withEffect">
                                  <p:stCondLst>
                                    <p:cond delay="475"/>
                                  </p:stCondLst>
                                  <p:childTnLst>
                                    <p:set>
                                      <p:cBhvr>
                                        <p:cTn id="99" dur="1" fill="hold">
                                          <p:stCondLst>
                                            <p:cond delay="0"/>
                                          </p:stCondLst>
                                        </p:cTn>
                                        <p:tgtEl>
                                          <p:spTgt spid="15"/>
                                        </p:tgtEl>
                                        <p:attrNameLst>
                                          <p:attrName>style.visibility</p:attrName>
                                        </p:attrNameLst>
                                      </p:cBhvr>
                                      <p:to>
                                        <p:strVal val="visible"/>
                                      </p:to>
                                    </p:set>
                                    <p:animEffect transition="in" filter="wipe(left)">
                                      <p:cBhvr>
                                        <p:cTn id="100" dur="500"/>
                                        <p:tgtEl>
                                          <p:spTgt spid="15"/>
                                        </p:tgtEl>
                                      </p:cBhvr>
                                    </p:animEffect>
                                  </p:childTnLst>
                                </p:cTn>
                              </p:par>
                              <p:par>
                                <p:cTn id="101" presetID="22" presetClass="entr" presetSubtype="8" fill="hold" grpId="0" nodeType="withEffect">
                                  <p:stCondLst>
                                    <p:cond delay="475"/>
                                  </p:stCondLst>
                                  <p:childTnLst>
                                    <p:set>
                                      <p:cBhvr>
                                        <p:cTn id="102" dur="1" fill="hold">
                                          <p:stCondLst>
                                            <p:cond delay="0"/>
                                          </p:stCondLst>
                                        </p:cTn>
                                        <p:tgtEl>
                                          <p:spTgt spid="28"/>
                                        </p:tgtEl>
                                        <p:attrNameLst>
                                          <p:attrName>style.visibility</p:attrName>
                                        </p:attrNameLst>
                                      </p:cBhvr>
                                      <p:to>
                                        <p:strVal val="visible"/>
                                      </p:to>
                                    </p:set>
                                    <p:animEffect transition="in" filter="wipe(left)">
                                      <p:cBhvr>
                                        <p:cTn id="103" dur="500"/>
                                        <p:tgtEl>
                                          <p:spTgt spid="28"/>
                                        </p:tgtEl>
                                      </p:cBhvr>
                                    </p:animEffect>
                                  </p:childTnLst>
                                </p:cTn>
                              </p:par>
                              <p:par>
                                <p:cTn id="104" presetID="22" presetClass="entr" presetSubtype="8" fill="hold" grpId="0" nodeType="withEffect">
                                  <p:stCondLst>
                                    <p:cond delay="475"/>
                                  </p:stCondLst>
                                  <p:childTnLst>
                                    <p:set>
                                      <p:cBhvr>
                                        <p:cTn id="105" dur="1" fill="hold">
                                          <p:stCondLst>
                                            <p:cond delay="0"/>
                                          </p:stCondLst>
                                        </p:cTn>
                                        <p:tgtEl>
                                          <p:spTgt spid="29"/>
                                        </p:tgtEl>
                                        <p:attrNameLst>
                                          <p:attrName>style.visibility</p:attrName>
                                        </p:attrNameLst>
                                      </p:cBhvr>
                                      <p:to>
                                        <p:strVal val="visible"/>
                                      </p:to>
                                    </p:set>
                                    <p:animEffect transition="in" filter="wipe(left)">
                                      <p:cBhvr>
                                        <p:cTn id="106" dur="500"/>
                                        <p:tgtEl>
                                          <p:spTgt spid="29"/>
                                        </p:tgtEl>
                                      </p:cBhvr>
                                    </p:animEffect>
                                  </p:childTnLst>
                                </p:cTn>
                              </p:par>
                              <p:par>
                                <p:cTn id="107" presetID="22" presetClass="entr" presetSubtype="8" fill="hold" grpId="0" nodeType="withEffect">
                                  <p:stCondLst>
                                    <p:cond delay="475"/>
                                  </p:stCondLst>
                                  <p:childTnLst>
                                    <p:set>
                                      <p:cBhvr>
                                        <p:cTn id="108" dur="1" fill="hold">
                                          <p:stCondLst>
                                            <p:cond delay="0"/>
                                          </p:stCondLst>
                                        </p:cTn>
                                        <p:tgtEl>
                                          <p:spTgt spid="42"/>
                                        </p:tgtEl>
                                        <p:attrNameLst>
                                          <p:attrName>style.visibility</p:attrName>
                                        </p:attrNameLst>
                                      </p:cBhvr>
                                      <p:to>
                                        <p:strVal val="visible"/>
                                      </p:to>
                                    </p:set>
                                    <p:animEffect transition="in" filter="wipe(left)">
                                      <p:cBhvr>
                                        <p:cTn id="109" dur="500"/>
                                        <p:tgtEl>
                                          <p:spTgt spid="42"/>
                                        </p:tgtEl>
                                      </p:cBhvr>
                                    </p:animEffect>
                                  </p:childTnLst>
                                </p:cTn>
                              </p:par>
                              <p:par>
                                <p:cTn id="110" presetID="22" presetClass="entr" presetSubtype="8" fill="hold" grpId="0" nodeType="withEffect">
                                  <p:stCondLst>
                                    <p:cond delay="475"/>
                                  </p:stCondLst>
                                  <p:childTnLst>
                                    <p:set>
                                      <p:cBhvr>
                                        <p:cTn id="111" dur="1" fill="hold">
                                          <p:stCondLst>
                                            <p:cond delay="0"/>
                                          </p:stCondLst>
                                        </p:cTn>
                                        <p:tgtEl>
                                          <p:spTgt spid="43"/>
                                        </p:tgtEl>
                                        <p:attrNameLst>
                                          <p:attrName>style.visibility</p:attrName>
                                        </p:attrNameLst>
                                      </p:cBhvr>
                                      <p:to>
                                        <p:strVal val="visible"/>
                                      </p:to>
                                    </p:set>
                                    <p:animEffect transition="in" filter="wipe(left)">
                                      <p:cBhvr>
                                        <p:cTn id="112" dur="500"/>
                                        <p:tgtEl>
                                          <p:spTgt spid="43"/>
                                        </p:tgtEl>
                                      </p:cBhvr>
                                    </p:animEffect>
                                  </p:childTnLst>
                                </p:cTn>
                              </p:par>
                              <p:par>
                                <p:cTn id="113" presetID="22" presetClass="entr" presetSubtype="8" fill="hold" grpId="0" nodeType="withEffect">
                                  <p:stCondLst>
                                    <p:cond delay="570"/>
                                  </p:stCondLst>
                                  <p:childTnLst>
                                    <p:set>
                                      <p:cBhvr>
                                        <p:cTn id="114" dur="1" fill="hold">
                                          <p:stCondLst>
                                            <p:cond delay="0"/>
                                          </p:stCondLst>
                                        </p:cTn>
                                        <p:tgtEl>
                                          <p:spTgt spid="16"/>
                                        </p:tgtEl>
                                        <p:attrNameLst>
                                          <p:attrName>style.visibility</p:attrName>
                                        </p:attrNameLst>
                                      </p:cBhvr>
                                      <p:to>
                                        <p:strVal val="visible"/>
                                      </p:to>
                                    </p:set>
                                    <p:animEffect transition="in" filter="wipe(left)">
                                      <p:cBhvr>
                                        <p:cTn id="115" dur="500"/>
                                        <p:tgtEl>
                                          <p:spTgt spid="16"/>
                                        </p:tgtEl>
                                      </p:cBhvr>
                                    </p:animEffect>
                                  </p:childTnLst>
                                </p:cTn>
                              </p:par>
                              <p:par>
                                <p:cTn id="116" presetID="22" presetClass="entr" presetSubtype="8" fill="hold" grpId="0" nodeType="withEffect">
                                  <p:stCondLst>
                                    <p:cond delay="570"/>
                                  </p:stCondLst>
                                  <p:childTnLst>
                                    <p:set>
                                      <p:cBhvr>
                                        <p:cTn id="117" dur="1" fill="hold">
                                          <p:stCondLst>
                                            <p:cond delay="0"/>
                                          </p:stCondLst>
                                        </p:cTn>
                                        <p:tgtEl>
                                          <p:spTgt spid="17"/>
                                        </p:tgtEl>
                                        <p:attrNameLst>
                                          <p:attrName>style.visibility</p:attrName>
                                        </p:attrNameLst>
                                      </p:cBhvr>
                                      <p:to>
                                        <p:strVal val="visible"/>
                                      </p:to>
                                    </p:set>
                                    <p:animEffect transition="in" filter="wipe(left)">
                                      <p:cBhvr>
                                        <p:cTn id="118" dur="500"/>
                                        <p:tgtEl>
                                          <p:spTgt spid="17"/>
                                        </p:tgtEl>
                                      </p:cBhvr>
                                    </p:animEffect>
                                  </p:childTnLst>
                                </p:cTn>
                              </p:par>
                              <p:par>
                                <p:cTn id="119" presetID="22" presetClass="entr" presetSubtype="8" fill="hold" grpId="0" nodeType="withEffect">
                                  <p:stCondLst>
                                    <p:cond delay="570"/>
                                  </p:stCondLst>
                                  <p:childTnLst>
                                    <p:set>
                                      <p:cBhvr>
                                        <p:cTn id="120" dur="1" fill="hold">
                                          <p:stCondLst>
                                            <p:cond delay="0"/>
                                          </p:stCondLst>
                                        </p:cTn>
                                        <p:tgtEl>
                                          <p:spTgt spid="30"/>
                                        </p:tgtEl>
                                        <p:attrNameLst>
                                          <p:attrName>style.visibility</p:attrName>
                                        </p:attrNameLst>
                                      </p:cBhvr>
                                      <p:to>
                                        <p:strVal val="visible"/>
                                      </p:to>
                                    </p:set>
                                    <p:animEffect transition="in" filter="wipe(left)">
                                      <p:cBhvr>
                                        <p:cTn id="121" dur="500"/>
                                        <p:tgtEl>
                                          <p:spTgt spid="30"/>
                                        </p:tgtEl>
                                      </p:cBhvr>
                                    </p:animEffect>
                                  </p:childTnLst>
                                </p:cTn>
                              </p:par>
                              <p:par>
                                <p:cTn id="122" presetID="22" presetClass="entr" presetSubtype="8" fill="hold" grpId="0" nodeType="withEffect">
                                  <p:stCondLst>
                                    <p:cond delay="570"/>
                                  </p:stCondLst>
                                  <p:childTnLst>
                                    <p:set>
                                      <p:cBhvr>
                                        <p:cTn id="123" dur="1" fill="hold">
                                          <p:stCondLst>
                                            <p:cond delay="0"/>
                                          </p:stCondLst>
                                        </p:cTn>
                                        <p:tgtEl>
                                          <p:spTgt spid="31"/>
                                        </p:tgtEl>
                                        <p:attrNameLst>
                                          <p:attrName>style.visibility</p:attrName>
                                        </p:attrNameLst>
                                      </p:cBhvr>
                                      <p:to>
                                        <p:strVal val="visible"/>
                                      </p:to>
                                    </p:set>
                                    <p:animEffect transition="in" filter="wipe(left)">
                                      <p:cBhvr>
                                        <p:cTn id="124" dur="500"/>
                                        <p:tgtEl>
                                          <p:spTgt spid="31"/>
                                        </p:tgtEl>
                                      </p:cBhvr>
                                    </p:animEffect>
                                  </p:childTnLst>
                                </p:cTn>
                              </p:par>
                              <p:par>
                                <p:cTn id="125" presetID="22" presetClass="entr" presetSubtype="8" fill="hold" grpId="0" nodeType="withEffect">
                                  <p:stCondLst>
                                    <p:cond delay="570"/>
                                  </p:stCondLst>
                                  <p:childTnLst>
                                    <p:set>
                                      <p:cBhvr>
                                        <p:cTn id="126" dur="1" fill="hold">
                                          <p:stCondLst>
                                            <p:cond delay="0"/>
                                          </p:stCondLst>
                                        </p:cTn>
                                        <p:tgtEl>
                                          <p:spTgt spid="44"/>
                                        </p:tgtEl>
                                        <p:attrNameLst>
                                          <p:attrName>style.visibility</p:attrName>
                                        </p:attrNameLst>
                                      </p:cBhvr>
                                      <p:to>
                                        <p:strVal val="visible"/>
                                      </p:to>
                                    </p:set>
                                    <p:animEffect transition="in" filter="wipe(left)">
                                      <p:cBhvr>
                                        <p:cTn id="127" dur="500"/>
                                        <p:tgtEl>
                                          <p:spTgt spid="44"/>
                                        </p:tgtEl>
                                      </p:cBhvr>
                                    </p:animEffect>
                                  </p:childTnLst>
                                </p:cTn>
                              </p:par>
                              <p:par>
                                <p:cTn id="128" presetID="22" presetClass="entr" presetSubtype="8" fill="hold" grpId="0" nodeType="withEffect">
                                  <p:stCondLst>
                                    <p:cond delay="570"/>
                                  </p:stCondLst>
                                  <p:childTnLst>
                                    <p:set>
                                      <p:cBhvr>
                                        <p:cTn id="129" dur="1" fill="hold">
                                          <p:stCondLst>
                                            <p:cond delay="0"/>
                                          </p:stCondLst>
                                        </p:cTn>
                                        <p:tgtEl>
                                          <p:spTgt spid="45"/>
                                        </p:tgtEl>
                                        <p:attrNameLst>
                                          <p:attrName>style.visibility</p:attrName>
                                        </p:attrNameLst>
                                      </p:cBhvr>
                                      <p:to>
                                        <p:strVal val="visible"/>
                                      </p:to>
                                    </p:set>
                                    <p:animEffect transition="in" filter="wipe(left)">
                                      <p:cBhvr>
                                        <p:cTn id="130" dur="500"/>
                                        <p:tgtEl>
                                          <p:spTgt spid="45"/>
                                        </p:tgtEl>
                                      </p:cBhvr>
                                    </p:animEffect>
                                  </p:childTnLst>
                                </p:cTn>
                              </p:par>
                            </p:childTnLst>
                          </p:cTn>
                        </p:par>
                      </p:childTnLst>
                    </p:cTn>
                  </p:par>
                  <p:par>
                    <p:cTn id="131" fill="hold">
                      <p:stCondLst>
                        <p:cond delay="indefinite"/>
                      </p:stCondLst>
                      <p:childTnLst>
                        <p:par>
                          <p:cTn id="132" fill="hold">
                            <p:stCondLst>
                              <p:cond delay="0"/>
                            </p:stCondLst>
                            <p:childTnLst>
                              <p:par>
                                <p:cTn id="133" presetID="10" presetClass="entr" presetSubtype="0" fill="hold" grpId="0" nodeType="click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500"/>
                                        <p:tgtEl>
                                          <p:spTgt spid="4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500"/>
                                        <p:tgtEl>
                                          <p:spTgt spid="4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a0f_h1"/>
          <p:cNvSpPr txBox="1"/>
          <p:nvPr/>
        </p:nvSpPr>
        <p:spPr>
          <a:xfrm>
            <a:off x="548640" y="384048"/>
            <a:ext cx="7315200" cy="640080"/>
          </a:xfrm>
          <a:prstGeom prst="rect">
            <a:avLst/>
          </a:prstGeom>
          <a:noFill/>
        </p:spPr>
        <p:txBody>
          <a:bodyPr wrap="square" lIns="0" tIns="0" rIns="0" bIns="0" anchor="ctr">
            <a:spAutoFit/>
          </a:bodyPr>
          <a:lstStyle/>
          <a:p>
            <a:pPr algn="l"/>
            <a:r>
              <a:rPr sz="3200" b="1">
                <a:solidFill>
                  <a:srgbClr val="FFFFFF"/>
                </a:solidFill>
                <a:latin typeface="Calibri"/>
              </a:rPr>
              <a:t>Five things to leave with</a:t>
            </a:r>
          </a:p>
        </p:txBody>
      </p:sp>
      <p:sp>
        <p:nvSpPr>
          <p:cNvPr id="3" name="a1u_n2"/>
          <p:cNvSpPr/>
          <p:nvPr/>
        </p:nvSpPr>
        <p:spPr>
          <a:xfrm>
            <a:off x="548640" y="1298448"/>
            <a:ext cx="402336" cy="402336"/>
          </a:xfrm>
          <a:prstGeom prst="roundRect">
            <a:avLst>
              <a:gd name="adj" fmla="val 22727"/>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a1u_nt3"/>
          <p:cNvSpPr txBox="1"/>
          <p:nvPr/>
        </p:nvSpPr>
        <p:spPr>
          <a:xfrm>
            <a:off x="548640" y="1298448"/>
            <a:ext cx="402336" cy="402336"/>
          </a:xfrm>
          <a:prstGeom prst="rect">
            <a:avLst/>
          </a:prstGeom>
          <a:noFill/>
        </p:spPr>
        <p:txBody>
          <a:bodyPr wrap="square" lIns="0" tIns="0" rIns="0" bIns="0" anchor="ctr">
            <a:spAutoFit/>
          </a:bodyPr>
          <a:lstStyle/>
          <a:p>
            <a:pPr algn="ctr"/>
            <a:r>
              <a:rPr sz="1500" b="1">
                <a:solidFill>
                  <a:srgbClr val="FFFFFF"/>
                </a:solidFill>
                <a:latin typeface="Calibri"/>
              </a:rPr>
              <a:t>1</a:t>
            </a:r>
          </a:p>
        </p:txBody>
      </p:sp>
      <p:sp>
        <p:nvSpPr>
          <p:cNvPr id="5" name="a1u_nb4"/>
          <p:cNvSpPr txBox="1"/>
          <p:nvPr/>
        </p:nvSpPr>
        <p:spPr>
          <a:xfrm>
            <a:off x="1152144" y="1252728"/>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An atom is a name, interned once</a:t>
            </a:r>
          </a:p>
          <a:p>
            <a:pPr algn="l">
              <a:spcAft>
                <a:spcPts val="100"/>
              </a:spcAft>
            </a:pPr>
            <a:r>
              <a:rPr sz="1200" b="0">
                <a:solidFill>
                  <a:srgbClr val="E2E8F0"/>
                </a:solidFill>
                <a:latin typeface="Calibri"/>
              </a:rPr>
              <a:t>Two atoms spelled the same are literally the same word in memory.</a:t>
            </a:r>
          </a:p>
        </p:txBody>
      </p:sp>
      <p:sp>
        <p:nvSpPr>
          <p:cNvPr id="6" name="a1ud200_n5"/>
          <p:cNvSpPr/>
          <p:nvPr/>
        </p:nvSpPr>
        <p:spPr>
          <a:xfrm>
            <a:off x="548640" y="2048255"/>
            <a:ext cx="402336" cy="402336"/>
          </a:xfrm>
          <a:prstGeom prst="roundRect">
            <a:avLst>
              <a:gd name="adj" fmla="val 22727"/>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a1ud200_nt6"/>
          <p:cNvSpPr txBox="1"/>
          <p:nvPr/>
        </p:nvSpPr>
        <p:spPr>
          <a:xfrm>
            <a:off x="548640" y="2048255"/>
            <a:ext cx="402336" cy="402336"/>
          </a:xfrm>
          <a:prstGeom prst="rect">
            <a:avLst/>
          </a:prstGeom>
          <a:noFill/>
        </p:spPr>
        <p:txBody>
          <a:bodyPr wrap="square" lIns="0" tIns="0" rIns="0" bIns="0" anchor="ctr">
            <a:spAutoFit/>
          </a:bodyPr>
          <a:lstStyle/>
          <a:p>
            <a:pPr algn="ctr"/>
            <a:r>
              <a:rPr sz="1500" b="1">
                <a:solidFill>
                  <a:srgbClr val="FFFFFF"/>
                </a:solidFill>
                <a:latin typeface="Calibri"/>
              </a:rPr>
              <a:t>2</a:t>
            </a:r>
          </a:p>
        </p:txBody>
      </p:sp>
      <p:sp>
        <p:nvSpPr>
          <p:cNvPr id="8" name="a1ud200_nb7"/>
          <p:cNvSpPr txBox="1"/>
          <p:nvPr/>
        </p:nvSpPr>
        <p:spPr>
          <a:xfrm>
            <a:off x="1152144" y="2002536"/>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Free to carry, permanent to create</a:t>
            </a:r>
          </a:p>
          <a:p>
            <a:pPr algn="l">
              <a:spcAft>
                <a:spcPts val="100"/>
              </a:spcAft>
            </a:pPr>
            <a:r>
              <a:rPr sz="1200" b="0">
                <a:solidFill>
                  <a:srgbClr val="E2E8F0"/>
                </a:solidFill>
                <a:latin typeface="Calibri"/>
              </a:rPr>
              <a:t>Zero heap words inside a term; ~45 bytes forever in a global table.</a:t>
            </a:r>
          </a:p>
        </p:txBody>
      </p:sp>
      <p:sp>
        <p:nvSpPr>
          <p:cNvPr id="9" name="a1ud400_n8"/>
          <p:cNvSpPr/>
          <p:nvPr/>
        </p:nvSpPr>
        <p:spPr>
          <a:xfrm>
            <a:off x="548640" y="2798063"/>
            <a:ext cx="402336" cy="402336"/>
          </a:xfrm>
          <a:prstGeom prst="roundRect">
            <a:avLst>
              <a:gd name="adj" fmla="val 22727"/>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a1ud400_nt9"/>
          <p:cNvSpPr txBox="1"/>
          <p:nvPr/>
        </p:nvSpPr>
        <p:spPr>
          <a:xfrm>
            <a:off x="548640" y="2798063"/>
            <a:ext cx="402336" cy="402336"/>
          </a:xfrm>
          <a:prstGeom prst="rect">
            <a:avLst/>
          </a:prstGeom>
          <a:noFill/>
        </p:spPr>
        <p:txBody>
          <a:bodyPr wrap="square" lIns="0" tIns="0" rIns="0" bIns="0" anchor="ctr">
            <a:spAutoFit/>
          </a:bodyPr>
          <a:lstStyle/>
          <a:p>
            <a:pPr algn="ctr"/>
            <a:r>
              <a:rPr sz="1500" b="1">
                <a:solidFill>
                  <a:srgbClr val="FFFFFF"/>
                </a:solidFill>
                <a:latin typeface="Calibri"/>
              </a:rPr>
              <a:t>3</a:t>
            </a:r>
          </a:p>
        </p:txBody>
      </p:sp>
      <p:sp>
        <p:nvSpPr>
          <p:cNvPr id="11" name="a1ud400_nb10"/>
          <p:cNvSpPr txBox="1"/>
          <p:nvPr/>
        </p:nvSpPr>
        <p:spPr>
          <a:xfrm>
            <a:off x="1152144" y="2752344"/>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Use one when you own the value set</a:t>
            </a:r>
          </a:p>
          <a:p>
            <a:pPr algn="l">
              <a:spcAft>
                <a:spcPts val="100"/>
              </a:spcAft>
            </a:pPr>
            <a:r>
              <a:rPr sz="1200" b="0">
                <a:solidFill>
                  <a:srgbClr val="E2E8F0"/>
                </a:solidFill>
                <a:latin typeface="Calibri"/>
              </a:rPr>
              <a:t>Tags, options, states, module names, process names — all closed sets.</a:t>
            </a:r>
          </a:p>
        </p:txBody>
      </p:sp>
      <p:sp>
        <p:nvSpPr>
          <p:cNvPr id="12" name="a1ud600_n11"/>
          <p:cNvSpPr/>
          <p:nvPr/>
        </p:nvSpPr>
        <p:spPr>
          <a:xfrm>
            <a:off x="548640" y="3547871"/>
            <a:ext cx="402336" cy="402336"/>
          </a:xfrm>
          <a:prstGeom prst="roundRect">
            <a:avLst>
              <a:gd name="adj" fmla="val 22727"/>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a1ud600_nt12"/>
          <p:cNvSpPr txBox="1"/>
          <p:nvPr/>
        </p:nvSpPr>
        <p:spPr>
          <a:xfrm>
            <a:off x="548640" y="3547871"/>
            <a:ext cx="402336" cy="402336"/>
          </a:xfrm>
          <a:prstGeom prst="rect">
            <a:avLst/>
          </a:prstGeom>
          <a:noFill/>
        </p:spPr>
        <p:txBody>
          <a:bodyPr wrap="square" lIns="0" tIns="0" rIns="0" bIns="0" anchor="ctr">
            <a:spAutoFit/>
          </a:bodyPr>
          <a:lstStyle/>
          <a:p>
            <a:pPr algn="ctr"/>
            <a:r>
              <a:rPr sz="1500" b="1">
                <a:solidFill>
                  <a:srgbClr val="FFFFFF"/>
                </a:solidFill>
                <a:latin typeface="Calibri"/>
              </a:rPr>
              <a:t>4</a:t>
            </a:r>
          </a:p>
        </p:txBody>
      </p:sp>
      <p:sp>
        <p:nvSpPr>
          <p:cNvPr id="14" name="a1ud600_nb13"/>
          <p:cNvSpPr txBox="1"/>
          <p:nvPr/>
        </p:nvSpPr>
        <p:spPr>
          <a:xfrm>
            <a:off x="1152144" y="3502151"/>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Use a string when someone else does</a:t>
            </a:r>
          </a:p>
          <a:p>
            <a:pPr algn="l">
              <a:spcAft>
                <a:spcPts val="100"/>
              </a:spcAft>
            </a:pPr>
            <a:r>
              <a:rPr sz="1200" b="0">
                <a:solidFill>
                  <a:srgbClr val="E2E8F0"/>
                </a:solidFill>
                <a:latin typeface="Calibri"/>
              </a:rPr>
              <a:t>Anything from a user, a form, JSON or a database column.</a:t>
            </a:r>
          </a:p>
        </p:txBody>
      </p:sp>
      <p:sp>
        <p:nvSpPr>
          <p:cNvPr id="15" name="a1ud800_n14"/>
          <p:cNvSpPr/>
          <p:nvPr/>
        </p:nvSpPr>
        <p:spPr>
          <a:xfrm>
            <a:off x="548640" y="4297679"/>
            <a:ext cx="402336" cy="402336"/>
          </a:xfrm>
          <a:prstGeom prst="roundRect">
            <a:avLst>
              <a:gd name="adj" fmla="val 22727"/>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a1ud800_nt15"/>
          <p:cNvSpPr txBox="1"/>
          <p:nvPr/>
        </p:nvSpPr>
        <p:spPr>
          <a:xfrm>
            <a:off x="548640" y="4297679"/>
            <a:ext cx="402336" cy="402336"/>
          </a:xfrm>
          <a:prstGeom prst="rect">
            <a:avLst/>
          </a:prstGeom>
          <a:noFill/>
        </p:spPr>
        <p:txBody>
          <a:bodyPr wrap="square" lIns="0" tIns="0" rIns="0" bIns="0" anchor="ctr">
            <a:spAutoFit/>
          </a:bodyPr>
          <a:lstStyle/>
          <a:p>
            <a:pPr algn="ctr"/>
            <a:r>
              <a:rPr sz="1500" b="1">
                <a:solidFill>
                  <a:srgbClr val="FFFFFF"/>
                </a:solidFill>
                <a:latin typeface="Calibri"/>
              </a:rPr>
              <a:t>5</a:t>
            </a:r>
          </a:p>
        </p:txBody>
      </p:sp>
      <p:sp>
        <p:nvSpPr>
          <p:cNvPr id="17" name="a1ud800_nb16"/>
          <p:cNvSpPr txBox="1"/>
          <p:nvPr/>
        </p:nvSpPr>
        <p:spPr>
          <a:xfrm>
            <a:off x="1152144" y="4251959"/>
            <a:ext cx="4791456" cy="493776"/>
          </a:xfrm>
          <a:prstGeom prst="rect">
            <a:avLst/>
          </a:prstGeom>
          <a:noFill/>
        </p:spPr>
        <p:txBody>
          <a:bodyPr wrap="square" lIns="0" tIns="0" rIns="0" bIns="0" anchor="ctr">
            <a:spAutoFit/>
          </a:bodyPr>
          <a:lstStyle/>
          <a:p>
            <a:pPr algn="l">
              <a:spcAft>
                <a:spcPts val="100"/>
              </a:spcAft>
            </a:pPr>
            <a:r>
              <a:rPr sz="1400" b="1">
                <a:solidFill>
                  <a:srgbClr val="FFFFFF"/>
                </a:solidFill>
                <a:latin typeface="Calibri"/>
              </a:rPr>
              <a:t>String.to_atom/1 on input kills nodes</a:t>
            </a:r>
          </a:p>
          <a:p>
            <a:pPr algn="l">
              <a:spcAft>
                <a:spcPts val="100"/>
              </a:spcAft>
            </a:pPr>
            <a:r>
              <a:rPr sz="1200" b="0">
                <a:solidFill>
                  <a:srgbClr val="E2E8F0"/>
                </a:solidFill>
                <a:latin typeface="Calibri"/>
              </a:rPr>
              <a:t>No warning, no exception — the VM aborts. Graph atom_count.</a:t>
            </a:r>
          </a:p>
        </p:txBody>
      </p:sp>
      <p:sp>
        <p:nvSpPr>
          <p:cNvPr id="18" name="a2u_next17"/>
          <p:cNvSpPr/>
          <p:nvPr/>
        </p:nvSpPr>
        <p:spPr>
          <a:xfrm>
            <a:off x="6172200" y="3246120"/>
            <a:ext cx="2514600" cy="1005840"/>
          </a:xfrm>
          <a:prstGeom prst="roundRect">
            <a:avLst>
              <a:gd name="adj" fmla="val 9090"/>
            </a:avLst>
          </a:prstGeom>
          <a:solidFill>
            <a:srgbClr val="1E293B"/>
          </a:solidFill>
          <a:ln w="12700">
            <a:solidFill>
              <a:srgbClr val="47556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a2u_nextt18"/>
          <p:cNvSpPr txBox="1"/>
          <p:nvPr/>
        </p:nvSpPr>
        <p:spPr>
          <a:xfrm>
            <a:off x="6355080" y="3364992"/>
            <a:ext cx="2194560" cy="777240"/>
          </a:xfrm>
          <a:prstGeom prst="rect">
            <a:avLst/>
          </a:prstGeom>
          <a:noFill/>
        </p:spPr>
        <p:txBody>
          <a:bodyPr wrap="square" lIns="0" tIns="0" rIns="0" bIns="0" anchor="t">
            <a:spAutoFit/>
          </a:bodyPr>
          <a:lstStyle/>
          <a:p>
            <a:pPr algn="l">
              <a:spcAft>
                <a:spcPts val="400"/>
              </a:spcAft>
            </a:pPr>
            <a:r>
              <a:rPr sz="900" b="1" spc="220">
                <a:solidFill>
                  <a:srgbClr val="9B72CF"/>
                </a:solidFill>
                <a:latin typeface="Calibri"/>
              </a:rPr>
              <a:t>UP NEXT</a:t>
            </a:r>
          </a:p>
          <a:p>
            <a:pPr algn="l">
              <a:spcAft>
                <a:spcPts val="400"/>
              </a:spcAft>
            </a:pPr>
            <a:r>
              <a:rPr sz="1200" b="0">
                <a:solidFill>
                  <a:srgbClr val="E2E8F0"/>
                </a:solidFill>
                <a:latin typeface="Calibri"/>
              </a:rPr>
              <a:t>Enum, Stream and
the pipeline style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ppt_y+0.1"/>
                                          </p:val>
                                        </p:tav>
                                        <p:tav tm="100000">
                                          <p:val>
                                            <p:strVal val="#ppt_y"/>
                                          </p:val>
                                        </p:tav>
                                      </p:tavLst>
                                    </p:anim>
                                    <p:animEffect transition="in" filter="fade">
                                      <p:cBhvr>
                                        <p:cTn id="14" dur="500"/>
                                        <p:tgtEl>
                                          <p:spTgt spid="3"/>
                                        </p:tgtEl>
                                      </p:cBhvr>
                                    </p:animEffect>
                                  </p:childTnLst>
                                </p:cTn>
                              </p:par>
                              <p:par>
                                <p:cTn id="15" presetID="2" presetClass="entr" presetSubtype="4"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ppt_y+0.1"/>
                                          </p:val>
                                        </p:tav>
                                        <p:tav tm="100000">
                                          <p:val>
                                            <p:strVal val="#ppt_y"/>
                                          </p:val>
                                        </p:tav>
                                      </p:tavLst>
                                    </p:anim>
                                    <p:animEffect transition="in" filter="fade">
                                      <p:cBhvr>
                                        <p:cTn id="19" dur="500"/>
                                        <p:tgtEl>
                                          <p:spTgt spid="4"/>
                                        </p:tgtEl>
                                      </p:cBhvr>
                                    </p:animEffect>
                                  </p:childTnLst>
                                </p:cTn>
                              </p:par>
                              <p:par>
                                <p:cTn id="20" presetID="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ppt_y+0.1"/>
                                          </p:val>
                                        </p:tav>
                                        <p:tav tm="100000">
                                          <p:val>
                                            <p:strVal val="#ppt_y"/>
                                          </p:val>
                                        </p:tav>
                                      </p:tavLst>
                                    </p:anim>
                                    <p:animEffect transition="in" filter="fade">
                                      <p:cBhvr>
                                        <p:cTn id="24" dur="500"/>
                                        <p:tgtEl>
                                          <p:spTgt spid="5"/>
                                        </p:tgtEl>
                                      </p:cBhvr>
                                    </p:animEffect>
                                  </p:childTnLst>
                                </p:cTn>
                              </p:par>
                              <p:par>
                                <p:cTn id="25" presetID="2" presetClass="entr" presetSubtype="4" fill="hold" grpId="0" nodeType="withEffect">
                                  <p:stCondLst>
                                    <p:cond delay="20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ppt_y+0.1"/>
                                          </p:val>
                                        </p:tav>
                                        <p:tav tm="100000">
                                          <p:val>
                                            <p:strVal val="#ppt_y"/>
                                          </p:val>
                                        </p:tav>
                                      </p:tavLst>
                                    </p:anim>
                                    <p:animEffect transition="in" filter="fade">
                                      <p:cBhvr>
                                        <p:cTn id="29" dur="500"/>
                                        <p:tgtEl>
                                          <p:spTgt spid="6"/>
                                        </p:tgtEl>
                                      </p:cBhvr>
                                    </p:animEffect>
                                  </p:childTnLst>
                                </p:cTn>
                              </p:par>
                              <p:par>
                                <p:cTn id="30" presetID="2" presetClass="entr" presetSubtype="4" fill="hold" grpId="0" nodeType="withEffect">
                                  <p:stCondLst>
                                    <p:cond delay="20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ppt_y+0.1"/>
                                          </p:val>
                                        </p:tav>
                                        <p:tav tm="100000">
                                          <p:val>
                                            <p:strVal val="#ppt_y"/>
                                          </p:val>
                                        </p:tav>
                                      </p:tavLst>
                                    </p:anim>
                                    <p:animEffect transition="in" filter="fade">
                                      <p:cBhvr>
                                        <p:cTn id="34" dur="500"/>
                                        <p:tgtEl>
                                          <p:spTgt spid="7"/>
                                        </p:tgtEl>
                                      </p:cBhvr>
                                    </p:animEffect>
                                  </p:childTnLst>
                                </p:cTn>
                              </p:par>
                              <p:par>
                                <p:cTn id="35" presetID="2" presetClass="entr" presetSubtype="4" fill="hold" grpId="0" nodeType="withEffect">
                                  <p:stCondLst>
                                    <p:cond delay="20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ppt_y+0.1"/>
                                          </p:val>
                                        </p:tav>
                                        <p:tav tm="100000">
                                          <p:val>
                                            <p:strVal val="#ppt_y"/>
                                          </p:val>
                                        </p:tav>
                                      </p:tavLst>
                                    </p:anim>
                                    <p:animEffect transition="in" filter="fade">
                                      <p:cBhvr>
                                        <p:cTn id="39" dur="500"/>
                                        <p:tgtEl>
                                          <p:spTgt spid="8"/>
                                        </p:tgtEl>
                                      </p:cBhvr>
                                    </p:animEffect>
                                  </p:childTnLst>
                                </p:cTn>
                              </p:par>
                              <p:par>
                                <p:cTn id="40" presetID="2" presetClass="entr" presetSubtype="4" fill="hold" grpId="0" nodeType="withEffect">
                                  <p:stCondLst>
                                    <p:cond delay="40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ppt_y+0.1"/>
                                          </p:val>
                                        </p:tav>
                                        <p:tav tm="100000">
                                          <p:val>
                                            <p:strVal val="#ppt_y"/>
                                          </p:val>
                                        </p:tav>
                                      </p:tavLst>
                                    </p:anim>
                                    <p:animEffect transition="in" filter="fade">
                                      <p:cBhvr>
                                        <p:cTn id="44" dur="500"/>
                                        <p:tgtEl>
                                          <p:spTgt spid="9"/>
                                        </p:tgtEl>
                                      </p:cBhvr>
                                    </p:animEffect>
                                  </p:childTnLst>
                                </p:cTn>
                              </p:par>
                              <p:par>
                                <p:cTn id="45" presetID="2" presetClass="entr" presetSubtype="4" fill="hold" grpId="0" nodeType="withEffect">
                                  <p:stCondLst>
                                    <p:cond delay="40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500" fill="hold"/>
                                        <p:tgtEl>
                                          <p:spTgt spid="10"/>
                                        </p:tgtEl>
                                        <p:attrNameLst>
                                          <p:attrName>ppt_x</p:attrName>
                                        </p:attrNameLst>
                                      </p:cBhvr>
                                      <p:tavLst>
                                        <p:tav tm="0">
                                          <p:val>
                                            <p:strVal val="#ppt_x"/>
                                          </p:val>
                                        </p:tav>
                                        <p:tav tm="100000">
                                          <p:val>
                                            <p:strVal val="#ppt_x"/>
                                          </p:val>
                                        </p:tav>
                                      </p:tavLst>
                                    </p:anim>
                                    <p:anim calcmode="lin" valueType="num">
                                      <p:cBhvr additive="base">
                                        <p:cTn id="48" dur="500" fill="hold"/>
                                        <p:tgtEl>
                                          <p:spTgt spid="10"/>
                                        </p:tgtEl>
                                        <p:attrNameLst>
                                          <p:attrName>ppt_y</p:attrName>
                                        </p:attrNameLst>
                                      </p:cBhvr>
                                      <p:tavLst>
                                        <p:tav tm="0">
                                          <p:val>
                                            <p:strVal val="#ppt_y+0.1"/>
                                          </p:val>
                                        </p:tav>
                                        <p:tav tm="100000">
                                          <p:val>
                                            <p:strVal val="#ppt_y"/>
                                          </p:val>
                                        </p:tav>
                                      </p:tavLst>
                                    </p:anim>
                                    <p:animEffect transition="in" filter="fade">
                                      <p:cBhvr>
                                        <p:cTn id="49" dur="500"/>
                                        <p:tgtEl>
                                          <p:spTgt spid="10"/>
                                        </p:tgtEl>
                                      </p:cBhvr>
                                    </p:animEffect>
                                  </p:childTnLst>
                                </p:cTn>
                              </p:par>
                              <p:par>
                                <p:cTn id="50" presetID="2" presetClass="entr" presetSubtype="4" fill="hold" grpId="0" nodeType="withEffect">
                                  <p:stCondLst>
                                    <p:cond delay="40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ppt_y+0.1"/>
                                          </p:val>
                                        </p:tav>
                                        <p:tav tm="100000">
                                          <p:val>
                                            <p:strVal val="#ppt_y"/>
                                          </p:val>
                                        </p:tav>
                                      </p:tavLst>
                                    </p:anim>
                                    <p:animEffect transition="in" filter="fade">
                                      <p:cBhvr>
                                        <p:cTn id="54" dur="500"/>
                                        <p:tgtEl>
                                          <p:spTgt spid="11"/>
                                        </p:tgtEl>
                                      </p:cBhvr>
                                    </p:animEffect>
                                  </p:childTnLst>
                                </p:cTn>
                              </p:par>
                              <p:par>
                                <p:cTn id="55" presetID="2" presetClass="entr" presetSubtype="4" fill="hold" grpId="0" nodeType="withEffect">
                                  <p:stCondLst>
                                    <p:cond delay="60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ppt_y+0.1"/>
                                          </p:val>
                                        </p:tav>
                                        <p:tav tm="100000">
                                          <p:val>
                                            <p:strVal val="#ppt_y"/>
                                          </p:val>
                                        </p:tav>
                                      </p:tavLst>
                                    </p:anim>
                                    <p:animEffect transition="in" filter="fade">
                                      <p:cBhvr>
                                        <p:cTn id="59" dur="500"/>
                                        <p:tgtEl>
                                          <p:spTgt spid="12"/>
                                        </p:tgtEl>
                                      </p:cBhvr>
                                    </p:animEffect>
                                  </p:childTnLst>
                                </p:cTn>
                              </p:par>
                              <p:par>
                                <p:cTn id="60" presetID="2" presetClass="entr" presetSubtype="4" fill="hold" grpId="0" nodeType="withEffect">
                                  <p:stCondLst>
                                    <p:cond delay="600"/>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500" fill="hold"/>
                                        <p:tgtEl>
                                          <p:spTgt spid="13"/>
                                        </p:tgtEl>
                                        <p:attrNameLst>
                                          <p:attrName>ppt_x</p:attrName>
                                        </p:attrNameLst>
                                      </p:cBhvr>
                                      <p:tavLst>
                                        <p:tav tm="0">
                                          <p:val>
                                            <p:strVal val="#ppt_x"/>
                                          </p:val>
                                        </p:tav>
                                        <p:tav tm="100000">
                                          <p:val>
                                            <p:strVal val="#ppt_x"/>
                                          </p:val>
                                        </p:tav>
                                      </p:tavLst>
                                    </p:anim>
                                    <p:anim calcmode="lin" valueType="num">
                                      <p:cBhvr additive="base">
                                        <p:cTn id="63" dur="500" fill="hold"/>
                                        <p:tgtEl>
                                          <p:spTgt spid="13"/>
                                        </p:tgtEl>
                                        <p:attrNameLst>
                                          <p:attrName>ppt_y</p:attrName>
                                        </p:attrNameLst>
                                      </p:cBhvr>
                                      <p:tavLst>
                                        <p:tav tm="0">
                                          <p:val>
                                            <p:strVal val="#ppt_y+0.1"/>
                                          </p:val>
                                        </p:tav>
                                        <p:tav tm="100000">
                                          <p:val>
                                            <p:strVal val="#ppt_y"/>
                                          </p:val>
                                        </p:tav>
                                      </p:tavLst>
                                    </p:anim>
                                    <p:animEffect transition="in" filter="fade">
                                      <p:cBhvr>
                                        <p:cTn id="64" dur="500"/>
                                        <p:tgtEl>
                                          <p:spTgt spid="13"/>
                                        </p:tgtEl>
                                      </p:cBhvr>
                                    </p:animEffect>
                                  </p:childTnLst>
                                </p:cTn>
                              </p:par>
                              <p:par>
                                <p:cTn id="65" presetID="2" presetClass="entr" presetSubtype="4" fill="hold" grpId="0" nodeType="withEffect">
                                  <p:stCondLst>
                                    <p:cond delay="600"/>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500" fill="hold"/>
                                        <p:tgtEl>
                                          <p:spTgt spid="14"/>
                                        </p:tgtEl>
                                        <p:attrNameLst>
                                          <p:attrName>ppt_x</p:attrName>
                                        </p:attrNameLst>
                                      </p:cBhvr>
                                      <p:tavLst>
                                        <p:tav tm="0">
                                          <p:val>
                                            <p:strVal val="#ppt_x"/>
                                          </p:val>
                                        </p:tav>
                                        <p:tav tm="100000">
                                          <p:val>
                                            <p:strVal val="#ppt_x"/>
                                          </p:val>
                                        </p:tav>
                                      </p:tavLst>
                                    </p:anim>
                                    <p:anim calcmode="lin" valueType="num">
                                      <p:cBhvr additive="base">
                                        <p:cTn id="68" dur="500" fill="hold"/>
                                        <p:tgtEl>
                                          <p:spTgt spid="14"/>
                                        </p:tgtEl>
                                        <p:attrNameLst>
                                          <p:attrName>ppt_y</p:attrName>
                                        </p:attrNameLst>
                                      </p:cBhvr>
                                      <p:tavLst>
                                        <p:tav tm="0">
                                          <p:val>
                                            <p:strVal val="#ppt_y+0.1"/>
                                          </p:val>
                                        </p:tav>
                                        <p:tav tm="100000">
                                          <p:val>
                                            <p:strVal val="#ppt_y"/>
                                          </p:val>
                                        </p:tav>
                                      </p:tavLst>
                                    </p:anim>
                                    <p:animEffect transition="in" filter="fade">
                                      <p:cBhvr>
                                        <p:cTn id="69" dur="500"/>
                                        <p:tgtEl>
                                          <p:spTgt spid="14"/>
                                        </p:tgtEl>
                                      </p:cBhvr>
                                    </p:animEffect>
                                  </p:childTnLst>
                                </p:cTn>
                              </p:par>
                              <p:par>
                                <p:cTn id="70" presetID="2" presetClass="entr" presetSubtype="4" fill="hold" grpId="0" nodeType="withEffect">
                                  <p:stCondLst>
                                    <p:cond delay="800"/>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500" fill="hold"/>
                                        <p:tgtEl>
                                          <p:spTgt spid="15"/>
                                        </p:tgtEl>
                                        <p:attrNameLst>
                                          <p:attrName>ppt_x</p:attrName>
                                        </p:attrNameLst>
                                      </p:cBhvr>
                                      <p:tavLst>
                                        <p:tav tm="0">
                                          <p:val>
                                            <p:strVal val="#ppt_x"/>
                                          </p:val>
                                        </p:tav>
                                        <p:tav tm="100000">
                                          <p:val>
                                            <p:strVal val="#ppt_x"/>
                                          </p:val>
                                        </p:tav>
                                      </p:tavLst>
                                    </p:anim>
                                    <p:anim calcmode="lin" valueType="num">
                                      <p:cBhvr additive="base">
                                        <p:cTn id="73" dur="500" fill="hold"/>
                                        <p:tgtEl>
                                          <p:spTgt spid="15"/>
                                        </p:tgtEl>
                                        <p:attrNameLst>
                                          <p:attrName>ppt_y</p:attrName>
                                        </p:attrNameLst>
                                      </p:cBhvr>
                                      <p:tavLst>
                                        <p:tav tm="0">
                                          <p:val>
                                            <p:strVal val="#ppt_y+0.1"/>
                                          </p:val>
                                        </p:tav>
                                        <p:tav tm="100000">
                                          <p:val>
                                            <p:strVal val="#ppt_y"/>
                                          </p:val>
                                        </p:tav>
                                      </p:tavLst>
                                    </p:anim>
                                    <p:animEffect transition="in" filter="fade">
                                      <p:cBhvr>
                                        <p:cTn id="74" dur="500"/>
                                        <p:tgtEl>
                                          <p:spTgt spid="15"/>
                                        </p:tgtEl>
                                      </p:cBhvr>
                                    </p:animEffect>
                                  </p:childTnLst>
                                </p:cTn>
                              </p:par>
                              <p:par>
                                <p:cTn id="75" presetID="2" presetClass="entr" presetSubtype="4" fill="hold" grpId="0" nodeType="withEffect">
                                  <p:stCondLst>
                                    <p:cond delay="80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500" fill="hold"/>
                                        <p:tgtEl>
                                          <p:spTgt spid="16"/>
                                        </p:tgtEl>
                                        <p:attrNameLst>
                                          <p:attrName>ppt_x</p:attrName>
                                        </p:attrNameLst>
                                      </p:cBhvr>
                                      <p:tavLst>
                                        <p:tav tm="0">
                                          <p:val>
                                            <p:strVal val="#ppt_x"/>
                                          </p:val>
                                        </p:tav>
                                        <p:tav tm="100000">
                                          <p:val>
                                            <p:strVal val="#ppt_x"/>
                                          </p:val>
                                        </p:tav>
                                      </p:tavLst>
                                    </p:anim>
                                    <p:anim calcmode="lin" valueType="num">
                                      <p:cBhvr additive="base">
                                        <p:cTn id="78" dur="500" fill="hold"/>
                                        <p:tgtEl>
                                          <p:spTgt spid="16"/>
                                        </p:tgtEl>
                                        <p:attrNameLst>
                                          <p:attrName>ppt_y</p:attrName>
                                        </p:attrNameLst>
                                      </p:cBhvr>
                                      <p:tavLst>
                                        <p:tav tm="0">
                                          <p:val>
                                            <p:strVal val="#ppt_y+0.1"/>
                                          </p:val>
                                        </p:tav>
                                        <p:tav tm="100000">
                                          <p:val>
                                            <p:strVal val="#ppt_y"/>
                                          </p:val>
                                        </p:tav>
                                      </p:tavLst>
                                    </p:anim>
                                    <p:animEffect transition="in" filter="fade">
                                      <p:cBhvr>
                                        <p:cTn id="79" dur="500"/>
                                        <p:tgtEl>
                                          <p:spTgt spid="16"/>
                                        </p:tgtEl>
                                      </p:cBhvr>
                                    </p:animEffect>
                                  </p:childTnLst>
                                </p:cTn>
                              </p:par>
                              <p:par>
                                <p:cTn id="80" presetID="2" presetClass="entr" presetSubtype="4" fill="hold" grpId="0" nodeType="withEffect">
                                  <p:stCondLst>
                                    <p:cond delay="80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500" fill="hold"/>
                                        <p:tgtEl>
                                          <p:spTgt spid="17"/>
                                        </p:tgtEl>
                                        <p:attrNameLst>
                                          <p:attrName>ppt_x</p:attrName>
                                        </p:attrNameLst>
                                      </p:cBhvr>
                                      <p:tavLst>
                                        <p:tav tm="0">
                                          <p:val>
                                            <p:strVal val="#ppt_x"/>
                                          </p:val>
                                        </p:tav>
                                        <p:tav tm="100000">
                                          <p:val>
                                            <p:strVal val="#ppt_x"/>
                                          </p:val>
                                        </p:tav>
                                      </p:tavLst>
                                    </p:anim>
                                    <p:anim calcmode="lin" valueType="num">
                                      <p:cBhvr additive="base">
                                        <p:cTn id="83" dur="500" fill="hold"/>
                                        <p:tgtEl>
                                          <p:spTgt spid="17"/>
                                        </p:tgtEl>
                                        <p:attrNameLst>
                                          <p:attrName>ppt_y</p:attrName>
                                        </p:attrNameLst>
                                      </p:cBhvr>
                                      <p:tavLst>
                                        <p:tav tm="0">
                                          <p:val>
                                            <p:strVal val="#ppt_y+0.1"/>
                                          </p:val>
                                        </p:tav>
                                        <p:tav tm="100000">
                                          <p:val>
                                            <p:strVal val="#ppt_y"/>
                                          </p:val>
                                        </p:tav>
                                      </p:tavLst>
                                    </p:anim>
                                    <p:animEffect transition="in" filter="fade">
                                      <p:cBhvr>
                                        <p:cTn id="84" dur="500"/>
                                        <p:tgtEl>
                                          <p:spTgt spid="17"/>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18"/>
                                        </p:tgtEl>
                                        <p:attrNameLst>
                                          <p:attrName>style.visibility</p:attrName>
                                        </p:attrNameLst>
                                      </p:cBhvr>
                                      <p:to>
                                        <p:strVal val="visible"/>
                                      </p:to>
                                    </p:set>
                                    <p:anim calcmode="lin" valueType="num">
                                      <p:cBhvr additive="base">
                                        <p:cTn id="89" dur="500" fill="hold"/>
                                        <p:tgtEl>
                                          <p:spTgt spid="18"/>
                                        </p:tgtEl>
                                        <p:attrNameLst>
                                          <p:attrName>ppt_x</p:attrName>
                                        </p:attrNameLst>
                                      </p:cBhvr>
                                      <p:tavLst>
                                        <p:tav tm="0">
                                          <p:val>
                                            <p:strVal val="#ppt_x"/>
                                          </p:val>
                                        </p:tav>
                                        <p:tav tm="100000">
                                          <p:val>
                                            <p:strVal val="#ppt_x"/>
                                          </p:val>
                                        </p:tav>
                                      </p:tavLst>
                                    </p:anim>
                                    <p:anim calcmode="lin" valueType="num">
                                      <p:cBhvr additive="base">
                                        <p:cTn id="90" dur="500" fill="hold"/>
                                        <p:tgtEl>
                                          <p:spTgt spid="18"/>
                                        </p:tgtEl>
                                        <p:attrNameLst>
                                          <p:attrName>ppt_y</p:attrName>
                                        </p:attrNameLst>
                                      </p:cBhvr>
                                      <p:tavLst>
                                        <p:tav tm="0">
                                          <p:val>
                                            <p:strVal val="#ppt_y+0.1"/>
                                          </p:val>
                                        </p:tav>
                                        <p:tav tm="100000">
                                          <p:val>
                                            <p:strVal val="#ppt_y"/>
                                          </p:val>
                                        </p:tav>
                                      </p:tavLst>
                                    </p:anim>
                                    <p:animEffect transition="in" filter="fade">
                                      <p:cBhvr>
                                        <p:cTn id="91" dur="500"/>
                                        <p:tgtEl>
                                          <p:spTgt spid="18"/>
                                        </p:tgtEl>
                                      </p:cBhvr>
                                    </p:animEffect>
                                  </p:childTnLst>
                                </p:cTn>
                              </p:par>
                              <p:par>
                                <p:cTn id="92" presetID="2" presetClass="entr" presetSubtype="4" fill="hold" grpId="0" nodeType="withEffect">
                                  <p:stCondLst>
                                    <p:cond delay="0"/>
                                  </p:stCondLst>
                                  <p:childTnLst>
                                    <p:set>
                                      <p:cBhvr>
                                        <p:cTn id="93" dur="1" fill="hold">
                                          <p:stCondLst>
                                            <p:cond delay="0"/>
                                          </p:stCondLst>
                                        </p:cTn>
                                        <p:tgtEl>
                                          <p:spTgt spid="19"/>
                                        </p:tgtEl>
                                        <p:attrNameLst>
                                          <p:attrName>style.visibility</p:attrName>
                                        </p:attrNameLst>
                                      </p:cBhvr>
                                      <p:to>
                                        <p:strVal val="visible"/>
                                      </p:to>
                                    </p:set>
                                    <p:anim calcmode="lin" valueType="num">
                                      <p:cBhvr additive="base">
                                        <p:cTn id="94" dur="500" fill="hold"/>
                                        <p:tgtEl>
                                          <p:spTgt spid="19"/>
                                        </p:tgtEl>
                                        <p:attrNameLst>
                                          <p:attrName>ppt_x</p:attrName>
                                        </p:attrNameLst>
                                      </p:cBhvr>
                                      <p:tavLst>
                                        <p:tav tm="0">
                                          <p:val>
                                            <p:strVal val="#ppt_x"/>
                                          </p:val>
                                        </p:tav>
                                        <p:tav tm="100000">
                                          <p:val>
                                            <p:strVal val="#ppt_x"/>
                                          </p:val>
                                        </p:tav>
                                      </p:tavLst>
                                    </p:anim>
                                    <p:anim calcmode="lin" valueType="num">
                                      <p:cBhvr additive="base">
                                        <p:cTn id="95" dur="500" fill="hold"/>
                                        <p:tgtEl>
                                          <p:spTgt spid="19"/>
                                        </p:tgtEl>
                                        <p:attrNameLst>
                                          <p:attrName>ppt_y</p:attrName>
                                        </p:attrNameLst>
                                      </p:cBhvr>
                                      <p:tavLst>
                                        <p:tav tm="0">
                                          <p:val>
                                            <p:strVal val="#ppt_y+0.1"/>
                                          </p:val>
                                        </p:tav>
                                        <p:tav tm="100000">
                                          <p:val>
                                            <p:strVal val="#ppt_y"/>
                                          </p:val>
                                        </p:tav>
                                      </p:tavLst>
                                    </p:anim>
                                    <p:animEffect transition="in" filter="fade">
                                      <p:cBhvr>
                                        <p:cTn id="9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TotalTime>
  <Words>6062</Words>
  <Application>Microsoft Office PowerPoint</Application>
  <PresentationFormat>On-screen Show (16:9)</PresentationFormat>
  <Paragraphs>728</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Subramanian Murugan</cp:lastModifiedBy>
  <cp:revision>2</cp:revision>
  <dcterms:created xsi:type="dcterms:W3CDTF">2013-01-27T09:14:16Z</dcterms:created>
  <dcterms:modified xsi:type="dcterms:W3CDTF">2026-09-23T13:51:19Z</dcterms:modified>
  <cp:category/>
</cp:coreProperties>
</file>