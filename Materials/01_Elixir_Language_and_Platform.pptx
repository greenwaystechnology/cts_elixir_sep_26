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LANGUAGE &amp; PLATFORM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Elixir and
the BEAM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What it is, and how a source file becomes a running process.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1.20.4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OTP 29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BEAM</a:t>
            </a:r>
          </a:p>
        </p:txBody>
      </p:sp>
      <p:sp>
        <p:nvSpPr>
          <p:cNvPr id="8" name="a0fd1400_nt7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Session 1 of 2 · every number in this deck was measured, not remembered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70431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language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what &amp; why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Design principles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Origin story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Where it fits</a:t>
            </a:r>
          </a:p>
        </p:txBody>
      </p:sp>
      <p:sp>
        <p:nvSpPr>
          <p:cNvPr id="13" name="a2u_card12"/>
          <p:cNvSpPr/>
          <p:nvPr/>
        </p:nvSpPr>
        <p:spPr>
          <a:xfrm>
            <a:off x="2564892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acc13"/>
          <p:cNvSpPr/>
          <p:nvPr/>
        </p:nvSpPr>
        <p:spPr>
          <a:xfrm>
            <a:off x="2564892" y="1170431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14"/>
          <p:cNvSpPr/>
          <p:nvPr/>
        </p:nvSpPr>
        <p:spPr>
          <a:xfrm>
            <a:off x="2729484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t15"/>
          <p:cNvSpPr txBox="1"/>
          <p:nvPr/>
        </p:nvSpPr>
        <p:spPr>
          <a:xfrm>
            <a:off x="2729484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a2ud90_ct16"/>
          <p:cNvSpPr txBox="1"/>
          <p:nvPr/>
        </p:nvSpPr>
        <p:spPr>
          <a:xfrm>
            <a:off x="2729484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platform</a:t>
            </a:r>
          </a:p>
        </p:txBody>
      </p:sp>
      <p:sp>
        <p:nvSpPr>
          <p:cNvPr id="18" name="a2ud120_cs17"/>
          <p:cNvSpPr txBox="1"/>
          <p:nvPr/>
        </p:nvSpPr>
        <p:spPr>
          <a:xfrm>
            <a:off x="2729484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beam &amp; otp</a:t>
            </a:r>
          </a:p>
        </p:txBody>
      </p:sp>
      <p:sp>
        <p:nvSpPr>
          <p:cNvPr id="19" name="a2ud150_cb18"/>
          <p:cNvSpPr txBox="1"/>
          <p:nvPr/>
        </p:nvSpPr>
        <p:spPr>
          <a:xfrm>
            <a:off x="2729484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virtual machine</a:t>
            </a:r>
          </a:p>
        </p:txBody>
      </p:sp>
      <p:sp>
        <p:nvSpPr>
          <p:cNvPr id="20" name="a2ud220_cb19"/>
          <p:cNvSpPr txBox="1"/>
          <p:nvPr/>
        </p:nvSpPr>
        <p:spPr>
          <a:xfrm>
            <a:off x="2729484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Erlang/OTP</a:t>
            </a:r>
          </a:p>
        </p:txBody>
      </p:sp>
      <p:sp>
        <p:nvSpPr>
          <p:cNvPr id="21" name="a2ud290_cb20"/>
          <p:cNvSpPr txBox="1"/>
          <p:nvPr/>
        </p:nvSpPr>
        <p:spPr>
          <a:xfrm>
            <a:off x="2729484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What it buys you</a:t>
            </a:r>
          </a:p>
        </p:txBody>
      </p:sp>
      <p:sp>
        <p:nvSpPr>
          <p:cNvPr id="22" name="a3u_card21"/>
          <p:cNvSpPr/>
          <p:nvPr/>
        </p:nvSpPr>
        <p:spPr>
          <a:xfrm>
            <a:off x="4672584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acc22"/>
          <p:cNvSpPr/>
          <p:nvPr/>
        </p:nvSpPr>
        <p:spPr>
          <a:xfrm>
            <a:off x="4672584" y="1170431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d60_ic23"/>
          <p:cNvSpPr/>
          <p:nvPr/>
        </p:nvSpPr>
        <p:spPr>
          <a:xfrm>
            <a:off x="4837176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t24"/>
          <p:cNvSpPr txBox="1"/>
          <p:nvPr/>
        </p:nvSpPr>
        <p:spPr>
          <a:xfrm>
            <a:off x="4837176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a3ud90_ct25"/>
          <p:cNvSpPr txBox="1"/>
          <p:nvPr/>
        </p:nvSpPr>
        <p:spPr>
          <a:xfrm>
            <a:off x="4837176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pipeline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4837176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source to bytecode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4837176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AST and macros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4837176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.beam file</a:t>
            </a:r>
          </a:p>
        </p:txBody>
      </p:sp>
      <p:sp>
        <p:nvSpPr>
          <p:cNvPr id="30" name="a3ud290_cb29"/>
          <p:cNvSpPr txBox="1"/>
          <p:nvPr/>
        </p:nvSpPr>
        <p:spPr>
          <a:xfrm>
            <a:off x="4837176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Read it chunk by chunk</a:t>
            </a:r>
          </a:p>
        </p:txBody>
      </p:sp>
      <p:sp>
        <p:nvSpPr>
          <p:cNvPr id="31" name="a4u_card30"/>
          <p:cNvSpPr/>
          <p:nvPr/>
        </p:nvSpPr>
        <p:spPr>
          <a:xfrm>
            <a:off x="6780276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4u_acc31"/>
          <p:cNvSpPr/>
          <p:nvPr/>
        </p:nvSpPr>
        <p:spPr>
          <a:xfrm>
            <a:off x="6780276" y="1170431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d60_ic32"/>
          <p:cNvSpPr/>
          <p:nvPr/>
        </p:nvSpPr>
        <p:spPr>
          <a:xfrm>
            <a:off x="6944868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60_ict33"/>
          <p:cNvSpPr txBox="1"/>
          <p:nvPr/>
        </p:nvSpPr>
        <p:spPr>
          <a:xfrm>
            <a:off x="6944868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a4ud90_ct34"/>
          <p:cNvSpPr txBox="1"/>
          <p:nvPr/>
        </p:nvSpPr>
        <p:spPr>
          <a:xfrm>
            <a:off x="6944868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toolchain</a:t>
            </a:r>
          </a:p>
        </p:txBody>
      </p:sp>
      <p:sp>
        <p:nvSpPr>
          <p:cNvPr id="36" name="a4ud120_cs35"/>
          <p:cNvSpPr txBox="1"/>
          <p:nvPr/>
        </p:nvSpPr>
        <p:spPr>
          <a:xfrm>
            <a:off x="6944868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install &amp; mix</a:t>
            </a:r>
          </a:p>
        </p:txBody>
      </p:sp>
      <p:sp>
        <p:nvSpPr>
          <p:cNvPr id="37" name="a4ud150_cb36"/>
          <p:cNvSpPr txBox="1"/>
          <p:nvPr/>
        </p:nvSpPr>
        <p:spPr>
          <a:xfrm>
            <a:off x="6944868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Install and verify</a:t>
            </a:r>
          </a:p>
        </p:txBody>
      </p:sp>
      <p:sp>
        <p:nvSpPr>
          <p:cNvPr id="38" name="a4ud220_cb37"/>
          <p:cNvSpPr txBox="1"/>
          <p:nvPr/>
        </p:nvSpPr>
        <p:spPr>
          <a:xfrm>
            <a:off x="6944868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mix, deps, layout</a:t>
            </a:r>
          </a:p>
        </p:txBody>
      </p:sp>
      <p:sp>
        <p:nvSpPr>
          <p:cNvPr id="39" name="a4ud290_cb38"/>
          <p:cNvSpPr txBox="1"/>
          <p:nvPr/>
        </p:nvSpPr>
        <p:spPr>
          <a:xfrm>
            <a:off x="6944868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Hello world x3</a:t>
            </a:r>
          </a:p>
        </p:txBody>
      </p:sp>
      <p:sp>
        <p:nvSpPr>
          <p:cNvPr id="40" name="a5f_nb39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5f_nacc40"/>
          <p:cNvSpPr/>
          <p:nvPr/>
        </p:nvSpPr>
        <p:spPr>
          <a:xfrm>
            <a:off x="457200" y="3794760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5f_nt41"/>
          <p:cNvSpPr txBox="1"/>
          <p:nvPr/>
        </p:nvSpPr>
        <p:spPr>
          <a:xfrm>
            <a:off x="658368" y="379476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Deck 2 takes the next layer down: every data type, every literal, and what each one actually costs in memory.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What Elixir is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 functional, dynamic language built for
systems that stay up.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functional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dynamic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concurrent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extensible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DEFINITION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Elixir in one sentence</a:t>
            </a:r>
          </a:p>
        </p:txBody>
      </p:sp>
      <p:sp>
        <p:nvSpPr>
          <p:cNvPr id="4" name="a1f_defbg3"/>
          <p:cNvSpPr/>
          <p:nvPr/>
        </p:nvSpPr>
        <p:spPr>
          <a:xfrm>
            <a:off x="457200" y="1106424"/>
            <a:ext cx="8229600" cy="960120"/>
          </a:xfrm>
          <a:prstGeom prst="roundRect">
            <a:avLst>
              <a:gd name="adj" fmla="val 9523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def4"/>
          <p:cNvSpPr txBox="1"/>
          <p:nvPr/>
        </p:nvSpPr>
        <p:spPr>
          <a:xfrm>
            <a:off x="713232" y="1170431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0F172A"/>
                </a:solidFill>
                <a:latin typeface="Calibri"/>
              </a:rPr>
              <a:t>Elixir is a </a:t>
            </a:r>
            <a:r>
              <a:rPr sz="1700" b="1">
                <a:solidFill>
                  <a:srgbClr val="4B275F"/>
                </a:solidFill>
                <a:latin typeface="Calibri"/>
              </a:rPr>
              <a:t>dynamic, functional</a:t>
            </a:r>
            <a:r>
              <a:rPr sz="1700" b="0">
                <a:solidFill>
                  <a:srgbClr val="0F172A"/>
                </a:solidFill>
                <a:latin typeface="Calibri"/>
              </a:rPr>
              <a:t> language for building </a:t>
            </a:r>
            <a:r>
              <a:rPr sz="1700" b="1">
                <a:solidFill>
                  <a:srgbClr val="4B275F"/>
                </a:solidFill>
                <a:latin typeface="Calibri"/>
              </a:rPr>
              <a:t>scalable and maintainable</a:t>
            </a:r>
            <a:r>
              <a:rPr sz="1700" b="0">
                <a:solidFill>
                  <a:srgbClr val="0F172A"/>
                </a:solidFill>
                <a:latin typeface="Calibri"/>
              </a:rPr>
              <a:t> applications, which runs on the </a:t>
            </a:r>
            <a:r>
              <a:rPr sz="1700" b="1">
                <a:solidFill>
                  <a:srgbClr val="4B275F"/>
                </a:solidFill>
                <a:latin typeface="Calibri"/>
              </a:rPr>
              <a:t>Erlang virtual machine</a:t>
            </a:r>
            <a:r>
              <a:rPr sz="1700" b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6" name="a2u_dot5"/>
          <p:cNvSpPr/>
          <p:nvPr/>
        </p:nvSpPr>
        <p:spPr>
          <a:xfrm>
            <a:off x="457200" y="23500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2u_b6"/>
          <p:cNvSpPr txBox="1"/>
          <p:nvPr/>
        </p:nvSpPr>
        <p:spPr>
          <a:xfrm>
            <a:off x="676656" y="2249424"/>
            <a:ext cx="7918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Dynamic  </a:t>
            </a:r>
            <a:r>
              <a:rPr sz="1300" b="0">
                <a:solidFill>
                  <a:srgbClr val="334155"/>
                </a:solidFill>
                <a:latin typeface="Calibri"/>
              </a:rPr>
              <a:t>types are checked while the program runs, not while it compiles</a:t>
            </a:r>
          </a:p>
        </p:txBody>
      </p:sp>
      <p:sp>
        <p:nvSpPr>
          <p:cNvPr id="8" name="a2ud170_dot7"/>
          <p:cNvSpPr/>
          <p:nvPr/>
        </p:nvSpPr>
        <p:spPr>
          <a:xfrm>
            <a:off x="457200" y="275234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ud170_b8"/>
          <p:cNvSpPr txBox="1"/>
          <p:nvPr/>
        </p:nvSpPr>
        <p:spPr>
          <a:xfrm>
            <a:off x="676656" y="2651760"/>
            <a:ext cx="7918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Functional  </a:t>
            </a:r>
            <a:r>
              <a:rPr sz="1300" b="0">
                <a:solidFill>
                  <a:srgbClr val="334155"/>
                </a:solidFill>
                <a:latin typeface="Calibri"/>
              </a:rPr>
              <a:t>data is immutable; you transform values instead of mutating them</a:t>
            </a:r>
          </a:p>
        </p:txBody>
      </p:sp>
      <p:sp>
        <p:nvSpPr>
          <p:cNvPr id="10" name="a2ud340_dot9"/>
          <p:cNvSpPr/>
          <p:nvPr/>
        </p:nvSpPr>
        <p:spPr>
          <a:xfrm>
            <a:off x="457200" y="315467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d340_b10"/>
          <p:cNvSpPr txBox="1"/>
          <p:nvPr/>
        </p:nvSpPr>
        <p:spPr>
          <a:xfrm>
            <a:off x="676656" y="3054096"/>
            <a:ext cx="7918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Scalable  </a:t>
            </a:r>
            <a:r>
              <a:rPr sz="1300" b="0">
                <a:solidFill>
                  <a:srgbClr val="334155"/>
                </a:solidFill>
                <a:latin typeface="Calibri"/>
              </a:rPr>
              <a:t>concurrency is the VM's job, not a library you bolt on</a:t>
            </a:r>
          </a:p>
        </p:txBody>
      </p:sp>
      <p:sp>
        <p:nvSpPr>
          <p:cNvPr id="12" name="a2ud510_dot11"/>
          <p:cNvSpPr/>
          <p:nvPr/>
        </p:nvSpPr>
        <p:spPr>
          <a:xfrm>
            <a:off x="457200" y="355701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d510_b12"/>
          <p:cNvSpPr txBox="1"/>
          <p:nvPr/>
        </p:nvSpPr>
        <p:spPr>
          <a:xfrm>
            <a:off x="676656" y="3456432"/>
            <a:ext cx="7918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Maintainable  </a:t>
            </a:r>
            <a:r>
              <a:rPr sz="1300" b="0">
                <a:solidFill>
                  <a:srgbClr val="334155"/>
                </a:solidFill>
                <a:latin typeface="Calibri"/>
              </a:rPr>
              <a:t>one build tool, one formatter, one test framework - in the box</a:t>
            </a:r>
          </a:p>
        </p:txBody>
      </p:sp>
      <p:sp>
        <p:nvSpPr>
          <p:cNvPr id="14" name="ft1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15" name="ft1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ORIGIN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Who created it, and why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José Valim · first commit January 2011 · v1.0 September 2014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80744"/>
            <a:ext cx="3977639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80744"/>
            <a:ext cx="3977639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80_t6"/>
          <p:cNvSpPr txBox="1"/>
          <p:nvPr/>
        </p:nvSpPr>
        <p:spPr>
          <a:xfrm>
            <a:off x="658368" y="158191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problem he had</a:t>
            </a:r>
          </a:p>
        </p:txBody>
      </p:sp>
      <p:sp>
        <p:nvSpPr>
          <p:cNvPr id="8" name="a2u_dot7"/>
          <p:cNvSpPr/>
          <p:nvPr/>
        </p:nvSpPr>
        <p:spPr>
          <a:xfrm>
            <a:off x="658368" y="202996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u_b8"/>
          <p:cNvSpPr txBox="1"/>
          <p:nvPr/>
        </p:nvSpPr>
        <p:spPr>
          <a:xfrm>
            <a:off x="877824" y="1929384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Rails core team member at Plataformatec</a:t>
            </a:r>
          </a:p>
        </p:txBody>
      </p:sp>
      <p:sp>
        <p:nvSpPr>
          <p:cNvPr id="10" name="a2ud150_dot9"/>
          <p:cNvSpPr/>
          <p:nvPr/>
        </p:nvSpPr>
        <p:spPr>
          <a:xfrm>
            <a:off x="658368" y="239572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d150_b10"/>
          <p:cNvSpPr txBox="1"/>
          <p:nvPr/>
        </p:nvSpPr>
        <p:spPr>
          <a:xfrm>
            <a:off x="877824" y="2295144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Asked to make Rails thread-safe on multicore</a:t>
            </a:r>
          </a:p>
        </p:txBody>
      </p:sp>
      <p:sp>
        <p:nvSpPr>
          <p:cNvPr id="12" name="a2ud300_dot11"/>
          <p:cNvSpPr/>
          <p:nvPr/>
        </p:nvSpPr>
        <p:spPr>
          <a:xfrm>
            <a:off x="658368" y="27614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d300_b12"/>
          <p:cNvSpPr txBox="1"/>
          <p:nvPr/>
        </p:nvSpPr>
        <p:spPr>
          <a:xfrm>
            <a:off x="877824" y="2660903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Concluded the runtime, not the framework, was the limit</a:t>
            </a:r>
          </a:p>
        </p:txBody>
      </p:sp>
      <p:sp>
        <p:nvSpPr>
          <p:cNvPr id="14" name="a2ud450_dot13"/>
          <p:cNvSpPr/>
          <p:nvPr/>
        </p:nvSpPr>
        <p:spPr>
          <a:xfrm>
            <a:off x="658368" y="312724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450_b14"/>
          <p:cNvSpPr txBox="1"/>
          <p:nvPr/>
        </p:nvSpPr>
        <p:spPr>
          <a:xfrm>
            <a:off x="877824" y="3026663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Went looking for a VM that already did concurrency well</a:t>
            </a:r>
          </a:p>
        </p:txBody>
      </p:sp>
      <p:sp>
        <p:nvSpPr>
          <p:cNvPr id="16" name="a3u_card15"/>
          <p:cNvSpPr/>
          <p:nvPr/>
        </p:nvSpPr>
        <p:spPr>
          <a:xfrm>
            <a:off x="4709160" y="1380744"/>
            <a:ext cx="3977639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4709160" y="1380744"/>
            <a:ext cx="3977639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d80_t17"/>
          <p:cNvSpPr txBox="1"/>
          <p:nvPr/>
        </p:nvSpPr>
        <p:spPr>
          <a:xfrm>
            <a:off x="4910328" y="158191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answer he built</a:t>
            </a:r>
          </a:p>
        </p:txBody>
      </p:sp>
      <p:sp>
        <p:nvSpPr>
          <p:cNvPr id="19" name="a4u_dot18"/>
          <p:cNvSpPr/>
          <p:nvPr/>
        </p:nvSpPr>
        <p:spPr>
          <a:xfrm>
            <a:off x="4910328" y="202996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4u_b19"/>
          <p:cNvSpPr txBox="1"/>
          <p:nvPr/>
        </p:nvSpPr>
        <p:spPr>
          <a:xfrm>
            <a:off x="5129784" y="1929384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Found the BEAM - 25 years of concurrency already solved</a:t>
            </a:r>
          </a:p>
        </p:txBody>
      </p:sp>
      <p:sp>
        <p:nvSpPr>
          <p:cNvPr id="21" name="a4ud150_dot20"/>
          <p:cNvSpPr/>
          <p:nvPr/>
        </p:nvSpPr>
        <p:spPr>
          <a:xfrm>
            <a:off x="4910328" y="239572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4ud150_b21"/>
          <p:cNvSpPr txBox="1"/>
          <p:nvPr/>
        </p:nvSpPr>
        <p:spPr>
          <a:xfrm>
            <a:off x="5129784" y="2295144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Kept the VM, replaced the ergonomics</a:t>
            </a:r>
          </a:p>
        </p:txBody>
      </p:sp>
      <p:sp>
        <p:nvSpPr>
          <p:cNvPr id="23" name="a4ud300_dot22"/>
          <p:cNvSpPr/>
          <p:nvPr/>
        </p:nvSpPr>
        <p:spPr>
          <a:xfrm>
            <a:off x="4910328" y="27614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ud300_b23"/>
          <p:cNvSpPr txBox="1"/>
          <p:nvPr/>
        </p:nvSpPr>
        <p:spPr>
          <a:xfrm>
            <a:off x="5129784" y="2660903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Added macros, protocols, a build tool and docs</a:t>
            </a:r>
          </a:p>
        </p:txBody>
      </p:sp>
      <p:sp>
        <p:nvSpPr>
          <p:cNvPr id="25" name="a4ud450_dot24"/>
          <p:cNvSpPr/>
          <p:nvPr/>
        </p:nvSpPr>
        <p:spPr>
          <a:xfrm>
            <a:off x="4910328" y="312724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4ud450_b25"/>
          <p:cNvSpPr txBox="1"/>
          <p:nvPr/>
        </p:nvSpPr>
        <p:spPr>
          <a:xfrm>
            <a:off x="5129784" y="3026663"/>
            <a:ext cx="33467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Elixir 1.0 shipped September 2014 and froze the core</a:t>
            </a:r>
          </a:p>
        </p:txBody>
      </p:sp>
      <p:sp>
        <p:nvSpPr>
          <p:cNvPr id="27" name="a5f_nb26"/>
          <p:cNvSpPr/>
          <p:nvPr/>
        </p:nvSpPr>
        <p:spPr>
          <a:xfrm>
            <a:off x="457200" y="384962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5f_nacc27"/>
          <p:cNvSpPr/>
          <p:nvPr/>
        </p:nvSpPr>
        <p:spPr>
          <a:xfrm>
            <a:off x="457200" y="3849624"/>
            <a:ext cx="50292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5f_nt28"/>
          <p:cNvSpPr txBox="1"/>
          <p:nvPr/>
        </p:nvSpPr>
        <p:spPr>
          <a:xfrm>
            <a:off x="658368" y="384962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Elixir did not reinvent the runtime. It inherited one that had already been running telephone switches for two decades.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HISTORY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timeline that matters</a:t>
            </a:r>
          </a:p>
        </p:txBody>
      </p:sp>
      <p:cxnSp>
        <p:nvCxnSpPr>
          <p:cNvPr id="4" name="a1w_axis3"/>
          <p:cNvCxnSpPr/>
          <p:nvPr/>
        </p:nvCxnSpPr>
        <p:spPr>
          <a:xfrm>
            <a:off x="457200" y="1719072"/>
            <a:ext cx="82296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1f_dot4"/>
          <p:cNvSpPr/>
          <p:nvPr/>
        </p:nvSpPr>
        <p:spPr>
          <a:xfrm>
            <a:off x="1178661" y="1668780"/>
            <a:ext cx="100584" cy="100584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yr5"/>
          <p:cNvSpPr txBox="1"/>
          <p:nvPr/>
        </p:nvSpPr>
        <p:spPr>
          <a:xfrm>
            <a:off x="457200" y="1316736"/>
            <a:ext cx="15435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6B3FA0"/>
                </a:solidFill>
                <a:latin typeface="Calibri"/>
              </a:rPr>
              <a:t>1986</a:t>
            </a:r>
          </a:p>
        </p:txBody>
      </p:sp>
      <p:sp>
        <p:nvSpPr>
          <p:cNvPr id="7" name="a1ud60_card6"/>
          <p:cNvSpPr/>
          <p:nvPr/>
        </p:nvSpPr>
        <p:spPr>
          <a:xfrm>
            <a:off x="457200" y="1901952"/>
            <a:ext cx="1543507" cy="1874519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110_tt7"/>
          <p:cNvSpPr txBox="1"/>
          <p:nvPr/>
        </p:nvSpPr>
        <p:spPr>
          <a:xfrm>
            <a:off x="585216" y="2048256"/>
            <a:ext cx="12874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Erlang begins at Ericsson</a:t>
            </a:r>
          </a:p>
        </p:txBody>
      </p:sp>
      <p:sp>
        <p:nvSpPr>
          <p:cNvPr id="9" name="a1ud150_tb8"/>
          <p:cNvSpPr txBox="1"/>
          <p:nvPr/>
        </p:nvSpPr>
        <p:spPr>
          <a:xfrm>
            <a:off x="585216" y="2651760"/>
            <a:ext cx="128747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Armstrong, Virding and Williams build a language for phone switches</a:t>
            </a:r>
          </a:p>
        </p:txBody>
      </p:sp>
      <p:sp>
        <p:nvSpPr>
          <p:cNvPr id="10" name="a2f_dot9"/>
          <p:cNvSpPr/>
          <p:nvPr/>
        </p:nvSpPr>
        <p:spPr>
          <a:xfrm>
            <a:off x="2850184" y="1668780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_yr10"/>
          <p:cNvSpPr txBox="1"/>
          <p:nvPr/>
        </p:nvSpPr>
        <p:spPr>
          <a:xfrm>
            <a:off x="2128723" y="1316736"/>
            <a:ext cx="15435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Calibri"/>
              </a:rPr>
              <a:t>1998</a:t>
            </a:r>
          </a:p>
        </p:txBody>
      </p:sp>
      <p:sp>
        <p:nvSpPr>
          <p:cNvPr id="12" name="a2ud60_card11"/>
          <p:cNvSpPr/>
          <p:nvPr/>
        </p:nvSpPr>
        <p:spPr>
          <a:xfrm>
            <a:off x="2128723" y="1901952"/>
            <a:ext cx="1543507" cy="1874519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d110_tt12"/>
          <p:cNvSpPr txBox="1"/>
          <p:nvPr/>
        </p:nvSpPr>
        <p:spPr>
          <a:xfrm>
            <a:off x="2256739" y="2048256"/>
            <a:ext cx="12874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Erlang/OTP open-sourced</a:t>
            </a:r>
          </a:p>
        </p:txBody>
      </p:sp>
      <p:sp>
        <p:nvSpPr>
          <p:cNvPr id="14" name="a2ud150_tb13"/>
          <p:cNvSpPr txBox="1"/>
          <p:nvPr/>
        </p:nvSpPr>
        <p:spPr>
          <a:xfrm>
            <a:off x="2256739" y="2651760"/>
            <a:ext cx="128747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The AXD301 switch is later reported at nine 9s of availability</a:t>
            </a:r>
          </a:p>
        </p:txBody>
      </p:sp>
      <p:sp>
        <p:nvSpPr>
          <p:cNvPr id="15" name="a3f_dot14"/>
          <p:cNvSpPr/>
          <p:nvPr/>
        </p:nvSpPr>
        <p:spPr>
          <a:xfrm>
            <a:off x="4521708" y="1668780"/>
            <a:ext cx="100584" cy="10058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_yr15"/>
          <p:cNvSpPr txBox="1"/>
          <p:nvPr/>
        </p:nvSpPr>
        <p:spPr>
          <a:xfrm>
            <a:off x="3800246" y="1316736"/>
            <a:ext cx="15435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B45309"/>
                </a:solidFill>
                <a:latin typeface="Calibri"/>
              </a:rPr>
              <a:t>2011</a:t>
            </a:r>
          </a:p>
        </p:txBody>
      </p:sp>
      <p:sp>
        <p:nvSpPr>
          <p:cNvPr id="17" name="a3ud60_card16"/>
          <p:cNvSpPr/>
          <p:nvPr/>
        </p:nvSpPr>
        <p:spPr>
          <a:xfrm>
            <a:off x="3800246" y="1901952"/>
            <a:ext cx="1543507" cy="1874519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d110_tt17"/>
          <p:cNvSpPr txBox="1"/>
          <p:nvPr/>
        </p:nvSpPr>
        <p:spPr>
          <a:xfrm>
            <a:off x="3928262" y="2048256"/>
            <a:ext cx="12874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First Elixir commit</a:t>
            </a:r>
          </a:p>
        </p:txBody>
      </p:sp>
      <p:sp>
        <p:nvSpPr>
          <p:cNvPr id="19" name="a3ud150_tb18"/>
          <p:cNvSpPr txBox="1"/>
          <p:nvPr/>
        </p:nvSpPr>
        <p:spPr>
          <a:xfrm>
            <a:off x="3928262" y="2651760"/>
            <a:ext cx="128747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José Valim starts the project in January</a:t>
            </a:r>
          </a:p>
        </p:txBody>
      </p:sp>
      <p:sp>
        <p:nvSpPr>
          <p:cNvPr id="20" name="a4f_dot19"/>
          <p:cNvSpPr/>
          <p:nvPr/>
        </p:nvSpPr>
        <p:spPr>
          <a:xfrm>
            <a:off x="6193231" y="1668780"/>
            <a:ext cx="100584" cy="100584"/>
          </a:xfrm>
          <a:prstGeom prst="ellipse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4u_yr20"/>
          <p:cNvSpPr txBox="1"/>
          <p:nvPr/>
        </p:nvSpPr>
        <p:spPr>
          <a:xfrm>
            <a:off x="5471769" y="1316736"/>
            <a:ext cx="15435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A90533"/>
                </a:solidFill>
                <a:latin typeface="Calibri"/>
              </a:rPr>
              <a:t>2014</a:t>
            </a:r>
          </a:p>
        </p:txBody>
      </p:sp>
      <p:sp>
        <p:nvSpPr>
          <p:cNvPr id="22" name="a4ud60_card21"/>
          <p:cNvSpPr/>
          <p:nvPr/>
        </p:nvSpPr>
        <p:spPr>
          <a:xfrm>
            <a:off x="5471769" y="1901952"/>
            <a:ext cx="1543507" cy="1874519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ud110_tt22"/>
          <p:cNvSpPr txBox="1"/>
          <p:nvPr/>
        </p:nvSpPr>
        <p:spPr>
          <a:xfrm>
            <a:off x="5599785" y="2048256"/>
            <a:ext cx="12874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Elixir 1.0</a:t>
            </a:r>
          </a:p>
        </p:txBody>
      </p:sp>
      <p:sp>
        <p:nvSpPr>
          <p:cNvPr id="24" name="a4ud150_tb23"/>
          <p:cNvSpPr txBox="1"/>
          <p:nvPr/>
        </p:nvSpPr>
        <p:spPr>
          <a:xfrm>
            <a:off x="5599785" y="2651760"/>
            <a:ext cx="128747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The language core is declared stable in September</a:t>
            </a:r>
          </a:p>
        </p:txBody>
      </p:sp>
      <p:sp>
        <p:nvSpPr>
          <p:cNvPr id="25" name="a5f_dot24"/>
          <p:cNvSpPr/>
          <p:nvPr/>
        </p:nvSpPr>
        <p:spPr>
          <a:xfrm>
            <a:off x="7864754" y="1668780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5u_yr25"/>
          <p:cNvSpPr txBox="1"/>
          <p:nvPr/>
        </p:nvSpPr>
        <p:spPr>
          <a:xfrm>
            <a:off x="7143292" y="1316736"/>
            <a:ext cx="15435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15803D"/>
                </a:solidFill>
                <a:latin typeface="Calibri"/>
              </a:rPr>
              <a:t>2026</a:t>
            </a:r>
          </a:p>
        </p:txBody>
      </p:sp>
      <p:sp>
        <p:nvSpPr>
          <p:cNvPr id="27" name="a5ud60_card26"/>
          <p:cNvSpPr/>
          <p:nvPr/>
        </p:nvSpPr>
        <p:spPr>
          <a:xfrm>
            <a:off x="7143292" y="1901952"/>
            <a:ext cx="1543507" cy="1874519"/>
          </a:xfrm>
          <a:prstGeom prst="roundRect">
            <a:avLst>
              <a:gd name="adj" fmla="val 592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5ud110_tt27"/>
          <p:cNvSpPr txBox="1"/>
          <p:nvPr/>
        </p:nvSpPr>
        <p:spPr>
          <a:xfrm>
            <a:off x="7271308" y="2048256"/>
            <a:ext cx="12874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1.20.4 on OTP 29</a:t>
            </a:r>
          </a:p>
        </p:txBody>
      </p:sp>
      <p:sp>
        <p:nvSpPr>
          <p:cNvPr id="29" name="a5ud150_tb28"/>
          <p:cNvSpPr txBox="1"/>
          <p:nvPr/>
        </p:nvSpPr>
        <p:spPr>
          <a:xfrm>
            <a:off x="7271308" y="2651760"/>
            <a:ext cx="128747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The build on this machine - and the one every output here came from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PRINCIPLES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Design principle 1 — functional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Data is immutable. You never change a value; you derive a new one.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99031"/>
            <a:ext cx="489204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53895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 session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37943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iex&gt; list = [1, 2, 3]</a:t>
            </a:r>
          </a:p>
        </p:txBody>
      </p:sp>
      <p:sp>
        <p:nvSpPr>
          <p:cNvPr id="8" name="a1wd130_code7"/>
          <p:cNvSpPr txBox="1"/>
          <p:nvPr/>
        </p:nvSpPr>
        <p:spPr>
          <a:xfrm>
            <a:off x="621792" y="2052827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  <a:latin typeface="Courier New"/>
              </a:rPr>
              <a:t>[1, 2, 3]</a:t>
            </a:r>
          </a:p>
        </p:txBody>
      </p:sp>
      <p:sp>
        <p:nvSpPr>
          <p:cNvPr id="9" name="a1wd260_code8"/>
          <p:cNvSpPr txBox="1"/>
          <p:nvPr/>
        </p:nvSpPr>
        <p:spPr>
          <a:xfrm>
            <a:off x="621792" y="2267711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iex&gt; List.delete(list, 2)</a:t>
            </a:r>
          </a:p>
        </p:txBody>
      </p:sp>
      <p:sp>
        <p:nvSpPr>
          <p:cNvPr id="10" name="a1wd390_code9"/>
          <p:cNvSpPr txBox="1"/>
          <p:nvPr/>
        </p:nvSpPr>
        <p:spPr>
          <a:xfrm>
            <a:off x="621792" y="2482596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  <a:latin typeface="Courier New"/>
              </a:rPr>
              <a:t>[1, 3]</a:t>
            </a:r>
          </a:p>
        </p:txBody>
      </p:sp>
      <p:sp>
        <p:nvSpPr>
          <p:cNvPr id="11" name="a1wd520_code10"/>
          <p:cNvSpPr txBox="1"/>
          <p:nvPr/>
        </p:nvSpPr>
        <p:spPr>
          <a:xfrm>
            <a:off x="621792" y="2697479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iex&gt; list</a:t>
            </a:r>
          </a:p>
        </p:txBody>
      </p:sp>
      <p:sp>
        <p:nvSpPr>
          <p:cNvPr id="12" name="a1wd650_code11"/>
          <p:cNvSpPr txBox="1"/>
          <p:nvPr/>
        </p:nvSpPr>
        <p:spPr>
          <a:xfrm>
            <a:off x="621792" y="2912363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  <a:latin typeface="Courier New"/>
              </a:rPr>
              <a:t>[1, 2, 3]</a:t>
            </a:r>
          </a:p>
        </p:txBody>
      </p:sp>
      <p:sp>
        <p:nvSpPr>
          <p:cNvPr id="13" name="a1wd780_code12"/>
          <p:cNvSpPr txBox="1"/>
          <p:nvPr/>
        </p:nvSpPr>
        <p:spPr>
          <a:xfrm>
            <a:off x="621792" y="3127248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ourier New"/>
              </a:rPr>
              <a:t># the original is untouched - always</a:t>
            </a:r>
          </a:p>
        </p:txBody>
      </p:sp>
      <p:sp>
        <p:nvSpPr>
          <p:cNvPr id="14" name="a2u_dot13"/>
          <p:cNvSpPr/>
          <p:nvPr/>
        </p:nvSpPr>
        <p:spPr>
          <a:xfrm>
            <a:off x="557784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b14"/>
          <p:cNvSpPr txBox="1"/>
          <p:nvPr/>
        </p:nvSpPr>
        <p:spPr>
          <a:xfrm>
            <a:off x="5797296" y="1453895"/>
            <a:ext cx="28895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No shared mutable state  </a:t>
            </a:r>
            <a:r>
              <a:rPr sz="1150" b="0">
                <a:solidFill>
                  <a:srgbClr val="334155"/>
                </a:solidFill>
                <a:latin typeface="Calibri"/>
              </a:rPr>
              <a:t>two processes cannot corrupt each other's data</a:t>
            </a:r>
          </a:p>
        </p:txBody>
      </p:sp>
      <p:sp>
        <p:nvSpPr>
          <p:cNvPr id="16" name="a2ud180_dot15"/>
          <p:cNvSpPr/>
          <p:nvPr/>
        </p:nvSpPr>
        <p:spPr>
          <a:xfrm>
            <a:off x="5577840" y="215798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180_b16"/>
          <p:cNvSpPr txBox="1"/>
          <p:nvPr/>
        </p:nvSpPr>
        <p:spPr>
          <a:xfrm>
            <a:off x="5797296" y="2057400"/>
            <a:ext cx="28895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Safe to pass around  </a:t>
            </a:r>
            <a:r>
              <a:rPr sz="1150" b="0">
                <a:solidFill>
                  <a:srgbClr val="334155"/>
                </a:solidFill>
                <a:latin typeface="Calibri"/>
              </a:rPr>
              <a:t>a value handed to a function cannot come back changed</a:t>
            </a:r>
          </a:p>
        </p:txBody>
      </p:sp>
      <p:sp>
        <p:nvSpPr>
          <p:cNvPr id="18" name="a2ud360_dot17"/>
          <p:cNvSpPr/>
          <p:nvPr/>
        </p:nvSpPr>
        <p:spPr>
          <a:xfrm>
            <a:off x="5577840" y="276148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360_b18"/>
          <p:cNvSpPr txBox="1"/>
          <p:nvPr/>
        </p:nvSpPr>
        <p:spPr>
          <a:xfrm>
            <a:off x="5797296" y="2660904"/>
            <a:ext cx="28895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Cheap to copy  </a:t>
            </a:r>
            <a:r>
              <a:rPr sz="1150" b="0">
                <a:solidFill>
                  <a:srgbClr val="334155"/>
                </a:solidFill>
                <a:latin typeface="Calibri"/>
              </a:rPr>
              <a:t>unchanged parts of a structure are shared, not duplicated</a:t>
            </a:r>
          </a:p>
        </p:txBody>
      </p:sp>
      <p:sp>
        <p:nvSpPr>
          <p:cNvPr id="20" name="a3f_nb19"/>
          <p:cNvSpPr/>
          <p:nvPr/>
        </p:nvSpPr>
        <p:spPr>
          <a:xfrm>
            <a:off x="457200" y="343814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f_nacc20"/>
          <p:cNvSpPr/>
          <p:nvPr/>
        </p:nvSpPr>
        <p:spPr>
          <a:xfrm>
            <a:off x="457200" y="3438144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f_nt21"/>
          <p:cNvSpPr txBox="1"/>
          <p:nvPr/>
        </p:nvSpPr>
        <p:spPr>
          <a:xfrm>
            <a:off x="658368" y="3438144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is the trade: you give up in-place mutation, and in exchange the runtime can collect garbage per process and keep 12 schedulers busy in parallel without a single lock.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PRINCIPLES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Design principle 2 — dynamic, but not blind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Types are checked at runtime — yet the compiler now catches a growing class of type errors.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160520" cy="1248155"/>
          </a:xfrm>
          <a:prstGeom prst="roundRect">
            <a:avLst>
              <a:gd name="adj" fmla="val 58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typewarn.ex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def bad(x) when is_integer(x) do</a:t>
            </a:r>
          </a:p>
        </p:txBody>
      </p:sp>
      <p:sp>
        <p:nvSpPr>
          <p:cNvPr id="8" name="a1wd120_code7"/>
          <p:cNvSpPr txBox="1"/>
          <p:nvPr/>
        </p:nvSpPr>
        <p:spPr>
          <a:xfrm>
            <a:off x="621792" y="203454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ourier New"/>
              </a:rPr>
              <a:t>  String.upcase(x)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621792" y="224942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2f_codebg9"/>
          <p:cNvSpPr/>
          <p:nvPr/>
        </p:nvSpPr>
        <p:spPr>
          <a:xfrm>
            <a:off x="4754880" y="1380744"/>
            <a:ext cx="3931920" cy="1463039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f_codeh10"/>
          <p:cNvSpPr txBox="1"/>
          <p:nvPr/>
        </p:nvSpPr>
        <p:spPr>
          <a:xfrm>
            <a:off x="4919472" y="143560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elixirc output · real</a:t>
            </a:r>
          </a:p>
        </p:txBody>
      </p:sp>
      <p:sp>
        <p:nvSpPr>
          <p:cNvPr id="12" name="a2w_code11"/>
          <p:cNvSpPr txBox="1"/>
          <p:nvPr/>
        </p:nvSpPr>
        <p:spPr>
          <a:xfrm>
            <a:off x="4919472" y="181965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warning: incompatible types</a:t>
            </a:r>
          </a:p>
        </p:txBody>
      </p:sp>
      <p:sp>
        <p:nvSpPr>
          <p:cNvPr id="13" name="a2wd120_code12"/>
          <p:cNvSpPr txBox="1"/>
          <p:nvPr/>
        </p:nvSpPr>
        <p:spPr>
          <a:xfrm>
            <a:off x="4919472" y="203454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given to String.upcase/1</a:t>
            </a:r>
          </a:p>
        </p:txBody>
      </p:sp>
      <p:sp>
        <p:nvSpPr>
          <p:cNvPr id="14" name="a2wd240_code13"/>
          <p:cNvSpPr txBox="1"/>
          <p:nvPr/>
        </p:nvSpPr>
        <p:spPr>
          <a:xfrm>
            <a:off x="4919472" y="224942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given types:  integer()</a:t>
            </a:r>
          </a:p>
        </p:txBody>
      </p:sp>
      <p:sp>
        <p:nvSpPr>
          <p:cNvPr id="15" name="a2wd360_code14"/>
          <p:cNvSpPr txBox="1"/>
          <p:nvPr/>
        </p:nvSpPr>
        <p:spPr>
          <a:xfrm>
            <a:off x="4919472" y="246430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but expected: binary()</a:t>
            </a:r>
          </a:p>
        </p:txBody>
      </p:sp>
      <p:sp>
        <p:nvSpPr>
          <p:cNvPr id="16" name="a3u_dot15"/>
          <p:cNvSpPr/>
          <p:nvPr/>
        </p:nvSpPr>
        <p:spPr>
          <a:xfrm>
            <a:off x="457200" y="305409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b16"/>
          <p:cNvSpPr txBox="1"/>
          <p:nvPr/>
        </p:nvSpPr>
        <p:spPr>
          <a:xfrm>
            <a:off x="676656" y="2953512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Runtime checking  </a:t>
            </a:r>
            <a:r>
              <a:rPr sz="1200" b="0">
                <a:solidFill>
                  <a:srgbClr val="334155"/>
                </a:solidFill>
                <a:latin typeface="Calibri"/>
              </a:rPr>
              <a:t>a variable holds any term; guards and pattern matching decide what happens</a:t>
            </a:r>
          </a:p>
        </p:txBody>
      </p:sp>
      <p:sp>
        <p:nvSpPr>
          <p:cNvPr id="18" name="a3ud170_dot17"/>
          <p:cNvSpPr/>
          <p:nvPr/>
        </p:nvSpPr>
        <p:spPr>
          <a:xfrm>
            <a:off x="457200" y="343814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ud170_b18"/>
          <p:cNvSpPr txBox="1"/>
          <p:nvPr/>
        </p:nvSpPr>
        <p:spPr>
          <a:xfrm>
            <a:off x="676656" y="3337560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Set-theoretic types  </a:t>
            </a:r>
            <a:r>
              <a:rPr sz="1200" b="0">
                <a:solidFill>
                  <a:srgbClr val="334155"/>
                </a:solidFill>
                <a:latin typeface="Calibri"/>
              </a:rPr>
              <a:t>since 1.17 the compiler infers types and reports contradictions it can prove</a:t>
            </a:r>
          </a:p>
        </p:txBody>
      </p:sp>
      <p:sp>
        <p:nvSpPr>
          <p:cNvPr id="20" name="a3ud340_dot19"/>
          <p:cNvSpPr/>
          <p:nvPr/>
        </p:nvSpPr>
        <p:spPr>
          <a:xfrm>
            <a:off x="457200" y="382219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d340_b20"/>
          <p:cNvSpPr txBox="1"/>
          <p:nvPr/>
        </p:nvSpPr>
        <p:spPr>
          <a:xfrm>
            <a:off x="676656" y="3721608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No annotations required  </a:t>
            </a:r>
            <a:r>
              <a:rPr sz="1200" b="0">
                <a:solidFill>
                  <a:srgbClr val="334155"/>
                </a:solidFill>
                <a:latin typeface="Calibri"/>
              </a:rPr>
              <a:t>the warning above came from plain code with no typespecs at all</a:t>
            </a:r>
          </a:p>
        </p:txBody>
      </p:sp>
      <p:sp>
        <p:nvSpPr>
          <p:cNvPr id="22" name="a4f_nb21"/>
          <p:cNvSpPr/>
          <p:nvPr/>
        </p:nvSpPr>
        <p:spPr>
          <a:xfrm>
            <a:off x="457200" y="4197096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f_nacc22"/>
          <p:cNvSpPr/>
          <p:nvPr/>
        </p:nvSpPr>
        <p:spPr>
          <a:xfrm>
            <a:off x="457200" y="4197096"/>
            <a:ext cx="50292" cy="47548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f_nt23"/>
          <p:cNvSpPr txBox="1"/>
          <p:nvPr/>
        </p:nvSpPr>
        <p:spPr>
          <a:xfrm>
            <a:off x="658368" y="4197096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i  </a:t>
            </a:r>
            <a:r>
              <a:rPr sz="1150" b="0">
                <a:solidFill>
                  <a:srgbClr val="334155"/>
                </a:solidFill>
                <a:latin typeface="Calibri"/>
              </a:rPr>
              <a:t>Dynamic no longer means unchecked. The compiler proved this function could never succeed - before it ever ran.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PRINCIPLES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Design principle 3 — concurrent by default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Processes are the unit of work, of isolation, and of failure.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80744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6"/>
          <p:cNvSpPr/>
          <p:nvPr/>
        </p:nvSpPr>
        <p:spPr>
          <a:xfrm>
            <a:off x="621792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ict7"/>
          <p:cNvSpPr txBox="1"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9" name="a1ud90_ct8"/>
          <p:cNvSpPr txBox="1"/>
          <p:nvPr/>
        </p:nvSpPr>
        <p:spPr>
          <a:xfrm>
            <a:off x="621792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Cheap</a:t>
            </a:r>
          </a:p>
        </p:txBody>
      </p:sp>
      <p:sp>
        <p:nvSpPr>
          <p:cNvPr id="10" name="a1ud120_cs9"/>
          <p:cNvSpPr txBox="1"/>
          <p:nvPr/>
        </p:nvSpPr>
        <p:spPr>
          <a:xfrm>
            <a:off x="621792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not a thread</a:t>
            </a:r>
          </a:p>
        </p:txBody>
      </p:sp>
      <p:sp>
        <p:nvSpPr>
          <p:cNvPr id="11" name="a1ud150_cb10"/>
          <p:cNvSpPr txBox="1"/>
          <p:nvPr/>
        </p:nvSpPr>
        <p:spPr>
          <a:xfrm>
            <a:off x="621792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Scheduled by the VM</a:t>
            </a:r>
          </a:p>
        </p:txBody>
      </p:sp>
      <p:sp>
        <p:nvSpPr>
          <p:cNvPr id="12" name="a1ud220_cb11"/>
          <p:cNvSpPr txBox="1"/>
          <p:nvPr/>
        </p:nvSpPr>
        <p:spPr>
          <a:xfrm>
            <a:off x="621792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Start hundreds of thousands</a:t>
            </a:r>
          </a:p>
        </p:txBody>
      </p:sp>
      <p:sp>
        <p:nvSpPr>
          <p:cNvPr id="13" name="a1ud290_cb12"/>
          <p:cNvSpPr txBox="1"/>
          <p:nvPr/>
        </p:nvSpPr>
        <p:spPr>
          <a:xfrm>
            <a:off x="621792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Ceiling here: 1,048,576</a:t>
            </a:r>
          </a:p>
        </p:txBody>
      </p:sp>
      <p:sp>
        <p:nvSpPr>
          <p:cNvPr id="14" name="a2u_card13"/>
          <p:cNvSpPr/>
          <p:nvPr/>
        </p:nvSpPr>
        <p:spPr>
          <a:xfrm>
            <a:off x="2564892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2564892" y="1380744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15"/>
          <p:cNvSpPr/>
          <p:nvPr/>
        </p:nvSpPr>
        <p:spPr>
          <a:xfrm>
            <a:off x="2729484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ict16"/>
          <p:cNvSpPr txBox="1"/>
          <p:nvPr/>
        </p:nvSpPr>
        <p:spPr>
          <a:xfrm>
            <a:off x="2729484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a2ud90_ct17"/>
          <p:cNvSpPr txBox="1"/>
          <p:nvPr/>
        </p:nvSpPr>
        <p:spPr>
          <a:xfrm>
            <a:off x="2729484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Isolated</a:t>
            </a:r>
          </a:p>
        </p:txBody>
      </p:sp>
      <p:sp>
        <p:nvSpPr>
          <p:cNvPr id="19" name="a2ud120_cs18"/>
          <p:cNvSpPr txBox="1"/>
          <p:nvPr/>
        </p:nvSpPr>
        <p:spPr>
          <a:xfrm>
            <a:off x="2729484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own heap</a:t>
            </a:r>
          </a:p>
        </p:txBody>
      </p:sp>
      <p:sp>
        <p:nvSpPr>
          <p:cNvPr id="20" name="a2ud150_cb19"/>
          <p:cNvSpPr txBox="1"/>
          <p:nvPr/>
        </p:nvSpPr>
        <p:spPr>
          <a:xfrm>
            <a:off x="2729484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No shared memory</a:t>
            </a:r>
          </a:p>
        </p:txBody>
      </p:sp>
      <p:sp>
        <p:nvSpPr>
          <p:cNvPr id="21" name="a2ud220_cb20"/>
          <p:cNvSpPr txBox="1"/>
          <p:nvPr/>
        </p:nvSpPr>
        <p:spPr>
          <a:xfrm>
            <a:off x="2729484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GC runs per process</a:t>
            </a:r>
          </a:p>
        </p:txBody>
      </p:sp>
      <p:sp>
        <p:nvSpPr>
          <p:cNvPr id="22" name="a2ud290_cb21"/>
          <p:cNvSpPr txBox="1"/>
          <p:nvPr/>
        </p:nvSpPr>
        <p:spPr>
          <a:xfrm>
            <a:off x="2729484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One crash stays local</a:t>
            </a:r>
          </a:p>
        </p:txBody>
      </p:sp>
      <p:sp>
        <p:nvSpPr>
          <p:cNvPr id="23" name="a3u_card22"/>
          <p:cNvSpPr/>
          <p:nvPr/>
        </p:nvSpPr>
        <p:spPr>
          <a:xfrm>
            <a:off x="4672584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acc23"/>
          <p:cNvSpPr/>
          <p:nvPr/>
        </p:nvSpPr>
        <p:spPr>
          <a:xfrm>
            <a:off x="4672584" y="1380744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24"/>
          <p:cNvSpPr/>
          <p:nvPr/>
        </p:nvSpPr>
        <p:spPr>
          <a:xfrm>
            <a:off x="4837176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60_ict25"/>
          <p:cNvSpPr txBox="1"/>
          <p:nvPr/>
        </p:nvSpPr>
        <p:spPr>
          <a:xfrm>
            <a:off x="4837176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7" name="a3ud90_ct26"/>
          <p:cNvSpPr txBox="1"/>
          <p:nvPr/>
        </p:nvSpPr>
        <p:spPr>
          <a:xfrm>
            <a:off x="4837176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Preempted</a:t>
            </a:r>
          </a:p>
        </p:txBody>
      </p:sp>
      <p:sp>
        <p:nvSpPr>
          <p:cNvPr id="28" name="a3ud120_cs27"/>
          <p:cNvSpPr txBox="1"/>
          <p:nvPr/>
        </p:nvSpPr>
        <p:spPr>
          <a:xfrm>
            <a:off x="4837176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12 schedulers</a:t>
            </a:r>
          </a:p>
        </p:txBody>
      </p:sp>
      <p:sp>
        <p:nvSpPr>
          <p:cNvPr id="29" name="a3ud150_cb28"/>
          <p:cNvSpPr txBox="1"/>
          <p:nvPr/>
        </p:nvSpPr>
        <p:spPr>
          <a:xfrm>
            <a:off x="4837176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VM interrupts hot loops</a:t>
            </a:r>
          </a:p>
        </p:txBody>
      </p:sp>
      <p:sp>
        <p:nvSpPr>
          <p:cNvPr id="30" name="a3ud220_cb29"/>
          <p:cNvSpPr txBox="1"/>
          <p:nvPr/>
        </p:nvSpPr>
        <p:spPr>
          <a:xfrm>
            <a:off x="4837176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No process starves another</a:t>
            </a:r>
          </a:p>
        </p:txBody>
      </p:sp>
      <p:sp>
        <p:nvSpPr>
          <p:cNvPr id="31" name="a3ud290_cb30"/>
          <p:cNvSpPr txBox="1"/>
          <p:nvPr/>
        </p:nvSpPr>
        <p:spPr>
          <a:xfrm>
            <a:off x="4837176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One per logical core</a:t>
            </a:r>
          </a:p>
        </p:txBody>
      </p:sp>
      <p:sp>
        <p:nvSpPr>
          <p:cNvPr id="32" name="a4u_card31"/>
          <p:cNvSpPr/>
          <p:nvPr/>
        </p:nvSpPr>
        <p:spPr>
          <a:xfrm>
            <a:off x="6780276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_acc32"/>
          <p:cNvSpPr/>
          <p:nvPr/>
        </p:nvSpPr>
        <p:spPr>
          <a:xfrm>
            <a:off x="6780276" y="1380744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60_ic33"/>
          <p:cNvSpPr/>
          <p:nvPr/>
        </p:nvSpPr>
        <p:spPr>
          <a:xfrm>
            <a:off x="6944868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4ud60_ict34"/>
          <p:cNvSpPr txBox="1"/>
          <p:nvPr/>
        </p:nvSpPr>
        <p:spPr>
          <a:xfrm>
            <a:off x="6944868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6" name="a4ud90_ct35"/>
          <p:cNvSpPr txBox="1"/>
          <p:nvPr/>
        </p:nvSpPr>
        <p:spPr>
          <a:xfrm>
            <a:off x="6944868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Addressable</a:t>
            </a:r>
          </a:p>
        </p:txBody>
      </p:sp>
      <p:sp>
        <p:nvSpPr>
          <p:cNvPr id="37" name="a4ud120_cs36"/>
          <p:cNvSpPr txBox="1"/>
          <p:nvPr/>
        </p:nvSpPr>
        <p:spPr>
          <a:xfrm>
            <a:off x="6944868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send / receive</a:t>
            </a:r>
          </a:p>
        </p:txBody>
      </p:sp>
      <p:sp>
        <p:nvSpPr>
          <p:cNvPr id="38" name="a4ud150_cb37"/>
          <p:cNvSpPr txBox="1"/>
          <p:nvPr/>
        </p:nvSpPr>
        <p:spPr>
          <a:xfrm>
            <a:off x="6944868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Messages, not calls</a:t>
            </a:r>
          </a:p>
        </p:txBody>
      </p:sp>
      <p:sp>
        <p:nvSpPr>
          <p:cNvPr id="39" name="a4ud220_cb38"/>
          <p:cNvSpPr txBox="1"/>
          <p:nvPr/>
        </p:nvSpPr>
        <p:spPr>
          <a:xfrm>
            <a:off x="6944868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Same code across nodes</a:t>
            </a:r>
          </a:p>
        </p:txBody>
      </p:sp>
      <p:sp>
        <p:nvSpPr>
          <p:cNvPr id="40" name="a4ud290_cb39"/>
          <p:cNvSpPr txBox="1"/>
          <p:nvPr/>
        </p:nvSpPr>
        <p:spPr>
          <a:xfrm>
            <a:off x="6944868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Location transparent</a:t>
            </a:r>
          </a:p>
        </p:txBody>
      </p:sp>
      <p:sp>
        <p:nvSpPr>
          <p:cNvPr id="41" name="a5f_nb40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5f_nacc41"/>
          <p:cNvSpPr/>
          <p:nvPr/>
        </p:nvSpPr>
        <p:spPr>
          <a:xfrm>
            <a:off x="457200" y="4005072"/>
            <a:ext cx="502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5f_nt42"/>
          <p:cNvSpPr txBox="1"/>
          <p:nvPr/>
        </p:nvSpPr>
        <p:spPr>
          <a:xfrm>
            <a:off x="658368" y="400507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Measured here: :erlang.system_info(:schedulers_online) returns 12, one per logical core, and :erlang.system_info(:process_limit) returns 1,048,576.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PRINCIPLES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Design principle 4 — extensible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Most of what looks like syntax is a macro you could have written yourself.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822960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Macro.expand_once/2 · real output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quote(do: if(x, do: 1, else: 2)) |&gt; Macro.expand_once(__ENV__)</a:t>
            </a:r>
          </a:p>
        </p:txBody>
      </p:sp>
      <p:sp>
        <p:nvSpPr>
          <p:cNvPr id="8" name="a1wd130_code7"/>
          <p:cNvSpPr txBox="1"/>
          <p:nvPr/>
        </p:nvSpPr>
        <p:spPr>
          <a:xfrm>
            <a:off x="621792" y="203454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260_code8"/>
          <p:cNvSpPr txBox="1"/>
          <p:nvPr/>
        </p:nvSpPr>
        <p:spPr>
          <a:xfrm>
            <a:off x="621792" y="224942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case x do</a:t>
            </a:r>
          </a:p>
        </p:txBody>
      </p:sp>
      <p:sp>
        <p:nvSpPr>
          <p:cNvPr id="10" name="a1wd390_code9"/>
          <p:cNvSpPr txBox="1"/>
          <p:nvPr/>
        </p:nvSpPr>
        <p:spPr>
          <a:xfrm>
            <a:off x="621792" y="246430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x when :erlang.orelse(:erlang."=:="(x, false), :erlang."=:="(x, nil)) -&gt; 2</a:t>
            </a:r>
          </a:p>
        </p:txBody>
      </p:sp>
      <p:sp>
        <p:nvSpPr>
          <p:cNvPr id="11" name="a1wd520_code10"/>
          <p:cNvSpPr txBox="1"/>
          <p:nvPr/>
        </p:nvSpPr>
        <p:spPr>
          <a:xfrm>
            <a:off x="621792" y="2679191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_ -&gt; 1</a:t>
            </a:r>
          </a:p>
        </p:txBody>
      </p:sp>
      <p:sp>
        <p:nvSpPr>
          <p:cNvPr id="12" name="a1wd650_code11"/>
          <p:cNvSpPr txBox="1"/>
          <p:nvPr/>
        </p:nvSpPr>
        <p:spPr>
          <a:xfrm>
            <a:off x="621792" y="289407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end</a:t>
            </a:r>
          </a:p>
        </p:txBody>
      </p:sp>
      <p:sp>
        <p:nvSpPr>
          <p:cNvPr id="13" name="a2u_dot12"/>
          <p:cNvSpPr/>
          <p:nvPr/>
        </p:nvSpPr>
        <p:spPr>
          <a:xfrm>
            <a:off x="457200" y="34472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b13"/>
          <p:cNvSpPr txBox="1"/>
          <p:nvPr/>
        </p:nvSpPr>
        <p:spPr>
          <a:xfrm>
            <a:off x="676656" y="3346703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if, unless, |&gt;, def, defmodule  </a:t>
            </a:r>
            <a:r>
              <a:rPr sz="1200" b="0">
                <a:solidFill>
                  <a:srgbClr val="334155"/>
                </a:solidFill>
                <a:latin typeface="Calibri"/>
              </a:rPr>
              <a:t>all macros - none of them are built into the parser</a:t>
            </a:r>
          </a:p>
        </p:txBody>
      </p:sp>
      <p:sp>
        <p:nvSpPr>
          <p:cNvPr id="15" name="a2ud170_dot14"/>
          <p:cNvSpPr/>
          <p:nvPr/>
        </p:nvSpPr>
        <p:spPr>
          <a:xfrm>
            <a:off x="457200" y="384962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170_b15"/>
          <p:cNvSpPr txBox="1"/>
          <p:nvPr/>
        </p:nvSpPr>
        <p:spPr>
          <a:xfrm>
            <a:off x="676656" y="3749040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The language core is small  </a:t>
            </a:r>
            <a:r>
              <a:rPr sz="1200" b="0">
                <a:solidFill>
                  <a:srgbClr val="334155"/>
                </a:solidFill>
                <a:latin typeface="Calibri"/>
              </a:rPr>
              <a:t>most of what you learn is library code, written in Elixir</a:t>
            </a:r>
          </a:p>
        </p:txBody>
      </p:sp>
      <p:sp>
        <p:nvSpPr>
          <p:cNvPr id="17" name="a2ud340_dot16"/>
          <p:cNvSpPr/>
          <p:nvPr/>
        </p:nvSpPr>
        <p:spPr>
          <a:xfrm>
            <a:off x="457200" y="42519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340_b17"/>
          <p:cNvSpPr txBox="1"/>
          <p:nvPr/>
        </p:nvSpPr>
        <p:spPr>
          <a:xfrm>
            <a:off x="676656" y="4151376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You get the same tools  </a:t>
            </a:r>
            <a:r>
              <a:rPr sz="1200" b="0">
                <a:solidFill>
                  <a:srgbClr val="334155"/>
                </a:solidFill>
                <a:latin typeface="Calibri"/>
              </a:rPr>
              <a:t>defmacro is public; Ecto and Phoenix are built on it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The platform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Elixir is a language. The BEAM and OTP are
what make it worth using.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beam vm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erlang/otp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supervision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STACK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Elixir, Erlang, the BEAM and OTP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Four names people use interchangeably — and shouldn't.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426463"/>
            <a:ext cx="123444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426463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7" name="a1wd150_td6"/>
          <p:cNvSpPr/>
          <p:nvPr/>
        </p:nvSpPr>
        <p:spPr>
          <a:xfrm>
            <a:off x="457200" y="1847088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50_tdt7"/>
          <p:cNvSpPr txBox="1"/>
          <p:nvPr/>
        </p:nvSpPr>
        <p:spPr>
          <a:xfrm>
            <a:off x="530352" y="1847088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Elixir</a:t>
            </a:r>
          </a:p>
        </p:txBody>
      </p:sp>
      <p:sp>
        <p:nvSpPr>
          <p:cNvPr id="9" name="a1wd300_td8"/>
          <p:cNvSpPr/>
          <p:nvPr/>
        </p:nvSpPr>
        <p:spPr>
          <a:xfrm>
            <a:off x="457200" y="2267712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300_tdt9"/>
          <p:cNvSpPr txBox="1"/>
          <p:nvPr/>
        </p:nvSpPr>
        <p:spPr>
          <a:xfrm>
            <a:off x="530352" y="2267712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Erlang</a:t>
            </a:r>
          </a:p>
        </p:txBody>
      </p:sp>
      <p:sp>
        <p:nvSpPr>
          <p:cNvPr id="11" name="a1wd450_td10"/>
          <p:cNvSpPr/>
          <p:nvPr/>
        </p:nvSpPr>
        <p:spPr>
          <a:xfrm>
            <a:off x="457200" y="2688336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450_tdt11"/>
          <p:cNvSpPr txBox="1"/>
          <p:nvPr/>
        </p:nvSpPr>
        <p:spPr>
          <a:xfrm>
            <a:off x="530352" y="2688336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BEAM</a:t>
            </a:r>
          </a:p>
        </p:txBody>
      </p:sp>
      <p:sp>
        <p:nvSpPr>
          <p:cNvPr id="13" name="a1wd600_td12"/>
          <p:cNvSpPr/>
          <p:nvPr/>
        </p:nvSpPr>
        <p:spPr>
          <a:xfrm>
            <a:off x="457200" y="3108960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600_tdt13"/>
          <p:cNvSpPr txBox="1"/>
          <p:nvPr/>
        </p:nvSpPr>
        <p:spPr>
          <a:xfrm>
            <a:off x="530352" y="3108960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OTP</a:t>
            </a:r>
          </a:p>
        </p:txBody>
      </p:sp>
      <p:sp>
        <p:nvSpPr>
          <p:cNvPr id="15" name="a1f_th14"/>
          <p:cNvSpPr/>
          <p:nvPr/>
        </p:nvSpPr>
        <p:spPr>
          <a:xfrm>
            <a:off x="1691640" y="1426463"/>
            <a:ext cx="178308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f_tht15"/>
          <p:cNvSpPr txBox="1"/>
          <p:nvPr/>
        </p:nvSpPr>
        <p:spPr>
          <a:xfrm>
            <a:off x="1764792" y="1426463"/>
            <a:ext cx="16733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7" name="a1wd150_td16"/>
          <p:cNvSpPr/>
          <p:nvPr/>
        </p:nvSpPr>
        <p:spPr>
          <a:xfrm>
            <a:off x="1691640" y="1847088"/>
            <a:ext cx="1783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150_tdt17"/>
          <p:cNvSpPr txBox="1"/>
          <p:nvPr/>
        </p:nvSpPr>
        <p:spPr>
          <a:xfrm>
            <a:off x="1764792" y="1847088"/>
            <a:ext cx="16733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 language</a:t>
            </a:r>
          </a:p>
        </p:txBody>
      </p:sp>
      <p:sp>
        <p:nvSpPr>
          <p:cNvPr id="19" name="a1wd300_td18"/>
          <p:cNvSpPr/>
          <p:nvPr/>
        </p:nvSpPr>
        <p:spPr>
          <a:xfrm>
            <a:off x="1691640" y="2267712"/>
            <a:ext cx="1783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300_tdt19"/>
          <p:cNvSpPr txBox="1"/>
          <p:nvPr/>
        </p:nvSpPr>
        <p:spPr>
          <a:xfrm>
            <a:off x="1764792" y="2267712"/>
            <a:ext cx="16733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 language</a:t>
            </a:r>
          </a:p>
        </p:txBody>
      </p:sp>
      <p:sp>
        <p:nvSpPr>
          <p:cNvPr id="21" name="a1wd450_td20"/>
          <p:cNvSpPr/>
          <p:nvPr/>
        </p:nvSpPr>
        <p:spPr>
          <a:xfrm>
            <a:off x="1691640" y="2688336"/>
            <a:ext cx="1783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450_tdt21"/>
          <p:cNvSpPr txBox="1"/>
          <p:nvPr/>
        </p:nvSpPr>
        <p:spPr>
          <a:xfrm>
            <a:off x="1764792" y="2688336"/>
            <a:ext cx="16733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 virtual machine</a:t>
            </a:r>
          </a:p>
        </p:txBody>
      </p:sp>
      <p:sp>
        <p:nvSpPr>
          <p:cNvPr id="23" name="a1wd600_td22"/>
          <p:cNvSpPr/>
          <p:nvPr/>
        </p:nvSpPr>
        <p:spPr>
          <a:xfrm>
            <a:off x="1691640" y="3108960"/>
            <a:ext cx="1783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600_tdt23"/>
          <p:cNvSpPr txBox="1"/>
          <p:nvPr/>
        </p:nvSpPr>
        <p:spPr>
          <a:xfrm>
            <a:off x="1764792" y="3108960"/>
            <a:ext cx="16733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Framework + libraries</a:t>
            </a:r>
          </a:p>
        </p:txBody>
      </p:sp>
      <p:sp>
        <p:nvSpPr>
          <p:cNvPr id="25" name="a1f_th24"/>
          <p:cNvSpPr/>
          <p:nvPr/>
        </p:nvSpPr>
        <p:spPr>
          <a:xfrm>
            <a:off x="3474720" y="1426463"/>
            <a:ext cx="3977639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3547872" y="1426463"/>
            <a:ext cx="386791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What it gives you</a:t>
            </a:r>
          </a:p>
        </p:txBody>
      </p:sp>
      <p:sp>
        <p:nvSpPr>
          <p:cNvPr id="27" name="a1wd150_td26"/>
          <p:cNvSpPr/>
          <p:nvPr/>
        </p:nvSpPr>
        <p:spPr>
          <a:xfrm>
            <a:off x="3474720" y="1847088"/>
            <a:ext cx="3977639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50_tdt27"/>
          <p:cNvSpPr txBox="1"/>
          <p:nvPr/>
        </p:nvSpPr>
        <p:spPr>
          <a:xfrm>
            <a:off x="3547872" y="1847088"/>
            <a:ext cx="386791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Syntax, macros, protocols, mix, ExUnit</a:t>
            </a:r>
          </a:p>
        </p:txBody>
      </p:sp>
      <p:sp>
        <p:nvSpPr>
          <p:cNvPr id="29" name="a1wd300_td28"/>
          <p:cNvSpPr/>
          <p:nvPr/>
        </p:nvSpPr>
        <p:spPr>
          <a:xfrm>
            <a:off x="3474720" y="2267712"/>
            <a:ext cx="3977639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300_tdt29"/>
          <p:cNvSpPr txBox="1"/>
          <p:nvPr/>
        </p:nvSpPr>
        <p:spPr>
          <a:xfrm>
            <a:off x="3547872" y="2267712"/>
            <a:ext cx="386791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The other language on the same VM</a:t>
            </a:r>
          </a:p>
        </p:txBody>
      </p:sp>
      <p:sp>
        <p:nvSpPr>
          <p:cNvPr id="31" name="a1wd450_td30"/>
          <p:cNvSpPr/>
          <p:nvPr/>
        </p:nvSpPr>
        <p:spPr>
          <a:xfrm>
            <a:off x="3474720" y="2688336"/>
            <a:ext cx="3977639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450_tdt31"/>
          <p:cNvSpPr txBox="1"/>
          <p:nvPr/>
        </p:nvSpPr>
        <p:spPr>
          <a:xfrm>
            <a:off x="3547872" y="2688336"/>
            <a:ext cx="386791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Runs the bytecode both languages compile to</a:t>
            </a:r>
          </a:p>
        </p:txBody>
      </p:sp>
      <p:sp>
        <p:nvSpPr>
          <p:cNvPr id="33" name="a1wd600_td32"/>
          <p:cNvSpPr/>
          <p:nvPr/>
        </p:nvSpPr>
        <p:spPr>
          <a:xfrm>
            <a:off x="3474720" y="3108960"/>
            <a:ext cx="3977639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600_tdt33"/>
          <p:cNvSpPr txBox="1"/>
          <p:nvPr/>
        </p:nvSpPr>
        <p:spPr>
          <a:xfrm>
            <a:off x="3547872" y="3108960"/>
            <a:ext cx="386791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GenServer, Supervisor, Application, ETS</a:t>
            </a:r>
          </a:p>
        </p:txBody>
      </p:sp>
      <p:sp>
        <p:nvSpPr>
          <p:cNvPr id="35" name="a1f_th34"/>
          <p:cNvSpPr/>
          <p:nvPr/>
        </p:nvSpPr>
        <p:spPr>
          <a:xfrm>
            <a:off x="7452359" y="1426463"/>
            <a:ext cx="1234440" cy="4206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f_tht35"/>
          <p:cNvSpPr txBox="1"/>
          <p:nvPr/>
        </p:nvSpPr>
        <p:spPr>
          <a:xfrm>
            <a:off x="7525511" y="1426463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urier New"/>
              </a:rPr>
              <a:t>Here</a:t>
            </a:r>
          </a:p>
        </p:txBody>
      </p:sp>
      <p:sp>
        <p:nvSpPr>
          <p:cNvPr id="37" name="a1wd150_td36"/>
          <p:cNvSpPr/>
          <p:nvPr/>
        </p:nvSpPr>
        <p:spPr>
          <a:xfrm>
            <a:off x="7452359" y="1847088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150_tdt37"/>
          <p:cNvSpPr txBox="1"/>
          <p:nvPr/>
        </p:nvSpPr>
        <p:spPr>
          <a:xfrm>
            <a:off x="7525511" y="1847088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1.20.4</a:t>
            </a:r>
          </a:p>
        </p:txBody>
      </p:sp>
      <p:sp>
        <p:nvSpPr>
          <p:cNvPr id="39" name="a1wd300_td38"/>
          <p:cNvSpPr/>
          <p:nvPr/>
        </p:nvSpPr>
        <p:spPr>
          <a:xfrm>
            <a:off x="7452359" y="2267712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300_tdt39"/>
          <p:cNvSpPr txBox="1"/>
          <p:nvPr/>
        </p:nvSpPr>
        <p:spPr>
          <a:xfrm>
            <a:off x="7525511" y="2267712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OTP 29</a:t>
            </a:r>
          </a:p>
        </p:txBody>
      </p:sp>
      <p:sp>
        <p:nvSpPr>
          <p:cNvPr id="41" name="a1wd450_td40"/>
          <p:cNvSpPr/>
          <p:nvPr/>
        </p:nvSpPr>
        <p:spPr>
          <a:xfrm>
            <a:off x="7452359" y="2688336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450_tdt41"/>
          <p:cNvSpPr txBox="1"/>
          <p:nvPr/>
        </p:nvSpPr>
        <p:spPr>
          <a:xfrm>
            <a:off x="7525511" y="2688336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erts 17.0.6</a:t>
            </a:r>
          </a:p>
        </p:txBody>
      </p:sp>
      <p:sp>
        <p:nvSpPr>
          <p:cNvPr id="43" name="a1wd600_td42"/>
          <p:cNvSpPr/>
          <p:nvPr/>
        </p:nvSpPr>
        <p:spPr>
          <a:xfrm>
            <a:off x="7452359" y="3108960"/>
            <a:ext cx="1234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600_tdt43"/>
          <p:cNvSpPr txBox="1"/>
          <p:nvPr/>
        </p:nvSpPr>
        <p:spPr>
          <a:xfrm>
            <a:off x="7525511" y="3108960"/>
            <a:ext cx="11247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OTP 29</a:t>
            </a:r>
          </a:p>
        </p:txBody>
      </p:sp>
      <p:sp>
        <p:nvSpPr>
          <p:cNvPr id="45" name="a2f_nb44"/>
          <p:cNvSpPr/>
          <p:nvPr/>
        </p:nvSpPr>
        <p:spPr>
          <a:xfrm>
            <a:off x="457200" y="3712463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f_nacc45"/>
          <p:cNvSpPr/>
          <p:nvPr/>
        </p:nvSpPr>
        <p:spPr>
          <a:xfrm>
            <a:off x="457200" y="3712463"/>
            <a:ext cx="50292" cy="71323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f_nt46"/>
          <p:cNvSpPr txBox="1"/>
          <p:nvPr/>
        </p:nvSpPr>
        <p:spPr>
          <a:xfrm>
            <a:off x="658368" y="3712463"/>
            <a:ext cx="782726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⇄  </a:t>
            </a:r>
            <a:r>
              <a:rPr sz="1150" b="0">
                <a:solidFill>
                  <a:srgbClr val="334155"/>
                </a:solidFill>
                <a:latin typeface="Calibri"/>
              </a:rPr>
              <a:t>You can call any Erlang function from Elixir at no cost - :erlang.system_info/1 and :beam_lib.all_chunks/1 in this deck are exactly that. An Erlang module is just an atom with a leading colon.</a:t>
            </a:r>
          </a:p>
        </p:txBody>
      </p:sp>
      <p:sp>
        <p:nvSpPr>
          <p:cNvPr id="48" name="ft4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PLATFORM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BEAM virtual machine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Bogdan/Björn's Erlang Abstract Machine — a runtime designed around failure, not around raw speed.</a:t>
            </a:r>
          </a:p>
        </p:txBody>
      </p:sp>
      <p:sp>
        <p:nvSpPr>
          <p:cNvPr id="5" name="a1u_dot4"/>
          <p:cNvSpPr/>
          <p:nvPr/>
        </p:nvSpPr>
        <p:spPr>
          <a:xfrm>
            <a:off x="457200" y="14813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b5"/>
          <p:cNvSpPr txBox="1"/>
          <p:nvPr/>
        </p:nvSpPr>
        <p:spPr>
          <a:xfrm>
            <a:off x="676656" y="1380743"/>
            <a:ext cx="39410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Preemptive scheduling  </a:t>
            </a:r>
            <a:r>
              <a:rPr sz="1200" b="0">
                <a:solidFill>
                  <a:srgbClr val="334155"/>
                </a:solidFill>
                <a:latin typeface="Calibri"/>
              </a:rPr>
              <a:t>each process gets a budget of reductions, then yields</a:t>
            </a:r>
          </a:p>
        </p:txBody>
      </p:sp>
      <p:sp>
        <p:nvSpPr>
          <p:cNvPr id="7" name="a1ud160_dot6"/>
          <p:cNvSpPr/>
          <p:nvPr/>
        </p:nvSpPr>
        <p:spPr>
          <a:xfrm>
            <a:off x="457200" y="204825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160_b7"/>
          <p:cNvSpPr txBox="1"/>
          <p:nvPr/>
        </p:nvSpPr>
        <p:spPr>
          <a:xfrm>
            <a:off x="676656" y="1947672"/>
            <a:ext cx="39410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Per-process heaps  </a:t>
            </a:r>
            <a:r>
              <a:rPr sz="1200" b="0">
                <a:solidFill>
                  <a:srgbClr val="334155"/>
                </a:solidFill>
                <a:latin typeface="Calibri"/>
              </a:rPr>
              <a:t>garbage collection never stops the whole VM</a:t>
            </a:r>
          </a:p>
        </p:txBody>
      </p:sp>
      <p:sp>
        <p:nvSpPr>
          <p:cNvPr id="9" name="a1ud320_dot8"/>
          <p:cNvSpPr/>
          <p:nvPr/>
        </p:nvSpPr>
        <p:spPr>
          <a:xfrm>
            <a:off x="457200" y="261518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320_b9"/>
          <p:cNvSpPr txBox="1"/>
          <p:nvPr/>
        </p:nvSpPr>
        <p:spPr>
          <a:xfrm>
            <a:off x="676656" y="2514600"/>
            <a:ext cx="39410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Soft real-time  </a:t>
            </a:r>
            <a:r>
              <a:rPr sz="1200" b="0">
                <a:solidFill>
                  <a:srgbClr val="334155"/>
                </a:solidFill>
                <a:latin typeface="Calibri"/>
              </a:rPr>
              <a:t>latency stays predictable as load climbs</a:t>
            </a:r>
          </a:p>
        </p:txBody>
      </p:sp>
      <p:sp>
        <p:nvSpPr>
          <p:cNvPr id="11" name="a1ud480_dot10"/>
          <p:cNvSpPr/>
          <p:nvPr/>
        </p:nvSpPr>
        <p:spPr>
          <a:xfrm>
            <a:off x="457200" y="318211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480_b11"/>
          <p:cNvSpPr txBox="1"/>
          <p:nvPr/>
        </p:nvSpPr>
        <p:spPr>
          <a:xfrm>
            <a:off x="676656" y="3081528"/>
            <a:ext cx="39410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Hot code loading  </a:t>
            </a:r>
            <a:r>
              <a:rPr sz="1200" b="0">
                <a:solidFill>
                  <a:srgbClr val="334155"/>
                </a:solidFill>
                <a:latin typeface="Calibri"/>
              </a:rPr>
              <a:t>two versions of a module can be live at once</a:t>
            </a:r>
          </a:p>
        </p:txBody>
      </p:sp>
      <p:sp>
        <p:nvSpPr>
          <p:cNvPr id="13" name="a1ud640_dot12"/>
          <p:cNvSpPr/>
          <p:nvPr/>
        </p:nvSpPr>
        <p:spPr>
          <a:xfrm>
            <a:off x="457200" y="374903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640_b13"/>
          <p:cNvSpPr txBox="1"/>
          <p:nvPr/>
        </p:nvSpPr>
        <p:spPr>
          <a:xfrm>
            <a:off x="676656" y="3648456"/>
            <a:ext cx="39410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Distribution built in  </a:t>
            </a:r>
            <a:r>
              <a:rPr sz="1200" b="0">
                <a:solidFill>
                  <a:srgbClr val="334155"/>
                </a:solidFill>
                <a:latin typeface="Calibri"/>
              </a:rPr>
              <a:t>a node talks to another node with the same send/2</a:t>
            </a:r>
          </a:p>
        </p:txBody>
      </p:sp>
      <p:sp>
        <p:nvSpPr>
          <p:cNvPr id="15" name="a2u_card14"/>
          <p:cNvSpPr/>
          <p:nvPr/>
        </p:nvSpPr>
        <p:spPr>
          <a:xfrm>
            <a:off x="4892040" y="1399031"/>
            <a:ext cx="3794760" cy="283464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acc15"/>
          <p:cNvSpPr/>
          <p:nvPr/>
        </p:nvSpPr>
        <p:spPr>
          <a:xfrm>
            <a:off x="4892040" y="1399031"/>
            <a:ext cx="379476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t16"/>
          <p:cNvSpPr txBox="1"/>
          <p:nvPr/>
        </p:nvSpPr>
        <p:spPr>
          <a:xfrm>
            <a:off x="5093208" y="16002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What that buys you</a:t>
            </a:r>
          </a:p>
        </p:txBody>
      </p:sp>
      <p:sp>
        <p:nvSpPr>
          <p:cNvPr id="18" name="a3f_tb17"/>
          <p:cNvSpPr txBox="1"/>
          <p:nvPr/>
        </p:nvSpPr>
        <p:spPr>
          <a:xfrm>
            <a:off x="5093208" y="1984248"/>
            <a:ext cx="3429000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A process that crashes takes nothing else with it.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A supervisor notices and restarts it in microseconds.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The system degrades in pieces instead of falling over.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Hence "let it crash" - not "never crash".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PLATFORM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OTP — what it actually is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set of behaviours and libraries that keep a system alive.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80744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6"/>
          <p:cNvSpPr/>
          <p:nvPr/>
        </p:nvSpPr>
        <p:spPr>
          <a:xfrm>
            <a:off x="621792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ict7"/>
          <p:cNvSpPr txBox="1"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9" name="a1ud90_ct8"/>
          <p:cNvSpPr txBox="1"/>
          <p:nvPr/>
        </p:nvSpPr>
        <p:spPr>
          <a:xfrm>
            <a:off x="621792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GenServer</a:t>
            </a:r>
          </a:p>
        </p:txBody>
      </p:sp>
      <p:sp>
        <p:nvSpPr>
          <p:cNvPr id="10" name="a1ud120_cs9"/>
          <p:cNvSpPr txBox="1"/>
          <p:nvPr/>
        </p:nvSpPr>
        <p:spPr>
          <a:xfrm>
            <a:off x="621792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behaviour</a:t>
            </a:r>
          </a:p>
        </p:txBody>
      </p:sp>
      <p:sp>
        <p:nvSpPr>
          <p:cNvPr id="11" name="a1ud150_cb10"/>
          <p:cNvSpPr txBox="1"/>
          <p:nvPr/>
        </p:nvSpPr>
        <p:spPr>
          <a:xfrm>
            <a:off x="621792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process that holds state</a:t>
            </a:r>
          </a:p>
        </p:txBody>
      </p:sp>
      <p:sp>
        <p:nvSpPr>
          <p:cNvPr id="12" name="a1ud220_cb11"/>
          <p:cNvSpPr txBox="1"/>
          <p:nvPr/>
        </p:nvSpPr>
        <p:spPr>
          <a:xfrm>
            <a:off x="621792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Handles calls and casts</a:t>
            </a:r>
          </a:p>
        </p:txBody>
      </p:sp>
      <p:sp>
        <p:nvSpPr>
          <p:cNvPr id="13" name="a1ud290_cb12"/>
          <p:cNvSpPr txBox="1"/>
          <p:nvPr/>
        </p:nvSpPr>
        <p:spPr>
          <a:xfrm>
            <a:off x="621792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write the callbacks</a:t>
            </a:r>
          </a:p>
        </p:txBody>
      </p:sp>
      <p:sp>
        <p:nvSpPr>
          <p:cNvPr id="14" name="a2u_card13"/>
          <p:cNvSpPr/>
          <p:nvPr/>
        </p:nvSpPr>
        <p:spPr>
          <a:xfrm>
            <a:off x="2564892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2564892" y="1380744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15"/>
          <p:cNvSpPr/>
          <p:nvPr/>
        </p:nvSpPr>
        <p:spPr>
          <a:xfrm>
            <a:off x="2729484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ict16"/>
          <p:cNvSpPr txBox="1"/>
          <p:nvPr/>
        </p:nvSpPr>
        <p:spPr>
          <a:xfrm>
            <a:off x="2729484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8" name="a2ud90_ct17"/>
          <p:cNvSpPr txBox="1"/>
          <p:nvPr/>
        </p:nvSpPr>
        <p:spPr>
          <a:xfrm>
            <a:off x="2729484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Supervisor</a:t>
            </a:r>
          </a:p>
        </p:txBody>
      </p:sp>
      <p:sp>
        <p:nvSpPr>
          <p:cNvPr id="19" name="a2ud120_cs18"/>
          <p:cNvSpPr txBox="1"/>
          <p:nvPr/>
        </p:nvSpPr>
        <p:spPr>
          <a:xfrm>
            <a:off x="2729484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behaviour</a:t>
            </a:r>
          </a:p>
        </p:txBody>
      </p:sp>
      <p:sp>
        <p:nvSpPr>
          <p:cNvPr id="20" name="a2ud150_cb19"/>
          <p:cNvSpPr txBox="1"/>
          <p:nvPr/>
        </p:nvSpPr>
        <p:spPr>
          <a:xfrm>
            <a:off x="2729484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Starts children</a:t>
            </a:r>
          </a:p>
        </p:txBody>
      </p:sp>
      <p:sp>
        <p:nvSpPr>
          <p:cNvPr id="21" name="a2ud220_cb20"/>
          <p:cNvSpPr txBox="1"/>
          <p:nvPr/>
        </p:nvSpPr>
        <p:spPr>
          <a:xfrm>
            <a:off x="2729484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Restarts them on crash</a:t>
            </a:r>
          </a:p>
        </p:txBody>
      </p:sp>
      <p:sp>
        <p:nvSpPr>
          <p:cNvPr id="22" name="a2ud290_cb21"/>
          <p:cNvSpPr txBox="1"/>
          <p:nvPr/>
        </p:nvSpPr>
        <p:spPr>
          <a:xfrm>
            <a:off x="2729484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Strategies, not scripts</a:t>
            </a:r>
          </a:p>
        </p:txBody>
      </p:sp>
      <p:sp>
        <p:nvSpPr>
          <p:cNvPr id="23" name="a3u_card22"/>
          <p:cNvSpPr/>
          <p:nvPr/>
        </p:nvSpPr>
        <p:spPr>
          <a:xfrm>
            <a:off x="4672584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acc23"/>
          <p:cNvSpPr/>
          <p:nvPr/>
        </p:nvSpPr>
        <p:spPr>
          <a:xfrm>
            <a:off x="4672584" y="1380744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24"/>
          <p:cNvSpPr/>
          <p:nvPr/>
        </p:nvSpPr>
        <p:spPr>
          <a:xfrm>
            <a:off x="4837176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60_ict25"/>
          <p:cNvSpPr txBox="1"/>
          <p:nvPr/>
        </p:nvSpPr>
        <p:spPr>
          <a:xfrm>
            <a:off x="4837176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a3ud90_ct26"/>
          <p:cNvSpPr txBox="1"/>
          <p:nvPr/>
        </p:nvSpPr>
        <p:spPr>
          <a:xfrm>
            <a:off x="4837176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Application</a:t>
            </a:r>
          </a:p>
        </p:txBody>
      </p:sp>
      <p:sp>
        <p:nvSpPr>
          <p:cNvPr id="28" name="a3ud120_cs27"/>
          <p:cNvSpPr txBox="1"/>
          <p:nvPr/>
        </p:nvSpPr>
        <p:spPr>
          <a:xfrm>
            <a:off x="4837176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behaviour</a:t>
            </a:r>
          </a:p>
        </p:txBody>
      </p:sp>
      <p:sp>
        <p:nvSpPr>
          <p:cNvPr id="29" name="a3ud150_cb28"/>
          <p:cNvSpPr txBox="1"/>
          <p:nvPr/>
        </p:nvSpPr>
        <p:spPr>
          <a:xfrm>
            <a:off x="4837176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startable unit</a:t>
            </a:r>
          </a:p>
        </p:txBody>
      </p:sp>
      <p:sp>
        <p:nvSpPr>
          <p:cNvPr id="30" name="a3ud220_cb29"/>
          <p:cNvSpPr txBox="1"/>
          <p:nvPr/>
        </p:nvSpPr>
        <p:spPr>
          <a:xfrm>
            <a:off x="4837176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Has a supervision tree</a:t>
            </a:r>
          </a:p>
        </p:txBody>
      </p:sp>
      <p:sp>
        <p:nvSpPr>
          <p:cNvPr id="31" name="a3ud290_cb30"/>
          <p:cNvSpPr txBox="1"/>
          <p:nvPr/>
        </p:nvSpPr>
        <p:spPr>
          <a:xfrm>
            <a:off x="4837176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Described by the .app file</a:t>
            </a:r>
          </a:p>
        </p:txBody>
      </p:sp>
      <p:sp>
        <p:nvSpPr>
          <p:cNvPr id="32" name="a4u_card31"/>
          <p:cNvSpPr/>
          <p:nvPr/>
        </p:nvSpPr>
        <p:spPr>
          <a:xfrm>
            <a:off x="6780276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_acc32"/>
          <p:cNvSpPr/>
          <p:nvPr/>
        </p:nvSpPr>
        <p:spPr>
          <a:xfrm>
            <a:off x="6780276" y="1380744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60_ic33"/>
          <p:cNvSpPr/>
          <p:nvPr/>
        </p:nvSpPr>
        <p:spPr>
          <a:xfrm>
            <a:off x="6944868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4ud60_ict34"/>
          <p:cNvSpPr txBox="1"/>
          <p:nvPr/>
        </p:nvSpPr>
        <p:spPr>
          <a:xfrm>
            <a:off x="6944868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6" name="a4ud90_ct35"/>
          <p:cNvSpPr txBox="1"/>
          <p:nvPr/>
        </p:nvSpPr>
        <p:spPr>
          <a:xfrm>
            <a:off x="6944868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ETS / Mnesia</a:t>
            </a:r>
          </a:p>
        </p:txBody>
      </p:sp>
      <p:sp>
        <p:nvSpPr>
          <p:cNvPr id="37" name="a4ud120_cs36"/>
          <p:cNvSpPr txBox="1"/>
          <p:nvPr/>
        </p:nvSpPr>
        <p:spPr>
          <a:xfrm>
            <a:off x="6944868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storage</a:t>
            </a:r>
          </a:p>
        </p:txBody>
      </p:sp>
      <p:sp>
        <p:nvSpPr>
          <p:cNvPr id="38" name="a4ud150_cb37"/>
          <p:cNvSpPr txBox="1"/>
          <p:nvPr/>
        </p:nvSpPr>
        <p:spPr>
          <a:xfrm>
            <a:off x="6944868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In-memory tables</a:t>
            </a:r>
          </a:p>
        </p:txBody>
      </p:sp>
      <p:sp>
        <p:nvSpPr>
          <p:cNvPr id="39" name="a4ud220_cb38"/>
          <p:cNvSpPr txBox="1"/>
          <p:nvPr/>
        </p:nvSpPr>
        <p:spPr>
          <a:xfrm>
            <a:off x="6944868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Shared across processes</a:t>
            </a:r>
          </a:p>
        </p:txBody>
      </p:sp>
      <p:sp>
        <p:nvSpPr>
          <p:cNvPr id="40" name="a4ud290_cb39"/>
          <p:cNvSpPr txBox="1"/>
          <p:nvPr/>
        </p:nvSpPr>
        <p:spPr>
          <a:xfrm>
            <a:off x="6944868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No external service needed</a:t>
            </a:r>
          </a:p>
        </p:txBody>
      </p:sp>
      <p:sp>
        <p:nvSpPr>
          <p:cNvPr id="41" name="a5f_nb40"/>
          <p:cNvSpPr/>
          <p:nvPr/>
        </p:nvSpPr>
        <p:spPr>
          <a:xfrm>
            <a:off x="457200" y="4005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5f_nacc41"/>
          <p:cNvSpPr/>
          <p:nvPr/>
        </p:nvSpPr>
        <p:spPr>
          <a:xfrm>
            <a:off x="457200" y="4005072"/>
            <a:ext cx="50292" cy="65836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5f_nt42"/>
          <p:cNvSpPr txBox="1"/>
          <p:nvPr/>
        </p:nvSpPr>
        <p:spPr>
          <a:xfrm>
            <a:off x="658368" y="4005072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These ship with the VM. A stock install already has an in-memory store, a process registry, a distribution protocol and a supervision framework - before you add a single dependency.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APPLICATIONS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you can build with it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52144"/>
            <a:ext cx="2609088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52144"/>
            <a:ext cx="2609088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90_ct5"/>
          <p:cNvSpPr txBox="1"/>
          <p:nvPr/>
        </p:nvSpPr>
        <p:spPr>
          <a:xfrm>
            <a:off x="621792" y="13533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Web · phoenix</a:t>
            </a:r>
          </a:p>
        </p:txBody>
      </p:sp>
      <p:sp>
        <p:nvSpPr>
          <p:cNvPr id="7" name="a1ud150_cb6"/>
          <p:cNvSpPr txBox="1"/>
          <p:nvPr/>
        </p:nvSpPr>
        <p:spPr>
          <a:xfrm>
            <a:off x="621792" y="162763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APIs, full apps, LiveView</a:t>
            </a:r>
          </a:p>
        </p:txBody>
      </p:sp>
      <p:sp>
        <p:nvSpPr>
          <p:cNvPr id="8" name="a1ud220_cb7"/>
          <p:cNvSpPr txBox="1"/>
          <p:nvPr/>
        </p:nvSpPr>
        <p:spPr>
          <a:xfrm>
            <a:off x="621792" y="201168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Channels over WebSockets</a:t>
            </a:r>
          </a:p>
        </p:txBody>
      </p:sp>
      <p:sp>
        <p:nvSpPr>
          <p:cNvPr id="9" name="a2u_card8"/>
          <p:cNvSpPr/>
          <p:nvPr/>
        </p:nvSpPr>
        <p:spPr>
          <a:xfrm>
            <a:off x="3267456" y="1152144"/>
            <a:ext cx="2609088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u_acc9"/>
          <p:cNvSpPr/>
          <p:nvPr/>
        </p:nvSpPr>
        <p:spPr>
          <a:xfrm>
            <a:off x="3267456" y="1152144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d90_ct10"/>
          <p:cNvSpPr txBox="1"/>
          <p:nvPr/>
        </p:nvSpPr>
        <p:spPr>
          <a:xfrm>
            <a:off x="3432048" y="13533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Realtime · presence</a:t>
            </a:r>
          </a:p>
        </p:txBody>
      </p:sp>
      <p:sp>
        <p:nvSpPr>
          <p:cNvPr id="12" name="a2ud150_cb11"/>
          <p:cNvSpPr txBox="1"/>
          <p:nvPr/>
        </p:nvSpPr>
        <p:spPr>
          <a:xfrm>
            <a:off x="3432048" y="162763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Chat and notifications</a:t>
            </a:r>
          </a:p>
        </p:txBody>
      </p:sp>
      <p:sp>
        <p:nvSpPr>
          <p:cNvPr id="13" name="a2ud220_cb12"/>
          <p:cNvSpPr txBox="1"/>
          <p:nvPr/>
        </p:nvSpPr>
        <p:spPr>
          <a:xfrm>
            <a:off x="3432048" y="201168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Many open sockets</a:t>
            </a:r>
          </a:p>
        </p:txBody>
      </p:sp>
      <p:sp>
        <p:nvSpPr>
          <p:cNvPr id="14" name="a3u_card13"/>
          <p:cNvSpPr/>
          <p:nvPr/>
        </p:nvSpPr>
        <p:spPr>
          <a:xfrm>
            <a:off x="6077712" y="1152144"/>
            <a:ext cx="2609088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3u_acc14"/>
          <p:cNvSpPr/>
          <p:nvPr/>
        </p:nvSpPr>
        <p:spPr>
          <a:xfrm>
            <a:off x="6077712" y="1152144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d90_ct15"/>
          <p:cNvSpPr txBox="1"/>
          <p:nvPr/>
        </p:nvSpPr>
        <p:spPr>
          <a:xfrm>
            <a:off x="6242304" y="13533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Data · broadway</a:t>
            </a:r>
          </a:p>
        </p:txBody>
      </p:sp>
      <p:sp>
        <p:nvSpPr>
          <p:cNvPr id="17" name="a3ud150_cb16"/>
          <p:cNvSpPr txBox="1"/>
          <p:nvPr/>
        </p:nvSpPr>
        <p:spPr>
          <a:xfrm>
            <a:off x="6242304" y="162763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Ingestion pipelines</a:t>
            </a:r>
          </a:p>
        </p:txBody>
      </p:sp>
      <p:sp>
        <p:nvSpPr>
          <p:cNvPr id="18" name="a3ud220_cb17"/>
          <p:cNvSpPr txBox="1"/>
          <p:nvPr/>
        </p:nvSpPr>
        <p:spPr>
          <a:xfrm>
            <a:off x="6242304" y="201168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Back-pressure built in</a:t>
            </a:r>
          </a:p>
        </p:txBody>
      </p:sp>
      <p:sp>
        <p:nvSpPr>
          <p:cNvPr id="19" name="a4u_card18"/>
          <p:cNvSpPr/>
          <p:nvPr/>
        </p:nvSpPr>
        <p:spPr>
          <a:xfrm>
            <a:off x="457200" y="2688336"/>
            <a:ext cx="2609088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4u_acc19"/>
          <p:cNvSpPr/>
          <p:nvPr/>
        </p:nvSpPr>
        <p:spPr>
          <a:xfrm>
            <a:off x="457200" y="2688336"/>
            <a:ext cx="2609088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4ud90_ct20"/>
          <p:cNvSpPr txBox="1"/>
          <p:nvPr/>
        </p:nvSpPr>
        <p:spPr>
          <a:xfrm>
            <a:off x="621792" y="2889504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Embedded · nerves</a:t>
            </a:r>
          </a:p>
        </p:txBody>
      </p:sp>
      <p:sp>
        <p:nvSpPr>
          <p:cNvPr id="22" name="a4ud150_cb21"/>
          <p:cNvSpPr txBox="1"/>
          <p:nvPr/>
        </p:nvSpPr>
        <p:spPr>
          <a:xfrm>
            <a:off x="621792" y="316382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Firmware on a Pi</a:t>
            </a:r>
          </a:p>
        </p:txBody>
      </p:sp>
      <p:sp>
        <p:nvSpPr>
          <p:cNvPr id="23" name="a4ud220_cb22"/>
          <p:cNvSpPr txBox="1"/>
          <p:nvPr/>
        </p:nvSpPr>
        <p:spPr>
          <a:xfrm>
            <a:off x="621792" y="354787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Ships the whole image</a:t>
            </a:r>
          </a:p>
        </p:txBody>
      </p:sp>
      <p:sp>
        <p:nvSpPr>
          <p:cNvPr id="24" name="a5u_card23"/>
          <p:cNvSpPr/>
          <p:nvPr/>
        </p:nvSpPr>
        <p:spPr>
          <a:xfrm>
            <a:off x="3267456" y="2688336"/>
            <a:ext cx="2609088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5u_acc24"/>
          <p:cNvSpPr/>
          <p:nvPr/>
        </p:nvSpPr>
        <p:spPr>
          <a:xfrm>
            <a:off x="3267456" y="2688336"/>
            <a:ext cx="2609088" cy="502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5ud90_ct25"/>
          <p:cNvSpPr txBox="1"/>
          <p:nvPr/>
        </p:nvSpPr>
        <p:spPr>
          <a:xfrm>
            <a:off x="3432048" y="2889504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Distributed · built in</a:t>
            </a:r>
          </a:p>
        </p:txBody>
      </p:sp>
      <p:sp>
        <p:nvSpPr>
          <p:cNvPr id="27" name="a5ud150_cb26"/>
          <p:cNvSpPr txBox="1"/>
          <p:nvPr/>
        </p:nvSpPr>
        <p:spPr>
          <a:xfrm>
            <a:off x="3432048" y="316382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5803D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Multi-node clusters</a:t>
            </a:r>
          </a:p>
        </p:txBody>
      </p:sp>
      <p:sp>
        <p:nvSpPr>
          <p:cNvPr id="28" name="a5ud220_cb27"/>
          <p:cNvSpPr txBox="1"/>
          <p:nvPr/>
        </p:nvSpPr>
        <p:spPr>
          <a:xfrm>
            <a:off x="3432048" y="354787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5803D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send/2 across nodes</a:t>
            </a:r>
          </a:p>
        </p:txBody>
      </p:sp>
      <p:sp>
        <p:nvSpPr>
          <p:cNvPr id="29" name="a6u_card28"/>
          <p:cNvSpPr/>
          <p:nvPr/>
        </p:nvSpPr>
        <p:spPr>
          <a:xfrm>
            <a:off x="6077712" y="2688336"/>
            <a:ext cx="2609088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6u_acc29"/>
          <p:cNvSpPr/>
          <p:nvPr/>
        </p:nvSpPr>
        <p:spPr>
          <a:xfrm>
            <a:off x="6077712" y="2688336"/>
            <a:ext cx="2609088" cy="502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6ud90_ct30"/>
          <p:cNvSpPr txBox="1"/>
          <p:nvPr/>
        </p:nvSpPr>
        <p:spPr>
          <a:xfrm>
            <a:off x="6242304" y="2889504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Background · oban</a:t>
            </a:r>
          </a:p>
        </p:txBody>
      </p:sp>
      <p:sp>
        <p:nvSpPr>
          <p:cNvPr id="32" name="a6ud150_cb31"/>
          <p:cNvSpPr txBox="1"/>
          <p:nvPr/>
        </p:nvSpPr>
        <p:spPr>
          <a:xfrm>
            <a:off x="6242304" y="316382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Job queues, scheduled work</a:t>
            </a:r>
          </a:p>
        </p:txBody>
      </p:sp>
      <p:sp>
        <p:nvSpPr>
          <p:cNvPr id="33" name="a6ud220_cb32"/>
          <p:cNvSpPr txBox="1"/>
          <p:nvPr/>
        </p:nvSpPr>
        <p:spPr>
          <a:xfrm>
            <a:off x="6242304" y="354787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Durable in Postgres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ADOPTION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Who runs it in production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Publicly documented adopters — the pattern is concurrency at the edge.</a:t>
            </a:r>
          </a:p>
        </p:txBody>
      </p:sp>
      <p:sp>
        <p:nvSpPr>
          <p:cNvPr id="5" name="a1u_pill4"/>
          <p:cNvSpPr/>
          <p:nvPr/>
        </p:nvSpPr>
        <p:spPr>
          <a:xfrm>
            <a:off x="457200" y="1426463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Discord</a:t>
            </a:r>
          </a:p>
        </p:txBody>
      </p:sp>
      <p:sp>
        <p:nvSpPr>
          <p:cNvPr id="6" name="a1ud80_pill5"/>
          <p:cNvSpPr/>
          <p:nvPr/>
        </p:nvSpPr>
        <p:spPr>
          <a:xfrm>
            <a:off x="1856232" y="1426463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Pinterest</a:t>
            </a:r>
          </a:p>
        </p:txBody>
      </p:sp>
      <p:sp>
        <p:nvSpPr>
          <p:cNvPr id="7" name="a1ud160_pill6"/>
          <p:cNvSpPr/>
          <p:nvPr/>
        </p:nvSpPr>
        <p:spPr>
          <a:xfrm>
            <a:off x="3255264" y="1426463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Heroku</a:t>
            </a:r>
          </a:p>
        </p:txBody>
      </p:sp>
      <p:sp>
        <p:nvSpPr>
          <p:cNvPr id="8" name="a1ud240_pill7"/>
          <p:cNvSpPr/>
          <p:nvPr/>
        </p:nvSpPr>
        <p:spPr>
          <a:xfrm>
            <a:off x="4654296" y="1426463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Bleacher Report</a:t>
            </a:r>
          </a:p>
        </p:txBody>
      </p:sp>
      <p:sp>
        <p:nvSpPr>
          <p:cNvPr id="9" name="a1ud320_pill8"/>
          <p:cNvSpPr/>
          <p:nvPr/>
        </p:nvSpPr>
        <p:spPr>
          <a:xfrm>
            <a:off x="6053328" y="1426463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Financial Times</a:t>
            </a:r>
          </a:p>
        </p:txBody>
      </p:sp>
      <p:sp>
        <p:nvSpPr>
          <p:cNvPr id="10" name="a1ud400_pill9"/>
          <p:cNvSpPr/>
          <p:nvPr/>
        </p:nvSpPr>
        <p:spPr>
          <a:xfrm>
            <a:off x="7452360" y="1426463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Change.org</a:t>
            </a:r>
          </a:p>
        </p:txBody>
      </p:sp>
      <p:sp>
        <p:nvSpPr>
          <p:cNvPr id="11" name="a1ud480_pill10"/>
          <p:cNvSpPr/>
          <p:nvPr/>
        </p:nvSpPr>
        <p:spPr>
          <a:xfrm>
            <a:off x="457200" y="1892807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PepsiCo</a:t>
            </a:r>
          </a:p>
        </p:txBody>
      </p:sp>
      <p:sp>
        <p:nvSpPr>
          <p:cNvPr id="12" name="a1ud560_pill11"/>
          <p:cNvSpPr/>
          <p:nvPr/>
        </p:nvSpPr>
        <p:spPr>
          <a:xfrm>
            <a:off x="1856232" y="1892807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Brex</a:t>
            </a:r>
          </a:p>
        </p:txBody>
      </p:sp>
      <p:sp>
        <p:nvSpPr>
          <p:cNvPr id="13" name="a1ud640_pill12"/>
          <p:cNvSpPr/>
          <p:nvPr/>
        </p:nvSpPr>
        <p:spPr>
          <a:xfrm>
            <a:off x="3255264" y="1892807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Supabase</a:t>
            </a:r>
          </a:p>
        </p:txBody>
      </p:sp>
      <p:sp>
        <p:nvSpPr>
          <p:cNvPr id="14" name="a1ud720_pill13"/>
          <p:cNvSpPr/>
          <p:nvPr/>
        </p:nvSpPr>
        <p:spPr>
          <a:xfrm>
            <a:off x="4654296" y="1892807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Cabify</a:t>
            </a:r>
          </a:p>
        </p:txBody>
      </p:sp>
      <p:sp>
        <p:nvSpPr>
          <p:cNvPr id="15" name="a1ud800_pill14"/>
          <p:cNvSpPr/>
          <p:nvPr/>
        </p:nvSpPr>
        <p:spPr>
          <a:xfrm>
            <a:off x="6053328" y="1892807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Moz</a:t>
            </a:r>
          </a:p>
        </p:txBody>
      </p:sp>
      <p:sp>
        <p:nvSpPr>
          <p:cNvPr id="16" name="a1ud880_pill15"/>
          <p:cNvSpPr/>
          <p:nvPr/>
        </p:nvSpPr>
        <p:spPr>
          <a:xfrm>
            <a:off x="7452360" y="1892807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4B275F"/>
                </a:solidFill>
                <a:latin typeface="Courier New"/>
              </a:rPr>
              <a:t>Divvy</a:t>
            </a:r>
          </a:p>
        </p:txBody>
      </p:sp>
      <p:sp>
        <p:nvSpPr>
          <p:cNvPr id="17" name="a2f_nb16"/>
          <p:cNvSpPr/>
          <p:nvPr/>
        </p:nvSpPr>
        <p:spPr>
          <a:xfrm>
            <a:off x="457200" y="240487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nacc17"/>
          <p:cNvSpPr/>
          <p:nvPr/>
        </p:nvSpPr>
        <p:spPr>
          <a:xfrm>
            <a:off x="457200" y="2404872"/>
            <a:ext cx="50292" cy="7132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nt18"/>
          <p:cNvSpPr txBox="1"/>
          <p:nvPr/>
        </p:nvSpPr>
        <p:spPr>
          <a:xfrm>
            <a:off x="658368" y="2404872"/>
            <a:ext cx="782726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shape repeats: a service that must hold a very large number of connections open, stay responsive while it does, and survive partial failure. That is the workload this VM was built for.</a:t>
            </a:r>
          </a:p>
        </p:txBody>
      </p:sp>
      <p:sp>
        <p:nvSpPr>
          <p:cNvPr id="20" name="a3u_dot19"/>
          <p:cNvSpPr/>
          <p:nvPr/>
        </p:nvSpPr>
        <p:spPr>
          <a:xfrm>
            <a:off x="457200" y="370332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b20"/>
          <p:cNvSpPr txBox="1"/>
          <p:nvPr/>
        </p:nvSpPr>
        <p:spPr>
          <a:xfrm>
            <a:off x="676656" y="3602736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Not a general speed claim  </a:t>
            </a:r>
            <a:r>
              <a:rPr sz="1200" b="0">
                <a:solidFill>
                  <a:srgbClr val="334155"/>
                </a:solidFill>
                <a:latin typeface="Calibri"/>
              </a:rPr>
              <a:t>single-threaded number crunching is not what this VM wins at</a:t>
            </a:r>
          </a:p>
        </p:txBody>
      </p:sp>
      <p:sp>
        <p:nvSpPr>
          <p:cNvPr id="22" name="a3ud180_dot21"/>
          <p:cNvSpPr/>
          <p:nvPr/>
        </p:nvSpPr>
        <p:spPr>
          <a:xfrm>
            <a:off x="457200" y="414223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180_b22"/>
          <p:cNvSpPr txBox="1"/>
          <p:nvPr/>
        </p:nvSpPr>
        <p:spPr>
          <a:xfrm>
            <a:off x="676656" y="4041648"/>
            <a:ext cx="80101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The win is under concurrency  </a:t>
            </a:r>
            <a:r>
              <a:rPr sz="1200" b="0">
                <a:solidFill>
                  <a:srgbClr val="334155"/>
                </a:solidFill>
                <a:latin typeface="Calibri"/>
              </a:rPr>
              <a:t>throughput and tail latency hold as connections climb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Source to system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What the compiler actually does, and what
ends up on disk.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ast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macros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.beam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chunks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PIPELINE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How a program gets compiled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Six transformations between the file you save and the bytecode the VM loads.</a:t>
            </a:r>
          </a:p>
        </p:txBody>
      </p:sp>
      <p:sp>
        <p:nvSpPr>
          <p:cNvPr id="5" name="a1u_stg4"/>
          <p:cNvSpPr/>
          <p:nvPr/>
        </p:nvSpPr>
        <p:spPr>
          <a:xfrm>
            <a:off x="457200" y="1609343"/>
            <a:ext cx="1065929" cy="786384"/>
          </a:xfrm>
          <a:prstGeom prst="roundRect">
            <a:avLst>
              <a:gd name="adj" fmla="val 10465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stgt5"/>
          <p:cNvSpPr txBox="1"/>
          <p:nvPr/>
        </p:nvSpPr>
        <p:spPr>
          <a:xfrm>
            <a:off x="502920" y="1673351"/>
            <a:ext cx="9744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greeter.ex</a:t>
            </a:r>
          </a:p>
        </p:txBody>
      </p:sp>
      <p:sp>
        <p:nvSpPr>
          <p:cNvPr id="7" name="a1fd120_stgs6"/>
          <p:cNvSpPr txBox="1"/>
          <p:nvPr/>
        </p:nvSpPr>
        <p:spPr>
          <a:xfrm>
            <a:off x="484632" y="2441448"/>
            <a:ext cx="101106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alibri"/>
              </a:rPr>
              <a:t>source text</a:t>
            </a:r>
          </a:p>
        </p:txBody>
      </p:sp>
      <p:sp>
        <p:nvSpPr>
          <p:cNvPr id="8" name="a1fd80_ar7"/>
          <p:cNvSpPr txBox="1"/>
          <p:nvPr/>
        </p:nvSpPr>
        <p:spPr>
          <a:xfrm>
            <a:off x="1523129" y="1609343"/>
            <a:ext cx="128016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9" name="a1ud150_stg8"/>
          <p:cNvSpPr/>
          <p:nvPr/>
        </p:nvSpPr>
        <p:spPr>
          <a:xfrm>
            <a:off x="1651145" y="1609343"/>
            <a:ext cx="1065929" cy="786384"/>
          </a:xfrm>
          <a:prstGeom prst="roundRect">
            <a:avLst>
              <a:gd name="adj" fmla="val 10465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50_stgt9"/>
          <p:cNvSpPr txBox="1"/>
          <p:nvPr/>
        </p:nvSpPr>
        <p:spPr>
          <a:xfrm>
            <a:off x="1696865" y="1673351"/>
            <a:ext cx="9744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tokens</a:t>
            </a:r>
          </a:p>
        </p:txBody>
      </p:sp>
      <p:sp>
        <p:nvSpPr>
          <p:cNvPr id="11" name="a1fd270_stgs10"/>
          <p:cNvSpPr txBox="1"/>
          <p:nvPr/>
        </p:nvSpPr>
        <p:spPr>
          <a:xfrm>
            <a:off x="1678577" y="2441448"/>
            <a:ext cx="101106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alibri"/>
              </a:rPr>
              <a:t>tokenizer</a:t>
            </a:r>
          </a:p>
        </p:txBody>
      </p:sp>
      <p:sp>
        <p:nvSpPr>
          <p:cNvPr id="12" name="a2f_ar11"/>
          <p:cNvSpPr txBox="1"/>
          <p:nvPr/>
        </p:nvSpPr>
        <p:spPr>
          <a:xfrm>
            <a:off x="2717074" y="1609343"/>
            <a:ext cx="128016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3" name="a2u_stg12"/>
          <p:cNvSpPr/>
          <p:nvPr/>
        </p:nvSpPr>
        <p:spPr>
          <a:xfrm>
            <a:off x="2845090" y="1609343"/>
            <a:ext cx="1065929" cy="786384"/>
          </a:xfrm>
          <a:prstGeom prst="roundRect">
            <a:avLst>
              <a:gd name="adj" fmla="val 10465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stgt13"/>
          <p:cNvSpPr txBox="1"/>
          <p:nvPr/>
        </p:nvSpPr>
        <p:spPr>
          <a:xfrm>
            <a:off x="2890810" y="1673351"/>
            <a:ext cx="9744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quoted AST</a:t>
            </a:r>
          </a:p>
        </p:txBody>
      </p:sp>
      <p:sp>
        <p:nvSpPr>
          <p:cNvPr id="15" name="a2fd120_stgs14"/>
          <p:cNvSpPr txBox="1"/>
          <p:nvPr/>
        </p:nvSpPr>
        <p:spPr>
          <a:xfrm>
            <a:off x="2872522" y="2441448"/>
            <a:ext cx="101106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alibri"/>
              </a:rPr>
              <a:t>parser</a:t>
            </a:r>
          </a:p>
        </p:txBody>
      </p:sp>
      <p:sp>
        <p:nvSpPr>
          <p:cNvPr id="16" name="a2fd80_ar15"/>
          <p:cNvSpPr txBox="1"/>
          <p:nvPr/>
        </p:nvSpPr>
        <p:spPr>
          <a:xfrm>
            <a:off x="3911019" y="1609343"/>
            <a:ext cx="128016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7" name="a2ud150_stg16"/>
          <p:cNvSpPr/>
          <p:nvPr/>
        </p:nvSpPr>
        <p:spPr>
          <a:xfrm>
            <a:off x="4039035" y="1609343"/>
            <a:ext cx="1065929" cy="786384"/>
          </a:xfrm>
          <a:prstGeom prst="roundRect">
            <a:avLst>
              <a:gd name="adj" fmla="val 10465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150_stgt17"/>
          <p:cNvSpPr txBox="1"/>
          <p:nvPr/>
        </p:nvSpPr>
        <p:spPr>
          <a:xfrm>
            <a:off x="4084755" y="1673351"/>
            <a:ext cx="9744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expanded AST</a:t>
            </a:r>
          </a:p>
        </p:txBody>
      </p:sp>
      <p:sp>
        <p:nvSpPr>
          <p:cNvPr id="19" name="a2fd270_stgs18"/>
          <p:cNvSpPr txBox="1"/>
          <p:nvPr/>
        </p:nvSpPr>
        <p:spPr>
          <a:xfrm>
            <a:off x="4066467" y="2441448"/>
            <a:ext cx="101106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alibri"/>
              </a:rPr>
              <a:t>macro expansion</a:t>
            </a:r>
          </a:p>
        </p:txBody>
      </p:sp>
      <p:sp>
        <p:nvSpPr>
          <p:cNvPr id="20" name="a3f_ar19"/>
          <p:cNvSpPr txBox="1"/>
          <p:nvPr/>
        </p:nvSpPr>
        <p:spPr>
          <a:xfrm>
            <a:off x="5104964" y="1609343"/>
            <a:ext cx="128016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1" name="a3u_stg20"/>
          <p:cNvSpPr/>
          <p:nvPr/>
        </p:nvSpPr>
        <p:spPr>
          <a:xfrm>
            <a:off x="5232980" y="1609343"/>
            <a:ext cx="1065929" cy="786384"/>
          </a:xfrm>
          <a:prstGeom prst="roundRect">
            <a:avLst>
              <a:gd name="adj" fmla="val 10465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_stgt21"/>
          <p:cNvSpPr txBox="1"/>
          <p:nvPr/>
        </p:nvSpPr>
        <p:spPr>
          <a:xfrm>
            <a:off x="5278700" y="1673351"/>
            <a:ext cx="9744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Erlang AF</a:t>
            </a:r>
          </a:p>
        </p:txBody>
      </p:sp>
      <p:sp>
        <p:nvSpPr>
          <p:cNvPr id="23" name="a3fd120_stgs22"/>
          <p:cNvSpPr txBox="1"/>
          <p:nvPr/>
        </p:nvSpPr>
        <p:spPr>
          <a:xfrm>
            <a:off x="5260412" y="2441448"/>
            <a:ext cx="101106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alibri"/>
              </a:rPr>
              <a:t>:elixir_erl</a:t>
            </a:r>
          </a:p>
        </p:txBody>
      </p:sp>
      <p:sp>
        <p:nvSpPr>
          <p:cNvPr id="24" name="a3fd80_ar23"/>
          <p:cNvSpPr txBox="1"/>
          <p:nvPr/>
        </p:nvSpPr>
        <p:spPr>
          <a:xfrm>
            <a:off x="6298909" y="1609343"/>
            <a:ext cx="128016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5" name="a3ud150_stg24"/>
          <p:cNvSpPr/>
          <p:nvPr/>
        </p:nvSpPr>
        <p:spPr>
          <a:xfrm>
            <a:off x="6426925" y="1609343"/>
            <a:ext cx="1065929" cy="786384"/>
          </a:xfrm>
          <a:prstGeom prst="roundRect">
            <a:avLst>
              <a:gd name="adj" fmla="val 10465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150_stgt25"/>
          <p:cNvSpPr txBox="1"/>
          <p:nvPr/>
        </p:nvSpPr>
        <p:spPr>
          <a:xfrm>
            <a:off x="6472645" y="1673351"/>
            <a:ext cx="9744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Core + SSA</a:t>
            </a:r>
          </a:p>
        </p:txBody>
      </p:sp>
      <p:sp>
        <p:nvSpPr>
          <p:cNvPr id="27" name="a3fd270_stgs26"/>
          <p:cNvSpPr txBox="1"/>
          <p:nvPr/>
        </p:nvSpPr>
        <p:spPr>
          <a:xfrm>
            <a:off x="6454357" y="2441448"/>
            <a:ext cx="101106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alibri"/>
              </a:rPr>
              <a:t>erl compiler</a:t>
            </a:r>
          </a:p>
        </p:txBody>
      </p:sp>
      <p:sp>
        <p:nvSpPr>
          <p:cNvPr id="28" name="a4f_ar27"/>
          <p:cNvSpPr txBox="1"/>
          <p:nvPr/>
        </p:nvSpPr>
        <p:spPr>
          <a:xfrm>
            <a:off x="7492854" y="1609343"/>
            <a:ext cx="128016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9" name="a4u_stg28"/>
          <p:cNvSpPr/>
          <p:nvPr/>
        </p:nvSpPr>
        <p:spPr>
          <a:xfrm>
            <a:off x="7620870" y="1609343"/>
            <a:ext cx="1065929" cy="786384"/>
          </a:xfrm>
          <a:prstGeom prst="roundRect">
            <a:avLst>
              <a:gd name="adj" fmla="val 10465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_stgt29"/>
          <p:cNvSpPr txBox="1"/>
          <p:nvPr/>
        </p:nvSpPr>
        <p:spPr>
          <a:xfrm>
            <a:off x="7666590" y="1673351"/>
            <a:ext cx="9744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.beam</a:t>
            </a:r>
          </a:p>
        </p:txBody>
      </p:sp>
      <p:sp>
        <p:nvSpPr>
          <p:cNvPr id="31" name="a4fd120_stgs30"/>
          <p:cNvSpPr txBox="1"/>
          <p:nvPr/>
        </p:nvSpPr>
        <p:spPr>
          <a:xfrm>
            <a:off x="7648302" y="2441448"/>
            <a:ext cx="101106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Calibri"/>
              </a:rPr>
              <a:t>bytecode on disk</a:t>
            </a:r>
          </a:p>
        </p:txBody>
      </p:sp>
      <p:sp>
        <p:nvSpPr>
          <p:cNvPr id="32" name="a5f_nb31"/>
          <p:cNvSpPr/>
          <p:nvPr/>
        </p:nvSpPr>
        <p:spPr>
          <a:xfrm>
            <a:off x="457200" y="30449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5f_nacc32"/>
          <p:cNvSpPr/>
          <p:nvPr/>
        </p:nvSpPr>
        <p:spPr>
          <a:xfrm>
            <a:off x="457200" y="3044952"/>
            <a:ext cx="50292" cy="60350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5f_nt33"/>
          <p:cNvSpPr txBox="1"/>
          <p:nvPr/>
        </p:nvSpPr>
        <p:spPr>
          <a:xfrm>
            <a:off x="658368" y="3044952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i  </a:t>
            </a:r>
            <a:r>
              <a:rPr sz="1150" b="0">
                <a:solidFill>
                  <a:srgbClr val="334155"/>
                </a:solidFill>
                <a:latin typeface="Calibri"/>
              </a:rPr>
              <a:t>Only the last step is unique to the BEAM. Steps 3 and 4 are where Elixir differs from Erlang - that is where your macros run.</a:t>
            </a:r>
          </a:p>
        </p:txBody>
      </p:sp>
      <p:sp>
        <p:nvSpPr>
          <p:cNvPr id="35" name="a5ud420_dot34"/>
          <p:cNvSpPr/>
          <p:nvPr/>
        </p:nvSpPr>
        <p:spPr>
          <a:xfrm>
            <a:off x="457200" y="38770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5ud420_b35"/>
          <p:cNvSpPr txBox="1"/>
          <p:nvPr/>
        </p:nvSpPr>
        <p:spPr>
          <a:xfrm>
            <a:off x="676656" y="3776472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Compilation is eager  </a:t>
            </a:r>
            <a:r>
              <a:rPr sz="1200" b="0">
                <a:solidFill>
                  <a:srgbClr val="334155"/>
                </a:solidFill>
                <a:latin typeface="Calibri"/>
              </a:rPr>
              <a:t>mix compiles every .ex file to bytecode before anything runs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PIPELINE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Step 1 — source becomes a data structure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AST is ordinary Elixir data: a three-element tuple, all the way down.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822960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probe_compile.exs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iex&gt; Code.string_to_quoted("sum = 1 + 2 * 3")</a:t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621792" y="203454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  <a:latin typeface="Courier New"/>
              </a:rPr>
              <a:t>{:ok,</a:t>
            </a:r>
          </a:p>
        </p:txBody>
      </p:sp>
      <p:sp>
        <p:nvSpPr>
          <p:cNvPr id="9" name="a1wd280_code8"/>
          <p:cNvSpPr txBox="1"/>
          <p:nvPr/>
        </p:nvSpPr>
        <p:spPr>
          <a:xfrm>
            <a:off x="621792" y="224942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  <a:latin typeface="Courier New"/>
              </a:rPr>
              <a:t> {:=, [line: 1],</a:t>
            </a:r>
          </a:p>
        </p:txBody>
      </p:sp>
      <p:sp>
        <p:nvSpPr>
          <p:cNvPr id="10" name="a1wd420_code9"/>
          <p:cNvSpPr txBox="1"/>
          <p:nvPr/>
        </p:nvSpPr>
        <p:spPr>
          <a:xfrm>
            <a:off x="621792" y="246430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  <a:latin typeface="Courier New"/>
              </a:rPr>
              <a:t>  [{:sum, [line: 1], nil},</a:t>
            </a:r>
          </a:p>
        </p:txBody>
      </p:sp>
      <p:sp>
        <p:nvSpPr>
          <p:cNvPr id="11" name="a1wd560_code10"/>
          <p:cNvSpPr txBox="1"/>
          <p:nvPr/>
        </p:nvSpPr>
        <p:spPr>
          <a:xfrm>
            <a:off x="621792" y="2679191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B8A6"/>
                </a:solidFill>
                <a:latin typeface="Courier New"/>
              </a:rPr>
              <a:t>   {:+, [line: 1], [1, {:*, [line: 1], [2, 3]}]}]}}</a:t>
            </a:r>
          </a:p>
        </p:txBody>
      </p:sp>
      <p:sp>
        <p:nvSpPr>
          <p:cNvPr id="12" name="a2u_card11"/>
          <p:cNvSpPr/>
          <p:nvPr/>
        </p:nvSpPr>
        <p:spPr>
          <a:xfrm>
            <a:off x="457200" y="2980944"/>
            <a:ext cx="3977639" cy="117043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d60_t12"/>
          <p:cNvSpPr txBox="1"/>
          <p:nvPr/>
        </p:nvSpPr>
        <p:spPr>
          <a:xfrm>
            <a:off x="658368" y="3136391"/>
            <a:ext cx="361188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Every node is </a:t>
            </a:r>
            <a:r>
              <a:rPr sz="1100" b="1">
                <a:solidFill>
                  <a:srgbClr val="4B275F"/>
                </a:solidFill>
                <a:latin typeface="Courier New"/>
              </a:rPr>
              <a:t>{form, meta, args}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275F"/>
                </a:solidFill>
                <a:latin typeface="Courier New"/>
              </a:rPr>
              <a:t>form</a:t>
            </a:r>
            <a:r>
              <a:rPr sz="1100" b="0">
                <a:solidFill>
                  <a:srgbClr val="334155"/>
                </a:solidFill>
                <a:latin typeface="Calibri"/>
              </a:rPr>
              <a:t> the operation, as an atom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275F"/>
                </a:solidFill>
                <a:latin typeface="Courier New"/>
              </a:rPr>
              <a:t>meta</a:t>
            </a:r>
            <a:r>
              <a:rPr sz="1100" b="0">
                <a:solidFill>
                  <a:srgbClr val="334155"/>
                </a:solidFill>
                <a:latin typeface="Calibri"/>
              </a:rPr>
              <a:t>  line numbers and context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275F"/>
                </a:solidFill>
                <a:latin typeface="Courier New"/>
              </a:rPr>
              <a:t>args</a:t>
            </a:r>
            <a:r>
              <a:rPr sz="1100" b="0">
                <a:solidFill>
                  <a:srgbClr val="334155"/>
                </a:solidFill>
                <a:latin typeface="Calibri"/>
              </a:rPr>
              <a:t>  the child nodes</a:t>
            </a:r>
          </a:p>
        </p:txBody>
      </p:sp>
      <p:sp>
        <p:nvSpPr>
          <p:cNvPr id="14" name="a3u_card13"/>
          <p:cNvSpPr/>
          <p:nvPr/>
        </p:nvSpPr>
        <p:spPr>
          <a:xfrm>
            <a:off x="4709160" y="2980944"/>
            <a:ext cx="3977639" cy="117043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3ud60_t14"/>
          <p:cNvSpPr txBox="1"/>
          <p:nvPr/>
        </p:nvSpPr>
        <p:spPr>
          <a:xfrm>
            <a:off x="4910328" y="3136391"/>
            <a:ext cx="361188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Precedence is already resolved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2 * 3 sits inside the + node, so the tree - not the text - decides the order of evaluation.</a:t>
            </a:r>
          </a:p>
        </p:txBody>
      </p:sp>
      <p:sp>
        <p:nvSpPr>
          <p:cNvPr id="16" name="ft1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PIPELINE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Step 2 — sugar is just more AST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Map, keyword and def syntax all collapse into the same tuple form.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822960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probe_compile.exs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Code.string_to_quoted!("%{a: 1}")</a:t>
            </a:r>
          </a:p>
        </p:txBody>
      </p:sp>
      <p:sp>
        <p:nvSpPr>
          <p:cNvPr id="8" name="a1wd110_code7"/>
          <p:cNvSpPr txBox="1"/>
          <p:nvPr/>
        </p:nvSpPr>
        <p:spPr>
          <a:xfrm>
            <a:off x="621792" y="203454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{:%{}, [line: 1], [a: 1]}</a:t>
            </a:r>
          </a:p>
        </p:txBody>
      </p:sp>
      <p:sp>
        <p:nvSpPr>
          <p:cNvPr id="9" name="a1wd220_code8"/>
          <p:cNvSpPr txBox="1"/>
          <p:nvPr/>
        </p:nvSpPr>
        <p:spPr>
          <a:xfrm>
            <a:off x="621792" y="224942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330_code9"/>
          <p:cNvSpPr txBox="1"/>
          <p:nvPr/>
        </p:nvSpPr>
        <p:spPr>
          <a:xfrm>
            <a:off x="621792" y="246430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Code.string_to_quoted!("[a: 1, b: 2]")</a:t>
            </a:r>
          </a:p>
        </p:txBody>
      </p:sp>
      <p:sp>
        <p:nvSpPr>
          <p:cNvPr id="11" name="a1wd440_code10"/>
          <p:cNvSpPr txBox="1"/>
          <p:nvPr/>
        </p:nvSpPr>
        <p:spPr>
          <a:xfrm>
            <a:off x="621792" y="2679191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[a: 1, b: 2]                     # a keyword list IS a list of 2-tuples</a:t>
            </a:r>
          </a:p>
        </p:txBody>
      </p:sp>
      <p:sp>
        <p:nvSpPr>
          <p:cNvPr id="12" name="a1wd550_code11"/>
          <p:cNvSpPr txBox="1"/>
          <p:nvPr/>
        </p:nvSpPr>
        <p:spPr>
          <a:xfrm>
            <a:off x="621792" y="289407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660_code12"/>
          <p:cNvSpPr txBox="1"/>
          <p:nvPr/>
        </p:nvSpPr>
        <p:spPr>
          <a:xfrm>
            <a:off x="621792" y="310896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iex&gt; Code.string_to_quoted!("def f(x), do: x")</a:t>
            </a:r>
          </a:p>
        </p:txBody>
      </p:sp>
      <p:sp>
        <p:nvSpPr>
          <p:cNvPr id="14" name="a1wd770_code13"/>
          <p:cNvSpPr txBox="1"/>
          <p:nvPr/>
        </p:nvSpPr>
        <p:spPr>
          <a:xfrm>
            <a:off x="621792" y="332384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{:def, [line: 1], [{:f, [line: 1], [{:x, [line: 1], nil}]}, [do: ...]]}</a:t>
            </a:r>
          </a:p>
        </p:txBody>
      </p:sp>
      <p:sp>
        <p:nvSpPr>
          <p:cNvPr id="15" name="a2f_nb14"/>
          <p:cNvSpPr/>
          <p:nvPr/>
        </p:nvSpPr>
        <p:spPr>
          <a:xfrm>
            <a:off x="457200" y="37764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nacc15"/>
          <p:cNvSpPr/>
          <p:nvPr/>
        </p:nvSpPr>
        <p:spPr>
          <a:xfrm>
            <a:off x="457200" y="3776472"/>
            <a:ext cx="50292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nt16"/>
          <p:cNvSpPr txBox="1"/>
          <p:nvPr/>
        </p:nvSpPr>
        <p:spPr>
          <a:xfrm>
            <a:off x="658368" y="3776472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def is not a keyword - it is a macro receiving two arguments. That is why you can write your own.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ARTEFACT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compiled format — a .beam file, chunk by chunk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Elixir.Greeter.beam · 2,092 bytes on disk · read with :beam_lib.all_chunks/1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99031"/>
            <a:ext cx="96012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9903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Chunk</a:t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673351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10_tdt7"/>
          <p:cNvSpPr txBox="1"/>
          <p:nvPr/>
        </p:nvSpPr>
        <p:spPr>
          <a:xfrm>
            <a:off x="530352" y="167335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AtU8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1947672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20_tdt9"/>
          <p:cNvSpPr txBox="1"/>
          <p:nvPr/>
        </p:nvSpPr>
        <p:spPr>
          <a:xfrm>
            <a:off x="530352" y="194767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Code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221991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30_tdt11"/>
          <p:cNvSpPr txBox="1"/>
          <p:nvPr/>
        </p:nvSpPr>
        <p:spPr>
          <a:xfrm>
            <a:off x="530352" y="222199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ExpT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496311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40_tdt13"/>
          <p:cNvSpPr txBox="1"/>
          <p:nvPr/>
        </p:nvSpPr>
        <p:spPr>
          <a:xfrm>
            <a:off x="530352" y="249631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LocT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2770632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50_tdt15"/>
          <p:cNvSpPr txBox="1"/>
          <p:nvPr/>
        </p:nvSpPr>
        <p:spPr>
          <a:xfrm>
            <a:off x="530352" y="277063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LitT</a:t>
            </a:r>
          </a:p>
        </p:txBody>
      </p:sp>
      <p:sp>
        <p:nvSpPr>
          <p:cNvPr id="17" name="a1wd660_td16"/>
          <p:cNvSpPr/>
          <p:nvPr/>
        </p:nvSpPr>
        <p:spPr>
          <a:xfrm>
            <a:off x="457200" y="3044951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660_tdt17"/>
          <p:cNvSpPr txBox="1"/>
          <p:nvPr/>
        </p:nvSpPr>
        <p:spPr>
          <a:xfrm>
            <a:off x="530352" y="304495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Dbgi</a:t>
            </a:r>
          </a:p>
        </p:txBody>
      </p:sp>
      <p:sp>
        <p:nvSpPr>
          <p:cNvPr id="19" name="a1wd770_td18"/>
          <p:cNvSpPr/>
          <p:nvPr/>
        </p:nvSpPr>
        <p:spPr>
          <a:xfrm>
            <a:off x="457200" y="3319272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770_tdt19"/>
          <p:cNvSpPr txBox="1"/>
          <p:nvPr/>
        </p:nvSpPr>
        <p:spPr>
          <a:xfrm>
            <a:off x="530352" y="3319272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Docs</a:t>
            </a:r>
          </a:p>
        </p:txBody>
      </p:sp>
      <p:sp>
        <p:nvSpPr>
          <p:cNvPr id="21" name="a1wd880_td20"/>
          <p:cNvSpPr/>
          <p:nvPr/>
        </p:nvSpPr>
        <p:spPr>
          <a:xfrm>
            <a:off x="457200" y="3593591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880_tdt21"/>
          <p:cNvSpPr txBox="1"/>
          <p:nvPr/>
        </p:nvSpPr>
        <p:spPr>
          <a:xfrm>
            <a:off x="530352" y="3593591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ExCk</a:t>
            </a:r>
          </a:p>
        </p:txBody>
      </p:sp>
      <p:sp>
        <p:nvSpPr>
          <p:cNvPr id="23" name="a1f_th22"/>
          <p:cNvSpPr/>
          <p:nvPr/>
        </p:nvSpPr>
        <p:spPr>
          <a:xfrm>
            <a:off x="1417320" y="1399031"/>
            <a:ext cx="77724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f_tht23"/>
          <p:cNvSpPr txBox="1"/>
          <p:nvPr/>
        </p:nvSpPr>
        <p:spPr>
          <a:xfrm>
            <a:off x="1490472" y="1399031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Bytes</a:t>
            </a:r>
          </a:p>
        </p:txBody>
      </p:sp>
      <p:sp>
        <p:nvSpPr>
          <p:cNvPr id="25" name="a1wd110_td24"/>
          <p:cNvSpPr/>
          <p:nvPr/>
        </p:nvSpPr>
        <p:spPr>
          <a:xfrm>
            <a:off x="1417320" y="1673351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110_tdt25"/>
          <p:cNvSpPr txBox="1"/>
          <p:nvPr/>
        </p:nvSpPr>
        <p:spPr>
          <a:xfrm>
            <a:off x="1490472" y="1673351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196</a:t>
            </a:r>
          </a:p>
        </p:txBody>
      </p:sp>
      <p:sp>
        <p:nvSpPr>
          <p:cNvPr id="27" name="a1wd220_td26"/>
          <p:cNvSpPr/>
          <p:nvPr/>
        </p:nvSpPr>
        <p:spPr>
          <a:xfrm>
            <a:off x="1417320" y="194767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220_tdt27"/>
          <p:cNvSpPr txBox="1"/>
          <p:nvPr/>
        </p:nvSpPr>
        <p:spPr>
          <a:xfrm>
            <a:off x="1490472" y="194767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225</a:t>
            </a:r>
          </a:p>
        </p:txBody>
      </p:sp>
      <p:sp>
        <p:nvSpPr>
          <p:cNvPr id="29" name="a1wd330_td28"/>
          <p:cNvSpPr/>
          <p:nvPr/>
        </p:nvSpPr>
        <p:spPr>
          <a:xfrm>
            <a:off x="1417320" y="2221991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330_tdt29"/>
          <p:cNvSpPr txBox="1"/>
          <p:nvPr/>
        </p:nvSpPr>
        <p:spPr>
          <a:xfrm>
            <a:off x="1490472" y="2221991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64</a:t>
            </a:r>
          </a:p>
        </p:txBody>
      </p:sp>
      <p:sp>
        <p:nvSpPr>
          <p:cNvPr id="31" name="a1wd440_td30"/>
          <p:cNvSpPr/>
          <p:nvPr/>
        </p:nvSpPr>
        <p:spPr>
          <a:xfrm>
            <a:off x="1417320" y="2496311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440_tdt31"/>
          <p:cNvSpPr txBox="1"/>
          <p:nvPr/>
        </p:nvSpPr>
        <p:spPr>
          <a:xfrm>
            <a:off x="1490472" y="2496311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16</a:t>
            </a:r>
          </a:p>
        </p:txBody>
      </p:sp>
      <p:sp>
        <p:nvSpPr>
          <p:cNvPr id="33" name="a1wd550_td32"/>
          <p:cNvSpPr/>
          <p:nvPr/>
        </p:nvSpPr>
        <p:spPr>
          <a:xfrm>
            <a:off x="1417320" y="277063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550_tdt33"/>
          <p:cNvSpPr txBox="1"/>
          <p:nvPr/>
        </p:nvSpPr>
        <p:spPr>
          <a:xfrm>
            <a:off x="1490472" y="277063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65</a:t>
            </a:r>
          </a:p>
        </p:txBody>
      </p:sp>
      <p:sp>
        <p:nvSpPr>
          <p:cNvPr id="35" name="a1wd660_td34"/>
          <p:cNvSpPr/>
          <p:nvPr/>
        </p:nvSpPr>
        <p:spPr>
          <a:xfrm>
            <a:off x="1417320" y="3044951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660_tdt35"/>
          <p:cNvSpPr txBox="1"/>
          <p:nvPr/>
        </p:nvSpPr>
        <p:spPr>
          <a:xfrm>
            <a:off x="1490472" y="3044951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529</a:t>
            </a:r>
          </a:p>
        </p:txBody>
      </p:sp>
      <p:sp>
        <p:nvSpPr>
          <p:cNvPr id="37" name="a1wd770_td36"/>
          <p:cNvSpPr/>
          <p:nvPr/>
        </p:nvSpPr>
        <p:spPr>
          <a:xfrm>
            <a:off x="1417320" y="331927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770_tdt37"/>
          <p:cNvSpPr txBox="1"/>
          <p:nvPr/>
        </p:nvSpPr>
        <p:spPr>
          <a:xfrm>
            <a:off x="1490472" y="331927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273</a:t>
            </a:r>
          </a:p>
        </p:txBody>
      </p:sp>
      <p:sp>
        <p:nvSpPr>
          <p:cNvPr id="39" name="a1wd880_td38"/>
          <p:cNvSpPr/>
          <p:nvPr/>
        </p:nvSpPr>
        <p:spPr>
          <a:xfrm>
            <a:off x="1417320" y="3593591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880_tdt39"/>
          <p:cNvSpPr txBox="1"/>
          <p:nvPr/>
        </p:nvSpPr>
        <p:spPr>
          <a:xfrm>
            <a:off x="1490472" y="3593591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259</a:t>
            </a:r>
          </a:p>
        </p:txBody>
      </p:sp>
      <p:sp>
        <p:nvSpPr>
          <p:cNvPr id="41" name="a1f_th40"/>
          <p:cNvSpPr/>
          <p:nvPr/>
        </p:nvSpPr>
        <p:spPr>
          <a:xfrm>
            <a:off x="2194560" y="1399031"/>
            <a:ext cx="3246120" cy="27432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f_tht41"/>
          <p:cNvSpPr txBox="1"/>
          <p:nvPr/>
        </p:nvSpPr>
        <p:spPr>
          <a:xfrm>
            <a:off x="2267712" y="1399031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What it holds</a:t>
            </a:r>
          </a:p>
        </p:txBody>
      </p:sp>
      <p:sp>
        <p:nvSpPr>
          <p:cNvPr id="43" name="a1wd110_td42"/>
          <p:cNvSpPr/>
          <p:nvPr/>
        </p:nvSpPr>
        <p:spPr>
          <a:xfrm>
            <a:off x="2194560" y="1673351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110_tdt43"/>
          <p:cNvSpPr txBox="1"/>
          <p:nvPr/>
        </p:nvSpPr>
        <p:spPr>
          <a:xfrm>
            <a:off x="2267712" y="1673351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atom table, UTF-8</a:t>
            </a:r>
          </a:p>
        </p:txBody>
      </p:sp>
      <p:sp>
        <p:nvSpPr>
          <p:cNvPr id="45" name="a1wd220_td44"/>
          <p:cNvSpPr/>
          <p:nvPr/>
        </p:nvSpPr>
        <p:spPr>
          <a:xfrm>
            <a:off x="2194560" y="1947672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220_tdt45"/>
          <p:cNvSpPr txBox="1"/>
          <p:nvPr/>
        </p:nvSpPr>
        <p:spPr>
          <a:xfrm>
            <a:off x="2267712" y="1947672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actual BEAM bytecode</a:t>
            </a:r>
          </a:p>
        </p:txBody>
      </p:sp>
      <p:sp>
        <p:nvSpPr>
          <p:cNvPr id="47" name="a1wd330_td46"/>
          <p:cNvSpPr/>
          <p:nvPr/>
        </p:nvSpPr>
        <p:spPr>
          <a:xfrm>
            <a:off x="2194560" y="2221991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330_tdt47"/>
          <p:cNvSpPr txBox="1"/>
          <p:nvPr/>
        </p:nvSpPr>
        <p:spPr>
          <a:xfrm>
            <a:off x="2267712" y="2221991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exported functions</a:t>
            </a:r>
          </a:p>
        </p:txBody>
      </p:sp>
      <p:sp>
        <p:nvSpPr>
          <p:cNvPr id="49" name="a1wd440_td48"/>
          <p:cNvSpPr/>
          <p:nvPr/>
        </p:nvSpPr>
        <p:spPr>
          <a:xfrm>
            <a:off x="2194560" y="2496311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440_tdt49"/>
          <p:cNvSpPr txBox="1"/>
          <p:nvPr/>
        </p:nvSpPr>
        <p:spPr>
          <a:xfrm>
            <a:off x="2267712" y="2496311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private functions</a:t>
            </a:r>
          </a:p>
        </p:txBody>
      </p:sp>
      <p:sp>
        <p:nvSpPr>
          <p:cNvPr id="51" name="a1wd550_td50"/>
          <p:cNvSpPr/>
          <p:nvPr/>
        </p:nvSpPr>
        <p:spPr>
          <a:xfrm>
            <a:off x="2194560" y="2770632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550_tdt51"/>
          <p:cNvSpPr txBox="1"/>
          <p:nvPr/>
        </p:nvSpPr>
        <p:spPr>
          <a:xfrm>
            <a:off x="2267712" y="2770632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literal constant pool</a:t>
            </a:r>
          </a:p>
        </p:txBody>
      </p:sp>
      <p:sp>
        <p:nvSpPr>
          <p:cNvPr id="53" name="a1wd660_td52"/>
          <p:cNvSpPr/>
          <p:nvPr/>
        </p:nvSpPr>
        <p:spPr>
          <a:xfrm>
            <a:off x="2194560" y="3044951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660_tdt53"/>
          <p:cNvSpPr txBox="1"/>
          <p:nvPr/>
        </p:nvSpPr>
        <p:spPr>
          <a:xfrm>
            <a:off x="2267712" y="3044951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debug info - the Elixir AST</a:t>
            </a:r>
          </a:p>
        </p:txBody>
      </p:sp>
      <p:sp>
        <p:nvSpPr>
          <p:cNvPr id="55" name="a1wd770_td54"/>
          <p:cNvSpPr/>
          <p:nvPr/>
        </p:nvSpPr>
        <p:spPr>
          <a:xfrm>
            <a:off x="2194560" y="3319272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770_tdt55"/>
          <p:cNvSpPr txBox="1"/>
          <p:nvPr/>
        </p:nvSpPr>
        <p:spPr>
          <a:xfrm>
            <a:off x="2267712" y="3319272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@doc and @moduledoc</a:t>
            </a:r>
          </a:p>
        </p:txBody>
      </p:sp>
      <p:sp>
        <p:nvSpPr>
          <p:cNvPr id="57" name="a1wd880_td56"/>
          <p:cNvSpPr/>
          <p:nvPr/>
        </p:nvSpPr>
        <p:spPr>
          <a:xfrm>
            <a:off x="2194560" y="3593591"/>
            <a:ext cx="3246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880_tdt57"/>
          <p:cNvSpPr txBox="1"/>
          <p:nvPr/>
        </p:nvSpPr>
        <p:spPr>
          <a:xfrm>
            <a:off x="2267712" y="3593591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Elixir type and export checker data</a:t>
            </a:r>
          </a:p>
        </p:txBody>
      </p:sp>
      <p:sp>
        <p:nvSpPr>
          <p:cNvPr id="59" name="a2u_dot58"/>
          <p:cNvSpPr/>
          <p:nvPr/>
        </p:nvSpPr>
        <p:spPr>
          <a:xfrm>
            <a:off x="5623560" y="15361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2u_b59"/>
          <p:cNvSpPr txBox="1"/>
          <p:nvPr/>
        </p:nvSpPr>
        <p:spPr>
          <a:xfrm>
            <a:off x="5843016" y="1435607"/>
            <a:ext cx="284378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 container, not a blob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format is chunked, so tools read one part without parsing the rest</a:t>
            </a:r>
          </a:p>
        </p:txBody>
      </p:sp>
      <p:sp>
        <p:nvSpPr>
          <p:cNvPr id="61" name="a2ud180_dot60"/>
          <p:cNvSpPr/>
          <p:nvPr/>
        </p:nvSpPr>
        <p:spPr>
          <a:xfrm>
            <a:off x="5623560" y="228599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2ud180_b61"/>
          <p:cNvSpPr txBox="1"/>
          <p:nvPr/>
        </p:nvSpPr>
        <p:spPr>
          <a:xfrm>
            <a:off x="5843016" y="2185415"/>
            <a:ext cx="284378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Code is only 225 bytes  </a:t>
            </a:r>
            <a:r>
              <a:rPr sz="1100" b="0">
                <a:solidFill>
                  <a:srgbClr val="334155"/>
                </a:solidFill>
                <a:latin typeface="Calibri"/>
              </a:rPr>
              <a:t>of 2,092 - most of the file is metadata about the code</a:t>
            </a:r>
          </a:p>
        </p:txBody>
      </p:sp>
      <p:sp>
        <p:nvSpPr>
          <p:cNvPr id="63" name="a2ud360_dot62"/>
          <p:cNvSpPr/>
          <p:nvPr/>
        </p:nvSpPr>
        <p:spPr>
          <a:xfrm>
            <a:off x="5623560" y="30358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2ud360_b63"/>
          <p:cNvSpPr txBox="1"/>
          <p:nvPr/>
        </p:nvSpPr>
        <p:spPr>
          <a:xfrm>
            <a:off x="5843016" y="2935223"/>
            <a:ext cx="284378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Docs ship inside  </a:t>
            </a:r>
            <a:r>
              <a:rPr sz="1100" b="0">
                <a:solidFill>
                  <a:srgbClr val="334155"/>
                </a:solidFill>
                <a:latin typeface="Calibri"/>
              </a:rPr>
              <a:t>this is what IEx h/1 reads at runtime</a:t>
            </a:r>
          </a:p>
        </p:txBody>
      </p:sp>
      <p:sp>
        <p:nvSpPr>
          <p:cNvPr id="65" name="a3f_nb64"/>
          <p:cNvSpPr/>
          <p:nvPr/>
        </p:nvSpPr>
        <p:spPr>
          <a:xfrm>
            <a:off x="457200" y="384962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3f_nacc65"/>
          <p:cNvSpPr/>
          <p:nvPr/>
        </p:nvSpPr>
        <p:spPr>
          <a:xfrm>
            <a:off x="457200" y="384962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3f_nt66"/>
          <p:cNvSpPr txBox="1"/>
          <p:nvPr/>
        </p:nvSpPr>
        <p:spPr>
          <a:xfrm>
            <a:off x="658368" y="384962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Two functions - greet/1 and add/2 - produced fourteen chunks. Bytecode is the smallest part of what a module carries.</a:t>
            </a:r>
          </a:p>
        </p:txBody>
      </p:sp>
      <p:sp>
        <p:nvSpPr>
          <p:cNvPr id="68" name="ft6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69" name="ft6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ARTEFACT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the BEAM compiler actually saw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Dbgi chunk decompiled back to Erlang — your string interpolation, unwrapped.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069080" cy="1463039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greeter.ex · what you wrote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 greet(name)</a:t>
            </a:r>
          </a:p>
        </p:txBody>
      </p:sp>
      <p:sp>
        <p:nvSpPr>
          <p:cNvPr id="8" name="a1wd120_code7"/>
          <p:cNvSpPr txBox="1"/>
          <p:nvPr/>
        </p:nvSpPr>
        <p:spPr>
          <a:xfrm>
            <a:off x="62179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  when is_binary(name) do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62179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"#{@greeting}, #{name}!"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62179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2f_codebg10"/>
          <p:cNvSpPr/>
          <p:nvPr/>
        </p:nvSpPr>
        <p:spPr>
          <a:xfrm>
            <a:off x="4617720" y="1380744"/>
            <a:ext cx="406908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f_codeh11"/>
          <p:cNvSpPr txBox="1"/>
          <p:nvPr/>
        </p:nvSpPr>
        <p:spPr>
          <a:xfrm>
            <a:off x="478231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erl_pp · real decompilation</a:t>
            </a:r>
          </a:p>
        </p:txBody>
      </p:sp>
      <p:sp>
        <p:nvSpPr>
          <p:cNvPr id="13" name="a2w_code12"/>
          <p:cNvSpPr txBox="1"/>
          <p:nvPr/>
        </p:nvSpPr>
        <p:spPr>
          <a:xfrm>
            <a:off x="478231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greet(_name@1) when</a:t>
            </a:r>
          </a:p>
        </p:txBody>
      </p:sp>
      <p:sp>
        <p:nvSpPr>
          <p:cNvPr id="14" name="a2wd100_code13"/>
          <p:cNvSpPr txBox="1"/>
          <p:nvPr/>
        </p:nvSpPr>
        <p:spPr>
          <a:xfrm>
            <a:off x="478231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is_binary(_name@1) -&gt;</a:t>
            </a:r>
          </a:p>
        </p:txBody>
      </p:sp>
      <p:sp>
        <p:nvSpPr>
          <p:cNvPr id="15" name="a2wd200_code14"/>
          <p:cNvSpPr txBox="1"/>
          <p:nvPr/>
        </p:nvSpPr>
        <p:spPr>
          <a:xfrm>
            <a:off x="478231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&lt;&lt;"Hello", ", ",</a:t>
            </a:r>
          </a:p>
        </p:txBody>
      </p:sp>
      <p:sp>
        <p:nvSpPr>
          <p:cNvPr id="16" name="a2wd300_code15"/>
          <p:cNvSpPr txBox="1"/>
          <p:nvPr/>
        </p:nvSpPr>
        <p:spPr>
          <a:xfrm>
            <a:off x="478231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case _name@1 of</a:t>
            </a:r>
          </a:p>
        </p:txBody>
      </p:sp>
      <p:sp>
        <p:nvSpPr>
          <p:cNvPr id="17" name="a2wd400_code16"/>
          <p:cNvSpPr txBox="1"/>
          <p:nvPr/>
        </p:nvSpPr>
        <p:spPr>
          <a:xfrm>
            <a:off x="478231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  _1 when is_binary(_1) -&gt; _1;</a:t>
            </a:r>
          </a:p>
        </p:txBody>
      </p:sp>
      <p:sp>
        <p:nvSpPr>
          <p:cNvPr id="18" name="a2wd500_code17"/>
          <p:cNvSpPr txBox="1"/>
          <p:nvPr/>
        </p:nvSpPr>
        <p:spPr>
          <a:xfrm>
            <a:off x="4782312" y="28940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  _1 -&gt; 'Elixir.String.Chars'</a:t>
            </a:r>
          </a:p>
        </p:txBody>
      </p:sp>
      <p:sp>
        <p:nvSpPr>
          <p:cNvPr id="19" name="a2wd600_code18"/>
          <p:cNvSpPr txBox="1"/>
          <p:nvPr/>
        </p:nvSpPr>
        <p:spPr>
          <a:xfrm>
            <a:off x="4782312" y="310896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         :to_string(_1)</a:t>
            </a:r>
          </a:p>
        </p:txBody>
      </p:sp>
      <p:sp>
        <p:nvSpPr>
          <p:cNvPr id="20" name="a2wd700_code19"/>
          <p:cNvSpPr txBox="1"/>
          <p:nvPr/>
        </p:nvSpPr>
        <p:spPr>
          <a:xfrm>
            <a:off x="4782312" y="332384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end/binary, "!"&gt;&gt;.</a:t>
            </a:r>
          </a:p>
        </p:txBody>
      </p:sp>
      <p:sp>
        <p:nvSpPr>
          <p:cNvPr id="21" name="a3u_dot20"/>
          <p:cNvSpPr/>
          <p:nvPr/>
        </p:nvSpPr>
        <p:spPr>
          <a:xfrm>
            <a:off x="457200" y="38770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_b21"/>
          <p:cNvSpPr txBox="1"/>
          <p:nvPr/>
        </p:nvSpPr>
        <p:spPr>
          <a:xfrm>
            <a:off x="676656" y="3776472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Interpolation is a binary build  </a:t>
            </a:r>
            <a:r>
              <a:rPr sz="1150" b="0">
                <a:solidFill>
                  <a:srgbClr val="334155"/>
                </a:solidFill>
                <a:latin typeface="Calibri"/>
              </a:rPr>
              <a:t>not string concatenation - the compiler emits a binary literal</a:t>
            </a:r>
          </a:p>
        </p:txBody>
      </p:sp>
      <p:sp>
        <p:nvSpPr>
          <p:cNvPr id="23" name="a3ud180_dot22"/>
          <p:cNvSpPr/>
          <p:nvPr/>
        </p:nvSpPr>
        <p:spPr>
          <a:xfrm>
            <a:off x="457200" y="42976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d180_b23"/>
          <p:cNvSpPr txBox="1"/>
          <p:nvPr/>
        </p:nvSpPr>
        <p:spPr>
          <a:xfrm>
            <a:off x="676656" y="4197096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protocol call is conditional  </a:t>
            </a:r>
            <a:r>
              <a:rPr sz="1150" b="0">
                <a:solidFill>
                  <a:srgbClr val="334155"/>
                </a:solidFill>
                <a:latin typeface="Calibri"/>
              </a:rPr>
              <a:t>a binary is used directly; anything else goes through String.Chars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ON DISK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File formats you will meet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70431"/>
            <a:ext cx="11887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70431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Extension</a:t>
            </a:r>
          </a:p>
        </p:txBody>
      </p:sp>
      <p:sp>
        <p:nvSpPr>
          <p:cNvPr id="6" name="a1wd120_td5"/>
          <p:cNvSpPr/>
          <p:nvPr/>
        </p:nvSpPr>
        <p:spPr>
          <a:xfrm>
            <a:off x="457200" y="1499615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20_tdt6"/>
          <p:cNvSpPr txBox="1"/>
          <p:nvPr/>
        </p:nvSpPr>
        <p:spPr>
          <a:xfrm>
            <a:off x="530352" y="1499615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.ex</a:t>
            </a:r>
          </a:p>
        </p:txBody>
      </p:sp>
      <p:sp>
        <p:nvSpPr>
          <p:cNvPr id="8" name="a1wd240_td7"/>
          <p:cNvSpPr/>
          <p:nvPr/>
        </p:nvSpPr>
        <p:spPr>
          <a:xfrm>
            <a:off x="457200" y="1828799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40_tdt8"/>
          <p:cNvSpPr txBox="1"/>
          <p:nvPr/>
        </p:nvSpPr>
        <p:spPr>
          <a:xfrm>
            <a:off x="530352" y="1828799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.exs</a:t>
            </a:r>
          </a:p>
        </p:txBody>
      </p:sp>
      <p:sp>
        <p:nvSpPr>
          <p:cNvPr id="10" name="a1wd360_td9"/>
          <p:cNvSpPr/>
          <p:nvPr/>
        </p:nvSpPr>
        <p:spPr>
          <a:xfrm>
            <a:off x="457200" y="2157984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60_tdt10"/>
          <p:cNvSpPr txBox="1"/>
          <p:nvPr/>
        </p:nvSpPr>
        <p:spPr>
          <a:xfrm>
            <a:off x="530352" y="2157984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.beam</a:t>
            </a:r>
          </a:p>
        </p:txBody>
      </p:sp>
      <p:sp>
        <p:nvSpPr>
          <p:cNvPr id="12" name="a1wd480_td11"/>
          <p:cNvSpPr/>
          <p:nvPr/>
        </p:nvSpPr>
        <p:spPr>
          <a:xfrm>
            <a:off x="457200" y="2487168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80_tdt12"/>
          <p:cNvSpPr txBox="1"/>
          <p:nvPr/>
        </p:nvSpPr>
        <p:spPr>
          <a:xfrm>
            <a:off x="530352" y="2487168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.app</a:t>
            </a:r>
          </a:p>
        </p:txBody>
      </p:sp>
      <p:sp>
        <p:nvSpPr>
          <p:cNvPr id="14" name="a1wd600_td13"/>
          <p:cNvSpPr/>
          <p:nvPr/>
        </p:nvSpPr>
        <p:spPr>
          <a:xfrm>
            <a:off x="457200" y="2816351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600_tdt14"/>
          <p:cNvSpPr txBox="1"/>
          <p:nvPr/>
        </p:nvSpPr>
        <p:spPr>
          <a:xfrm>
            <a:off x="530352" y="2816351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mix.exs</a:t>
            </a:r>
          </a:p>
        </p:txBody>
      </p:sp>
      <p:sp>
        <p:nvSpPr>
          <p:cNvPr id="16" name="a1wd720_td15"/>
          <p:cNvSpPr/>
          <p:nvPr/>
        </p:nvSpPr>
        <p:spPr>
          <a:xfrm>
            <a:off x="457200" y="3145536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720_tdt16"/>
          <p:cNvSpPr txBox="1"/>
          <p:nvPr/>
        </p:nvSpPr>
        <p:spPr>
          <a:xfrm>
            <a:off x="530352" y="3145536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mix.lock</a:t>
            </a:r>
          </a:p>
        </p:txBody>
      </p:sp>
      <p:sp>
        <p:nvSpPr>
          <p:cNvPr id="18" name="a1wd840_td17"/>
          <p:cNvSpPr/>
          <p:nvPr/>
        </p:nvSpPr>
        <p:spPr>
          <a:xfrm>
            <a:off x="457200" y="3474720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840_tdt18"/>
          <p:cNvSpPr txBox="1"/>
          <p:nvPr/>
        </p:nvSpPr>
        <p:spPr>
          <a:xfrm>
            <a:off x="530352" y="3474720"/>
            <a:ext cx="10789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.heex</a:t>
            </a:r>
          </a:p>
        </p:txBody>
      </p:sp>
      <p:sp>
        <p:nvSpPr>
          <p:cNvPr id="20" name="a1f_th19"/>
          <p:cNvSpPr/>
          <p:nvPr/>
        </p:nvSpPr>
        <p:spPr>
          <a:xfrm>
            <a:off x="1645920" y="1170431"/>
            <a:ext cx="155448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f_tht20"/>
          <p:cNvSpPr txBox="1"/>
          <p:nvPr/>
        </p:nvSpPr>
        <p:spPr>
          <a:xfrm>
            <a:off x="1719072" y="1170431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22" name="a1wd120_td21"/>
          <p:cNvSpPr/>
          <p:nvPr/>
        </p:nvSpPr>
        <p:spPr>
          <a:xfrm>
            <a:off x="1645920" y="1499615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120_tdt22"/>
          <p:cNvSpPr txBox="1"/>
          <p:nvPr/>
        </p:nvSpPr>
        <p:spPr>
          <a:xfrm>
            <a:off x="1719072" y="1499615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Compiled source</a:t>
            </a:r>
          </a:p>
        </p:txBody>
      </p:sp>
      <p:sp>
        <p:nvSpPr>
          <p:cNvPr id="24" name="a1wd240_td23"/>
          <p:cNvSpPr/>
          <p:nvPr/>
        </p:nvSpPr>
        <p:spPr>
          <a:xfrm>
            <a:off x="1645920" y="1828799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40_tdt24"/>
          <p:cNvSpPr txBox="1"/>
          <p:nvPr/>
        </p:nvSpPr>
        <p:spPr>
          <a:xfrm>
            <a:off x="1719072" y="1828799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Script source</a:t>
            </a:r>
          </a:p>
        </p:txBody>
      </p:sp>
      <p:sp>
        <p:nvSpPr>
          <p:cNvPr id="26" name="a1wd360_td25"/>
          <p:cNvSpPr/>
          <p:nvPr/>
        </p:nvSpPr>
        <p:spPr>
          <a:xfrm>
            <a:off x="1645920" y="2157984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360_tdt26"/>
          <p:cNvSpPr txBox="1"/>
          <p:nvPr/>
        </p:nvSpPr>
        <p:spPr>
          <a:xfrm>
            <a:off x="1719072" y="215798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Bytecode</a:t>
            </a:r>
          </a:p>
        </p:txBody>
      </p:sp>
      <p:sp>
        <p:nvSpPr>
          <p:cNvPr id="28" name="a1wd480_td27"/>
          <p:cNvSpPr/>
          <p:nvPr/>
        </p:nvSpPr>
        <p:spPr>
          <a:xfrm>
            <a:off x="1645920" y="2487168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480_tdt28"/>
          <p:cNvSpPr txBox="1"/>
          <p:nvPr/>
        </p:nvSpPr>
        <p:spPr>
          <a:xfrm>
            <a:off x="1719072" y="2487168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App resource</a:t>
            </a:r>
          </a:p>
        </p:txBody>
      </p:sp>
      <p:sp>
        <p:nvSpPr>
          <p:cNvPr id="30" name="a1wd600_td29"/>
          <p:cNvSpPr/>
          <p:nvPr/>
        </p:nvSpPr>
        <p:spPr>
          <a:xfrm>
            <a:off x="1645920" y="2816351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600_tdt30"/>
          <p:cNvSpPr txBox="1"/>
          <p:nvPr/>
        </p:nvSpPr>
        <p:spPr>
          <a:xfrm>
            <a:off x="1719072" y="2816351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Project file</a:t>
            </a:r>
          </a:p>
        </p:txBody>
      </p:sp>
      <p:sp>
        <p:nvSpPr>
          <p:cNvPr id="32" name="a1wd720_td31"/>
          <p:cNvSpPr/>
          <p:nvPr/>
        </p:nvSpPr>
        <p:spPr>
          <a:xfrm>
            <a:off x="1645920" y="3145536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720_tdt32"/>
          <p:cNvSpPr txBox="1"/>
          <p:nvPr/>
        </p:nvSpPr>
        <p:spPr>
          <a:xfrm>
            <a:off x="1719072" y="3145536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Locked deps</a:t>
            </a:r>
          </a:p>
        </p:txBody>
      </p:sp>
      <p:sp>
        <p:nvSpPr>
          <p:cNvPr id="34" name="a1wd840_td33"/>
          <p:cNvSpPr/>
          <p:nvPr/>
        </p:nvSpPr>
        <p:spPr>
          <a:xfrm>
            <a:off x="1645920" y="3474720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840_tdt34"/>
          <p:cNvSpPr txBox="1"/>
          <p:nvPr/>
        </p:nvSpPr>
        <p:spPr>
          <a:xfrm>
            <a:off x="1719072" y="3474720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Template</a:t>
            </a:r>
          </a:p>
        </p:txBody>
      </p:sp>
      <p:sp>
        <p:nvSpPr>
          <p:cNvPr id="36" name="a1f_th35"/>
          <p:cNvSpPr/>
          <p:nvPr/>
        </p:nvSpPr>
        <p:spPr>
          <a:xfrm>
            <a:off x="3200400" y="1170431"/>
            <a:ext cx="548640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f_tht36"/>
          <p:cNvSpPr txBox="1"/>
          <p:nvPr/>
        </p:nvSpPr>
        <p:spPr>
          <a:xfrm>
            <a:off x="3273552" y="1170431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is for</a:t>
            </a:r>
          </a:p>
        </p:txBody>
      </p:sp>
      <p:sp>
        <p:nvSpPr>
          <p:cNvPr id="38" name="a1wd120_td37"/>
          <p:cNvSpPr/>
          <p:nvPr/>
        </p:nvSpPr>
        <p:spPr>
          <a:xfrm>
            <a:off x="3200400" y="1499615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120_tdt38"/>
          <p:cNvSpPr txBox="1"/>
          <p:nvPr/>
        </p:nvSpPr>
        <p:spPr>
          <a:xfrm>
            <a:off x="3273552" y="1499615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Modules you ship. mix compiles these into .beam files.</a:t>
            </a:r>
          </a:p>
        </p:txBody>
      </p:sp>
      <p:sp>
        <p:nvSpPr>
          <p:cNvPr id="40" name="a1wd240_td39"/>
          <p:cNvSpPr/>
          <p:nvPr/>
        </p:nvSpPr>
        <p:spPr>
          <a:xfrm>
            <a:off x="3200400" y="1828799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240_tdt40"/>
          <p:cNvSpPr txBox="1"/>
          <p:nvPr/>
        </p:nvSpPr>
        <p:spPr>
          <a:xfrm>
            <a:off x="3273552" y="1828799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Evaluated in memory, never written to disk. Tests and config.</a:t>
            </a:r>
          </a:p>
        </p:txBody>
      </p:sp>
      <p:sp>
        <p:nvSpPr>
          <p:cNvPr id="42" name="a1wd360_td41"/>
          <p:cNvSpPr/>
          <p:nvPr/>
        </p:nvSpPr>
        <p:spPr>
          <a:xfrm>
            <a:off x="3200400" y="2157984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360_tdt42"/>
          <p:cNvSpPr txBox="1"/>
          <p:nvPr/>
        </p:nvSpPr>
        <p:spPr>
          <a:xfrm>
            <a:off x="3273552" y="2157984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One per module, named Elixir.&lt;Module&gt;.beam.</a:t>
            </a:r>
          </a:p>
        </p:txBody>
      </p:sp>
      <p:sp>
        <p:nvSpPr>
          <p:cNvPr id="44" name="a1wd480_td43"/>
          <p:cNvSpPr/>
          <p:nvPr/>
        </p:nvSpPr>
        <p:spPr>
          <a:xfrm>
            <a:off x="3200400" y="2487168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480_tdt44"/>
          <p:cNvSpPr txBox="1"/>
          <p:nvPr/>
        </p:nvSpPr>
        <p:spPr>
          <a:xfrm>
            <a:off x="3273552" y="2487168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Generated. Names the modules, deps and start module.</a:t>
            </a:r>
          </a:p>
        </p:txBody>
      </p:sp>
      <p:sp>
        <p:nvSpPr>
          <p:cNvPr id="46" name="a1wd600_td45"/>
          <p:cNvSpPr/>
          <p:nvPr/>
        </p:nvSpPr>
        <p:spPr>
          <a:xfrm>
            <a:off x="3200400" y="2816351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600_tdt46"/>
          <p:cNvSpPr txBox="1"/>
          <p:nvPr/>
        </p:nvSpPr>
        <p:spPr>
          <a:xfrm>
            <a:off x="3273552" y="2816351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single source of truth for a project.</a:t>
            </a:r>
          </a:p>
        </p:txBody>
      </p:sp>
      <p:sp>
        <p:nvSpPr>
          <p:cNvPr id="48" name="a1wd720_td47"/>
          <p:cNvSpPr/>
          <p:nvPr/>
        </p:nvSpPr>
        <p:spPr>
          <a:xfrm>
            <a:off x="3200400" y="3145536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720_tdt48"/>
          <p:cNvSpPr txBox="1"/>
          <p:nvPr/>
        </p:nvSpPr>
        <p:spPr>
          <a:xfrm>
            <a:off x="3273552" y="3145536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Exact resolved versions and hashes. Commit it.</a:t>
            </a:r>
          </a:p>
        </p:txBody>
      </p:sp>
      <p:sp>
        <p:nvSpPr>
          <p:cNvPr id="50" name="a1wd840_td49"/>
          <p:cNvSpPr/>
          <p:nvPr/>
        </p:nvSpPr>
        <p:spPr>
          <a:xfrm>
            <a:off x="3200400" y="3474720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840_tdt50"/>
          <p:cNvSpPr txBox="1"/>
          <p:nvPr/>
        </p:nvSpPr>
        <p:spPr>
          <a:xfrm>
            <a:off x="3273552" y="3474720"/>
            <a:ext cx="5376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Phoenix HTML template, compile-time checked.</a:t>
            </a:r>
          </a:p>
        </p:txBody>
      </p:sp>
      <p:sp>
        <p:nvSpPr>
          <p:cNvPr id="52" name="a2f_nb51"/>
          <p:cNvSpPr/>
          <p:nvPr/>
        </p:nvSpPr>
        <p:spPr>
          <a:xfrm>
            <a:off x="457200" y="384962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f_nacc52"/>
          <p:cNvSpPr/>
          <p:nvPr/>
        </p:nvSpPr>
        <p:spPr>
          <a:xfrm>
            <a:off x="457200" y="3849624"/>
            <a:ext cx="50292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f_nt53"/>
          <p:cNvSpPr txBox="1"/>
          <p:nvPr/>
        </p:nvSpPr>
        <p:spPr>
          <a:xfrm>
            <a:off x="658368" y="384962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.ex / .exs split is the one to remember: .ex is compiled and kept, .exs is run and thrown away.</a:t>
            </a:r>
          </a:p>
        </p:txBody>
      </p:sp>
      <p:sp>
        <p:nvSpPr>
          <p:cNvPr id="55" name="ft5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56" name="ft5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Install,
and then mix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Getting a working toolchain, and the one
command you will use all day.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install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verify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mix new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deps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SETUP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Installing Elixir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Elixir needs Erlang/OTP. Every route below installs both.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62456"/>
            <a:ext cx="260908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62456"/>
            <a:ext cx="2609088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6"/>
          <p:cNvSpPr/>
          <p:nvPr/>
        </p:nvSpPr>
        <p:spPr>
          <a:xfrm>
            <a:off x="621792" y="156362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ict7"/>
          <p:cNvSpPr txBox="1"/>
          <p:nvPr/>
        </p:nvSpPr>
        <p:spPr>
          <a:xfrm>
            <a:off x="621792" y="1563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9" name="a1ud90_ct8"/>
          <p:cNvSpPr txBox="1"/>
          <p:nvPr/>
        </p:nvSpPr>
        <p:spPr>
          <a:xfrm>
            <a:off x="621792" y="20391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Windows</a:t>
            </a:r>
          </a:p>
        </p:txBody>
      </p:sp>
      <p:sp>
        <p:nvSpPr>
          <p:cNvPr id="10" name="a1ud120_cs9"/>
          <p:cNvSpPr txBox="1"/>
          <p:nvPr/>
        </p:nvSpPr>
        <p:spPr>
          <a:xfrm>
            <a:off x="621792" y="2313432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installer</a:t>
            </a:r>
          </a:p>
        </p:txBody>
      </p:sp>
      <p:sp>
        <p:nvSpPr>
          <p:cNvPr id="11" name="a1ud150_cb10"/>
          <p:cNvSpPr txBox="1"/>
          <p:nvPr/>
        </p:nvSpPr>
        <p:spPr>
          <a:xfrm>
            <a:off x="621792" y="2569463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Installer from elixir-lang.org</a:t>
            </a:r>
          </a:p>
        </p:txBody>
      </p:sp>
      <p:sp>
        <p:nvSpPr>
          <p:cNvPr id="12" name="a1ud220_cb11"/>
          <p:cNvSpPr txBox="1"/>
          <p:nvPr/>
        </p:nvSpPr>
        <p:spPr>
          <a:xfrm>
            <a:off x="621792" y="2953511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Bundles Erlang/OTP</a:t>
            </a:r>
          </a:p>
        </p:txBody>
      </p:sp>
      <p:sp>
        <p:nvSpPr>
          <p:cNvPr id="13" name="a1ud290_cb12"/>
          <p:cNvSpPr txBox="1"/>
          <p:nvPr/>
        </p:nvSpPr>
        <p:spPr>
          <a:xfrm>
            <a:off x="621792" y="3337559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Or scoop / choco install elixir</a:t>
            </a:r>
          </a:p>
        </p:txBody>
      </p:sp>
      <p:sp>
        <p:nvSpPr>
          <p:cNvPr id="14" name="a2u_card13"/>
          <p:cNvSpPr/>
          <p:nvPr/>
        </p:nvSpPr>
        <p:spPr>
          <a:xfrm>
            <a:off x="3267456" y="1362456"/>
            <a:ext cx="260908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3267456" y="1362456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15"/>
          <p:cNvSpPr/>
          <p:nvPr/>
        </p:nvSpPr>
        <p:spPr>
          <a:xfrm>
            <a:off x="3432048" y="156362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ict16"/>
          <p:cNvSpPr txBox="1"/>
          <p:nvPr/>
        </p:nvSpPr>
        <p:spPr>
          <a:xfrm>
            <a:off x="3432048" y="1563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8" name="a2ud90_ct17"/>
          <p:cNvSpPr txBox="1"/>
          <p:nvPr/>
        </p:nvSpPr>
        <p:spPr>
          <a:xfrm>
            <a:off x="3432048" y="20391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macOS</a:t>
            </a:r>
          </a:p>
        </p:txBody>
      </p:sp>
      <p:sp>
        <p:nvSpPr>
          <p:cNvPr id="19" name="a2ud120_cs18"/>
          <p:cNvSpPr txBox="1"/>
          <p:nvPr/>
        </p:nvSpPr>
        <p:spPr>
          <a:xfrm>
            <a:off x="3432048" y="2313432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homebrew</a:t>
            </a:r>
          </a:p>
        </p:txBody>
      </p:sp>
      <p:sp>
        <p:nvSpPr>
          <p:cNvPr id="20" name="a2ud150_cb19"/>
          <p:cNvSpPr txBox="1"/>
          <p:nvPr/>
        </p:nvSpPr>
        <p:spPr>
          <a:xfrm>
            <a:off x="3432048" y="2569463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brew install elixir</a:t>
            </a:r>
          </a:p>
        </p:txBody>
      </p:sp>
      <p:sp>
        <p:nvSpPr>
          <p:cNvPr id="21" name="a2ud220_cb20"/>
          <p:cNvSpPr txBox="1"/>
          <p:nvPr/>
        </p:nvSpPr>
        <p:spPr>
          <a:xfrm>
            <a:off x="3432048" y="2953511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Pulls erlang as a dep</a:t>
            </a:r>
          </a:p>
        </p:txBody>
      </p:sp>
      <p:sp>
        <p:nvSpPr>
          <p:cNvPr id="22" name="a2ud290_cb21"/>
          <p:cNvSpPr txBox="1"/>
          <p:nvPr/>
        </p:nvSpPr>
        <p:spPr>
          <a:xfrm>
            <a:off x="3432048" y="3337559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Or asdf to pin per project</a:t>
            </a:r>
          </a:p>
        </p:txBody>
      </p:sp>
      <p:sp>
        <p:nvSpPr>
          <p:cNvPr id="23" name="a3u_card22"/>
          <p:cNvSpPr/>
          <p:nvPr/>
        </p:nvSpPr>
        <p:spPr>
          <a:xfrm>
            <a:off x="6077712" y="1362456"/>
            <a:ext cx="260908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acc23"/>
          <p:cNvSpPr/>
          <p:nvPr/>
        </p:nvSpPr>
        <p:spPr>
          <a:xfrm>
            <a:off x="6077712" y="1362456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24"/>
          <p:cNvSpPr/>
          <p:nvPr/>
        </p:nvSpPr>
        <p:spPr>
          <a:xfrm>
            <a:off x="6242304" y="156362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60_ict25"/>
          <p:cNvSpPr txBox="1"/>
          <p:nvPr/>
        </p:nvSpPr>
        <p:spPr>
          <a:xfrm>
            <a:off x="6242304" y="1563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7" name="a3ud90_ct26"/>
          <p:cNvSpPr txBox="1"/>
          <p:nvPr/>
        </p:nvSpPr>
        <p:spPr>
          <a:xfrm>
            <a:off x="6242304" y="2039112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Linux</a:t>
            </a:r>
          </a:p>
        </p:txBody>
      </p:sp>
      <p:sp>
        <p:nvSpPr>
          <p:cNvPr id="28" name="a3ud120_cs27"/>
          <p:cNvSpPr txBox="1"/>
          <p:nvPr/>
        </p:nvSpPr>
        <p:spPr>
          <a:xfrm>
            <a:off x="6242304" y="2313432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apt / asdf</a:t>
            </a:r>
          </a:p>
        </p:txBody>
      </p:sp>
      <p:sp>
        <p:nvSpPr>
          <p:cNvPr id="29" name="a3ud150_cb28"/>
          <p:cNvSpPr txBox="1"/>
          <p:nvPr/>
        </p:nvSpPr>
        <p:spPr>
          <a:xfrm>
            <a:off x="6242304" y="2569463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Distro packages lag</a:t>
            </a:r>
          </a:p>
        </p:txBody>
      </p:sp>
      <p:sp>
        <p:nvSpPr>
          <p:cNvPr id="30" name="a3ud220_cb29"/>
          <p:cNvSpPr txBox="1"/>
          <p:nvPr/>
        </p:nvSpPr>
        <p:spPr>
          <a:xfrm>
            <a:off x="6242304" y="2953511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Prefer asdf or official builds</a:t>
            </a:r>
          </a:p>
        </p:txBody>
      </p:sp>
      <p:sp>
        <p:nvSpPr>
          <p:cNvPr id="31" name="a3ud290_cb30"/>
          <p:cNvSpPr txBox="1"/>
          <p:nvPr/>
        </p:nvSpPr>
        <p:spPr>
          <a:xfrm>
            <a:off x="6242304" y="3337559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Match OTP to Elixir</a:t>
            </a:r>
          </a:p>
        </p:txBody>
      </p:sp>
      <p:sp>
        <p:nvSpPr>
          <p:cNvPr id="32" name="a4f_nb31"/>
          <p:cNvSpPr/>
          <p:nvPr/>
        </p:nvSpPr>
        <p:spPr>
          <a:xfrm>
            <a:off x="457200" y="39867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f_nacc32"/>
          <p:cNvSpPr/>
          <p:nvPr/>
        </p:nvSpPr>
        <p:spPr>
          <a:xfrm>
            <a:off x="457200" y="3986784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f_nt33"/>
          <p:cNvSpPr txBox="1"/>
          <p:nvPr/>
        </p:nvSpPr>
        <p:spPr>
          <a:xfrm>
            <a:off x="658368" y="3986784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i  </a:t>
            </a:r>
            <a:r>
              <a:rPr sz="1150" b="0">
                <a:solidFill>
                  <a:srgbClr val="334155"/>
                </a:solidFill>
                <a:latin typeface="Calibri"/>
              </a:rPr>
              <a:t>For training, the Windows installer is enough. For real projects use a version manager - Elixir versions are tied to OTP versions.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SETUP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Verify the install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commands. If all three answer, you are ready.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99031"/>
            <a:ext cx="822960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53895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this machine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37943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&gt; elixir --version</a:t>
            </a:r>
          </a:p>
        </p:txBody>
      </p:sp>
      <p:sp>
        <p:nvSpPr>
          <p:cNvPr id="8" name="a1wd110_code7"/>
          <p:cNvSpPr txBox="1"/>
          <p:nvPr/>
        </p:nvSpPr>
        <p:spPr>
          <a:xfrm>
            <a:off x="621792" y="2052827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Erlang/OTP 29 [erts-17.0.6] [source] [64-bit] [smp:12:12] [jit:ns]</a:t>
            </a:r>
          </a:p>
        </p:txBody>
      </p:sp>
      <p:sp>
        <p:nvSpPr>
          <p:cNvPr id="9" name="a1wd220_code8"/>
          <p:cNvSpPr txBox="1"/>
          <p:nvPr/>
        </p:nvSpPr>
        <p:spPr>
          <a:xfrm>
            <a:off x="621792" y="2267711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Elixir 1.20.4 (compiled with Erlang/OTP 29)</a:t>
            </a:r>
          </a:p>
        </p:txBody>
      </p:sp>
      <p:sp>
        <p:nvSpPr>
          <p:cNvPr id="10" name="a1wd330_code9"/>
          <p:cNvSpPr txBox="1"/>
          <p:nvPr/>
        </p:nvSpPr>
        <p:spPr>
          <a:xfrm>
            <a:off x="621792" y="248259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440_code10"/>
          <p:cNvSpPr txBox="1"/>
          <p:nvPr/>
        </p:nvSpPr>
        <p:spPr>
          <a:xfrm>
            <a:off x="621792" y="2697479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&gt; iex.bat                     # Windows: use iex.bat, not iex</a:t>
            </a:r>
          </a:p>
        </p:txBody>
      </p:sp>
      <p:sp>
        <p:nvSpPr>
          <p:cNvPr id="12" name="a1wd550_code11"/>
          <p:cNvSpPr txBox="1"/>
          <p:nvPr/>
        </p:nvSpPr>
        <p:spPr>
          <a:xfrm>
            <a:off x="621792" y="2912363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Interactive Elixir (1.20.4) - press Ctrl+C to exit</a:t>
            </a:r>
          </a:p>
        </p:txBody>
      </p:sp>
      <p:sp>
        <p:nvSpPr>
          <p:cNvPr id="13" name="a1wd660_code12"/>
          <p:cNvSpPr txBox="1"/>
          <p:nvPr/>
        </p:nvSpPr>
        <p:spPr>
          <a:xfrm>
            <a:off x="621792" y="312724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770_code13"/>
          <p:cNvSpPr txBox="1"/>
          <p:nvPr/>
        </p:nvSpPr>
        <p:spPr>
          <a:xfrm>
            <a:off x="621792" y="334213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&gt; mix --version</a:t>
            </a:r>
          </a:p>
        </p:txBody>
      </p:sp>
      <p:sp>
        <p:nvSpPr>
          <p:cNvPr id="15" name="a1wd880_code14"/>
          <p:cNvSpPr txBox="1"/>
          <p:nvPr/>
        </p:nvSpPr>
        <p:spPr>
          <a:xfrm>
            <a:off x="621792" y="3557015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Mix 1.20.4 (compiled with Erlang/OTP 29)</a:t>
            </a:r>
          </a:p>
        </p:txBody>
      </p:sp>
      <p:sp>
        <p:nvSpPr>
          <p:cNvPr id="16" name="a2u_dot15"/>
          <p:cNvSpPr/>
          <p:nvPr/>
        </p:nvSpPr>
        <p:spPr>
          <a:xfrm>
            <a:off x="457200" y="41330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676656" y="4032504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Read the first line  </a:t>
            </a:r>
            <a:r>
              <a:rPr sz="1150" b="0">
                <a:solidFill>
                  <a:srgbClr val="334155"/>
                </a:solidFill>
                <a:latin typeface="Calibri"/>
              </a:rPr>
              <a:t>it tells you the OTP release, the ERTS build, SMP and whether the JIT is on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TOOLCHAIN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four executables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70431"/>
            <a:ext cx="114300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70431"/>
            <a:ext cx="10332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150_td5"/>
          <p:cNvSpPr/>
          <p:nvPr/>
        </p:nvSpPr>
        <p:spPr>
          <a:xfrm>
            <a:off x="457200" y="1572767"/>
            <a:ext cx="1143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50_tdt6"/>
          <p:cNvSpPr txBox="1"/>
          <p:nvPr/>
        </p:nvSpPr>
        <p:spPr>
          <a:xfrm>
            <a:off x="530352" y="1572767"/>
            <a:ext cx="10332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elixir</a:t>
            </a:r>
          </a:p>
        </p:txBody>
      </p:sp>
      <p:sp>
        <p:nvSpPr>
          <p:cNvPr id="8" name="a1wd300_td7"/>
          <p:cNvSpPr/>
          <p:nvPr/>
        </p:nvSpPr>
        <p:spPr>
          <a:xfrm>
            <a:off x="457200" y="1975103"/>
            <a:ext cx="1143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300_tdt8"/>
          <p:cNvSpPr txBox="1"/>
          <p:nvPr/>
        </p:nvSpPr>
        <p:spPr>
          <a:xfrm>
            <a:off x="530352" y="1975103"/>
            <a:ext cx="10332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elixirc</a:t>
            </a:r>
          </a:p>
        </p:txBody>
      </p:sp>
      <p:sp>
        <p:nvSpPr>
          <p:cNvPr id="10" name="a1wd450_td9"/>
          <p:cNvSpPr/>
          <p:nvPr/>
        </p:nvSpPr>
        <p:spPr>
          <a:xfrm>
            <a:off x="457200" y="2377439"/>
            <a:ext cx="1143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450_tdt10"/>
          <p:cNvSpPr txBox="1"/>
          <p:nvPr/>
        </p:nvSpPr>
        <p:spPr>
          <a:xfrm>
            <a:off x="530352" y="2377439"/>
            <a:ext cx="10332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iex</a:t>
            </a:r>
          </a:p>
        </p:txBody>
      </p:sp>
      <p:sp>
        <p:nvSpPr>
          <p:cNvPr id="12" name="a1wd600_td11"/>
          <p:cNvSpPr/>
          <p:nvPr/>
        </p:nvSpPr>
        <p:spPr>
          <a:xfrm>
            <a:off x="457200" y="2779776"/>
            <a:ext cx="1143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600_tdt12"/>
          <p:cNvSpPr txBox="1"/>
          <p:nvPr/>
        </p:nvSpPr>
        <p:spPr>
          <a:xfrm>
            <a:off x="530352" y="2779776"/>
            <a:ext cx="10332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</a:t>
            </a:r>
          </a:p>
        </p:txBody>
      </p:sp>
      <p:sp>
        <p:nvSpPr>
          <p:cNvPr id="14" name="a1f_th13"/>
          <p:cNvSpPr/>
          <p:nvPr/>
        </p:nvSpPr>
        <p:spPr>
          <a:xfrm>
            <a:off x="1600200" y="1170431"/>
            <a:ext cx="155448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f_tht14"/>
          <p:cNvSpPr txBox="1"/>
          <p:nvPr/>
        </p:nvSpPr>
        <p:spPr>
          <a:xfrm>
            <a:off x="1673352" y="1170431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6" name="a1wd150_td15"/>
          <p:cNvSpPr/>
          <p:nvPr/>
        </p:nvSpPr>
        <p:spPr>
          <a:xfrm>
            <a:off x="1600200" y="1572767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50_tdt16"/>
          <p:cNvSpPr txBox="1"/>
          <p:nvPr/>
        </p:nvSpPr>
        <p:spPr>
          <a:xfrm>
            <a:off x="1673352" y="1572767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 a script</a:t>
            </a:r>
          </a:p>
        </p:txBody>
      </p:sp>
      <p:sp>
        <p:nvSpPr>
          <p:cNvPr id="18" name="a1wd300_td17"/>
          <p:cNvSpPr/>
          <p:nvPr/>
        </p:nvSpPr>
        <p:spPr>
          <a:xfrm>
            <a:off x="1600200" y="1975103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300_tdt18"/>
          <p:cNvSpPr txBox="1"/>
          <p:nvPr/>
        </p:nvSpPr>
        <p:spPr>
          <a:xfrm>
            <a:off x="1673352" y="1975103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to disk</a:t>
            </a:r>
          </a:p>
        </p:txBody>
      </p:sp>
      <p:sp>
        <p:nvSpPr>
          <p:cNvPr id="20" name="a1wd450_td19"/>
          <p:cNvSpPr/>
          <p:nvPr/>
        </p:nvSpPr>
        <p:spPr>
          <a:xfrm>
            <a:off x="1600200" y="2377439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450_tdt20"/>
          <p:cNvSpPr txBox="1"/>
          <p:nvPr/>
        </p:nvSpPr>
        <p:spPr>
          <a:xfrm>
            <a:off x="1673352" y="2377439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REPL</a:t>
            </a:r>
          </a:p>
        </p:txBody>
      </p:sp>
      <p:sp>
        <p:nvSpPr>
          <p:cNvPr id="22" name="a1wd600_td21"/>
          <p:cNvSpPr/>
          <p:nvPr/>
        </p:nvSpPr>
        <p:spPr>
          <a:xfrm>
            <a:off x="1600200" y="2779776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600_tdt22"/>
          <p:cNvSpPr txBox="1"/>
          <p:nvPr/>
        </p:nvSpPr>
        <p:spPr>
          <a:xfrm>
            <a:off x="1673352" y="2779776"/>
            <a:ext cx="14447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build tool</a:t>
            </a:r>
          </a:p>
        </p:txBody>
      </p:sp>
      <p:sp>
        <p:nvSpPr>
          <p:cNvPr id="24" name="a1f_th23"/>
          <p:cNvSpPr/>
          <p:nvPr/>
        </p:nvSpPr>
        <p:spPr>
          <a:xfrm>
            <a:off x="3154680" y="1170431"/>
            <a:ext cx="214884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3227832" y="1170431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Typical use</a:t>
            </a:r>
          </a:p>
        </p:txBody>
      </p:sp>
      <p:sp>
        <p:nvSpPr>
          <p:cNvPr id="26" name="a1wd150_td25"/>
          <p:cNvSpPr/>
          <p:nvPr/>
        </p:nvSpPr>
        <p:spPr>
          <a:xfrm>
            <a:off x="3154680" y="1572767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50_tdt26"/>
          <p:cNvSpPr txBox="1"/>
          <p:nvPr/>
        </p:nvSpPr>
        <p:spPr>
          <a:xfrm>
            <a:off x="3227832" y="1572767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elixir hello.exs</a:t>
            </a:r>
          </a:p>
        </p:txBody>
      </p:sp>
      <p:sp>
        <p:nvSpPr>
          <p:cNvPr id="28" name="a1wd300_td27"/>
          <p:cNvSpPr/>
          <p:nvPr/>
        </p:nvSpPr>
        <p:spPr>
          <a:xfrm>
            <a:off x="3154680" y="1975103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300_tdt28"/>
          <p:cNvSpPr txBox="1"/>
          <p:nvPr/>
        </p:nvSpPr>
        <p:spPr>
          <a:xfrm>
            <a:off x="3227832" y="1975103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elixirc greeter.ex</a:t>
            </a:r>
          </a:p>
        </p:txBody>
      </p:sp>
      <p:sp>
        <p:nvSpPr>
          <p:cNvPr id="30" name="a1wd450_td29"/>
          <p:cNvSpPr/>
          <p:nvPr/>
        </p:nvSpPr>
        <p:spPr>
          <a:xfrm>
            <a:off x="3154680" y="2377439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450_tdt30"/>
          <p:cNvSpPr txBox="1"/>
          <p:nvPr/>
        </p:nvSpPr>
        <p:spPr>
          <a:xfrm>
            <a:off x="3227832" y="2377439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iex -S mix</a:t>
            </a:r>
          </a:p>
        </p:txBody>
      </p:sp>
      <p:sp>
        <p:nvSpPr>
          <p:cNvPr id="32" name="a1wd600_td31"/>
          <p:cNvSpPr/>
          <p:nvPr/>
        </p:nvSpPr>
        <p:spPr>
          <a:xfrm>
            <a:off x="3154680" y="2779776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600_tdt32"/>
          <p:cNvSpPr txBox="1"/>
          <p:nvPr/>
        </p:nvSpPr>
        <p:spPr>
          <a:xfrm>
            <a:off x="3227832" y="2779776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test</a:t>
            </a:r>
          </a:p>
        </p:txBody>
      </p:sp>
      <p:sp>
        <p:nvSpPr>
          <p:cNvPr id="34" name="a1f_th33"/>
          <p:cNvSpPr/>
          <p:nvPr/>
        </p:nvSpPr>
        <p:spPr>
          <a:xfrm>
            <a:off x="5303520" y="1170431"/>
            <a:ext cx="338328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f_tht34"/>
          <p:cNvSpPr txBox="1"/>
          <p:nvPr/>
        </p:nvSpPr>
        <p:spPr>
          <a:xfrm>
            <a:off x="5376672" y="1170431"/>
            <a:ext cx="32735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36" name="a1wd150_td35"/>
          <p:cNvSpPr/>
          <p:nvPr/>
        </p:nvSpPr>
        <p:spPr>
          <a:xfrm>
            <a:off x="5303520" y="1572767"/>
            <a:ext cx="3383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150_tdt36"/>
          <p:cNvSpPr txBox="1"/>
          <p:nvPr/>
        </p:nvSpPr>
        <p:spPr>
          <a:xfrm>
            <a:off x="5376672" y="1572767"/>
            <a:ext cx="32735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Compiles in memory, runs, exits</a:t>
            </a:r>
          </a:p>
        </p:txBody>
      </p:sp>
      <p:sp>
        <p:nvSpPr>
          <p:cNvPr id="38" name="a1wd300_td37"/>
          <p:cNvSpPr/>
          <p:nvPr/>
        </p:nvSpPr>
        <p:spPr>
          <a:xfrm>
            <a:off x="5303520" y="1975103"/>
            <a:ext cx="3383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00_tdt38"/>
          <p:cNvSpPr txBox="1"/>
          <p:nvPr/>
        </p:nvSpPr>
        <p:spPr>
          <a:xfrm>
            <a:off x="5376672" y="1975103"/>
            <a:ext cx="32735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Writes Elixir.Greeter.beam</a:t>
            </a:r>
          </a:p>
        </p:txBody>
      </p:sp>
      <p:sp>
        <p:nvSpPr>
          <p:cNvPr id="40" name="a1wd450_td39"/>
          <p:cNvSpPr/>
          <p:nvPr/>
        </p:nvSpPr>
        <p:spPr>
          <a:xfrm>
            <a:off x="5303520" y="2377439"/>
            <a:ext cx="3383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50_tdt40"/>
          <p:cNvSpPr txBox="1"/>
          <p:nvPr/>
        </p:nvSpPr>
        <p:spPr>
          <a:xfrm>
            <a:off x="5376672" y="2377439"/>
            <a:ext cx="32735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Interactive shell; -S mix loads your project</a:t>
            </a:r>
          </a:p>
        </p:txBody>
      </p:sp>
      <p:sp>
        <p:nvSpPr>
          <p:cNvPr id="42" name="a1wd600_td41"/>
          <p:cNvSpPr/>
          <p:nvPr/>
        </p:nvSpPr>
        <p:spPr>
          <a:xfrm>
            <a:off x="5303520" y="2779776"/>
            <a:ext cx="3383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00_tdt42"/>
          <p:cNvSpPr txBox="1"/>
          <p:nvPr/>
        </p:nvSpPr>
        <p:spPr>
          <a:xfrm>
            <a:off x="5376672" y="2779776"/>
            <a:ext cx="32735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Tasks: new, compile, deps.get, run, test</a:t>
            </a:r>
          </a:p>
        </p:txBody>
      </p:sp>
      <p:sp>
        <p:nvSpPr>
          <p:cNvPr id="44" name="a2f_nb43"/>
          <p:cNvSpPr/>
          <p:nvPr/>
        </p:nvSpPr>
        <p:spPr>
          <a:xfrm>
            <a:off x="457200" y="311810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f_nacc44"/>
          <p:cNvSpPr/>
          <p:nvPr/>
        </p:nvSpPr>
        <p:spPr>
          <a:xfrm>
            <a:off x="457200" y="3118104"/>
            <a:ext cx="50292" cy="658368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f_nt45"/>
          <p:cNvSpPr txBox="1"/>
          <p:nvPr/>
        </p:nvSpPr>
        <p:spPr>
          <a:xfrm>
            <a:off x="658368" y="3118104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On Windows the shell scripts are .bat files - iex.bat and mix.bat. Piping into plain iex from a POSIX shell will not find them; that is a PATH detail, not an Elixir one.</a:t>
            </a:r>
          </a:p>
        </p:txBody>
      </p:sp>
      <p:sp>
        <p:nvSpPr>
          <p:cNvPr id="47" name="a3u_dot46"/>
          <p:cNvSpPr/>
          <p:nvPr/>
        </p:nvSpPr>
        <p:spPr>
          <a:xfrm>
            <a:off x="457200" y="39959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3u_b47"/>
          <p:cNvSpPr txBox="1"/>
          <p:nvPr/>
        </p:nvSpPr>
        <p:spPr>
          <a:xfrm>
            <a:off x="676656" y="3895344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You will use mix and iex  </a:t>
            </a:r>
            <a:r>
              <a:rPr sz="1150" b="0">
                <a:solidFill>
                  <a:srgbClr val="334155"/>
                </a:solidFill>
                <a:latin typeface="Calibri"/>
              </a:rPr>
              <a:t>elixirc is mostly useful for looking at what compilation produces</a:t>
            </a:r>
          </a:p>
        </p:txBody>
      </p:sp>
      <p:sp>
        <p:nvSpPr>
          <p:cNvPr id="49" name="ft4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MIX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mix is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tool: project scaffolding, dependencies, compilation, tasks, tests, releases.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80744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6"/>
          <p:cNvSpPr/>
          <p:nvPr/>
        </p:nvSpPr>
        <p:spPr>
          <a:xfrm>
            <a:off x="621792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ict7"/>
          <p:cNvSpPr txBox="1"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a1ud90_ct8"/>
          <p:cNvSpPr txBox="1"/>
          <p:nvPr/>
        </p:nvSpPr>
        <p:spPr>
          <a:xfrm>
            <a:off x="621792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Scaffold</a:t>
            </a:r>
          </a:p>
        </p:txBody>
      </p:sp>
      <p:sp>
        <p:nvSpPr>
          <p:cNvPr id="10" name="a1ud120_cs9"/>
          <p:cNvSpPr txBox="1"/>
          <p:nvPr/>
        </p:nvSpPr>
        <p:spPr>
          <a:xfrm>
            <a:off x="621792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mix new</a:t>
            </a:r>
          </a:p>
        </p:txBody>
      </p:sp>
      <p:sp>
        <p:nvSpPr>
          <p:cNvPr id="11" name="a1ud150_cb10"/>
          <p:cNvSpPr txBox="1"/>
          <p:nvPr/>
        </p:nvSpPr>
        <p:spPr>
          <a:xfrm>
            <a:off x="621792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Creates the layout</a:t>
            </a:r>
          </a:p>
        </p:txBody>
      </p:sp>
      <p:sp>
        <p:nvSpPr>
          <p:cNvPr id="12" name="a1ud220_cb11"/>
          <p:cNvSpPr txBox="1"/>
          <p:nvPr/>
        </p:nvSpPr>
        <p:spPr>
          <a:xfrm>
            <a:off x="621792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Writes mix.exs</a:t>
            </a:r>
          </a:p>
        </p:txBody>
      </p:sp>
      <p:sp>
        <p:nvSpPr>
          <p:cNvPr id="13" name="a1ud290_cb12"/>
          <p:cNvSpPr txBox="1"/>
          <p:nvPr/>
        </p:nvSpPr>
        <p:spPr>
          <a:xfrm>
            <a:off x="621792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Adds a test harness</a:t>
            </a:r>
          </a:p>
        </p:txBody>
      </p:sp>
      <p:sp>
        <p:nvSpPr>
          <p:cNvPr id="14" name="a2u_card13"/>
          <p:cNvSpPr/>
          <p:nvPr/>
        </p:nvSpPr>
        <p:spPr>
          <a:xfrm>
            <a:off x="2564892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2564892" y="1380744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15"/>
          <p:cNvSpPr/>
          <p:nvPr/>
        </p:nvSpPr>
        <p:spPr>
          <a:xfrm>
            <a:off x="2729484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ict16"/>
          <p:cNvSpPr txBox="1"/>
          <p:nvPr/>
        </p:nvSpPr>
        <p:spPr>
          <a:xfrm>
            <a:off x="2729484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a2ud90_ct17"/>
          <p:cNvSpPr txBox="1"/>
          <p:nvPr/>
        </p:nvSpPr>
        <p:spPr>
          <a:xfrm>
            <a:off x="2729484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Dependencies</a:t>
            </a:r>
          </a:p>
        </p:txBody>
      </p:sp>
      <p:sp>
        <p:nvSpPr>
          <p:cNvPr id="19" name="a2ud120_cs18"/>
          <p:cNvSpPr txBox="1"/>
          <p:nvPr/>
        </p:nvSpPr>
        <p:spPr>
          <a:xfrm>
            <a:off x="2729484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mix deps.get</a:t>
            </a:r>
          </a:p>
        </p:txBody>
      </p:sp>
      <p:sp>
        <p:nvSpPr>
          <p:cNvPr id="20" name="a2ud150_cb19"/>
          <p:cNvSpPr txBox="1"/>
          <p:nvPr/>
        </p:nvSpPr>
        <p:spPr>
          <a:xfrm>
            <a:off x="2729484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Resolves from Hex</a:t>
            </a:r>
          </a:p>
        </p:txBody>
      </p:sp>
      <p:sp>
        <p:nvSpPr>
          <p:cNvPr id="21" name="a2ud220_cb20"/>
          <p:cNvSpPr txBox="1"/>
          <p:nvPr/>
        </p:nvSpPr>
        <p:spPr>
          <a:xfrm>
            <a:off x="2729484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Writes mix.lock</a:t>
            </a:r>
          </a:p>
        </p:txBody>
      </p:sp>
      <p:sp>
        <p:nvSpPr>
          <p:cNvPr id="22" name="a2ud290_cb21"/>
          <p:cNvSpPr txBox="1"/>
          <p:nvPr/>
        </p:nvSpPr>
        <p:spPr>
          <a:xfrm>
            <a:off x="2729484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Also git and path deps</a:t>
            </a:r>
          </a:p>
        </p:txBody>
      </p:sp>
      <p:sp>
        <p:nvSpPr>
          <p:cNvPr id="23" name="a3u_card22"/>
          <p:cNvSpPr/>
          <p:nvPr/>
        </p:nvSpPr>
        <p:spPr>
          <a:xfrm>
            <a:off x="4672584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acc23"/>
          <p:cNvSpPr/>
          <p:nvPr/>
        </p:nvSpPr>
        <p:spPr>
          <a:xfrm>
            <a:off x="4672584" y="1380744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24"/>
          <p:cNvSpPr/>
          <p:nvPr/>
        </p:nvSpPr>
        <p:spPr>
          <a:xfrm>
            <a:off x="4837176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60_ict25"/>
          <p:cNvSpPr txBox="1"/>
          <p:nvPr/>
        </p:nvSpPr>
        <p:spPr>
          <a:xfrm>
            <a:off x="4837176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a3ud90_ct26"/>
          <p:cNvSpPr txBox="1"/>
          <p:nvPr/>
        </p:nvSpPr>
        <p:spPr>
          <a:xfrm>
            <a:off x="4837176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Build</a:t>
            </a:r>
          </a:p>
        </p:txBody>
      </p:sp>
      <p:sp>
        <p:nvSpPr>
          <p:cNvPr id="28" name="a3ud120_cs27"/>
          <p:cNvSpPr txBox="1"/>
          <p:nvPr/>
        </p:nvSpPr>
        <p:spPr>
          <a:xfrm>
            <a:off x="4837176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mix compile</a:t>
            </a:r>
          </a:p>
        </p:txBody>
      </p:sp>
      <p:sp>
        <p:nvSpPr>
          <p:cNvPr id="29" name="a3ud150_cb28"/>
          <p:cNvSpPr txBox="1"/>
          <p:nvPr/>
        </p:nvSpPr>
        <p:spPr>
          <a:xfrm>
            <a:off x="4837176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Incremental</a:t>
            </a:r>
          </a:p>
        </p:txBody>
      </p:sp>
      <p:sp>
        <p:nvSpPr>
          <p:cNvPr id="30" name="a3ud220_cb29"/>
          <p:cNvSpPr txBox="1"/>
          <p:nvPr/>
        </p:nvSpPr>
        <p:spPr>
          <a:xfrm>
            <a:off x="4837176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Output under _build</a:t>
            </a:r>
          </a:p>
        </p:txBody>
      </p:sp>
      <p:sp>
        <p:nvSpPr>
          <p:cNvPr id="31" name="a3ud290_cb30"/>
          <p:cNvSpPr txBox="1"/>
          <p:nvPr/>
        </p:nvSpPr>
        <p:spPr>
          <a:xfrm>
            <a:off x="4837176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Per environment</a:t>
            </a:r>
          </a:p>
        </p:txBody>
      </p:sp>
      <p:sp>
        <p:nvSpPr>
          <p:cNvPr id="32" name="a4u_card31"/>
          <p:cNvSpPr/>
          <p:nvPr/>
        </p:nvSpPr>
        <p:spPr>
          <a:xfrm>
            <a:off x="6780276" y="13807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_acc32"/>
          <p:cNvSpPr/>
          <p:nvPr/>
        </p:nvSpPr>
        <p:spPr>
          <a:xfrm>
            <a:off x="6780276" y="1380744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60_ic33"/>
          <p:cNvSpPr/>
          <p:nvPr/>
        </p:nvSpPr>
        <p:spPr>
          <a:xfrm>
            <a:off x="6944868" y="15819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4ud60_ict34"/>
          <p:cNvSpPr txBox="1"/>
          <p:nvPr/>
        </p:nvSpPr>
        <p:spPr>
          <a:xfrm>
            <a:off x="6944868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a4ud90_ct35"/>
          <p:cNvSpPr txBox="1"/>
          <p:nvPr/>
        </p:nvSpPr>
        <p:spPr>
          <a:xfrm>
            <a:off x="6944868" y="20574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Run</a:t>
            </a:r>
          </a:p>
        </p:txBody>
      </p:sp>
      <p:sp>
        <p:nvSpPr>
          <p:cNvPr id="37" name="a4ud120_cs36"/>
          <p:cNvSpPr txBox="1"/>
          <p:nvPr/>
        </p:nvSpPr>
        <p:spPr>
          <a:xfrm>
            <a:off x="6944868" y="23317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mix test / run</a:t>
            </a:r>
          </a:p>
        </p:txBody>
      </p:sp>
      <p:sp>
        <p:nvSpPr>
          <p:cNvPr id="38" name="a4ud150_cb37"/>
          <p:cNvSpPr txBox="1"/>
          <p:nvPr/>
        </p:nvSpPr>
        <p:spPr>
          <a:xfrm>
            <a:off x="6944868" y="25877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ExUnit is built in</a:t>
            </a:r>
          </a:p>
        </p:txBody>
      </p:sp>
      <p:sp>
        <p:nvSpPr>
          <p:cNvPr id="39" name="a4ud220_cb38"/>
          <p:cNvSpPr txBox="1"/>
          <p:nvPr/>
        </p:nvSpPr>
        <p:spPr>
          <a:xfrm>
            <a:off x="6944868" y="29718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mix run -e "..."</a:t>
            </a:r>
          </a:p>
        </p:txBody>
      </p:sp>
      <p:sp>
        <p:nvSpPr>
          <p:cNvPr id="40" name="a4ud290_cb39"/>
          <p:cNvSpPr txBox="1"/>
          <p:nvPr/>
        </p:nvSpPr>
        <p:spPr>
          <a:xfrm>
            <a:off x="6944868" y="33558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Custom tasks too</a:t>
            </a:r>
          </a:p>
        </p:txBody>
      </p:sp>
      <p:sp>
        <p:nvSpPr>
          <p:cNvPr id="41" name="a5f_nb40"/>
          <p:cNvSpPr/>
          <p:nvPr/>
        </p:nvSpPr>
        <p:spPr>
          <a:xfrm>
            <a:off x="457200" y="4005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5f_nacc41"/>
          <p:cNvSpPr/>
          <p:nvPr/>
        </p:nvSpPr>
        <p:spPr>
          <a:xfrm>
            <a:off x="457200" y="4005072"/>
            <a:ext cx="50292" cy="65836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5f_nt42"/>
          <p:cNvSpPr txBox="1"/>
          <p:nvPr/>
        </p:nvSpPr>
        <p:spPr>
          <a:xfrm>
            <a:off x="658368" y="4005072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⇄  </a:t>
            </a:r>
            <a:r>
              <a:rPr sz="1150" b="0">
                <a:solidFill>
                  <a:srgbClr val="334155"/>
                </a:solidFill>
                <a:latin typeface="Calibri"/>
              </a:rPr>
              <a:t>Coming from Java or JavaScript: mix is Maven, npm, the test runner and the task runner in one binary - and it ships with the language, so there is nothing to choose and nothing to configure.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MIX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Creating a project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mix new greeter --module Greeter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3977639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648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README.md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34540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.formatter.exs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49424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.gitignore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64308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mix.exs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79191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lib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94076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lib/greeter.ex</a:t>
            </a:r>
          </a:p>
        </p:txBody>
      </p:sp>
      <p:sp>
        <p:nvSpPr>
          <p:cNvPr id="13" name="a1wd540_code12"/>
          <p:cNvSpPr txBox="1"/>
          <p:nvPr/>
        </p:nvSpPr>
        <p:spPr>
          <a:xfrm>
            <a:off x="621792" y="3108960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test</a:t>
            </a:r>
          </a:p>
        </p:txBody>
      </p:sp>
      <p:sp>
        <p:nvSpPr>
          <p:cNvPr id="14" name="a1wd630_code13"/>
          <p:cNvSpPr txBox="1"/>
          <p:nvPr/>
        </p:nvSpPr>
        <p:spPr>
          <a:xfrm>
            <a:off x="621792" y="3323844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test/test_helper.exs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621792" y="3538728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* creating test/greeter_test.exs</a:t>
            </a:r>
          </a:p>
        </p:txBody>
      </p:sp>
      <p:sp>
        <p:nvSpPr>
          <p:cNvPr id="16" name="a2u_dot15"/>
          <p:cNvSpPr/>
          <p:nvPr/>
        </p:nvSpPr>
        <p:spPr>
          <a:xfrm>
            <a:off x="4617720" y="153619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4837176" y="1435607"/>
            <a:ext cx="384962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Nine files, no questions asked  </a:t>
            </a:r>
            <a:r>
              <a:rPr sz="1150" b="0">
                <a:solidFill>
                  <a:srgbClr val="334155"/>
                </a:solidFill>
                <a:latin typeface="Calibri"/>
              </a:rPr>
              <a:t>no wizard, no template choice, no build-system decision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4617720" y="228599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80_b18"/>
          <p:cNvSpPr txBox="1"/>
          <p:nvPr/>
        </p:nvSpPr>
        <p:spPr>
          <a:xfrm>
            <a:off x="4837176" y="2185415"/>
            <a:ext cx="384962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--module sets the namespace  </a:t>
            </a:r>
            <a:r>
              <a:rPr sz="1150" b="0">
                <a:solidFill>
                  <a:srgbClr val="334155"/>
                </a:solidFill>
                <a:latin typeface="Calibri"/>
              </a:rPr>
              <a:t>without it you get the CamelCase of the directory name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4617720" y="30358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360_b20"/>
          <p:cNvSpPr txBox="1"/>
          <p:nvPr/>
        </p:nvSpPr>
        <p:spPr>
          <a:xfrm>
            <a:off x="4837176" y="2935223"/>
            <a:ext cx="3849624" cy="713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--sup adds a supervision tree  </a:t>
            </a:r>
            <a:r>
              <a:rPr sz="1150" b="0">
                <a:solidFill>
                  <a:srgbClr val="334155"/>
                </a:solidFill>
                <a:latin typeface="Calibri"/>
              </a:rPr>
              <a:t>use it when the project is a running application, not a library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MIX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project structure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What each path is for — and which ones you commit.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388620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TREE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greeter/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2034540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mix.exs           project file</a:t>
            </a:r>
          </a:p>
        </p:txBody>
      </p:sp>
      <p:sp>
        <p:nvSpPr>
          <p:cNvPr id="9" name="a1wd160_code8"/>
          <p:cNvSpPr txBox="1"/>
          <p:nvPr/>
        </p:nvSpPr>
        <p:spPr>
          <a:xfrm>
            <a:off x="621792" y="2249424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mix.lock          resolved deps</a:t>
            </a:r>
          </a:p>
        </p:txBody>
      </p:sp>
      <p:sp>
        <p:nvSpPr>
          <p:cNvPr id="10" name="a1wd240_code9"/>
          <p:cNvSpPr txBox="1"/>
          <p:nvPr/>
        </p:nvSpPr>
        <p:spPr>
          <a:xfrm>
            <a:off x="621792" y="2464308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lib/</a:t>
            </a:r>
          </a:p>
        </p:txBody>
      </p:sp>
      <p:sp>
        <p:nvSpPr>
          <p:cNvPr id="11" name="a1wd320_code10"/>
          <p:cNvSpPr txBox="1"/>
          <p:nvPr/>
        </p:nvSpPr>
        <p:spPr>
          <a:xfrm>
            <a:off x="621792" y="2679191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  greeter.ex      your modules</a:t>
            </a:r>
          </a:p>
        </p:txBody>
      </p:sp>
      <p:sp>
        <p:nvSpPr>
          <p:cNvPr id="12" name="a1wd400_code11"/>
          <p:cNvSpPr txBox="1"/>
          <p:nvPr/>
        </p:nvSpPr>
        <p:spPr>
          <a:xfrm>
            <a:off x="621792" y="2894076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test/</a:t>
            </a:r>
          </a:p>
        </p:txBody>
      </p:sp>
      <p:sp>
        <p:nvSpPr>
          <p:cNvPr id="13" name="a1wd480_code12"/>
          <p:cNvSpPr txBox="1"/>
          <p:nvPr/>
        </p:nvSpPr>
        <p:spPr>
          <a:xfrm>
            <a:off x="621792" y="3108960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  test_helper.exs starts ExUnit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621792" y="3323844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  _build/           generated</a:t>
            </a:r>
          </a:p>
        </p:txBody>
      </p:sp>
      <p:sp>
        <p:nvSpPr>
          <p:cNvPr id="15" name="a1wd640_code14"/>
          <p:cNvSpPr txBox="1"/>
          <p:nvPr/>
        </p:nvSpPr>
        <p:spPr>
          <a:xfrm>
            <a:off x="621792" y="3538728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  deps/             generated</a:t>
            </a:r>
          </a:p>
        </p:txBody>
      </p:sp>
      <p:sp>
        <p:nvSpPr>
          <p:cNvPr id="16" name="a2f_th15"/>
          <p:cNvSpPr/>
          <p:nvPr/>
        </p:nvSpPr>
        <p:spPr>
          <a:xfrm>
            <a:off x="4526280" y="1380744"/>
            <a:ext cx="100584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tht16"/>
          <p:cNvSpPr txBox="1"/>
          <p:nvPr/>
        </p:nvSpPr>
        <p:spPr>
          <a:xfrm>
            <a:off x="4599432" y="1380744"/>
            <a:ext cx="896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Path</a:t>
            </a:r>
          </a:p>
        </p:txBody>
      </p:sp>
      <p:sp>
        <p:nvSpPr>
          <p:cNvPr id="18" name="a2wd120_td17"/>
          <p:cNvSpPr/>
          <p:nvPr/>
        </p:nvSpPr>
        <p:spPr>
          <a:xfrm>
            <a:off x="4526280" y="1673352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120_tdt18"/>
          <p:cNvSpPr txBox="1"/>
          <p:nvPr/>
        </p:nvSpPr>
        <p:spPr>
          <a:xfrm>
            <a:off x="4599432" y="1673352"/>
            <a:ext cx="896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lib/</a:t>
            </a:r>
          </a:p>
        </p:txBody>
      </p:sp>
      <p:sp>
        <p:nvSpPr>
          <p:cNvPr id="20" name="a2wd240_td19"/>
          <p:cNvSpPr/>
          <p:nvPr/>
        </p:nvSpPr>
        <p:spPr>
          <a:xfrm>
            <a:off x="4526280" y="1965960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240_tdt20"/>
          <p:cNvSpPr txBox="1"/>
          <p:nvPr/>
        </p:nvSpPr>
        <p:spPr>
          <a:xfrm>
            <a:off x="4599432" y="1965960"/>
            <a:ext cx="896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test/</a:t>
            </a:r>
          </a:p>
        </p:txBody>
      </p:sp>
      <p:sp>
        <p:nvSpPr>
          <p:cNvPr id="22" name="a2wd360_td21"/>
          <p:cNvSpPr/>
          <p:nvPr/>
        </p:nvSpPr>
        <p:spPr>
          <a:xfrm>
            <a:off x="4526280" y="2258568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360_tdt22"/>
          <p:cNvSpPr txBox="1"/>
          <p:nvPr/>
        </p:nvSpPr>
        <p:spPr>
          <a:xfrm>
            <a:off x="4599432" y="2258568"/>
            <a:ext cx="896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mix.exs</a:t>
            </a:r>
          </a:p>
        </p:txBody>
      </p:sp>
      <p:sp>
        <p:nvSpPr>
          <p:cNvPr id="24" name="a2wd480_td23"/>
          <p:cNvSpPr/>
          <p:nvPr/>
        </p:nvSpPr>
        <p:spPr>
          <a:xfrm>
            <a:off x="4526280" y="2551176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480_tdt24"/>
          <p:cNvSpPr txBox="1"/>
          <p:nvPr/>
        </p:nvSpPr>
        <p:spPr>
          <a:xfrm>
            <a:off x="4599432" y="2551176"/>
            <a:ext cx="896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mix.lock</a:t>
            </a:r>
          </a:p>
        </p:txBody>
      </p:sp>
      <p:sp>
        <p:nvSpPr>
          <p:cNvPr id="26" name="a2wd600_td25"/>
          <p:cNvSpPr/>
          <p:nvPr/>
        </p:nvSpPr>
        <p:spPr>
          <a:xfrm>
            <a:off x="4526280" y="2843784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600_tdt26"/>
          <p:cNvSpPr txBox="1"/>
          <p:nvPr/>
        </p:nvSpPr>
        <p:spPr>
          <a:xfrm>
            <a:off x="4599432" y="2843784"/>
            <a:ext cx="896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_build/</a:t>
            </a:r>
          </a:p>
        </p:txBody>
      </p:sp>
      <p:sp>
        <p:nvSpPr>
          <p:cNvPr id="28" name="a2wd720_td27"/>
          <p:cNvSpPr/>
          <p:nvPr/>
        </p:nvSpPr>
        <p:spPr>
          <a:xfrm>
            <a:off x="4526280" y="3136391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720_tdt28"/>
          <p:cNvSpPr txBox="1"/>
          <p:nvPr/>
        </p:nvSpPr>
        <p:spPr>
          <a:xfrm>
            <a:off x="4599432" y="3136391"/>
            <a:ext cx="8961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deps/</a:t>
            </a:r>
          </a:p>
        </p:txBody>
      </p:sp>
      <p:sp>
        <p:nvSpPr>
          <p:cNvPr id="30" name="a2f_th29"/>
          <p:cNvSpPr/>
          <p:nvPr/>
        </p:nvSpPr>
        <p:spPr>
          <a:xfrm>
            <a:off x="5532120" y="1380744"/>
            <a:ext cx="82296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f_tht30"/>
          <p:cNvSpPr txBox="1"/>
          <p:nvPr/>
        </p:nvSpPr>
        <p:spPr>
          <a:xfrm>
            <a:off x="5605272" y="1380744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Commit?</a:t>
            </a:r>
          </a:p>
        </p:txBody>
      </p:sp>
      <p:sp>
        <p:nvSpPr>
          <p:cNvPr id="32" name="a2wd120_td31"/>
          <p:cNvSpPr/>
          <p:nvPr/>
        </p:nvSpPr>
        <p:spPr>
          <a:xfrm>
            <a:off x="5532120" y="167335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120_tdt32"/>
          <p:cNvSpPr txBox="1"/>
          <p:nvPr/>
        </p:nvSpPr>
        <p:spPr>
          <a:xfrm>
            <a:off x="5605272" y="1673352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34" name="a2wd240_td33"/>
          <p:cNvSpPr/>
          <p:nvPr/>
        </p:nvSpPr>
        <p:spPr>
          <a:xfrm>
            <a:off x="5532120" y="196596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240_tdt34"/>
          <p:cNvSpPr txBox="1"/>
          <p:nvPr/>
        </p:nvSpPr>
        <p:spPr>
          <a:xfrm>
            <a:off x="5605272" y="1965960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36" name="a2wd360_td35"/>
          <p:cNvSpPr/>
          <p:nvPr/>
        </p:nvSpPr>
        <p:spPr>
          <a:xfrm>
            <a:off x="5532120" y="225856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360_tdt36"/>
          <p:cNvSpPr txBox="1"/>
          <p:nvPr/>
        </p:nvSpPr>
        <p:spPr>
          <a:xfrm>
            <a:off x="5605272" y="2258568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38" name="a2wd480_td37"/>
          <p:cNvSpPr/>
          <p:nvPr/>
        </p:nvSpPr>
        <p:spPr>
          <a:xfrm>
            <a:off x="5532120" y="2551176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480_tdt38"/>
          <p:cNvSpPr txBox="1"/>
          <p:nvPr/>
        </p:nvSpPr>
        <p:spPr>
          <a:xfrm>
            <a:off x="5605272" y="2551176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40" name="a2wd600_td39"/>
          <p:cNvSpPr/>
          <p:nvPr/>
        </p:nvSpPr>
        <p:spPr>
          <a:xfrm>
            <a:off x="5532120" y="284378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600_tdt40"/>
          <p:cNvSpPr txBox="1"/>
          <p:nvPr/>
        </p:nvSpPr>
        <p:spPr>
          <a:xfrm>
            <a:off x="5605272" y="2843784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42" name="a2wd720_td41"/>
          <p:cNvSpPr/>
          <p:nvPr/>
        </p:nvSpPr>
        <p:spPr>
          <a:xfrm>
            <a:off x="5532120" y="3136391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wd720_tdt42"/>
          <p:cNvSpPr txBox="1"/>
          <p:nvPr/>
        </p:nvSpPr>
        <p:spPr>
          <a:xfrm>
            <a:off x="5605272" y="3136391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44" name="a2f_th43"/>
          <p:cNvSpPr/>
          <p:nvPr/>
        </p:nvSpPr>
        <p:spPr>
          <a:xfrm>
            <a:off x="6355080" y="1380744"/>
            <a:ext cx="233172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f_tht44"/>
          <p:cNvSpPr txBox="1"/>
          <p:nvPr/>
        </p:nvSpPr>
        <p:spPr>
          <a:xfrm>
            <a:off x="6428232" y="1380744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46" name="a2wd120_td45"/>
          <p:cNvSpPr/>
          <p:nvPr/>
        </p:nvSpPr>
        <p:spPr>
          <a:xfrm>
            <a:off x="6355080" y="1673352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d120_tdt46"/>
          <p:cNvSpPr txBox="1"/>
          <p:nvPr/>
        </p:nvSpPr>
        <p:spPr>
          <a:xfrm>
            <a:off x="6428232" y="1673352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All compiled source lives here</a:t>
            </a:r>
          </a:p>
        </p:txBody>
      </p:sp>
      <p:sp>
        <p:nvSpPr>
          <p:cNvPr id="48" name="a2wd240_td47"/>
          <p:cNvSpPr/>
          <p:nvPr/>
        </p:nvSpPr>
        <p:spPr>
          <a:xfrm>
            <a:off x="6355080" y="1965960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wd240_tdt48"/>
          <p:cNvSpPr txBox="1"/>
          <p:nvPr/>
        </p:nvSpPr>
        <p:spPr>
          <a:xfrm>
            <a:off x="6428232" y="1965960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ExUnit finds *_test.exs</a:t>
            </a:r>
          </a:p>
        </p:txBody>
      </p:sp>
      <p:sp>
        <p:nvSpPr>
          <p:cNvPr id="50" name="a2wd360_td49"/>
          <p:cNvSpPr/>
          <p:nvPr/>
        </p:nvSpPr>
        <p:spPr>
          <a:xfrm>
            <a:off x="6355080" y="2258568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2wd360_tdt50"/>
          <p:cNvSpPr txBox="1"/>
          <p:nvPr/>
        </p:nvSpPr>
        <p:spPr>
          <a:xfrm>
            <a:off x="6428232" y="2258568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Config, deps, app definition</a:t>
            </a:r>
          </a:p>
        </p:txBody>
      </p:sp>
      <p:sp>
        <p:nvSpPr>
          <p:cNvPr id="52" name="a2wd480_td51"/>
          <p:cNvSpPr/>
          <p:nvPr/>
        </p:nvSpPr>
        <p:spPr>
          <a:xfrm>
            <a:off x="6355080" y="2551176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wd480_tdt52"/>
          <p:cNvSpPr txBox="1"/>
          <p:nvPr/>
        </p:nvSpPr>
        <p:spPr>
          <a:xfrm>
            <a:off x="6428232" y="2551176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Exact versions - commit it</a:t>
            </a:r>
          </a:p>
        </p:txBody>
      </p:sp>
      <p:sp>
        <p:nvSpPr>
          <p:cNvPr id="54" name="a2wd600_td53"/>
          <p:cNvSpPr/>
          <p:nvPr/>
        </p:nvSpPr>
        <p:spPr>
          <a:xfrm>
            <a:off x="6355080" y="2843784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wd600_tdt54"/>
          <p:cNvSpPr txBox="1"/>
          <p:nvPr/>
        </p:nvSpPr>
        <p:spPr>
          <a:xfrm>
            <a:off x="6428232" y="2843784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Build artefacts, per env</a:t>
            </a:r>
          </a:p>
        </p:txBody>
      </p:sp>
      <p:sp>
        <p:nvSpPr>
          <p:cNvPr id="56" name="a2wd720_td55"/>
          <p:cNvSpPr/>
          <p:nvPr/>
        </p:nvSpPr>
        <p:spPr>
          <a:xfrm>
            <a:off x="6355080" y="3136391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2wd720_tdt56"/>
          <p:cNvSpPr txBox="1"/>
          <p:nvPr/>
        </p:nvSpPr>
        <p:spPr>
          <a:xfrm>
            <a:off x="6428232" y="3136391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Fetched sources - rebuildable</a:t>
            </a:r>
          </a:p>
        </p:txBody>
      </p:sp>
      <p:sp>
        <p:nvSpPr>
          <p:cNvPr id="58" name="a3f_nb57"/>
          <p:cNvSpPr/>
          <p:nvPr/>
        </p:nvSpPr>
        <p:spPr>
          <a:xfrm>
            <a:off x="457200" y="403250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f_nacc58"/>
          <p:cNvSpPr/>
          <p:nvPr/>
        </p:nvSpPr>
        <p:spPr>
          <a:xfrm>
            <a:off x="457200" y="403250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3f_nt59"/>
          <p:cNvSpPr txBox="1"/>
          <p:nvPr/>
        </p:nvSpPr>
        <p:spPr>
          <a:xfrm>
            <a:off x="658368" y="403250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layout is fixed by convention, not configuration. Every Elixir project you ever open looks exactly like this.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MIX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mix.exs, line by line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module with two functions. That is the whole project file.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3218687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mix.exs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Greeter.MixProject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2020824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use Mix.Project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221992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423160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project do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624328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  [app: :greeter,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825496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   version: "0.1.0",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3026664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   elixir: "~&gt; 1.20",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227832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   deps: deps()]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429000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6" name="a1wd630_code15"/>
          <p:cNvSpPr txBox="1"/>
          <p:nvPr/>
        </p:nvSpPr>
        <p:spPr>
          <a:xfrm>
            <a:off x="621792" y="3630168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application do</a:t>
            </a:r>
          </a:p>
        </p:txBody>
      </p:sp>
      <p:sp>
        <p:nvSpPr>
          <p:cNvPr id="17" name="a1wd700_code16"/>
          <p:cNvSpPr txBox="1"/>
          <p:nvPr/>
        </p:nvSpPr>
        <p:spPr>
          <a:xfrm>
            <a:off x="621792" y="3831336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  [extra_applications: [:logger]]</a:t>
            </a:r>
          </a:p>
        </p:txBody>
      </p:sp>
      <p:sp>
        <p:nvSpPr>
          <p:cNvPr id="18" name="a1wd770_code17"/>
          <p:cNvSpPr txBox="1"/>
          <p:nvPr/>
        </p:nvSpPr>
        <p:spPr>
          <a:xfrm>
            <a:off x="621792" y="4032504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9" name="a1wd840_code18"/>
          <p:cNvSpPr txBox="1"/>
          <p:nvPr/>
        </p:nvSpPr>
        <p:spPr>
          <a:xfrm>
            <a:off x="621792" y="4233672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0" name="a2u_dot19"/>
          <p:cNvSpPr/>
          <p:nvPr/>
        </p:nvSpPr>
        <p:spPr>
          <a:xfrm>
            <a:off x="5532120" y="15544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_b20"/>
          <p:cNvSpPr txBox="1"/>
          <p:nvPr/>
        </p:nvSpPr>
        <p:spPr>
          <a:xfrm>
            <a:off x="5751576" y="1453895"/>
            <a:ext cx="293522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app: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OTP application name, an atom</a:t>
            </a:r>
          </a:p>
        </p:txBody>
      </p:sp>
      <p:sp>
        <p:nvSpPr>
          <p:cNvPr id="22" name="a2ud160_dot21"/>
          <p:cNvSpPr/>
          <p:nvPr/>
        </p:nvSpPr>
        <p:spPr>
          <a:xfrm>
            <a:off x="5532120" y="210312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160_b22"/>
          <p:cNvSpPr txBox="1"/>
          <p:nvPr/>
        </p:nvSpPr>
        <p:spPr>
          <a:xfrm>
            <a:off x="5751576" y="2002536"/>
            <a:ext cx="293522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version:  </a:t>
            </a:r>
            <a:r>
              <a:rPr sz="1100" b="0">
                <a:solidFill>
                  <a:srgbClr val="334155"/>
                </a:solidFill>
                <a:latin typeface="Calibri"/>
              </a:rPr>
              <a:t>semantic version, used by Hex</a:t>
            </a:r>
          </a:p>
        </p:txBody>
      </p:sp>
      <p:sp>
        <p:nvSpPr>
          <p:cNvPr id="24" name="a2ud320_dot23"/>
          <p:cNvSpPr/>
          <p:nvPr/>
        </p:nvSpPr>
        <p:spPr>
          <a:xfrm>
            <a:off x="5532120" y="26517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320_b24"/>
          <p:cNvSpPr txBox="1"/>
          <p:nvPr/>
        </p:nvSpPr>
        <p:spPr>
          <a:xfrm>
            <a:off x="5751576" y="2551176"/>
            <a:ext cx="293522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elixir:  </a:t>
            </a:r>
            <a:r>
              <a:rPr sz="1100" b="0">
                <a:solidFill>
                  <a:srgbClr val="334155"/>
                </a:solidFill>
                <a:latin typeface="Calibri"/>
              </a:rPr>
              <a:t>required compiler version</a:t>
            </a:r>
          </a:p>
        </p:txBody>
      </p:sp>
      <p:sp>
        <p:nvSpPr>
          <p:cNvPr id="26" name="a2ud480_dot25"/>
          <p:cNvSpPr/>
          <p:nvPr/>
        </p:nvSpPr>
        <p:spPr>
          <a:xfrm>
            <a:off x="5532120" y="32004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d480_b26"/>
          <p:cNvSpPr txBox="1"/>
          <p:nvPr/>
        </p:nvSpPr>
        <p:spPr>
          <a:xfrm>
            <a:off x="5751576" y="3099816"/>
            <a:ext cx="293522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deps:  </a:t>
            </a:r>
            <a:r>
              <a:rPr sz="1100" b="0">
                <a:solidFill>
                  <a:srgbClr val="334155"/>
                </a:solidFill>
                <a:latin typeface="Calibri"/>
              </a:rPr>
              <a:t>a private function returning a list</a:t>
            </a:r>
          </a:p>
        </p:txBody>
      </p:sp>
      <p:sp>
        <p:nvSpPr>
          <p:cNvPr id="28" name="a2ud640_dot27"/>
          <p:cNvSpPr/>
          <p:nvPr/>
        </p:nvSpPr>
        <p:spPr>
          <a:xfrm>
            <a:off x="5532120" y="374903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d640_b28"/>
          <p:cNvSpPr txBox="1"/>
          <p:nvPr/>
        </p:nvSpPr>
        <p:spPr>
          <a:xfrm>
            <a:off x="5751576" y="3648456"/>
            <a:ext cx="293522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application:  </a:t>
            </a:r>
            <a:r>
              <a:rPr sz="1100" b="0">
                <a:solidFill>
                  <a:srgbClr val="334155"/>
                </a:solidFill>
                <a:latin typeface="Calibri"/>
              </a:rPr>
              <a:t>what the VM starts at boot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MIX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Dependencies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Declare in mix.exs, resolve with mix deps.get, lock in mix.lock.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3977639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648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mix.exs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defp deps do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34540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[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49424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{:jason, "~&gt; 1.4"},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64308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{:credo, "~&gt; 1.7",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79191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  only: [:dev, :test], runtime: false}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94076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]</a:t>
            </a:r>
          </a:p>
        </p:txBody>
      </p:sp>
      <p:sp>
        <p:nvSpPr>
          <p:cNvPr id="13" name="a1wd540_code12"/>
          <p:cNvSpPr txBox="1"/>
          <p:nvPr/>
        </p:nvSpPr>
        <p:spPr>
          <a:xfrm>
            <a:off x="621792" y="3108960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617720" y="1380744"/>
            <a:ext cx="406908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78231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78231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&gt; mix deps.get</a:t>
            </a:r>
          </a:p>
        </p:txBody>
      </p:sp>
      <p:sp>
        <p:nvSpPr>
          <p:cNvPr id="17" name="a2wd90_code16"/>
          <p:cNvSpPr txBox="1"/>
          <p:nvPr/>
        </p:nvSpPr>
        <p:spPr>
          <a:xfrm>
            <a:off x="478231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Resolving Hex dependencies...</a:t>
            </a:r>
          </a:p>
        </p:txBody>
      </p:sp>
      <p:sp>
        <p:nvSpPr>
          <p:cNvPr id="18" name="a2wd180_code17"/>
          <p:cNvSpPr txBox="1"/>
          <p:nvPr/>
        </p:nvSpPr>
        <p:spPr>
          <a:xfrm>
            <a:off x="478231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New:</a:t>
            </a:r>
          </a:p>
        </p:txBody>
      </p:sp>
      <p:sp>
        <p:nvSpPr>
          <p:cNvPr id="19" name="a2wd270_code18"/>
          <p:cNvSpPr txBox="1"/>
          <p:nvPr/>
        </p:nvSpPr>
        <p:spPr>
          <a:xfrm>
            <a:off x="478231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bunt 1.0.0</a:t>
            </a:r>
          </a:p>
        </p:txBody>
      </p:sp>
      <p:sp>
        <p:nvSpPr>
          <p:cNvPr id="20" name="a2wd360_code19"/>
          <p:cNvSpPr txBox="1"/>
          <p:nvPr/>
        </p:nvSpPr>
        <p:spPr>
          <a:xfrm>
            <a:off x="478231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credo 1.7.19</a:t>
            </a:r>
          </a:p>
        </p:txBody>
      </p:sp>
      <p:sp>
        <p:nvSpPr>
          <p:cNvPr id="21" name="a2wd450_code20"/>
          <p:cNvSpPr txBox="1"/>
          <p:nvPr/>
        </p:nvSpPr>
        <p:spPr>
          <a:xfrm>
            <a:off x="4782312" y="28940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file_system 1.1.1</a:t>
            </a:r>
          </a:p>
        </p:txBody>
      </p:sp>
      <p:sp>
        <p:nvSpPr>
          <p:cNvPr id="22" name="a2wd540_code21"/>
          <p:cNvSpPr txBox="1"/>
          <p:nvPr/>
        </p:nvSpPr>
        <p:spPr>
          <a:xfrm>
            <a:off x="4782312" y="310896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jason 1.4.5</a:t>
            </a:r>
          </a:p>
        </p:txBody>
      </p:sp>
      <p:sp>
        <p:nvSpPr>
          <p:cNvPr id="23" name="a3u_dot22"/>
          <p:cNvSpPr/>
          <p:nvPr/>
        </p:nvSpPr>
        <p:spPr>
          <a:xfrm>
            <a:off x="457200" y="370332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b23"/>
          <p:cNvSpPr txBox="1"/>
          <p:nvPr/>
        </p:nvSpPr>
        <p:spPr>
          <a:xfrm>
            <a:off x="676656" y="360273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Two direct deps became four  </a:t>
            </a:r>
            <a:r>
              <a:rPr sz="1100" b="0">
                <a:solidFill>
                  <a:srgbClr val="334155"/>
                </a:solidFill>
                <a:latin typeface="Calibri"/>
              </a:rPr>
              <a:t>bunt and file_system are transitive - mix.lock records them all</a:t>
            </a:r>
          </a:p>
        </p:txBody>
      </p:sp>
      <p:sp>
        <p:nvSpPr>
          <p:cNvPr id="25" name="a3ud170_dot24"/>
          <p:cNvSpPr/>
          <p:nvPr/>
        </p:nvSpPr>
        <p:spPr>
          <a:xfrm>
            <a:off x="457200" y="40690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170_b25"/>
          <p:cNvSpPr txBox="1"/>
          <p:nvPr/>
        </p:nvSpPr>
        <p:spPr>
          <a:xfrm>
            <a:off x="676656" y="396849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only: and runtime:  </a:t>
            </a:r>
            <a:r>
              <a:rPr sz="1100" b="0">
                <a:solidFill>
                  <a:srgbClr val="334155"/>
                </a:solidFill>
                <a:latin typeface="Calibri"/>
              </a:rPr>
              <a:t>dev-only tools never reach your production release</a:t>
            </a:r>
          </a:p>
        </p:txBody>
      </p:sp>
      <p:sp>
        <p:nvSpPr>
          <p:cNvPr id="27" name="a3ud340_dot26"/>
          <p:cNvSpPr/>
          <p:nvPr/>
        </p:nvSpPr>
        <p:spPr>
          <a:xfrm>
            <a:off x="457200" y="443484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d340_b27"/>
          <p:cNvSpPr txBox="1"/>
          <p:nvPr/>
        </p:nvSpPr>
        <p:spPr>
          <a:xfrm>
            <a:off x="676656" y="433425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~&gt; 1.4 means &gt;= 1.4 and &lt; 2.0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same operator Hex and Mix both understand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MIX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compiling produces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mix compile — and the .app file that makes it an application.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3977639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648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&gt; mix compile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34540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Compiling 1 file (.ex)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49424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Generated greeter app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64308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79191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_build/dev/lib/greeter/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94076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ebin/Elixir.Greeter.beam</a:t>
            </a:r>
          </a:p>
        </p:txBody>
      </p:sp>
      <p:sp>
        <p:nvSpPr>
          <p:cNvPr id="13" name="a1wd540_code12"/>
          <p:cNvSpPr txBox="1"/>
          <p:nvPr/>
        </p:nvSpPr>
        <p:spPr>
          <a:xfrm>
            <a:off x="621792" y="3108960"/>
            <a:ext cx="364845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ebin/greeter.app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617720" y="1380744"/>
            <a:ext cx="406908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78231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greeter.app · generated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78231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{application, greeter, [</a:t>
            </a:r>
          </a:p>
        </p:txBody>
      </p:sp>
      <p:sp>
        <p:nvSpPr>
          <p:cNvPr id="17" name="a2wd90_code16"/>
          <p:cNvSpPr txBox="1"/>
          <p:nvPr/>
        </p:nvSpPr>
        <p:spPr>
          <a:xfrm>
            <a:off x="478231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{modules, ['Elixir.Greeter']},</a:t>
            </a:r>
          </a:p>
        </p:txBody>
      </p:sp>
      <p:sp>
        <p:nvSpPr>
          <p:cNvPr id="18" name="a2wd180_code17"/>
          <p:cNvSpPr txBox="1"/>
          <p:nvPr/>
        </p:nvSpPr>
        <p:spPr>
          <a:xfrm>
            <a:off x="478231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{vsn, "0.1.0"},</a:t>
            </a:r>
          </a:p>
        </p:txBody>
      </p:sp>
      <p:sp>
        <p:nvSpPr>
          <p:cNvPr id="19" name="a2wd270_code18"/>
          <p:cNvSpPr txBox="1"/>
          <p:nvPr/>
        </p:nvSpPr>
        <p:spPr>
          <a:xfrm>
            <a:off x="478231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{applications, [kernel,</a:t>
            </a:r>
          </a:p>
        </p:txBody>
      </p:sp>
      <p:sp>
        <p:nvSpPr>
          <p:cNvPr id="20" name="a2wd360_code19"/>
          <p:cNvSpPr txBox="1"/>
          <p:nvPr/>
        </p:nvSpPr>
        <p:spPr>
          <a:xfrm>
            <a:off x="478231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     stdlib, elixir, logger]}</a:t>
            </a:r>
          </a:p>
        </p:txBody>
      </p:sp>
      <p:sp>
        <p:nvSpPr>
          <p:cNvPr id="21" name="a2wd450_code20"/>
          <p:cNvSpPr txBox="1"/>
          <p:nvPr/>
        </p:nvSpPr>
        <p:spPr>
          <a:xfrm>
            <a:off x="4782312" y="289407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]}.</a:t>
            </a:r>
          </a:p>
        </p:txBody>
      </p:sp>
      <p:sp>
        <p:nvSpPr>
          <p:cNvPr id="22" name="a3u_dot21"/>
          <p:cNvSpPr/>
          <p:nvPr/>
        </p:nvSpPr>
        <p:spPr>
          <a:xfrm>
            <a:off x="457200" y="397763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b22"/>
          <p:cNvSpPr txBox="1"/>
          <p:nvPr/>
        </p:nvSpPr>
        <p:spPr>
          <a:xfrm>
            <a:off x="676656" y="387705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Output is per environment  </a:t>
            </a:r>
            <a:r>
              <a:rPr sz="1100" b="0">
                <a:solidFill>
                  <a:srgbClr val="334155"/>
                </a:solidFill>
                <a:latin typeface="Calibri"/>
              </a:rPr>
              <a:t>_build/dev and _build/test are separate trees - MIX_ENV picks one</a:t>
            </a:r>
          </a:p>
        </p:txBody>
      </p:sp>
      <p:sp>
        <p:nvSpPr>
          <p:cNvPr id="24" name="a3ud170_dot23"/>
          <p:cNvSpPr/>
          <p:nvPr/>
        </p:nvSpPr>
        <p:spPr>
          <a:xfrm>
            <a:off x="457200" y="43434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170_b24"/>
          <p:cNvSpPr txBox="1"/>
          <p:nvPr/>
        </p:nvSpPr>
        <p:spPr>
          <a:xfrm>
            <a:off x="676656" y="424281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The .app file is Erlang syntax  </a:t>
            </a:r>
            <a:r>
              <a:rPr sz="1100" b="0">
                <a:solidFill>
                  <a:srgbClr val="334155"/>
                </a:solidFill>
                <a:latin typeface="Calibri"/>
              </a:rPr>
              <a:t>it is how the VM knows what to load and start</a:t>
            </a:r>
          </a:p>
        </p:txBody>
      </p:sp>
      <p:sp>
        <p:nvSpPr>
          <p:cNvPr id="26" name="a3ud340_dot25"/>
          <p:cNvSpPr/>
          <p:nvPr/>
        </p:nvSpPr>
        <p:spPr>
          <a:xfrm>
            <a:off x="457200" y="47091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d340_b26"/>
          <p:cNvSpPr txBox="1"/>
          <p:nvPr/>
        </p:nvSpPr>
        <p:spPr>
          <a:xfrm>
            <a:off x="676656" y="460857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Compilation is incremental  </a:t>
            </a:r>
            <a:r>
              <a:rPr sz="1100" b="0">
                <a:solidFill>
                  <a:srgbClr val="334155"/>
                </a:solidFill>
                <a:latin typeface="Calibri"/>
              </a:rPr>
              <a:t>mix tracks which modules depend on which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FIRST PROGRAM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Hello world, three ways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Script, compiled module, and mix project — same output, different lifecycles.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2624328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22951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1 · SCRIPT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hello.exs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16252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IO.puts("Hello!")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31136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46020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&gt; elixir hello.exs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60904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Hello!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75787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540_code12"/>
          <p:cNvSpPr txBox="1"/>
          <p:nvPr/>
        </p:nvSpPr>
        <p:spPr>
          <a:xfrm>
            <a:off x="621792" y="3090672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nothing on disk</a:t>
            </a:r>
          </a:p>
        </p:txBody>
      </p:sp>
      <p:sp>
        <p:nvSpPr>
          <p:cNvPr id="14" name="a2f_codebg13"/>
          <p:cNvSpPr/>
          <p:nvPr/>
        </p:nvSpPr>
        <p:spPr>
          <a:xfrm>
            <a:off x="3255264" y="1362456"/>
            <a:ext cx="2624328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3419856" y="1417320"/>
            <a:ext cx="22951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2 · COMPILED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3419856" y="1801368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greeter.ex</a:t>
            </a:r>
          </a:p>
        </p:txBody>
      </p:sp>
      <p:sp>
        <p:nvSpPr>
          <p:cNvPr id="17" name="a2wd90_code16"/>
          <p:cNvSpPr txBox="1"/>
          <p:nvPr/>
        </p:nvSpPr>
        <p:spPr>
          <a:xfrm>
            <a:off x="3419856" y="2016252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defmodule Greeter do</a:t>
            </a:r>
          </a:p>
        </p:txBody>
      </p:sp>
      <p:sp>
        <p:nvSpPr>
          <p:cNvPr id="18" name="a2wd180_code17"/>
          <p:cNvSpPr txBox="1"/>
          <p:nvPr/>
        </p:nvSpPr>
        <p:spPr>
          <a:xfrm>
            <a:off x="3419856" y="2231136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def hi, do: "Hello!"</a:t>
            </a:r>
          </a:p>
        </p:txBody>
      </p:sp>
      <p:sp>
        <p:nvSpPr>
          <p:cNvPr id="19" name="a2wd270_code18"/>
          <p:cNvSpPr txBox="1"/>
          <p:nvPr/>
        </p:nvSpPr>
        <p:spPr>
          <a:xfrm>
            <a:off x="3419856" y="2446020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0" name="a2wd360_code19"/>
          <p:cNvSpPr txBox="1"/>
          <p:nvPr/>
        </p:nvSpPr>
        <p:spPr>
          <a:xfrm>
            <a:off x="3419856" y="2660904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1" name="a2wd450_code20"/>
          <p:cNvSpPr txBox="1"/>
          <p:nvPr/>
        </p:nvSpPr>
        <p:spPr>
          <a:xfrm>
            <a:off x="3419856" y="2875787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&gt; elixirc greeter.ex</a:t>
            </a:r>
          </a:p>
        </p:txBody>
      </p:sp>
      <p:sp>
        <p:nvSpPr>
          <p:cNvPr id="22" name="a2wd540_code21"/>
          <p:cNvSpPr txBox="1"/>
          <p:nvPr/>
        </p:nvSpPr>
        <p:spPr>
          <a:xfrm>
            <a:off x="3419856" y="3090672"/>
            <a:ext cx="2295144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Elixir.Greeter.beam</a:t>
            </a:r>
          </a:p>
        </p:txBody>
      </p:sp>
      <p:sp>
        <p:nvSpPr>
          <p:cNvPr id="23" name="a3f_codebg22"/>
          <p:cNvSpPr/>
          <p:nvPr/>
        </p:nvSpPr>
        <p:spPr>
          <a:xfrm>
            <a:off x="6053328" y="1362456"/>
            <a:ext cx="2633472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f_codeh23"/>
          <p:cNvSpPr txBox="1"/>
          <p:nvPr/>
        </p:nvSpPr>
        <p:spPr>
          <a:xfrm>
            <a:off x="6217920" y="1417320"/>
            <a:ext cx="23042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3 · MIX PROJECT</a:t>
            </a:r>
          </a:p>
        </p:txBody>
      </p:sp>
      <p:sp>
        <p:nvSpPr>
          <p:cNvPr id="25" name="a3w_code24"/>
          <p:cNvSpPr txBox="1"/>
          <p:nvPr/>
        </p:nvSpPr>
        <p:spPr>
          <a:xfrm>
            <a:off x="6217920" y="1801368"/>
            <a:ext cx="2304288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&gt; mix new greeter</a:t>
            </a:r>
          </a:p>
        </p:txBody>
      </p:sp>
      <p:sp>
        <p:nvSpPr>
          <p:cNvPr id="26" name="a3wd90_code25"/>
          <p:cNvSpPr txBox="1"/>
          <p:nvPr/>
        </p:nvSpPr>
        <p:spPr>
          <a:xfrm>
            <a:off x="6217920" y="2016252"/>
            <a:ext cx="2304288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&gt; cd greeter</a:t>
            </a:r>
          </a:p>
        </p:txBody>
      </p:sp>
      <p:sp>
        <p:nvSpPr>
          <p:cNvPr id="27" name="a3wd180_code26"/>
          <p:cNvSpPr txBox="1"/>
          <p:nvPr/>
        </p:nvSpPr>
        <p:spPr>
          <a:xfrm>
            <a:off x="6217920" y="2231136"/>
            <a:ext cx="2304288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&gt; mix run -e \</a:t>
            </a:r>
          </a:p>
        </p:txBody>
      </p:sp>
      <p:sp>
        <p:nvSpPr>
          <p:cNvPr id="28" name="a3wd270_code27"/>
          <p:cNvSpPr txBox="1"/>
          <p:nvPr/>
        </p:nvSpPr>
        <p:spPr>
          <a:xfrm>
            <a:off x="6217920" y="2446020"/>
            <a:ext cx="2304288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'IO.puts("Hello!")'</a:t>
            </a:r>
          </a:p>
        </p:txBody>
      </p:sp>
      <p:sp>
        <p:nvSpPr>
          <p:cNvPr id="29" name="a3wd360_code28"/>
          <p:cNvSpPr txBox="1"/>
          <p:nvPr/>
        </p:nvSpPr>
        <p:spPr>
          <a:xfrm>
            <a:off x="6217920" y="2660904"/>
            <a:ext cx="2304288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Hello!</a:t>
            </a:r>
          </a:p>
        </p:txBody>
      </p:sp>
      <p:sp>
        <p:nvSpPr>
          <p:cNvPr id="30" name="a3wd450_code29"/>
          <p:cNvSpPr txBox="1"/>
          <p:nvPr/>
        </p:nvSpPr>
        <p:spPr>
          <a:xfrm>
            <a:off x="6217920" y="2875787"/>
            <a:ext cx="2304288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1" name="a3wd540_code30"/>
          <p:cNvSpPr txBox="1"/>
          <p:nvPr/>
        </p:nvSpPr>
        <p:spPr>
          <a:xfrm>
            <a:off x="6217920" y="3090672"/>
            <a:ext cx="2304288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&gt; mix test</a:t>
            </a:r>
          </a:p>
        </p:txBody>
      </p:sp>
      <p:sp>
        <p:nvSpPr>
          <p:cNvPr id="32" name="a4u_dot31"/>
          <p:cNvSpPr/>
          <p:nvPr/>
        </p:nvSpPr>
        <p:spPr>
          <a:xfrm>
            <a:off x="457200" y="36576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_b32"/>
          <p:cNvSpPr txBox="1"/>
          <p:nvPr/>
        </p:nvSpPr>
        <p:spPr>
          <a:xfrm>
            <a:off x="676656" y="3557016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Script  </a:t>
            </a:r>
            <a:r>
              <a:rPr sz="1100" b="0">
                <a:solidFill>
                  <a:srgbClr val="334155"/>
                </a:solidFill>
                <a:latin typeface="Calibri"/>
              </a:rPr>
              <a:t>compiled in memory each run, leaves nothing behind - use for one-off work</a:t>
            </a:r>
          </a:p>
        </p:txBody>
      </p:sp>
      <p:sp>
        <p:nvSpPr>
          <p:cNvPr id="34" name="a4ud170_dot33"/>
          <p:cNvSpPr/>
          <p:nvPr/>
        </p:nvSpPr>
        <p:spPr>
          <a:xfrm>
            <a:off x="457200" y="40416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4ud170_b34"/>
          <p:cNvSpPr txBox="1"/>
          <p:nvPr/>
        </p:nvSpPr>
        <p:spPr>
          <a:xfrm>
            <a:off x="676656" y="3941064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Compiled module  </a:t>
            </a:r>
            <a:r>
              <a:rPr sz="1100" b="0">
                <a:solidFill>
                  <a:srgbClr val="334155"/>
                </a:solidFill>
                <a:latin typeface="Calibri"/>
              </a:rPr>
              <a:t>produces a .beam you can load - use to inspect what the compiler did</a:t>
            </a:r>
          </a:p>
        </p:txBody>
      </p:sp>
      <p:sp>
        <p:nvSpPr>
          <p:cNvPr id="36" name="a4ud340_dot35"/>
          <p:cNvSpPr/>
          <p:nvPr/>
        </p:nvSpPr>
        <p:spPr>
          <a:xfrm>
            <a:off x="457200" y="442569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4ud340_b36"/>
          <p:cNvSpPr txBox="1"/>
          <p:nvPr/>
        </p:nvSpPr>
        <p:spPr>
          <a:xfrm>
            <a:off x="676656" y="4325112"/>
            <a:ext cx="8010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Mix project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only one of the three you would ship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CHEAT SHEET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mix commands you will use daily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70431"/>
            <a:ext cx="233172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70431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81328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81328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new NAME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792224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792224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deps.get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103120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103120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compile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414015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414015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test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724912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724912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format</a:t>
            </a:r>
          </a:p>
        </p:txBody>
      </p:sp>
      <p:sp>
        <p:nvSpPr>
          <p:cNvPr id="16" name="a1wd660_td15"/>
          <p:cNvSpPr/>
          <p:nvPr/>
        </p:nvSpPr>
        <p:spPr>
          <a:xfrm>
            <a:off x="457200" y="3035808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60_tdt16"/>
          <p:cNvSpPr txBox="1"/>
          <p:nvPr/>
        </p:nvSpPr>
        <p:spPr>
          <a:xfrm>
            <a:off x="530352" y="3035808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iex -S mix</a:t>
            </a:r>
          </a:p>
        </p:txBody>
      </p:sp>
      <p:sp>
        <p:nvSpPr>
          <p:cNvPr id="18" name="a1wd770_td17"/>
          <p:cNvSpPr/>
          <p:nvPr/>
        </p:nvSpPr>
        <p:spPr>
          <a:xfrm>
            <a:off x="457200" y="3346704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770_tdt18"/>
          <p:cNvSpPr txBox="1"/>
          <p:nvPr/>
        </p:nvSpPr>
        <p:spPr>
          <a:xfrm>
            <a:off x="530352" y="3346704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run -e CODE</a:t>
            </a:r>
          </a:p>
        </p:txBody>
      </p:sp>
      <p:sp>
        <p:nvSpPr>
          <p:cNvPr id="20" name="a1wd880_td19"/>
          <p:cNvSpPr/>
          <p:nvPr/>
        </p:nvSpPr>
        <p:spPr>
          <a:xfrm>
            <a:off x="457200" y="3657600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880_tdt20"/>
          <p:cNvSpPr txBox="1"/>
          <p:nvPr/>
        </p:nvSpPr>
        <p:spPr>
          <a:xfrm>
            <a:off x="530352" y="3657600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mix help</a:t>
            </a:r>
          </a:p>
        </p:txBody>
      </p:sp>
      <p:sp>
        <p:nvSpPr>
          <p:cNvPr id="22" name="a1f_th21"/>
          <p:cNvSpPr/>
          <p:nvPr/>
        </p:nvSpPr>
        <p:spPr>
          <a:xfrm>
            <a:off x="2788920" y="1170431"/>
            <a:ext cx="233172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f_tht22"/>
          <p:cNvSpPr txBox="1"/>
          <p:nvPr/>
        </p:nvSpPr>
        <p:spPr>
          <a:xfrm>
            <a:off x="2862072" y="1170431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4" name="a1wd110_td23"/>
          <p:cNvSpPr/>
          <p:nvPr/>
        </p:nvSpPr>
        <p:spPr>
          <a:xfrm>
            <a:off x="2788920" y="1481328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110_tdt24"/>
          <p:cNvSpPr txBox="1"/>
          <p:nvPr/>
        </p:nvSpPr>
        <p:spPr>
          <a:xfrm>
            <a:off x="2862072" y="1481328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Create a project</a:t>
            </a:r>
          </a:p>
        </p:txBody>
      </p:sp>
      <p:sp>
        <p:nvSpPr>
          <p:cNvPr id="26" name="a1wd220_td25"/>
          <p:cNvSpPr/>
          <p:nvPr/>
        </p:nvSpPr>
        <p:spPr>
          <a:xfrm>
            <a:off x="2788920" y="1792224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220_tdt26"/>
          <p:cNvSpPr txBox="1"/>
          <p:nvPr/>
        </p:nvSpPr>
        <p:spPr>
          <a:xfrm>
            <a:off x="2862072" y="1792224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Fetch dependencies</a:t>
            </a:r>
          </a:p>
        </p:txBody>
      </p:sp>
      <p:sp>
        <p:nvSpPr>
          <p:cNvPr id="28" name="a1wd330_td27"/>
          <p:cNvSpPr/>
          <p:nvPr/>
        </p:nvSpPr>
        <p:spPr>
          <a:xfrm>
            <a:off x="2788920" y="2103120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330_tdt28"/>
          <p:cNvSpPr txBox="1"/>
          <p:nvPr/>
        </p:nvSpPr>
        <p:spPr>
          <a:xfrm>
            <a:off x="2862072" y="2103120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Build</a:t>
            </a:r>
          </a:p>
        </p:txBody>
      </p:sp>
      <p:sp>
        <p:nvSpPr>
          <p:cNvPr id="30" name="a1wd440_td29"/>
          <p:cNvSpPr/>
          <p:nvPr/>
        </p:nvSpPr>
        <p:spPr>
          <a:xfrm>
            <a:off x="2788920" y="2414015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440_tdt30"/>
          <p:cNvSpPr txBox="1"/>
          <p:nvPr/>
        </p:nvSpPr>
        <p:spPr>
          <a:xfrm>
            <a:off x="2862072" y="2414015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 ExUnit</a:t>
            </a:r>
          </a:p>
        </p:txBody>
      </p:sp>
      <p:sp>
        <p:nvSpPr>
          <p:cNvPr id="32" name="a1wd550_td31"/>
          <p:cNvSpPr/>
          <p:nvPr/>
        </p:nvSpPr>
        <p:spPr>
          <a:xfrm>
            <a:off x="2788920" y="2724912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550_tdt32"/>
          <p:cNvSpPr txBox="1"/>
          <p:nvPr/>
        </p:nvSpPr>
        <p:spPr>
          <a:xfrm>
            <a:off x="2862072" y="2724912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Format everything</a:t>
            </a:r>
          </a:p>
        </p:txBody>
      </p:sp>
      <p:sp>
        <p:nvSpPr>
          <p:cNvPr id="34" name="a1wd660_td33"/>
          <p:cNvSpPr/>
          <p:nvPr/>
        </p:nvSpPr>
        <p:spPr>
          <a:xfrm>
            <a:off x="2788920" y="3035808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660_tdt34"/>
          <p:cNvSpPr txBox="1"/>
          <p:nvPr/>
        </p:nvSpPr>
        <p:spPr>
          <a:xfrm>
            <a:off x="2862072" y="3035808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REPL with project loaded</a:t>
            </a:r>
          </a:p>
        </p:txBody>
      </p:sp>
      <p:sp>
        <p:nvSpPr>
          <p:cNvPr id="36" name="a1wd770_td35"/>
          <p:cNvSpPr/>
          <p:nvPr/>
        </p:nvSpPr>
        <p:spPr>
          <a:xfrm>
            <a:off x="2788920" y="3346704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770_tdt36"/>
          <p:cNvSpPr txBox="1"/>
          <p:nvPr/>
        </p:nvSpPr>
        <p:spPr>
          <a:xfrm>
            <a:off x="2862072" y="3346704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 an expression</a:t>
            </a:r>
          </a:p>
        </p:txBody>
      </p:sp>
      <p:sp>
        <p:nvSpPr>
          <p:cNvPr id="38" name="a1wd880_td37"/>
          <p:cNvSpPr/>
          <p:nvPr/>
        </p:nvSpPr>
        <p:spPr>
          <a:xfrm>
            <a:off x="2788920" y="3657600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880_tdt38"/>
          <p:cNvSpPr txBox="1"/>
          <p:nvPr/>
        </p:nvSpPr>
        <p:spPr>
          <a:xfrm>
            <a:off x="2862072" y="3657600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List every task</a:t>
            </a:r>
          </a:p>
        </p:txBody>
      </p:sp>
      <p:sp>
        <p:nvSpPr>
          <p:cNvPr id="40" name="a1f_th39"/>
          <p:cNvSpPr/>
          <p:nvPr/>
        </p:nvSpPr>
        <p:spPr>
          <a:xfrm>
            <a:off x="5120640" y="1170431"/>
            <a:ext cx="356616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5193792" y="1170431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Worth knowing</a:t>
            </a:r>
          </a:p>
        </p:txBody>
      </p:sp>
      <p:sp>
        <p:nvSpPr>
          <p:cNvPr id="42" name="a1wd110_td41"/>
          <p:cNvSpPr/>
          <p:nvPr/>
        </p:nvSpPr>
        <p:spPr>
          <a:xfrm>
            <a:off x="5120640" y="1481328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110_tdt42"/>
          <p:cNvSpPr txBox="1"/>
          <p:nvPr/>
        </p:nvSpPr>
        <p:spPr>
          <a:xfrm>
            <a:off x="5193792" y="1481328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--sup for a supervision tree</a:t>
            </a:r>
          </a:p>
        </p:txBody>
      </p:sp>
      <p:sp>
        <p:nvSpPr>
          <p:cNvPr id="44" name="a1wd220_td43"/>
          <p:cNvSpPr/>
          <p:nvPr/>
        </p:nvSpPr>
        <p:spPr>
          <a:xfrm>
            <a:off x="5120640" y="1792224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220_tdt44"/>
          <p:cNvSpPr txBox="1"/>
          <p:nvPr/>
        </p:nvSpPr>
        <p:spPr>
          <a:xfrm>
            <a:off x="5193792" y="1792224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Writes / respects mix.lock</a:t>
            </a:r>
          </a:p>
        </p:txBody>
      </p:sp>
      <p:sp>
        <p:nvSpPr>
          <p:cNvPr id="46" name="a1wd330_td45"/>
          <p:cNvSpPr/>
          <p:nvPr/>
        </p:nvSpPr>
        <p:spPr>
          <a:xfrm>
            <a:off x="5120640" y="2103120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330_tdt46"/>
          <p:cNvSpPr txBox="1"/>
          <p:nvPr/>
        </p:nvSpPr>
        <p:spPr>
          <a:xfrm>
            <a:off x="5193792" y="2103120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Incremental; MIX_ENV selects the tree</a:t>
            </a:r>
          </a:p>
        </p:txBody>
      </p:sp>
      <p:sp>
        <p:nvSpPr>
          <p:cNvPr id="48" name="a1wd440_td47"/>
          <p:cNvSpPr/>
          <p:nvPr/>
        </p:nvSpPr>
        <p:spPr>
          <a:xfrm>
            <a:off x="5120640" y="2414015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440_tdt48"/>
          <p:cNvSpPr txBox="1"/>
          <p:nvPr/>
        </p:nvSpPr>
        <p:spPr>
          <a:xfrm>
            <a:off x="5193792" y="2414015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mix test path:42 runs one line</a:t>
            </a:r>
          </a:p>
        </p:txBody>
      </p:sp>
      <p:sp>
        <p:nvSpPr>
          <p:cNvPr id="50" name="a1wd550_td49"/>
          <p:cNvSpPr/>
          <p:nvPr/>
        </p:nvSpPr>
        <p:spPr>
          <a:xfrm>
            <a:off x="5120640" y="2724912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550_tdt50"/>
          <p:cNvSpPr txBox="1"/>
          <p:nvPr/>
        </p:nvSpPr>
        <p:spPr>
          <a:xfrm>
            <a:off x="5193792" y="2724912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Rules come from .formatter.exs</a:t>
            </a:r>
          </a:p>
        </p:txBody>
      </p:sp>
      <p:sp>
        <p:nvSpPr>
          <p:cNvPr id="52" name="a1wd660_td51"/>
          <p:cNvSpPr/>
          <p:nvPr/>
        </p:nvSpPr>
        <p:spPr>
          <a:xfrm>
            <a:off x="5120640" y="3035808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660_tdt52"/>
          <p:cNvSpPr txBox="1"/>
          <p:nvPr/>
        </p:nvSpPr>
        <p:spPr>
          <a:xfrm>
            <a:off x="5193792" y="3035808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single most useful command</a:t>
            </a:r>
          </a:p>
        </p:txBody>
      </p:sp>
      <p:sp>
        <p:nvSpPr>
          <p:cNvPr id="54" name="a1wd770_td53"/>
          <p:cNvSpPr/>
          <p:nvPr/>
        </p:nvSpPr>
        <p:spPr>
          <a:xfrm>
            <a:off x="5120640" y="3346704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770_tdt54"/>
          <p:cNvSpPr txBox="1"/>
          <p:nvPr/>
        </p:nvSpPr>
        <p:spPr>
          <a:xfrm>
            <a:off x="5193792" y="3346704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Project is compiled and loaded first</a:t>
            </a:r>
          </a:p>
        </p:txBody>
      </p:sp>
      <p:sp>
        <p:nvSpPr>
          <p:cNvPr id="56" name="a1wd880_td55"/>
          <p:cNvSpPr/>
          <p:nvPr/>
        </p:nvSpPr>
        <p:spPr>
          <a:xfrm>
            <a:off x="5120640" y="3657600"/>
            <a:ext cx="3566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880_tdt56"/>
          <p:cNvSpPr txBox="1"/>
          <p:nvPr/>
        </p:nvSpPr>
        <p:spPr>
          <a:xfrm>
            <a:off x="5193792" y="3657600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mix help TASK for detail</a:t>
            </a:r>
          </a:p>
        </p:txBody>
      </p:sp>
      <p:sp>
        <p:nvSpPr>
          <p:cNvPr id="58" name="ft5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Erlang/OTP 29 · measured on the training machine</a:t>
            </a:r>
          </a:p>
        </p:txBody>
      </p:sp>
      <p:sp>
        <p:nvSpPr>
          <p:cNvPr id="59" name="ft5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to take away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Elixir is a language on a borrowed runtime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Valim kept the BEAM and replaced the ergonomics - the concurrency story predates Elixir by 25 years.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Compilation is AST first, bytecode last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Your macros run in the middle of the compiler, which is why so much of the syntax is library code.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.beam file is a chunked container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Bytecode was 225 of its 2,092 bytes; docs, debug info and type data make up the rest.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mix is the whole toolchain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Scaffold, deps, build, test and tasks - one binary, fixed conventions, no decisions to make.</a:t>
            </a:r>
          </a:p>
        </p:txBody>
      </p:sp>
      <p:sp>
        <p:nvSpPr>
          <p:cNvPr id="15" name="a2u_next14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nextt15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9B72CF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Deck 2 - data types,
literals, and what each
one costs in memory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