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9B72CF"/>
                </a:solidFill>
                <a:latin typeface="Calibri"/>
              </a:rPr>
              <a:t>ELIXIR · PROCESSES &amp; OTP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Processes
&amp; OTP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From a bare process to a supervised application.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spawn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Task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GenServer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Supervisor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spawn · messages · Task · Agent · GenServer · Supervisor · Application</a:t>
            </a:r>
          </a:p>
        </p:txBody>
      </p:sp>
      <p:sp>
        <p:nvSpPr>
          <p:cNvPr id="10" name="a0ud1000_stg9"/>
          <p:cNvSpPr/>
          <p:nvPr/>
        </p:nvSpPr>
        <p:spPr>
          <a:xfrm>
            <a:off x="6172200" y="1097280"/>
            <a:ext cx="2514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9050">
            <a:solidFill>
              <a:srgbClr val="9B7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0ud1000_stgt10"/>
          <p:cNvSpPr txBox="1"/>
          <p:nvPr/>
        </p:nvSpPr>
        <p:spPr>
          <a:xfrm>
            <a:off x="6217920" y="10972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MyApp.Supervisor</a:t>
            </a:r>
          </a:p>
        </p:txBody>
      </p:sp>
      <p:cxnSp>
        <p:nvCxnSpPr>
          <p:cNvPr id="12" name="a0ud1250_ln11"/>
          <p:cNvCxnSpPr/>
          <p:nvPr/>
        </p:nvCxnSpPr>
        <p:spPr>
          <a:xfrm flipH="1">
            <a:off x="6492240" y="1554480"/>
            <a:ext cx="937260" cy="68580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0ud1250_stg12"/>
          <p:cNvSpPr/>
          <p:nvPr/>
        </p:nvSpPr>
        <p:spPr>
          <a:xfrm>
            <a:off x="6080759" y="2240280"/>
            <a:ext cx="822960" cy="402336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0ud1250_stgt13"/>
          <p:cNvSpPr txBox="1"/>
          <p:nvPr/>
        </p:nvSpPr>
        <p:spPr>
          <a:xfrm>
            <a:off x="6126479" y="22402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E2E8F0"/>
                </a:solidFill>
                <a:latin typeface="Courier New"/>
              </a:rPr>
              <a:t>Counter</a:t>
            </a:r>
          </a:p>
        </p:txBody>
      </p:sp>
      <p:cxnSp>
        <p:nvCxnSpPr>
          <p:cNvPr id="15" name="a0ud1400_ln14"/>
          <p:cNvCxnSpPr/>
          <p:nvPr/>
        </p:nvCxnSpPr>
        <p:spPr>
          <a:xfrm>
            <a:off x="7429500" y="1554480"/>
            <a:ext cx="0" cy="68580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0ud1400_stg15"/>
          <p:cNvSpPr/>
          <p:nvPr/>
        </p:nvSpPr>
        <p:spPr>
          <a:xfrm>
            <a:off x="7018020" y="2240280"/>
            <a:ext cx="822960" cy="402336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0ud1400_stgt16"/>
          <p:cNvSpPr txBox="1"/>
          <p:nvPr/>
        </p:nvSpPr>
        <p:spPr>
          <a:xfrm>
            <a:off x="7063740" y="22402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E2E8F0"/>
                </a:solidFill>
                <a:latin typeface="Courier New"/>
              </a:rPr>
              <a:t>Tasks</a:t>
            </a:r>
          </a:p>
        </p:txBody>
      </p:sp>
      <p:cxnSp>
        <p:nvCxnSpPr>
          <p:cNvPr id="18" name="a0ud1550_ln17"/>
          <p:cNvCxnSpPr/>
          <p:nvPr/>
        </p:nvCxnSpPr>
        <p:spPr>
          <a:xfrm>
            <a:off x="7429500" y="1554480"/>
            <a:ext cx="937260" cy="68580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0ud1550_stg18"/>
          <p:cNvSpPr/>
          <p:nvPr/>
        </p:nvSpPr>
        <p:spPr>
          <a:xfrm>
            <a:off x="7955280" y="2240280"/>
            <a:ext cx="822960" cy="402336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0ud1550_stgt19"/>
          <p:cNvSpPr txBox="1"/>
          <p:nvPr/>
        </p:nvSpPr>
        <p:spPr>
          <a:xfrm>
            <a:off x="8001000" y="2240280"/>
            <a:ext cx="7315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E2E8F0"/>
                </a:solidFill>
                <a:latin typeface="Courier New"/>
              </a:rPr>
              <a:t>Workers</a:t>
            </a:r>
          </a:p>
        </p:txBody>
      </p:sp>
      <p:cxnSp>
        <p:nvCxnSpPr>
          <p:cNvPr id="21" name="a0ud1750_ln20"/>
          <p:cNvCxnSpPr/>
          <p:nvPr/>
        </p:nvCxnSpPr>
        <p:spPr>
          <a:xfrm flipH="1">
            <a:off x="7269480" y="2642616"/>
            <a:ext cx="160020" cy="420624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0ud1750_proc21"/>
          <p:cNvSpPr/>
          <p:nvPr/>
        </p:nvSpPr>
        <p:spPr>
          <a:xfrm>
            <a:off x="7159752" y="3063240"/>
            <a:ext cx="219456" cy="21945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3" name="a0ud1840_ln22"/>
          <p:cNvCxnSpPr/>
          <p:nvPr/>
        </p:nvCxnSpPr>
        <p:spPr>
          <a:xfrm>
            <a:off x="7429500" y="2642616"/>
            <a:ext cx="160020" cy="420624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0ud1840_proc23"/>
          <p:cNvSpPr/>
          <p:nvPr/>
        </p:nvSpPr>
        <p:spPr>
          <a:xfrm>
            <a:off x="7479792" y="3063240"/>
            <a:ext cx="219456" cy="21945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5" name="a0ud1930_ln24"/>
          <p:cNvCxnSpPr/>
          <p:nvPr/>
        </p:nvCxnSpPr>
        <p:spPr>
          <a:xfrm flipH="1">
            <a:off x="8092440" y="2642616"/>
            <a:ext cx="274320" cy="420624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0ud1930_proc25"/>
          <p:cNvSpPr/>
          <p:nvPr/>
        </p:nvSpPr>
        <p:spPr>
          <a:xfrm>
            <a:off x="7982712" y="3063240"/>
            <a:ext cx="219456" cy="219456"/>
          </a:xfrm>
          <a:prstGeom prst="ellipse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7" name="a0ud2020_ln26"/>
          <p:cNvCxnSpPr/>
          <p:nvPr/>
        </p:nvCxnSpPr>
        <p:spPr>
          <a:xfrm>
            <a:off x="8366760" y="2642616"/>
            <a:ext cx="0" cy="420624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0ud2020_proc27"/>
          <p:cNvSpPr/>
          <p:nvPr/>
        </p:nvSpPr>
        <p:spPr>
          <a:xfrm>
            <a:off x="8257032" y="3063240"/>
            <a:ext cx="219456" cy="219456"/>
          </a:xfrm>
          <a:prstGeom prst="ellipse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9" name="a0ud2110_ln28"/>
          <p:cNvCxnSpPr/>
          <p:nvPr/>
        </p:nvCxnSpPr>
        <p:spPr>
          <a:xfrm>
            <a:off x="8366760" y="2642616"/>
            <a:ext cx="274320" cy="420624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0ud2110_proc29"/>
          <p:cNvSpPr/>
          <p:nvPr/>
        </p:nvSpPr>
        <p:spPr>
          <a:xfrm>
            <a:off x="8531352" y="3063240"/>
            <a:ext cx="219456" cy="219456"/>
          </a:xfrm>
          <a:prstGeom prst="ellipse">
            <a:avLst/>
          </a:prstGeom>
          <a:solidFill>
            <a:srgbClr val="9B7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0fd2300_cap30"/>
          <p:cNvSpPr txBox="1"/>
          <p:nvPr/>
        </p:nvSpPr>
        <p:spPr>
          <a:xfrm>
            <a:off x="6172200" y="347472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one tree, many tiny processes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211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211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ROADMAP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we cover today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45720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#</a:t>
            </a:r>
          </a:p>
        </p:txBody>
      </p:sp>
      <p:sp>
        <p:nvSpPr>
          <p:cNvPr id="6" name="a1wd90_td5"/>
          <p:cNvSpPr/>
          <p:nvPr/>
        </p:nvSpPr>
        <p:spPr>
          <a:xfrm>
            <a:off x="457200" y="1403604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90_tdt6"/>
          <p:cNvSpPr txBox="1"/>
          <p:nvPr/>
        </p:nvSpPr>
        <p:spPr>
          <a:xfrm>
            <a:off x="530352" y="1403604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01</a:t>
            </a:r>
          </a:p>
        </p:txBody>
      </p:sp>
      <p:sp>
        <p:nvSpPr>
          <p:cNvPr id="8" name="a1wd180_td7"/>
          <p:cNvSpPr/>
          <p:nvPr/>
        </p:nvSpPr>
        <p:spPr>
          <a:xfrm>
            <a:off x="457200" y="1709928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180_tdt8"/>
          <p:cNvSpPr txBox="1"/>
          <p:nvPr/>
        </p:nvSpPr>
        <p:spPr>
          <a:xfrm>
            <a:off x="530352" y="1709928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02</a:t>
            </a:r>
          </a:p>
        </p:txBody>
      </p:sp>
      <p:sp>
        <p:nvSpPr>
          <p:cNvPr id="10" name="a1wd270_td9"/>
          <p:cNvSpPr/>
          <p:nvPr/>
        </p:nvSpPr>
        <p:spPr>
          <a:xfrm>
            <a:off x="457200" y="2016252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270_tdt10"/>
          <p:cNvSpPr txBox="1"/>
          <p:nvPr/>
        </p:nvSpPr>
        <p:spPr>
          <a:xfrm>
            <a:off x="530352" y="2016252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03</a:t>
            </a:r>
          </a:p>
        </p:txBody>
      </p:sp>
      <p:sp>
        <p:nvSpPr>
          <p:cNvPr id="12" name="a1wd360_td11"/>
          <p:cNvSpPr/>
          <p:nvPr/>
        </p:nvSpPr>
        <p:spPr>
          <a:xfrm>
            <a:off x="457200" y="2322576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360_tdt12"/>
          <p:cNvSpPr txBox="1"/>
          <p:nvPr/>
        </p:nvSpPr>
        <p:spPr>
          <a:xfrm>
            <a:off x="530352" y="2322576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04</a:t>
            </a:r>
          </a:p>
        </p:txBody>
      </p:sp>
      <p:sp>
        <p:nvSpPr>
          <p:cNvPr id="14" name="a1wd450_td13"/>
          <p:cNvSpPr/>
          <p:nvPr/>
        </p:nvSpPr>
        <p:spPr>
          <a:xfrm>
            <a:off x="457200" y="2628900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450_tdt14"/>
          <p:cNvSpPr txBox="1"/>
          <p:nvPr/>
        </p:nvSpPr>
        <p:spPr>
          <a:xfrm>
            <a:off x="530352" y="2628900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05</a:t>
            </a:r>
          </a:p>
        </p:txBody>
      </p:sp>
      <p:sp>
        <p:nvSpPr>
          <p:cNvPr id="16" name="a1wd540_td15"/>
          <p:cNvSpPr/>
          <p:nvPr/>
        </p:nvSpPr>
        <p:spPr>
          <a:xfrm>
            <a:off x="457200" y="2935224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540_tdt16"/>
          <p:cNvSpPr txBox="1"/>
          <p:nvPr/>
        </p:nvSpPr>
        <p:spPr>
          <a:xfrm>
            <a:off x="530352" y="2935224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06</a:t>
            </a:r>
          </a:p>
        </p:txBody>
      </p:sp>
      <p:sp>
        <p:nvSpPr>
          <p:cNvPr id="18" name="a1wd630_td17"/>
          <p:cNvSpPr/>
          <p:nvPr/>
        </p:nvSpPr>
        <p:spPr>
          <a:xfrm>
            <a:off x="457200" y="3241548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630_tdt18"/>
          <p:cNvSpPr txBox="1"/>
          <p:nvPr/>
        </p:nvSpPr>
        <p:spPr>
          <a:xfrm>
            <a:off x="530352" y="3241548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07</a:t>
            </a:r>
          </a:p>
        </p:txBody>
      </p:sp>
      <p:sp>
        <p:nvSpPr>
          <p:cNvPr id="20" name="a1wd720_td19"/>
          <p:cNvSpPr/>
          <p:nvPr/>
        </p:nvSpPr>
        <p:spPr>
          <a:xfrm>
            <a:off x="457200" y="3547872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720_tdt20"/>
          <p:cNvSpPr txBox="1"/>
          <p:nvPr/>
        </p:nvSpPr>
        <p:spPr>
          <a:xfrm>
            <a:off x="530352" y="3547872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08</a:t>
            </a:r>
          </a:p>
        </p:txBody>
      </p:sp>
      <p:sp>
        <p:nvSpPr>
          <p:cNvPr id="22" name="a1wd810_td21"/>
          <p:cNvSpPr/>
          <p:nvPr/>
        </p:nvSpPr>
        <p:spPr>
          <a:xfrm>
            <a:off x="457200" y="3854196"/>
            <a:ext cx="45720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810_tdt22"/>
          <p:cNvSpPr txBox="1"/>
          <p:nvPr/>
        </p:nvSpPr>
        <p:spPr>
          <a:xfrm>
            <a:off x="530352" y="3854196"/>
            <a:ext cx="34747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09</a:t>
            </a:r>
          </a:p>
        </p:txBody>
      </p:sp>
      <p:sp>
        <p:nvSpPr>
          <p:cNvPr id="24" name="a1f_th23"/>
          <p:cNvSpPr/>
          <p:nvPr/>
        </p:nvSpPr>
        <p:spPr>
          <a:xfrm>
            <a:off x="914400" y="1097280"/>
            <a:ext cx="192024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f_tht24"/>
          <p:cNvSpPr txBox="1"/>
          <p:nvPr/>
        </p:nvSpPr>
        <p:spPr>
          <a:xfrm>
            <a:off x="987552" y="1097280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urier New"/>
              </a:rPr>
              <a:t>Topic</a:t>
            </a:r>
          </a:p>
        </p:txBody>
      </p:sp>
      <p:sp>
        <p:nvSpPr>
          <p:cNvPr id="26" name="a1wd90_td25"/>
          <p:cNvSpPr/>
          <p:nvPr/>
        </p:nvSpPr>
        <p:spPr>
          <a:xfrm>
            <a:off x="914400" y="1403604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90_tdt26"/>
          <p:cNvSpPr txBox="1"/>
          <p:nvPr/>
        </p:nvSpPr>
        <p:spPr>
          <a:xfrm>
            <a:off x="987552" y="1403604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spawn</a:t>
            </a:r>
          </a:p>
        </p:txBody>
      </p:sp>
      <p:sp>
        <p:nvSpPr>
          <p:cNvPr id="28" name="a1wd180_td27"/>
          <p:cNvSpPr/>
          <p:nvPr/>
        </p:nvSpPr>
        <p:spPr>
          <a:xfrm>
            <a:off x="914400" y="1709928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180_tdt28"/>
          <p:cNvSpPr txBox="1"/>
          <p:nvPr/>
        </p:nvSpPr>
        <p:spPr>
          <a:xfrm>
            <a:off x="987552" y="1709928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send / receive</a:t>
            </a:r>
          </a:p>
        </p:txBody>
      </p:sp>
      <p:sp>
        <p:nvSpPr>
          <p:cNvPr id="30" name="a1wd270_td29"/>
          <p:cNvSpPr/>
          <p:nvPr/>
        </p:nvSpPr>
        <p:spPr>
          <a:xfrm>
            <a:off x="914400" y="2016252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270_tdt30"/>
          <p:cNvSpPr txBox="1"/>
          <p:nvPr/>
        </p:nvSpPr>
        <p:spPr>
          <a:xfrm>
            <a:off x="987552" y="2016252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Task</a:t>
            </a:r>
          </a:p>
        </p:txBody>
      </p:sp>
      <p:sp>
        <p:nvSpPr>
          <p:cNvPr id="32" name="a1wd360_td31"/>
          <p:cNvSpPr/>
          <p:nvPr/>
        </p:nvSpPr>
        <p:spPr>
          <a:xfrm>
            <a:off x="914400" y="2322576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360_tdt32"/>
          <p:cNvSpPr txBox="1"/>
          <p:nvPr/>
        </p:nvSpPr>
        <p:spPr>
          <a:xfrm>
            <a:off x="987552" y="2322576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State loop</a:t>
            </a:r>
          </a:p>
        </p:txBody>
      </p:sp>
      <p:sp>
        <p:nvSpPr>
          <p:cNvPr id="34" name="a1wd450_td33"/>
          <p:cNvSpPr/>
          <p:nvPr/>
        </p:nvSpPr>
        <p:spPr>
          <a:xfrm>
            <a:off x="914400" y="2628900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450_tdt34"/>
          <p:cNvSpPr txBox="1"/>
          <p:nvPr/>
        </p:nvSpPr>
        <p:spPr>
          <a:xfrm>
            <a:off x="987552" y="2628900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Agent</a:t>
            </a:r>
          </a:p>
        </p:txBody>
      </p:sp>
      <p:sp>
        <p:nvSpPr>
          <p:cNvPr id="36" name="a1wd540_td35"/>
          <p:cNvSpPr/>
          <p:nvPr/>
        </p:nvSpPr>
        <p:spPr>
          <a:xfrm>
            <a:off x="914400" y="2935224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540_tdt36"/>
          <p:cNvSpPr txBox="1"/>
          <p:nvPr/>
        </p:nvSpPr>
        <p:spPr>
          <a:xfrm>
            <a:off x="987552" y="2935224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GenServer</a:t>
            </a:r>
          </a:p>
        </p:txBody>
      </p:sp>
      <p:sp>
        <p:nvSpPr>
          <p:cNvPr id="38" name="a1wd630_td37"/>
          <p:cNvSpPr/>
          <p:nvPr/>
        </p:nvSpPr>
        <p:spPr>
          <a:xfrm>
            <a:off x="914400" y="3241548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630_tdt38"/>
          <p:cNvSpPr txBox="1"/>
          <p:nvPr/>
        </p:nvSpPr>
        <p:spPr>
          <a:xfrm>
            <a:off x="987552" y="3241548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Supervisor</a:t>
            </a:r>
          </a:p>
        </p:txBody>
      </p:sp>
      <p:sp>
        <p:nvSpPr>
          <p:cNvPr id="40" name="a1wd720_td39"/>
          <p:cNvSpPr/>
          <p:nvPr/>
        </p:nvSpPr>
        <p:spPr>
          <a:xfrm>
            <a:off x="914400" y="3547872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720_tdt40"/>
          <p:cNvSpPr txBox="1"/>
          <p:nvPr/>
        </p:nvSpPr>
        <p:spPr>
          <a:xfrm>
            <a:off x="987552" y="3547872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Application</a:t>
            </a:r>
          </a:p>
        </p:txBody>
      </p:sp>
      <p:sp>
        <p:nvSpPr>
          <p:cNvPr id="42" name="a1wd810_td41"/>
          <p:cNvSpPr/>
          <p:nvPr/>
        </p:nvSpPr>
        <p:spPr>
          <a:xfrm>
            <a:off x="914400" y="3854196"/>
            <a:ext cx="19202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810_tdt42"/>
          <p:cNvSpPr txBox="1"/>
          <p:nvPr/>
        </p:nvSpPr>
        <p:spPr>
          <a:xfrm>
            <a:off x="987552" y="3854196"/>
            <a:ext cx="18105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ourier New"/>
              </a:rPr>
              <a:t>DynamicSupervisor</a:t>
            </a:r>
          </a:p>
        </p:txBody>
      </p:sp>
      <p:sp>
        <p:nvSpPr>
          <p:cNvPr id="44" name="a1f_th43"/>
          <p:cNvSpPr/>
          <p:nvPr/>
        </p:nvSpPr>
        <p:spPr>
          <a:xfrm>
            <a:off x="2834640" y="1097280"/>
            <a:ext cx="416052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f_tht44"/>
          <p:cNvSpPr txBox="1"/>
          <p:nvPr/>
        </p:nvSpPr>
        <p:spPr>
          <a:xfrm>
            <a:off x="2907792" y="1097280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The question it answers</a:t>
            </a:r>
          </a:p>
        </p:txBody>
      </p:sp>
      <p:sp>
        <p:nvSpPr>
          <p:cNvPr id="46" name="a1wd90_td45"/>
          <p:cNvSpPr/>
          <p:nvPr/>
        </p:nvSpPr>
        <p:spPr>
          <a:xfrm>
            <a:off x="2834640" y="1403604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90_tdt46"/>
          <p:cNvSpPr txBox="1"/>
          <p:nvPr/>
        </p:nvSpPr>
        <p:spPr>
          <a:xfrm>
            <a:off x="2907792" y="1403604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I start a process — and tie it to mine?</a:t>
            </a:r>
          </a:p>
        </p:txBody>
      </p:sp>
      <p:sp>
        <p:nvSpPr>
          <p:cNvPr id="48" name="a1wd180_td47"/>
          <p:cNvSpPr/>
          <p:nvPr/>
        </p:nvSpPr>
        <p:spPr>
          <a:xfrm>
            <a:off x="2834640" y="1709928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180_tdt48"/>
          <p:cNvSpPr txBox="1"/>
          <p:nvPr/>
        </p:nvSpPr>
        <p:spPr>
          <a:xfrm>
            <a:off x="2907792" y="1709928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processes talk without sharing memory?</a:t>
            </a:r>
          </a:p>
        </p:txBody>
      </p:sp>
      <p:sp>
        <p:nvSpPr>
          <p:cNvPr id="50" name="a1wd270_td49"/>
          <p:cNvSpPr/>
          <p:nvPr/>
        </p:nvSpPr>
        <p:spPr>
          <a:xfrm>
            <a:off x="2834640" y="2016252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270_tdt50"/>
          <p:cNvSpPr txBox="1"/>
          <p:nvPr/>
        </p:nvSpPr>
        <p:spPr>
          <a:xfrm>
            <a:off x="2907792" y="2016252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I run one-off work and get the answer back?</a:t>
            </a:r>
          </a:p>
        </p:txBody>
      </p:sp>
      <p:sp>
        <p:nvSpPr>
          <p:cNvPr id="52" name="a1wd360_td51"/>
          <p:cNvSpPr/>
          <p:nvPr/>
        </p:nvSpPr>
        <p:spPr>
          <a:xfrm>
            <a:off x="2834640" y="2322576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360_tdt52"/>
          <p:cNvSpPr txBox="1"/>
          <p:nvPr/>
        </p:nvSpPr>
        <p:spPr>
          <a:xfrm>
            <a:off x="2907792" y="2322576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Where does a process keep its state?</a:t>
            </a:r>
          </a:p>
        </p:txBody>
      </p:sp>
      <p:sp>
        <p:nvSpPr>
          <p:cNvPr id="54" name="a1wd450_td53"/>
          <p:cNvSpPr/>
          <p:nvPr/>
        </p:nvSpPr>
        <p:spPr>
          <a:xfrm>
            <a:off x="2834640" y="2628900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1wd450_tdt54"/>
          <p:cNvSpPr txBox="1"/>
          <p:nvPr/>
        </p:nvSpPr>
        <p:spPr>
          <a:xfrm>
            <a:off x="2907792" y="2628900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What is the least code that holds state?</a:t>
            </a:r>
          </a:p>
        </p:txBody>
      </p:sp>
      <p:sp>
        <p:nvSpPr>
          <p:cNvPr id="56" name="a1wd540_td55"/>
          <p:cNvSpPr/>
          <p:nvPr/>
        </p:nvSpPr>
        <p:spPr>
          <a:xfrm>
            <a:off x="2834640" y="2935224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a1wd540_tdt56"/>
          <p:cNvSpPr txBox="1"/>
          <p:nvPr/>
        </p:nvSpPr>
        <p:spPr>
          <a:xfrm>
            <a:off x="2907792" y="2935224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I serve calls, casts and stray messages?</a:t>
            </a:r>
          </a:p>
        </p:txBody>
      </p:sp>
      <p:sp>
        <p:nvSpPr>
          <p:cNvPr id="58" name="a1wd630_td57"/>
          <p:cNvSpPr/>
          <p:nvPr/>
        </p:nvSpPr>
        <p:spPr>
          <a:xfrm>
            <a:off x="2834640" y="3241548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a1wd630_tdt58"/>
          <p:cNvSpPr txBox="1"/>
          <p:nvPr/>
        </p:nvSpPr>
        <p:spPr>
          <a:xfrm>
            <a:off x="2907792" y="3241548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Who restarts a process when it crashes?</a:t>
            </a:r>
          </a:p>
        </p:txBody>
      </p:sp>
      <p:sp>
        <p:nvSpPr>
          <p:cNvPr id="60" name="a1wd720_td59"/>
          <p:cNvSpPr/>
          <p:nvPr/>
        </p:nvSpPr>
        <p:spPr>
          <a:xfrm>
            <a:off x="2834640" y="3547872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1wd720_tdt60"/>
          <p:cNvSpPr txBox="1"/>
          <p:nvPr/>
        </p:nvSpPr>
        <p:spPr>
          <a:xfrm>
            <a:off x="2907792" y="3547872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What starts the whole tree when the app boots?</a:t>
            </a:r>
          </a:p>
        </p:txBody>
      </p:sp>
      <p:sp>
        <p:nvSpPr>
          <p:cNvPr id="62" name="a1wd810_td61"/>
          <p:cNvSpPr/>
          <p:nvPr/>
        </p:nvSpPr>
        <p:spPr>
          <a:xfrm>
            <a:off x="2834640" y="3854196"/>
            <a:ext cx="416052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a1wd810_tdt62"/>
          <p:cNvSpPr txBox="1"/>
          <p:nvPr/>
        </p:nvSpPr>
        <p:spPr>
          <a:xfrm>
            <a:off x="2907792" y="3854196"/>
            <a:ext cx="4050791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How do I add children while the app runs?</a:t>
            </a:r>
          </a:p>
        </p:txBody>
      </p:sp>
      <p:sp>
        <p:nvSpPr>
          <p:cNvPr id="64" name="a1f_th63"/>
          <p:cNvSpPr/>
          <p:nvPr/>
        </p:nvSpPr>
        <p:spPr>
          <a:xfrm>
            <a:off x="6995160" y="1097280"/>
            <a:ext cx="1691640" cy="30632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a1f_tht64"/>
          <p:cNvSpPr txBox="1"/>
          <p:nvPr/>
        </p:nvSpPr>
        <p:spPr>
          <a:xfrm>
            <a:off x="7068312" y="1097280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66" name="a1wd90_td65"/>
          <p:cNvSpPr/>
          <p:nvPr/>
        </p:nvSpPr>
        <p:spPr>
          <a:xfrm>
            <a:off x="6995160" y="1403604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a1wd90_tdt66"/>
          <p:cNvSpPr txBox="1"/>
          <p:nvPr/>
        </p:nvSpPr>
        <p:spPr>
          <a:xfrm>
            <a:off x="7068312" y="1403604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Processes</a:t>
            </a:r>
          </a:p>
        </p:txBody>
      </p:sp>
      <p:sp>
        <p:nvSpPr>
          <p:cNvPr id="68" name="a1wd180_td67"/>
          <p:cNvSpPr/>
          <p:nvPr/>
        </p:nvSpPr>
        <p:spPr>
          <a:xfrm>
            <a:off x="6995160" y="1709928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a1wd180_tdt68"/>
          <p:cNvSpPr txBox="1"/>
          <p:nvPr/>
        </p:nvSpPr>
        <p:spPr>
          <a:xfrm>
            <a:off x="7068312" y="1709928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Processes</a:t>
            </a:r>
          </a:p>
        </p:txBody>
      </p:sp>
      <p:sp>
        <p:nvSpPr>
          <p:cNvPr id="70" name="a1wd270_td69"/>
          <p:cNvSpPr/>
          <p:nvPr/>
        </p:nvSpPr>
        <p:spPr>
          <a:xfrm>
            <a:off x="6995160" y="2016252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a1wd270_tdt70"/>
          <p:cNvSpPr txBox="1"/>
          <p:nvPr/>
        </p:nvSpPr>
        <p:spPr>
          <a:xfrm>
            <a:off x="7068312" y="2016252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Task</a:t>
            </a:r>
          </a:p>
        </p:txBody>
      </p:sp>
      <p:sp>
        <p:nvSpPr>
          <p:cNvPr id="72" name="a1wd360_td71"/>
          <p:cNvSpPr/>
          <p:nvPr/>
        </p:nvSpPr>
        <p:spPr>
          <a:xfrm>
            <a:off x="6995160" y="2322576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a1wd360_tdt72"/>
          <p:cNvSpPr txBox="1"/>
          <p:nvPr/>
        </p:nvSpPr>
        <p:spPr>
          <a:xfrm>
            <a:off x="7068312" y="2322576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State</a:t>
            </a:r>
          </a:p>
        </p:txBody>
      </p:sp>
      <p:sp>
        <p:nvSpPr>
          <p:cNvPr id="74" name="a1wd450_td73"/>
          <p:cNvSpPr/>
          <p:nvPr/>
        </p:nvSpPr>
        <p:spPr>
          <a:xfrm>
            <a:off x="6995160" y="2628900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a1wd450_tdt74"/>
          <p:cNvSpPr txBox="1"/>
          <p:nvPr/>
        </p:nvSpPr>
        <p:spPr>
          <a:xfrm>
            <a:off x="7068312" y="2628900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State</a:t>
            </a:r>
          </a:p>
        </p:txBody>
      </p:sp>
      <p:sp>
        <p:nvSpPr>
          <p:cNvPr id="76" name="a1wd540_td75"/>
          <p:cNvSpPr/>
          <p:nvPr/>
        </p:nvSpPr>
        <p:spPr>
          <a:xfrm>
            <a:off x="6995160" y="2935224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a1wd540_tdt76"/>
          <p:cNvSpPr txBox="1"/>
          <p:nvPr/>
        </p:nvSpPr>
        <p:spPr>
          <a:xfrm>
            <a:off x="7068312" y="2935224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State</a:t>
            </a:r>
          </a:p>
        </p:txBody>
      </p:sp>
      <p:sp>
        <p:nvSpPr>
          <p:cNvPr id="78" name="a1wd630_td77"/>
          <p:cNvSpPr/>
          <p:nvPr/>
        </p:nvSpPr>
        <p:spPr>
          <a:xfrm>
            <a:off x="6995160" y="3241548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a1wd630_tdt78"/>
          <p:cNvSpPr txBox="1"/>
          <p:nvPr/>
        </p:nvSpPr>
        <p:spPr>
          <a:xfrm>
            <a:off x="7068312" y="3241548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Supervision</a:t>
            </a:r>
          </a:p>
        </p:txBody>
      </p:sp>
      <p:sp>
        <p:nvSpPr>
          <p:cNvPr id="80" name="a1wd720_td79"/>
          <p:cNvSpPr/>
          <p:nvPr/>
        </p:nvSpPr>
        <p:spPr>
          <a:xfrm>
            <a:off x="6995160" y="3547872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a1wd720_tdt80"/>
          <p:cNvSpPr txBox="1"/>
          <p:nvPr/>
        </p:nvSpPr>
        <p:spPr>
          <a:xfrm>
            <a:off x="7068312" y="3547872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Supervision</a:t>
            </a:r>
          </a:p>
        </p:txBody>
      </p:sp>
      <p:sp>
        <p:nvSpPr>
          <p:cNvPr id="82" name="a1wd810_td81"/>
          <p:cNvSpPr/>
          <p:nvPr/>
        </p:nvSpPr>
        <p:spPr>
          <a:xfrm>
            <a:off x="6995160" y="3854196"/>
            <a:ext cx="169164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a1wd810_tdt82"/>
          <p:cNvSpPr txBox="1"/>
          <p:nvPr/>
        </p:nvSpPr>
        <p:spPr>
          <a:xfrm>
            <a:off x="7068312" y="3854196"/>
            <a:ext cx="1581912" cy="306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Supervision</a:t>
            </a:r>
          </a:p>
        </p:txBody>
      </p:sp>
      <p:sp>
        <p:nvSpPr>
          <p:cNvPr id="84" name="ft8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85" name="ft8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THE BIG PICTURE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Nine rungs, each built on the one below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Everything in Elixir runs in a process. OTP adds state, supervision and boot on top.</a:t>
            </a:r>
          </a:p>
        </p:txBody>
      </p:sp>
      <p:sp>
        <p:nvSpPr>
          <p:cNvPr id="5" name="a1u_stg4"/>
          <p:cNvSpPr/>
          <p:nvPr/>
        </p:nvSpPr>
        <p:spPr>
          <a:xfrm>
            <a:off x="457200" y="3840480"/>
            <a:ext cx="859536" cy="731519"/>
          </a:xfrm>
          <a:prstGeom prst="roundRect">
            <a:avLst>
              <a:gd name="adj" fmla="val 75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stgt5"/>
          <p:cNvSpPr txBox="1"/>
          <p:nvPr/>
        </p:nvSpPr>
        <p:spPr>
          <a:xfrm>
            <a:off x="475488" y="391363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spawn</a:t>
            </a:r>
          </a:p>
        </p:txBody>
      </p:sp>
      <p:sp>
        <p:nvSpPr>
          <p:cNvPr id="7" name="a1ud110_stg6"/>
          <p:cNvSpPr/>
          <p:nvPr/>
        </p:nvSpPr>
        <p:spPr>
          <a:xfrm>
            <a:off x="1371600" y="3566160"/>
            <a:ext cx="859536" cy="1005839"/>
          </a:xfrm>
          <a:prstGeom prst="roundRect">
            <a:avLst>
              <a:gd name="adj" fmla="val 6382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a1ud110_stgt7"/>
          <p:cNvSpPr txBox="1"/>
          <p:nvPr/>
        </p:nvSpPr>
        <p:spPr>
          <a:xfrm>
            <a:off x="1389888" y="363931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send /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receive</a:t>
            </a:r>
          </a:p>
        </p:txBody>
      </p:sp>
      <p:sp>
        <p:nvSpPr>
          <p:cNvPr id="9" name="a1ud220_stg8"/>
          <p:cNvSpPr/>
          <p:nvPr/>
        </p:nvSpPr>
        <p:spPr>
          <a:xfrm>
            <a:off x="2286000" y="3291840"/>
            <a:ext cx="859536" cy="1280160"/>
          </a:xfrm>
          <a:prstGeom prst="roundRect">
            <a:avLst>
              <a:gd name="adj" fmla="val 6382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220_stgt9"/>
          <p:cNvSpPr txBox="1"/>
          <p:nvPr/>
        </p:nvSpPr>
        <p:spPr>
          <a:xfrm>
            <a:off x="2304288" y="336499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Task</a:t>
            </a:r>
          </a:p>
        </p:txBody>
      </p:sp>
      <p:sp>
        <p:nvSpPr>
          <p:cNvPr id="11" name="a1ud330_stg10"/>
          <p:cNvSpPr/>
          <p:nvPr/>
        </p:nvSpPr>
        <p:spPr>
          <a:xfrm>
            <a:off x="3200400" y="3017520"/>
            <a:ext cx="859536" cy="1554479"/>
          </a:xfrm>
          <a:prstGeom prst="roundRect">
            <a:avLst>
              <a:gd name="adj" fmla="val 6382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330_stgt11"/>
          <p:cNvSpPr txBox="1"/>
          <p:nvPr/>
        </p:nvSpPr>
        <p:spPr>
          <a:xfrm>
            <a:off x="3218688" y="309067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state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loop</a:t>
            </a:r>
          </a:p>
        </p:txBody>
      </p:sp>
      <p:sp>
        <p:nvSpPr>
          <p:cNvPr id="13" name="a1ud440_stg12"/>
          <p:cNvSpPr/>
          <p:nvPr/>
        </p:nvSpPr>
        <p:spPr>
          <a:xfrm>
            <a:off x="4114800" y="2743200"/>
            <a:ext cx="859536" cy="1828800"/>
          </a:xfrm>
          <a:prstGeom prst="roundRect">
            <a:avLst>
              <a:gd name="adj" fmla="val 6382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440_stgt13"/>
          <p:cNvSpPr txBox="1"/>
          <p:nvPr/>
        </p:nvSpPr>
        <p:spPr>
          <a:xfrm>
            <a:off x="4133087" y="281635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Agent</a:t>
            </a:r>
          </a:p>
        </p:txBody>
      </p:sp>
      <p:sp>
        <p:nvSpPr>
          <p:cNvPr id="15" name="a1ud550_stg14"/>
          <p:cNvSpPr/>
          <p:nvPr/>
        </p:nvSpPr>
        <p:spPr>
          <a:xfrm>
            <a:off x="5029200" y="2468880"/>
            <a:ext cx="859536" cy="2103120"/>
          </a:xfrm>
          <a:prstGeom prst="roundRect">
            <a:avLst>
              <a:gd name="adj" fmla="val 6382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550_stgt15"/>
          <p:cNvSpPr txBox="1"/>
          <p:nvPr/>
        </p:nvSpPr>
        <p:spPr>
          <a:xfrm>
            <a:off x="5047488" y="254203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Gen-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Server</a:t>
            </a:r>
          </a:p>
        </p:txBody>
      </p:sp>
      <p:sp>
        <p:nvSpPr>
          <p:cNvPr id="17" name="a1ud660_stg16"/>
          <p:cNvSpPr/>
          <p:nvPr/>
        </p:nvSpPr>
        <p:spPr>
          <a:xfrm>
            <a:off x="5943600" y="2194560"/>
            <a:ext cx="859536" cy="2377439"/>
          </a:xfrm>
          <a:prstGeom prst="roundRect">
            <a:avLst>
              <a:gd name="adj" fmla="val 6382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ud660_stgt17"/>
          <p:cNvSpPr txBox="1"/>
          <p:nvPr/>
        </p:nvSpPr>
        <p:spPr>
          <a:xfrm>
            <a:off x="5961888" y="226771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Super-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visor</a:t>
            </a:r>
          </a:p>
        </p:txBody>
      </p:sp>
      <p:sp>
        <p:nvSpPr>
          <p:cNvPr id="19" name="a1ud770_stg18"/>
          <p:cNvSpPr/>
          <p:nvPr/>
        </p:nvSpPr>
        <p:spPr>
          <a:xfrm>
            <a:off x="6858000" y="1920240"/>
            <a:ext cx="859536" cy="2651760"/>
          </a:xfrm>
          <a:prstGeom prst="roundRect">
            <a:avLst>
              <a:gd name="adj" fmla="val 6382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ud770_stgt19"/>
          <p:cNvSpPr txBox="1"/>
          <p:nvPr/>
        </p:nvSpPr>
        <p:spPr>
          <a:xfrm>
            <a:off x="6876288" y="199339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Appli-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cation</a:t>
            </a:r>
          </a:p>
        </p:txBody>
      </p:sp>
      <p:sp>
        <p:nvSpPr>
          <p:cNvPr id="21" name="a1ud880_stg20"/>
          <p:cNvSpPr/>
          <p:nvPr/>
        </p:nvSpPr>
        <p:spPr>
          <a:xfrm>
            <a:off x="7772400" y="1645920"/>
            <a:ext cx="859536" cy="2926079"/>
          </a:xfrm>
          <a:prstGeom prst="roundRect">
            <a:avLst>
              <a:gd name="adj" fmla="val 6382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1ud880_stgt21"/>
          <p:cNvSpPr txBox="1"/>
          <p:nvPr/>
        </p:nvSpPr>
        <p:spPr>
          <a:xfrm>
            <a:off x="7790688" y="1719072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Dynamic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Super-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visor</a:t>
            </a:r>
          </a:p>
        </p:txBody>
      </p:sp>
      <p:sp>
        <p:nvSpPr>
          <p:cNvPr id="23" name="a2u_pill22"/>
          <p:cNvSpPr/>
          <p:nvPr/>
        </p:nvSpPr>
        <p:spPr>
          <a:xfrm>
            <a:off x="457200" y="1380744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Processes</a:t>
            </a:r>
          </a:p>
        </p:txBody>
      </p:sp>
      <p:sp>
        <p:nvSpPr>
          <p:cNvPr id="24" name="a2ud100_pill23"/>
          <p:cNvSpPr/>
          <p:nvPr/>
        </p:nvSpPr>
        <p:spPr>
          <a:xfrm>
            <a:off x="1627632" y="1380744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25" name="a2ud200_pill24"/>
          <p:cNvSpPr/>
          <p:nvPr/>
        </p:nvSpPr>
        <p:spPr>
          <a:xfrm>
            <a:off x="2798064" y="1380744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26" name="a2ud300_pill25"/>
          <p:cNvSpPr/>
          <p:nvPr/>
        </p:nvSpPr>
        <p:spPr>
          <a:xfrm>
            <a:off x="3968496" y="1380744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A90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Supervision</a:t>
            </a:r>
          </a:p>
        </p:txBody>
      </p:sp>
      <p:sp>
        <p:nvSpPr>
          <p:cNvPr id="27" name="a2fd400_cap26"/>
          <p:cNvSpPr txBox="1"/>
          <p:nvPr/>
        </p:nvSpPr>
        <p:spPr>
          <a:xfrm>
            <a:off x="457200" y="1792224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Read left to right: raw processes → one-off work → state → supervision.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Processes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Start a process, link or monitor it,
and talk to it with messages.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spawn/1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spawn_link · spawn_monitor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send · receive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PROCESSES · SPAWN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spawn: the most basic way to create a process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Give it a function. It returns a PID and runs the function in a new, isolated process.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35024"/>
            <a:ext cx="4343400" cy="2432304"/>
          </a:xfrm>
          <a:prstGeom prst="roundRect">
            <a:avLst>
              <a:gd name="adj" fmla="val 30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9888"/>
            <a:ext cx="401421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lib/app/process.ex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7393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defmodule App.Process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5681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start_process do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3969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pid =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2257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  spawn(fn -&gt;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0545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    IO.puts("Hello from process #{inspect(self())}")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68833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  end)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87121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05409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IO.inspect(pid)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23697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6" name="a1wd630_code15"/>
          <p:cNvSpPr txBox="1"/>
          <p:nvPr/>
        </p:nvSpPr>
        <p:spPr>
          <a:xfrm>
            <a:off x="621792" y="3419856"/>
            <a:ext cx="4014215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7" name="a2u_dot16"/>
          <p:cNvSpPr/>
          <p:nvPr/>
        </p:nvSpPr>
        <p:spPr>
          <a:xfrm>
            <a:off x="5029200" y="146304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b17"/>
          <p:cNvSpPr txBox="1"/>
          <p:nvPr/>
        </p:nvSpPr>
        <p:spPr>
          <a:xfrm>
            <a:off x="5248656" y="1362456"/>
            <a:ext cx="3438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Extremely lightweight  </a:t>
            </a:r>
            <a:r>
              <a:rPr sz="1150" b="0">
                <a:solidFill>
                  <a:srgbClr val="334155"/>
                </a:solidFill>
                <a:latin typeface="Calibri"/>
              </a:rPr>
              <a:t>thousands or millions can run</a:t>
            </a:r>
          </a:p>
        </p:txBody>
      </p:sp>
      <p:sp>
        <p:nvSpPr>
          <p:cNvPr id="19" name="a2ud160_dot18"/>
          <p:cNvSpPr/>
          <p:nvPr/>
        </p:nvSpPr>
        <p:spPr>
          <a:xfrm>
            <a:off x="5029200" y="188366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d160_b19"/>
          <p:cNvSpPr txBox="1"/>
          <p:nvPr/>
        </p:nvSpPr>
        <p:spPr>
          <a:xfrm>
            <a:off x="5248656" y="1783080"/>
            <a:ext cx="3438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Isolated memory  </a:t>
            </a:r>
            <a:r>
              <a:rPr sz="1150" b="0">
                <a:solidFill>
                  <a:srgbClr val="334155"/>
                </a:solidFill>
                <a:latin typeface="Calibri"/>
              </a:rPr>
              <a:t>no shared state</a:t>
            </a:r>
          </a:p>
        </p:txBody>
      </p:sp>
      <p:sp>
        <p:nvSpPr>
          <p:cNvPr id="21" name="a2ud320_dot20"/>
          <p:cNvSpPr/>
          <p:nvPr/>
        </p:nvSpPr>
        <p:spPr>
          <a:xfrm>
            <a:off x="5029200" y="230428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ud320_b21"/>
          <p:cNvSpPr txBox="1"/>
          <p:nvPr/>
        </p:nvSpPr>
        <p:spPr>
          <a:xfrm>
            <a:off x="5248656" y="2203704"/>
            <a:ext cx="3438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Returns a PID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process identifier</a:t>
            </a:r>
          </a:p>
        </p:txBody>
      </p:sp>
      <p:sp>
        <p:nvSpPr>
          <p:cNvPr id="23" name="a2ud480_dot22"/>
          <p:cNvSpPr/>
          <p:nvPr/>
        </p:nvSpPr>
        <p:spPr>
          <a:xfrm>
            <a:off x="5029200" y="272491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ud480_b23"/>
          <p:cNvSpPr txBox="1"/>
          <p:nvPr/>
        </p:nvSpPr>
        <p:spPr>
          <a:xfrm>
            <a:off x="5248656" y="2624328"/>
            <a:ext cx="3438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Dies when its function finishes  </a:t>
            </a:r>
            <a:r>
              <a:rPr sz="1150" b="0">
                <a:solidFill>
                  <a:srgbClr val="334155"/>
                </a:solidFill>
                <a:latin typeface="Calibri"/>
              </a:rPr>
              <a:t>or when it crashes</a:t>
            </a:r>
          </a:p>
        </p:txBody>
      </p:sp>
      <p:sp>
        <p:nvSpPr>
          <p:cNvPr id="25" name="a3f_codebg24"/>
          <p:cNvSpPr/>
          <p:nvPr/>
        </p:nvSpPr>
        <p:spPr>
          <a:xfrm>
            <a:off x="5029200" y="3163824"/>
            <a:ext cx="3657600" cy="987551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f_codeh25"/>
          <p:cNvSpPr txBox="1"/>
          <p:nvPr/>
        </p:nvSpPr>
        <p:spPr>
          <a:xfrm>
            <a:off x="5193792" y="3218688"/>
            <a:ext cx="33284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App.Process.start_process()</a:t>
            </a:r>
          </a:p>
        </p:txBody>
      </p:sp>
      <p:sp>
        <p:nvSpPr>
          <p:cNvPr id="27" name="a3w_code26"/>
          <p:cNvSpPr txBox="1"/>
          <p:nvPr/>
        </p:nvSpPr>
        <p:spPr>
          <a:xfrm>
            <a:off x="5193792" y="3602736"/>
            <a:ext cx="3328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#PID&lt;0.97.0&gt;</a:t>
            </a:r>
          </a:p>
        </p:txBody>
      </p:sp>
      <p:sp>
        <p:nvSpPr>
          <p:cNvPr id="28" name="a3wd120_code27"/>
          <p:cNvSpPr txBox="1"/>
          <p:nvPr/>
        </p:nvSpPr>
        <p:spPr>
          <a:xfrm>
            <a:off x="5193792" y="3794760"/>
            <a:ext cx="332841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Hello from process #PID&lt;0.97.0&gt;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PROCESSES · RELATIONSHIPS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spawn_link and spawn_monitor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Start a process and, in the same atomic step, set up a relationship with the caller.</a:t>
            </a:r>
          </a:p>
        </p:txBody>
      </p:sp>
      <p:sp>
        <p:nvSpPr>
          <p:cNvPr id="5" name="a1u_card4"/>
          <p:cNvSpPr/>
          <p:nvPr/>
        </p:nvSpPr>
        <p:spPr>
          <a:xfrm>
            <a:off x="457200" y="1335024"/>
            <a:ext cx="4005072" cy="3246120"/>
          </a:xfrm>
          <a:prstGeom prst="roundRect">
            <a:avLst>
              <a:gd name="adj" fmla="val 281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acc5"/>
          <p:cNvSpPr/>
          <p:nvPr/>
        </p:nvSpPr>
        <p:spPr>
          <a:xfrm>
            <a:off x="457200" y="1335024"/>
            <a:ext cx="4005072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ct6"/>
          <p:cNvSpPr txBox="1"/>
          <p:nvPr/>
        </p:nvSpPr>
        <p:spPr>
          <a:xfrm>
            <a:off x="658368" y="1490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ourier New"/>
              </a:rPr>
              <a:t>spawn_link/1  (and /3)</a:t>
            </a:r>
          </a:p>
        </p:txBody>
      </p:sp>
      <p:sp>
        <p:nvSpPr>
          <p:cNvPr id="8" name="a1ud90_cs7"/>
          <p:cNvSpPr txBox="1"/>
          <p:nvPr/>
        </p:nvSpPr>
        <p:spPr>
          <a:xfrm>
            <a:off x="658368" y="1801368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6B3FA0"/>
                </a:solidFill>
                <a:latin typeface="Courier New"/>
              </a:rPr>
              <a:t>returns  pid</a:t>
            </a:r>
          </a:p>
        </p:txBody>
      </p:sp>
      <p:sp>
        <p:nvSpPr>
          <p:cNvPr id="9" name="a1ud150_dot8"/>
          <p:cNvSpPr/>
          <p:nvPr/>
        </p:nvSpPr>
        <p:spPr>
          <a:xfrm>
            <a:off x="658368" y="228600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150_b9"/>
          <p:cNvSpPr txBox="1"/>
          <p:nvPr/>
        </p:nvSpPr>
        <p:spPr>
          <a:xfrm>
            <a:off x="877824" y="2185416"/>
            <a:ext cx="3392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Links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new process to the caller</a:t>
            </a:r>
          </a:p>
        </p:txBody>
      </p:sp>
      <p:sp>
        <p:nvSpPr>
          <p:cNvPr id="11" name="a1ud260_dot10"/>
          <p:cNvSpPr/>
          <p:nvPr/>
        </p:nvSpPr>
        <p:spPr>
          <a:xfrm>
            <a:off x="658368" y="274320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260_b11"/>
          <p:cNvSpPr txBox="1"/>
          <p:nvPr/>
        </p:nvSpPr>
        <p:spPr>
          <a:xfrm>
            <a:off x="877824" y="2642616"/>
            <a:ext cx="3392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Bidirectional  </a:t>
            </a:r>
            <a:r>
              <a:rPr sz="1050" b="0">
                <a:solidFill>
                  <a:srgbClr val="334155"/>
                </a:solidFill>
                <a:latin typeface="Calibri"/>
              </a:rPr>
              <a:t>a symmetric link</a:t>
            </a:r>
          </a:p>
        </p:txBody>
      </p:sp>
      <p:sp>
        <p:nvSpPr>
          <p:cNvPr id="13" name="a1ud370_dot12"/>
          <p:cNvSpPr/>
          <p:nvPr/>
        </p:nvSpPr>
        <p:spPr>
          <a:xfrm>
            <a:off x="658368" y="320040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1ud370_b13"/>
          <p:cNvSpPr txBox="1"/>
          <p:nvPr/>
        </p:nvSpPr>
        <p:spPr>
          <a:xfrm>
            <a:off x="877824" y="3099816"/>
            <a:ext cx="3392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On exit  </a:t>
            </a:r>
            <a:r>
              <a:rPr sz="1050" b="0">
                <a:solidFill>
                  <a:srgbClr val="334155"/>
                </a:solidFill>
                <a:latin typeface="Calibri"/>
              </a:rPr>
              <a:t>(other than :normal) an exit signal goes to the other side</a:t>
            </a:r>
          </a:p>
        </p:txBody>
      </p:sp>
      <p:sp>
        <p:nvSpPr>
          <p:cNvPr id="15" name="a1ud480_dot14"/>
          <p:cNvSpPr/>
          <p:nvPr/>
        </p:nvSpPr>
        <p:spPr>
          <a:xfrm>
            <a:off x="658368" y="365760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480_b15"/>
          <p:cNvSpPr txBox="1"/>
          <p:nvPr/>
        </p:nvSpPr>
        <p:spPr>
          <a:xfrm>
            <a:off x="877824" y="3557016"/>
            <a:ext cx="3392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Receiver dies too  </a:t>
            </a:r>
            <a:r>
              <a:rPr sz="1050" b="0">
                <a:solidFill>
                  <a:srgbClr val="334155"/>
                </a:solidFill>
                <a:latin typeface="Calibri"/>
              </a:rPr>
              <a:t>unless it traps exits: Process.flag(:trap_exit, true)</a:t>
            </a:r>
          </a:p>
        </p:txBody>
      </p:sp>
      <p:sp>
        <p:nvSpPr>
          <p:cNvPr id="17" name="a1ud590_dot16"/>
          <p:cNvSpPr/>
          <p:nvPr/>
        </p:nvSpPr>
        <p:spPr>
          <a:xfrm>
            <a:off x="658368" y="4114800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1ud590_b17"/>
          <p:cNvSpPr txBox="1"/>
          <p:nvPr/>
        </p:nvSpPr>
        <p:spPr>
          <a:xfrm>
            <a:off x="877824" y="4014216"/>
            <a:ext cx="3392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“Suicide pact”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classic failure-propagation mechanism</a:t>
            </a:r>
          </a:p>
        </p:txBody>
      </p:sp>
      <p:sp>
        <p:nvSpPr>
          <p:cNvPr id="19" name="a2u_card18"/>
          <p:cNvSpPr/>
          <p:nvPr/>
        </p:nvSpPr>
        <p:spPr>
          <a:xfrm>
            <a:off x="4681728" y="1335024"/>
            <a:ext cx="4005072" cy="3246120"/>
          </a:xfrm>
          <a:prstGeom prst="roundRect">
            <a:avLst>
              <a:gd name="adj" fmla="val 281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acc19"/>
          <p:cNvSpPr/>
          <p:nvPr/>
        </p:nvSpPr>
        <p:spPr>
          <a:xfrm>
            <a:off x="4681728" y="1335024"/>
            <a:ext cx="4005072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60_ct20"/>
          <p:cNvSpPr txBox="1"/>
          <p:nvPr/>
        </p:nvSpPr>
        <p:spPr>
          <a:xfrm>
            <a:off x="4882896" y="1490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ourier New"/>
              </a:rPr>
              <a:t>spawn_monitor/1  (and /3)</a:t>
            </a:r>
          </a:p>
        </p:txBody>
      </p:sp>
      <p:sp>
        <p:nvSpPr>
          <p:cNvPr id="22" name="a2ud90_cs21"/>
          <p:cNvSpPr txBox="1"/>
          <p:nvPr/>
        </p:nvSpPr>
        <p:spPr>
          <a:xfrm>
            <a:off x="4882896" y="1801368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returns  {pid, monitor_ref}</a:t>
            </a:r>
          </a:p>
        </p:txBody>
      </p:sp>
      <p:sp>
        <p:nvSpPr>
          <p:cNvPr id="23" name="a2ud150_dot22"/>
          <p:cNvSpPr/>
          <p:nvPr/>
        </p:nvSpPr>
        <p:spPr>
          <a:xfrm>
            <a:off x="4882896" y="2286000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ud150_b23"/>
          <p:cNvSpPr txBox="1"/>
          <p:nvPr/>
        </p:nvSpPr>
        <p:spPr>
          <a:xfrm>
            <a:off x="5102352" y="2185416"/>
            <a:ext cx="3392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Monitors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new process</a:t>
            </a:r>
          </a:p>
        </p:txBody>
      </p:sp>
      <p:sp>
        <p:nvSpPr>
          <p:cNvPr id="25" name="a2ud260_dot24"/>
          <p:cNvSpPr/>
          <p:nvPr/>
        </p:nvSpPr>
        <p:spPr>
          <a:xfrm>
            <a:off x="4882896" y="2743200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d260_b25"/>
          <p:cNvSpPr txBox="1"/>
          <p:nvPr/>
        </p:nvSpPr>
        <p:spPr>
          <a:xfrm>
            <a:off x="5102352" y="2642616"/>
            <a:ext cx="3392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Unidirectional  </a:t>
            </a:r>
            <a:r>
              <a:rPr sz="1050" b="0">
                <a:solidFill>
                  <a:srgbClr val="334155"/>
                </a:solidFill>
                <a:latin typeface="Calibri"/>
              </a:rPr>
              <a:t>only the caller watches</a:t>
            </a:r>
          </a:p>
        </p:txBody>
      </p:sp>
      <p:sp>
        <p:nvSpPr>
          <p:cNvPr id="27" name="a2ud370_dot26"/>
          <p:cNvSpPr/>
          <p:nvPr/>
        </p:nvSpPr>
        <p:spPr>
          <a:xfrm>
            <a:off x="4882896" y="3200400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ud370_b27"/>
          <p:cNvSpPr txBox="1"/>
          <p:nvPr/>
        </p:nvSpPr>
        <p:spPr>
          <a:xfrm>
            <a:off x="5102352" y="3099816"/>
            <a:ext cx="3392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On exit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caller gets a normal message: {:DOWN, ref, :process, pid, reason}</a:t>
            </a:r>
          </a:p>
        </p:txBody>
      </p:sp>
      <p:sp>
        <p:nvSpPr>
          <p:cNvPr id="29" name="a2ud480_dot28"/>
          <p:cNvSpPr/>
          <p:nvPr/>
        </p:nvSpPr>
        <p:spPr>
          <a:xfrm>
            <a:off x="4882896" y="3657600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d480_b29"/>
          <p:cNvSpPr txBox="1"/>
          <p:nvPr/>
        </p:nvSpPr>
        <p:spPr>
          <a:xfrm>
            <a:off x="5102352" y="3557016"/>
            <a:ext cx="339242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Caller survives  </a:t>
            </a:r>
            <a:r>
              <a:rPr sz="1050" b="0">
                <a:solidFill>
                  <a:srgbClr val="334155"/>
                </a:solidFill>
                <a:latin typeface="Calibri"/>
              </a:rPr>
              <a:t>it does not exit — it just gets notified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PROCESSES · CHOOSING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Link or monitor?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182880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Aspect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42646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426464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Relationship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75564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755648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Failure behaviour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084832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084832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Return value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414015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414015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Trap exits needed?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274320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274320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Typical use</a:t>
            </a:r>
          </a:p>
        </p:txBody>
      </p:sp>
      <p:sp>
        <p:nvSpPr>
          <p:cNvPr id="16" name="a1f_th15"/>
          <p:cNvSpPr/>
          <p:nvPr/>
        </p:nvSpPr>
        <p:spPr>
          <a:xfrm>
            <a:off x="2286000" y="1097280"/>
            <a:ext cx="301752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_tht16"/>
          <p:cNvSpPr txBox="1"/>
          <p:nvPr/>
        </p:nvSpPr>
        <p:spPr>
          <a:xfrm>
            <a:off x="2359152" y="1097280"/>
            <a:ext cx="29077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spawn_link</a:t>
            </a:r>
          </a:p>
        </p:txBody>
      </p:sp>
      <p:sp>
        <p:nvSpPr>
          <p:cNvPr id="18" name="a1wd110_td17"/>
          <p:cNvSpPr/>
          <p:nvPr/>
        </p:nvSpPr>
        <p:spPr>
          <a:xfrm>
            <a:off x="2286000" y="1426464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10_tdt18"/>
          <p:cNvSpPr txBox="1"/>
          <p:nvPr/>
        </p:nvSpPr>
        <p:spPr>
          <a:xfrm>
            <a:off x="2359152" y="1426464"/>
            <a:ext cx="29077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Bidirectional link</a:t>
            </a:r>
          </a:p>
        </p:txBody>
      </p:sp>
      <p:sp>
        <p:nvSpPr>
          <p:cNvPr id="20" name="a1wd220_td19"/>
          <p:cNvSpPr/>
          <p:nvPr/>
        </p:nvSpPr>
        <p:spPr>
          <a:xfrm>
            <a:off x="2286000" y="1755648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20_tdt20"/>
          <p:cNvSpPr txBox="1"/>
          <p:nvPr/>
        </p:nvSpPr>
        <p:spPr>
          <a:xfrm>
            <a:off x="2359152" y="1755648"/>
            <a:ext cx="29077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Propagates exit (can kill caller)</a:t>
            </a:r>
          </a:p>
        </p:txBody>
      </p:sp>
      <p:sp>
        <p:nvSpPr>
          <p:cNvPr id="22" name="a1wd330_td21"/>
          <p:cNvSpPr/>
          <p:nvPr/>
        </p:nvSpPr>
        <p:spPr>
          <a:xfrm>
            <a:off x="2286000" y="2084832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330_tdt22"/>
          <p:cNvSpPr txBox="1"/>
          <p:nvPr/>
        </p:nvSpPr>
        <p:spPr>
          <a:xfrm>
            <a:off x="2359152" y="2084832"/>
            <a:ext cx="29077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pid</a:t>
            </a:r>
          </a:p>
        </p:txBody>
      </p:sp>
      <p:sp>
        <p:nvSpPr>
          <p:cNvPr id="24" name="a1wd440_td23"/>
          <p:cNvSpPr/>
          <p:nvPr/>
        </p:nvSpPr>
        <p:spPr>
          <a:xfrm>
            <a:off x="2286000" y="2414015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440_tdt24"/>
          <p:cNvSpPr txBox="1"/>
          <p:nvPr/>
        </p:nvSpPr>
        <p:spPr>
          <a:xfrm>
            <a:off x="2359152" y="2414015"/>
            <a:ext cx="29077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Yes, if you want to survive</a:t>
            </a:r>
          </a:p>
        </p:txBody>
      </p:sp>
      <p:sp>
        <p:nvSpPr>
          <p:cNvPr id="26" name="a1wd550_td25"/>
          <p:cNvSpPr/>
          <p:nvPr/>
        </p:nvSpPr>
        <p:spPr>
          <a:xfrm>
            <a:off x="2286000" y="2743200"/>
            <a:ext cx="30175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550_tdt26"/>
          <p:cNvSpPr txBox="1"/>
          <p:nvPr/>
        </p:nvSpPr>
        <p:spPr>
          <a:xfrm>
            <a:off x="2359152" y="2743200"/>
            <a:ext cx="290779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Tightly coupled processes, supervisors</a:t>
            </a:r>
          </a:p>
        </p:txBody>
      </p:sp>
      <p:sp>
        <p:nvSpPr>
          <p:cNvPr id="28" name="a1f_th27"/>
          <p:cNvSpPr/>
          <p:nvPr/>
        </p:nvSpPr>
        <p:spPr>
          <a:xfrm>
            <a:off x="5303520" y="1097280"/>
            <a:ext cx="3383280" cy="329184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5376672" y="1097280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spawn_monitor</a:t>
            </a:r>
          </a:p>
        </p:txBody>
      </p:sp>
      <p:sp>
        <p:nvSpPr>
          <p:cNvPr id="30" name="a1wd110_td29"/>
          <p:cNvSpPr/>
          <p:nvPr/>
        </p:nvSpPr>
        <p:spPr>
          <a:xfrm>
            <a:off x="5303520" y="1426464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10_tdt30"/>
          <p:cNvSpPr txBox="1"/>
          <p:nvPr/>
        </p:nvSpPr>
        <p:spPr>
          <a:xfrm>
            <a:off x="5376672" y="1426464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Unidirectional monitor</a:t>
            </a:r>
          </a:p>
        </p:txBody>
      </p:sp>
      <p:sp>
        <p:nvSpPr>
          <p:cNvPr id="32" name="a1wd220_td31"/>
          <p:cNvSpPr/>
          <p:nvPr/>
        </p:nvSpPr>
        <p:spPr>
          <a:xfrm>
            <a:off x="5303520" y="1755648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20_tdt32"/>
          <p:cNvSpPr txBox="1"/>
          <p:nvPr/>
        </p:nvSpPr>
        <p:spPr>
          <a:xfrm>
            <a:off x="5376672" y="1755648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Sends :DOWN message only</a:t>
            </a:r>
          </a:p>
        </p:txBody>
      </p:sp>
      <p:sp>
        <p:nvSpPr>
          <p:cNvPr id="34" name="a1wd330_td33"/>
          <p:cNvSpPr/>
          <p:nvPr/>
        </p:nvSpPr>
        <p:spPr>
          <a:xfrm>
            <a:off x="5303520" y="2084832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330_tdt34"/>
          <p:cNvSpPr txBox="1"/>
          <p:nvPr/>
        </p:nvSpPr>
        <p:spPr>
          <a:xfrm>
            <a:off x="5376672" y="2084832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{pid, reference}</a:t>
            </a:r>
          </a:p>
        </p:txBody>
      </p:sp>
      <p:sp>
        <p:nvSpPr>
          <p:cNvPr id="36" name="a1wd440_td35"/>
          <p:cNvSpPr/>
          <p:nvPr/>
        </p:nvSpPr>
        <p:spPr>
          <a:xfrm>
            <a:off x="5303520" y="2414015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40_tdt36"/>
          <p:cNvSpPr txBox="1"/>
          <p:nvPr/>
        </p:nvSpPr>
        <p:spPr>
          <a:xfrm>
            <a:off x="5376672" y="2414015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38" name="a1wd550_td37"/>
          <p:cNvSpPr/>
          <p:nvPr/>
        </p:nvSpPr>
        <p:spPr>
          <a:xfrm>
            <a:off x="5303520" y="2743200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550_tdt38"/>
          <p:cNvSpPr txBox="1"/>
          <p:nvPr/>
        </p:nvSpPr>
        <p:spPr>
          <a:xfrm>
            <a:off x="5376672" y="2743200"/>
            <a:ext cx="32735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Observing other processes without dying with them</a:t>
            </a:r>
          </a:p>
        </p:txBody>
      </p:sp>
      <p:sp>
        <p:nvSpPr>
          <p:cNvPr id="40" name="a2u_nb39"/>
          <p:cNvSpPr/>
          <p:nvPr/>
        </p:nvSpPr>
        <p:spPr>
          <a:xfrm>
            <a:off x="457200" y="327355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u_nacc40"/>
          <p:cNvSpPr/>
          <p:nvPr/>
        </p:nvSpPr>
        <p:spPr>
          <a:xfrm>
            <a:off x="457200" y="3273552"/>
            <a:ext cx="50292" cy="9144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u_nt41"/>
          <p:cNvSpPr txBox="1"/>
          <p:nvPr/>
        </p:nvSpPr>
        <p:spPr>
          <a:xfrm>
            <a:off x="658368" y="3273552"/>
            <a:ext cx="362102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6B3FA0"/>
                </a:solidFill>
                <a:latin typeface="Calibri"/>
              </a:rPr>
              <a:t>↔  </a:t>
            </a:r>
            <a:r>
              <a:rPr sz="1100" b="0">
                <a:solidFill>
                  <a:srgbClr val="334155"/>
                </a:solidFill>
                <a:latin typeface="Calibri"/>
              </a:rPr>
              <a:t>Use spawn_link when the processes truly depend on each other — if one dies, the other should too, or you trap the exit and react.</a:t>
            </a:r>
          </a:p>
        </p:txBody>
      </p:sp>
      <p:sp>
        <p:nvSpPr>
          <p:cNvPr id="43" name="a3u_nb42"/>
          <p:cNvSpPr/>
          <p:nvPr/>
        </p:nvSpPr>
        <p:spPr>
          <a:xfrm>
            <a:off x="4663440" y="327355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3u_nacc43"/>
          <p:cNvSpPr/>
          <p:nvPr/>
        </p:nvSpPr>
        <p:spPr>
          <a:xfrm>
            <a:off x="4663440" y="3273552"/>
            <a:ext cx="5029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3u_nt44"/>
          <p:cNvSpPr txBox="1"/>
          <p:nvPr/>
        </p:nvSpPr>
        <p:spPr>
          <a:xfrm>
            <a:off x="4864607" y="3273552"/>
            <a:ext cx="362102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→  </a:t>
            </a:r>
            <a:r>
              <a:rPr sz="1100" b="0">
                <a:solidFill>
                  <a:srgbClr val="334155"/>
                </a:solidFill>
                <a:latin typeface="Calibri"/>
              </a:rPr>
              <a:t>Use spawn_monitor when you only need to be told that another process ended — without risking your own.</a:t>
            </a:r>
          </a:p>
        </p:txBody>
      </p:sp>
      <p:sp>
        <p:nvSpPr>
          <p:cNvPr id="46" name="ft4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47" name="ft4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PROCESSES · DEMO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Both relationships, one crash each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caller traps exits for spawn_link, and just waits for :DOWN from spawn_monitor.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07592"/>
            <a:ext cx="4069080" cy="1847088"/>
          </a:xfrm>
          <a:prstGeom prst="roundRect">
            <a:avLst>
              <a:gd name="adj" fmla="val 396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62456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spawn_link + trap_exit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09928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Process.flag(:trap_exit, true)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585216" y="1874520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pid = spawn_link(fn -&gt;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585216" y="2039112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raise "boom from linked process"</a:t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585216" y="2203704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end)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585216" y="2368296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receive do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585216" y="2532888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{:EXIT, ^pid, reason} -&gt; IO.inspect(reason)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585216" y="2697480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585216" y="2862072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IO.puts("Current process still alive")</a:t>
            </a:r>
          </a:p>
        </p:txBody>
      </p:sp>
      <p:sp>
        <p:nvSpPr>
          <p:cNvPr id="15" name="a2f_codebg14"/>
          <p:cNvSpPr/>
          <p:nvPr/>
        </p:nvSpPr>
        <p:spPr>
          <a:xfrm>
            <a:off x="4617720" y="1307592"/>
            <a:ext cx="4069080" cy="1847088"/>
          </a:xfrm>
          <a:prstGeom prst="roundRect">
            <a:avLst>
              <a:gd name="adj" fmla="val 396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2f_codeh15"/>
          <p:cNvSpPr txBox="1"/>
          <p:nvPr/>
        </p:nvSpPr>
        <p:spPr>
          <a:xfrm>
            <a:off x="4745736" y="1362456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spawn_monitor</a:t>
            </a:r>
          </a:p>
        </p:txBody>
      </p:sp>
      <p:sp>
        <p:nvSpPr>
          <p:cNvPr id="17" name="a2w_code16"/>
          <p:cNvSpPr txBox="1"/>
          <p:nvPr/>
        </p:nvSpPr>
        <p:spPr>
          <a:xfrm>
            <a:off x="4745736" y="1709928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{pid, ref} = spawn_monitor(fn -&gt;</a:t>
            </a:r>
          </a:p>
        </p:txBody>
      </p:sp>
      <p:sp>
        <p:nvSpPr>
          <p:cNvPr id="18" name="a2wd60_code17"/>
          <p:cNvSpPr txBox="1"/>
          <p:nvPr/>
        </p:nvSpPr>
        <p:spPr>
          <a:xfrm>
            <a:off x="4745736" y="1874520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raise "boom from monitored process"</a:t>
            </a:r>
          </a:p>
        </p:txBody>
      </p:sp>
      <p:sp>
        <p:nvSpPr>
          <p:cNvPr id="19" name="a2wd120_code18"/>
          <p:cNvSpPr txBox="1"/>
          <p:nvPr/>
        </p:nvSpPr>
        <p:spPr>
          <a:xfrm>
            <a:off x="4745736" y="2039112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end)</a:t>
            </a:r>
          </a:p>
        </p:txBody>
      </p:sp>
      <p:sp>
        <p:nvSpPr>
          <p:cNvPr id="20" name="a2wd180_code19"/>
          <p:cNvSpPr txBox="1"/>
          <p:nvPr/>
        </p:nvSpPr>
        <p:spPr>
          <a:xfrm>
            <a:off x="4745736" y="2203704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receive do</a:t>
            </a:r>
          </a:p>
        </p:txBody>
      </p:sp>
      <p:sp>
        <p:nvSpPr>
          <p:cNvPr id="21" name="a2wd240_code20"/>
          <p:cNvSpPr txBox="1"/>
          <p:nvPr/>
        </p:nvSpPr>
        <p:spPr>
          <a:xfrm>
            <a:off x="4745736" y="2368296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{:DOWN, ^ref, :process, ^pid, reason} -&gt;</a:t>
            </a:r>
          </a:p>
        </p:txBody>
      </p:sp>
      <p:sp>
        <p:nvSpPr>
          <p:cNvPr id="22" name="a2wd300_code21"/>
          <p:cNvSpPr txBox="1"/>
          <p:nvPr/>
        </p:nvSpPr>
        <p:spPr>
          <a:xfrm>
            <a:off x="4745736" y="2532888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IO.inspect(reason)</a:t>
            </a:r>
          </a:p>
        </p:txBody>
      </p:sp>
      <p:sp>
        <p:nvSpPr>
          <p:cNvPr id="23" name="a2wd360_code22"/>
          <p:cNvSpPr txBox="1"/>
          <p:nvPr/>
        </p:nvSpPr>
        <p:spPr>
          <a:xfrm>
            <a:off x="4745736" y="2697480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4" name="a2wd420_code23"/>
          <p:cNvSpPr txBox="1"/>
          <p:nvPr/>
        </p:nvSpPr>
        <p:spPr>
          <a:xfrm>
            <a:off x="4745736" y="2862072"/>
            <a:ext cx="3813048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IO.puts("Current process still alive")</a:t>
            </a:r>
          </a:p>
        </p:txBody>
      </p:sp>
      <p:sp>
        <p:nvSpPr>
          <p:cNvPr id="25" name="a3f_codebg24"/>
          <p:cNvSpPr/>
          <p:nvPr/>
        </p:nvSpPr>
        <p:spPr>
          <a:xfrm>
            <a:off x="457200" y="3246120"/>
            <a:ext cx="8229600" cy="1316736"/>
          </a:xfrm>
          <a:prstGeom prst="roundRect">
            <a:avLst>
              <a:gd name="adj" fmla="val 555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3f_codeh25"/>
          <p:cNvSpPr txBox="1"/>
          <p:nvPr/>
        </p:nvSpPr>
        <p:spPr>
          <a:xfrm>
            <a:off x="566928" y="3300984"/>
            <a:ext cx="80101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 · stacktraces shortened to [...]</a:t>
            </a:r>
          </a:p>
        </p:txBody>
      </p:sp>
      <p:sp>
        <p:nvSpPr>
          <p:cNvPr id="27" name="a3w_code26"/>
          <p:cNvSpPr txBox="1"/>
          <p:nvPr/>
        </p:nvSpPr>
        <p:spPr>
          <a:xfrm>
            <a:off x="566928" y="3630168"/>
            <a:ext cx="801014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Received EXIT from #PID&lt;0.101.0&gt;</a:t>
            </a:r>
          </a:p>
        </p:txBody>
      </p:sp>
      <p:sp>
        <p:nvSpPr>
          <p:cNvPr id="28" name="a3wd90_code27"/>
          <p:cNvSpPr txBox="1"/>
          <p:nvPr/>
        </p:nvSpPr>
        <p:spPr>
          <a:xfrm>
            <a:off x="566928" y="3794759"/>
            <a:ext cx="801014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Reason: {%RuntimeError{message: "boom from linked process"}, [...]}</a:t>
            </a:r>
          </a:p>
        </p:txBody>
      </p:sp>
      <p:sp>
        <p:nvSpPr>
          <p:cNvPr id="29" name="a3wd180_code28"/>
          <p:cNvSpPr txBox="1"/>
          <p:nvPr/>
        </p:nvSpPr>
        <p:spPr>
          <a:xfrm>
            <a:off x="566928" y="3959352"/>
            <a:ext cx="801014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Received DOWN from #PID&lt;0.102.0&gt;</a:t>
            </a:r>
          </a:p>
        </p:txBody>
      </p:sp>
      <p:sp>
        <p:nvSpPr>
          <p:cNvPr id="30" name="a3wd270_code29"/>
          <p:cNvSpPr txBox="1"/>
          <p:nvPr/>
        </p:nvSpPr>
        <p:spPr>
          <a:xfrm>
            <a:off x="566928" y="4123944"/>
            <a:ext cx="801014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Reason: {%RuntimeError{message: "boom from monitored process"}, [...]}</a:t>
            </a:r>
          </a:p>
        </p:txBody>
      </p:sp>
      <p:sp>
        <p:nvSpPr>
          <p:cNvPr id="31" name="a3wd360_code30"/>
          <p:cNvSpPr txBox="1"/>
          <p:nvPr/>
        </p:nvSpPr>
        <p:spPr>
          <a:xfrm>
            <a:off x="566928" y="4288536"/>
            <a:ext cx="801014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Current process still alive   (after both)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PROCESSES · MESSAGES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send and receive: the only way processes talk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No shared memory. A message is copied into the receiver's mailbox and taken out by pattern.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35024"/>
            <a:ext cx="4160520" cy="2715768"/>
          </a:xfrm>
          <a:prstGeom prst="roundRect">
            <a:avLst>
              <a:gd name="adj" fmla="val 269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9888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sender and receiver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73936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Sender</a:t>
            </a:r>
          </a:p>
        </p:txBody>
      </p:sp>
      <p:sp>
        <p:nvSpPr>
          <p:cNvPr id="8" name="a1wd60_code7"/>
          <p:cNvSpPr txBox="1"/>
          <p:nvPr/>
        </p:nvSpPr>
        <p:spPr>
          <a:xfrm>
            <a:off x="621792" y="1965960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send(pid, {:hello, "world"})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21792" y="2157984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180_code9"/>
          <p:cNvSpPr txBox="1"/>
          <p:nvPr/>
        </p:nvSpPr>
        <p:spPr>
          <a:xfrm>
            <a:off x="621792" y="2350008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Receiver</a:t>
            </a:r>
          </a:p>
        </p:txBody>
      </p:sp>
      <p:sp>
        <p:nvSpPr>
          <p:cNvPr id="11" name="a1wd240_code10"/>
          <p:cNvSpPr txBox="1"/>
          <p:nvPr/>
        </p:nvSpPr>
        <p:spPr>
          <a:xfrm>
            <a:off x="621792" y="2542032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receive do</a:t>
            </a:r>
          </a:p>
        </p:txBody>
      </p:sp>
      <p:sp>
        <p:nvSpPr>
          <p:cNvPr id="12" name="a1wd300_code11"/>
          <p:cNvSpPr txBox="1"/>
          <p:nvPr/>
        </p:nvSpPr>
        <p:spPr>
          <a:xfrm>
            <a:off x="621792" y="2734056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{:hello, msg} -&gt; IO.puts("Got: #{msg}")</a:t>
            </a:r>
          </a:p>
        </p:txBody>
      </p:sp>
      <p:sp>
        <p:nvSpPr>
          <p:cNvPr id="13" name="a1wd360_code12"/>
          <p:cNvSpPr txBox="1"/>
          <p:nvPr/>
        </p:nvSpPr>
        <p:spPr>
          <a:xfrm>
            <a:off x="621792" y="2926080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other -&gt; IO.puts("Unexpected: #{inspect(other)}")</a:t>
            </a:r>
          </a:p>
        </p:txBody>
      </p:sp>
      <p:sp>
        <p:nvSpPr>
          <p:cNvPr id="14" name="a1wd420_code13"/>
          <p:cNvSpPr txBox="1"/>
          <p:nvPr/>
        </p:nvSpPr>
        <p:spPr>
          <a:xfrm>
            <a:off x="621792" y="3118104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after</a:t>
            </a:r>
          </a:p>
        </p:txBody>
      </p:sp>
      <p:sp>
        <p:nvSpPr>
          <p:cNvPr id="15" name="a1wd480_code14"/>
          <p:cNvSpPr txBox="1"/>
          <p:nvPr/>
        </p:nvSpPr>
        <p:spPr>
          <a:xfrm>
            <a:off x="621792" y="3310128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5_000 -&gt; IO.puts("Timeout")</a:t>
            </a:r>
          </a:p>
        </p:txBody>
      </p:sp>
      <p:sp>
        <p:nvSpPr>
          <p:cNvPr id="16" name="a1wd540_code15"/>
          <p:cNvSpPr txBox="1"/>
          <p:nvPr/>
        </p:nvSpPr>
        <p:spPr>
          <a:xfrm>
            <a:off x="621792" y="3502152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7" name="a1wd600_code16"/>
          <p:cNvSpPr txBox="1"/>
          <p:nvPr/>
        </p:nvSpPr>
        <p:spPr>
          <a:xfrm>
            <a:off x="621792" y="3694176"/>
            <a:ext cx="3831335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#=&gt; Got: world</a:t>
            </a:r>
          </a:p>
        </p:txBody>
      </p:sp>
      <p:sp>
        <p:nvSpPr>
          <p:cNvPr id="18" name="a2u_stg17"/>
          <p:cNvSpPr/>
          <p:nvPr/>
        </p:nvSpPr>
        <p:spPr>
          <a:xfrm>
            <a:off x="4892040" y="1362456"/>
            <a:ext cx="1554480" cy="402336"/>
          </a:xfrm>
          <a:prstGeom prst="roundRect">
            <a:avLst>
              <a:gd name="adj" fmla="val 18181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stgt18"/>
          <p:cNvSpPr txBox="1"/>
          <p:nvPr/>
        </p:nvSpPr>
        <p:spPr>
          <a:xfrm>
            <a:off x="4937759" y="1362456"/>
            <a:ext cx="146303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B275F"/>
                </a:solidFill>
                <a:latin typeface="Calibri"/>
              </a:rPr>
              <a:t>sender</a:t>
            </a:r>
          </a:p>
        </p:txBody>
      </p:sp>
      <p:cxnSp>
        <p:nvCxnSpPr>
          <p:cNvPr id="20" name="a2ud100_ln19"/>
          <p:cNvCxnSpPr/>
          <p:nvPr/>
        </p:nvCxnSpPr>
        <p:spPr>
          <a:xfrm>
            <a:off x="5669279" y="1764792"/>
            <a:ext cx="0" cy="31089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2ud100_cap20"/>
          <p:cNvSpPr txBox="1"/>
          <p:nvPr/>
        </p:nvSpPr>
        <p:spPr>
          <a:xfrm>
            <a:off x="5852159" y="17830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send/2 copies the message — never blocks</a:t>
            </a:r>
          </a:p>
        </p:txBody>
      </p:sp>
      <p:sp>
        <p:nvSpPr>
          <p:cNvPr id="22" name="a3u_card21"/>
          <p:cNvSpPr/>
          <p:nvPr/>
        </p:nvSpPr>
        <p:spPr>
          <a:xfrm>
            <a:off x="4892040" y="2093976"/>
            <a:ext cx="379476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ct22"/>
          <p:cNvSpPr txBox="1"/>
          <p:nvPr/>
        </p:nvSpPr>
        <p:spPr>
          <a:xfrm>
            <a:off x="5029200" y="215798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spc="200">
                <a:solidFill>
                  <a:srgbClr val="64748B"/>
                </a:solidFill>
                <a:latin typeface="Calibri"/>
              </a:rPr>
              <a:t>MAILBOX</a:t>
            </a:r>
          </a:p>
        </p:txBody>
      </p:sp>
      <p:sp>
        <p:nvSpPr>
          <p:cNvPr id="24" name="a3ud120_stg23"/>
          <p:cNvSpPr/>
          <p:nvPr/>
        </p:nvSpPr>
        <p:spPr>
          <a:xfrm>
            <a:off x="5029200" y="2478024"/>
            <a:ext cx="1508760" cy="438912"/>
          </a:xfrm>
          <a:prstGeom prst="roundRect">
            <a:avLst>
              <a:gd name="adj" fmla="val 16666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d120_stgt24"/>
          <p:cNvSpPr txBox="1"/>
          <p:nvPr/>
        </p:nvSpPr>
        <p:spPr>
          <a:xfrm>
            <a:off x="5074920" y="2478024"/>
            <a:ext cx="1417319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{:hello, "world"}</a:t>
            </a:r>
          </a:p>
        </p:txBody>
      </p:sp>
      <p:sp>
        <p:nvSpPr>
          <p:cNvPr id="26" name="a3ud220_stg25"/>
          <p:cNvSpPr/>
          <p:nvPr/>
        </p:nvSpPr>
        <p:spPr>
          <a:xfrm>
            <a:off x="6629400" y="2478024"/>
            <a:ext cx="960120" cy="438912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d220_stgt26"/>
          <p:cNvSpPr txBox="1"/>
          <p:nvPr/>
        </p:nvSpPr>
        <p:spPr>
          <a:xfrm>
            <a:off x="6675120" y="2478024"/>
            <a:ext cx="868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ourier New"/>
              </a:rPr>
              <a:t>{:tick, 1}</a:t>
            </a:r>
          </a:p>
        </p:txBody>
      </p:sp>
      <p:sp>
        <p:nvSpPr>
          <p:cNvPr id="28" name="a3ud320_stg27"/>
          <p:cNvSpPr/>
          <p:nvPr/>
        </p:nvSpPr>
        <p:spPr>
          <a:xfrm>
            <a:off x="7680959" y="2478024"/>
            <a:ext cx="868680" cy="438912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d320_stgt28"/>
          <p:cNvSpPr txBox="1"/>
          <p:nvPr/>
        </p:nvSpPr>
        <p:spPr>
          <a:xfrm>
            <a:off x="7726679" y="2478024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ourier New"/>
              </a:rPr>
              <a:t>…</a:t>
            </a:r>
          </a:p>
        </p:txBody>
      </p:sp>
      <p:cxnSp>
        <p:nvCxnSpPr>
          <p:cNvPr id="30" name="a4u_ln29"/>
          <p:cNvCxnSpPr/>
          <p:nvPr/>
        </p:nvCxnSpPr>
        <p:spPr>
          <a:xfrm>
            <a:off x="5669279" y="3099815"/>
            <a:ext cx="0" cy="31089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4u_cap30"/>
          <p:cNvSpPr txBox="1"/>
          <p:nvPr/>
        </p:nvSpPr>
        <p:spPr>
          <a:xfrm>
            <a:off x="5852159" y="31181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receive takes the first message that matches</a:t>
            </a:r>
          </a:p>
        </p:txBody>
      </p:sp>
      <p:sp>
        <p:nvSpPr>
          <p:cNvPr id="32" name="a4ud100_stg31"/>
          <p:cNvSpPr/>
          <p:nvPr/>
        </p:nvSpPr>
        <p:spPr>
          <a:xfrm>
            <a:off x="4892040" y="3429000"/>
            <a:ext cx="1554480" cy="402336"/>
          </a:xfrm>
          <a:prstGeom prst="roundRect">
            <a:avLst>
              <a:gd name="adj" fmla="val 18181"/>
            </a:avLst>
          </a:prstGeom>
          <a:solidFill>
            <a:srgbClr val="CCFB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4ud100_stgt32"/>
          <p:cNvSpPr txBox="1"/>
          <p:nvPr/>
        </p:nvSpPr>
        <p:spPr>
          <a:xfrm>
            <a:off x="4937759" y="3429000"/>
            <a:ext cx="146303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766E"/>
                </a:solidFill>
                <a:latin typeface="Calibri"/>
              </a:rPr>
              <a:t>receiver</a:t>
            </a:r>
          </a:p>
        </p:txBody>
      </p:sp>
      <p:sp>
        <p:nvSpPr>
          <p:cNvPr id="34" name="a4ud200_cap33"/>
          <p:cNvSpPr txBox="1"/>
          <p:nvPr/>
        </p:nvSpPr>
        <p:spPr>
          <a:xfrm>
            <a:off x="6629400" y="3429000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waits — or runs the after clause on timeout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One-off asynchronous work — built on spawn,
with better error reports and introspection.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Task.start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Task.async + Task.await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Task.async_stream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Task.Supervisor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TASK · THE SHAPES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Three ways to run a Task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Fire and forget, await a result, or run it under a supervisor.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35024"/>
            <a:ext cx="4892040" cy="2569463"/>
          </a:xfrm>
          <a:prstGeom prst="roundRect">
            <a:avLst>
              <a:gd name="adj" fmla="val 284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9888"/>
            <a:ext cx="45628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the three shapes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73936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Fire and forget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70531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Task.start(fn -&gt; do_work() end)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67128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63724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Await the result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60320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task = Task.async(fn -&gt; expensive_calculation() end)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756915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result = Task.await(task, 10_000)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953512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150108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Or with a supervisor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346704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Task.Supervisor.start_child(MyApp.TaskSupervisor,</a:t>
            </a:r>
          </a:p>
        </p:txBody>
      </p:sp>
      <p:sp>
        <p:nvSpPr>
          <p:cNvPr id="16" name="a1wd630_code15"/>
          <p:cNvSpPr txBox="1"/>
          <p:nvPr/>
        </p:nvSpPr>
        <p:spPr>
          <a:xfrm>
            <a:off x="621792" y="3543300"/>
            <a:ext cx="4562855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fn -&gt; ... end)</a:t>
            </a:r>
          </a:p>
        </p:txBody>
      </p:sp>
      <p:sp>
        <p:nvSpPr>
          <p:cNvPr id="17" name="a2u_card16"/>
          <p:cNvSpPr/>
          <p:nvPr/>
        </p:nvSpPr>
        <p:spPr>
          <a:xfrm>
            <a:off x="5577840" y="1335024"/>
            <a:ext cx="3108960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acc17"/>
          <p:cNvSpPr/>
          <p:nvPr/>
        </p:nvSpPr>
        <p:spPr>
          <a:xfrm>
            <a:off x="5577840" y="1335024"/>
            <a:ext cx="3108960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ct18"/>
          <p:cNvSpPr txBox="1"/>
          <p:nvPr/>
        </p:nvSpPr>
        <p:spPr>
          <a:xfrm>
            <a:off x="5742432" y="1463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Common uses</a:t>
            </a:r>
          </a:p>
        </p:txBody>
      </p:sp>
      <p:sp>
        <p:nvSpPr>
          <p:cNvPr id="20" name="a2ud100_dot19"/>
          <p:cNvSpPr/>
          <p:nvPr/>
        </p:nvSpPr>
        <p:spPr>
          <a:xfrm>
            <a:off x="5742432" y="1920239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100_b20"/>
          <p:cNvSpPr txBox="1"/>
          <p:nvPr/>
        </p:nvSpPr>
        <p:spPr>
          <a:xfrm>
            <a:off x="5961888" y="1819655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Parallel map (Task.async_stream)</a:t>
            </a:r>
          </a:p>
        </p:txBody>
      </p:sp>
      <p:sp>
        <p:nvSpPr>
          <p:cNvPr id="22" name="a2ud200_dot21"/>
          <p:cNvSpPr/>
          <p:nvPr/>
        </p:nvSpPr>
        <p:spPr>
          <a:xfrm>
            <a:off x="5742432" y="2249423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200_b22"/>
          <p:cNvSpPr txBox="1"/>
          <p:nvPr/>
        </p:nvSpPr>
        <p:spPr>
          <a:xfrm>
            <a:off x="5961888" y="2148839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Background jobs</a:t>
            </a:r>
          </a:p>
        </p:txBody>
      </p:sp>
      <p:sp>
        <p:nvSpPr>
          <p:cNvPr id="24" name="a2ud300_dot23"/>
          <p:cNvSpPr/>
          <p:nvPr/>
        </p:nvSpPr>
        <p:spPr>
          <a:xfrm>
            <a:off x="5742432" y="2578607"/>
            <a:ext cx="82296" cy="822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300_b24"/>
          <p:cNvSpPr txBox="1"/>
          <p:nvPr/>
        </p:nvSpPr>
        <p:spPr>
          <a:xfrm>
            <a:off x="5961888" y="2478023"/>
            <a:ext cx="26151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Timeouts and cancellation support</a:t>
            </a:r>
          </a:p>
        </p:txBody>
      </p:sp>
      <p:sp>
        <p:nvSpPr>
          <p:cNvPr id="26" name="a3u_card25"/>
          <p:cNvSpPr/>
          <p:nvPr/>
        </p:nvSpPr>
        <p:spPr>
          <a:xfrm>
            <a:off x="5577840" y="2935224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u_acc26"/>
          <p:cNvSpPr/>
          <p:nvPr/>
        </p:nvSpPr>
        <p:spPr>
          <a:xfrm>
            <a:off x="5577840" y="2935224"/>
            <a:ext cx="3108960" cy="50292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ct27"/>
          <p:cNvSpPr txBox="1"/>
          <p:nvPr/>
        </p:nvSpPr>
        <p:spPr>
          <a:xfrm>
            <a:off x="5742432" y="3063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Common patterns</a:t>
            </a:r>
          </a:p>
        </p:txBody>
      </p:sp>
      <p:sp>
        <p:nvSpPr>
          <p:cNvPr id="29" name="a3ud100_dot28"/>
          <p:cNvSpPr/>
          <p:nvPr/>
        </p:nvSpPr>
        <p:spPr>
          <a:xfrm>
            <a:off x="5742432" y="352043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d100_b29"/>
          <p:cNvSpPr txBox="1"/>
          <p:nvPr/>
        </p:nvSpPr>
        <p:spPr>
          <a:xfrm>
            <a:off x="5961888" y="3419856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Task.async/1 + Task.await/2</a:t>
            </a:r>
          </a:p>
        </p:txBody>
      </p:sp>
      <p:sp>
        <p:nvSpPr>
          <p:cNvPr id="31" name="a3ud200_dot30"/>
          <p:cNvSpPr/>
          <p:nvPr/>
        </p:nvSpPr>
        <p:spPr>
          <a:xfrm>
            <a:off x="5742432" y="392277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ud200_b31"/>
          <p:cNvSpPr txBox="1"/>
          <p:nvPr/>
        </p:nvSpPr>
        <p:spPr>
          <a:xfrm>
            <a:off x="5961888" y="3822192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Task.async_stream/3 — concurrent mapping over a collection</a:t>
            </a:r>
          </a:p>
        </p:txBody>
      </p:sp>
      <p:sp>
        <p:nvSpPr>
          <p:cNvPr id="33" name="a3ud300_dot32"/>
          <p:cNvSpPr/>
          <p:nvPr/>
        </p:nvSpPr>
        <p:spPr>
          <a:xfrm>
            <a:off x="5742432" y="432511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3ud300_b33"/>
          <p:cNvSpPr txBox="1"/>
          <p:nvPr/>
        </p:nvSpPr>
        <p:spPr>
          <a:xfrm>
            <a:off x="5961888" y="4224528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Supervised tasks via Task.Supervisor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TASK · RUN IT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TaskExamples.run_all() — what actually prints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Main process and task print concurrently: paired lines can swap. The results never change.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4069080" cy="2862072"/>
          </a:xfrm>
          <a:prstGeom prst="roundRect">
            <a:avLst>
              <a:gd name="adj" fmla="val 255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71600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task_examples.ex · condensed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19072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urier New"/>
              </a:rPr>
              <a:t># 1. fire and forget</a:t>
            </a:r>
          </a:p>
        </p:txBody>
      </p:sp>
      <p:sp>
        <p:nvSpPr>
          <p:cNvPr id="8" name="a1wd50_code7"/>
          <p:cNvSpPr txBox="1"/>
          <p:nvPr/>
        </p:nvSpPr>
        <p:spPr>
          <a:xfrm>
            <a:off x="585216" y="1874519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{:ok, pid} = Task.start(fn -&gt; ... end)</a:t>
            </a:r>
          </a:p>
        </p:txBody>
      </p:sp>
      <p:sp>
        <p:nvSpPr>
          <p:cNvPr id="9" name="a1wd100_code8"/>
          <p:cNvSpPr txBox="1"/>
          <p:nvPr/>
        </p:nvSpPr>
        <p:spPr>
          <a:xfrm>
            <a:off x="585216" y="2029967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0" name="a1wd150_code9"/>
          <p:cNvSpPr txBox="1"/>
          <p:nvPr/>
        </p:nvSpPr>
        <p:spPr>
          <a:xfrm>
            <a:off x="585216" y="2185415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urier New"/>
              </a:rPr>
              <a:t># 2. await a result</a:t>
            </a:r>
          </a:p>
        </p:txBody>
      </p:sp>
      <p:sp>
        <p:nvSpPr>
          <p:cNvPr id="11" name="a1wd200_code10"/>
          <p:cNvSpPr txBox="1"/>
          <p:nvPr/>
        </p:nvSpPr>
        <p:spPr>
          <a:xfrm>
            <a:off x="585216" y="2340864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task = Task.async(fn -&gt; 42 * 42 end)</a:t>
            </a:r>
          </a:p>
        </p:txBody>
      </p:sp>
      <p:sp>
        <p:nvSpPr>
          <p:cNvPr id="12" name="a1wd250_code11"/>
          <p:cNvSpPr txBox="1"/>
          <p:nvPr/>
        </p:nvSpPr>
        <p:spPr>
          <a:xfrm>
            <a:off x="585216" y="2496312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result = Task.await(task, 5_000)</a:t>
            </a:r>
          </a:p>
        </p:txBody>
      </p:sp>
      <p:sp>
        <p:nvSpPr>
          <p:cNvPr id="13" name="a1wd300_code12"/>
          <p:cNvSpPr txBox="1"/>
          <p:nvPr/>
        </p:nvSpPr>
        <p:spPr>
          <a:xfrm>
            <a:off x="585216" y="2651760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4" name="a1wd350_code13"/>
          <p:cNvSpPr txBox="1"/>
          <p:nvPr/>
        </p:nvSpPr>
        <p:spPr>
          <a:xfrm>
            <a:off x="585216" y="2807208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urier New"/>
              </a:rPr>
              <a:t># 3. supervised</a:t>
            </a:r>
          </a:p>
        </p:txBody>
      </p:sp>
      <p:sp>
        <p:nvSpPr>
          <p:cNvPr id="15" name="a1wd400_code14"/>
          <p:cNvSpPr txBox="1"/>
          <p:nvPr/>
        </p:nvSpPr>
        <p:spPr>
          <a:xfrm>
            <a:off x="585216" y="2962656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{:ok, sup} =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585216" y="3118104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Task.Supervisor.start_link(name: :demo_task_sup)</a:t>
            </a:r>
          </a:p>
        </p:txBody>
      </p:sp>
      <p:sp>
        <p:nvSpPr>
          <p:cNvPr id="17" name="a1wd500_code16"/>
          <p:cNvSpPr txBox="1"/>
          <p:nvPr/>
        </p:nvSpPr>
        <p:spPr>
          <a:xfrm>
            <a:off x="585216" y="3273552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{:ok, pid} =</a:t>
            </a:r>
          </a:p>
        </p:txBody>
      </p:sp>
      <p:sp>
        <p:nvSpPr>
          <p:cNvPr id="18" name="a1wd550_code17"/>
          <p:cNvSpPr txBox="1"/>
          <p:nvPr/>
        </p:nvSpPr>
        <p:spPr>
          <a:xfrm>
            <a:off x="585216" y="3429000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Task.Supervisor.start_child(sup, fn -&gt; ... end)</a:t>
            </a:r>
          </a:p>
        </p:txBody>
      </p:sp>
      <p:sp>
        <p:nvSpPr>
          <p:cNvPr id="19" name="a1wd600_code18"/>
          <p:cNvSpPr txBox="1"/>
          <p:nvPr/>
        </p:nvSpPr>
        <p:spPr>
          <a:xfrm>
            <a:off x="585216" y="3584448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task = Task.Supervisor.async(sup, fn -&gt; ... end)</a:t>
            </a:r>
          </a:p>
        </p:txBody>
      </p:sp>
      <p:sp>
        <p:nvSpPr>
          <p:cNvPr id="20" name="a1wd650_code19"/>
          <p:cNvSpPr txBox="1"/>
          <p:nvPr/>
        </p:nvSpPr>
        <p:spPr>
          <a:xfrm>
            <a:off x="585216" y="3739896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Task.await(task)</a:t>
            </a:r>
          </a:p>
        </p:txBody>
      </p:sp>
      <p:sp>
        <p:nvSpPr>
          <p:cNvPr id="21" name="a1wd700_code20"/>
          <p:cNvSpPr txBox="1"/>
          <p:nvPr/>
        </p:nvSpPr>
        <p:spPr>
          <a:xfrm>
            <a:off x="585216" y="3895344"/>
            <a:ext cx="3813048" cy="1554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Supervisor.stop(sup)</a:t>
            </a:r>
          </a:p>
        </p:txBody>
      </p:sp>
      <p:sp>
        <p:nvSpPr>
          <p:cNvPr id="22" name="a2f_codebg21"/>
          <p:cNvSpPr/>
          <p:nvPr/>
        </p:nvSpPr>
        <p:spPr>
          <a:xfrm>
            <a:off x="4663440" y="1316736"/>
            <a:ext cx="4023360" cy="2980944"/>
          </a:xfrm>
          <a:prstGeom prst="roundRect">
            <a:avLst>
              <a:gd name="adj" fmla="val 245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f_codeh22"/>
          <p:cNvSpPr txBox="1"/>
          <p:nvPr/>
        </p:nvSpPr>
        <p:spPr>
          <a:xfrm>
            <a:off x="4773168" y="1371600"/>
            <a:ext cx="38039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REAL OUTPUT</a:t>
            </a:r>
          </a:p>
        </p:txBody>
      </p:sp>
      <p:sp>
        <p:nvSpPr>
          <p:cNvPr id="24" name="a2w_code23"/>
          <p:cNvSpPr txBox="1"/>
          <p:nvPr/>
        </p:nvSpPr>
        <p:spPr>
          <a:xfrm>
            <a:off x="4773168" y="1700784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=== 1. Fire and forget (Task.start) ===</a:t>
            </a:r>
          </a:p>
        </p:txBody>
      </p:sp>
      <p:sp>
        <p:nvSpPr>
          <p:cNvPr id="25" name="a2wd45_code24"/>
          <p:cNvSpPr txBox="1"/>
          <p:nvPr/>
        </p:nvSpPr>
        <p:spPr>
          <a:xfrm>
            <a:off x="4773168" y="1847088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  [background] Starting work in #PID&lt;0.102.0&gt;</a:t>
            </a:r>
          </a:p>
        </p:txBody>
      </p:sp>
      <p:sp>
        <p:nvSpPr>
          <p:cNvPr id="26" name="a2wd90_code25"/>
          <p:cNvSpPr txBox="1"/>
          <p:nvPr/>
        </p:nvSpPr>
        <p:spPr>
          <a:xfrm>
            <a:off x="4773168" y="1993391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Spawned fire-and-forget task: #PID&lt;0.102.0&gt;</a:t>
            </a:r>
          </a:p>
        </p:txBody>
      </p:sp>
      <p:sp>
        <p:nvSpPr>
          <p:cNvPr id="27" name="a2wd135_code26"/>
          <p:cNvSpPr txBox="1"/>
          <p:nvPr/>
        </p:nvSpPr>
        <p:spPr>
          <a:xfrm>
            <a:off x="4773168" y="2139696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Main process continues immediately...</a:t>
            </a:r>
          </a:p>
        </p:txBody>
      </p:sp>
      <p:sp>
        <p:nvSpPr>
          <p:cNvPr id="28" name="a2wd180_code27"/>
          <p:cNvSpPr txBox="1"/>
          <p:nvPr/>
        </p:nvSpPr>
        <p:spPr>
          <a:xfrm>
            <a:off x="4773168" y="2286000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  [background] Work finished!</a:t>
            </a:r>
          </a:p>
        </p:txBody>
      </p:sp>
      <p:sp>
        <p:nvSpPr>
          <p:cNvPr id="29" name="a2wd225_code28"/>
          <p:cNvSpPr txBox="1"/>
          <p:nvPr/>
        </p:nvSpPr>
        <p:spPr>
          <a:xfrm>
            <a:off x="4773168" y="2432304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Main process finished.</a:t>
            </a:r>
          </a:p>
        </p:txBody>
      </p:sp>
      <p:sp>
        <p:nvSpPr>
          <p:cNvPr id="30" name="a2wd270_code29"/>
          <p:cNvSpPr txBox="1"/>
          <p:nvPr/>
        </p:nvSpPr>
        <p:spPr>
          <a:xfrm>
            <a:off x="4773168" y="2578608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=== 2. Await the result (Task.async + Task.await) ===</a:t>
            </a:r>
          </a:p>
        </p:txBody>
      </p:sp>
      <p:sp>
        <p:nvSpPr>
          <p:cNvPr id="31" name="a2wd315_code30"/>
          <p:cNvSpPr txBox="1"/>
          <p:nvPr/>
        </p:nvSpPr>
        <p:spPr>
          <a:xfrm>
            <a:off x="4773168" y="2724912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Task started, now waiting for the result...</a:t>
            </a:r>
          </a:p>
        </p:txBody>
      </p:sp>
      <p:sp>
        <p:nvSpPr>
          <p:cNvPr id="32" name="a2wd360_code31"/>
          <p:cNvSpPr txBox="1"/>
          <p:nvPr/>
        </p:nvSpPr>
        <p:spPr>
          <a:xfrm>
            <a:off x="4773168" y="2871215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  [async] Starting expensive calculation in #PID&lt;0.103.0&gt;</a:t>
            </a:r>
          </a:p>
        </p:txBody>
      </p:sp>
      <p:sp>
        <p:nvSpPr>
          <p:cNvPr id="33" name="a2wd405_code32"/>
          <p:cNvSpPr txBox="1"/>
          <p:nvPr/>
        </p:nvSpPr>
        <p:spPr>
          <a:xfrm>
            <a:off x="4773168" y="3017520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  [async] Calculation done → 1764</a:t>
            </a:r>
          </a:p>
        </p:txBody>
      </p:sp>
      <p:sp>
        <p:nvSpPr>
          <p:cNvPr id="34" name="a2wd450_code33"/>
          <p:cNvSpPr txBox="1"/>
          <p:nvPr/>
        </p:nvSpPr>
        <p:spPr>
          <a:xfrm>
            <a:off x="4773168" y="3163824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Got the result: 1764</a:t>
            </a:r>
          </a:p>
        </p:txBody>
      </p:sp>
      <p:sp>
        <p:nvSpPr>
          <p:cNvPr id="35" name="a2wd495_code34"/>
          <p:cNvSpPr txBox="1"/>
          <p:nvPr/>
        </p:nvSpPr>
        <p:spPr>
          <a:xfrm>
            <a:off x="4773168" y="3310128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=== 3. Supervised task (Task.Supervisor) ===</a:t>
            </a:r>
          </a:p>
        </p:txBody>
      </p:sp>
      <p:sp>
        <p:nvSpPr>
          <p:cNvPr id="36" name="a2wd540_code35"/>
          <p:cNvSpPr txBox="1"/>
          <p:nvPr/>
        </p:nvSpPr>
        <p:spPr>
          <a:xfrm>
            <a:off x="4773168" y="3456432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  [supervised] Task started in #PID&lt;0.105.0&gt;</a:t>
            </a:r>
          </a:p>
        </p:txBody>
      </p:sp>
      <p:sp>
        <p:nvSpPr>
          <p:cNvPr id="37" name="a2wd585_code36"/>
          <p:cNvSpPr txBox="1"/>
          <p:nvPr/>
        </p:nvSpPr>
        <p:spPr>
          <a:xfrm>
            <a:off x="4773168" y="3602736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Supervised task PID: #PID&lt;0.105.0&gt;</a:t>
            </a:r>
          </a:p>
        </p:txBody>
      </p:sp>
      <p:sp>
        <p:nvSpPr>
          <p:cNvPr id="38" name="a2wd630_code37"/>
          <p:cNvSpPr txBox="1"/>
          <p:nvPr/>
        </p:nvSpPr>
        <p:spPr>
          <a:xfrm>
            <a:off x="4773168" y="3749039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  [supervised] Task completed successfully</a:t>
            </a:r>
          </a:p>
        </p:txBody>
      </p:sp>
      <p:sp>
        <p:nvSpPr>
          <p:cNvPr id="39" name="a2wd675_code38"/>
          <p:cNvSpPr txBox="1"/>
          <p:nvPr/>
        </p:nvSpPr>
        <p:spPr>
          <a:xfrm>
            <a:off x="4773168" y="3895344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Supervised async result: hello from supervised async</a:t>
            </a:r>
          </a:p>
        </p:txBody>
      </p:sp>
      <p:sp>
        <p:nvSpPr>
          <p:cNvPr id="40" name="a2wd720_code39"/>
          <p:cNvSpPr txBox="1"/>
          <p:nvPr/>
        </p:nvSpPr>
        <p:spPr>
          <a:xfrm>
            <a:off x="4773168" y="4041648"/>
            <a:ext cx="3803904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60" b="0">
                <a:solidFill>
                  <a:srgbClr val="14B8A6"/>
                </a:solidFill>
                <a:latin typeface="Courier New"/>
              </a:rPr>
              <a:t>Demo finished.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42" name="ft4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TASK · CHEAT SHEET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Task quick reference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246888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2359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API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499616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499616"/>
            <a:ext cx="2359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Task.start/1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901952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901952"/>
            <a:ext cx="2359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Task.async/1 + Task.await/2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304288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304288"/>
            <a:ext cx="2359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Task.Supervisor.start_child/2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706624"/>
            <a:ext cx="2468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706624"/>
            <a:ext cx="23591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Task.Supervisor.async/2</a:t>
            </a:r>
          </a:p>
        </p:txBody>
      </p:sp>
      <p:sp>
        <p:nvSpPr>
          <p:cNvPr id="14" name="a1f_th13"/>
          <p:cNvSpPr/>
          <p:nvPr/>
        </p:nvSpPr>
        <p:spPr>
          <a:xfrm>
            <a:off x="2926080" y="1097280"/>
            <a:ext cx="160020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f_tht14"/>
          <p:cNvSpPr txBox="1"/>
          <p:nvPr/>
        </p:nvSpPr>
        <p:spPr>
          <a:xfrm>
            <a:off x="2999232" y="1097280"/>
            <a:ext cx="14904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6" name="a1wd110_td15"/>
          <p:cNvSpPr/>
          <p:nvPr/>
        </p:nvSpPr>
        <p:spPr>
          <a:xfrm>
            <a:off x="2926080" y="1499616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wd110_tdt16"/>
          <p:cNvSpPr txBox="1"/>
          <p:nvPr/>
        </p:nvSpPr>
        <p:spPr>
          <a:xfrm>
            <a:off x="2999232" y="1499616"/>
            <a:ext cx="14904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Fire-and-forget</a:t>
            </a:r>
          </a:p>
        </p:txBody>
      </p:sp>
      <p:sp>
        <p:nvSpPr>
          <p:cNvPr id="18" name="a1wd220_td17"/>
          <p:cNvSpPr/>
          <p:nvPr/>
        </p:nvSpPr>
        <p:spPr>
          <a:xfrm>
            <a:off x="2926080" y="1901952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220_tdt18"/>
          <p:cNvSpPr txBox="1"/>
          <p:nvPr/>
        </p:nvSpPr>
        <p:spPr>
          <a:xfrm>
            <a:off x="2999232" y="1901952"/>
            <a:ext cx="14904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Get a result</a:t>
            </a:r>
          </a:p>
        </p:txBody>
      </p:sp>
      <p:sp>
        <p:nvSpPr>
          <p:cNvPr id="20" name="a1wd330_td19"/>
          <p:cNvSpPr/>
          <p:nvPr/>
        </p:nvSpPr>
        <p:spPr>
          <a:xfrm>
            <a:off x="2926080" y="2304288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330_tdt20"/>
          <p:cNvSpPr txBox="1"/>
          <p:nvPr/>
        </p:nvSpPr>
        <p:spPr>
          <a:xfrm>
            <a:off x="2999232" y="2304288"/>
            <a:ext cx="14904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Supervised fire-and-forget</a:t>
            </a:r>
          </a:p>
        </p:txBody>
      </p:sp>
      <p:sp>
        <p:nvSpPr>
          <p:cNvPr id="22" name="a1wd440_td21"/>
          <p:cNvSpPr/>
          <p:nvPr/>
        </p:nvSpPr>
        <p:spPr>
          <a:xfrm>
            <a:off x="2926080" y="2706624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440_tdt22"/>
          <p:cNvSpPr txBox="1"/>
          <p:nvPr/>
        </p:nvSpPr>
        <p:spPr>
          <a:xfrm>
            <a:off x="2999232" y="2706624"/>
            <a:ext cx="14904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Supervised + awaitable</a:t>
            </a:r>
          </a:p>
        </p:txBody>
      </p:sp>
      <p:sp>
        <p:nvSpPr>
          <p:cNvPr id="24" name="a1f_th23"/>
          <p:cNvSpPr/>
          <p:nvPr/>
        </p:nvSpPr>
        <p:spPr>
          <a:xfrm>
            <a:off x="4526280" y="1097280"/>
            <a:ext cx="128016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f_tht24"/>
          <p:cNvSpPr txBox="1"/>
          <p:nvPr/>
        </p:nvSpPr>
        <p:spPr>
          <a:xfrm>
            <a:off x="4599432" y="1097280"/>
            <a:ext cx="11704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Returns</a:t>
            </a:r>
          </a:p>
        </p:txBody>
      </p:sp>
      <p:sp>
        <p:nvSpPr>
          <p:cNvPr id="26" name="a1wd110_td25"/>
          <p:cNvSpPr/>
          <p:nvPr/>
        </p:nvSpPr>
        <p:spPr>
          <a:xfrm>
            <a:off x="4526280" y="1499616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110_tdt26"/>
          <p:cNvSpPr txBox="1"/>
          <p:nvPr/>
        </p:nvSpPr>
        <p:spPr>
          <a:xfrm>
            <a:off x="4599432" y="1499616"/>
            <a:ext cx="11704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{:ok, pid}</a:t>
            </a:r>
          </a:p>
        </p:txBody>
      </p:sp>
      <p:sp>
        <p:nvSpPr>
          <p:cNvPr id="28" name="a1wd220_td27"/>
          <p:cNvSpPr/>
          <p:nvPr/>
        </p:nvSpPr>
        <p:spPr>
          <a:xfrm>
            <a:off x="4526280" y="1901952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wd220_tdt28"/>
          <p:cNvSpPr txBox="1"/>
          <p:nvPr/>
        </p:nvSpPr>
        <p:spPr>
          <a:xfrm>
            <a:off x="4599432" y="1901952"/>
            <a:ext cx="11704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%Task{} → value</a:t>
            </a:r>
          </a:p>
        </p:txBody>
      </p:sp>
      <p:sp>
        <p:nvSpPr>
          <p:cNvPr id="30" name="a1wd330_td29"/>
          <p:cNvSpPr/>
          <p:nvPr/>
        </p:nvSpPr>
        <p:spPr>
          <a:xfrm>
            <a:off x="4526280" y="2304288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330_tdt30"/>
          <p:cNvSpPr txBox="1"/>
          <p:nvPr/>
        </p:nvSpPr>
        <p:spPr>
          <a:xfrm>
            <a:off x="4599432" y="2304288"/>
            <a:ext cx="11704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{:ok, pid}</a:t>
            </a:r>
          </a:p>
        </p:txBody>
      </p:sp>
      <p:sp>
        <p:nvSpPr>
          <p:cNvPr id="32" name="a1wd440_td31"/>
          <p:cNvSpPr/>
          <p:nvPr/>
        </p:nvSpPr>
        <p:spPr>
          <a:xfrm>
            <a:off x="4526280" y="2706624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440_tdt32"/>
          <p:cNvSpPr txBox="1"/>
          <p:nvPr/>
        </p:nvSpPr>
        <p:spPr>
          <a:xfrm>
            <a:off x="4599432" y="2706624"/>
            <a:ext cx="11704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%Task{}</a:t>
            </a:r>
          </a:p>
        </p:txBody>
      </p:sp>
      <p:sp>
        <p:nvSpPr>
          <p:cNvPr id="34" name="a1f_th33"/>
          <p:cNvSpPr/>
          <p:nvPr/>
        </p:nvSpPr>
        <p:spPr>
          <a:xfrm>
            <a:off x="5806440" y="1097280"/>
            <a:ext cx="123444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f_tht34"/>
          <p:cNvSpPr txBox="1"/>
          <p:nvPr/>
        </p:nvSpPr>
        <p:spPr>
          <a:xfrm>
            <a:off x="5879592" y="1097280"/>
            <a:ext cx="11247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Linked?</a:t>
            </a:r>
          </a:p>
        </p:txBody>
      </p:sp>
      <p:sp>
        <p:nvSpPr>
          <p:cNvPr id="36" name="a1wd110_td35"/>
          <p:cNvSpPr/>
          <p:nvPr/>
        </p:nvSpPr>
        <p:spPr>
          <a:xfrm>
            <a:off x="5806440" y="1499616"/>
            <a:ext cx="1234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110_tdt36"/>
          <p:cNvSpPr txBox="1"/>
          <p:nvPr/>
        </p:nvSpPr>
        <p:spPr>
          <a:xfrm>
            <a:off x="5879592" y="1499616"/>
            <a:ext cx="11247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No</a:t>
            </a:r>
          </a:p>
        </p:txBody>
      </p:sp>
      <p:sp>
        <p:nvSpPr>
          <p:cNvPr id="38" name="a1wd220_td37"/>
          <p:cNvSpPr/>
          <p:nvPr/>
        </p:nvSpPr>
        <p:spPr>
          <a:xfrm>
            <a:off x="5806440" y="1901952"/>
            <a:ext cx="1234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220_tdt38"/>
          <p:cNvSpPr txBox="1"/>
          <p:nvPr/>
        </p:nvSpPr>
        <p:spPr>
          <a:xfrm>
            <a:off x="5879592" y="1901952"/>
            <a:ext cx="11247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 (to caller)</a:t>
            </a:r>
          </a:p>
        </p:txBody>
      </p:sp>
      <p:sp>
        <p:nvSpPr>
          <p:cNvPr id="40" name="a1wd330_td39"/>
          <p:cNvSpPr/>
          <p:nvPr/>
        </p:nvSpPr>
        <p:spPr>
          <a:xfrm>
            <a:off x="5806440" y="2304288"/>
            <a:ext cx="1234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1wd330_tdt40"/>
          <p:cNvSpPr txBox="1"/>
          <p:nvPr/>
        </p:nvSpPr>
        <p:spPr>
          <a:xfrm>
            <a:off x="5879592" y="2304288"/>
            <a:ext cx="11247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 (to supervisor)</a:t>
            </a:r>
          </a:p>
        </p:txBody>
      </p:sp>
      <p:sp>
        <p:nvSpPr>
          <p:cNvPr id="42" name="a1wd440_td41"/>
          <p:cNvSpPr/>
          <p:nvPr/>
        </p:nvSpPr>
        <p:spPr>
          <a:xfrm>
            <a:off x="5806440" y="2706624"/>
            <a:ext cx="1234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1wd440_tdt42"/>
          <p:cNvSpPr txBox="1"/>
          <p:nvPr/>
        </p:nvSpPr>
        <p:spPr>
          <a:xfrm>
            <a:off x="5879592" y="2706624"/>
            <a:ext cx="11247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Yes (to supervisor)</a:t>
            </a:r>
          </a:p>
        </p:txBody>
      </p:sp>
      <p:sp>
        <p:nvSpPr>
          <p:cNvPr id="44" name="a1f_th43"/>
          <p:cNvSpPr/>
          <p:nvPr/>
        </p:nvSpPr>
        <p:spPr>
          <a:xfrm>
            <a:off x="7040879" y="1097280"/>
            <a:ext cx="1645920" cy="402336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1f_tht44"/>
          <p:cNvSpPr txBox="1"/>
          <p:nvPr/>
        </p:nvSpPr>
        <p:spPr>
          <a:xfrm>
            <a:off x="7114031" y="1097280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Common use</a:t>
            </a:r>
          </a:p>
        </p:txBody>
      </p:sp>
      <p:sp>
        <p:nvSpPr>
          <p:cNvPr id="46" name="a1wd110_td45"/>
          <p:cNvSpPr/>
          <p:nvPr/>
        </p:nvSpPr>
        <p:spPr>
          <a:xfrm>
            <a:off x="7040879" y="1499616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1wd110_tdt46"/>
          <p:cNvSpPr txBox="1"/>
          <p:nvPr/>
        </p:nvSpPr>
        <p:spPr>
          <a:xfrm>
            <a:off x="7114031" y="1499616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Side-effects only</a:t>
            </a:r>
          </a:p>
        </p:txBody>
      </p:sp>
      <p:sp>
        <p:nvSpPr>
          <p:cNvPr id="48" name="a1wd220_td47"/>
          <p:cNvSpPr/>
          <p:nvPr/>
        </p:nvSpPr>
        <p:spPr>
          <a:xfrm>
            <a:off x="7040879" y="1901952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1wd220_tdt48"/>
          <p:cNvSpPr txBox="1"/>
          <p:nvPr/>
        </p:nvSpPr>
        <p:spPr>
          <a:xfrm>
            <a:off x="7114031" y="1901952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One-off calculations</a:t>
            </a:r>
          </a:p>
        </p:txBody>
      </p:sp>
      <p:sp>
        <p:nvSpPr>
          <p:cNvPr id="50" name="a1wd330_td49"/>
          <p:cNvSpPr/>
          <p:nvPr/>
        </p:nvSpPr>
        <p:spPr>
          <a:xfrm>
            <a:off x="7040879" y="2304288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a1wd330_tdt50"/>
          <p:cNvSpPr txBox="1"/>
          <p:nvPr/>
        </p:nvSpPr>
        <p:spPr>
          <a:xfrm>
            <a:off x="7114031" y="2304288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Background jobs under supervision</a:t>
            </a:r>
          </a:p>
        </p:txBody>
      </p:sp>
      <p:sp>
        <p:nvSpPr>
          <p:cNvPr id="52" name="a1wd440_td51"/>
          <p:cNvSpPr/>
          <p:nvPr/>
        </p:nvSpPr>
        <p:spPr>
          <a:xfrm>
            <a:off x="7040879" y="2706624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a1wd440_tdt52"/>
          <p:cNvSpPr txBox="1"/>
          <p:nvPr/>
        </p:nvSpPr>
        <p:spPr>
          <a:xfrm>
            <a:off x="7114031" y="2706624"/>
            <a:ext cx="1536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Awaitable work under supervision</a:t>
            </a:r>
          </a:p>
        </p:txBody>
      </p:sp>
      <p:sp>
        <p:nvSpPr>
          <p:cNvPr id="54" name="a2f_codebg53"/>
          <p:cNvSpPr/>
          <p:nvPr/>
        </p:nvSpPr>
        <p:spPr>
          <a:xfrm>
            <a:off x="457200" y="3337560"/>
            <a:ext cx="4206240" cy="1207007"/>
          </a:xfrm>
          <a:prstGeom prst="roundRect">
            <a:avLst>
              <a:gd name="adj" fmla="val 606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a2f_codeh54"/>
          <p:cNvSpPr txBox="1"/>
          <p:nvPr/>
        </p:nvSpPr>
        <p:spPr>
          <a:xfrm>
            <a:off x="621792" y="3392424"/>
            <a:ext cx="38770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parallel map · REAL</a:t>
            </a:r>
          </a:p>
        </p:txBody>
      </p:sp>
      <p:sp>
        <p:nvSpPr>
          <p:cNvPr id="56" name="a2w_code55"/>
          <p:cNvSpPr txBox="1"/>
          <p:nvPr/>
        </p:nvSpPr>
        <p:spPr>
          <a:xfrm>
            <a:off x="621792" y="3776472"/>
            <a:ext cx="387705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Task.async_stream(1..4, fn x -&gt; x * x end)</a:t>
            </a:r>
          </a:p>
        </p:txBody>
      </p:sp>
      <p:sp>
        <p:nvSpPr>
          <p:cNvPr id="57" name="a2wd80_code56"/>
          <p:cNvSpPr txBox="1"/>
          <p:nvPr/>
        </p:nvSpPr>
        <p:spPr>
          <a:xfrm>
            <a:off x="621792" y="3977639"/>
            <a:ext cx="387705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urier New"/>
              </a:rPr>
              <a:t>|&gt; Enum.to_list()</a:t>
            </a:r>
          </a:p>
        </p:txBody>
      </p:sp>
      <p:sp>
        <p:nvSpPr>
          <p:cNvPr id="58" name="a2wd160_code57"/>
          <p:cNvSpPr txBox="1"/>
          <p:nvPr/>
        </p:nvSpPr>
        <p:spPr>
          <a:xfrm>
            <a:off x="621792" y="4178808"/>
            <a:ext cx="387705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#=&gt; [ok: 1, ok: 4, ok: 9, ok: 16]</a:t>
            </a:r>
          </a:p>
        </p:txBody>
      </p:sp>
      <p:sp>
        <p:nvSpPr>
          <p:cNvPr id="59" name="a3u_nb58"/>
          <p:cNvSpPr/>
          <p:nvPr/>
        </p:nvSpPr>
        <p:spPr>
          <a:xfrm>
            <a:off x="4846320" y="3337560"/>
            <a:ext cx="3840480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a3u_nacc59"/>
          <p:cNvSpPr/>
          <p:nvPr/>
        </p:nvSpPr>
        <p:spPr>
          <a:xfrm>
            <a:off x="4846320" y="3337560"/>
            <a:ext cx="50292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a3u_nt60"/>
          <p:cNvSpPr txBox="1"/>
          <p:nvPr/>
        </p:nvSpPr>
        <p:spPr>
          <a:xfrm>
            <a:off x="5047488" y="3337560"/>
            <a:ext cx="343814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→  </a:t>
            </a:r>
            <a:r>
              <a:rPr sz="1100" b="0">
                <a:solidFill>
                  <a:srgbClr val="334155"/>
                </a:solidFill>
                <a:latin typeface="Calibri"/>
              </a:rPr>
              <a:t>Task.async links the task to the caller. The Task.Supervisor variants link it to the supervisor instead, so a crashing job does not take the caller down.</a:t>
            </a:r>
          </a:p>
        </p:txBody>
      </p:sp>
      <p:sp>
        <p:nvSpPr>
          <p:cNvPr id="62" name="ft6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63" name="ft6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 process can hold state in a loop —
Agent and GenServer run that loop for you.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receive loop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Agent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GenServer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STATE · THE CLASSIC PATTERN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State lives in the loop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Before OTP: a recursive receive loop. The state is the argument of the next call.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35024"/>
            <a:ext cx="4069080" cy="2537459"/>
          </a:xfrm>
          <a:prstGeom prst="roundRect">
            <a:avLst>
              <a:gd name="adj" fmla="val 2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9888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the receive loop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7393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9B3E8"/>
                </a:solidFill>
                <a:latin typeface="Courier New"/>
              </a:rPr>
              <a:t>def loop(state)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88819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receive do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20370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  {:get, from} -&gt;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41858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    send(from, state)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633472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    loop(state)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848356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  {:put, new_state} -&gt;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3063239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    loop(new_state)</a:t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278124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5" name="a1wd560_code14"/>
          <p:cNvSpPr txBox="1"/>
          <p:nvPr/>
        </p:nvSpPr>
        <p:spPr>
          <a:xfrm>
            <a:off x="621792" y="3493008"/>
            <a:ext cx="373989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6" name="a2f_codebg15"/>
          <p:cNvSpPr/>
          <p:nvPr/>
        </p:nvSpPr>
        <p:spPr>
          <a:xfrm>
            <a:off x="4663440" y="1335024"/>
            <a:ext cx="4023360" cy="1677923"/>
          </a:xfrm>
          <a:prstGeom prst="roundRect">
            <a:avLst>
              <a:gd name="adj" fmla="val 43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f_codeh16"/>
          <p:cNvSpPr txBox="1"/>
          <p:nvPr/>
        </p:nvSpPr>
        <p:spPr>
          <a:xfrm>
            <a:off x="4828031" y="1389888"/>
            <a:ext cx="36941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using it · REAL</a:t>
            </a:r>
          </a:p>
        </p:txBody>
      </p:sp>
      <p:sp>
        <p:nvSpPr>
          <p:cNvPr id="18" name="a2w_code17"/>
          <p:cNvSpPr txBox="1"/>
          <p:nvPr/>
        </p:nvSpPr>
        <p:spPr>
          <a:xfrm>
            <a:off x="4828031" y="1773936"/>
            <a:ext cx="36941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pid = spawn(fn -&gt; loop(0) end)</a:t>
            </a:r>
          </a:p>
        </p:txBody>
      </p:sp>
      <p:sp>
        <p:nvSpPr>
          <p:cNvPr id="19" name="a2wd80_code18"/>
          <p:cNvSpPr txBox="1"/>
          <p:nvPr/>
        </p:nvSpPr>
        <p:spPr>
          <a:xfrm>
            <a:off x="4828031" y="1988819"/>
            <a:ext cx="36941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send(pid, {:put, 7})</a:t>
            </a:r>
          </a:p>
        </p:txBody>
      </p:sp>
      <p:sp>
        <p:nvSpPr>
          <p:cNvPr id="20" name="a2wd160_code19"/>
          <p:cNvSpPr txBox="1"/>
          <p:nvPr/>
        </p:nvSpPr>
        <p:spPr>
          <a:xfrm>
            <a:off x="4828031" y="2203704"/>
            <a:ext cx="36941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send(pid, {:get, self()})</a:t>
            </a:r>
          </a:p>
        </p:txBody>
      </p:sp>
      <p:sp>
        <p:nvSpPr>
          <p:cNvPr id="21" name="a2wd240_code20"/>
          <p:cNvSpPr txBox="1"/>
          <p:nvPr/>
        </p:nvSpPr>
        <p:spPr>
          <a:xfrm>
            <a:off x="4828031" y="2418588"/>
            <a:ext cx="36941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receive do v -&gt; v end</a:t>
            </a:r>
          </a:p>
        </p:txBody>
      </p:sp>
      <p:sp>
        <p:nvSpPr>
          <p:cNvPr id="22" name="a2wd320_code21"/>
          <p:cNvSpPr txBox="1"/>
          <p:nvPr/>
        </p:nvSpPr>
        <p:spPr>
          <a:xfrm>
            <a:off x="4828031" y="2633472"/>
            <a:ext cx="369417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4B8A6"/>
                </a:solidFill>
                <a:latin typeface="Courier New"/>
              </a:rPr>
              <a:t>#=&gt; 7</a:t>
            </a:r>
          </a:p>
        </p:txBody>
      </p:sp>
      <p:sp>
        <p:nvSpPr>
          <p:cNvPr id="23" name="a3u_nb22"/>
          <p:cNvSpPr/>
          <p:nvPr/>
        </p:nvSpPr>
        <p:spPr>
          <a:xfrm>
            <a:off x="4663440" y="3163824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acc23"/>
          <p:cNvSpPr/>
          <p:nvPr/>
        </p:nvSpPr>
        <p:spPr>
          <a:xfrm>
            <a:off x="4663440" y="3163824"/>
            <a:ext cx="50292" cy="86868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_nt24"/>
          <p:cNvSpPr txBox="1"/>
          <p:nvPr/>
        </p:nvSpPr>
        <p:spPr>
          <a:xfrm>
            <a:off x="4864607" y="3163824"/>
            <a:ext cx="362102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OTP provides better tools for this: Agent and GenServer — next.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STATE · AGENT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Agent: a process that only holds state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simple state holder, best for very simple shared state. Internally it is a GenServer.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4846320" cy="3297326"/>
          </a:xfrm>
          <a:prstGeom prst="roundRect">
            <a:avLst>
              <a:gd name="adj" fmla="val 221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71600"/>
            <a:ext cx="459028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lib/counter.ex · condensed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19072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defmodule Counter do</a:t>
            </a:r>
          </a:p>
        </p:txBody>
      </p:sp>
      <p:sp>
        <p:nvSpPr>
          <p:cNvPr id="8" name="a1wd45_code7"/>
          <p:cNvSpPr txBox="1"/>
          <p:nvPr/>
        </p:nvSpPr>
        <p:spPr>
          <a:xfrm>
            <a:off x="585216" y="1881835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start_link(initial_value \\ 0) do</a:t>
            </a:r>
          </a:p>
        </p:txBody>
      </p:sp>
      <p:sp>
        <p:nvSpPr>
          <p:cNvPr id="9" name="a1wd90_code8"/>
          <p:cNvSpPr txBox="1"/>
          <p:nvPr/>
        </p:nvSpPr>
        <p:spPr>
          <a:xfrm>
            <a:off x="585216" y="2044598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Agent.start_link(fn -&gt; initial_value end, name: __MODULE__)</a:t>
            </a:r>
          </a:p>
        </p:txBody>
      </p:sp>
      <p:sp>
        <p:nvSpPr>
          <p:cNvPr id="10" name="a1wd135_code9"/>
          <p:cNvSpPr txBox="1"/>
          <p:nvPr/>
        </p:nvSpPr>
        <p:spPr>
          <a:xfrm>
            <a:off x="585216" y="2207361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1" name="a1wd180_code10"/>
          <p:cNvSpPr txBox="1"/>
          <p:nvPr/>
        </p:nvSpPr>
        <p:spPr>
          <a:xfrm>
            <a:off x="585216" y="2370124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value do</a:t>
            </a:r>
          </a:p>
        </p:txBody>
      </p:sp>
      <p:sp>
        <p:nvSpPr>
          <p:cNvPr id="12" name="a1wd225_code11"/>
          <p:cNvSpPr txBox="1"/>
          <p:nvPr/>
        </p:nvSpPr>
        <p:spPr>
          <a:xfrm>
            <a:off x="585216" y="2532887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Agent.get(__MODULE__, fn state -&gt; state end)</a:t>
            </a:r>
          </a:p>
        </p:txBody>
      </p:sp>
      <p:sp>
        <p:nvSpPr>
          <p:cNvPr id="13" name="a1wd270_code12"/>
          <p:cNvSpPr txBox="1"/>
          <p:nvPr/>
        </p:nvSpPr>
        <p:spPr>
          <a:xfrm>
            <a:off x="585216" y="2695651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4" name="a1wd315_code13"/>
          <p:cNvSpPr txBox="1"/>
          <p:nvPr/>
        </p:nvSpPr>
        <p:spPr>
          <a:xfrm>
            <a:off x="585216" y="2858414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increment(by \\ 1) do</a:t>
            </a:r>
          </a:p>
        </p:txBody>
      </p:sp>
      <p:sp>
        <p:nvSpPr>
          <p:cNvPr id="15" name="a1wd360_code14"/>
          <p:cNvSpPr txBox="1"/>
          <p:nvPr/>
        </p:nvSpPr>
        <p:spPr>
          <a:xfrm>
            <a:off x="585216" y="3021177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Agent.update(__MODULE__, fn state -&gt; state + by end)</a:t>
            </a:r>
          </a:p>
        </p:txBody>
      </p:sp>
      <p:sp>
        <p:nvSpPr>
          <p:cNvPr id="16" name="a1wd405_code15"/>
          <p:cNvSpPr txBox="1"/>
          <p:nvPr/>
        </p:nvSpPr>
        <p:spPr>
          <a:xfrm>
            <a:off x="585216" y="3183940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7" name="a1wd450_code16"/>
          <p:cNvSpPr txBox="1"/>
          <p:nvPr/>
        </p:nvSpPr>
        <p:spPr>
          <a:xfrm>
            <a:off x="585216" y="3346703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Courier New"/>
              </a:rPr>
              <a:t>  # decrement/1 and reset/1 have the same shape</a:t>
            </a:r>
          </a:p>
        </p:txBody>
      </p:sp>
      <p:sp>
        <p:nvSpPr>
          <p:cNvPr id="18" name="a1wd495_code17"/>
          <p:cNvSpPr txBox="1"/>
          <p:nvPr/>
        </p:nvSpPr>
        <p:spPr>
          <a:xfrm>
            <a:off x="585216" y="3509467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get_and_increment(by \\ 1) do</a:t>
            </a:r>
          </a:p>
        </p:txBody>
      </p:sp>
      <p:sp>
        <p:nvSpPr>
          <p:cNvPr id="19" name="a1wd540_code18"/>
          <p:cNvSpPr txBox="1"/>
          <p:nvPr/>
        </p:nvSpPr>
        <p:spPr>
          <a:xfrm>
            <a:off x="585216" y="3672230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Agent.get_and_update(__MODULE__, fn state -&gt;</a:t>
            </a:r>
          </a:p>
        </p:txBody>
      </p:sp>
      <p:sp>
        <p:nvSpPr>
          <p:cNvPr id="20" name="a1wd585_code19"/>
          <p:cNvSpPr txBox="1"/>
          <p:nvPr/>
        </p:nvSpPr>
        <p:spPr>
          <a:xfrm>
            <a:off x="585216" y="3834993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  {state, state + by}   # {return_value, new_state}</a:t>
            </a:r>
          </a:p>
        </p:txBody>
      </p:sp>
      <p:sp>
        <p:nvSpPr>
          <p:cNvPr id="21" name="a1wd630_code20"/>
          <p:cNvSpPr txBox="1"/>
          <p:nvPr/>
        </p:nvSpPr>
        <p:spPr>
          <a:xfrm>
            <a:off x="585216" y="3997756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end)</a:t>
            </a:r>
          </a:p>
        </p:txBody>
      </p:sp>
      <p:sp>
        <p:nvSpPr>
          <p:cNvPr id="22" name="a1wd675_code21"/>
          <p:cNvSpPr txBox="1"/>
          <p:nvPr/>
        </p:nvSpPr>
        <p:spPr>
          <a:xfrm>
            <a:off x="585216" y="4160520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3" name="a1wd720_code22"/>
          <p:cNvSpPr txBox="1"/>
          <p:nvPr/>
        </p:nvSpPr>
        <p:spPr>
          <a:xfrm>
            <a:off x="585216" y="4323283"/>
            <a:ext cx="4590288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4" name="a2u_dot23"/>
          <p:cNvSpPr/>
          <p:nvPr/>
        </p:nvSpPr>
        <p:spPr>
          <a:xfrm>
            <a:off x="5532120" y="1444752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_b24"/>
          <p:cNvSpPr txBox="1"/>
          <p:nvPr/>
        </p:nvSpPr>
        <p:spPr>
          <a:xfrm>
            <a:off x="5751576" y="1344168"/>
            <a:ext cx="293522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Just a process  </a:t>
            </a:r>
            <a:r>
              <a:rPr sz="1050" b="0">
                <a:solidFill>
                  <a:srgbClr val="334155"/>
                </a:solidFill>
                <a:latin typeface="Calibri"/>
              </a:rPr>
              <a:t>that holds state</a:t>
            </a:r>
          </a:p>
        </p:txBody>
      </p:sp>
      <p:sp>
        <p:nvSpPr>
          <p:cNvPr id="26" name="a2ud140_dot25"/>
          <p:cNvSpPr/>
          <p:nvPr/>
        </p:nvSpPr>
        <p:spPr>
          <a:xfrm>
            <a:off x="5532120" y="201167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ud140_b26"/>
          <p:cNvSpPr txBox="1"/>
          <p:nvPr/>
        </p:nvSpPr>
        <p:spPr>
          <a:xfrm>
            <a:off x="5751576" y="1911095"/>
            <a:ext cx="293522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Private  </a:t>
            </a:r>
            <a:r>
              <a:rPr sz="1050" b="0">
                <a:solidFill>
                  <a:srgbClr val="334155"/>
                </a:solidFill>
                <a:latin typeface="Calibri"/>
              </a:rPr>
              <a:t>no shared memory</a:t>
            </a:r>
          </a:p>
        </p:txBody>
      </p:sp>
      <p:sp>
        <p:nvSpPr>
          <p:cNvPr id="28" name="a2ud280_dot27"/>
          <p:cNvSpPr/>
          <p:nvPr/>
        </p:nvSpPr>
        <p:spPr>
          <a:xfrm>
            <a:off x="5532120" y="257860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d280_b28"/>
          <p:cNvSpPr txBox="1"/>
          <p:nvPr/>
        </p:nvSpPr>
        <p:spPr>
          <a:xfrm>
            <a:off x="5751576" y="2478024"/>
            <a:ext cx="293522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Messages only  </a:t>
            </a:r>
            <a:r>
              <a:rPr sz="1050" b="0">
                <a:solidFill>
                  <a:srgbClr val="334155"/>
                </a:solidFill>
                <a:latin typeface="Calibri"/>
              </a:rPr>
              <a:t>get, update, get_and_update</a:t>
            </a:r>
          </a:p>
        </p:txBody>
      </p:sp>
      <p:sp>
        <p:nvSpPr>
          <p:cNvPr id="30" name="a2ud420_dot29"/>
          <p:cNvSpPr/>
          <p:nvPr/>
        </p:nvSpPr>
        <p:spPr>
          <a:xfrm>
            <a:off x="5532120" y="3145536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ud420_b30"/>
          <p:cNvSpPr txBox="1"/>
          <p:nvPr/>
        </p:nvSpPr>
        <p:spPr>
          <a:xfrm>
            <a:off x="5751576" y="3044952"/>
            <a:ext cx="293522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Isolated  </a:t>
            </a:r>
            <a:r>
              <a:rPr sz="1050" b="0">
                <a:solidFill>
                  <a:srgbClr val="334155"/>
                </a:solidFill>
                <a:latin typeface="Calibri"/>
              </a:rPr>
              <a:t>an Agent crash doesn't crash the caller (unless linked)</a:t>
            </a:r>
          </a:p>
        </p:txBody>
      </p:sp>
      <p:sp>
        <p:nvSpPr>
          <p:cNvPr id="32" name="a2ud560_dot31"/>
          <p:cNvSpPr/>
          <p:nvPr/>
        </p:nvSpPr>
        <p:spPr>
          <a:xfrm>
            <a:off x="5532120" y="3712464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ud560_b32"/>
          <p:cNvSpPr txBox="1"/>
          <p:nvPr/>
        </p:nvSpPr>
        <p:spPr>
          <a:xfrm>
            <a:off x="5751576" y="3611880"/>
            <a:ext cx="293522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Outgrown it?  </a:t>
            </a:r>
            <a:r>
              <a:rPr sz="1050" b="0">
                <a:solidFill>
                  <a:srgbClr val="334155"/>
                </a:solidFill>
                <a:latin typeface="Calibri"/>
              </a:rPr>
              <a:t>use a GenServer: timeouts, casts, complex logic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STATE · AGENT IN USE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Counter in iex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real session — every value below was returned by the Agent.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3931920" cy="2798064"/>
          </a:xfrm>
          <a:prstGeom prst="roundRect">
            <a:avLst>
              <a:gd name="adj" fmla="val 26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71600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5564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{:ok, _pid} = Counter.start_link(10)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621792" y="193852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Counter.value()                #=&gt; 10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621792" y="212140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Counter.increment()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621792" y="230428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Counter.value()                #=&gt; 11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621792" y="248716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Counter.increment(5)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621792" y="267004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Counter.value()                #=&gt; 16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621792" y="285292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Counter.decrement(3)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621792" y="303580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Counter.value()                #=&gt; 13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621792" y="321868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Counter.get_and_increment(2)   #=&gt; 13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621792" y="340156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Counter.value()                #=&gt; 15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621792" y="358444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Counter.reset()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621792" y="3767328"/>
            <a:ext cx="360273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Counter.value()                #=&gt; 0</a:t>
            </a:r>
          </a:p>
        </p:txBody>
      </p:sp>
      <p:sp>
        <p:nvSpPr>
          <p:cNvPr id="19" name="a2f_tl18"/>
          <p:cNvSpPr txBox="1"/>
          <p:nvPr/>
        </p:nvSpPr>
        <p:spPr>
          <a:xfrm>
            <a:off x="4572000" y="1316736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4B275F"/>
                </a:solidFill>
                <a:latin typeface="Calibri"/>
              </a:rPr>
              <a:t>What's happening under the hood</a:t>
            </a:r>
          </a:p>
        </p:txBody>
      </p:sp>
      <p:sp>
        <p:nvSpPr>
          <p:cNvPr id="20" name="a2f_th19"/>
          <p:cNvSpPr/>
          <p:nvPr/>
        </p:nvSpPr>
        <p:spPr>
          <a:xfrm>
            <a:off x="4572000" y="1591056"/>
            <a:ext cx="1280160" cy="45720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tht20"/>
          <p:cNvSpPr txBox="1"/>
          <p:nvPr/>
        </p:nvSpPr>
        <p:spPr>
          <a:xfrm>
            <a:off x="4645152" y="1591056"/>
            <a:ext cx="11704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Function</a:t>
            </a:r>
          </a:p>
        </p:txBody>
      </p:sp>
      <p:sp>
        <p:nvSpPr>
          <p:cNvPr id="22" name="a2wd110_td21"/>
          <p:cNvSpPr/>
          <p:nvPr/>
        </p:nvSpPr>
        <p:spPr>
          <a:xfrm>
            <a:off x="4572000" y="2048256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110_tdt22"/>
          <p:cNvSpPr txBox="1"/>
          <p:nvPr/>
        </p:nvSpPr>
        <p:spPr>
          <a:xfrm>
            <a:off x="4645152" y="2048256"/>
            <a:ext cx="11704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start_link</a:t>
            </a:r>
          </a:p>
        </p:txBody>
      </p:sp>
      <p:sp>
        <p:nvSpPr>
          <p:cNvPr id="24" name="a2wd220_td23"/>
          <p:cNvSpPr/>
          <p:nvPr/>
        </p:nvSpPr>
        <p:spPr>
          <a:xfrm>
            <a:off x="4572000" y="2505456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220_tdt24"/>
          <p:cNvSpPr txBox="1"/>
          <p:nvPr/>
        </p:nvSpPr>
        <p:spPr>
          <a:xfrm>
            <a:off x="4645152" y="2505456"/>
            <a:ext cx="11704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value</a:t>
            </a:r>
          </a:p>
        </p:txBody>
      </p:sp>
      <p:sp>
        <p:nvSpPr>
          <p:cNvPr id="26" name="a2wd330_td25"/>
          <p:cNvSpPr/>
          <p:nvPr/>
        </p:nvSpPr>
        <p:spPr>
          <a:xfrm>
            <a:off x="4572000" y="2962656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330_tdt26"/>
          <p:cNvSpPr txBox="1"/>
          <p:nvPr/>
        </p:nvSpPr>
        <p:spPr>
          <a:xfrm>
            <a:off x="4645152" y="2962656"/>
            <a:ext cx="11704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increment / decrement / reset</a:t>
            </a:r>
          </a:p>
        </p:txBody>
      </p:sp>
      <p:sp>
        <p:nvSpPr>
          <p:cNvPr id="28" name="a2wd440_td27"/>
          <p:cNvSpPr/>
          <p:nvPr/>
        </p:nvSpPr>
        <p:spPr>
          <a:xfrm>
            <a:off x="4572000" y="3419856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440_tdt28"/>
          <p:cNvSpPr txBox="1"/>
          <p:nvPr/>
        </p:nvSpPr>
        <p:spPr>
          <a:xfrm>
            <a:off x="4645152" y="3419856"/>
            <a:ext cx="11704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get_and_increment</a:t>
            </a:r>
          </a:p>
        </p:txBody>
      </p:sp>
      <p:sp>
        <p:nvSpPr>
          <p:cNvPr id="30" name="a2f_th29"/>
          <p:cNvSpPr/>
          <p:nvPr/>
        </p:nvSpPr>
        <p:spPr>
          <a:xfrm>
            <a:off x="5852160" y="1591056"/>
            <a:ext cx="1188720" cy="45720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f_tht30"/>
          <p:cNvSpPr txBox="1"/>
          <p:nvPr/>
        </p:nvSpPr>
        <p:spPr>
          <a:xfrm>
            <a:off x="5925312" y="1591056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32" name="a2wd110_td31"/>
          <p:cNvSpPr/>
          <p:nvPr/>
        </p:nvSpPr>
        <p:spPr>
          <a:xfrm>
            <a:off x="5852160" y="204825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110_tdt32"/>
          <p:cNvSpPr txBox="1"/>
          <p:nvPr/>
        </p:nvSpPr>
        <p:spPr>
          <a:xfrm>
            <a:off x="5925312" y="2048256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Creates the process that holds the state</a:t>
            </a:r>
          </a:p>
        </p:txBody>
      </p:sp>
      <p:sp>
        <p:nvSpPr>
          <p:cNvPr id="34" name="a2wd220_td33"/>
          <p:cNvSpPr/>
          <p:nvPr/>
        </p:nvSpPr>
        <p:spPr>
          <a:xfrm>
            <a:off x="5852160" y="250545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d220_tdt34"/>
          <p:cNvSpPr txBox="1"/>
          <p:nvPr/>
        </p:nvSpPr>
        <p:spPr>
          <a:xfrm>
            <a:off x="5925312" y="2505456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Reads the state (no change)</a:t>
            </a:r>
          </a:p>
        </p:txBody>
      </p:sp>
      <p:sp>
        <p:nvSpPr>
          <p:cNvPr id="36" name="a2wd330_td35"/>
          <p:cNvSpPr/>
          <p:nvPr/>
        </p:nvSpPr>
        <p:spPr>
          <a:xfrm>
            <a:off x="5852160" y="296265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d330_tdt36"/>
          <p:cNvSpPr txBox="1"/>
          <p:nvPr/>
        </p:nvSpPr>
        <p:spPr>
          <a:xfrm>
            <a:off x="5925312" y="2962656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Changes the state</a:t>
            </a:r>
          </a:p>
        </p:txBody>
      </p:sp>
      <p:sp>
        <p:nvSpPr>
          <p:cNvPr id="38" name="a2wd440_td37"/>
          <p:cNvSpPr/>
          <p:nvPr/>
        </p:nvSpPr>
        <p:spPr>
          <a:xfrm>
            <a:off x="5852160" y="3419856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2wd440_tdt38"/>
          <p:cNvSpPr txBox="1"/>
          <p:nvPr/>
        </p:nvSpPr>
        <p:spPr>
          <a:xfrm>
            <a:off x="5925312" y="3419856"/>
            <a:ext cx="10789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Reads and updates atomically</a:t>
            </a:r>
          </a:p>
        </p:txBody>
      </p:sp>
      <p:sp>
        <p:nvSpPr>
          <p:cNvPr id="40" name="a2f_th39"/>
          <p:cNvSpPr/>
          <p:nvPr/>
        </p:nvSpPr>
        <p:spPr>
          <a:xfrm>
            <a:off x="7040880" y="1591056"/>
            <a:ext cx="1645920" cy="45720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f_tht40"/>
          <p:cNvSpPr txBox="1"/>
          <p:nvPr/>
        </p:nvSpPr>
        <p:spPr>
          <a:xfrm>
            <a:off x="7114032" y="1591056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ourier New"/>
              </a:rPr>
              <a:t>Agent API used</a:t>
            </a:r>
          </a:p>
        </p:txBody>
      </p:sp>
      <p:sp>
        <p:nvSpPr>
          <p:cNvPr id="42" name="a2wd110_td41"/>
          <p:cNvSpPr/>
          <p:nvPr/>
        </p:nvSpPr>
        <p:spPr>
          <a:xfrm>
            <a:off x="7040880" y="2048256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2wd110_tdt42"/>
          <p:cNvSpPr txBox="1"/>
          <p:nvPr/>
        </p:nvSpPr>
        <p:spPr>
          <a:xfrm>
            <a:off x="7114032" y="2048256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Agent.start_link/2</a:t>
            </a:r>
          </a:p>
        </p:txBody>
      </p:sp>
      <p:sp>
        <p:nvSpPr>
          <p:cNvPr id="44" name="a2wd220_td43"/>
          <p:cNvSpPr/>
          <p:nvPr/>
        </p:nvSpPr>
        <p:spPr>
          <a:xfrm>
            <a:off x="7040880" y="2505456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2wd220_tdt44"/>
          <p:cNvSpPr txBox="1"/>
          <p:nvPr/>
        </p:nvSpPr>
        <p:spPr>
          <a:xfrm>
            <a:off x="7114032" y="2505456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Agent.get/2</a:t>
            </a:r>
          </a:p>
        </p:txBody>
      </p:sp>
      <p:sp>
        <p:nvSpPr>
          <p:cNvPr id="46" name="a2wd330_td45"/>
          <p:cNvSpPr/>
          <p:nvPr/>
        </p:nvSpPr>
        <p:spPr>
          <a:xfrm>
            <a:off x="7040880" y="2962656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a2wd330_tdt46"/>
          <p:cNvSpPr txBox="1"/>
          <p:nvPr/>
        </p:nvSpPr>
        <p:spPr>
          <a:xfrm>
            <a:off x="7114032" y="2962656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Agent.update/2</a:t>
            </a:r>
          </a:p>
        </p:txBody>
      </p:sp>
      <p:sp>
        <p:nvSpPr>
          <p:cNvPr id="48" name="a2wd440_td47"/>
          <p:cNvSpPr/>
          <p:nvPr/>
        </p:nvSpPr>
        <p:spPr>
          <a:xfrm>
            <a:off x="7040880" y="3419856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a2wd440_tdt48"/>
          <p:cNvSpPr txBox="1"/>
          <p:nvPr/>
        </p:nvSpPr>
        <p:spPr>
          <a:xfrm>
            <a:off x="7114032" y="3419856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ourier New"/>
              </a:rPr>
              <a:t>Agent.get_and_update/2</a:t>
            </a:r>
          </a:p>
        </p:txBody>
      </p:sp>
      <p:sp>
        <p:nvSpPr>
          <p:cNvPr id="50" name="ft4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51" name="ft5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STATE · GENSERVER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GenServer: client API outside, callbacks inside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workhorse of OTP — state, synchronous and asynchronous calls, and lifecycle.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4114800" cy="2788920"/>
          </a:xfrm>
          <a:prstGeom prst="roundRect">
            <a:avLst>
              <a:gd name="adj" fmla="val 262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71600"/>
            <a:ext cx="38587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Client API — runs in the caller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19072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use GenServer</a:t>
            </a:r>
          </a:p>
        </p:txBody>
      </p:sp>
      <p:sp>
        <p:nvSpPr>
          <p:cNvPr id="8" name="a1wd50_code7"/>
          <p:cNvSpPr txBox="1"/>
          <p:nvPr/>
        </p:nvSpPr>
        <p:spPr>
          <a:xfrm>
            <a:off x="585216" y="1892807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def start_link(initial_value \\ 0) do</a:t>
            </a:r>
          </a:p>
        </p:txBody>
      </p:sp>
      <p:sp>
        <p:nvSpPr>
          <p:cNvPr id="9" name="a1wd100_code8"/>
          <p:cNvSpPr txBox="1"/>
          <p:nvPr/>
        </p:nvSpPr>
        <p:spPr>
          <a:xfrm>
            <a:off x="585216" y="2066543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GenServer.start_link(__MODULE__, initial_value,</a:t>
            </a:r>
          </a:p>
        </p:txBody>
      </p:sp>
      <p:sp>
        <p:nvSpPr>
          <p:cNvPr id="10" name="a1wd150_code9"/>
          <p:cNvSpPr txBox="1"/>
          <p:nvPr/>
        </p:nvSpPr>
        <p:spPr>
          <a:xfrm>
            <a:off x="585216" y="2240280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name: __MODULE__)</a:t>
            </a:r>
          </a:p>
        </p:txBody>
      </p:sp>
      <p:sp>
        <p:nvSpPr>
          <p:cNvPr id="11" name="a1wd200_code10"/>
          <p:cNvSpPr txBox="1"/>
          <p:nvPr/>
        </p:nvSpPr>
        <p:spPr>
          <a:xfrm>
            <a:off x="585216" y="2414015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2" name="a1wd250_code11"/>
          <p:cNvSpPr txBox="1"/>
          <p:nvPr/>
        </p:nvSpPr>
        <p:spPr>
          <a:xfrm>
            <a:off x="585216" y="2587752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def value do</a:t>
            </a:r>
          </a:p>
        </p:txBody>
      </p:sp>
      <p:sp>
        <p:nvSpPr>
          <p:cNvPr id="13" name="a1wd300_code12"/>
          <p:cNvSpPr txBox="1"/>
          <p:nvPr/>
        </p:nvSpPr>
        <p:spPr>
          <a:xfrm>
            <a:off x="585216" y="2761488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GenServer.call(__MODULE__, :value)          # sync</a:t>
            </a:r>
          </a:p>
        </p:txBody>
      </p:sp>
      <p:sp>
        <p:nvSpPr>
          <p:cNvPr id="14" name="a1wd350_code13"/>
          <p:cNvSpPr txBox="1"/>
          <p:nvPr/>
        </p:nvSpPr>
        <p:spPr>
          <a:xfrm>
            <a:off x="585216" y="2935224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5" name="a1wd400_code14"/>
          <p:cNvSpPr txBox="1"/>
          <p:nvPr/>
        </p:nvSpPr>
        <p:spPr>
          <a:xfrm>
            <a:off x="585216" y="3108960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def increment(by \\ 1) do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585216" y="3282696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GenServer.cast(__MODULE__, {:increment, by}) # async</a:t>
            </a:r>
          </a:p>
        </p:txBody>
      </p:sp>
      <p:sp>
        <p:nvSpPr>
          <p:cNvPr id="17" name="a1wd500_code16"/>
          <p:cNvSpPr txBox="1"/>
          <p:nvPr/>
        </p:nvSpPr>
        <p:spPr>
          <a:xfrm>
            <a:off x="585216" y="3456432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8" name="a1wd550_code17"/>
          <p:cNvSpPr txBox="1"/>
          <p:nvPr/>
        </p:nvSpPr>
        <p:spPr>
          <a:xfrm>
            <a:off x="585216" y="3630168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Courier New"/>
              </a:rPr>
              <a:t># decrement, reset: cast · get_and_increment: call</a:t>
            </a:r>
          </a:p>
        </p:txBody>
      </p:sp>
      <p:sp>
        <p:nvSpPr>
          <p:cNvPr id="19" name="a1wd600_code18"/>
          <p:cNvSpPr txBox="1"/>
          <p:nvPr/>
        </p:nvSpPr>
        <p:spPr>
          <a:xfrm>
            <a:off x="585216" y="3803904"/>
            <a:ext cx="385876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def stop, do: GenServer.stop(__MODULE__)</a:t>
            </a:r>
          </a:p>
        </p:txBody>
      </p:sp>
      <p:sp>
        <p:nvSpPr>
          <p:cNvPr id="20" name="a2f_codebg19"/>
          <p:cNvSpPr/>
          <p:nvPr/>
        </p:nvSpPr>
        <p:spPr>
          <a:xfrm>
            <a:off x="4663440" y="1316736"/>
            <a:ext cx="4023360" cy="3136392"/>
          </a:xfrm>
          <a:prstGeom prst="roundRect">
            <a:avLst>
              <a:gd name="adj" fmla="val 233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codeh20"/>
          <p:cNvSpPr txBox="1"/>
          <p:nvPr/>
        </p:nvSpPr>
        <p:spPr>
          <a:xfrm>
            <a:off x="4791455" y="1371600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Server callbacks — run in the GenServer</a:t>
            </a:r>
          </a:p>
        </p:txBody>
      </p:sp>
      <p:sp>
        <p:nvSpPr>
          <p:cNvPr id="22" name="a2w_code21"/>
          <p:cNvSpPr txBox="1"/>
          <p:nvPr/>
        </p:nvSpPr>
        <p:spPr>
          <a:xfrm>
            <a:off x="4791455" y="1719072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@impl true</a:t>
            </a:r>
          </a:p>
        </p:txBody>
      </p:sp>
      <p:sp>
        <p:nvSpPr>
          <p:cNvPr id="23" name="a2wd50_code22"/>
          <p:cNvSpPr txBox="1"/>
          <p:nvPr/>
        </p:nvSpPr>
        <p:spPr>
          <a:xfrm>
            <a:off x="4791455" y="1892807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 init(initial_value), do: {:ok, initial_value}</a:t>
            </a:r>
          </a:p>
        </p:txBody>
      </p:sp>
      <p:sp>
        <p:nvSpPr>
          <p:cNvPr id="24" name="a2wd100_code23"/>
          <p:cNvSpPr txBox="1"/>
          <p:nvPr/>
        </p:nvSpPr>
        <p:spPr>
          <a:xfrm>
            <a:off x="4791455" y="2066543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5" name="a2wd150_code24"/>
          <p:cNvSpPr txBox="1"/>
          <p:nvPr/>
        </p:nvSpPr>
        <p:spPr>
          <a:xfrm>
            <a:off x="4791455" y="2240280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@impl true</a:t>
            </a:r>
          </a:p>
        </p:txBody>
      </p:sp>
      <p:sp>
        <p:nvSpPr>
          <p:cNvPr id="26" name="a2wd200_code25"/>
          <p:cNvSpPr txBox="1"/>
          <p:nvPr/>
        </p:nvSpPr>
        <p:spPr>
          <a:xfrm>
            <a:off x="4791455" y="2414015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 handle_call(:value, _from, state),</a:t>
            </a:r>
          </a:p>
        </p:txBody>
      </p:sp>
      <p:sp>
        <p:nvSpPr>
          <p:cNvPr id="27" name="a2wd250_code26"/>
          <p:cNvSpPr txBox="1"/>
          <p:nvPr/>
        </p:nvSpPr>
        <p:spPr>
          <a:xfrm>
            <a:off x="4791455" y="2587752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do: {:reply, state, state}</a:t>
            </a:r>
          </a:p>
        </p:txBody>
      </p:sp>
      <p:sp>
        <p:nvSpPr>
          <p:cNvPr id="28" name="a2wd300_code27"/>
          <p:cNvSpPr txBox="1"/>
          <p:nvPr/>
        </p:nvSpPr>
        <p:spPr>
          <a:xfrm>
            <a:off x="4791455" y="2761488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 handle_call({:get_and_increment, by}, _from, state),</a:t>
            </a:r>
          </a:p>
        </p:txBody>
      </p:sp>
      <p:sp>
        <p:nvSpPr>
          <p:cNvPr id="29" name="a2wd350_code28"/>
          <p:cNvSpPr txBox="1"/>
          <p:nvPr/>
        </p:nvSpPr>
        <p:spPr>
          <a:xfrm>
            <a:off x="4791455" y="2935224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do: {:reply, state, state + by}</a:t>
            </a:r>
          </a:p>
        </p:txBody>
      </p:sp>
      <p:sp>
        <p:nvSpPr>
          <p:cNvPr id="30" name="a2wd400_code29"/>
          <p:cNvSpPr txBox="1"/>
          <p:nvPr/>
        </p:nvSpPr>
        <p:spPr>
          <a:xfrm>
            <a:off x="4791455" y="3108960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1" name="a2wd450_code30"/>
          <p:cNvSpPr txBox="1"/>
          <p:nvPr/>
        </p:nvSpPr>
        <p:spPr>
          <a:xfrm>
            <a:off x="4791455" y="3282696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@impl true</a:t>
            </a:r>
          </a:p>
        </p:txBody>
      </p:sp>
      <p:sp>
        <p:nvSpPr>
          <p:cNvPr id="32" name="a2wd500_code31"/>
          <p:cNvSpPr txBox="1"/>
          <p:nvPr/>
        </p:nvSpPr>
        <p:spPr>
          <a:xfrm>
            <a:off x="4791455" y="3456432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 handle_cast({:increment, by}, state),</a:t>
            </a:r>
          </a:p>
        </p:txBody>
      </p:sp>
      <p:sp>
        <p:nvSpPr>
          <p:cNvPr id="33" name="a2wd550_code32"/>
          <p:cNvSpPr txBox="1"/>
          <p:nvPr/>
        </p:nvSpPr>
        <p:spPr>
          <a:xfrm>
            <a:off x="4791455" y="3630168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>  do: {:noreply, state + by}</a:t>
            </a:r>
          </a:p>
        </p:txBody>
      </p:sp>
      <p:sp>
        <p:nvSpPr>
          <p:cNvPr id="34" name="a2wd600_code33"/>
          <p:cNvSpPr txBox="1"/>
          <p:nvPr/>
        </p:nvSpPr>
        <p:spPr>
          <a:xfrm>
            <a:off x="4791455" y="3803904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5" name="a2wd650_code34"/>
          <p:cNvSpPr txBox="1"/>
          <p:nvPr/>
        </p:nvSpPr>
        <p:spPr>
          <a:xfrm>
            <a:off x="4791455" y="3977639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 handle_info(msg, state)   # unexpected messages</a:t>
            </a:r>
          </a:p>
        </p:txBody>
      </p:sp>
      <p:sp>
        <p:nvSpPr>
          <p:cNvPr id="36" name="a2wd700_code35"/>
          <p:cNvSpPr txBox="1"/>
          <p:nvPr/>
        </p:nvSpPr>
        <p:spPr>
          <a:xfrm>
            <a:off x="4791455" y="4151376"/>
            <a:ext cx="3767328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>
                <a:solidFill>
                  <a:srgbClr val="C9B3E8"/>
                </a:solidFill>
                <a:latin typeface="Courier New"/>
              </a:rPr>
              <a:t>def terminate(reason, state)  # clean-up on stop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STATE · GENSERVER IN USE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CounterServer in iex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call waits for the reply; cast returns :ok at once; terminate/2 runs on stop.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3977639" cy="2962656"/>
          </a:xfrm>
          <a:prstGeom prst="roundRect">
            <a:avLst>
              <a:gd name="adj" fmla="val 24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71600"/>
            <a:ext cx="372160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19072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{:ok, pid} = CounterServer.start_link(10)</a:t>
            </a:r>
          </a:p>
        </p:txBody>
      </p:sp>
      <p:sp>
        <p:nvSpPr>
          <p:cNvPr id="8" name="a1wd50_code7"/>
          <p:cNvSpPr txBox="1"/>
          <p:nvPr/>
        </p:nvSpPr>
        <p:spPr>
          <a:xfrm>
            <a:off x="585216" y="1892807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CounterServer.value()              #=&gt; 10</a:t>
            </a:r>
          </a:p>
        </p:txBody>
      </p:sp>
      <p:sp>
        <p:nvSpPr>
          <p:cNvPr id="9" name="a1wd100_code8"/>
          <p:cNvSpPr txBox="1"/>
          <p:nvPr/>
        </p:nvSpPr>
        <p:spPr>
          <a:xfrm>
            <a:off x="585216" y="2066543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CounterServer.increment()          #=&gt; :ok</a:t>
            </a:r>
          </a:p>
        </p:txBody>
      </p:sp>
      <p:sp>
        <p:nvSpPr>
          <p:cNvPr id="10" name="a1wd150_code9"/>
          <p:cNvSpPr txBox="1"/>
          <p:nvPr/>
        </p:nvSpPr>
        <p:spPr>
          <a:xfrm>
            <a:off x="585216" y="2240280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CounterServer.value()              #=&gt; 11</a:t>
            </a:r>
          </a:p>
        </p:txBody>
      </p:sp>
      <p:sp>
        <p:nvSpPr>
          <p:cNvPr id="11" name="a1wd200_code10"/>
          <p:cNvSpPr txBox="1"/>
          <p:nvPr/>
        </p:nvSpPr>
        <p:spPr>
          <a:xfrm>
            <a:off x="585216" y="2414015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CounterServer.increment(5)</a:t>
            </a:r>
          </a:p>
        </p:txBody>
      </p:sp>
      <p:sp>
        <p:nvSpPr>
          <p:cNvPr id="12" name="a1wd250_code11"/>
          <p:cNvSpPr txBox="1"/>
          <p:nvPr/>
        </p:nvSpPr>
        <p:spPr>
          <a:xfrm>
            <a:off x="585216" y="2587752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CounterServer.decrement(3)</a:t>
            </a:r>
          </a:p>
        </p:txBody>
      </p:sp>
      <p:sp>
        <p:nvSpPr>
          <p:cNvPr id="13" name="a1wd300_code12"/>
          <p:cNvSpPr txBox="1"/>
          <p:nvPr/>
        </p:nvSpPr>
        <p:spPr>
          <a:xfrm>
            <a:off x="585216" y="2761488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CounterServer.get_and_increment(2) #=&gt; 13</a:t>
            </a:r>
          </a:p>
        </p:txBody>
      </p:sp>
      <p:sp>
        <p:nvSpPr>
          <p:cNvPr id="14" name="a1wd350_code13"/>
          <p:cNvSpPr txBox="1"/>
          <p:nvPr/>
        </p:nvSpPr>
        <p:spPr>
          <a:xfrm>
            <a:off x="585216" y="2935224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CounterServer.value()              #=&gt; 15</a:t>
            </a:r>
          </a:p>
        </p:txBody>
      </p:sp>
      <p:sp>
        <p:nvSpPr>
          <p:cNvPr id="15" name="a1wd400_code14"/>
          <p:cNvSpPr txBox="1"/>
          <p:nvPr/>
        </p:nvSpPr>
        <p:spPr>
          <a:xfrm>
            <a:off x="585216" y="3108960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send(CounterServer, :ping)</a:t>
            </a:r>
          </a:p>
        </p:txBody>
      </p:sp>
      <p:sp>
        <p:nvSpPr>
          <p:cNvPr id="16" name="a1wd450_code15"/>
          <p:cNvSpPr txBox="1"/>
          <p:nvPr/>
        </p:nvSpPr>
        <p:spPr>
          <a:xfrm>
            <a:off x="585216" y="3282696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Unexpected message: :ping</a:t>
            </a:r>
          </a:p>
        </p:txBody>
      </p:sp>
      <p:sp>
        <p:nvSpPr>
          <p:cNvPr id="17" name="a1wd500_code16"/>
          <p:cNvSpPr txBox="1"/>
          <p:nvPr/>
        </p:nvSpPr>
        <p:spPr>
          <a:xfrm>
            <a:off x="585216" y="3456432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CounterServer.reset(0)</a:t>
            </a:r>
          </a:p>
        </p:txBody>
      </p:sp>
      <p:sp>
        <p:nvSpPr>
          <p:cNvPr id="18" name="a1wd550_code17"/>
          <p:cNvSpPr txBox="1"/>
          <p:nvPr/>
        </p:nvSpPr>
        <p:spPr>
          <a:xfrm>
            <a:off x="585216" y="3630168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CounterServer.stop()</a:t>
            </a:r>
          </a:p>
        </p:txBody>
      </p:sp>
      <p:sp>
        <p:nvSpPr>
          <p:cNvPr id="19" name="a1wd600_code18"/>
          <p:cNvSpPr txBox="1"/>
          <p:nvPr/>
        </p:nvSpPr>
        <p:spPr>
          <a:xfrm>
            <a:off x="585216" y="3803904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CounterServer terminating.</a:t>
            </a:r>
          </a:p>
        </p:txBody>
      </p:sp>
      <p:sp>
        <p:nvSpPr>
          <p:cNvPr id="20" name="a1wd650_code19"/>
          <p:cNvSpPr txBox="1"/>
          <p:nvPr/>
        </p:nvSpPr>
        <p:spPr>
          <a:xfrm>
            <a:off x="585216" y="3977639"/>
            <a:ext cx="372160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  Reason: :normal, last state: 0</a:t>
            </a:r>
          </a:p>
        </p:txBody>
      </p:sp>
      <p:sp>
        <p:nvSpPr>
          <p:cNvPr id="21" name="a2f_th20"/>
          <p:cNvSpPr/>
          <p:nvPr/>
        </p:nvSpPr>
        <p:spPr>
          <a:xfrm>
            <a:off x="4572000" y="1316736"/>
            <a:ext cx="1234440" cy="38404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2f_tht21"/>
          <p:cNvSpPr txBox="1"/>
          <p:nvPr/>
        </p:nvSpPr>
        <p:spPr>
          <a:xfrm>
            <a:off x="4645152" y="1316736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Concept</a:t>
            </a:r>
          </a:p>
        </p:txBody>
      </p:sp>
      <p:sp>
        <p:nvSpPr>
          <p:cNvPr id="23" name="a2wd90_td22"/>
          <p:cNvSpPr/>
          <p:nvPr/>
        </p:nvSpPr>
        <p:spPr>
          <a:xfrm>
            <a:off x="4572000" y="1700784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wd90_tdt23"/>
          <p:cNvSpPr txBox="1"/>
          <p:nvPr/>
        </p:nvSpPr>
        <p:spPr>
          <a:xfrm>
            <a:off x="4645152" y="1700784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use GenServer</a:t>
            </a:r>
          </a:p>
        </p:txBody>
      </p:sp>
      <p:sp>
        <p:nvSpPr>
          <p:cNvPr id="25" name="a2wd180_td24"/>
          <p:cNvSpPr/>
          <p:nvPr/>
        </p:nvSpPr>
        <p:spPr>
          <a:xfrm>
            <a:off x="4572000" y="2084831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wd180_tdt25"/>
          <p:cNvSpPr txBox="1"/>
          <p:nvPr/>
        </p:nvSpPr>
        <p:spPr>
          <a:xfrm>
            <a:off x="4645152" y="2084831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Client API</a:t>
            </a:r>
          </a:p>
        </p:txBody>
      </p:sp>
      <p:sp>
        <p:nvSpPr>
          <p:cNvPr id="27" name="a2wd270_td26"/>
          <p:cNvSpPr/>
          <p:nvPr/>
        </p:nvSpPr>
        <p:spPr>
          <a:xfrm>
            <a:off x="4572000" y="2468880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2wd270_tdt27"/>
          <p:cNvSpPr txBox="1"/>
          <p:nvPr/>
        </p:nvSpPr>
        <p:spPr>
          <a:xfrm>
            <a:off x="4645152" y="2468880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init/1</a:t>
            </a:r>
          </a:p>
        </p:txBody>
      </p:sp>
      <p:sp>
        <p:nvSpPr>
          <p:cNvPr id="29" name="a2wd360_td28"/>
          <p:cNvSpPr/>
          <p:nvPr/>
        </p:nvSpPr>
        <p:spPr>
          <a:xfrm>
            <a:off x="4572000" y="2852928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wd360_tdt29"/>
          <p:cNvSpPr txBox="1"/>
          <p:nvPr/>
        </p:nvSpPr>
        <p:spPr>
          <a:xfrm>
            <a:off x="4645152" y="2852928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handle_call/3</a:t>
            </a:r>
          </a:p>
        </p:txBody>
      </p:sp>
      <p:sp>
        <p:nvSpPr>
          <p:cNvPr id="31" name="a2wd450_td30"/>
          <p:cNvSpPr/>
          <p:nvPr/>
        </p:nvSpPr>
        <p:spPr>
          <a:xfrm>
            <a:off x="4572000" y="323697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wd450_tdt31"/>
          <p:cNvSpPr txBox="1"/>
          <p:nvPr/>
        </p:nvSpPr>
        <p:spPr>
          <a:xfrm>
            <a:off x="4645152" y="3236976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handle_cast/2</a:t>
            </a:r>
          </a:p>
        </p:txBody>
      </p:sp>
      <p:sp>
        <p:nvSpPr>
          <p:cNvPr id="33" name="a2wd540_td32"/>
          <p:cNvSpPr/>
          <p:nvPr/>
        </p:nvSpPr>
        <p:spPr>
          <a:xfrm>
            <a:off x="4572000" y="3621024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wd540_tdt33"/>
          <p:cNvSpPr txBox="1"/>
          <p:nvPr/>
        </p:nvSpPr>
        <p:spPr>
          <a:xfrm>
            <a:off x="4645152" y="3621024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handle_info/2</a:t>
            </a:r>
          </a:p>
        </p:txBody>
      </p:sp>
      <p:sp>
        <p:nvSpPr>
          <p:cNvPr id="35" name="a2wd630_td34"/>
          <p:cNvSpPr/>
          <p:nvPr/>
        </p:nvSpPr>
        <p:spPr>
          <a:xfrm>
            <a:off x="4572000" y="4005072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a2wd630_tdt35"/>
          <p:cNvSpPr txBox="1"/>
          <p:nvPr/>
        </p:nvSpPr>
        <p:spPr>
          <a:xfrm>
            <a:off x="4645152" y="4005072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terminate/2</a:t>
            </a:r>
          </a:p>
        </p:txBody>
      </p:sp>
      <p:sp>
        <p:nvSpPr>
          <p:cNvPr id="37" name="a2f_th36"/>
          <p:cNvSpPr/>
          <p:nvPr/>
        </p:nvSpPr>
        <p:spPr>
          <a:xfrm>
            <a:off x="5806440" y="1316736"/>
            <a:ext cx="2880360" cy="384048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2f_tht37"/>
          <p:cNvSpPr txBox="1"/>
          <p:nvPr/>
        </p:nvSpPr>
        <p:spPr>
          <a:xfrm>
            <a:off x="5879592" y="1316736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What it is for</a:t>
            </a:r>
          </a:p>
        </p:txBody>
      </p:sp>
      <p:sp>
        <p:nvSpPr>
          <p:cNvPr id="39" name="a2wd90_td38"/>
          <p:cNvSpPr/>
          <p:nvPr/>
        </p:nvSpPr>
        <p:spPr>
          <a:xfrm>
            <a:off x="5806440" y="1700784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2wd90_tdt39"/>
          <p:cNvSpPr txBox="1"/>
          <p:nvPr/>
        </p:nvSpPr>
        <p:spPr>
          <a:xfrm>
            <a:off x="5879592" y="1700784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Brings in the behaviour</a:t>
            </a:r>
          </a:p>
        </p:txBody>
      </p:sp>
      <p:sp>
        <p:nvSpPr>
          <p:cNvPr id="41" name="a2wd180_td40"/>
          <p:cNvSpPr/>
          <p:nvPr/>
        </p:nvSpPr>
        <p:spPr>
          <a:xfrm>
            <a:off x="5806440" y="2084831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wd180_tdt41"/>
          <p:cNvSpPr txBox="1"/>
          <p:nvPr/>
        </p:nvSpPr>
        <p:spPr>
          <a:xfrm>
            <a:off x="5879592" y="2084831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start_link, value, increment… — the public interface</a:t>
            </a:r>
          </a:p>
        </p:txBody>
      </p:sp>
      <p:sp>
        <p:nvSpPr>
          <p:cNvPr id="43" name="a2wd270_td42"/>
          <p:cNvSpPr/>
          <p:nvPr/>
        </p:nvSpPr>
        <p:spPr>
          <a:xfrm>
            <a:off x="5806440" y="2468880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a2wd270_tdt43"/>
          <p:cNvSpPr txBox="1"/>
          <p:nvPr/>
        </p:nvSpPr>
        <p:spPr>
          <a:xfrm>
            <a:off x="5879592" y="2468880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Sets the initial state; runs once at start</a:t>
            </a:r>
          </a:p>
        </p:txBody>
      </p:sp>
      <p:sp>
        <p:nvSpPr>
          <p:cNvPr id="45" name="a2wd360_td44"/>
          <p:cNvSpPr/>
          <p:nvPr/>
        </p:nvSpPr>
        <p:spPr>
          <a:xfrm>
            <a:off x="5806440" y="2852928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a2wd360_tdt45"/>
          <p:cNvSpPr txBox="1"/>
          <p:nvPr/>
        </p:nvSpPr>
        <p:spPr>
          <a:xfrm>
            <a:off x="5879592" y="2852928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Synchronous — caller waits (value, get_and_increment)</a:t>
            </a:r>
          </a:p>
        </p:txBody>
      </p:sp>
      <p:sp>
        <p:nvSpPr>
          <p:cNvPr id="47" name="a2wd450_td46"/>
          <p:cNvSpPr/>
          <p:nvPr/>
        </p:nvSpPr>
        <p:spPr>
          <a:xfrm>
            <a:off x="5806440" y="3236976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a2wd450_tdt47"/>
          <p:cNvSpPr txBox="1"/>
          <p:nvPr/>
        </p:nvSpPr>
        <p:spPr>
          <a:xfrm>
            <a:off x="5879592" y="3236976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Asynchronous — fire-and-forget (increment, decrement, reset)</a:t>
            </a:r>
          </a:p>
        </p:txBody>
      </p:sp>
      <p:sp>
        <p:nvSpPr>
          <p:cNvPr id="49" name="a2wd540_td48"/>
          <p:cNvSpPr/>
          <p:nvPr/>
        </p:nvSpPr>
        <p:spPr>
          <a:xfrm>
            <a:off x="5806440" y="3621024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a2wd540_tdt49"/>
          <p:cNvSpPr txBox="1"/>
          <p:nvPr/>
        </p:nvSpPr>
        <p:spPr>
          <a:xfrm>
            <a:off x="5879592" y="3621024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Catches unexpected messages</a:t>
            </a:r>
          </a:p>
        </p:txBody>
      </p:sp>
      <p:sp>
        <p:nvSpPr>
          <p:cNvPr id="51" name="a2wd630_td50"/>
          <p:cNvSpPr/>
          <p:nvPr/>
        </p:nvSpPr>
        <p:spPr>
          <a:xfrm>
            <a:off x="5806440" y="4005072"/>
            <a:ext cx="2880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a2wd630_tdt51"/>
          <p:cNvSpPr txBox="1"/>
          <p:nvPr/>
        </p:nvSpPr>
        <p:spPr>
          <a:xfrm>
            <a:off x="5879592" y="4005072"/>
            <a:ext cx="2770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Clean-up when the process stops</a:t>
            </a:r>
          </a:p>
        </p:txBody>
      </p:sp>
      <p:sp>
        <p:nvSpPr>
          <p:cNvPr id="53" name="ft5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54" name="ft5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9B72CF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Supervision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Let OTP start your processes,
watch them, and restart them.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Supervisor + strategies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Application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DynamicSupervisor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SUPERVISION · STRATEGIES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Supervisors restart children by strategy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supervisor monitors its children and, when one crashes, restarts by its strategy.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35024"/>
            <a:ext cx="3749039" cy="2139696"/>
          </a:xfrm>
          <a:prstGeom prst="roundRect">
            <a:avLst>
              <a:gd name="adj" fmla="val 341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9888"/>
            <a:ext cx="3419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the shape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73936"/>
            <a:ext cx="3419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children = [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621792" y="1965960"/>
            <a:ext cx="3419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{Counter, 0},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621792" y="2157984"/>
            <a:ext cx="3419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{Task.Supervisor, name: MyApp.TaskSupervisor}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621792" y="2350008"/>
            <a:ext cx="3419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]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621792" y="2542032"/>
            <a:ext cx="3419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621792" y="2734056"/>
            <a:ext cx="3419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opts = [strategy: :one_for_one,</a:t>
            </a:r>
          </a:p>
        </p:txBody>
      </p:sp>
      <p:sp>
        <p:nvSpPr>
          <p:cNvPr id="13" name="a1wd420_code12"/>
          <p:cNvSpPr txBox="1"/>
          <p:nvPr/>
        </p:nvSpPr>
        <p:spPr>
          <a:xfrm>
            <a:off x="621792" y="2926080"/>
            <a:ext cx="3419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    name: MyApp.Supervisor]</a:t>
            </a:r>
          </a:p>
        </p:txBody>
      </p:sp>
      <p:sp>
        <p:nvSpPr>
          <p:cNvPr id="14" name="a1wd490_code13"/>
          <p:cNvSpPr txBox="1"/>
          <p:nvPr/>
        </p:nvSpPr>
        <p:spPr>
          <a:xfrm>
            <a:off x="621792" y="3118104"/>
            <a:ext cx="3419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Supervisor.start_link(children, opts)</a:t>
            </a:r>
          </a:p>
        </p:txBody>
      </p:sp>
      <p:sp>
        <p:nvSpPr>
          <p:cNvPr id="15" name="a1fd600_nb14"/>
          <p:cNvSpPr/>
          <p:nvPr/>
        </p:nvSpPr>
        <p:spPr>
          <a:xfrm>
            <a:off x="457200" y="3529584"/>
            <a:ext cx="3749039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fd600_nacc15"/>
          <p:cNvSpPr/>
          <p:nvPr/>
        </p:nvSpPr>
        <p:spPr>
          <a:xfrm>
            <a:off x="457200" y="3529584"/>
            <a:ext cx="50292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d600_nt16"/>
          <p:cNvSpPr txBox="1"/>
          <p:nvPr/>
        </p:nvSpPr>
        <p:spPr>
          <a:xfrm>
            <a:off x="658368" y="3529584"/>
            <a:ext cx="334670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!  </a:t>
            </a:r>
            <a:r>
              <a:rPr sz="1050" b="0">
                <a:solidFill>
                  <a:srgbClr val="334155"/>
                </a:solidFill>
                <a:latin typeface="Calibri"/>
              </a:rPr>
              <a:t>Children start in list order — that order is what :rest_for_one means by “started after it”.</a:t>
            </a:r>
          </a:p>
        </p:txBody>
      </p:sp>
      <p:sp>
        <p:nvSpPr>
          <p:cNvPr id="18" name="a2u_sn17"/>
          <p:cNvSpPr txBox="1"/>
          <p:nvPr/>
        </p:nvSpPr>
        <p:spPr>
          <a:xfrm>
            <a:off x="4434840" y="13533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B275F"/>
                </a:solidFill>
                <a:latin typeface="Courier New"/>
              </a:rPr>
              <a:t>:one_for_one</a:t>
            </a:r>
          </a:p>
        </p:txBody>
      </p:sp>
      <p:sp>
        <p:nvSpPr>
          <p:cNvPr id="19" name="a2u_sd18"/>
          <p:cNvSpPr txBox="1"/>
          <p:nvPr/>
        </p:nvSpPr>
        <p:spPr>
          <a:xfrm>
            <a:off x="4434840" y="16459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restart only the crashed child</a:t>
            </a:r>
          </a:p>
        </p:txBody>
      </p:sp>
      <p:sp>
        <p:nvSpPr>
          <p:cNvPr id="20" name="a2ud120_stg19"/>
          <p:cNvSpPr/>
          <p:nvPr/>
        </p:nvSpPr>
        <p:spPr>
          <a:xfrm>
            <a:off x="6400800" y="1426464"/>
            <a:ext cx="6583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ud120_stgt20"/>
          <p:cNvSpPr txBox="1"/>
          <p:nvPr/>
        </p:nvSpPr>
        <p:spPr>
          <a:xfrm>
            <a:off x="6446520" y="14264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Calibri"/>
              </a:rPr>
              <a:t>A</a:t>
            </a:r>
          </a:p>
        </p:txBody>
      </p:sp>
      <p:sp>
        <p:nvSpPr>
          <p:cNvPr id="22" name="a2ud200_stg21"/>
          <p:cNvSpPr/>
          <p:nvPr/>
        </p:nvSpPr>
        <p:spPr>
          <a:xfrm>
            <a:off x="7178040" y="1426464"/>
            <a:ext cx="658368" cy="566928"/>
          </a:xfrm>
          <a:prstGeom prst="roundRect">
            <a:avLst>
              <a:gd name="adj" fmla="val 12903"/>
            </a:avLst>
          </a:prstGeom>
          <a:solidFill>
            <a:srgbClr val="6B3FA0"/>
          </a:solidFill>
          <a:ln w="28575">
            <a:solidFill>
              <a:srgbClr val="A90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200_stgt22"/>
          <p:cNvSpPr txBox="1"/>
          <p:nvPr/>
        </p:nvSpPr>
        <p:spPr>
          <a:xfrm>
            <a:off x="7223759" y="14264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4" name="a2ud280_stg23"/>
          <p:cNvSpPr/>
          <p:nvPr/>
        </p:nvSpPr>
        <p:spPr>
          <a:xfrm>
            <a:off x="7955279" y="1426464"/>
            <a:ext cx="6583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d280_stgt24"/>
          <p:cNvSpPr txBox="1"/>
          <p:nvPr/>
        </p:nvSpPr>
        <p:spPr>
          <a:xfrm>
            <a:off x="8001000" y="14264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Calibri"/>
              </a:rPr>
              <a:t>C</a:t>
            </a:r>
          </a:p>
        </p:txBody>
      </p:sp>
      <p:sp>
        <p:nvSpPr>
          <p:cNvPr id="26" name="a3u_sn25"/>
          <p:cNvSpPr txBox="1"/>
          <p:nvPr/>
        </p:nvSpPr>
        <p:spPr>
          <a:xfrm>
            <a:off x="4434840" y="23408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B275F"/>
                </a:solidFill>
                <a:latin typeface="Courier New"/>
              </a:rPr>
              <a:t>:one_for_all</a:t>
            </a:r>
          </a:p>
        </p:txBody>
      </p:sp>
      <p:sp>
        <p:nvSpPr>
          <p:cNvPr id="27" name="a3u_sd26"/>
          <p:cNvSpPr txBox="1"/>
          <p:nvPr/>
        </p:nvSpPr>
        <p:spPr>
          <a:xfrm>
            <a:off x="4434840" y="2633472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restart all children</a:t>
            </a:r>
          </a:p>
        </p:txBody>
      </p:sp>
      <p:sp>
        <p:nvSpPr>
          <p:cNvPr id="28" name="a3ud120_stg27"/>
          <p:cNvSpPr/>
          <p:nvPr/>
        </p:nvSpPr>
        <p:spPr>
          <a:xfrm>
            <a:off x="6400800" y="2414016"/>
            <a:ext cx="658368" cy="566928"/>
          </a:xfrm>
          <a:prstGeom prst="roundRect">
            <a:avLst>
              <a:gd name="adj" fmla="val 12903"/>
            </a:avLst>
          </a:prstGeom>
          <a:solidFill>
            <a:srgbClr val="6B3FA0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d120_stgt28"/>
          <p:cNvSpPr txBox="1"/>
          <p:nvPr/>
        </p:nvSpPr>
        <p:spPr>
          <a:xfrm>
            <a:off x="6446520" y="24140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a3ud200_stg29"/>
          <p:cNvSpPr/>
          <p:nvPr/>
        </p:nvSpPr>
        <p:spPr>
          <a:xfrm>
            <a:off x="7178040" y="2414016"/>
            <a:ext cx="658368" cy="566928"/>
          </a:xfrm>
          <a:prstGeom prst="roundRect">
            <a:avLst>
              <a:gd name="adj" fmla="val 12903"/>
            </a:avLst>
          </a:prstGeom>
          <a:solidFill>
            <a:srgbClr val="6B3FA0"/>
          </a:solidFill>
          <a:ln w="28575">
            <a:solidFill>
              <a:srgbClr val="A90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ud200_stgt30"/>
          <p:cNvSpPr txBox="1"/>
          <p:nvPr/>
        </p:nvSpPr>
        <p:spPr>
          <a:xfrm>
            <a:off x="7223759" y="24140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2" name="a3ud280_stg31"/>
          <p:cNvSpPr/>
          <p:nvPr/>
        </p:nvSpPr>
        <p:spPr>
          <a:xfrm>
            <a:off x="7955279" y="2414016"/>
            <a:ext cx="658368" cy="566928"/>
          </a:xfrm>
          <a:prstGeom prst="roundRect">
            <a:avLst>
              <a:gd name="adj" fmla="val 12903"/>
            </a:avLst>
          </a:prstGeom>
          <a:solidFill>
            <a:srgbClr val="6B3FA0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ud280_stgt32"/>
          <p:cNvSpPr txBox="1"/>
          <p:nvPr/>
        </p:nvSpPr>
        <p:spPr>
          <a:xfrm>
            <a:off x="8001000" y="24140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4" name="a4u_sn33"/>
          <p:cNvSpPr txBox="1"/>
          <p:nvPr/>
        </p:nvSpPr>
        <p:spPr>
          <a:xfrm>
            <a:off x="4434840" y="33284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4B275F"/>
                </a:solidFill>
                <a:latin typeface="Courier New"/>
              </a:rPr>
              <a:t>:rest_for_one</a:t>
            </a:r>
          </a:p>
        </p:txBody>
      </p:sp>
      <p:sp>
        <p:nvSpPr>
          <p:cNvPr id="35" name="a4u_sd34"/>
          <p:cNvSpPr txBox="1"/>
          <p:nvPr/>
        </p:nvSpPr>
        <p:spPr>
          <a:xfrm>
            <a:off x="4434840" y="3621024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restart the crashed one and those started after it</a:t>
            </a:r>
          </a:p>
        </p:txBody>
      </p:sp>
      <p:sp>
        <p:nvSpPr>
          <p:cNvPr id="36" name="a4ud120_stg35"/>
          <p:cNvSpPr/>
          <p:nvPr/>
        </p:nvSpPr>
        <p:spPr>
          <a:xfrm>
            <a:off x="6400800" y="3401568"/>
            <a:ext cx="6583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4ud120_stgt36"/>
          <p:cNvSpPr txBox="1"/>
          <p:nvPr/>
        </p:nvSpPr>
        <p:spPr>
          <a:xfrm>
            <a:off x="6446520" y="34015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Calibri"/>
              </a:rPr>
              <a:t>A</a:t>
            </a:r>
          </a:p>
        </p:txBody>
      </p:sp>
      <p:sp>
        <p:nvSpPr>
          <p:cNvPr id="38" name="a4ud200_stg37"/>
          <p:cNvSpPr/>
          <p:nvPr/>
        </p:nvSpPr>
        <p:spPr>
          <a:xfrm>
            <a:off x="7178040" y="3401568"/>
            <a:ext cx="658368" cy="566928"/>
          </a:xfrm>
          <a:prstGeom prst="roundRect">
            <a:avLst>
              <a:gd name="adj" fmla="val 12903"/>
            </a:avLst>
          </a:prstGeom>
          <a:solidFill>
            <a:srgbClr val="6B3FA0"/>
          </a:solidFill>
          <a:ln w="28575">
            <a:solidFill>
              <a:srgbClr val="A90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4ud200_stgt38"/>
          <p:cNvSpPr txBox="1"/>
          <p:nvPr/>
        </p:nvSpPr>
        <p:spPr>
          <a:xfrm>
            <a:off x="7223759" y="34015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0" name="a4ud280_stg39"/>
          <p:cNvSpPr/>
          <p:nvPr/>
        </p:nvSpPr>
        <p:spPr>
          <a:xfrm>
            <a:off x="7955279" y="3401568"/>
            <a:ext cx="658368" cy="566928"/>
          </a:xfrm>
          <a:prstGeom prst="roundRect">
            <a:avLst>
              <a:gd name="adj" fmla="val 12903"/>
            </a:avLst>
          </a:prstGeom>
          <a:solidFill>
            <a:srgbClr val="6B3FA0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4ud280_stgt40"/>
          <p:cNvSpPr txBox="1"/>
          <p:nvPr/>
        </p:nvSpPr>
        <p:spPr>
          <a:xfrm>
            <a:off x="8001000" y="34015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2" name="a5f_lg41"/>
          <p:cNvSpPr/>
          <p:nvPr/>
        </p:nvSpPr>
        <p:spPr>
          <a:xfrm>
            <a:off x="6400800" y="435254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5f_lg42"/>
          <p:cNvSpPr txBox="1"/>
          <p:nvPr/>
        </p:nvSpPr>
        <p:spPr>
          <a:xfrm>
            <a:off x="6656832" y="430682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restarted</a:t>
            </a:r>
          </a:p>
        </p:txBody>
      </p:sp>
      <p:sp>
        <p:nvSpPr>
          <p:cNvPr id="44" name="a5f_lg43"/>
          <p:cNvSpPr/>
          <p:nvPr/>
        </p:nvSpPr>
        <p:spPr>
          <a:xfrm>
            <a:off x="7543800" y="435254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90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a5f_lg44"/>
          <p:cNvSpPr txBox="1"/>
          <p:nvPr/>
        </p:nvSpPr>
        <p:spPr>
          <a:xfrm>
            <a:off x="7799831" y="43068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 crashed</a:t>
            </a:r>
          </a:p>
        </p:txBody>
      </p:sp>
      <p:sp>
        <p:nvSpPr>
          <p:cNvPr id="46" name="ft4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47" name="ft4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SUPERVISION · FULL EXAMPLE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supervision tree you can start in iex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MyApp.Supervisor starts the Counter GenServer and a Task.Supervisor.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4160520" cy="3236976"/>
          </a:xfrm>
          <a:prstGeom prst="roundRect">
            <a:avLst>
              <a:gd name="adj" fmla="val 22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71600"/>
            <a:ext cx="390448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MyApp.Supervisor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19072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defmodule MyApp.Supervisor do</a:t>
            </a:r>
          </a:p>
        </p:txBody>
      </p:sp>
      <p:sp>
        <p:nvSpPr>
          <p:cNvPr id="8" name="a1wd45_code7"/>
          <p:cNvSpPr txBox="1"/>
          <p:nvPr/>
        </p:nvSpPr>
        <p:spPr>
          <a:xfrm>
            <a:off x="585216" y="1888236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use Supervisor</a:t>
            </a:r>
          </a:p>
        </p:txBody>
      </p:sp>
      <p:sp>
        <p:nvSpPr>
          <p:cNvPr id="9" name="a1wd90_code8"/>
          <p:cNvSpPr txBox="1"/>
          <p:nvPr/>
        </p:nvSpPr>
        <p:spPr>
          <a:xfrm>
            <a:off x="585216" y="2057400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start_link(opts \\ []) do</a:t>
            </a:r>
          </a:p>
        </p:txBody>
      </p:sp>
      <p:sp>
        <p:nvSpPr>
          <p:cNvPr id="10" name="a1wd135_code9"/>
          <p:cNvSpPr txBox="1"/>
          <p:nvPr/>
        </p:nvSpPr>
        <p:spPr>
          <a:xfrm>
            <a:off x="585216" y="2226563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Supervisor.start_link(__MODULE__, opts,</a:t>
            </a:r>
          </a:p>
        </p:txBody>
      </p:sp>
      <p:sp>
        <p:nvSpPr>
          <p:cNvPr id="11" name="a1wd180_code10"/>
          <p:cNvSpPr txBox="1"/>
          <p:nvPr/>
        </p:nvSpPr>
        <p:spPr>
          <a:xfrm>
            <a:off x="585216" y="2395728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  name: __MODULE__)</a:t>
            </a:r>
          </a:p>
        </p:txBody>
      </p:sp>
      <p:sp>
        <p:nvSpPr>
          <p:cNvPr id="12" name="a1wd225_code11"/>
          <p:cNvSpPr txBox="1"/>
          <p:nvPr/>
        </p:nvSpPr>
        <p:spPr>
          <a:xfrm>
            <a:off x="585216" y="2564891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3" name="a1wd270_code12"/>
          <p:cNvSpPr txBox="1"/>
          <p:nvPr/>
        </p:nvSpPr>
        <p:spPr>
          <a:xfrm>
            <a:off x="585216" y="2734056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14" name="a1wd315_code13"/>
          <p:cNvSpPr txBox="1"/>
          <p:nvPr/>
        </p:nvSpPr>
        <p:spPr>
          <a:xfrm>
            <a:off x="585216" y="2903220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9B3E8"/>
                </a:solidFill>
                <a:latin typeface="Courier New"/>
              </a:rPr>
              <a:t>  def init(_opts) do</a:t>
            </a:r>
          </a:p>
        </p:txBody>
      </p:sp>
      <p:sp>
        <p:nvSpPr>
          <p:cNvPr id="15" name="a1wd360_code14"/>
          <p:cNvSpPr txBox="1"/>
          <p:nvPr/>
        </p:nvSpPr>
        <p:spPr>
          <a:xfrm>
            <a:off x="585216" y="3072384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children = [</a:t>
            </a:r>
          </a:p>
        </p:txBody>
      </p:sp>
      <p:sp>
        <p:nvSpPr>
          <p:cNvPr id="16" name="a1wd405_code15"/>
          <p:cNvSpPr txBox="1"/>
          <p:nvPr/>
        </p:nvSpPr>
        <p:spPr>
          <a:xfrm>
            <a:off x="585216" y="3241548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  {Counter, 0},</a:t>
            </a:r>
          </a:p>
        </p:txBody>
      </p:sp>
      <p:sp>
        <p:nvSpPr>
          <p:cNvPr id="17" name="a1wd450_code16"/>
          <p:cNvSpPr txBox="1"/>
          <p:nvPr/>
        </p:nvSpPr>
        <p:spPr>
          <a:xfrm>
            <a:off x="585216" y="3410712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  {Task.Supervisor, name: MyApp.TaskSupervisor}</a:t>
            </a:r>
          </a:p>
        </p:txBody>
      </p:sp>
      <p:sp>
        <p:nvSpPr>
          <p:cNvPr id="18" name="a1wd495_code17"/>
          <p:cNvSpPr txBox="1"/>
          <p:nvPr/>
        </p:nvSpPr>
        <p:spPr>
          <a:xfrm>
            <a:off x="585216" y="3579876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]</a:t>
            </a:r>
          </a:p>
        </p:txBody>
      </p:sp>
      <p:sp>
        <p:nvSpPr>
          <p:cNvPr id="19" name="a1wd540_code18"/>
          <p:cNvSpPr txBox="1"/>
          <p:nvPr/>
        </p:nvSpPr>
        <p:spPr>
          <a:xfrm>
            <a:off x="585216" y="3749039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opts = [strategy: :one_for_one]</a:t>
            </a:r>
          </a:p>
        </p:txBody>
      </p:sp>
      <p:sp>
        <p:nvSpPr>
          <p:cNvPr id="20" name="a1wd585_code19"/>
          <p:cNvSpPr txBox="1"/>
          <p:nvPr/>
        </p:nvSpPr>
        <p:spPr>
          <a:xfrm>
            <a:off x="585216" y="3918204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  Supervisor.init(children, opts)</a:t>
            </a:r>
          </a:p>
        </p:txBody>
      </p:sp>
      <p:sp>
        <p:nvSpPr>
          <p:cNvPr id="21" name="a1wd630_code20"/>
          <p:cNvSpPr txBox="1"/>
          <p:nvPr/>
        </p:nvSpPr>
        <p:spPr>
          <a:xfrm>
            <a:off x="585216" y="4087368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2" name="a1wd675_code21"/>
          <p:cNvSpPr txBox="1"/>
          <p:nvPr/>
        </p:nvSpPr>
        <p:spPr>
          <a:xfrm>
            <a:off x="585216" y="4256531"/>
            <a:ext cx="390448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3" name="a2f_codebg22"/>
          <p:cNvSpPr/>
          <p:nvPr/>
        </p:nvSpPr>
        <p:spPr>
          <a:xfrm>
            <a:off x="4754880" y="1316736"/>
            <a:ext cx="3931920" cy="2615184"/>
          </a:xfrm>
          <a:prstGeom prst="roundRect">
            <a:avLst>
              <a:gd name="adj" fmla="val 279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2f_codeh23"/>
          <p:cNvSpPr txBox="1"/>
          <p:nvPr/>
        </p:nvSpPr>
        <p:spPr>
          <a:xfrm>
            <a:off x="4882896" y="1371600"/>
            <a:ext cx="367588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</a:t>
            </a:r>
          </a:p>
        </p:txBody>
      </p:sp>
      <p:sp>
        <p:nvSpPr>
          <p:cNvPr id="25" name="a2w_code24"/>
          <p:cNvSpPr txBox="1"/>
          <p:nvPr/>
        </p:nvSpPr>
        <p:spPr>
          <a:xfrm>
            <a:off x="4882896" y="1719072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{:ok, _} = MyApp.Supervisor.start_link()</a:t>
            </a:r>
          </a:p>
        </p:txBody>
      </p:sp>
      <p:sp>
        <p:nvSpPr>
          <p:cNvPr id="26" name="a2wd55_code25"/>
          <p:cNvSpPr txBox="1"/>
          <p:nvPr/>
        </p:nvSpPr>
        <p:spPr>
          <a:xfrm>
            <a:off x="4882896" y="1892807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Counter.value()          #=&gt; 0</a:t>
            </a:r>
          </a:p>
        </p:txBody>
      </p:sp>
      <p:sp>
        <p:nvSpPr>
          <p:cNvPr id="27" name="a2wd110_code26"/>
          <p:cNvSpPr txBox="1"/>
          <p:nvPr/>
        </p:nvSpPr>
        <p:spPr>
          <a:xfrm>
            <a:off x="4882896" y="2066543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Counter.increment(5)</a:t>
            </a:r>
          </a:p>
        </p:txBody>
      </p:sp>
      <p:sp>
        <p:nvSpPr>
          <p:cNvPr id="28" name="a2wd165_code27"/>
          <p:cNvSpPr txBox="1"/>
          <p:nvPr/>
        </p:nvSpPr>
        <p:spPr>
          <a:xfrm>
            <a:off x="4882896" y="2240280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Counter.value()          #=&gt; 5</a:t>
            </a:r>
          </a:p>
        </p:txBody>
      </p:sp>
      <p:sp>
        <p:nvSpPr>
          <p:cNvPr id="29" name="a2wd220_code28"/>
          <p:cNvSpPr txBox="1"/>
          <p:nvPr/>
        </p:nvSpPr>
        <p:spPr>
          <a:xfrm>
            <a:off x="4882896" y="2414015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Counter.decrement(2)</a:t>
            </a:r>
          </a:p>
        </p:txBody>
      </p:sp>
      <p:sp>
        <p:nvSpPr>
          <p:cNvPr id="30" name="a2wd275_code29"/>
          <p:cNvSpPr txBox="1"/>
          <p:nvPr/>
        </p:nvSpPr>
        <p:spPr>
          <a:xfrm>
            <a:off x="4882896" y="2587752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Counter.value()          #=&gt; 3</a:t>
            </a:r>
          </a:p>
        </p:txBody>
      </p:sp>
      <p:sp>
        <p:nvSpPr>
          <p:cNvPr id="31" name="a2wd330_code30"/>
          <p:cNvSpPr txBox="1"/>
          <p:nvPr/>
        </p:nvSpPr>
        <p:spPr>
          <a:xfrm>
            <a:off x="4882896" y="2761488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task = Task.Supervisor.async(</a:t>
            </a:r>
          </a:p>
        </p:txBody>
      </p:sp>
      <p:sp>
        <p:nvSpPr>
          <p:cNvPr id="32" name="a2wd385_code31"/>
          <p:cNvSpPr txBox="1"/>
          <p:nvPr/>
        </p:nvSpPr>
        <p:spPr>
          <a:xfrm>
            <a:off x="4882896" y="2935224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MyApp.TaskSupervisor, fn -&gt;</a:t>
            </a:r>
          </a:p>
        </p:txBody>
      </p:sp>
      <p:sp>
        <p:nvSpPr>
          <p:cNvPr id="33" name="a2wd440_code32"/>
          <p:cNvSpPr txBox="1"/>
          <p:nvPr/>
        </p:nvSpPr>
        <p:spPr>
          <a:xfrm>
            <a:off x="4882896" y="3108960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:timer.sleep(500)</a:t>
            </a:r>
          </a:p>
        </p:txBody>
      </p:sp>
      <p:sp>
        <p:nvSpPr>
          <p:cNvPr id="34" name="a2wd495_code33"/>
          <p:cNvSpPr txBox="1"/>
          <p:nvPr/>
        </p:nvSpPr>
        <p:spPr>
          <a:xfrm>
            <a:off x="4882896" y="3282696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42 * 2</a:t>
            </a:r>
          </a:p>
        </p:txBody>
      </p:sp>
      <p:sp>
        <p:nvSpPr>
          <p:cNvPr id="35" name="a2wd550_code34"/>
          <p:cNvSpPr txBox="1"/>
          <p:nvPr/>
        </p:nvSpPr>
        <p:spPr>
          <a:xfrm>
            <a:off x="4882896" y="3456432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end)</a:t>
            </a:r>
          </a:p>
        </p:txBody>
      </p:sp>
      <p:sp>
        <p:nvSpPr>
          <p:cNvPr id="36" name="a2wd605_code35"/>
          <p:cNvSpPr txBox="1"/>
          <p:nvPr/>
        </p:nvSpPr>
        <p:spPr>
          <a:xfrm>
            <a:off x="4882896" y="3630168"/>
            <a:ext cx="3675887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Task.await(task)         #=&gt; 84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8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SUPERVISION · RESTART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Kill it — the supervisor brings it back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Measured on 1.20.4: a new PID, and the state back at its initial value.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35024"/>
            <a:ext cx="4617720" cy="1865376"/>
          </a:xfrm>
          <a:prstGeom prst="roundRect">
            <a:avLst>
              <a:gd name="adj" fmla="val 39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621792" y="1389888"/>
            <a:ext cx="42885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621792" y="1773936"/>
            <a:ext cx="428853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14B8A6"/>
                </a:solidFill>
                <a:latin typeface="Courier New"/>
              </a:rPr>
              <a:t>Counter.value()                  #=&gt; 3</a:t>
            </a:r>
          </a:p>
        </p:txBody>
      </p:sp>
      <p:sp>
        <p:nvSpPr>
          <p:cNvPr id="8" name="a1wd90_code7"/>
          <p:cNvSpPr txBox="1"/>
          <p:nvPr/>
        </p:nvSpPr>
        <p:spPr>
          <a:xfrm>
            <a:off x="621792" y="1984248"/>
            <a:ext cx="428853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14B8A6"/>
                </a:solidFill>
                <a:latin typeface="Courier New"/>
              </a:rPr>
              <a:t>Process.whereis(Counter)         #=&gt; #PID&lt;0.130.0&gt;</a:t>
            </a:r>
          </a:p>
        </p:txBody>
      </p:sp>
      <p:sp>
        <p:nvSpPr>
          <p:cNvPr id="9" name="a1wd180_code8"/>
          <p:cNvSpPr txBox="1"/>
          <p:nvPr/>
        </p:nvSpPr>
        <p:spPr>
          <a:xfrm>
            <a:off x="621792" y="2194560"/>
            <a:ext cx="428853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E2E8F0"/>
                </a:solidFill>
                <a:latin typeface="Courier New"/>
              </a:rPr>
              <a:t>Process.whereis(Counter) |&gt; Process.exit(:kill)</a:t>
            </a:r>
          </a:p>
        </p:txBody>
      </p:sp>
      <p:sp>
        <p:nvSpPr>
          <p:cNvPr id="10" name="a1wd270_code9"/>
          <p:cNvSpPr txBox="1"/>
          <p:nvPr/>
        </p:nvSpPr>
        <p:spPr>
          <a:xfrm>
            <a:off x="621792" y="2404872"/>
            <a:ext cx="428853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E2E8F0"/>
                </a:solidFill>
                <a:latin typeface="Courier New"/>
              </a:rPr>
              <a:t>:timer.sleep(50)</a:t>
            </a:r>
          </a:p>
        </p:txBody>
      </p:sp>
      <p:sp>
        <p:nvSpPr>
          <p:cNvPr id="11" name="a1wd360_code10"/>
          <p:cNvSpPr txBox="1"/>
          <p:nvPr/>
        </p:nvSpPr>
        <p:spPr>
          <a:xfrm>
            <a:off x="621792" y="2615184"/>
            <a:ext cx="428853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14B8A6"/>
                </a:solidFill>
                <a:latin typeface="Courier New"/>
              </a:rPr>
              <a:t>Process.whereis(Counter)         #=&gt; #PID&lt;0.134.0&gt;</a:t>
            </a:r>
          </a:p>
        </p:txBody>
      </p:sp>
      <p:sp>
        <p:nvSpPr>
          <p:cNvPr id="12" name="a1wd450_code11"/>
          <p:cNvSpPr txBox="1"/>
          <p:nvPr/>
        </p:nvSpPr>
        <p:spPr>
          <a:xfrm>
            <a:off x="621792" y="2825496"/>
            <a:ext cx="428853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14B8A6"/>
                </a:solidFill>
                <a:latin typeface="Courier New"/>
              </a:rPr>
              <a:t>Counter.value()                  #=&gt; 0</a:t>
            </a:r>
          </a:p>
        </p:txBody>
      </p:sp>
      <p:sp>
        <p:nvSpPr>
          <p:cNvPr id="13" name="a2u_stg12"/>
          <p:cNvSpPr/>
          <p:nvPr/>
        </p:nvSpPr>
        <p:spPr>
          <a:xfrm>
            <a:off x="5440680" y="1335024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_stgt13"/>
          <p:cNvSpPr txBox="1"/>
          <p:nvPr/>
        </p:nvSpPr>
        <p:spPr>
          <a:xfrm>
            <a:off x="5486400" y="1335024"/>
            <a:ext cx="315467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Counter  #PID&lt;0.130.0&gt;</a:t>
            </a:r>
          </a:p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state: 3</a:t>
            </a:r>
          </a:p>
        </p:txBody>
      </p:sp>
      <p:cxnSp>
        <p:nvCxnSpPr>
          <p:cNvPr id="15" name="a3u_ln14"/>
          <p:cNvCxnSpPr/>
          <p:nvPr/>
        </p:nvCxnSpPr>
        <p:spPr>
          <a:xfrm>
            <a:off x="7059168" y="1901952"/>
            <a:ext cx="0" cy="86868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3u_pill15"/>
          <p:cNvSpPr/>
          <p:nvPr/>
        </p:nvSpPr>
        <p:spPr>
          <a:xfrm>
            <a:off x="5806440" y="2157984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C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A0425"/>
                </a:solidFill>
                <a:latin typeface="Courier New"/>
              </a:rPr>
              <a:t>Process.exit(pid, :kill)</a:t>
            </a:r>
          </a:p>
        </p:txBody>
      </p:sp>
      <p:sp>
        <p:nvSpPr>
          <p:cNvPr id="17" name="a3ud150_cap16"/>
          <p:cNvSpPr txBox="1"/>
          <p:nvPr/>
        </p:nvSpPr>
        <p:spPr>
          <a:xfrm>
            <a:off x="5440680" y="24963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:one_for_one</a:t>
            </a:r>
          </a:p>
        </p:txBody>
      </p:sp>
      <p:sp>
        <p:nvSpPr>
          <p:cNvPr id="18" name="a4u_stg17"/>
          <p:cNvSpPr/>
          <p:nvPr/>
        </p:nvSpPr>
        <p:spPr>
          <a:xfrm>
            <a:off x="5440680" y="278892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CCFB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4u_stgt18"/>
          <p:cNvSpPr txBox="1"/>
          <p:nvPr/>
        </p:nvSpPr>
        <p:spPr>
          <a:xfrm>
            <a:off x="5486400" y="2788920"/>
            <a:ext cx="315467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F766E"/>
                </a:solidFill>
                <a:latin typeface="Courier New"/>
              </a:rPr>
              <a:t>Counter  #PID&lt;0.134.0&gt;</a:t>
            </a:r>
          </a:p>
          <a:p>
            <a:pPr algn="ctr"/>
            <a:r>
              <a:rPr sz="1050" b="1">
                <a:solidFill>
                  <a:srgbClr val="0F766E"/>
                </a:solidFill>
                <a:latin typeface="Courier New"/>
              </a:rPr>
              <a:t>state: 0</a:t>
            </a:r>
          </a:p>
        </p:txBody>
      </p:sp>
      <p:sp>
        <p:nvSpPr>
          <p:cNvPr id="20" name="a5u_nb19"/>
          <p:cNvSpPr/>
          <p:nvPr/>
        </p:nvSpPr>
        <p:spPr>
          <a:xfrm>
            <a:off x="457200" y="362102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5u_nacc20"/>
          <p:cNvSpPr/>
          <p:nvPr/>
        </p:nvSpPr>
        <p:spPr>
          <a:xfrm>
            <a:off x="457200" y="3621024"/>
            <a:ext cx="50292" cy="7315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5u_nt21"/>
          <p:cNvSpPr txBox="1"/>
          <p:nvPr/>
        </p:nvSpPr>
        <p:spPr>
          <a:xfrm>
            <a:off x="658368" y="3621024"/>
            <a:ext cx="782726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5803D"/>
                </a:solidFill>
                <a:latin typeface="Calibri"/>
              </a:rPr>
              <a:t>✓  </a:t>
            </a:r>
            <a:r>
              <a:rPr sz="1150" b="0">
                <a:solidFill>
                  <a:srgbClr val="334155"/>
                </a:solidFill>
                <a:latin typeface="Calibri"/>
              </a:rPr>
              <a:t>A restart gives you a fresh process started from its child spec ({Counter, 0}) — the 3 it held before the kill is gone.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SUPERVISION · APPLICATION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Application: the tree that boots with your app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An Application is a reusable component with a supervision tree.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3840480" cy="1627632"/>
          </a:xfrm>
          <a:prstGeom prst="roundRect">
            <a:avLst>
              <a:gd name="adj" fmla="val 449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71600"/>
            <a:ext cx="3584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mix.exs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19072"/>
            <a:ext cx="358444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9B3E8"/>
                </a:solidFill>
                <a:latin typeface="Courier New"/>
              </a:rPr>
              <a:t>def application do</a:t>
            </a:r>
          </a:p>
        </p:txBody>
      </p:sp>
      <p:sp>
        <p:nvSpPr>
          <p:cNvPr id="8" name="a1wd70_code7"/>
          <p:cNvSpPr txBox="1"/>
          <p:nvPr/>
        </p:nvSpPr>
        <p:spPr>
          <a:xfrm>
            <a:off x="585216" y="1901952"/>
            <a:ext cx="358444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[</a:t>
            </a:r>
          </a:p>
        </p:txBody>
      </p:sp>
      <p:sp>
        <p:nvSpPr>
          <p:cNvPr id="9" name="a1wd140_code8"/>
          <p:cNvSpPr txBox="1"/>
          <p:nvPr/>
        </p:nvSpPr>
        <p:spPr>
          <a:xfrm>
            <a:off x="585216" y="2084831"/>
            <a:ext cx="358444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  extra_applications: [:logger],</a:t>
            </a:r>
          </a:p>
        </p:txBody>
      </p:sp>
      <p:sp>
        <p:nvSpPr>
          <p:cNvPr id="10" name="a1wd210_code9"/>
          <p:cNvSpPr txBox="1"/>
          <p:nvPr/>
        </p:nvSpPr>
        <p:spPr>
          <a:xfrm>
            <a:off x="585216" y="2267712"/>
            <a:ext cx="358444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  mod: {MyApp.Application, []}</a:t>
            </a:r>
          </a:p>
        </p:txBody>
      </p:sp>
      <p:sp>
        <p:nvSpPr>
          <p:cNvPr id="11" name="a1wd280_code10"/>
          <p:cNvSpPr txBox="1"/>
          <p:nvPr/>
        </p:nvSpPr>
        <p:spPr>
          <a:xfrm>
            <a:off x="585216" y="2450591"/>
            <a:ext cx="358444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]</a:t>
            </a:r>
          </a:p>
        </p:txBody>
      </p:sp>
      <p:sp>
        <p:nvSpPr>
          <p:cNvPr id="12" name="a1wd350_code11"/>
          <p:cNvSpPr txBox="1"/>
          <p:nvPr/>
        </p:nvSpPr>
        <p:spPr>
          <a:xfrm>
            <a:off x="585216" y="2633472"/>
            <a:ext cx="3584448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13" name="a3f_codebg12"/>
          <p:cNvSpPr/>
          <p:nvPr/>
        </p:nvSpPr>
        <p:spPr>
          <a:xfrm>
            <a:off x="457200" y="2980944"/>
            <a:ext cx="3840480" cy="1426464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3w_code13"/>
          <p:cNvSpPr txBox="1"/>
          <p:nvPr/>
        </p:nvSpPr>
        <p:spPr>
          <a:xfrm>
            <a:off x="566928" y="3090672"/>
            <a:ext cx="3621024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my_app/</a:t>
            </a:r>
          </a:p>
        </p:txBody>
      </p:sp>
      <p:sp>
        <p:nvSpPr>
          <p:cNvPr id="15" name="a3wd40_code14"/>
          <p:cNvSpPr txBox="1"/>
          <p:nvPr/>
        </p:nvSpPr>
        <p:spPr>
          <a:xfrm>
            <a:off x="566928" y="3241548"/>
            <a:ext cx="3621024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├── mix.exs</a:t>
            </a:r>
          </a:p>
        </p:txBody>
      </p:sp>
      <p:sp>
        <p:nvSpPr>
          <p:cNvPr id="16" name="a3wd80_code15"/>
          <p:cNvSpPr txBox="1"/>
          <p:nvPr/>
        </p:nvSpPr>
        <p:spPr>
          <a:xfrm>
            <a:off x="566928" y="3392424"/>
            <a:ext cx="3621024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└── lib/</a:t>
            </a:r>
          </a:p>
        </p:txBody>
      </p:sp>
      <p:sp>
        <p:nvSpPr>
          <p:cNvPr id="17" name="a3wd120_code16"/>
          <p:cNvSpPr txBox="1"/>
          <p:nvPr/>
        </p:nvSpPr>
        <p:spPr>
          <a:xfrm>
            <a:off x="566928" y="3543300"/>
            <a:ext cx="3621024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  ├── my_app/</a:t>
            </a:r>
          </a:p>
        </p:txBody>
      </p:sp>
      <p:sp>
        <p:nvSpPr>
          <p:cNvPr id="18" name="a3wd160_code17"/>
          <p:cNvSpPr txBox="1"/>
          <p:nvPr/>
        </p:nvSpPr>
        <p:spPr>
          <a:xfrm>
            <a:off x="566928" y="3694176"/>
            <a:ext cx="3621024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  │   ├── application.ex</a:t>
            </a:r>
          </a:p>
        </p:txBody>
      </p:sp>
      <p:sp>
        <p:nvSpPr>
          <p:cNvPr id="19" name="a3wd200_code18"/>
          <p:cNvSpPr txBox="1"/>
          <p:nvPr/>
        </p:nvSpPr>
        <p:spPr>
          <a:xfrm>
            <a:off x="566928" y="3845052"/>
            <a:ext cx="3621024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  │   ├── supervisor.ex</a:t>
            </a:r>
          </a:p>
        </p:txBody>
      </p:sp>
      <p:sp>
        <p:nvSpPr>
          <p:cNvPr id="20" name="a3wd240_code19"/>
          <p:cNvSpPr txBox="1"/>
          <p:nvPr/>
        </p:nvSpPr>
        <p:spPr>
          <a:xfrm>
            <a:off x="566928" y="3995928"/>
            <a:ext cx="3621024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  │   └── counter.ex</a:t>
            </a:r>
          </a:p>
        </p:txBody>
      </p:sp>
      <p:sp>
        <p:nvSpPr>
          <p:cNvPr id="21" name="a3wd280_code20"/>
          <p:cNvSpPr txBox="1"/>
          <p:nvPr/>
        </p:nvSpPr>
        <p:spPr>
          <a:xfrm>
            <a:off x="566928" y="4146804"/>
            <a:ext cx="3621024" cy="1508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  └── my_app.ex</a:t>
            </a:r>
          </a:p>
        </p:txBody>
      </p:sp>
      <p:sp>
        <p:nvSpPr>
          <p:cNvPr id="22" name="a2f_codebg21"/>
          <p:cNvSpPr/>
          <p:nvPr/>
        </p:nvSpPr>
        <p:spPr>
          <a:xfrm>
            <a:off x="4480560" y="1316736"/>
            <a:ext cx="4206240" cy="2898648"/>
          </a:xfrm>
          <a:prstGeom prst="roundRect">
            <a:avLst>
              <a:gd name="adj" fmla="val 252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f_codeh22"/>
          <p:cNvSpPr txBox="1"/>
          <p:nvPr/>
        </p:nvSpPr>
        <p:spPr>
          <a:xfrm>
            <a:off x="4608576" y="1371600"/>
            <a:ext cx="395020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lib/my_app/application.ex</a:t>
            </a:r>
          </a:p>
        </p:txBody>
      </p:sp>
      <p:sp>
        <p:nvSpPr>
          <p:cNvPr id="24" name="a2w_code23"/>
          <p:cNvSpPr txBox="1"/>
          <p:nvPr/>
        </p:nvSpPr>
        <p:spPr>
          <a:xfrm>
            <a:off x="4608576" y="1719072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defmodule MyApp.Application do</a:t>
            </a:r>
          </a:p>
        </p:txBody>
      </p:sp>
      <p:sp>
        <p:nvSpPr>
          <p:cNvPr id="25" name="a2wd50_code24"/>
          <p:cNvSpPr txBox="1"/>
          <p:nvPr/>
        </p:nvSpPr>
        <p:spPr>
          <a:xfrm>
            <a:off x="4608576" y="1888236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use Application</a:t>
            </a:r>
          </a:p>
        </p:txBody>
      </p:sp>
      <p:sp>
        <p:nvSpPr>
          <p:cNvPr id="26" name="a2wd100_code25"/>
          <p:cNvSpPr txBox="1"/>
          <p:nvPr/>
        </p:nvSpPr>
        <p:spPr>
          <a:xfrm>
            <a:off x="4608576" y="2057400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27" name="a2wd150_code26"/>
          <p:cNvSpPr txBox="1"/>
          <p:nvPr/>
        </p:nvSpPr>
        <p:spPr>
          <a:xfrm>
            <a:off x="4608576" y="2226563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28" name="a2wd200_code27"/>
          <p:cNvSpPr txBox="1"/>
          <p:nvPr/>
        </p:nvSpPr>
        <p:spPr>
          <a:xfrm>
            <a:off x="4608576" y="2395728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C9B3E8"/>
                </a:solidFill>
                <a:latin typeface="Courier New"/>
              </a:rPr>
              <a:t>  def start(_type, _args) do</a:t>
            </a:r>
          </a:p>
        </p:txBody>
      </p:sp>
      <p:sp>
        <p:nvSpPr>
          <p:cNvPr id="29" name="a2wd250_code28"/>
          <p:cNvSpPr txBox="1"/>
          <p:nvPr/>
        </p:nvSpPr>
        <p:spPr>
          <a:xfrm>
            <a:off x="4608576" y="2564891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children = [</a:t>
            </a:r>
          </a:p>
        </p:txBody>
      </p:sp>
      <p:sp>
        <p:nvSpPr>
          <p:cNvPr id="30" name="a2wd300_code29"/>
          <p:cNvSpPr txBox="1"/>
          <p:nvPr/>
        </p:nvSpPr>
        <p:spPr>
          <a:xfrm>
            <a:off x="4608576" y="2734056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  {Counter, 0},</a:t>
            </a:r>
          </a:p>
        </p:txBody>
      </p:sp>
      <p:sp>
        <p:nvSpPr>
          <p:cNvPr id="31" name="a2wd350_code30"/>
          <p:cNvSpPr txBox="1"/>
          <p:nvPr/>
        </p:nvSpPr>
        <p:spPr>
          <a:xfrm>
            <a:off x="4608576" y="2903220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  {Task.Supervisor, name: MyApp.TaskSupervisor}</a:t>
            </a:r>
          </a:p>
        </p:txBody>
      </p:sp>
      <p:sp>
        <p:nvSpPr>
          <p:cNvPr id="32" name="a2wd400_code31"/>
          <p:cNvSpPr txBox="1"/>
          <p:nvPr/>
        </p:nvSpPr>
        <p:spPr>
          <a:xfrm>
            <a:off x="4608576" y="3072384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]</a:t>
            </a:r>
          </a:p>
        </p:txBody>
      </p:sp>
      <p:sp>
        <p:nvSpPr>
          <p:cNvPr id="33" name="a2wd450_code32"/>
          <p:cNvSpPr txBox="1"/>
          <p:nvPr/>
        </p:nvSpPr>
        <p:spPr>
          <a:xfrm>
            <a:off x="4608576" y="3241548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34" name="a2wd500_code33"/>
          <p:cNvSpPr txBox="1"/>
          <p:nvPr/>
        </p:nvSpPr>
        <p:spPr>
          <a:xfrm>
            <a:off x="4608576" y="3410712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opts = [strategy: :one_for_one, name: MyApp.Supervisor]</a:t>
            </a:r>
          </a:p>
        </p:txBody>
      </p:sp>
      <p:sp>
        <p:nvSpPr>
          <p:cNvPr id="35" name="a2wd550_code34"/>
          <p:cNvSpPr txBox="1"/>
          <p:nvPr/>
        </p:nvSpPr>
        <p:spPr>
          <a:xfrm>
            <a:off x="4608576" y="3579876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  Supervisor.start_link(children, opts)</a:t>
            </a:r>
          </a:p>
        </p:txBody>
      </p:sp>
      <p:sp>
        <p:nvSpPr>
          <p:cNvPr id="36" name="a2wd600_code35"/>
          <p:cNvSpPr txBox="1"/>
          <p:nvPr/>
        </p:nvSpPr>
        <p:spPr>
          <a:xfrm>
            <a:off x="4608576" y="3749039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37" name="a2wd650_code36"/>
          <p:cNvSpPr txBox="1"/>
          <p:nvPr/>
        </p:nvSpPr>
        <p:spPr>
          <a:xfrm>
            <a:off x="4608576" y="3918204"/>
            <a:ext cx="3950207" cy="1691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SUPERVISION · BOOT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happens at boot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iex -S mix or a release start: OTP calls MyApp.Application.start/2, and the tree comes up.</a:t>
            </a:r>
          </a:p>
        </p:txBody>
      </p:sp>
      <p:sp>
        <p:nvSpPr>
          <p:cNvPr id="5" name="a1u_stg4"/>
          <p:cNvSpPr/>
          <p:nvPr/>
        </p:nvSpPr>
        <p:spPr>
          <a:xfrm>
            <a:off x="457200" y="1380744"/>
            <a:ext cx="1874519" cy="731520"/>
          </a:xfrm>
          <a:prstGeom prst="roundRect">
            <a:avLst>
              <a:gd name="adj" fmla="val 10000"/>
            </a:avLst>
          </a:prstGeom>
          <a:solidFill>
            <a:srgbClr val="F1EAF8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_stgt5"/>
          <p:cNvSpPr txBox="1"/>
          <p:nvPr/>
        </p:nvSpPr>
        <p:spPr>
          <a:xfrm>
            <a:off x="530352" y="1435607"/>
            <a:ext cx="17282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4B275F"/>
                </a:solidFill>
                <a:latin typeface="Courier New"/>
              </a:rPr>
              <a:t>mix.exs</a:t>
            </a:r>
          </a:p>
        </p:txBody>
      </p:sp>
      <p:sp>
        <p:nvSpPr>
          <p:cNvPr id="7" name="a1u_stgt6"/>
          <p:cNvSpPr txBox="1"/>
          <p:nvPr/>
        </p:nvSpPr>
        <p:spPr>
          <a:xfrm>
            <a:off x="530352" y="1764792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application/0</a:t>
            </a:r>
          </a:p>
        </p:txBody>
      </p:sp>
      <p:sp>
        <p:nvSpPr>
          <p:cNvPr id="8" name="a1u_fd7"/>
          <p:cNvSpPr txBox="1"/>
          <p:nvPr/>
        </p:nvSpPr>
        <p:spPr>
          <a:xfrm>
            <a:off x="457200" y="2221991"/>
            <a:ext cx="18745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Declares the entry module: mod: {MyApp.Application, []}</a:t>
            </a:r>
          </a:p>
        </p:txBody>
      </p:sp>
      <p:cxnSp>
        <p:nvCxnSpPr>
          <p:cNvPr id="9" name="a2u_ln8"/>
          <p:cNvCxnSpPr/>
          <p:nvPr/>
        </p:nvCxnSpPr>
        <p:spPr>
          <a:xfrm>
            <a:off x="2350008" y="1746504"/>
            <a:ext cx="219456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2u_stg9"/>
          <p:cNvSpPr/>
          <p:nvPr/>
        </p:nvSpPr>
        <p:spPr>
          <a:xfrm>
            <a:off x="2587752" y="1380744"/>
            <a:ext cx="1874519" cy="731520"/>
          </a:xfrm>
          <a:prstGeom prst="roundRect">
            <a:avLst>
              <a:gd name="adj" fmla="val 10000"/>
            </a:avLst>
          </a:prstGeom>
          <a:solidFill>
            <a:srgbClr val="F1EAF8"/>
          </a:solidFill>
          <a:ln w="1587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u_stgt10"/>
          <p:cNvSpPr txBox="1"/>
          <p:nvPr/>
        </p:nvSpPr>
        <p:spPr>
          <a:xfrm>
            <a:off x="2660904" y="1435607"/>
            <a:ext cx="17282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4B275F"/>
                </a:solidFill>
                <a:latin typeface="Courier New"/>
              </a:rPr>
              <a:t>MyApp.Application</a:t>
            </a:r>
          </a:p>
        </p:txBody>
      </p:sp>
      <p:sp>
        <p:nvSpPr>
          <p:cNvPr id="12" name="a2u_stgt11"/>
          <p:cNvSpPr txBox="1"/>
          <p:nvPr/>
        </p:nvSpPr>
        <p:spPr>
          <a:xfrm>
            <a:off x="2660904" y="1764792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start/2</a:t>
            </a:r>
          </a:p>
        </p:txBody>
      </p:sp>
      <p:sp>
        <p:nvSpPr>
          <p:cNvPr id="13" name="a2u_fd12"/>
          <p:cNvSpPr txBox="1"/>
          <p:nvPr/>
        </p:nvSpPr>
        <p:spPr>
          <a:xfrm>
            <a:off x="2587752" y="2221991"/>
            <a:ext cx="18745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Starts the top-level Supervisor when the app boots</a:t>
            </a:r>
          </a:p>
        </p:txBody>
      </p:sp>
      <p:cxnSp>
        <p:nvCxnSpPr>
          <p:cNvPr id="14" name="a3u_ln13"/>
          <p:cNvCxnSpPr/>
          <p:nvPr/>
        </p:nvCxnSpPr>
        <p:spPr>
          <a:xfrm>
            <a:off x="4480560" y="1746504"/>
            <a:ext cx="219456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3u_stg14"/>
          <p:cNvSpPr/>
          <p:nvPr/>
        </p:nvSpPr>
        <p:spPr>
          <a:xfrm>
            <a:off x="4718304" y="1380744"/>
            <a:ext cx="1874519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3u_stgt15"/>
          <p:cNvSpPr txBox="1"/>
          <p:nvPr/>
        </p:nvSpPr>
        <p:spPr>
          <a:xfrm>
            <a:off x="4791456" y="1435607"/>
            <a:ext cx="17282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0F766E"/>
                </a:solidFill>
                <a:latin typeface="Courier New"/>
              </a:rPr>
              <a:t>Supervisor</a:t>
            </a:r>
          </a:p>
        </p:txBody>
      </p:sp>
      <p:sp>
        <p:nvSpPr>
          <p:cNvPr id="17" name="a3u_stgt16"/>
          <p:cNvSpPr txBox="1"/>
          <p:nvPr/>
        </p:nvSpPr>
        <p:spPr>
          <a:xfrm>
            <a:off x="4791456" y="1764792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MyApp.Supervisor</a:t>
            </a:r>
          </a:p>
        </p:txBody>
      </p:sp>
      <p:sp>
        <p:nvSpPr>
          <p:cNvPr id="18" name="a3u_fd17"/>
          <p:cNvSpPr txBox="1"/>
          <p:nvPr/>
        </p:nvSpPr>
        <p:spPr>
          <a:xfrm>
            <a:off x="4718304" y="2221991"/>
            <a:ext cx="18745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Starts &amp; monitors all children</a:t>
            </a:r>
          </a:p>
        </p:txBody>
      </p:sp>
      <p:cxnSp>
        <p:nvCxnSpPr>
          <p:cNvPr id="19" name="a4u_ln18"/>
          <p:cNvCxnSpPr/>
          <p:nvPr/>
        </p:nvCxnSpPr>
        <p:spPr>
          <a:xfrm>
            <a:off x="6611112" y="1746504"/>
            <a:ext cx="219456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4u_stg19"/>
          <p:cNvSpPr/>
          <p:nvPr/>
        </p:nvSpPr>
        <p:spPr>
          <a:xfrm>
            <a:off x="6848856" y="1380744"/>
            <a:ext cx="1874519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4u_stgt20"/>
          <p:cNvSpPr txBox="1"/>
          <p:nvPr/>
        </p:nvSpPr>
        <p:spPr>
          <a:xfrm>
            <a:off x="6922008" y="1435607"/>
            <a:ext cx="17282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0F766E"/>
                </a:solidFill>
                <a:latin typeface="Courier New"/>
              </a:rPr>
              <a:t>Children</a:t>
            </a:r>
          </a:p>
        </p:txBody>
      </p:sp>
      <p:sp>
        <p:nvSpPr>
          <p:cNvPr id="22" name="a4u_stgt21"/>
          <p:cNvSpPr txBox="1"/>
          <p:nvPr/>
        </p:nvSpPr>
        <p:spPr>
          <a:xfrm>
            <a:off x="6922008" y="1764792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ourier New"/>
              </a:rPr>
              <a:t>Counter, Task.Supervisor</a:t>
            </a:r>
          </a:p>
        </p:txBody>
      </p:sp>
      <p:sp>
        <p:nvSpPr>
          <p:cNvPr id="23" name="a4u_fd22"/>
          <p:cNvSpPr txBox="1"/>
          <p:nvPr/>
        </p:nvSpPr>
        <p:spPr>
          <a:xfrm>
            <a:off x="6848856" y="2221991"/>
            <a:ext cx="187451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Your GenServers, Agents, Task.Supervisors, etc.</a:t>
            </a:r>
          </a:p>
        </p:txBody>
      </p:sp>
      <p:sp>
        <p:nvSpPr>
          <p:cNvPr id="24" name="a5f_codebg23"/>
          <p:cNvSpPr/>
          <p:nvPr/>
        </p:nvSpPr>
        <p:spPr>
          <a:xfrm>
            <a:off x="457200" y="3072384"/>
            <a:ext cx="8229600" cy="1298448"/>
          </a:xfrm>
          <a:prstGeom prst="roundRect">
            <a:avLst>
              <a:gd name="adj" fmla="val 56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5f_codeh24"/>
          <p:cNvSpPr txBox="1"/>
          <p:nvPr/>
        </p:nvSpPr>
        <p:spPr>
          <a:xfrm>
            <a:off x="585216" y="3127248"/>
            <a:ext cx="797356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-S mix</a:t>
            </a:r>
          </a:p>
        </p:txBody>
      </p:sp>
      <p:sp>
        <p:nvSpPr>
          <p:cNvPr id="26" name="a5w_code25"/>
          <p:cNvSpPr txBox="1"/>
          <p:nvPr/>
        </p:nvSpPr>
        <p:spPr>
          <a:xfrm>
            <a:off x="585216" y="3474720"/>
            <a:ext cx="7973568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mix new my_app --sup, replace the generated files, then:  iex -S mix</a:t>
            </a:r>
          </a:p>
        </p:txBody>
      </p:sp>
      <p:sp>
        <p:nvSpPr>
          <p:cNvPr id="27" name="a5wd80_code26"/>
          <p:cNvSpPr txBox="1"/>
          <p:nvPr/>
        </p:nvSpPr>
        <p:spPr>
          <a:xfrm>
            <a:off x="585216" y="3666744"/>
            <a:ext cx="7973568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Counter.value()                        #=&gt; 0   (already started by OTP)</a:t>
            </a:r>
          </a:p>
        </p:txBody>
      </p:sp>
      <p:sp>
        <p:nvSpPr>
          <p:cNvPr id="28" name="a5wd160_code27"/>
          <p:cNvSpPr txBox="1"/>
          <p:nvPr/>
        </p:nvSpPr>
        <p:spPr>
          <a:xfrm>
            <a:off x="585216" y="3858768"/>
            <a:ext cx="7973568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Counter.increment(10); Counter.value() #=&gt; 10</a:t>
            </a:r>
          </a:p>
        </p:txBody>
      </p:sp>
      <p:sp>
        <p:nvSpPr>
          <p:cNvPr id="29" name="a5wd240_code28"/>
          <p:cNvSpPr txBox="1"/>
          <p:nvPr/>
        </p:nvSpPr>
        <p:spPr>
          <a:xfrm>
            <a:off x="585216" y="4050791"/>
            <a:ext cx="7973568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MyApp.run_background_job(fn -&gt; IO.puts("Hello from supervised task") end)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SUPERVISION · DYNAMIC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DynamicSupervisor: children at runtime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It starts with zero children; you add them with start_child/2 whenever you need one.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4846320" cy="3222345"/>
          </a:xfrm>
          <a:prstGeom prst="roundRect">
            <a:avLst>
              <a:gd name="adj" fmla="val 22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w_code5"/>
          <p:cNvSpPr txBox="1"/>
          <p:nvPr/>
        </p:nvSpPr>
        <p:spPr>
          <a:xfrm>
            <a:off x="603504" y="1463039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9B3E8"/>
                </a:solidFill>
                <a:latin typeface="Courier New"/>
              </a:rPr>
              <a:t>defmodule MyApp.DynamicSupervisor do</a:t>
            </a:r>
          </a:p>
        </p:txBody>
      </p:sp>
      <p:sp>
        <p:nvSpPr>
          <p:cNvPr id="7" name="a1wd40_code6"/>
          <p:cNvSpPr txBox="1"/>
          <p:nvPr/>
        </p:nvSpPr>
        <p:spPr>
          <a:xfrm>
            <a:off x="603504" y="1625803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9B3E8"/>
                </a:solidFill>
                <a:latin typeface="Courier New"/>
              </a:rPr>
              <a:t>  use DynamicSupervisor</a:t>
            </a:r>
          </a:p>
        </p:txBody>
      </p:sp>
      <p:sp>
        <p:nvSpPr>
          <p:cNvPr id="8" name="a1wd80_code7"/>
          <p:cNvSpPr txBox="1"/>
          <p:nvPr/>
        </p:nvSpPr>
        <p:spPr>
          <a:xfrm>
            <a:off x="603504" y="1788566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64748B"/>
                </a:solidFill>
                <a:latin typeface="Courier New"/>
              </a:rPr>
              <a:t>  # start_link/1 registers it under name: __MODULE__</a:t>
            </a:r>
          </a:p>
        </p:txBody>
      </p:sp>
      <p:sp>
        <p:nvSpPr>
          <p:cNvPr id="9" name="a1wd120_code8"/>
          <p:cNvSpPr txBox="1"/>
          <p:nvPr/>
        </p:nvSpPr>
        <p:spPr>
          <a:xfrm>
            <a:off x="603504" y="1951329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@impl true</a:t>
            </a:r>
          </a:p>
        </p:txBody>
      </p:sp>
      <p:sp>
        <p:nvSpPr>
          <p:cNvPr id="10" name="a1wd160_code9"/>
          <p:cNvSpPr txBox="1"/>
          <p:nvPr/>
        </p:nvSpPr>
        <p:spPr>
          <a:xfrm>
            <a:off x="603504" y="2114092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9B3E8"/>
                </a:solidFill>
                <a:latin typeface="Courier New"/>
              </a:rPr>
              <a:t>  def init(_init_arg) do</a:t>
            </a:r>
          </a:p>
        </p:txBody>
      </p:sp>
      <p:sp>
        <p:nvSpPr>
          <p:cNvPr id="11" name="a1wd200_code10"/>
          <p:cNvSpPr txBox="1"/>
          <p:nvPr/>
        </p:nvSpPr>
        <p:spPr>
          <a:xfrm>
            <a:off x="603504" y="2276856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64748B"/>
                </a:solidFill>
                <a:latin typeface="Courier New"/>
              </a:rPr>
              <a:t>    # :one_for_one is the only strategy it supports</a:t>
            </a:r>
          </a:p>
        </p:txBody>
      </p:sp>
      <p:sp>
        <p:nvSpPr>
          <p:cNvPr id="12" name="a1wd240_code11"/>
          <p:cNvSpPr txBox="1"/>
          <p:nvPr/>
        </p:nvSpPr>
        <p:spPr>
          <a:xfrm>
            <a:off x="603504" y="2439619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  DynamicSupervisor.init(strategy: :one_for_one)</a:t>
            </a:r>
          </a:p>
        </p:txBody>
      </p:sp>
      <p:sp>
        <p:nvSpPr>
          <p:cNvPr id="13" name="a1wd280_code12"/>
          <p:cNvSpPr txBox="1"/>
          <p:nvPr/>
        </p:nvSpPr>
        <p:spPr>
          <a:xfrm>
            <a:off x="603504" y="2602382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14" name="a1wd320_code13"/>
          <p:cNvSpPr txBox="1"/>
          <p:nvPr/>
        </p:nvSpPr>
        <p:spPr>
          <a:xfrm>
            <a:off x="603504" y="2765145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1">
                <a:solidFill>
                  <a:srgbClr val="C9B3E8"/>
                </a:solidFill>
                <a:latin typeface="Courier New"/>
              </a:rPr>
              <a:t>  def start_counter(initial_value \\ 0) do</a:t>
            </a:r>
          </a:p>
        </p:txBody>
      </p:sp>
      <p:sp>
        <p:nvSpPr>
          <p:cNvPr id="15" name="a1wd360_code14"/>
          <p:cNvSpPr txBox="1"/>
          <p:nvPr/>
        </p:nvSpPr>
        <p:spPr>
          <a:xfrm>
            <a:off x="603504" y="2927908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  child_spec = %{</a:t>
            </a:r>
          </a:p>
        </p:txBody>
      </p:sp>
      <p:sp>
        <p:nvSpPr>
          <p:cNvPr id="16" name="a1wd400_code15"/>
          <p:cNvSpPr txBox="1"/>
          <p:nvPr/>
        </p:nvSpPr>
        <p:spPr>
          <a:xfrm>
            <a:off x="603504" y="3090672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    id: Counter,</a:t>
            </a:r>
          </a:p>
        </p:txBody>
      </p:sp>
      <p:sp>
        <p:nvSpPr>
          <p:cNvPr id="17" name="a1wd440_code16"/>
          <p:cNvSpPr txBox="1"/>
          <p:nvPr/>
        </p:nvSpPr>
        <p:spPr>
          <a:xfrm>
            <a:off x="603504" y="3253435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    start: {Counter, :start_link, [initial_value]},</a:t>
            </a:r>
          </a:p>
        </p:txBody>
      </p:sp>
      <p:sp>
        <p:nvSpPr>
          <p:cNvPr id="18" name="a1wd480_code17"/>
          <p:cNvSpPr txBox="1"/>
          <p:nvPr/>
        </p:nvSpPr>
        <p:spPr>
          <a:xfrm>
            <a:off x="603504" y="3416198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    restart: :temporary   # or :permanent / :transient</a:t>
            </a:r>
          </a:p>
        </p:txBody>
      </p:sp>
      <p:sp>
        <p:nvSpPr>
          <p:cNvPr id="19" name="a1wd520_code18"/>
          <p:cNvSpPr txBox="1"/>
          <p:nvPr/>
        </p:nvSpPr>
        <p:spPr>
          <a:xfrm>
            <a:off x="603504" y="3578961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  }</a:t>
            </a:r>
          </a:p>
        </p:txBody>
      </p:sp>
      <p:sp>
        <p:nvSpPr>
          <p:cNvPr id="20" name="a1wd560_code19"/>
          <p:cNvSpPr txBox="1"/>
          <p:nvPr/>
        </p:nvSpPr>
        <p:spPr>
          <a:xfrm>
            <a:off x="603504" y="3741724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  DynamicSupervisor.start_child(__MODULE__, child_spec)</a:t>
            </a:r>
          </a:p>
        </p:txBody>
      </p:sp>
      <p:sp>
        <p:nvSpPr>
          <p:cNvPr id="21" name="a1wd600_code20"/>
          <p:cNvSpPr txBox="1"/>
          <p:nvPr/>
        </p:nvSpPr>
        <p:spPr>
          <a:xfrm>
            <a:off x="603504" y="3904487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  end</a:t>
            </a:r>
          </a:p>
        </p:txBody>
      </p:sp>
      <p:sp>
        <p:nvSpPr>
          <p:cNvPr id="22" name="a1wd640_code21"/>
          <p:cNvSpPr txBox="1"/>
          <p:nvPr/>
        </p:nvSpPr>
        <p:spPr>
          <a:xfrm>
            <a:off x="603504" y="4067251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64748B"/>
                </a:solidFill>
                <a:latin typeface="Courier New"/>
              </a:rPr>
              <a:t>  # start_many/2: Enum.map(1..count, fn _ -&gt; start_counter(...) end)</a:t>
            </a:r>
          </a:p>
        </p:txBody>
      </p:sp>
      <p:sp>
        <p:nvSpPr>
          <p:cNvPr id="23" name="a1wd680_code22"/>
          <p:cNvSpPr txBox="1"/>
          <p:nvPr/>
        </p:nvSpPr>
        <p:spPr>
          <a:xfrm>
            <a:off x="603504" y="4230014"/>
            <a:ext cx="4553712" cy="16276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60" b="0">
                <a:solidFill>
                  <a:srgbClr val="E2E8F0"/>
                </a:solidFill>
                <a:latin typeface="Courier New"/>
              </a:rPr>
              <a:t>end</a:t>
            </a:r>
          </a:p>
        </p:txBody>
      </p:sp>
      <p:sp>
        <p:nvSpPr>
          <p:cNvPr id="24" name="a2u_nb23"/>
          <p:cNvSpPr/>
          <p:nvPr/>
        </p:nvSpPr>
        <p:spPr>
          <a:xfrm>
            <a:off x="5532120" y="1335024"/>
            <a:ext cx="3154680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u_nacc24"/>
          <p:cNvSpPr/>
          <p:nvPr/>
        </p:nvSpPr>
        <p:spPr>
          <a:xfrm>
            <a:off x="5532120" y="1335024"/>
            <a:ext cx="50292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_nt25"/>
          <p:cNvSpPr txBox="1"/>
          <p:nvPr/>
        </p:nvSpPr>
        <p:spPr>
          <a:xfrm>
            <a:off x="5733288" y="1335024"/>
            <a:ext cx="2752344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6B3FA0"/>
                </a:solidFill>
                <a:latin typeface="Calibri"/>
              </a:rPr>
              <a:t>i  </a:t>
            </a:r>
            <a:r>
              <a:rPr sz="1050" b="0">
                <a:solidFill>
                  <a:srgbClr val="334155"/>
                </a:solidFill>
                <a:latin typeface="Calibri"/>
              </a:rPr>
              <a:t>Counter is started by pid, not by name — so many can run at once: value(pid), increment(pid, by).</a:t>
            </a:r>
          </a:p>
        </p:txBody>
      </p:sp>
      <p:sp>
        <p:nvSpPr>
          <p:cNvPr id="27" name="a3u_dot26"/>
          <p:cNvSpPr/>
          <p:nvPr/>
        </p:nvSpPr>
        <p:spPr>
          <a:xfrm>
            <a:off x="5532120" y="269747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a3u_b27"/>
          <p:cNvSpPr txBox="1"/>
          <p:nvPr/>
        </p:nvSpPr>
        <p:spPr>
          <a:xfrm>
            <a:off x="5751576" y="2596896"/>
            <a:ext cx="293522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Starts empty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Application lists only {MyApp.DynamicSupervisor, []}</a:t>
            </a:r>
          </a:p>
        </p:txBody>
      </p:sp>
      <p:sp>
        <p:nvSpPr>
          <p:cNvPr id="29" name="a3ud150_dot28"/>
          <p:cNvSpPr/>
          <p:nvPr/>
        </p:nvSpPr>
        <p:spPr>
          <a:xfrm>
            <a:off x="5532120" y="3264408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d150_b29"/>
          <p:cNvSpPr txBox="1"/>
          <p:nvPr/>
        </p:nvSpPr>
        <p:spPr>
          <a:xfrm>
            <a:off x="5751576" y="3163824"/>
            <a:ext cx="293522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restart:  </a:t>
            </a:r>
            <a:r>
              <a:rPr sz="1050" b="0">
                <a:solidFill>
                  <a:srgbClr val="334155"/>
                </a:solidFill>
                <a:latin typeface="Calibri"/>
              </a:rPr>
              <a:t>:temporary · :permanent · :transient, per child</a:t>
            </a:r>
          </a:p>
        </p:txBody>
      </p:sp>
      <p:sp>
        <p:nvSpPr>
          <p:cNvPr id="31" name="a3ud300_dot30"/>
          <p:cNvSpPr/>
          <p:nvPr/>
        </p:nvSpPr>
        <p:spPr>
          <a:xfrm>
            <a:off x="5532120" y="3831335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ud300_b31"/>
          <p:cNvSpPr txBox="1"/>
          <p:nvPr/>
        </p:nvSpPr>
        <p:spPr>
          <a:xfrm>
            <a:off x="5751576" y="3730752"/>
            <a:ext cx="293522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Replaces 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old :simple_one_for_one strategy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SUPERVISION · DYNAMIC IN USE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Counters that come and go</a:t>
            </a:r>
          </a:p>
        </p:txBody>
      </p:sp>
      <p:sp>
        <p:nvSpPr>
          <p:cNvPr id="4" name="sub3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real session: two counters, then three more, then one stopped.</a:t>
            </a:r>
          </a:p>
        </p:txBody>
      </p:sp>
      <p:sp>
        <p:nvSpPr>
          <p:cNvPr id="5" name="a1f_codebg4"/>
          <p:cNvSpPr/>
          <p:nvPr/>
        </p:nvSpPr>
        <p:spPr>
          <a:xfrm>
            <a:off x="457200" y="1316736"/>
            <a:ext cx="4892040" cy="2724912"/>
          </a:xfrm>
          <a:prstGeom prst="roundRect">
            <a:avLst>
              <a:gd name="adj" fmla="val 268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f_codeh5"/>
          <p:cNvSpPr txBox="1"/>
          <p:nvPr/>
        </p:nvSpPr>
        <p:spPr>
          <a:xfrm>
            <a:off x="585216" y="1371600"/>
            <a:ext cx="463600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iex · REAL</a:t>
            </a:r>
          </a:p>
        </p:txBody>
      </p:sp>
      <p:sp>
        <p:nvSpPr>
          <p:cNvPr id="7" name="a1w_code6"/>
          <p:cNvSpPr txBox="1"/>
          <p:nvPr/>
        </p:nvSpPr>
        <p:spPr>
          <a:xfrm>
            <a:off x="585216" y="1719072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{:ok, pid1} = MyApp.DynamicSupervisor.start_counter(10)</a:t>
            </a:r>
          </a:p>
        </p:txBody>
      </p:sp>
      <p:sp>
        <p:nvSpPr>
          <p:cNvPr id="8" name="a1wd55_code7"/>
          <p:cNvSpPr txBox="1"/>
          <p:nvPr/>
        </p:nvSpPr>
        <p:spPr>
          <a:xfrm>
            <a:off x="585216" y="1901952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{:ok, pid2} = MyApp.DynamicSupervisor.start_counter(100)</a:t>
            </a:r>
          </a:p>
        </p:txBody>
      </p:sp>
      <p:sp>
        <p:nvSpPr>
          <p:cNvPr id="9" name="a1wd110_code8"/>
          <p:cNvSpPr txBox="1"/>
          <p:nvPr/>
        </p:nvSpPr>
        <p:spPr>
          <a:xfrm>
            <a:off x="585216" y="2084831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Counter.value(pid1)          #=&gt; 10</a:t>
            </a:r>
          </a:p>
        </p:txBody>
      </p:sp>
      <p:sp>
        <p:nvSpPr>
          <p:cNvPr id="10" name="a1wd165_code9"/>
          <p:cNvSpPr txBox="1"/>
          <p:nvPr/>
        </p:nvSpPr>
        <p:spPr>
          <a:xfrm>
            <a:off x="585216" y="2267712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Counter.increment(pid1, 5)</a:t>
            </a:r>
          </a:p>
        </p:txBody>
      </p:sp>
      <p:sp>
        <p:nvSpPr>
          <p:cNvPr id="11" name="a1wd220_code10"/>
          <p:cNvSpPr txBox="1"/>
          <p:nvPr/>
        </p:nvSpPr>
        <p:spPr>
          <a:xfrm>
            <a:off x="585216" y="2450591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Counter.value(pid1)          #=&gt; 15</a:t>
            </a:r>
          </a:p>
        </p:txBody>
      </p:sp>
      <p:sp>
        <p:nvSpPr>
          <p:cNvPr id="12" name="a1wd275_code11"/>
          <p:cNvSpPr txBox="1"/>
          <p:nvPr/>
        </p:nvSpPr>
        <p:spPr>
          <a:xfrm>
            <a:off x="585216" y="2633472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Counter.value(pid2)          #=&gt; 100</a:t>
            </a:r>
          </a:p>
        </p:txBody>
      </p:sp>
      <p:sp>
        <p:nvSpPr>
          <p:cNvPr id="13" name="a1wd330_code12"/>
          <p:cNvSpPr txBox="1"/>
          <p:nvPr/>
        </p:nvSpPr>
        <p:spPr>
          <a:xfrm>
            <a:off x="585216" y="2816352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MyApp.DynamicSupervisor.start_many(3, 0)</a:t>
            </a:r>
          </a:p>
        </p:txBody>
      </p:sp>
      <p:sp>
        <p:nvSpPr>
          <p:cNvPr id="14" name="a1wd385_code13"/>
          <p:cNvSpPr txBox="1"/>
          <p:nvPr/>
        </p:nvSpPr>
        <p:spPr>
          <a:xfrm>
            <a:off x="585216" y="2999232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[ok: #PID&lt;0.144.0&gt;, ok: #PID&lt;0.145.0&gt;, ok: #PID&lt;0.146.0&gt;]</a:t>
            </a:r>
          </a:p>
        </p:txBody>
      </p:sp>
      <p:sp>
        <p:nvSpPr>
          <p:cNvPr id="15" name="a1wd440_code14"/>
          <p:cNvSpPr txBox="1"/>
          <p:nvPr/>
        </p:nvSpPr>
        <p:spPr>
          <a:xfrm>
            <a:off x="585216" y="3182112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DynamicSupervisor.count_children(MyApp.DynamicSupervisor)</a:t>
            </a:r>
          </a:p>
        </p:txBody>
      </p:sp>
      <p:sp>
        <p:nvSpPr>
          <p:cNvPr id="16" name="a1wd495_code15"/>
          <p:cNvSpPr txBox="1"/>
          <p:nvPr/>
        </p:nvSpPr>
        <p:spPr>
          <a:xfrm>
            <a:off x="585216" y="3364991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%{active: 5, workers: 5, supervisors: 0, specs: 5}</a:t>
            </a:r>
          </a:p>
        </p:txBody>
      </p:sp>
      <p:sp>
        <p:nvSpPr>
          <p:cNvPr id="17" name="a1wd550_code16"/>
          <p:cNvSpPr txBox="1"/>
          <p:nvPr/>
        </p:nvSpPr>
        <p:spPr>
          <a:xfrm>
            <a:off x="585216" y="3547872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E2E8F0"/>
                </a:solidFill>
                <a:latin typeface="Courier New"/>
              </a:rPr>
              <a:t>DynamicSupervisor.terminate_child(MyApp.DynamicSupervisor, pid1)</a:t>
            </a:r>
          </a:p>
        </p:txBody>
      </p:sp>
      <p:sp>
        <p:nvSpPr>
          <p:cNvPr id="18" name="a1wd605_code17"/>
          <p:cNvSpPr txBox="1"/>
          <p:nvPr/>
        </p:nvSpPr>
        <p:spPr>
          <a:xfrm>
            <a:off x="585216" y="3730752"/>
            <a:ext cx="4636007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#=&gt; :ok</a:t>
            </a:r>
          </a:p>
        </p:txBody>
      </p:sp>
      <p:sp>
        <p:nvSpPr>
          <p:cNvPr id="19" name="a2u_stg18"/>
          <p:cNvSpPr/>
          <p:nvPr/>
        </p:nvSpPr>
        <p:spPr>
          <a:xfrm>
            <a:off x="5577840" y="1335024"/>
            <a:ext cx="3108960" cy="438912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u_stgt19"/>
          <p:cNvSpPr txBox="1"/>
          <p:nvPr/>
        </p:nvSpPr>
        <p:spPr>
          <a:xfrm>
            <a:off x="5623559" y="1335024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MyApp.DynamicSupervisor</a:t>
            </a:r>
          </a:p>
        </p:txBody>
      </p:sp>
      <p:cxnSp>
        <p:nvCxnSpPr>
          <p:cNvPr id="21" name="a2ud150_ln20"/>
          <p:cNvCxnSpPr/>
          <p:nvPr/>
        </p:nvCxnSpPr>
        <p:spPr>
          <a:xfrm flipH="1">
            <a:off x="5879592" y="1773936"/>
            <a:ext cx="1252728" cy="448055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2ud150_stg21"/>
          <p:cNvSpPr/>
          <p:nvPr/>
        </p:nvSpPr>
        <p:spPr>
          <a:xfrm>
            <a:off x="5605272" y="2221991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FCE8ED"/>
          </a:solidFill>
          <a:ln w="12700">
            <a:solidFill>
              <a:srgbClr val="A90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ud150_stgt22"/>
          <p:cNvSpPr txBox="1"/>
          <p:nvPr/>
        </p:nvSpPr>
        <p:spPr>
          <a:xfrm>
            <a:off x="5650992" y="2221991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7A0425"/>
                </a:solidFill>
                <a:latin typeface="Courier New"/>
              </a:rPr>
              <a:t>15</a:t>
            </a:r>
          </a:p>
        </p:txBody>
      </p:sp>
      <p:cxnSp>
        <p:nvCxnSpPr>
          <p:cNvPr id="24" name="a2ud240_ln23"/>
          <p:cNvCxnSpPr/>
          <p:nvPr/>
        </p:nvCxnSpPr>
        <p:spPr>
          <a:xfrm flipH="1">
            <a:off x="6505956" y="1773936"/>
            <a:ext cx="626364" cy="448055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2ud240_stg24"/>
          <p:cNvSpPr/>
          <p:nvPr/>
        </p:nvSpPr>
        <p:spPr>
          <a:xfrm>
            <a:off x="6231636" y="2221991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d240_stgt25"/>
          <p:cNvSpPr txBox="1"/>
          <p:nvPr/>
        </p:nvSpPr>
        <p:spPr>
          <a:xfrm>
            <a:off x="6277356" y="2221991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100</a:t>
            </a:r>
          </a:p>
        </p:txBody>
      </p:sp>
      <p:cxnSp>
        <p:nvCxnSpPr>
          <p:cNvPr id="27" name="a2ud330_ln26"/>
          <p:cNvCxnSpPr/>
          <p:nvPr/>
        </p:nvCxnSpPr>
        <p:spPr>
          <a:xfrm>
            <a:off x="7132320" y="1773936"/>
            <a:ext cx="0" cy="448055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2ud330_stg27"/>
          <p:cNvSpPr/>
          <p:nvPr/>
        </p:nvSpPr>
        <p:spPr>
          <a:xfrm>
            <a:off x="6858000" y="2221991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d330_stgt28"/>
          <p:cNvSpPr txBox="1"/>
          <p:nvPr/>
        </p:nvSpPr>
        <p:spPr>
          <a:xfrm>
            <a:off x="6903720" y="2221991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0</a:t>
            </a:r>
          </a:p>
        </p:txBody>
      </p:sp>
      <p:cxnSp>
        <p:nvCxnSpPr>
          <p:cNvPr id="30" name="a2ud420_ln29"/>
          <p:cNvCxnSpPr/>
          <p:nvPr/>
        </p:nvCxnSpPr>
        <p:spPr>
          <a:xfrm>
            <a:off x="7132320" y="1773936"/>
            <a:ext cx="626363" cy="448055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2ud420_stg30"/>
          <p:cNvSpPr/>
          <p:nvPr/>
        </p:nvSpPr>
        <p:spPr>
          <a:xfrm>
            <a:off x="7484363" y="2221991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2ud420_stgt31"/>
          <p:cNvSpPr txBox="1"/>
          <p:nvPr/>
        </p:nvSpPr>
        <p:spPr>
          <a:xfrm>
            <a:off x="7530083" y="2221991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0</a:t>
            </a:r>
          </a:p>
        </p:txBody>
      </p:sp>
      <p:cxnSp>
        <p:nvCxnSpPr>
          <p:cNvPr id="33" name="a2ud510_ln32"/>
          <p:cNvCxnSpPr/>
          <p:nvPr/>
        </p:nvCxnSpPr>
        <p:spPr>
          <a:xfrm>
            <a:off x="7132320" y="1773936"/>
            <a:ext cx="1252728" cy="448055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2ud510_stg33"/>
          <p:cNvSpPr/>
          <p:nvPr/>
        </p:nvSpPr>
        <p:spPr>
          <a:xfrm>
            <a:off x="8110727" y="2221991"/>
            <a:ext cx="548640" cy="420624"/>
          </a:xfrm>
          <a:prstGeom prst="roundRect">
            <a:avLst>
              <a:gd name="adj" fmla="val 17391"/>
            </a:avLst>
          </a:prstGeom>
          <a:solidFill>
            <a:srgbClr val="F1EA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ud510_stgt34"/>
          <p:cNvSpPr txBox="1"/>
          <p:nvPr/>
        </p:nvSpPr>
        <p:spPr>
          <a:xfrm>
            <a:off x="8156448" y="2221991"/>
            <a:ext cx="4572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B275F"/>
                </a:solidFill>
                <a:latin typeface="Courier New"/>
              </a:rPr>
              <a:t>0</a:t>
            </a:r>
          </a:p>
        </p:txBody>
      </p:sp>
      <p:sp>
        <p:nvSpPr>
          <p:cNvPr id="36" name="a3u_cap35"/>
          <p:cNvSpPr txBox="1"/>
          <p:nvPr/>
        </p:nvSpPr>
        <p:spPr>
          <a:xfrm>
            <a:off x="5577840" y="270662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A0425"/>
                </a:solidFill>
                <a:latin typeface="Courier New"/>
              </a:rPr>
              <a:t>pid1 · stopped</a:t>
            </a:r>
          </a:p>
        </p:txBody>
      </p:sp>
      <p:sp>
        <p:nvSpPr>
          <p:cNvPr id="37" name="a3u_dot36"/>
          <p:cNvSpPr/>
          <p:nvPr/>
        </p:nvSpPr>
        <p:spPr>
          <a:xfrm>
            <a:off x="5577840" y="3182111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a3u_b37"/>
          <p:cNvSpPr txBox="1"/>
          <p:nvPr/>
        </p:nvSpPr>
        <p:spPr>
          <a:xfrm>
            <a:off x="5797296" y="3081527"/>
            <a:ext cx="28895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At start  </a:t>
            </a:r>
            <a:r>
              <a:rPr sz="1050" b="0">
                <a:solidFill>
                  <a:srgbClr val="334155"/>
                </a:solidFill>
                <a:latin typeface="Calibri"/>
              </a:rPr>
              <a:t>active: 0 — it starts empty</a:t>
            </a:r>
          </a:p>
        </p:txBody>
      </p:sp>
      <p:sp>
        <p:nvSpPr>
          <p:cNvPr id="39" name="a3ud140_dot38"/>
          <p:cNvSpPr/>
          <p:nvPr/>
        </p:nvSpPr>
        <p:spPr>
          <a:xfrm>
            <a:off x="5577840" y="3566159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a3ud140_b39"/>
          <p:cNvSpPr txBox="1"/>
          <p:nvPr/>
        </p:nvSpPr>
        <p:spPr>
          <a:xfrm>
            <a:off x="5797296" y="3465575"/>
            <a:ext cx="28895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After start_many  </a:t>
            </a:r>
            <a:r>
              <a:rPr sz="1050" b="0">
                <a:solidFill>
                  <a:srgbClr val="334155"/>
                </a:solidFill>
                <a:latin typeface="Calibri"/>
              </a:rPr>
              <a:t>active: 5</a:t>
            </a:r>
          </a:p>
        </p:txBody>
      </p:sp>
      <p:sp>
        <p:nvSpPr>
          <p:cNvPr id="41" name="a3ud280_dot40"/>
          <p:cNvSpPr/>
          <p:nvPr/>
        </p:nvSpPr>
        <p:spPr>
          <a:xfrm>
            <a:off x="5577840" y="3950207"/>
            <a:ext cx="82296" cy="82296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3ud280_b41"/>
          <p:cNvSpPr txBox="1"/>
          <p:nvPr/>
        </p:nvSpPr>
        <p:spPr>
          <a:xfrm>
            <a:off x="5797296" y="3849624"/>
            <a:ext cx="28895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After terminate_child  </a:t>
            </a:r>
            <a:r>
              <a:rPr sz="1050" b="0">
                <a:solidFill>
                  <a:srgbClr val="334155"/>
                </a:solidFill>
                <a:latin typeface="Calibri"/>
              </a:rPr>
              <a:t>active: 4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1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spc="260">
                <a:solidFill>
                  <a:srgbClr val="4B275F"/>
                </a:solidFill>
                <a:latin typeface="Calibri"/>
              </a:rPr>
              <a:t>SUPERVISION · CHOOSING</a:t>
            </a:r>
          </a:p>
        </p:txBody>
      </p:sp>
      <p:sp>
        <p:nvSpPr>
          <p:cNvPr id="3" name="h2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Supervisor or DynamicSupervisor?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097280"/>
            <a:ext cx="1828800" cy="41148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097280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5087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508760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Children defined at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9202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920240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Starting new children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3317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331720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Strategy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7432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743200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Typical use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31546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3154680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Child restart</a:t>
            </a:r>
          </a:p>
        </p:txBody>
      </p:sp>
      <p:sp>
        <p:nvSpPr>
          <p:cNvPr id="16" name="a1f_th15"/>
          <p:cNvSpPr/>
          <p:nvPr/>
        </p:nvSpPr>
        <p:spPr>
          <a:xfrm>
            <a:off x="2286000" y="1097280"/>
            <a:ext cx="3200400" cy="41148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_tht16"/>
          <p:cNvSpPr txBox="1"/>
          <p:nvPr/>
        </p:nvSpPr>
        <p:spPr>
          <a:xfrm>
            <a:off x="2359152" y="109728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Supervisor (static)</a:t>
            </a:r>
          </a:p>
        </p:txBody>
      </p:sp>
      <p:sp>
        <p:nvSpPr>
          <p:cNvPr id="18" name="a1wd110_td17"/>
          <p:cNvSpPr/>
          <p:nvPr/>
        </p:nvSpPr>
        <p:spPr>
          <a:xfrm>
            <a:off x="2286000" y="150876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10_tdt18"/>
          <p:cNvSpPr txBox="1"/>
          <p:nvPr/>
        </p:nvSpPr>
        <p:spPr>
          <a:xfrm>
            <a:off x="2359152" y="150876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Compile / start time</a:t>
            </a:r>
          </a:p>
        </p:txBody>
      </p:sp>
      <p:sp>
        <p:nvSpPr>
          <p:cNvPr id="20" name="a1wd220_td19"/>
          <p:cNvSpPr/>
          <p:nvPr/>
        </p:nvSpPr>
        <p:spPr>
          <a:xfrm>
            <a:off x="2286000" y="192024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20_tdt20"/>
          <p:cNvSpPr txBox="1"/>
          <p:nvPr/>
        </p:nvSpPr>
        <p:spPr>
          <a:xfrm>
            <a:off x="2359152" y="192024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Normally fixed at start (start_child/2 exists, rarely used)</a:t>
            </a:r>
          </a:p>
        </p:txBody>
      </p:sp>
      <p:sp>
        <p:nvSpPr>
          <p:cNvPr id="22" name="a1wd330_td21"/>
          <p:cNvSpPr/>
          <p:nvPr/>
        </p:nvSpPr>
        <p:spPr>
          <a:xfrm>
            <a:off x="2286000" y="233172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330_tdt22"/>
          <p:cNvSpPr txBox="1"/>
          <p:nvPr/>
        </p:nvSpPr>
        <p:spPr>
          <a:xfrm>
            <a:off x="2359152" y="233172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:one_for_one, :one_for_all, :rest_for_one</a:t>
            </a:r>
          </a:p>
        </p:txBody>
      </p:sp>
      <p:sp>
        <p:nvSpPr>
          <p:cNvPr id="24" name="a1wd440_td23"/>
          <p:cNvSpPr/>
          <p:nvPr/>
        </p:nvSpPr>
        <p:spPr>
          <a:xfrm>
            <a:off x="2286000" y="274320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440_tdt24"/>
          <p:cNvSpPr txBox="1"/>
          <p:nvPr/>
        </p:nvSpPr>
        <p:spPr>
          <a:xfrm>
            <a:off x="2359152" y="274320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Fixed set of processes (Counter, Registry, etc.)</a:t>
            </a:r>
          </a:p>
        </p:txBody>
      </p:sp>
      <p:sp>
        <p:nvSpPr>
          <p:cNvPr id="26" name="a1wd550_td25"/>
          <p:cNvSpPr/>
          <p:nvPr/>
        </p:nvSpPr>
        <p:spPr>
          <a:xfrm>
            <a:off x="2286000" y="315468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550_tdt26"/>
          <p:cNvSpPr txBox="1"/>
          <p:nvPr/>
        </p:nvSpPr>
        <p:spPr>
          <a:xfrm>
            <a:off x="2359152" y="315468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Configurable per child</a:t>
            </a:r>
          </a:p>
        </p:txBody>
      </p:sp>
      <p:sp>
        <p:nvSpPr>
          <p:cNvPr id="28" name="a1f_th27"/>
          <p:cNvSpPr/>
          <p:nvPr/>
        </p:nvSpPr>
        <p:spPr>
          <a:xfrm>
            <a:off x="5486400" y="1097280"/>
            <a:ext cx="3200400" cy="411480"/>
          </a:xfrm>
          <a:prstGeom prst="rect">
            <a:avLst/>
          </a:prstGeom>
          <a:solidFill>
            <a:srgbClr val="4B2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1f_tht28"/>
          <p:cNvSpPr txBox="1"/>
          <p:nvPr/>
        </p:nvSpPr>
        <p:spPr>
          <a:xfrm>
            <a:off x="5559552" y="109728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DynamicSupervisor</a:t>
            </a:r>
          </a:p>
        </p:txBody>
      </p:sp>
      <p:sp>
        <p:nvSpPr>
          <p:cNvPr id="30" name="a1wd110_td29"/>
          <p:cNvSpPr/>
          <p:nvPr/>
        </p:nvSpPr>
        <p:spPr>
          <a:xfrm>
            <a:off x="5486400" y="150876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1wd110_tdt30"/>
          <p:cNvSpPr txBox="1"/>
          <p:nvPr/>
        </p:nvSpPr>
        <p:spPr>
          <a:xfrm>
            <a:off x="5559552" y="150876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Runtime</a:t>
            </a:r>
          </a:p>
        </p:txBody>
      </p:sp>
      <p:sp>
        <p:nvSpPr>
          <p:cNvPr id="32" name="a1wd220_td31"/>
          <p:cNvSpPr/>
          <p:nvPr/>
        </p:nvSpPr>
        <p:spPr>
          <a:xfrm>
            <a:off x="5486400" y="192024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1wd220_tdt32"/>
          <p:cNvSpPr txBox="1"/>
          <p:nvPr/>
        </p:nvSpPr>
        <p:spPr>
          <a:xfrm>
            <a:off x="5559552" y="192024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start_child/2 anytime</a:t>
            </a:r>
          </a:p>
        </p:txBody>
      </p:sp>
      <p:sp>
        <p:nvSpPr>
          <p:cNvPr id="34" name="a1wd330_td33"/>
          <p:cNvSpPr/>
          <p:nvPr/>
        </p:nvSpPr>
        <p:spPr>
          <a:xfrm>
            <a:off x="5486400" y="233172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1wd330_tdt34"/>
          <p:cNvSpPr txBox="1"/>
          <p:nvPr/>
        </p:nvSpPr>
        <p:spPr>
          <a:xfrm>
            <a:off x="5559552" y="233172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Only :one_for_one</a:t>
            </a:r>
          </a:p>
        </p:txBody>
      </p:sp>
      <p:sp>
        <p:nvSpPr>
          <p:cNvPr id="36" name="a1wd440_td35"/>
          <p:cNvSpPr/>
          <p:nvPr/>
        </p:nvSpPr>
        <p:spPr>
          <a:xfrm>
            <a:off x="5486400" y="274320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1wd440_tdt36"/>
          <p:cNvSpPr txBox="1"/>
          <p:nvPr/>
        </p:nvSpPr>
        <p:spPr>
          <a:xfrm>
            <a:off x="5559552" y="274320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Workers that come and go (connections, jobs, sessions…)</a:t>
            </a:r>
          </a:p>
        </p:txBody>
      </p:sp>
      <p:sp>
        <p:nvSpPr>
          <p:cNvPr id="38" name="a1wd550_td37"/>
          <p:cNvSpPr/>
          <p:nvPr/>
        </p:nvSpPr>
        <p:spPr>
          <a:xfrm>
            <a:off x="5486400" y="315468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1wd550_tdt38"/>
          <p:cNvSpPr txBox="1"/>
          <p:nvPr/>
        </p:nvSpPr>
        <p:spPr>
          <a:xfrm>
            <a:off x="5559552" y="3154680"/>
            <a:ext cx="30906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Configurable per child</a:t>
            </a:r>
          </a:p>
        </p:txBody>
      </p:sp>
      <p:sp>
        <p:nvSpPr>
          <p:cNvPr id="40" name="a2u_nb39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2u_nacc40"/>
          <p:cNvSpPr/>
          <p:nvPr/>
        </p:nvSpPr>
        <p:spPr>
          <a:xfrm>
            <a:off x="457200" y="3794760"/>
            <a:ext cx="50292" cy="5669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a2u_nt41"/>
          <p:cNvSpPr txBox="1"/>
          <p:nvPr/>
        </p:nvSpPr>
        <p:spPr>
          <a:xfrm>
            <a:off x="658368" y="379476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B3FA0"/>
                </a:solidFill>
                <a:latin typeface="Calibri"/>
              </a:rPr>
              <a:t>→  </a:t>
            </a:r>
            <a:r>
              <a:rPr sz="1150" b="0">
                <a:solidFill>
                  <a:srgbClr val="334155"/>
                </a:solidFill>
                <a:latin typeface="Calibri"/>
              </a:rPr>
              <a:t>Rule of thumb: a fixed cast of processes → Supervisor. One process per job, connection or session → DynamicSupervisor.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Elixir 1.20.4 · OTP 29 · Processes &amp; OTP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188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1887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70432" y="1143000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process is cheap and isolated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spawn returns a PID; nothing is shared — messages are copied into a mailbox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188366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18836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70432" y="1837944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Links propagate failure, monitors report it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spawn_link: die together unless you trap exits · spawn_monitor: get a :DOWN message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5786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5786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70432" y="2532888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Task for one-off work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Task.async + Task.await for a result; Task.Supervisor when the work should be supervised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2735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2735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70432" y="3227832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Agent for simple state, GenServer for the rest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call waits for a reply, cast does not; handle_info catches everything else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39684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39684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70432" y="3922776"/>
            <a:ext cx="742492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Supervisors restart, Applications boot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the strategy decides who restarts; a DynamicSupervisor adds children at runtime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