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LANGUAGE FUNDAMENTALS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Data types,
literals, size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Every basic type, and what each one costs in words.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iex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types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bytes</a:t>
            </a:r>
          </a:p>
        </p:txBody>
      </p:sp>
      <p:sp>
        <p:nvSpPr>
          <p:cNvPr id="8" name="a0fd1400_nt7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Session 2 of 2 · every size on these slides was measured, not remembered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170431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60_ic5"/>
          <p:cNvSpPr/>
          <p:nvPr/>
        </p:nvSpPr>
        <p:spPr>
          <a:xfrm>
            <a:off x="621792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60_ict6"/>
          <p:cNvSpPr txBox="1"/>
          <p:nvPr/>
        </p:nvSpPr>
        <p:spPr>
          <a:xfrm>
            <a:off x="621792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REPL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iex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Starting it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helpers that matter</a:t>
            </a:r>
          </a:p>
        </p:txBody>
      </p:sp>
      <p:sp>
        <p:nvSpPr>
          <p:cNvPr id="12" name="a1ud290_cb11"/>
          <p:cNvSpPr txBox="1"/>
          <p:nvPr/>
        </p:nvSpPr>
        <p:spPr>
          <a:xfrm>
            <a:off x="621792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Command line options</a:t>
            </a:r>
          </a:p>
        </p:txBody>
      </p:sp>
      <p:sp>
        <p:nvSpPr>
          <p:cNvPr id="13" name="a2u_card12"/>
          <p:cNvSpPr/>
          <p:nvPr/>
        </p:nvSpPr>
        <p:spPr>
          <a:xfrm>
            <a:off x="2564892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u_acc13"/>
          <p:cNvSpPr/>
          <p:nvPr/>
        </p:nvSpPr>
        <p:spPr>
          <a:xfrm>
            <a:off x="2564892" y="1170431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ud60_ic14"/>
          <p:cNvSpPr/>
          <p:nvPr/>
        </p:nvSpPr>
        <p:spPr>
          <a:xfrm>
            <a:off x="2729484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d60_ict15"/>
          <p:cNvSpPr txBox="1"/>
          <p:nvPr/>
        </p:nvSpPr>
        <p:spPr>
          <a:xfrm>
            <a:off x="2729484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a2ud90_ct16"/>
          <p:cNvSpPr txBox="1"/>
          <p:nvPr/>
        </p:nvSpPr>
        <p:spPr>
          <a:xfrm>
            <a:off x="2729484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Scalars</a:t>
            </a:r>
          </a:p>
        </p:txBody>
      </p:sp>
      <p:sp>
        <p:nvSpPr>
          <p:cNvPr id="18" name="a2ud120_cs17"/>
          <p:cNvSpPr txBox="1"/>
          <p:nvPr/>
        </p:nvSpPr>
        <p:spPr>
          <a:xfrm>
            <a:off x="2729484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int float atom</a:t>
            </a:r>
          </a:p>
        </p:txBody>
      </p:sp>
      <p:sp>
        <p:nvSpPr>
          <p:cNvPr id="19" name="a2ud150_cb18"/>
          <p:cNvSpPr txBox="1"/>
          <p:nvPr/>
        </p:nvSpPr>
        <p:spPr>
          <a:xfrm>
            <a:off x="2729484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Literals and syntax</a:t>
            </a:r>
          </a:p>
        </p:txBody>
      </p:sp>
      <p:sp>
        <p:nvSpPr>
          <p:cNvPr id="20" name="a2ud220_cb19"/>
          <p:cNvSpPr txBox="1"/>
          <p:nvPr/>
        </p:nvSpPr>
        <p:spPr>
          <a:xfrm>
            <a:off x="2729484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Arbitrary precision</a:t>
            </a:r>
          </a:p>
        </p:txBody>
      </p:sp>
      <p:sp>
        <p:nvSpPr>
          <p:cNvPr id="21" name="a2ud290_cb20"/>
          <p:cNvSpPr txBox="1"/>
          <p:nvPr/>
        </p:nvSpPr>
        <p:spPr>
          <a:xfrm>
            <a:off x="2729484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What is free</a:t>
            </a:r>
          </a:p>
        </p:txBody>
      </p:sp>
      <p:sp>
        <p:nvSpPr>
          <p:cNvPr id="22" name="a3u_card21"/>
          <p:cNvSpPr/>
          <p:nvPr/>
        </p:nvSpPr>
        <p:spPr>
          <a:xfrm>
            <a:off x="4672584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u_acc22"/>
          <p:cNvSpPr/>
          <p:nvPr/>
        </p:nvSpPr>
        <p:spPr>
          <a:xfrm>
            <a:off x="4672584" y="1170431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d60_ic23"/>
          <p:cNvSpPr/>
          <p:nvPr/>
        </p:nvSpPr>
        <p:spPr>
          <a:xfrm>
            <a:off x="4837176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ud60_ict24"/>
          <p:cNvSpPr txBox="1"/>
          <p:nvPr/>
        </p:nvSpPr>
        <p:spPr>
          <a:xfrm>
            <a:off x="4837176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a3ud90_ct25"/>
          <p:cNvSpPr txBox="1"/>
          <p:nvPr/>
        </p:nvSpPr>
        <p:spPr>
          <a:xfrm>
            <a:off x="4837176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Collections</a:t>
            </a:r>
          </a:p>
        </p:txBody>
      </p:sp>
      <p:sp>
        <p:nvSpPr>
          <p:cNvPr id="27" name="a3ud120_cs26"/>
          <p:cNvSpPr txBox="1"/>
          <p:nvPr/>
        </p:nvSpPr>
        <p:spPr>
          <a:xfrm>
            <a:off x="4837176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tuple list map</a:t>
            </a:r>
          </a:p>
        </p:txBody>
      </p:sp>
      <p:sp>
        <p:nvSpPr>
          <p:cNvPr id="28" name="a3ud150_cb27"/>
          <p:cNvSpPr txBox="1"/>
          <p:nvPr/>
        </p:nvSpPr>
        <p:spPr>
          <a:xfrm>
            <a:off x="4837176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How each is laid out</a:t>
            </a:r>
          </a:p>
        </p:txBody>
      </p:sp>
      <p:sp>
        <p:nvSpPr>
          <p:cNvPr id="29" name="a3ud220_cb28"/>
          <p:cNvSpPr txBox="1"/>
          <p:nvPr/>
        </p:nvSpPr>
        <p:spPr>
          <a:xfrm>
            <a:off x="4837176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Cost per element</a:t>
            </a:r>
          </a:p>
        </p:txBody>
      </p:sp>
      <p:sp>
        <p:nvSpPr>
          <p:cNvPr id="30" name="a3ud290_cb29"/>
          <p:cNvSpPr txBox="1"/>
          <p:nvPr/>
        </p:nvSpPr>
        <p:spPr>
          <a:xfrm>
            <a:off x="4837176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Which to reach for</a:t>
            </a:r>
          </a:p>
        </p:txBody>
      </p:sp>
      <p:sp>
        <p:nvSpPr>
          <p:cNvPr id="31" name="a4u_card30"/>
          <p:cNvSpPr/>
          <p:nvPr/>
        </p:nvSpPr>
        <p:spPr>
          <a:xfrm>
            <a:off x="6780276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4u_acc31"/>
          <p:cNvSpPr/>
          <p:nvPr/>
        </p:nvSpPr>
        <p:spPr>
          <a:xfrm>
            <a:off x="6780276" y="1170431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4ud60_ic32"/>
          <p:cNvSpPr/>
          <p:nvPr/>
        </p:nvSpPr>
        <p:spPr>
          <a:xfrm>
            <a:off x="6944868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4ud60_ict33"/>
          <p:cNvSpPr txBox="1"/>
          <p:nvPr/>
        </p:nvSpPr>
        <p:spPr>
          <a:xfrm>
            <a:off x="6944868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a4ud90_ct34"/>
          <p:cNvSpPr txBox="1"/>
          <p:nvPr/>
        </p:nvSpPr>
        <p:spPr>
          <a:xfrm>
            <a:off x="6944868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Text</a:t>
            </a:r>
          </a:p>
        </p:txBody>
      </p:sp>
      <p:sp>
        <p:nvSpPr>
          <p:cNvPr id="36" name="a4ud120_cs35"/>
          <p:cNvSpPr txBox="1"/>
          <p:nvPr/>
        </p:nvSpPr>
        <p:spPr>
          <a:xfrm>
            <a:off x="6944868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binary charlist</a:t>
            </a:r>
          </a:p>
        </p:txBody>
      </p:sp>
      <p:sp>
        <p:nvSpPr>
          <p:cNvPr id="37" name="a4ud150_cb36"/>
          <p:cNvSpPr txBox="1"/>
          <p:nvPr/>
        </p:nvSpPr>
        <p:spPr>
          <a:xfrm>
            <a:off x="6944868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Strings are binaries</a:t>
            </a:r>
          </a:p>
        </p:txBody>
      </p:sp>
      <p:sp>
        <p:nvSpPr>
          <p:cNvPr id="38" name="a4ud220_cb37"/>
          <p:cNvSpPr txBox="1"/>
          <p:nvPr/>
        </p:nvSpPr>
        <p:spPr>
          <a:xfrm>
            <a:off x="6944868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64-byte boundary</a:t>
            </a:r>
          </a:p>
        </p:txBody>
      </p:sp>
      <p:sp>
        <p:nvSpPr>
          <p:cNvPr id="39" name="a4ud290_cb38"/>
          <p:cNvSpPr txBox="1"/>
          <p:nvPr/>
        </p:nvSpPr>
        <p:spPr>
          <a:xfrm>
            <a:off x="6944868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UTF-8 in practice</a:t>
            </a:r>
          </a:p>
        </p:txBody>
      </p:sp>
      <p:sp>
        <p:nvSpPr>
          <p:cNvPr id="40" name="a5f_nb39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5f_nacc40"/>
          <p:cNvSpPr/>
          <p:nvPr/>
        </p:nvSpPr>
        <p:spPr>
          <a:xfrm>
            <a:off x="457200" y="3794760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5f_nt41"/>
          <p:cNvSpPr txBox="1"/>
          <p:nvPr/>
        </p:nvSpPr>
        <p:spPr>
          <a:xfrm>
            <a:off x="658368" y="379476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through-line: you cannot reason about performance in a functional language until you know what a value costs to hold and to copy.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The REPL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IEx is not a toy shell. It is how you
read, test and inspect everything.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iex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helpers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-S mix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REPL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Starting IEx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Interactive Elixir — a real node, running your code.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84632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SESSION · iex_run.py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&gt; iex.bat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21792" y="203454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Erlang/OTP 29 [erts-17.0.6] [64-bit] [smp:12:12]</a:t>
            </a:r>
          </a:p>
        </p:txBody>
      </p:sp>
      <p:sp>
        <p:nvSpPr>
          <p:cNvPr id="9" name="a1wd160_code8"/>
          <p:cNvSpPr txBox="1"/>
          <p:nvPr/>
        </p:nvSpPr>
        <p:spPr>
          <a:xfrm>
            <a:off x="621792" y="224942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Interactive Elixir (1.20.4) - press Ctrl+C to exit</a:t>
            </a:r>
          </a:p>
        </p:txBody>
      </p:sp>
      <p:sp>
        <p:nvSpPr>
          <p:cNvPr id="10" name="a1wd240_code9"/>
          <p:cNvSpPr txBox="1"/>
          <p:nvPr/>
        </p:nvSpPr>
        <p:spPr>
          <a:xfrm>
            <a:off x="621792" y="246430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iex(1)&gt; 1 + 1</a:t>
            </a:r>
          </a:p>
        </p:txBody>
      </p:sp>
      <p:sp>
        <p:nvSpPr>
          <p:cNvPr id="11" name="a1wd320_code10"/>
          <p:cNvSpPr txBox="1"/>
          <p:nvPr/>
        </p:nvSpPr>
        <p:spPr>
          <a:xfrm>
            <a:off x="621792" y="2679191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2</a:t>
            </a:r>
          </a:p>
        </p:txBody>
      </p:sp>
      <p:sp>
        <p:nvSpPr>
          <p:cNvPr id="12" name="a1wd400_code11"/>
          <p:cNvSpPr txBox="1"/>
          <p:nvPr/>
        </p:nvSpPr>
        <p:spPr>
          <a:xfrm>
            <a:off x="621792" y="289407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iex(2)&gt; x = [1, 2, 3]</a:t>
            </a:r>
          </a:p>
        </p:txBody>
      </p:sp>
      <p:sp>
        <p:nvSpPr>
          <p:cNvPr id="13" name="a1wd480_code12"/>
          <p:cNvSpPr txBox="1"/>
          <p:nvPr/>
        </p:nvSpPr>
        <p:spPr>
          <a:xfrm>
            <a:off x="621792" y="310896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[1, 2, 3]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621792" y="332384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iex(3)&gt; v(2)</a:t>
            </a:r>
          </a:p>
        </p:txBody>
      </p:sp>
      <p:sp>
        <p:nvSpPr>
          <p:cNvPr id="15" name="a1wd640_code14"/>
          <p:cNvSpPr txBox="1"/>
          <p:nvPr/>
        </p:nvSpPr>
        <p:spPr>
          <a:xfrm>
            <a:off x="621792" y="353872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[1, 2, 3]</a:t>
            </a:r>
          </a:p>
        </p:txBody>
      </p:sp>
      <p:sp>
        <p:nvSpPr>
          <p:cNvPr id="16" name="a2u_dot15"/>
          <p:cNvSpPr/>
          <p:nvPr/>
        </p:nvSpPr>
        <p:spPr>
          <a:xfrm>
            <a:off x="5532120" y="1554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_b16"/>
          <p:cNvSpPr txBox="1"/>
          <p:nvPr/>
        </p:nvSpPr>
        <p:spPr>
          <a:xfrm>
            <a:off x="5751576" y="1453895"/>
            <a:ext cx="293522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Every line is evaluated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there is no separate compile step in the shell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5532120" y="221284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d180_b18"/>
          <p:cNvSpPr txBox="1"/>
          <p:nvPr/>
        </p:nvSpPr>
        <p:spPr>
          <a:xfrm>
            <a:off x="5751576" y="2112264"/>
            <a:ext cx="293522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The counter is a handle  </a:t>
            </a:r>
            <a:r>
              <a:rPr sz="1100" b="0">
                <a:solidFill>
                  <a:srgbClr val="334155"/>
                </a:solidFill>
                <a:latin typeface="Calibri"/>
              </a:rPr>
              <a:t>v(2) returns the value line 2 produced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5532120" y="287121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ud360_b20"/>
          <p:cNvSpPr txBox="1"/>
          <p:nvPr/>
        </p:nvSpPr>
        <p:spPr>
          <a:xfrm>
            <a:off x="5751576" y="2770632"/>
            <a:ext cx="293522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Ctrl+C twice to leave  </a:t>
            </a:r>
            <a:r>
              <a:rPr sz="1100" b="0">
                <a:solidFill>
                  <a:srgbClr val="334155"/>
                </a:solidFill>
                <a:latin typeface="Calibri"/>
              </a:rPr>
              <a:t>or Ctrl+\ to kill the node immediately</a:t>
            </a:r>
          </a:p>
        </p:txBody>
      </p:sp>
      <p:sp>
        <p:nvSpPr>
          <p:cNvPr id="22" name="a3f_nb21"/>
          <p:cNvSpPr/>
          <p:nvPr/>
        </p:nvSpPr>
        <p:spPr>
          <a:xfrm>
            <a:off x="457200" y="403250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f_nacc22"/>
          <p:cNvSpPr/>
          <p:nvPr/>
        </p:nvSpPr>
        <p:spPr>
          <a:xfrm>
            <a:off x="457200" y="4032504"/>
            <a:ext cx="50292" cy="475488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f_nt23"/>
          <p:cNvSpPr txBox="1"/>
          <p:nvPr/>
        </p:nvSpPr>
        <p:spPr>
          <a:xfrm>
            <a:off x="658368" y="403250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On Windows the launcher is iex.bat. Piping into plain iex from a POSIX shell will not find it.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REPL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IEx helpers worth memorising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70431"/>
            <a:ext cx="205740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170431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Helper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81328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110_tdt6"/>
          <p:cNvSpPr txBox="1"/>
          <p:nvPr/>
        </p:nvSpPr>
        <p:spPr>
          <a:xfrm>
            <a:off x="530352" y="1481328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h Enum.map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7922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220_tdt8"/>
          <p:cNvSpPr txBox="1"/>
          <p:nvPr/>
        </p:nvSpPr>
        <p:spPr>
          <a:xfrm>
            <a:off x="530352" y="1792224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 term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103120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330_tdt10"/>
          <p:cNvSpPr txBox="1"/>
          <p:nvPr/>
        </p:nvSpPr>
        <p:spPr>
          <a:xfrm>
            <a:off x="530352" y="2103120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v(n)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414015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440_tdt12"/>
          <p:cNvSpPr txBox="1"/>
          <p:nvPr/>
        </p:nvSpPr>
        <p:spPr>
          <a:xfrm>
            <a:off x="530352" y="2414015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c "file.ex"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72491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wd550_tdt14"/>
          <p:cNvSpPr txBox="1"/>
          <p:nvPr/>
        </p:nvSpPr>
        <p:spPr>
          <a:xfrm>
            <a:off x="530352" y="2724912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r Module</a:t>
            </a:r>
          </a:p>
        </p:txBody>
      </p:sp>
      <p:sp>
        <p:nvSpPr>
          <p:cNvPr id="16" name="a1wd660_td15"/>
          <p:cNvSpPr/>
          <p:nvPr/>
        </p:nvSpPr>
        <p:spPr>
          <a:xfrm>
            <a:off x="457200" y="3035808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660_tdt16"/>
          <p:cNvSpPr txBox="1"/>
          <p:nvPr/>
        </p:nvSpPr>
        <p:spPr>
          <a:xfrm>
            <a:off x="530352" y="3035808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recompile()</a:t>
            </a:r>
          </a:p>
        </p:txBody>
      </p:sp>
      <p:sp>
        <p:nvSpPr>
          <p:cNvPr id="18" name="a1wd770_td17"/>
          <p:cNvSpPr/>
          <p:nvPr/>
        </p:nvSpPr>
        <p:spPr>
          <a:xfrm>
            <a:off x="457200" y="334670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770_tdt18"/>
          <p:cNvSpPr txBox="1"/>
          <p:nvPr/>
        </p:nvSpPr>
        <p:spPr>
          <a:xfrm>
            <a:off x="530352" y="3346704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exports Module</a:t>
            </a:r>
          </a:p>
        </p:txBody>
      </p:sp>
      <p:sp>
        <p:nvSpPr>
          <p:cNvPr id="20" name="a1wd880_td19"/>
          <p:cNvSpPr/>
          <p:nvPr/>
        </p:nvSpPr>
        <p:spPr>
          <a:xfrm>
            <a:off x="457200" y="3657600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880_tdt20"/>
          <p:cNvSpPr txBox="1"/>
          <p:nvPr/>
        </p:nvSpPr>
        <p:spPr>
          <a:xfrm>
            <a:off x="530352" y="3657600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clear()</a:t>
            </a:r>
          </a:p>
        </p:txBody>
      </p:sp>
      <p:sp>
        <p:nvSpPr>
          <p:cNvPr id="22" name="a1f_th21"/>
          <p:cNvSpPr/>
          <p:nvPr/>
        </p:nvSpPr>
        <p:spPr>
          <a:xfrm>
            <a:off x="2514600" y="1170431"/>
            <a:ext cx="1874519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f_tht22"/>
          <p:cNvSpPr txBox="1"/>
          <p:nvPr/>
        </p:nvSpPr>
        <p:spPr>
          <a:xfrm>
            <a:off x="2587752" y="1170431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4" name="a1wd110_td23"/>
          <p:cNvSpPr/>
          <p:nvPr/>
        </p:nvSpPr>
        <p:spPr>
          <a:xfrm>
            <a:off x="2514600" y="1481328"/>
            <a:ext cx="1874519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wd110_tdt24"/>
          <p:cNvSpPr txBox="1"/>
          <p:nvPr/>
        </p:nvSpPr>
        <p:spPr>
          <a:xfrm>
            <a:off x="2587752" y="1481328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Docs</a:t>
            </a:r>
          </a:p>
        </p:txBody>
      </p:sp>
      <p:sp>
        <p:nvSpPr>
          <p:cNvPr id="26" name="a1wd220_td25"/>
          <p:cNvSpPr/>
          <p:nvPr/>
        </p:nvSpPr>
        <p:spPr>
          <a:xfrm>
            <a:off x="2514600" y="1792224"/>
            <a:ext cx="1874519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220_tdt26"/>
          <p:cNvSpPr txBox="1"/>
          <p:nvPr/>
        </p:nvSpPr>
        <p:spPr>
          <a:xfrm>
            <a:off x="2587752" y="1792224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Inspect a value</a:t>
            </a:r>
          </a:p>
        </p:txBody>
      </p:sp>
      <p:sp>
        <p:nvSpPr>
          <p:cNvPr id="28" name="a1wd330_td27"/>
          <p:cNvSpPr/>
          <p:nvPr/>
        </p:nvSpPr>
        <p:spPr>
          <a:xfrm>
            <a:off x="2514600" y="2103120"/>
            <a:ext cx="1874519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wd330_tdt28"/>
          <p:cNvSpPr txBox="1"/>
          <p:nvPr/>
        </p:nvSpPr>
        <p:spPr>
          <a:xfrm>
            <a:off x="2587752" y="2103120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Recall a result</a:t>
            </a:r>
          </a:p>
        </p:txBody>
      </p:sp>
      <p:sp>
        <p:nvSpPr>
          <p:cNvPr id="30" name="a1wd440_td29"/>
          <p:cNvSpPr/>
          <p:nvPr/>
        </p:nvSpPr>
        <p:spPr>
          <a:xfrm>
            <a:off x="2514600" y="2414015"/>
            <a:ext cx="1874519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440_tdt30"/>
          <p:cNvSpPr txBox="1"/>
          <p:nvPr/>
        </p:nvSpPr>
        <p:spPr>
          <a:xfrm>
            <a:off x="2587752" y="2414015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 a file</a:t>
            </a:r>
          </a:p>
        </p:txBody>
      </p:sp>
      <p:sp>
        <p:nvSpPr>
          <p:cNvPr id="32" name="a1wd550_td31"/>
          <p:cNvSpPr/>
          <p:nvPr/>
        </p:nvSpPr>
        <p:spPr>
          <a:xfrm>
            <a:off x="2514600" y="2724912"/>
            <a:ext cx="1874519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550_tdt32"/>
          <p:cNvSpPr txBox="1"/>
          <p:nvPr/>
        </p:nvSpPr>
        <p:spPr>
          <a:xfrm>
            <a:off x="2587752" y="2724912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Recompile</a:t>
            </a:r>
          </a:p>
        </p:txBody>
      </p:sp>
      <p:sp>
        <p:nvSpPr>
          <p:cNvPr id="34" name="a1wd660_td33"/>
          <p:cNvSpPr/>
          <p:nvPr/>
        </p:nvSpPr>
        <p:spPr>
          <a:xfrm>
            <a:off x="2514600" y="3035808"/>
            <a:ext cx="1874519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1wd660_tdt34"/>
          <p:cNvSpPr txBox="1"/>
          <p:nvPr/>
        </p:nvSpPr>
        <p:spPr>
          <a:xfrm>
            <a:off x="2587752" y="3035808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Rebuild project</a:t>
            </a:r>
          </a:p>
        </p:txBody>
      </p:sp>
      <p:sp>
        <p:nvSpPr>
          <p:cNvPr id="36" name="a1wd770_td35"/>
          <p:cNvSpPr/>
          <p:nvPr/>
        </p:nvSpPr>
        <p:spPr>
          <a:xfrm>
            <a:off x="2514600" y="3346704"/>
            <a:ext cx="1874519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1wd770_tdt36"/>
          <p:cNvSpPr txBox="1"/>
          <p:nvPr/>
        </p:nvSpPr>
        <p:spPr>
          <a:xfrm>
            <a:off x="2587752" y="3346704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List functions</a:t>
            </a:r>
          </a:p>
        </p:txBody>
      </p:sp>
      <p:sp>
        <p:nvSpPr>
          <p:cNvPr id="38" name="a1wd880_td37"/>
          <p:cNvSpPr/>
          <p:nvPr/>
        </p:nvSpPr>
        <p:spPr>
          <a:xfrm>
            <a:off x="2514600" y="3657600"/>
            <a:ext cx="1874519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1wd880_tdt38"/>
          <p:cNvSpPr txBox="1"/>
          <p:nvPr/>
        </p:nvSpPr>
        <p:spPr>
          <a:xfrm>
            <a:off x="2587752" y="3657600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Clear screen</a:t>
            </a:r>
          </a:p>
        </p:txBody>
      </p:sp>
      <p:sp>
        <p:nvSpPr>
          <p:cNvPr id="40" name="a1f_th39"/>
          <p:cNvSpPr/>
          <p:nvPr/>
        </p:nvSpPr>
        <p:spPr>
          <a:xfrm>
            <a:off x="4389120" y="1170431"/>
            <a:ext cx="429768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1f_tht40"/>
          <p:cNvSpPr txBox="1"/>
          <p:nvPr/>
        </p:nvSpPr>
        <p:spPr>
          <a:xfrm>
            <a:off x="4462272" y="1170431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42" name="a1wd110_td41"/>
          <p:cNvSpPr/>
          <p:nvPr/>
        </p:nvSpPr>
        <p:spPr>
          <a:xfrm>
            <a:off x="4389120" y="1481328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1wd110_tdt42"/>
          <p:cNvSpPr txBox="1"/>
          <p:nvPr/>
        </p:nvSpPr>
        <p:spPr>
          <a:xfrm>
            <a:off x="4462272" y="1481328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Reads the Docs chunk out of the .beam file</a:t>
            </a:r>
          </a:p>
        </p:txBody>
      </p:sp>
      <p:sp>
        <p:nvSpPr>
          <p:cNvPr id="44" name="a1wd220_td43"/>
          <p:cNvSpPr/>
          <p:nvPr/>
        </p:nvSpPr>
        <p:spPr>
          <a:xfrm>
            <a:off x="4389120" y="1792224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a1wd220_tdt44"/>
          <p:cNvSpPr txBox="1"/>
          <p:nvPr/>
        </p:nvSpPr>
        <p:spPr>
          <a:xfrm>
            <a:off x="4462272" y="1792224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Data type, reference modules, representation</a:t>
            </a:r>
          </a:p>
        </p:txBody>
      </p:sp>
      <p:sp>
        <p:nvSpPr>
          <p:cNvPr id="46" name="a1wd330_td45"/>
          <p:cNvSpPr/>
          <p:nvPr/>
        </p:nvSpPr>
        <p:spPr>
          <a:xfrm>
            <a:off x="4389120" y="2103120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a1wd330_tdt46"/>
          <p:cNvSpPr txBox="1"/>
          <p:nvPr/>
        </p:nvSpPr>
        <p:spPr>
          <a:xfrm>
            <a:off x="4462272" y="2103120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value line n returned</a:t>
            </a:r>
          </a:p>
        </p:txBody>
      </p:sp>
      <p:sp>
        <p:nvSpPr>
          <p:cNvPr id="48" name="a1wd440_td47"/>
          <p:cNvSpPr/>
          <p:nvPr/>
        </p:nvSpPr>
        <p:spPr>
          <a:xfrm>
            <a:off x="4389120" y="2414015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a1wd440_tdt48"/>
          <p:cNvSpPr txBox="1"/>
          <p:nvPr/>
        </p:nvSpPr>
        <p:spPr>
          <a:xfrm>
            <a:off x="4462272" y="2414015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Loads the module into the running node</a:t>
            </a:r>
          </a:p>
        </p:txBody>
      </p:sp>
      <p:sp>
        <p:nvSpPr>
          <p:cNvPr id="50" name="a1wd550_td49"/>
          <p:cNvSpPr/>
          <p:nvPr/>
        </p:nvSpPr>
        <p:spPr>
          <a:xfrm>
            <a:off x="4389120" y="2724912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a1wd550_tdt50"/>
          <p:cNvSpPr txBox="1"/>
          <p:nvPr/>
        </p:nvSpPr>
        <p:spPr>
          <a:xfrm>
            <a:off x="4462272" y="2724912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Reloads a single module after an edit</a:t>
            </a:r>
          </a:p>
        </p:txBody>
      </p:sp>
      <p:sp>
        <p:nvSpPr>
          <p:cNvPr id="52" name="a1wd660_td51"/>
          <p:cNvSpPr/>
          <p:nvPr/>
        </p:nvSpPr>
        <p:spPr>
          <a:xfrm>
            <a:off x="4389120" y="3035808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a1wd660_tdt52"/>
          <p:cNvSpPr txBox="1"/>
          <p:nvPr/>
        </p:nvSpPr>
        <p:spPr>
          <a:xfrm>
            <a:off x="4462272" y="3035808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Only in iex -S mix</a:t>
            </a:r>
          </a:p>
        </p:txBody>
      </p:sp>
      <p:sp>
        <p:nvSpPr>
          <p:cNvPr id="54" name="a1wd770_td53"/>
          <p:cNvSpPr/>
          <p:nvPr/>
        </p:nvSpPr>
        <p:spPr>
          <a:xfrm>
            <a:off x="4389120" y="3346704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a1wd770_tdt54"/>
          <p:cNvSpPr txBox="1"/>
          <p:nvPr/>
        </p:nvSpPr>
        <p:spPr>
          <a:xfrm>
            <a:off x="4462272" y="3346704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What the module makes public</a:t>
            </a:r>
          </a:p>
        </p:txBody>
      </p:sp>
      <p:sp>
        <p:nvSpPr>
          <p:cNvPr id="56" name="a1wd880_td55"/>
          <p:cNvSpPr/>
          <p:nvPr/>
        </p:nvSpPr>
        <p:spPr>
          <a:xfrm>
            <a:off x="4389120" y="3657600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a1wd880_tdt56"/>
          <p:cNvSpPr txBox="1"/>
          <p:nvPr/>
        </p:nvSpPr>
        <p:spPr>
          <a:xfrm>
            <a:off x="4462272" y="3657600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Cosmetic, but you will want it</a:t>
            </a:r>
          </a:p>
        </p:txBody>
      </p:sp>
      <p:sp>
        <p:nvSpPr>
          <p:cNvPr id="58" name="a2f_nb57"/>
          <p:cNvSpPr/>
          <p:nvPr/>
        </p:nvSpPr>
        <p:spPr>
          <a:xfrm>
            <a:off x="530352" y="4300058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a2f_nacc58"/>
          <p:cNvSpPr/>
          <p:nvPr/>
        </p:nvSpPr>
        <p:spPr>
          <a:xfrm>
            <a:off x="457200" y="3849624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a2f_nt59"/>
          <p:cNvSpPr txBox="1"/>
          <p:nvPr/>
        </p:nvSpPr>
        <p:spPr>
          <a:xfrm>
            <a:off x="683514" y="4217763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h/1 works because documentation is compiled into the bytecode file - the same Docs chunk we read apart in deck 1.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dirty="0">
                <a:solidFill>
                  <a:srgbClr val="64748B"/>
                </a:solidFill>
                <a:latin typeface="Calibri"/>
              </a:rPr>
              <a:t>Elixir 1.20.4 · OTP 29 · 8-byte word · sizes measured with :</a:t>
            </a:r>
            <a:r>
              <a:rPr sz="850" b="0" dirty="0" err="1">
                <a:solidFill>
                  <a:srgbClr val="64748B"/>
                </a:solidFill>
                <a:latin typeface="Calibri"/>
              </a:rPr>
              <a:t>erts_debug.flat_size</a:t>
            </a:r>
            <a:r>
              <a:rPr sz="850" b="0" dirty="0">
                <a:solidFill>
                  <a:srgbClr val="64748B"/>
                </a:solidFill>
                <a:latin typeface="Calibri"/>
              </a:rPr>
              <a:t>/1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REPL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i/1 — ask the shell what something is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fastest way to answer “what type is this really?”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06908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i 42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Data type: Integer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Reference modules: Integer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i :ok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940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Data type: Atom</a:t>
            </a:r>
          </a:p>
        </p:txBody>
      </p:sp>
      <p:sp>
        <p:nvSpPr>
          <p:cNvPr id="13" name="a1wd540_code12"/>
          <p:cNvSpPr txBox="1"/>
          <p:nvPr/>
        </p:nvSpPr>
        <p:spPr>
          <a:xfrm>
            <a:off x="621792" y="310896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Reference modules: Atom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617720" y="1380744"/>
            <a:ext cx="406908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f_codeh14"/>
          <p:cNvSpPr txBox="1"/>
          <p:nvPr/>
        </p:nvSpPr>
        <p:spPr>
          <a:xfrm>
            <a:off x="478231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78231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i true</a:t>
            </a:r>
          </a:p>
        </p:txBody>
      </p:sp>
      <p:sp>
        <p:nvSpPr>
          <p:cNvPr id="17" name="a2wd90_code16"/>
          <p:cNvSpPr txBox="1"/>
          <p:nvPr/>
        </p:nvSpPr>
        <p:spPr>
          <a:xfrm>
            <a:off x="478231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Data type: Atom</a:t>
            </a:r>
          </a:p>
        </p:txBody>
      </p:sp>
      <p:sp>
        <p:nvSpPr>
          <p:cNvPr id="18" name="a2wd180_code17"/>
          <p:cNvSpPr txBox="1"/>
          <p:nvPr/>
        </p:nvSpPr>
        <p:spPr>
          <a:xfrm>
            <a:off x="478231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  # not Boolean - true IS an atom</a:t>
            </a:r>
          </a:p>
        </p:txBody>
      </p:sp>
      <p:sp>
        <p:nvSpPr>
          <p:cNvPr id="19" name="a2wd270_code18"/>
          <p:cNvSpPr txBox="1"/>
          <p:nvPr/>
        </p:nvSpPr>
        <p:spPr>
          <a:xfrm>
            <a:off x="478231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a2wd360_code19"/>
          <p:cNvSpPr txBox="1"/>
          <p:nvPr/>
        </p:nvSpPr>
        <p:spPr>
          <a:xfrm>
            <a:off x="478231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i "hi"</a:t>
            </a:r>
          </a:p>
        </p:txBody>
      </p:sp>
      <p:sp>
        <p:nvSpPr>
          <p:cNvPr id="21" name="a2wd450_code20"/>
          <p:cNvSpPr txBox="1"/>
          <p:nvPr/>
        </p:nvSpPr>
        <p:spPr>
          <a:xfrm>
            <a:off x="4782312" y="28940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Data type: BitString</a:t>
            </a:r>
          </a:p>
        </p:txBody>
      </p:sp>
      <p:sp>
        <p:nvSpPr>
          <p:cNvPr id="22" name="a2wd540_code21"/>
          <p:cNvSpPr txBox="1"/>
          <p:nvPr/>
        </p:nvSpPr>
        <p:spPr>
          <a:xfrm>
            <a:off x="4782312" y="310896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  # a String is a UTF-8 binary</a:t>
            </a:r>
          </a:p>
        </p:txBody>
      </p:sp>
      <p:sp>
        <p:nvSpPr>
          <p:cNvPr id="23" name="a3u_dot22"/>
          <p:cNvSpPr/>
          <p:nvPr/>
        </p:nvSpPr>
        <p:spPr>
          <a:xfrm>
            <a:off x="457200" y="36941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_b23"/>
          <p:cNvSpPr txBox="1"/>
          <p:nvPr/>
        </p:nvSpPr>
        <p:spPr>
          <a:xfrm>
            <a:off x="676656" y="3593592"/>
            <a:ext cx="80101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i/1 tells you the runtime truth  </a:t>
            </a:r>
            <a:r>
              <a:rPr sz="1200" b="0">
                <a:solidFill>
                  <a:srgbClr val="334155"/>
                </a:solidFill>
                <a:latin typeface="Calibri"/>
              </a:rPr>
              <a:t>not the name you would have used for the type</a:t>
            </a:r>
          </a:p>
        </p:txBody>
      </p:sp>
      <p:sp>
        <p:nvSpPr>
          <p:cNvPr id="25" name="a3ud180_dot24"/>
          <p:cNvSpPr/>
          <p:nvPr/>
        </p:nvSpPr>
        <p:spPr>
          <a:xfrm>
            <a:off x="457200" y="41330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3ud180_b25"/>
          <p:cNvSpPr txBox="1"/>
          <p:nvPr/>
        </p:nvSpPr>
        <p:spPr>
          <a:xfrm>
            <a:off x="676656" y="4032504"/>
            <a:ext cx="80101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Two surprises live here  </a:t>
            </a:r>
            <a:r>
              <a:rPr sz="1200" b="0">
                <a:solidFill>
                  <a:srgbClr val="334155"/>
                </a:solidFill>
                <a:latin typeface="Calibri"/>
              </a:rPr>
              <a:t>true is an Atom, and a String is a BitString - both matter later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TOOLCHAIN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Running code from the command line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70431"/>
            <a:ext cx="233172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170431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120_td5"/>
          <p:cNvSpPr/>
          <p:nvPr/>
        </p:nvSpPr>
        <p:spPr>
          <a:xfrm>
            <a:off x="457200" y="1499615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120_tdt6"/>
          <p:cNvSpPr txBox="1"/>
          <p:nvPr/>
        </p:nvSpPr>
        <p:spPr>
          <a:xfrm>
            <a:off x="530352" y="1499615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iex</a:t>
            </a:r>
          </a:p>
        </p:txBody>
      </p:sp>
      <p:sp>
        <p:nvSpPr>
          <p:cNvPr id="8" name="a1wd240_td7"/>
          <p:cNvSpPr/>
          <p:nvPr/>
        </p:nvSpPr>
        <p:spPr>
          <a:xfrm>
            <a:off x="457200" y="1828799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240_tdt8"/>
          <p:cNvSpPr txBox="1"/>
          <p:nvPr/>
        </p:nvSpPr>
        <p:spPr>
          <a:xfrm>
            <a:off x="530352" y="1828799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iex -S mix</a:t>
            </a:r>
          </a:p>
        </p:txBody>
      </p:sp>
      <p:sp>
        <p:nvSpPr>
          <p:cNvPr id="10" name="a1wd360_td9"/>
          <p:cNvSpPr/>
          <p:nvPr/>
        </p:nvSpPr>
        <p:spPr>
          <a:xfrm>
            <a:off x="457200" y="2157984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360_tdt10"/>
          <p:cNvSpPr txBox="1"/>
          <p:nvPr/>
        </p:nvSpPr>
        <p:spPr>
          <a:xfrm>
            <a:off x="530352" y="2157984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elixir file.exs</a:t>
            </a:r>
          </a:p>
        </p:txBody>
      </p:sp>
      <p:sp>
        <p:nvSpPr>
          <p:cNvPr id="12" name="a1wd480_td11"/>
          <p:cNvSpPr/>
          <p:nvPr/>
        </p:nvSpPr>
        <p:spPr>
          <a:xfrm>
            <a:off x="457200" y="2487168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480_tdt12"/>
          <p:cNvSpPr txBox="1"/>
          <p:nvPr/>
        </p:nvSpPr>
        <p:spPr>
          <a:xfrm>
            <a:off x="530352" y="2487168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elixirc file.ex</a:t>
            </a:r>
          </a:p>
        </p:txBody>
      </p:sp>
      <p:sp>
        <p:nvSpPr>
          <p:cNvPr id="14" name="a1wd600_td13"/>
          <p:cNvSpPr/>
          <p:nvPr/>
        </p:nvSpPr>
        <p:spPr>
          <a:xfrm>
            <a:off x="457200" y="2816351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wd600_tdt14"/>
          <p:cNvSpPr txBox="1"/>
          <p:nvPr/>
        </p:nvSpPr>
        <p:spPr>
          <a:xfrm>
            <a:off x="530352" y="2816351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run -e CODE</a:t>
            </a:r>
          </a:p>
        </p:txBody>
      </p:sp>
      <p:sp>
        <p:nvSpPr>
          <p:cNvPr id="16" name="a1wd720_td15"/>
          <p:cNvSpPr/>
          <p:nvPr/>
        </p:nvSpPr>
        <p:spPr>
          <a:xfrm>
            <a:off x="457200" y="3145536"/>
            <a:ext cx="2331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720_tdt16"/>
          <p:cNvSpPr txBox="1"/>
          <p:nvPr/>
        </p:nvSpPr>
        <p:spPr>
          <a:xfrm>
            <a:off x="530352" y="3145536"/>
            <a:ext cx="22219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iex -e CODE</a:t>
            </a:r>
          </a:p>
        </p:txBody>
      </p:sp>
      <p:sp>
        <p:nvSpPr>
          <p:cNvPr id="18" name="a1f_th17"/>
          <p:cNvSpPr/>
          <p:nvPr/>
        </p:nvSpPr>
        <p:spPr>
          <a:xfrm>
            <a:off x="2788920" y="1170431"/>
            <a:ext cx="205740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f_tht18"/>
          <p:cNvSpPr txBox="1"/>
          <p:nvPr/>
        </p:nvSpPr>
        <p:spPr>
          <a:xfrm>
            <a:off x="2862072" y="1170431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0" name="a1wd120_td19"/>
          <p:cNvSpPr/>
          <p:nvPr/>
        </p:nvSpPr>
        <p:spPr>
          <a:xfrm>
            <a:off x="2788920" y="1499615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120_tdt20"/>
          <p:cNvSpPr txBox="1"/>
          <p:nvPr/>
        </p:nvSpPr>
        <p:spPr>
          <a:xfrm>
            <a:off x="2862072" y="1499615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Plain REPL</a:t>
            </a:r>
          </a:p>
        </p:txBody>
      </p:sp>
      <p:sp>
        <p:nvSpPr>
          <p:cNvPr id="22" name="a1wd240_td21"/>
          <p:cNvSpPr/>
          <p:nvPr/>
        </p:nvSpPr>
        <p:spPr>
          <a:xfrm>
            <a:off x="2788920" y="1828799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wd240_tdt22"/>
          <p:cNvSpPr txBox="1"/>
          <p:nvPr/>
        </p:nvSpPr>
        <p:spPr>
          <a:xfrm>
            <a:off x="2862072" y="1828799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REPL + your project</a:t>
            </a:r>
          </a:p>
        </p:txBody>
      </p:sp>
      <p:sp>
        <p:nvSpPr>
          <p:cNvPr id="24" name="a1wd360_td23"/>
          <p:cNvSpPr/>
          <p:nvPr/>
        </p:nvSpPr>
        <p:spPr>
          <a:xfrm>
            <a:off x="2788920" y="2157984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wd360_tdt24"/>
          <p:cNvSpPr txBox="1"/>
          <p:nvPr/>
        </p:nvSpPr>
        <p:spPr>
          <a:xfrm>
            <a:off x="2862072" y="2157984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 a script</a:t>
            </a:r>
          </a:p>
        </p:txBody>
      </p:sp>
      <p:sp>
        <p:nvSpPr>
          <p:cNvPr id="26" name="a1wd480_td25"/>
          <p:cNvSpPr/>
          <p:nvPr/>
        </p:nvSpPr>
        <p:spPr>
          <a:xfrm>
            <a:off x="2788920" y="2487168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480_tdt26"/>
          <p:cNvSpPr txBox="1"/>
          <p:nvPr/>
        </p:nvSpPr>
        <p:spPr>
          <a:xfrm>
            <a:off x="2862072" y="2487168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 to disk</a:t>
            </a:r>
          </a:p>
        </p:txBody>
      </p:sp>
      <p:sp>
        <p:nvSpPr>
          <p:cNvPr id="28" name="a1wd600_td27"/>
          <p:cNvSpPr/>
          <p:nvPr/>
        </p:nvSpPr>
        <p:spPr>
          <a:xfrm>
            <a:off x="2788920" y="2816351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wd600_tdt28"/>
          <p:cNvSpPr txBox="1"/>
          <p:nvPr/>
        </p:nvSpPr>
        <p:spPr>
          <a:xfrm>
            <a:off x="2862072" y="2816351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 an expression</a:t>
            </a:r>
          </a:p>
        </p:txBody>
      </p:sp>
      <p:sp>
        <p:nvSpPr>
          <p:cNvPr id="30" name="a1wd720_td29"/>
          <p:cNvSpPr/>
          <p:nvPr/>
        </p:nvSpPr>
        <p:spPr>
          <a:xfrm>
            <a:off x="2788920" y="3145536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720_tdt30"/>
          <p:cNvSpPr txBox="1"/>
          <p:nvPr/>
        </p:nvSpPr>
        <p:spPr>
          <a:xfrm>
            <a:off x="2862072" y="3145536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Start with setup</a:t>
            </a:r>
          </a:p>
        </p:txBody>
      </p:sp>
      <p:sp>
        <p:nvSpPr>
          <p:cNvPr id="32" name="a1f_th31"/>
          <p:cNvSpPr/>
          <p:nvPr/>
        </p:nvSpPr>
        <p:spPr>
          <a:xfrm>
            <a:off x="4846320" y="1170431"/>
            <a:ext cx="384048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f_tht32"/>
          <p:cNvSpPr txBox="1"/>
          <p:nvPr/>
        </p:nvSpPr>
        <p:spPr>
          <a:xfrm>
            <a:off x="4919472" y="1170431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34" name="a1wd120_td33"/>
          <p:cNvSpPr/>
          <p:nvPr/>
        </p:nvSpPr>
        <p:spPr>
          <a:xfrm>
            <a:off x="4846320" y="1499615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1wd120_tdt34"/>
          <p:cNvSpPr txBox="1"/>
          <p:nvPr/>
        </p:nvSpPr>
        <p:spPr>
          <a:xfrm>
            <a:off x="4919472" y="1499615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No project loaded</a:t>
            </a:r>
          </a:p>
        </p:txBody>
      </p:sp>
      <p:sp>
        <p:nvSpPr>
          <p:cNvPr id="36" name="a1wd240_td35"/>
          <p:cNvSpPr/>
          <p:nvPr/>
        </p:nvSpPr>
        <p:spPr>
          <a:xfrm>
            <a:off x="4846320" y="1828799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1wd240_tdt36"/>
          <p:cNvSpPr txBox="1"/>
          <p:nvPr/>
        </p:nvSpPr>
        <p:spPr>
          <a:xfrm>
            <a:off x="4919472" y="1828799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Deps compiled and loaded - the daily driver</a:t>
            </a:r>
          </a:p>
        </p:txBody>
      </p:sp>
      <p:sp>
        <p:nvSpPr>
          <p:cNvPr id="38" name="a1wd360_td37"/>
          <p:cNvSpPr/>
          <p:nvPr/>
        </p:nvSpPr>
        <p:spPr>
          <a:xfrm>
            <a:off x="4846320" y="2157984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1wd360_tdt38"/>
          <p:cNvSpPr txBox="1"/>
          <p:nvPr/>
        </p:nvSpPr>
        <p:spPr>
          <a:xfrm>
            <a:off x="4919472" y="2157984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Compiled in memory, nothing written to disk</a:t>
            </a:r>
          </a:p>
        </p:txBody>
      </p:sp>
      <p:sp>
        <p:nvSpPr>
          <p:cNvPr id="40" name="a1wd480_td39"/>
          <p:cNvSpPr/>
          <p:nvPr/>
        </p:nvSpPr>
        <p:spPr>
          <a:xfrm>
            <a:off x="4846320" y="2487168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1wd480_tdt40"/>
          <p:cNvSpPr txBox="1"/>
          <p:nvPr/>
        </p:nvSpPr>
        <p:spPr>
          <a:xfrm>
            <a:off x="4919472" y="2487168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Emits Elixir.Module.beam in the cwd</a:t>
            </a:r>
          </a:p>
        </p:txBody>
      </p:sp>
      <p:sp>
        <p:nvSpPr>
          <p:cNvPr id="42" name="a1wd600_td41"/>
          <p:cNvSpPr/>
          <p:nvPr/>
        </p:nvSpPr>
        <p:spPr>
          <a:xfrm>
            <a:off x="4846320" y="2816351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1wd600_tdt42"/>
          <p:cNvSpPr txBox="1"/>
          <p:nvPr/>
        </p:nvSpPr>
        <p:spPr>
          <a:xfrm>
            <a:off x="4919472" y="2816351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Project is built first</a:t>
            </a:r>
          </a:p>
        </p:txBody>
      </p:sp>
      <p:sp>
        <p:nvSpPr>
          <p:cNvPr id="44" name="a1wd720_td43"/>
          <p:cNvSpPr/>
          <p:nvPr/>
        </p:nvSpPr>
        <p:spPr>
          <a:xfrm>
            <a:off x="4846320" y="3145536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a1wd720_tdt44"/>
          <p:cNvSpPr txBox="1"/>
          <p:nvPr/>
        </p:nvSpPr>
        <p:spPr>
          <a:xfrm>
            <a:off x="4919472" y="3145536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Runs CODE, then gives you the prompt</a:t>
            </a:r>
          </a:p>
        </p:txBody>
      </p:sp>
      <p:sp>
        <p:nvSpPr>
          <p:cNvPr id="46" name="a2f_nb45"/>
          <p:cNvSpPr/>
          <p:nvPr/>
        </p:nvSpPr>
        <p:spPr>
          <a:xfrm>
            <a:off x="457200" y="36210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a2f_nacc46"/>
          <p:cNvSpPr/>
          <p:nvPr/>
        </p:nvSpPr>
        <p:spPr>
          <a:xfrm>
            <a:off x="457200" y="3621024"/>
            <a:ext cx="50292" cy="65836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2f_nt47"/>
          <p:cNvSpPr txBox="1"/>
          <p:nvPr/>
        </p:nvSpPr>
        <p:spPr>
          <a:xfrm>
            <a:off x="658368" y="3621024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iex -S mix is the one to build a habit around: your modules, your dependencies and your config are all loaded, so the shell behaves exactly like the running app.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Values and literals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Nine types, their syntax, and what each
one weighs.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scalars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literals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sizes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OVERVIEW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type landscape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Everything in Elixir is one of these. There is no wrapper, no boxing choice.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99031"/>
            <a:ext cx="1874519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tht5"/>
          <p:cNvSpPr txBox="1"/>
          <p:nvPr/>
        </p:nvSpPr>
        <p:spPr>
          <a:xfrm>
            <a:off x="530352" y="1399031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7" name="a1wd90_td6"/>
          <p:cNvSpPr/>
          <p:nvPr/>
        </p:nvSpPr>
        <p:spPr>
          <a:xfrm>
            <a:off x="457200" y="1691639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wd90_tdt7"/>
          <p:cNvSpPr txBox="1"/>
          <p:nvPr/>
        </p:nvSpPr>
        <p:spPr>
          <a:xfrm>
            <a:off x="530352" y="1691639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Integer</a:t>
            </a:r>
          </a:p>
        </p:txBody>
      </p:sp>
      <p:sp>
        <p:nvSpPr>
          <p:cNvPr id="9" name="a1wd180_td8"/>
          <p:cNvSpPr/>
          <p:nvPr/>
        </p:nvSpPr>
        <p:spPr>
          <a:xfrm>
            <a:off x="457200" y="1984248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wd180_tdt9"/>
          <p:cNvSpPr txBox="1"/>
          <p:nvPr/>
        </p:nvSpPr>
        <p:spPr>
          <a:xfrm>
            <a:off x="530352" y="1984248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Float</a:t>
            </a:r>
          </a:p>
        </p:txBody>
      </p:sp>
      <p:sp>
        <p:nvSpPr>
          <p:cNvPr id="11" name="a1wd270_td10"/>
          <p:cNvSpPr/>
          <p:nvPr/>
        </p:nvSpPr>
        <p:spPr>
          <a:xfrm>
            <a:off x="457200" y="2276856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wd270_tdt11"/>
          <p:cNvSpPr txBox="1"/>
          <p:nvPr/>
        </p:nvSpPr>
        <p:spPr>
          <a:xfrm>
            <a:off x="530352" y="2276856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Atom</a:t>
            </a:r>
          </a:p>
        </p:txBody>
      </p:sp>
      <p:sp>
        <p:nvSpPr>
          <p:cNvPr id="13" name="a1wd360_td12"/>
          <p:cNvSpPr/>
          <p:nvPr/>
        </p:nvSpPr>
        <p:spPr>
          <a:xfrm>
            <a:off x="457200" y="2569463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wd360_tdt13"/>
          <p:cNvSpPr txBox="1"/>
          <p:nvPr/>
        </p:nvSpPr>
        <p:spPr>
          <a:xfrm>
            <a:off x="530352" y="2569463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Binary</a:t>
            </a:r>
          </a:p>
        </p:txBody>
      </p:sp>
      <p:sp>
        <p:nvSpPr>
          <p:cNvPr id="15" name="a1wd450_td14"/>
          <p:cNvSpPr/>
          <p:nvPr/>
        </p:nvSpPr>
        <p:spPr>
          <a:xfrm>
            <a:off x="457200" y="2862072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wd450_tdt15"/>
          <p:cNvSpPr txBox="1"/>
          <p:nvPr/>
        </p:nvSpPr>
        <p:spPr>
          <a:xfrm>
            <a:off x="530352" y="2862072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List</a:t>
            </a:r>
          </a:p>
        </p:txBody>
      </p:sp>
      <p:sp>
        <p:nvSpPr>
          <p:cNvPr id="17" name="a1wd540_td16"/>
          <p:cNvSpPr/>
          <p:nvPr/>
        </p:nvSpPr>
        <p:spPr>
          <a:xfrm>
            <a:off x="457200" y="3154679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wd540_tdt17"/>
          <p:cNvSpPr txBox="1"/>
          <p:nvPr/>
        </p:nvSpPr>
        <p:spPr>
          <a:xfrm>
            <a:off x="530352" y="3154679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Tuple</a:t>
            </a:r>
          </a:p>
        </p:txBody>
      </p:sp>
      <p:sp>
        <p:nvSpPr>
          <p:cNvPr id="19" name="a1wd630_td18"/>
          <p:cNvSpPr/>
          <p:nvPr/>
        </p:nvSpPr>
        <p:spPr>
          <a:xfrm>
            <a:off x="457200" y="3447288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wd630_tdt19"/>
          <p:cNvSpPr txBox="1"/>
          <p:nvPr/>
        </p:nvSpPr>
        <p:spPr>
          <a:xfrm>
            <a:off x="530352" y="3447288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Map</a:t>
            </a:r>
          </a:p>
        </p:txBody>
      </p:sp>
      <p:sp>
        <p:nvSpPr>
          <p:cNvPr id="21" name="a1wd720_td20"/>
          <p:cNvSpPr/>
          <p:nvPr/>
        </p:nvSpPr>
        <p:spPr>
          <a:xfrm>
            <a:off x="457200" y="3739896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wd720_tdt21"/>
          <p:cNvSpPr txBox="1"/>
          <p:nvPr/>
        </p:nvSpPr>
        <p:spPr>
          <a:xfrm>
            <a:off x="530352" y="3739896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Function</a:t>
            </a:r>
          </a:p>
        </p:txBody>
      </p:sp>
      <p:sp>
        <p:nvSpPr>
          <p:cNvPr id="23" name="a1wd810_td22"/>
          <p:cNvSpPr/>
          <p:nvPr/>
        </p:nvSpPr>
        <p:spPr>
          <a:xfrm>
            <a:off x="457200" y="4032504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wd810_tdt23"/>
          <p:cNvSpPr txBox="1"/>
          <p:nvPr/>
        </p:nvSpPr>
        <p:spPr>
          <a:xfrm>
            <a:off x="530352" y="4032504"/>
            <a:ext cx="17647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PID / Reference</a:t>
            </a:r>
          </a:p>
        </p:txBody>
      </p:sp>
      <p:sp>
        <p:nvSpPr>
          <p:cNvPr id="25" name="a1f_th24"/>
          <p:cNvSpPr/>
          <p:nvPr/>
        </p:nvSpPr>
        <p:spPr>
          <a:xfrm>
            <a:off x="2331720" y="1399031"/>
            <a:ext cx="224028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1f_tht25"/>
          <p:cNvSpPr txBox="1"/>
          <p:nvPr/>
        </p:nvSpPr>
        <p:spPr>
          <a:xfrm>
            <a:off x="2404872" y="1399031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Literal</a:t>
            </a:r>
          </a:p>
        </p:txBody>
      </p:sp>
      <p:sp>
        <p:nvSpPr>
          <p:cNvPr id="27" name="a1wd90_td26"/>
          <p:cNvSpPr/>
          <p:nvPr/>
        </p:nvSpPr>
        <p:spPr>
          <a:xfrm>
            <a:off x="2331720" y="1691639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1wd90_tdt27"/>
          <p:cNvSpPr txBox="1"/>
          <p:nvPr/>
        </p:nvSpPr>
        <p:spPr>
          <a:xfrm>
            <a:off x="2404872" y="1691639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42, 0xFF, ?A</a:t>
            </a:r>
          </a:p>
        </p:txBody>
      </p:sp>
      <p:sp>
        <p:nvSpPr>
          <p:cNvPr id="29" name="a1wd180_td28"/>
          <p:cNvSpPr/>
          <p:nvPr/>
        </p:nvSpPr>
        <p:spPr>
          <a:xfrm>
            <a:off x="2331720" y="1984248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1wd180_tdt29"/>
          <p:cNvSpPr txBox="1"/>
          <p:nvPr/>
        </p:nvSpPr>
        <p:spPr>
          <a:xfrm>
            <a:off x="2404872" y="1984248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3.14, 1.0e10</a:t>
            </a:r>
          </a:p>
        </p:txBody>
      </p:sp>
      <p:sp>
        <p:nvSpPr>
          <p:cNvPr id="31" name="a1wd270_td30"/>
          <p:cNvSpPr/>
          <p:nvPr/>
        </p:nvSpPr>
        <p:spPr>
          <a:xfrm>
            <a:off x="2331720" y="2276856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1wd270_tdt31"/>
          <p:cNvSpPr txBox="1"/>
          <p:nvPr/>
        </p:nvSpPr>
        <p:spPr>
          <a:xfrm>
            <a:off x="2404872" y="2276856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:ok, true, nil</a:t>
            </a:r>
          </a:p>
        </p:txBody>
      </p:sp>
      <p:sp>
        <p:nvSpPr>
          <p:cNvPr id="33" name="a1wd360_td32"/>
          <p:cNvSpPr/>
          <p:nvPr/>
        </p:nvSpPr>
        <p:spPr>
          <a:xfrm>
            <a:off x="2331720" y="2569463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1wd360_tdt33"/>
          <p:cNvSpPr txBox="1"/>
          <p:nvPr/>
        </p:nvSpPr>
        <p:spPr>
          <a:xfrm>
            <a:off x="2404872" y="2569463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"hello"</a:t>
            </a:r>
          </a:p>
        </p:txBody>
      </p:sp>
      <p:sp>
        <p:nvSpPr>
          <p:cNvPr id="35" name="a1wd450_td34"/>
          <p:cNvSpPr/>
          <p:nvPr/>
        </p:nvSpPr>
        <p:spPr>
          <a:xfrm>
            <a:off x="2331720" y="2862072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1wd450_tdt35"/>
          <p:cNvSpPr txBox="1"/>
          <p:nvPr/>
        </p:nvSpPr>
        <p:spPr>
          <a:xfrm>
            <a:off x="2404872" y="2862072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[1, 2, 3]</a:t>
            </a:r>
          </a:p>
        </p:txBody>
      </p:sp>
      <p:sp>
        <p:nvSpPr>
          <p:cNvPr id="37" name="a1wd540_td36"/>
          <p:cNvSpPr/>
          <p:nvPr/>
        </p:nvSpPr>
        <p:spPr>
          <a:xfrm>
            <a:off x="2331720" y="3154679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1wd540_tdt37"/>
          <p:cNvSpPr txBox="1"/>
          <p:nvPr/>
        </p:nvSpPr>
        <p:spPr>
          <a:xfrm>
            <a:off x="2404872" y="3154679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{:ok, value}</a:t>
            </a:r>
          </a:p>
        </p:txBody>
      </p:sp>
      <p:sp>
        <p:nvSpPr>
          <p:cNvPr id="39" name="a1wd630_td38"/>
          <p:cNvSpPr/>
          <p:nvPr/>
        </p:nvSpPr>
        <p:spPr>
          <a:xfrm>
            <a:off x="2331720" y="3447288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1wd630_tdt39"/>
          <p:cNvSpPr txBox="1"/>
          <p:nvPr/>
        </p:nvSpPr>
        <p:spPr>
          <a:xfrm>
            <a:off x="2404872" y="3447288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%{a: 1}</a:t>
            </a:r>
          </a:p>
        </p:txBody>
      </p:sp>
      <p:sp>
        <p:nvSpPr>
          <p:cNvPr id="41" name="a1wd720_td40"/>
          <p:cNvSpPr/>
          <p:nvPr/>
        </p:nvSpPr>
        <p:spPr>
          <a:xfrm>
            <a:off x="2331720" y="3739896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1wd720_tdt41"/>
          <p:cNvSpPr txBox="1"/>
          <p:nvPr/>
        </p:nvSpPr>
        <p:spPr>
          <a:xfrm>
            <a:off x="2404872" y="3739896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fn x -&gt; x end</a:t>
            </a:r>
          </a:p>
        </p:txBody>
      </p:sp>
      <p:sp>
        <p:nvSpPr>
          <p:cNvPr id="43" name="a1wd810_td42"/>
          <p:cNvSpPr/>
          <p:nvPr/>
        </p:nvSpPr>
        <p:spPr>
          <a:xfrm>
            <a:off x="2331720" y="4032504"/>
            <a:ext cx="2240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1wd810_tdt43"/>
          <p:cNvSpPr txBox="1"/>
          <p:nvPr/>
        </p:nvSpPr>
        <p:spPr>
          <a:xfrm>
            <a:off x="2404872" y="4032504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self(), make_ref()</a:t>
            </a:r>
          </a:p>
        </p:txBody>
      </p:sp>
      <p:sp>
        <p:nvSpPr>
          <p:cNvPr id="45" name="a1f_th44"/>
          <p:cNvSpPr/>
          <p:nvPr/>
        </p:nvSpPr>
        <p:spPr>
          <a:xfrm>
            <a:off x="4572000" y="1399031"/>
            <a:ext cx="411480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a1f_tht45"/>
          <p:cNvSpPr txBox="1"/>
          <p:nvPr/>
        </p:nvSpPr>
        <p:spPr>
          <a:xfrm>
            <a:off x="4645152" y="1399031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The one thing to know</a:t>
            </a:r>
          </a:p>
        </p:txBody>
      </p:sp>
      <p:sp>
        <p:nvSpPr>
          <p:cNvPr id="47" name="a1wd90_td46"/>
          <p:cNvSpPr/>
          <p:nvPr/>
        </p:nvSpPr>
        <p:spPr>
          <a:xfrm>
            <a:off x="4572000" y="1691639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1wd90_tdt47"/>
          <p:cNvSpPr txBox="1"/>
          <p:nvPr/>
        </p:nvSpPr>
        <p:spPr>
          <a:xfrm>
            <a:off x="4645152" y="1691639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Arbitrary precision</a:t>
            </a:r>
          </a:p>
        </p:txBody>
      </p:sp>
      <p:sp>
        <p:nvSpPr>
          <p:cNvPr id="49" name="a1wd180_td48"/>
          <p:cNvSpPr/>
          <p:nvPr/>
        </p:nvSpPr>
        <p:spPr>
          <a:xfrm>
            <a:off x="4572000" y="1984248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a1wd180_tdt49"/>
          <p:cNvSpPr txBox="1"/>
          <p:nvPr/>
        </p:nvSpPr>
        <p:spPr>
          <a:xfrm>
            <a:off x="4645152" y="1984248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IEEE 754 double, always</a:t>
            </a:r>
          </a:p>
        </p:txBody>
      </p:sp>
      <p:sp>
        <p:nvSpPr>
          <p:cNvPr id="51" name="a1wd270_td50"/>
          <p:cNvSpPr/>
          <p:nvPr/>
        </p:nvSpPr>
        <p:spPr>
          <a:xfrm>
            <a:off x="4572000" y="2276856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a1wd270_tdt51"/>
          <p:cNvSpPr txBox="1"/>
          <p:nvPr/>
        </p:nvSpPr>
        <p:spPr>
          <a:xfrm>
            <a:off x="4645152" y="2276856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named constant; module names are atoms</a:t>
            </a:r>
          </a:p>
        </p:txBody>
      </p:sp>
      <p:sp>
        <p:nvSpPr>
          <p:cNvPr id="53" name="a1wd360_td52"/>
          <p:cNvSpPr/>
          <p:nvPr/>
        </p:nvSpPr>
        <p:spPr>
          <a:xfrm>
            <a:off x="4572000" y="2569463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a1wd360_tdt53"/>
          <p:cNvSpPr txBox="1"/>
          <p:nvPr/>
        </p:nvSpPr>
        <p:spPr>
          <a:xfrm>
            <a:off x="4645152" y="2569463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String is a UTF-8 binary</a:t>
            </a:r>
          </a:p>
        </p:txBody>
      </p:sp>
      <p:sp>
        <p:nvSpPr>
          <p:cNvPr id="55" name="a1wd450_td54"/>
          <p:cNvSpPr/>
          <p:nvPr/>
        </p:nvSpPr>
        <p:spPr>
          <a:xfrm>
            <a:off x="4572000" y="2862072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a1wd450_tdt55"/>
          <p:cNvSpPr txBox="1"/>
          <p:nvPr/>
        </p:nvSpPr>
        <p:spPr>
          <a:xfrm>
            <a:off x="4645152" y="2862072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Singly linked</a:t>
            </a:r>
          </a:p>
        </p:txBody>
      </p:sp>
      <p:sp>
        <p:nvSpPr>
          <p:cNvPr id="57" name="a1wd540_td56"/>
          <p:cNvSpPr/>
          <p:nvPr/>
        </p:nvSpPr>
        <p:spPr>
          <a:xfrm>
            <a:off x="4572000" y="3154679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a1wd540_tdt57"/>
          <p:cNvSpPr txBox="1"/>
          <p:nvPr/>
        </p:nvSpPr>
        <p:spPr>
          <a:xfrm>
            <a:off x="4645152" y="3154679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Contiguous, fixed size</a:t>
            </a:r>
          </a:p>
        </p:txBody>
      </p:sp>
      <p:sp>
        <p:nvSpPr>
          <p:cNvPr id="59" name="a1wd630_td58"/>
          <p:cNvSpPr/>
          <p:nvPr/>
        </p:nvSpPr>
        <p:spPr>
          <a:xfrm>
            <a:off x="4572000" y="3447288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a1wd630_tdt59"/>
          <p:cNvSpPr txBox="1"/>
          <p:nvPr/>
        </p:nvSpPr>
        <p:spPr>
          <a:xfrm>
            <a:off x="4645152" y="3447288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Key-value, any key type</a:t>
            </a:r>
          </a:p>
        </p:txBody>
      </p:sp>
      <p:sp>
        <p:nvSpPr>
          <p:cNvPr id="61" name="a1wd720_td60"/>
          <p:cNvSpPr/>
          <p:nvPr/>
        </p:nvSpPr>
        <p:spPr>
          <a:xfrm>
            <a:off x="4572000" y="3739896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a1wd720_tdt61"/>
          <p:cNvSpPr txBox="1"/>
          <p:nvPr/>
        </p:nvSpPr>
        <p:spPr>
          <a:xfrm>
            <a:off x="4645152" y="3739896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First class, closes over scope</a:t>
            </a:r>
          </a:p>
        </p:txBody>
      </p:sp>
      <p:sp>
        <p:nvSpPr>
          <p:cNvPr id="63" name="a1wd810_td62"/>
          <p:cNvSpPr/>
          <p:nvPr/>
        </p:nvSpPr>
        <p:spPr>
          <a:xfrm>
            <a:off x="4572000" y="4032504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a1wd810_tdt63"/>
          <p:cNvSpPr txBox="1"/>
          <p:nvPr/>
        </p:nvSpPr>
        <p:spPr>
          <a:xfrm>
            <a:off x="4645152" y="4032504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Process identity and unique tokens</a:t>
            </a:r>
          </a:p>
        </p:txBody>
      </p:sp>
      <p:sp>
        <p:nvSpPr>
          <p:cNvPr id="65" name="ft6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66" name="ft6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METHOD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64335"/>
            <a:ext cx="82296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Calibri"/>
              </a:rPr>
              <a:t>How every size in </a:t>
            </a:r>
            <a:r>
              <a:rPr sz="2700" b="1">
                <a:solidFill>
                  <a:srgbClr val="0F172A"/>
                </a:solidFill>
                <a:latin typeface="Calibri"/>
              </a:rPr>
              <a:t>this was </a:t>
            </a:r>
            <a:r>
              <a:rPr sz="2700" b="1" dirty="0">
                <a:solidFill>
                  <a:srgbClr val="0F172A"/>
                </a:solidFill>
                <a:latin typeface="Calibri"/>
              </a:rPr>
              <a:t>measured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So you can reproduce all of it, and disbelieve none of it.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8463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THE MEASUREMENT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:erlang.system_info(:wordsize)</a:t>
            </a:r>
          </a:p>
        </p:txBody>
      </p:sp>
      <p:sp>
        <p:nvSpPr>
          <p:cNvPr id="8" name="a1wd110_code7"/>
          <p:cNvSpPr txBox="1"/>
          <p:nvPr/>
        </p:nvSpPr>
        <p:spPr>
          <a:xfrm>
            <a:off x="621792" y="203454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8                    # bytes per word</a:t>
            </a:r>
          </a:p>
        </p:txBody>
      </p:sp>
      <p:sp>
        <p:nvSpPr>
          <p:cNvPr id="9" name="a1wd220_code8"/>
          <p:cNvSpPr txBox="1"/>
          <p:nvPr/>
        </p:nvSpPr>
        <p:spPr>
          <a:xfrm>
            <a:off x="621792" y="224942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" name="a1wd330_code9"/>
          <p:cNvSpPr txBox="1"/>
          <p:nvPr/>
        </p:nvSpPr>
        <p:spPr>
          <a:xfrm>
            <a:off x="621792" y="246430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:erts_debug.flat_size({1, 2, 3})</a:t>
            </a:r>
          </a:p>
        </p:txBody>
      </p:sp>
      <p:sp>
        <p:nvSpPr>
          <p:cNvPr id="11" name="a1wd440_code10"/>
          <p:cNvSpPr txBox="1"/>
          <p:nvPr/>
        </p:nvSpPr>
        <p:spPr>
          <a:xfrm>
            <a:off x="621792" y="2679191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4                    # words, incl. header</a:t>
            </a:r>
          </a:p>
        </p:txBody>
      </p:sp>
      <p:sp>
        <p:nvSpPr>
          <p:cNvPr id="12" name="a1wd550_code11"/>
          <p:cNvSpPr txBox="1"/>
          <p:nvPr/>
        </p:nvSpPr>
        <p:spPr>
          <a:xfrm>
            <a:off x="621792" y="289407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3" name="a1wd660_code12"/>
          <p:cNvSpPr txBox="1"/>
          <p:nvPr/>
        </p:nvSpPr>
        <p:spPr>
          <a:xfrm>
            <a:off x="621792" y="310896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# 4 words x 8 bytes = 32 bytes</a:t>
            </a:r>
          </a:p>
        </p:txBody>
      </p:sp>
      <p:sp>
        <p:nvSpPr>
          <p:cNvPr id="14" name="a2u_dot13"/>
          <p:cNvSpPr/>
          <p:nvPr/>
        </p:nvSpPr>
        <p:spPr>
          <a:xfrm>
            <a:off x="5532120" y="1554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u_b14"/>
          <p:cNvSpPr txBox="1"/>
          <p:nvPr/>
        </p:nvSpPr>
        <p:spPr>
          <a:xfrm>
            <a:off x="5751576" y="1453895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flat_size counts words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term plus everything reachable from it</a:t>
            </a:r>
          </a:p>
        </p:txBody>
      </p:sp>
      <p:sp>
        <p:nvSpPr>
          <p:cNvPr id="16" name="a2ud180_dot15"/>
          <p:cNvSpPr/>
          <p:nvPr/>
        </p:nvSpPr>
        <p:spPr>
          <a:xfrm>
            <a:off x="5532120" y="22311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d180_b16"/>
          <p:cNvSpPr txBox="1"/>
          <p:nvPr/>
        </p:nvSpPr>
        <p:spPr>
          <a:xfrm>
            <a:off x="5751576" y="2130551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 word here is 8 bytes  </a:t>
            </a:r>
            <a:r>
              <a:rPr sz="1100" b="0">
                <a:solidFill>
                  <a:srgbClr val="334155"/>
                </a:solidFill>
                <a:latin typeface="Calibri"/>
              </a:rPr>
              <a:t>64-bit build; halve everything on a 32-bit VM</a:t>
            </a:r>
          </a:p>
        </p:txBody>
      </p:sp>
      <p:sp>
        <p:nvSpPr>
          <p:cNvPr id="18" name="a2ud360_dot17"/>
          <p:cNvSpPr/>
          <p:nvPr/>
        </p:nvSpPr>
        <p:spPr>
          <a:xfrm>
            <a:off x="5532120" y="290779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d360_b18"/>
          <p:cNvSpPr txBox="1"/>
          <p:nvPr/>
        </p:nvSpPr>
        <p:spPr>
          <a:xfrm>
            <a:off x="5751576" y="2807208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Zero means immediate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value fits in the word itself - no heap at all</a:t>
            </a:r>
          </a:p>
        </p:txBody>
      </p:sp>
      <p:sp>
        <p:nvSpPr>
          <p:cNvPr id="20" name="a3f_nb19"/>
          <p:cNvSpPr/>
          <p:nvPr/>
        </p:nvSpPr>
        <p:spPr>
          <a:xfrm>
            <a:off x="457200" y="3941063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3f_nacc20"/>
          <p:cNvSpPr/>
          <p:nvPr/>
        </p:nvSpPr>
        <p:spPr>
          <a:xfrm>
            <a:off x="457200" y="3941063"/>
            <a:ext cx="50292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3f_nt21"/>
          <p:cNvSpPr txBox="1"/>
          <p:nvPr/>
        </p:nvSpPr>
        <p:spPr>
          <a:xfrm>
            <a:off x="658368" y="3941063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These are sizes on a process heap, not sizes of a literal in a .beam file. Constants can be shared from the literal pool.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SCALARS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Integers — free until they are not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Small integers live inside the word. Past 2⁵⁹ they move to the heap.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99031"/>
            <a:ext cx="141732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tht5"/>
          <p:cNvSpPr txBox="1"/>
          <p:nvPr/>
        </p:nvSpPr>
        <p:spPr>
          <a:xfrm>
            <a:off x="530352" y="1399031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Value</a:t>
            </a:r>
          </a:p>
        </p:txBody>
      </p:sp>
      <p:sp>
        <p:nvSpPr>
          <p:cNvPr id="7" name="a1wd110_td6"/>
          <p:cNvSpPr/>
          <p:nvPr/>
        </p:nvSpPr>
        <p:spPr>
          <a:xfrm>
            <a:off x="457200" y="1691639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wd110_tdt7"/>
          <p:cNvSpPr txBox="1"/>
          <p:nvPr/>
        </p:nvSpPr>
        <p:spPr>
          <a:xfrm>
            <a:off x="530352" y="1691639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9" name="a1wd220_td8"/>
          <p:cNvSpPr/>
          <p:nvPr/>
        </p:nvSpPr>
        <p:spPr>
          <a:xfrm>
            <a:off x="457200" y="1984248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wd220_tdt9"/>
          <p:cNvSpPr txBox="1"/>
          <p:nvPr/>
        </p:nvSpPr>
        <p:spPr>
          <a:xfrm>
            <a:off x="530352" y="198424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42</a:t>
            </a:r>
          </a:p>
        </p:txBody>
      </p:sp>
      <p:sp>
        <p:nvSpPr>
          <p:cNvPr id="11" name="a1wd330_td10"/>
          <p:cNvSpPr/>
          <p:nvPr/>
        </p:nvSpPr>
        <p:spPr>
          <a:xfrm>
            <a:off x="457200" y="2276856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wd330_tdt11"/>
          <p:cNvSpPr txBox="1"/>
          <p:nvPr/>
        </p:nvSpPr>
        <p:spPr>
          <a:xfrm>
            <a:off x="530352" y="2276856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2^59 - 1</a:t>
            </a:r>
          </a:p>
        </p:txBody>
      </p:sp>
      <p:sp>
        <p:nvSpPr>
          <p:cNvPr id="13" name="a1wd440_td12"/>
          <p:cNvSpPr/>
          <p:nvPr/>
        </p:nvSpPr>
        <p:spPr>
          <a:xfrm>
            <a:off x="457200" y="2569463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wd440_tdt13"/>
          <p:cNvSpPr txBox="1"/>
          <p:nvPr/>
        </p:nvSpPr>
        <p:spPr>
          <a:xfrm>
            <a:off x="530352" y="2569463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2^59</a:t>
            </a:r>
          </a:p>
        </p:txBody>
      </p:sp>
      <p:sp>
        <p:nvSpPr>
          <p:cNvPr id="15" name="a1wd550_td14"/>
          <p:cNvSpPr/>
          <p:nvPr/>
        </p:nvSpPr>
        <p:spPr>
          <a:xfrm>
            <a:off x="457200" y="2862072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wd550_tdt15"/>
          <p:cNvSpPr txBox="1"/>
          <p:nvPr/>
        </p:nvSpPr>
        <p:spPr>
          <a:xfrm>
            <a:off x="530352" y="2862072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2^64</a:t>
            </a:r>
          </a:p>
        </p:txBody>
      </p:sp>
      <p:sp>
        <p:nvSpPr>
          <p:cNvPr id="17" name="a1wd660_td16"/>
          <p:cNvSpPr/>
          <p:nvPr/>
        </p:nvSpPr>
        <p:spPr>
          <a:xfrm>
            <a:off x="457200" y="3154679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wd660_tdt17"/>
          <p:cNvSpPr txBox="1"/>
          <p:nvPr/>
        </p:nvSpPr>
        <p:spPr>
          <a:xfrm>
            <a:off x="530352" y="3154679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2^1000</a:t>
            </a:r>
          </a:p>
        </p:txBody>
      </p:sp>
      <p:sp>
        <p:nvSpPr>
          <p:cNvPr id="19" name="a1f_th18"/>
          <p:cNvSpPr/>
          <p:nvPr/>
        </p:nvSpPr>
        <p:spPr>
          <a:xfrm>
            <a:off x="1874519" y="1399031"/>
            <a:ext cx="77724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f_tht19"/>
          <p:cNvSpPr txBox="1"/>
          <p:nvPr/>
        </p:nvSpPr>
        <p:spPr>
          <a:xfrm>
            <a:off x="1947672" y="1399031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Words</a:t>
            </a:r>
          </a:p>
        </p:txBody>
      </p:sp>
      <p:sp>
        <p:nvSpPr>
          <p:cNvPr id="21" name="a1wd110_td20"/>
          <p:cNvSpPr/>
          <p:nvPr/>
        </p:nvSpPr>
        <p:spPr>
          <a:xfrm>
            <a:off x="1874519" y="1691639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wd110_tdt21"/>
          <p:cNvSpPr txBox="1"/>
          <p:nvPr/>
        </p:nvSpPr>
        <p:spPr>
          <a:xfrm>
            <a:off x="1947672" y="1691639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23" name="a1wd220_td22"/>
          <p:cNvSpPr/>
          <p:nvPr/>
        </p:nvSpPr>
        <p:spPr>
          <a:xfrm>
            <a:off x="1874519" y="1984248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wd220_tdt23"/>
          <p:cNvSpPr txBox="1"/>
          <p:nvPr/>
        </p:nvSpPr>
        <p:spPr>
          <a:xfrm>
            <a:off x="1947672" y="1984248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25" name="a1wd330_td24"/>
          <p:cNvSpPr/>
          <p:nvPr/>
        </p:nvSpPr>
        <p:spPr>
          <a:xfrm>
            <a:off x="1874519" y="2276856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1wd330_tdt25"/>
          <p:cNvSpPr txBox="1"/>
          <p:nvPr/>
        </p:nvSpPr>
        <p:spPr>
          <a:xfrm>
            <a:off x="1947672" y="2276856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27" name="a1wd440_td26"/>
          <p:cNvSpPr/>
          <p:nvPr/>
        </p:nvSpPr>
        <p:spPr>
          <a:xfrm>
            <a:off x="1874519" y="2569463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1wd440_tdt27"/>
          <p:cNvSpPr txBox="1"/>
          <p:nvPr/>
        </p:nvSpPr>
        <p:spPr>
          <a:xfrm>
            <a:off x="1947672" y="2569463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</a:t>
            </a:r>
          </a:p>
        </p:txBody>
      </p:sp>
      <p:sp>
        <p:nvSpPr>
          <p:cNvPr id="29" name="a1wd550_td28"/>
          <p:cNvSpPr/>
          <p:nvPr/>
        </p:nvSpPr>
        <p:spPr>
          <a:xfrm>
            <a:off x="1874519" y="2862072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1wd550_tdt29"/>
          <p:cNvSpPr txBox="1"/>
          <p:nvPr/>
        </p:nvSpPr>
        <p:spPr>
          <a:xfrm>
            <a:off x="1947672" y="2862072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31" name="a1wd660_td30"/>
          <p:cNvSpPr/>
          <p:nvPr/>
        </p:nvSpPr>
        <p:spPr>
          <a:xfrm>
            <a:off x="1874519" y="3154679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1wd660_tdt31"/>
          <p:cNvSpPr txBox="1"/>
          <p:nvPr/>
        </p:nvSpPr>
        <p:spPr>
          <a:xfrm>
            <a:off x="1947672" y="3154679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17</a:t>
            </a:r>
          </a:p>
        </p:txBody>
      </p:sp>
      <p:sp>
        <p:nvSpPr>
          <p:cNvPr id="33" name="a1f_th32"/>
          <p:cNvSpPr/>
          <p:nvPr/>
        </p:nvSpPr>
        <p:spPr>
          <a:xfrm>
            <a:off x="2651760" y="1399031"/>
            <a:ext cx="77724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1f_tht33"/>
          <p:cNvSpPr txBox="1"/>
          <p:nvPr/>
        </p:nvSpPr>
        <p:spPr>
          <a:xfrm>
            <a:off x="2724912" y="1399031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Bytes</a:t>
            </a:r>
          </a:p>
        </p:txBody>
      </p:sp>
      <p:sp>
        <p:nvSpPr>
          <p:cNvPr id="35" name="a1wd110_td34"/>
          <p:cNvSpPr/>
          <p:nvPr/>
        </p:nvSpPr>
        <p:spPr>
          <a:xfrm>
            <a:off x="2651760" y="1691639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1wd110_tdt35"/>
          <p:cNvSpPr txBox="1"/>
          <p:nvPr/>
        </p:nvSpPr>
        <p:spPr>
          <a:xfrm>
            <a:off x="2724912" y="1691639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37" name="a1wd220_td36"/>
          <p:cNvSpPr/>
          <p:nvPr/>
        </p:nvSpPr>
        <p:spPr>
          <a:xfrm>
            <a:off x="2651760" y="1984248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1wd220_tdt37"/>
          <p:cNvSpPr txBox="1"/>
          <p:nvPr/>
        </p:nvSpPr>
        <p:spPr>
          <a:xfrm>
            <a:off x="2724912" y="1984248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39" name="a1wd330_td38"/>
          <p:cNvSpPr/>
          <p:nvPr/>
        </p:nvSpPr>
        <p:spPr>
          <a:xfrm>
            <a:off x="2651760" y="2276856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1wd330_tdt39"/>
          <p:cNvSpPr txBox="1"/>
          <p:nvPr/>
        </p:nvSpPr>
        <p:spPr>
          <a:xfrm>
            <a:off x="2724912" y="2276856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41" name="a1wd440_td40"/>
          <p:cNvSpPr/>
          <p:nvPr/>
        </p:nvSpPr>
        <p:spPr>
          <a:xfrm>
            <a:off x="2651760" y="2569463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1wd440_tdt41"/>
          <p:cNvSpPr txBox="1"/>
          <p:nvPr/>
        </p:nvSpPr>
        <p:spPr>
          <a:xfrm>
            <a:off x="2724912" y="2569463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16</a:t>
            </a:r>
          </a:p>
        </p:txBody>
      </p:sp>
      <p:sp>
        <p:nvSpPr>
          <p:cNvPr id="43" name="a1wd550_td42"/>
          <p:cNvSpPr/>
          <p:nvPr/>
        </p:nvSpPr>
        <p:spPr>
          <a:xfrm>
            <a:off x="2651760" y="2862072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1wd550_tdt43"/>
          <p:cNvSpPr txBox="1"/>
          <p:nvPr/>
        </p:nvSpPr>
        <p:spPr>
          <a:xfrm>
            <a:off x="2724912" y="2862072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24</a:t>
            </a:r>
          </a:p>
        </p:txBody>
      </p:sp>
      <p:sp>
        <p:nvSpPr>
          <p:cNvPr id="45" name="a1wd660_td44"/>
          <p:cNvSpPr/>
          <p:nvPr/>
        </p:nvSpPr>
        <p:spPr>
          <a:xfrm>
            <a:off x="2651760" y="3154679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a1wd660_tdt45"/>
          <p:cNvSpPr txBox="1"/>
          <p:nvPr/>
        </p:nvSpPr>
        <p:spPr>
          <a:xfrm>
            <a:off x="2724912" y="3154679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136</a:t>
            </a:r>
          </a:p>
        </p:txBody>
      </p:sp>
      <p:sp>
        <p:nvSpPr>
          <p:cNvPr id="47" name="a1f_th46"/>
          <p:cNvSpPr/>
          <p:nvPr/>
        </p:nvSpPr>
        <p:spPr>
          <a:xfrm>
            <a:off x="3429000" y="1399031"/>
            <a:ext cx="173736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1f_tht47"/>
          <p:cNvSpPr txBox="1"/>
          <p:nvPr/>
        </p:nvSpPr>
        <p:spPr>
          <a:xfrm>
            <a:off x="3502152" y="1399031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49" name="a1wd110_td48"/>
          <p:cNvSpPr/>
          <p:nvPr/>
        </p:nvSpPr>
        <p:spPr>
          <a:xfrm>
            <a:off x="3429000" y="1691639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a1wd110_tdt49"/>
          <p:cNvSpPr txBox="1"/>
          <p:nvPr/>
        </p:nvSpPr>
        <p:spPr>
          <a:xfrm>
            <a:off x="3502152" y="1691639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immediate</a:t>
            </a:r>
          </a:p>
        </p:txBody>
      </p:sp>
      <p:sp>
        <p:nvSpPr>
          <p:cNvPr id="51" name="a1wd220_td50"/>
          <p:cNvSpPr/>
          <p:nvPr/>
        </p:nvSpPr>
        <p:spPr>
          <a:xfrm>
            <a:off x="3429000" y="1984248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a1wd220_tdt51"/>
          <p:cNvSpPr txBox="1"/>
          <p:nvPr/>
        </p:nvSpPr>
        <p:spPr>
          <a:xfrm>
            <a:off x="3502152" y="1984248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immediate</a:t>
            </a:r>
          </a:p>
        </p:txBody>
      </p:sp>
      <p:sp>
        <p:nvSpPr>
          <p:cNvPr id="53" name="a1wd330_td52"/>
          <p:cNvSpPr/>
          <p:nvPr/>
        </p:nvSpPr>
        <p:spPr>
          <a:xfrm>
            <a:off x="3429000" y="227685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a1wd330_tdt53"/>
          <p:cNvSpPr txBox="1"/>
          <p:nvPr/>
        </p:nvSpPr>
        <p:spPr>
          <a:xfrm>
            <a:off x="3502152" y="2276856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largest immediate</a:t>
            </a:r>
          </a:p>
        </p:txBody>
      </p:sp>
      <p:sp>
        <p:nvSpPr>
          <p:cNvPr id="55" name="a1wd440_td54"/>
          <p:cNvSpPr/>
          <p:nvPr/>
        </p:nvSpPr>
        <p:spPr>
          <a:xfrm>
            <a:off x="3429000" y="2569463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a1wd440_tdt55"/>
          <p:cNvSpPr txBox="1"/>
          <p:nvPr/>
        </p:nvSpPr>
        <p:spPr>
          <a:xfrm>
            <a:off x="3502152" y="2569463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first bignum</a:t>
            </a:r>
          </a:p>
        </p:txBody>
      </p:sp>
      <p:sp>
        <p:nvSpPr>
          <p:cNvPr id="57" name="a1wd550_td56"/>
          <p:cNvSpPr/>
          <p:nvPr/>
        </p:nvSpPr>
        <p:spPr>
          <a:xfrm>
            <a:off x="3429000" y="286207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a1wd550_tdt57"/>
          <p:cNvSpPr txBox="1"/>
          <p:nvPr/>
        </p:nvSpPr>
        <p:spPr>
          <a:xfrm>
            <a:off x="3502152" y="2862072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bignum</a:t>
            </a:r>
          </a:p>
        </p:txBody>
      </p:sp>
      <p:sp>
        <p:nvSpPr>
          <p:cNvPr id="59" name="a1wd660_td58"/>
          <p:cNvSpPr/>
          <p:nvPr/>
        </p:nvSpPr>
        <p:spPr>
          <a:xfrm>
            <a:off x="3429000" y="3154679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a1wd660_tdt59"/>
          <p:cNvSpPr txBox="1"/>
          <p:nvPr/>
        </p:nvSpPr>
        <p:spPr>
          <a:xfrm>
            <a:off x="3502152" y="3154679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bignum</a:t>
            </a:r>
          </a:p>
        </p:txBody>
      </p:sp>
      <p:sp>
        <p:nvSpPr>
          <p:cNvPr id="61" name="a2u_dot60"/>
          <p:cNvSpPr/>
          <p:nvPr/>
        </p:nvSpPr>
        <p:spPr>
          <a:xfrm>
            <a:off x="5257800" y="153619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a2u_b61"/>
          <p:cNvSpPr txBox="1"/>
          <p:nvPr/>
        </p:nvSpPr>
        <p:spPr>
          <a:xfrm>
            <a:off x="5477256" y="1435607"/>
            <a:ext cx="320954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Immediates cost nothing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integer is stored in the term word itself - no allocation</a:t>
            </a:r>
          </a:p>
        </p:txBody>
      </p:sp>
      <p:sp>
        <p:nvSpPr>
          <p:cNvPr id="63" name="a2ud180_dot62"/>
          <p:cNvSpPr/>
          <p:nvPr/>
        </p:nvSpPr>
        <p:spPr>
          <a:xfrm>
            <a:off x="5257800" y="226771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a2ud180_b63"/>
          <p:cNvSpPr txBox="1"/>
          <p:nvPr/>
        </p:nvSpPr>
        <p:spPr>
          <a:xfrm>
            <a:off x="5477256" y="2167127"/>
            <a:ext cx="320954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The boundary is 2^59 - 1  </a:t>
            </a:r>
            <a:r>
              <a:rPr sz="1100" b="0">
                <a:solidFill>
                  <a:srgbClr val="334155"/>
                </a:solidFill>
                <a:latin typeface="Calibri"/>
              </a:rPr>
              <a:t>measured, not quoted: flat_size jumps 0 to 2 right there</a:t>
            </a:r>
          </a:p>
        </p:txBody>
      </p:sp>
      <p:sp>
        <p:nvSpPr>
          <p:cNvPr id="65" name="a2ud360_dot64"/>
          <p:cNvSpPr/>
          <p:nvPr/>
        </p:nvSpPr>
        <p:spPr>
          <a:xfrm>
            <a:off x="5257800" y="299923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a2ud360_b65"/>
          <p:cNvSpPr txBox="1"/>
          <p:nvPr/>
        </p:nvSpPr>
        <p:spPr>
          <a:xfrm>
            <a:off x="5477256" y="2898647"/>
            <a:ext cx="320954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Bignums grow linearly  </a:t>
            </a:r>
            <a:r>
              <a:rPr sz="1100" b="0">
                <a:solidFill>
                  <a:srgbClr val="334155"/>
                </a:solidFill>
                <a:latin typeface="Calibri"/>
              </a:rPr>
              <a:t>2^1000 needs 17 words; arithmetic never silently overflows</a:t>
            </a:r>
          </a:p>
        </p:txBody>
      </p:sp>
      <p:sp>
        <p:nvSpPr>
          <p:cNvPr id="67" name="ft6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68" name="ft6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SCALARS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Integer literals and arbitrary precision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52144"/>
            <a:ext cx="406908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codeh4"/>
          <p:cNvSpPr txBox="1"/>
          <p:nvPr/>
        </p:nvSpPr>
        <p:spPr>
          <a:xfrm>
            <a:off x="621792" y="12070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LITERAL SYNTAX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910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0xFF        # =&gt; 255   hexadecimal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621792" y="18059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0o777       # =&gt; 511   octal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621792" y="20208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0b1010      # =&gt; 10    binary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621792" y="22357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1_000_000   # underscores ignored</a:t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621792" y="24505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?A          # =&gt; 65    codepoint</a:t>
            </a:r>
          </a:p>
        </p:txBody>
      </p:sp>
      <p:sp>
        <p:nvSpPr>
          <p:cNvPr id="11" name="a1wd450_code10"/>
          <p:cNvSpPr txBox="1"/>
          <p:nvPr/>
        </p:nvSpPr>
        <p:spPr>
          <a:xfrm>
            <a:off x="621792" y="26654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" name="a1wd540_code11"/>
          <p:cNvSpPr txBox="1"/>
          <p:nvPr/>
        </p:nvSpPr>
        <p:spPr>
          <a:xfrm>
            <a:off x="621792" y="288036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Integer.to_string(255, 16)  # "FF"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617720" y="1152144"/>
            <a:ext cx="406908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f_codeh13"/>
          <p:cNvSpPr txBox="1"/>
          <p:nvPr/>
        </p:nvSpPr>
        <p:spPr>
          <a:xfrm>
            <a:off x="4782312" y="12070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30! exactly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4782312" y="15910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2 ** 200</a:t>
            </a:r>
          </a:p>
        </p:txBody>
      </p:sp>
      <p:sp>
        <p:nvSpPr>
          <p:cNvPr id="16" name="a2wd90_code15"/>
          <p:cNvSpPr txBox="1"/>
          <p:nvPr/>
        </p:nvSpPr>
        <p:spPr>
          <a:xfrm>
            <a:off x="4782312" y="18059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1606938044258990275541962092</a:t>
            </a:r>
          </a:p>
        </p:txBody>
      </p:sp>
      <p:sp>
        <p:nvSpPr>
          <p:cNvPr id="17" name="a2wd180_code16"/>
          <p:cNvSpPr txBox="1"/>
          <p:nvPr/>
        </p:nvSpPr>
        <p:spPr>
          <a:xfrm>
            <a:off x="4782312" y="20208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341162602522202993782792835</a:t>
            </a:r>
          </a:p>
        </p:txBody>
      </p:sp>
      <p:sp>
        <p:nvSpPr>
          <p:cNvPr id="18" name="a2wd270_code17"/>
          <p:cNvSpPr txBox="1"/>
          <p:nvPr/>
        </p:nvSpPr>
        <p:spPr>
          <a:xfrm>
            <a:off x="4782312" y="22357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301376</a:t>
            </a:r>
          </a:p>
        </p:txBody>
      </p:sp>
      <p:sp>
        <p:nvSpPr>
          <p:cNvPr id="19" name="a2wd360_code18"/>
          <p:cNvSpPr txBox="1"/>
          <p:nvPr/>
        </p:nvSpPr>
        <p:spPr>
          <a:xfrm>
            <a:off x="4782312" y="24505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a2wd450_code19"/>
          <p:cNvSpPr txBox="1"/>
          <p:nvPr/>
        </p:nvSpPr>
        <p:spPr>
          <a:xfrm>
            <a:off x="4782312" y="26654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Enum.reduce(1..30, 1, &amp;*/2)</a:t>
            </a:r>
          </a:p>
        </p:txBody>
      </p:sp>
      <p:sp>
        <p:nvSpPr>
          <p:cNvPr id="21" name="a2wd540_code20"/>
          <p:cNvSpPr txBox="1"/>
          <p:nvPr/>
        </p:nvSpPr>
        <p:spPr>
          <a:xfrm>
            <a:off x="4782312" y="288036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265252859812191058636308480000000</a:t>
            </a:r>
          </a:p>
        </p:txBody>
      </p:sp>
      <p:sp>
        <p:nvSpPr>
          <p:cNvPr id="22" name="a3u_dot21"/>
          <p:cNvSpPr/>
          <p:nvPr/>
        </p:nvSpPr>
        <p:spPr>
          <a:xfrm>
            <a:off x="457200" y="34655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u_b22"/>
          <p:cNvSpPr txBox="1"/>
          <p:nvPr/>
        </p:nvSpPr>
        <p:spPr>
          <a:xfrm>
            <a:off x="676656" y="3364992"/>
            <a:ext cx="80101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No Long, no BigInteger, no overflow  </a:t>
            </a:r>
            <a:r>
              <a:rPr sz="1200" b="0">
                <a:solidFill>
                  <a:srgbClr val="334155"/>
                </a:solidFill>
                <a:latin typeface="Calibri"/>
              </a:rPr>
              <a:t>one Integer type that grows as far as memory allows</a:t>
            </a:r>
          </a:p>
        </p:txBody>
      </p:sp>
      <p:sp>
        <p:nvSpPr>
          <p:cNvPr id="24" name="a3ud180_dot23"/>
          <p:cNvSpPr/>
          <p:nvPr/>
        </p:nvSpPr>
        <p:spPr>
          <a:xfrm>
            <a:off x="457200" y="39044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ud180_b24"/>
          <p:cNvSpPr txBox="1"/>
          <p:nvPr/>
        </p:nvSpPr>
        <p:spPr>
          <a:xfrm>
            <a:off x="676656" y="3803904"/>
            <a:ext cx="80101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Coming from Java  </a:t>
            </a:r>
            <a:r>
              <a:rPr sz="1200" b="0">
                <a:solidFill>
                  <a:srgbClr val="334155"/>
                </a:solidFill>
                <a:latin typeface="Calibri"/>
              </a:rPr>
              <a:t>there is no int/long/BigInteger decision to make, and none to get wrong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SCALARS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Floats — IEEE 754 doubles, always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words on the heap. No single-precision type exists.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84632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0.1 + 0.2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3454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0.30000000000000004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4942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0.1 + 0.2 == 0.3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6430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false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79191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1.7976931348623157e308 * 2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9407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(ArithmeticError) bad argument</a:t>
            </a:r>
          </a:p>
        </p:txBody>
      </p:sp>
      <p:sp>
        <p:nvSpPr>
          <p:cNvPr id="13" name="a1wd540_code12"/>
          <p:cNvSpPr txBox="1"/>
          <p:nvPr/>
        </p:nvSpPr>
        <p:spPr>
          <a:xfrm>
            <a:off x="621792" y="310896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5.0e-324 / 2</a:t>
            </a:r>
          </a:p>
        </p:txBody>
      </p:sp>
      <p:sp>
        <p:nvSpPr>
          <p:cNvPr id="14" name="a1wd630_code13"/>
          <p:cNvSpPr txBox="1"/>
          <p:nvPr/>
        </p:nvSpPr>
        <p:spPr>
          <a:xfrm>
            <a:off x="621792" y="332384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0.0                # underflow, silently</a:t>
            </a:r>
          </a:p>
        </p:txBody>
      </p:sp>
      <p:sp>
        <p:nvSpPr>
          <p:cNvPr id="15" name="a2u_dot14"/>
          <p:cNvSpPr/>
          <p:nvPr/>
        </p:nvSpPr>
        <p:spPr>
          <a:xfrm>
            <a:off x="5532120" y="1554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_b15"/>
          <p:cNvSpPr txBox="1"/>
          <p:nvPr/>
        </p:nvSpPr>
        <p:spPr>
          <a:xfrm>
            <a:off x="5751576" y="1453895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Always 64-bit  </a:t>
            </a:r>
            <a:r>
              <a:rPr sz="1100" b="0">
                <a:solidFill>
                  <a:srgbClr val="334155"/>
                </a:solidFill>
                <a:latin typeface="Calibri"/>
              </a:rPr>
              <a:t>flat_size is 2 words - a header plus the double</a:t>
            </a:r>
          </a:p>
        </p:txBody>
      </p:sp>
      <p:sp>
        <p:nvSpPr>
          <p:cNvPr id="17" name="a2ud180_dot16"/>
          <p:cNvSpPr/>
          <p:nvPr/>
        </p:nvSpPr>
        <p:spPr>
          <a:xfrm>
            <a:off x="5532120" y="22311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ud180_b17"/>
          <p:cNvSpPr txBox="1"/>
          <p:nvPr/>
        </p:nvSpPr>
        <p:spPr>
          <a:xfrm>
            <a:off x="5751576" y="2130551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Overflow raises  </a:t>
            </a:r>
            <a:r>
              <a:rPr sz="1100" b="0">
                <a:solidFill>
                  <a:srgbClr val="334155"/>
                </a:solidFill>
                <a:latin typeface="Calibri"/>
              </a:rPr>
              <a:t>unlike most languages, you do not get Infinity</a:t>
            </a:r>
          </a:p>
        </p:txBody>
      </p:sp>
      <p:sp>
        <p:nvSpPr>
          <p:cNvPr id="19" name="a2ud360_dot18"/>
          <p:cNvSpPr/>
          <p:nvPr/>
        </p:nvSpPr>
        <p:spPr>
          <a:xfrm>
            <a:off x="5532120" y="290779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ud360_b19"/>
          <p:cNvSpPr txBox="1"/>
          <p:nvPr/>
        </p:nvSpPr>
        <p:spPr>
          <a:xfrm>
            <a:off x="5751576" y="2807208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Underflow does not  </a:t>
            </a:r>
            <a:r>
              <a:rPr sz="1100" b="0">
                <a:solidFill>
                  <a:srgbClr val="334155"/>
                </a:solidFill>
                <a:latin typeface="Calibri"/>
              </a:rPr>
              <a:t>it quietly becomes 0.0 - watch for it</a:t>
            </a:r>
          </a:p>
        </p:txBody>
      </p:sp>
      <p:sp>
        <p:nvSpPr>
          <p:cNvPr id="21" name="a3f_nb20"/>
          <p:cNvSpPr/>
          <p:nvPr/>
        </p:nvSpPr>
        <p:spPr>
          <a:xfrm>
            <a:off x="457200" y="389534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3f_nacc21"/>
          <p:cNvSpPr/>
          <p:nvPr/>
        </p:nvSpPr>
        <p:spPr>
          <a:xfrm>
            <a:off x="457200" y="3895344"/>
            <a:ext cx="50292" cy="475488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f_nt22"/>
          <p:cNvSpPr txBox="1"/>
          <p:nvPr/>
        </p:nvSpPr>
        <p:spPr>
          <a:xfrm>
            <a:off x="658368" y="389534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Never compare floats with ==. Compare with a tolerance, or round first: Float.round(0.1 + 0.2, 2) == 0.3 is true.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SCALARS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Division and rounding — the part that bites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/ always returns a float. Integer division has two different families.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99031"/>
            <a:ext cx="278892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tht5"/>
          <p:cNvSpPr txBox="1"/>
          <p:nvPr/>
        </p:nvSpPr>
        <p:spPr>
          <a:xfrm>
            <a:off x="530352" y="1399031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Expression</a:t>
            </a:r>
          </a:p>
        </p:txBody>
      </p:sp>
      <p:sp>
        <p:nvSpPr>
          <p:cNvPr id="7" name="a1wd90_td6"/>
          <p:cNvSpPr/>
          <p:nvPr/>
        </p:nvSpPr>
        <p:spPr>
          <a:xfrm>
            <a:off x="457200" y="1691639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wd90_tdt7"/>
          <p:cNvSpPr txBox="1"/>
          <p:nvPr/>
        </p:nvSpPr>
        <p:spPr>
          <a:xfrm>
            <a:off x="530352" y="1691639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4 / 2</a:t>
            </a:r>
          </a:p>
        </p:txBody>
      </p:sp>
      <p:sp>
        <p:nvSpPr>
          <p:cNvPr id="9" name="a1wd180_td8"/>
          <p:cNvSpPr/>
          <p:nvPr/>
        </p:nvSpPr>
        <p:spPr>
          <a:xfrm>
            <a:off x="457200" y="1984248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wd180_tdt9"/>
          <p:cNvSpPr txBox="1"/>
          <p:nvPr/>
        </p:nvSpPr>
        <p:spPr>
          <a:xfrm>
            <a:off x="530352" y="1984248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 / 3</a:t>
            </a:r>
          </a:p>
        </p:txBody>
      </p:sp>
      <p:sp>
        <p:nvSpPr>
          <p:cNvPr id="11" name="a1wd270_td10"/>
          <p:cNvSpPr/>
          <p:nvPr/>
        </p:nvSpPr>
        <p:spPr>
          <a:xfrm>
            <a:off x="457200" y="2276856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wd270_tdt11"/>
          <p:cNvSpPr txBox="1"/>
          <p:nvPr/>
        </p:nvSpPr>
        <p:spPr>
          <a:xfrm>
            <a:off x="530352" y="2276856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div(7, 2)</a:t>
            </a:r>
          </a:p>
        </p:txBody>
      </p:sp>
      <p:sp>
        <p:nvSpPr>
          <p:cNvPr id="13" name="a1wd360_td12"/>
          <p:cNvSpPr/>
          <p:nvPr/>
        </p:nvSpPr>
        <p:spPr>
          <a:xfrm>
            <a:off x="457200" y="2569463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wd360_tdt13"/>
          <p:cNvSpPr txBox="1"/>
          <p:nvPr/>
        </p:nvSpPr>
        <p:spPr>
          <a:xfrm>
            <a:off x="530352" y="2569463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div(-7, 2)</a:t>
            </a:r>
          </a:p>
        </p:txBody>
      </p:sp>
      <p:sp>
        <p:nvSpPr>
          <p:cNvPr id="15" name="a1wd450_td14"/>
          <p:cNvSpPr/>
          <p:nvPr/>
        </p:nvSpPr>
        <p:spPr>
          <a:xfrm>
            <a:off x="457200" y="2862072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wd450_tdt15"/>
          <p:cNvSpPr txBox="1"/>
          <p:nvPr/>
        </p:nvSpPr>
        <p:spPr>
          <a:xfrm>
            <a:off x="530352" y="2862072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rem(-7, 2)</a:t>
            </a:r>
          </a:p>
        </p:txBody>
      </p:sp>
      <p:sp>
        <p:nvSpPr>
          <p:cNvPr id="17" name="a1wd540_td16"/>
          <p:cNvSpPr/>
          <p:nvPr/>
        </p:nvSpPr>
        <p:spPr>
          <a:xfrm>
            <a:off x="457200" y="3154679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wd540_tdt17"/>
          <p:cNvSpPr txBox="1"/>
          <p:nvPr/>
        </p:nvSpPr>
        <p:spPr>
          <a:xfrm>
            <a:off x="530352" y="3154679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Integer.floor_div(-7, 2)</a:t>
            </a:r>
          </a:p>
        </p:txBody>
      </p:sp>
      <p:sp>
        <p:nvSpPr>
          <p:cNvPr id="19" name="a1wd630_td18"/>
          <p:cNvSpPr/>
          <p:nvPr/>
        </p:nvSpPr>
        <p:spPr>
          <a:xfrm>
            <a:off x="457200" y="3447288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wd630_tdt19"/>
          <p:cNvSpPr txBox="1"/>
          <p:nvPr/>
        </p:nvSpPr>
        <p:spPr>
          <a:xfrm>
            <a:off x="530352" y="3447288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Integer.mod(-7, 2)</a:t>
            </a:r>
          </a:p>
        </p:txBody>
      </p:sp>
      <p:sp>
        <p:nvSpPr>
          <p:cNvPr id="21" name="a1wd720_td20"/>
          <p:cNvSpPr/>
          <p:nvPr/>
        </p:nvSpPr>
        <p:spPr>
          <a:xfrm>
            <a:off x="457200" y="3739896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wd720_tdt21"/>
          <p:cNvSpPr txBox="1"/>
          <p:nvPr/>
        </p:nvSpPr>
        <p:spPr>
          <a:xfrm>
            <a:off x="530352" y="3739896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round(2.5) / round(3.5)</a:t>
            </a:r>
          </a:p>
        </p:txBody>
      </p:sp>
      <p:sp>
        <p:nvSpPr>
          <p:cNvPr id="23" name="a1wd810_td22"/>
          <p:cNvSpPr/>
          <p:nvPr/>
        </p:nvSpPr>
        <p:spPr>
          <a:xfrm>
            <a:off x="457200" y="4032504"/>
            <a:ext cx="2788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wd810_tdt23"/>
          <p:cNvSpPr txBox="1"/>
          <p:nvPr/>
        </p:nvSpPr>
        <p:spPr>
          <a:xfrm>
            <a:off x="530352" y="4032504"/>
            <a:ext cx="2679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trunc(-2.7)</a:t>
            </a:r>
          </a:p>
        </p:txBody>
      </p:sp>
      <p:sp>
        <p:nvSpPr>
          <p:cNvPr id="25" name="a1f_th24"/>
          <p:cNvSpPr/>
          <p:nvPr/>
        </p:nvSpPr>
        <p:spPr>
          <a:xfrm>
            <a:off x="3246120" y="1399031"/>
            <a:ext cx="196596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1f_tht25"/>
          <p:cNvSpPr txBox="1"/>
          <p:nvPr/>
        </p:nvSpPr>
        <p:spPr>
          <a:xfrm>
            <a:off x="3319272" y="1399031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Result</a:t>
            </a:r>
          </a:p>
        </p:txBody>
      </p:sp>
      <p:sp>
        <p:nvSpPr>
          <p:cNvPr id="27" name="a1wd90_td26"/>
          <p:cNvSpPr/>
          <p:nvPr/>
        </p:nvSpPr>
        <p:spPr>
          <a:xfrm>
            <a:off x="3246120" y="1691639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1wd90_tdt27"/>
          <p:cNvSpPr txBox="1"/>
          <p:nvPr/>
        </p:nvSpPr>
        <p:spPr>
          <a:xfrm>
            <a:off x="3319272" y="1691639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2.0</a:t>
            </a:r>
          </a:p>
        </p:txBody>
      </p:sp>
      <p:sp>
        <p:nvSpPr>
          <p:cNvPr id="29" name="a1wd180_td28"/>
          <p:cNvSpPr/>
          <p:nvPr/>
        </p:nvSpPr>
        <p:spPr>
          <a:xfrm>
            <a:off x="3246120" y="1984248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1wd180_tdt29"/>
          <p:cNvSpPr txBox="1"/>
          <p:nvPr/>
        </p:nvSpPr>
        <p:spPr>
          <a:xfrm>
            <a:off x="3319272" y="1984248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0.3333333333333333</a:t>
            </a:r>
          </a:p>
        </p:txBody>
      </p:sp>
      <p:sp>
        <p:nvSpPr>
          <p:cNvPr id="31" name="a1wd270_td30"/>
          <p:cNvSpPr/>
          <p:nvPr/>
        </p:nvSpPr>
        <p:spPr>
          <a:xfrm>
            <a:off x="3246120" y="2276856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1wd270_tdt31"/>
          <p:cNvSpPr txBox="1"/>
          <p:nvPr/>
        </p:nvSpPr>
        <p:spPr>
          <a:xfrm>
            <a:off x="3319272" y="2276856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33" name="a1wd360_td32"/>
          <p:cNvSpPr/>
          <p:nvPr/>
        </p:nvSpPr>
        <p:spPr>
          <a:xfrm>
            <a:off x="3246120" y="2569463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1wd360_tdt33"/>
          <p:cNvSpPr txBox="1"/>
          <p:nvPr/>
        </p:nvSpPr>
        <p:spPr>
          <a:xfrm>
            <a:off x="3319272" y="2569463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-3</a:t>
            </a:r>
          </a:p>
        </p:txBody>
      </p:sp>
      <p:sp>
        <p:nvSpPr>
          <p:cNvPr id="35" name="a1wd450_td34"/>
          <p:cNvSpPr/>
          <p:nvPr/>
        </p:nvSpPr>
        <p:spPr>
          <a:xfrm>
            <a:off x="3246120" y="2862072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1wd450_tdt35"/>
          <p:cNvSpPr txBox="1"/>
          <p:nvPr/>
        </p:nvSpPr>
        <p:spPr>
          <a:xfrm>
            <a:off x="3319272" y="2862072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-1</a:t>
            </a:r>
          </a:p>
        </p:txBody>
      </p:sp>
      <p:sp>
        <p:nvSpPr>
          <p:cNvPr id="37" name="a1wd540_td36"/>
          <p:cNvSpPr/>
          <p:nvPr/>
        </p:nvSpPr>
        <p:spPr>
          <a:xfrm>
            <a:off x="3246120" y="3154679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1wd540_tdt37"/>
          <p:cNvSpPr txBox="1"/>
          <p:nvPr/>
        </p:nvSpPr>
        <p:spPr>
          <a:xfrm>
            <a:off x="3319272" y="3154679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-4</a:t>
            </a:r>
          </a:p>
        </p:txBody>
      </p:sp>
      <p:sp>
        <p:nvSpPr>
          <p:cNvPr id="39" name="a1wd630_td38"/>
          <p:cNvSpPr/>
          <p:nvPr/>
        </p:nvSpPr>
        <p:spPr>
          <a:xfrm>
            <a:off x="3246120" y="3447288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1wd630_tdt39"/>
          <p:cNvSpPr txBox="1"/>
          <p:nvPr/>
        </p:nvSpPr>
        <p:spPr>
          <a:xfrm>
            <a:off x="3319272" y="3447288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</a:t>
            </a:r>
          </a:p>
        </p:txBody>
      </p:sp>
      <p:sp>
        <p:nvSpPr>
          <p:cNvPr id="41" name="a1wd720_td40"/>
          <p:cNvSpPr/>
          <p:nvPr/>
        </p:nvSpPr>
        <p:spPr>
          <a:xfrm>
            <a:off x="3246120" y="3739896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1wd720_tdt41"/>
          <p:cNvSpPr txBox="1"/>
          <p:nvPr/>
        </p:nvSpPr>
        <p:spPr>
          <a:xfrm>
            <a:off x="3319272" y="3739896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 / 4</a:t>
            </a:r>
          </a:p>
        </p:txBody>
      </p:sp>
      <p:sp>
        <p:nvSpPr>
          <p:cNvPr id="43" name="a1wd810_td42"/>
          <p:cNvSpPr/>
          <p:nvPr/>
        </p:nvSpPr>
        <p:spPr>
          <a:xfrm>
            <a:off x="3246120" y="4032504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1wd810_tdt43"/>
          <p:cNvSpPr txBox="1"/>
          <p:nvPr/>
        </p:nvSpPr>
        <p:spPr>
          <a:xfrm>
            <a:off x="3319272" y="4032504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-2</a:t>
            </a:r>
          </a:p>
        </p:txBody>
      </p:sp>
      <p:sp>
        <p:nvSpPr>
          <p:cNvPr id="45" name="a1f_th44"/>
          <p:cNvSpPr/>
          <p:nvPr/>
        </p:nvSpPr>
        <p:spPr>
          <a:xfrm>
            <a:off x="5212079" y="1399031"/>
            <a:ext cx="347472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a1f_tht45"/>
          <p:cNvSpPr txBox="1"/>
          <p:nvPr/>
        </p:nvSpPr>
        <p:spPr>
          <a:xfrm>
            <a:off x="5285231" y="1399031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47" name="a1wd90_td46"/>
          <p:cNvSpPr/>
          <p:nvPr/>
        </p:nvSpPr>
        <p:spPr>
          <a:xfrm>
            <a:off x="5212079" y="1691639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1wd90_tdt47"/>
          <p:cNvSpPr txBox="1"/>
          <p:nvPr/>
        </p:nvSpPr>
        <p:spPr>
          <a:xfrm>
            <a:off x="5285231" y="1691639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/ is always float division</a:t>
            </a:r>
          </a:p>
        </p:txBody>
      </p:sp>
      <p:sp>
        <p:nvSpPr>
          <p:cNvPr id="49" name="a1wd180_td48"/>
          <p:cNvSpPr/>
          <p:nvPr/>
        </p:nvSpPr>
        <p:spPr>
          <a:xfrm>
            <a:off x="5212079" y="1984248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a1wd180_tdt49"/>
          <p:cNvSpPr txBox="1"/>
          <p:nvPr/>
        </p:nvSpPr>
        <p:spPr>
          <a:xfrm>
            <a:off x="5285231" y="1984248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Never an exact third</a:t>
            </a:r>
          </a:p>
        </p:txBody>
      </p:sp>
      <p:sp>
        <p:nvSpPr>
          <p:cNvPr id="51" name="a1wd270_td50"/>
          <p:cNvSpPr/>
          <p:nvPr/>
        </p:nvSpPr>
        <p:spPr>
          <a:xfrm>
            <a:off x="5212079" y="2276856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a1wd270_tdt51"/>
          <p:cNvSpPr txBox="1"/>
          <p:nvPr/>
        </p:nvSpPr>
        <p:spPr>
          <a:xfrm>
            <a:off x="5285231" y="2276856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Truncates toward zero</a:t>
            </a:r>
          </a:p>
        </p:txBody>
      </p:sp>
      <p:sp>
        <p:nvSpPr>
          <p:cNvPr id="53" name="a1wd360_td52"/>
          <p:cNvSpPr/>
          <p:nvPr/>
        </p:nvSpPr>
        <p:spPr>
          <a:xfrm>
            <a:off x="5212079" y="2569463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a1wd360_tdt53"/>
          <p:cNvSpPr txBox="1"/>
          <p:nvPr/>
        </p:nvSpPr>
        <p:spPr>
          <a:xfrm>
            <a:off x="5285231" y="2569463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Toward zero, not down</a:t>
            </a:r>
          </a:p>
        </p:txBody>
      </p:sp>
      <p:sp>
        <p:nvSpPr>
          <p:cNvPr id="55" name="a1wd450_td54"/>
          <p:cNvSpPr/>
          <p:nvPr/>
        </p:nvSpPr>
        <p:spPr>
          <a:xfrm>
            <a:off x="5212079" y="2862072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a1wd450_tdt55"/>
          <p:cNvSpPr txBox="1"/>
          <p:nvPr/>
        </p:nvSpPr>
        <p:spPr>
          <a:xfrm>
            <a:off x="5285231" y="2862072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Sign follows the dividend</a:t>
            </a:r>
          </a:p>
        </p:txBody>
      </p:sp>
      <p:sp>
        <p:nvSpPr>
          <p:cNvPr id="57" name="a1wd540_td56"/>
          <p:cNvSpPr/>
          <p:nvPr/>
        </p:nvSpPr>
        <p:spPr>
          <a:xfrm>
            <a:off x="5212079" y="3154679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a1wd540_tdt57"/>
          <p:cNvSpPr txBox="1"/>
          <p:nvPr/>
        </p:nvSpPr>
        <p:spPr>
          <a:xfrm>
            <a:off x="5285231" y="3154679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Rounds down, like Python //</a:t>
            </a:r>
          </a:p>
        </p:txBody>
      </p:sp>
      <p:sp>
        <p:nvSpPr>
          <p:cNvPr id="59" name="a1wd630_td58"/>
          <p:cNvSpPr/>
          <p:nvPr/>
        </p:nvSpPr>
        <p:spPr>
          <a:xfrm>
            <a:off x="5212079" y="3447288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a1wd630_tdt59"/>
          <p:cNvSpPr txBox="1"/>
          <p:nvPr/>
        </p:nvSpPr>
        <p:spPr>
          <a:xfrm>
            <a:off x="5285231" y="3447288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Always non-negative</a:t>
            </a:r>
          </a:p>
        </p:txBody>
      </p:sp>
      <p:sp>
        <p:nvSpPr>
          <p:cNvPr id="61" name="a1wd720_td60"/>
          <p:cNvSpPr/>
          <p:nvPr/>
        </p:nvSpPr>
        <p:spPr>
          <a:xfrm>
            <a:off x="5212079" y="3739896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a1wd720_tdt61"/>
          <p:cNvSpPr txBox="1"/>
          <p:nvPr/>
        </p:nvSpPr>
        <p:spPr>
          <a:xfrm>
            <a:off x="5285231" y="3739896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Half away from zero</a:t>
            </a:r>
          </a:p>
        </p:txBody>
      </p:sp>
      <p:sp>
        <p:nvSpPr>
          <p:cNvPr id="63" name="a1wd810_td62"/>
          <p:cNvSpPr/>
          <p:nvPr/>
        </p:nvSpPr>
        <p:spPr>
          <a:xfrm>
            <a:off x="5212079" y="4032504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a1wd810_tdt63"/>
          <p:cNvSpPr txBox="1"/>
          <p:nvPr/>
        </p:nvSpPr>
        <p:spPr>
          <a:xfrm>
            <a:off x="5285231" y="4032504"/>
            <a:ext cx="3364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Drops the fraction</a:t>
            </a:r>
          </a:p>
        </p:txBody>
      </p:sp>
      <p:sp>
        <p:nvSpPr>
          <p:cNvPr id="65" name="a2f_nb64"/>
          <p:cNvSpPr/>
          <p:nvPr/>
        </p:nvSpPr>
        <p:spPr>
          <a:xfrm>
            <a:off x="457200" y="4215384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a2f_nacc65"/>
          <p:cNvSpPr/>
          <p:nvPr/>
        </p:nvSpPr>
        <p:spPr>
          <a:xfrm>
            <a:off x="457200" y="4215384"/>
            <a:ext cx="5029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a2f_nt66"/>
          <p:cNvSpPr txBox="1"/>
          <p:nvPr/>
        </p:nvSpPr>
        <p:spPr>
          <a:xfrm>
            <a:off x="658368" y="4215384"/>
            <a:ext cx="782726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div/rem truncate toward zero; floor_div/mod round downward. Pick deliberately when negatives are possible.</a:t>
            </a:r>
          </a:p>
        </p:txBody>
      </p:sp>
      <p:sp>
        <p:nvSpPr>
          <p:cNvPr id="68" name="ft6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69" name="ft6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SCALARS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Atoms — free to hold, expensive to invent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named constant. Zero words on the heap, because the term is a table index.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069080" cy="1463039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length is irrelevant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:ok                      flat = 0w</a:t>
            </a:r>
          </a:p>
        </p:txBody>
      </p:sp>
      <p:sp>
        <p:nvSpPr>
          <p:cNvPr id="8" name="a1wd100_code7"/>
          <p:cNvSpPr txBox="1"/>
          <p:nvPr/>
        </p:nvSpPr>
        <p:spPr>
          <a:xfrm>
            <a:off x="62179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:some_very_long_atom     flat = 0w</a:t>
            </a:r>
          </a:p>
        </p:txBody>
      </p:sp>
      <p:sp>
        <p:nvSpPr>
          <p:cNvPr id="9" name="a1wd200_code8"/>
          <p:cNvSpPr txBox="1"/>
          <p:nvPr/>
        </p:nvSpPr>
        <p:spPr>
          <a:xfrm>
            <a:off x="62179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true                     flat = 0w</a:t>
            </a:r>
          </a:p>
        </p:txBody>
      </p:sp>
      <p:sp>
        <p:nvSpPr>
          <p:cNvPr id="10" name="a1wd300_code9"/>
          <p:cNvSpPr txBox="1"/>
          <p:nvPr/>
        </p:nvSpPr>
        <p:spPr>
          <a:xfrm>
            <a:off x="62179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nil                      flat = 0w</a:t>
            </a:r>
          </a:p>
        </p:txBody>
      </p:sp>
      <p:sp>
        <p:nvSpPr>
          <p:cNvPr id="11" name="a2f_codebg10"/>
          <p:cNvSpPr/>
          <p:nvPr/>
        </p:nvSpPr>
        <p:spPr>
          <a:xfrm>
            <a:off x="4617720" y="1380744"/>
            <a:ext cx="406908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2f_codeh11"/>
          <p:cNvSpPr txBox="1"/>
          <p:nvPr/>
        </p:nvSpPr>
        <p:spPr>
          <a:xfrm>
            <a:off x="478231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probe_lang.exs</a:t>
            </a:r>
          </a:p>
        </p:txBody>
      </p:sp>
      <p:sp>
        <p:nvSpPr>
          <p:cNvPr id="13" name="a2w_code12"/>
          <p:cNvSpPr txBox="1"/>
          <p:nvPr/>
        </p:nvSpPr>
        <p:spPr>
          <a:xfrm>
            <a:off x="478231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atom count before:  18992</a:t>
            </a:r>
          </a:p>
        </p:txBody>
      </p:sp>
      <p:sp>
        <p:nvSpPr>
          <p:cNvPr id="14" name="a2wd100_code13"/>
          <p:cNvSpPr txBox="1"/>
          <p:nvPr/>
        </p:nvSpPr>
        <p:spPr>
          <a:xfrm>
            <a:off x="478231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create 1000 atoms, force GC</a:t>
            </a:r>
          </a:p>
        </p:txBody>
      </p:sp>
      <p:sp>
        <p:nvSpPr>
          <p:cNvPr id="15" name="a2wd200_code14"/>
          <p:cNvSpPr txBox="1"/>
          <p:nvPr/>
        </p:nvSpPr>
        <p:spPr>
          <a:xfrm>
            <a:off x="478231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atom count after:   19992</a:t>
            </a:r>
          </a:p>
        </p:txBody>
      </p:sp>
      <p:sp>
        <p:nvSpPr>
          <p:cNvPr id="16" name="a2wd300_code15"/>
          <p:cNvSpPr txBox="1"/>
          <p:nvPr/>
        </p:nvSpPr>
        <p:spPr>
          <a:xfrm>
            <a:off x="478231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a2wd400_code16"/>
          <p:cNvSpPr txBox="1"/>
          <p:nvPr/>
        </p:nvSpPr>
        <p:spPr>
          <a:xfrm>
            <a:off x="478231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atoms are NEVER collected</a:t>
            </a:r>
          </a:p>
        </p:txBody>
      </p:sp>
      <p:sp>
        <p:nvSpPr>
          <p:cNvPr id="18" name="a3u_dot17"/>
          <p:cNvSpPr/>
          <p:nvPr/>
        </p:nvSpPr>
        <p:spPr>
          <a:xfrm>
            <a:off x="457200" y="3255263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3u_b18"/>
          <p:cNvSpPr txBox="1"/>
          <p:nvPr/>
        </p:nvSpPr>
        <p:spPr>
          <a:xfrm>
            <a:off x="676656" y="3154679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atom table is global and permanent  </a:t>
            </a:r>
            <a:r>
              <a:rPr sz="1150" b="0">
                <a:solidFill>
                  <a:srgbClr val="334155"/>
                </a:solidFill>
                <a:latin typeface="Calibri"/>
              </a:rPr>
              <a:t>nothing you create is ever freed, for the life of the node</a:t>
            </a:r>
          </a:p>
        </p:txBody>
      </p:sp>
      <p:sp>
        <p:nvSpPr>
          <p:cNvPr id="20" name="a3ud170_dot19"/>
          <p:cNvSpPr/>
          <p:nvPr/>
        </p:nvSpPr>
        <p:spPr>
          <a:xfrm>
            <a:off x="457200" y="36758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3ud170_b20"/>
          <p:cNvSpPr txBox="1"/>
          <p:nvPr/>
        </p:nvSpPr>
        <p:spPr>
          <a:xfrm>
            <a:off x="676656" y="3575303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ceiling here is 1,048,576  </a:t>
            </a:r>
            <a:r>
              <a:rPr sz="1150" b="0">
                <a:solidFill>
                  <a:srgbClr val="334155"/>
                </a:solidFill>
                <a:latin typeface="Calibri"/>
              </a:rPr>
              <a:t>exhaust it and the VM halts - this is a real production outage mode</a:t>
            </a:r>
          </a:p>
        </p:txBody>
      </p:sp>
      <p:sp>
        <p:nvSpPr>
          <p:cNvPr id="22" name="a3ud340_dot21"/>
          <p:cNvSpPr/>
          <p:nvPr/>
        </p:nvSpPr>
        <p:spPr>
          <a:xfrm>
            <a:off x="457200" y="409651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ud340_b22"/>
          <p:cNvSpPr txBox="1"/>
          <p:nvPr/>
        </p:nvSpPr>
        <p:spPr>
          <a:xfrm>
            <a:off x="676656" y="3995928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Never String.to_atom/1 on user input  </a:t>
            </a:r>
            <a:r>
              <a:rPr sz="1150" b="0">
                <a:solidFill>
                  <a:srgbClr val="334155"/>
                </a:solidFill>
                <a:latin typeface="Calibri"/>
              </a:rPr>
              <a:t>use String.to_existing_atom/1, which raises instead of growing the table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SCALARS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Booleans, nil and module names are all atoms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things that look like separate types and are not.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822960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probe_lang.exs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is_atom(true)</a:t>
            </a:r>
          </a:p>
        </p:txBody>
      </p:sp>
      <p:sp>
        <p:nvSpPr>
          <p:cNvPr id="8" name="a1wd100_code7"/>
          <p:cNvSpPr txBox="1"/>
          <p:nvPr/>
        </p:nvSpPr>
        <p:spPr>
          <a:xfrm>
            <a:off x="621792" y="203454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</a:t>
            </a:r>
          </a:p>
        </p:txBody>
      </p:sp>
      <p:sp>
        <p:nvSpPr>
          <p:cNvPr id="9" name="a1wd200_code8"/>
          <p:cNvSpPr txBox="1"/>
          <p:nvPr/>
        </p:nvSpPr>
        <p:spPr>
          <a:xfrm>
            <a:off x="621792" y="224942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is_atom(nil)</a:t>
            </a:r>
          </a:p>
        </p:txBody>
      </p:sp>
      <p:sp>
        <p:nvSpPr>
          <p:cNvPr id="10" name="a1wd300_code9"/>
          <p:cNvSpPr txBox="1"/>
          <p:nvPr/>
        </p:nvSpPr>
        <p:spPr>
          <a:xfrm>
            <a:off x="621792" y="246430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621792" y="2679191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:true === true</a:t>
            </a:r>
          </a:p>
        </p:txBody>
      </p:sp>
      <p:sp>
        <p:nvSpPr>
          <p:cNvPr id="12" name="a1wd500_code11"/>
          <p:cNvSpPr txBox="1"/>
          <p:nvPr/>
        </p:nvSpPr>
        <p:spPr>
          <a:xfrm>
            <a:off x="621792" y="289407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                    # the literal true IS the atom :true</a:t>
            </a:r>
          </a:p>
        </p:txBody>
      </p:sp>
      <p:sp>
        <p:nvSpPr>
          <p:cNvPr id="13" name="a1wd600_code12"/>
          <p:cNvSpPr txBox="1"/>
          <p:nvPr/>
        </p:nvSpPr>
        <p:spPr>
          <a:xfrm>
            <a:off x="621792" y="310896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Elixir.String == String</a:t>
            </a:r>
          </a:p>
        </p:txBody>
      </p:sp>
      <p:sp>
        <p:nvSpPr>
          <p:cNvPr id="14" name="a1wd700_code13"/>
          <p:cNvSpPr txBox="1"/>
          <p:nvPr/>
        </p:nvSpPr>
        <p:spPr>
          <a:xfrm>
            <a:off x="621792" y="332384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                    # the module String IS the atom :"Elixir.String"</a:t>
            </a:r>
          </a:p>
        </p:txBody>
      </p:sp>
      <p:sp>
        <p:nvSpPr>
          <p:cNvPr id="15" name="a2u_dot14"/>
          <p:cNvSpPr/>
          <p:nvPr/>
        </p:nvSpPr>
        <p:spPr>
          <a:xfrm>
            <a:off x="457200" y="385876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_b15"/>
          <p:cNvSpPr txBox="1"/>
          <p:nvPr/>
        </p:nvSpPr>
        <p:spPr>
          <a:xfrm>
            <a:off x="676656" y="3758184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This is why :erlang works  </a:t>
            </a:r>
            <a:r>
              <a:rPr sz="1150" b="0">
                <a:solidFill>
                  <a:srgbClr val="334155"/>
                </a:solidFill>
                <a:latin typeface="Calibri"/>
              </a:rPr>
              <a:t>an Erlang module is an atom, so :erlang.system_info/1 is an ordinary call</a:t>
            </a:r>
          </a:p>
        </p:txBody>
      </p:sp>
      <p:sp>
        <p:nvSpPr>
          <p:cNvPr id="17" name="a2ud180_dot16"/>
          <p:cNvSpPr/>
          <p:nvPr/>
        </p:nvSpPr>
        <p:spPr>
          <a:xfrm>
            <a:off x="457200" y="427939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ud180_b17"/>
          <p:cNvSpPr txBox="1"/>
          <p:nvPr/>
        </p:nvSpPr>
        <p:spPr>
          <a:xfrm>
            <a:off x="676656" y="4178808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And why nil is falsy but not false  </a:t>
            </a:r>
            <a:r>
              <a:rPr sz="1150" b="0">
                <a:solidFill>
                  <a:srgbClr val="334155"/>
                </a:solidFill>
                <a:latin typeface="Calibri"/>
              </a:rPr>
              <a:t>only false and nil are falsy; 0 and "" are truthy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Collections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Tuple, list and map - three layouts with
very different costs.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tuple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list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map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COLLECTIONS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Tuples — contiguous, fixed, n+1 words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header word plus one word per element. Access is O(1); change is O(n).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99031"/>
            <a:ext cx="214884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tht5"/>
          <p:cNvSpPr txBox="1"/>
          <p:nvPr/>
        </p:nvSpPr>
        <p:spPr>
          <a:xfrm>
            <a:off x="530352" y="1399031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Tuple</a:t>
            </a:r>
          </a:p>
        </p:txBody>
      </p:sp>
      <p:sp>
        <p:nvSpPr>
          <p:cNvPr id="7" name="a1wd120_td6"/>
          <p:cNvSpPr/>
          <p:nvPr/>
        </p:nvSpPr>
        <p:spPr>
          <a:xfrm>
            <a:off x="457200" y="1709928"/>
            <a:ext cx="2148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wd120_tdt7"/>
          <p:cNvSpPr txBox="1"/>
          <p:nvPr/>
        </p:nvSpPr>
        <p:spPr>
          <a:xfrm>
            <a:off x="530352" y="1709928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{}</a:t>
            </a:r>
          </a:p>
        </p:txBody>
      </p:sp>
      <p:sp>
        <p:nvSpPr>
          <p:cNvPr id="9" name="a1wd240_td8"/>
          <p:cNvSpPr/>
          <p:nvPr/>
        </p:nvSpPr>
        <p:spPr>
          <a:xfrm>
            <a:off x="457200" y="2020824"/>
            <a:ext cx="2148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wd240_tdt9"/>
          <p:cNvSpPr txBox="1"/>
          <p:nvPr/>
        </p:nvSpPr>
        <p:spPr>
          <a:xfrm>
            <a:off x="530352" y="2020824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{1}</a:t>
            </a:r>
          </a:p>
        </p:txBody>
      </p:sp>
      <p:sp>
        <p:nvSpPr>
          <p:cNvPr id="11" name="a1wd360_td10"/>
          <p:cNvSpPr/>
          <p:nvPr/>
        </p:nvSpPr>
        <p:spPr>
          <a:xfrm>
            <a:off x="457200" y="2331720"/>
            <a:ext cx="2148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wd360_tdt11"/>
          <p:cNvSpPr txBox="1"/>
          <p:nvPr/>
        </p:nvSpPr>
        <p:spPr>
          <a:xfrm>
            <a:off x="530352" y="2331720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{1, 2}</a:t>
            </a:r>
          </a:p>
        </p:txBody>
      </p:sp>
      <p:sp>
        <p:nvSpPr>
          <p:cNvPr id="13" name="a1wd480_td12"/>
          <p:cNvSpPr/>
          <p:nvPr/>
        </p:nvSpPr>
        <p:spPr>
          <a:xfrm>
            <a:off x="457200" y="2642615"/>
            <a:ext cx="2148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wd480_tdt13"/>
          <p:cNvSpPr txBox="1"/>
          <p:nvPr/>
        </p:nvSpPr>
        <p:spPr>
          <a:xfrm>
            <a:off x="530352" y="2642615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{1, 2, 3}</a:t>
            </a:r>
          </a:p>
        </p:txBody>
      </p:sp>
      <p:sp>
        <p:nvSpPr>
          <p:cNvPr id="15" name="a1wd600_td14"/>
          <p:cNvSpPr/>
          <p:nvPr/>
        </p:nvSpPr>
        <p:spPr>
          <a:xfrm>
            <a:off x="457200" y="2953512"/>
            <a:ext cx="2148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wd600_tdt15"/>
          <p:cNvSpPr txBox="1"/>
          <p:nvPr/>
        </p:nvSpPr>
        <p:spPr>
          <a:xfrm>
            <a:off x="530352" y="2953512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10-element tuple</a:t>
            </a:r>
          </a:p>
        </p:txBody>
      </p:sp>
      <p:sp>
        <p:nvSpPr>
          <p:cNvPr id="17" name="a1f_th16"/>
          <p:cNvSpPr/>
          <p:nvPr/>
        </p:nvSpPr>
        <p:spPr>
          <a:xfrm>
            <a:off x="2606040" y="1399031"/>
            <a:ext cx="82296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f_tht17"/>
          <p:cNvSpPr txBox="1"/>
          <p:nvPr/>
        </p:nvSpPr>
        <p:spPr>
          <a:xfrm>
            <a:off x="2679192" y="1399031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Words</a:t>
            </a:r>
          </a:p>
        </p:txBody>
      </p:sp>
      <p:sp>
        <p:nvSpPr>
          <p:cNvPr id="19" name="a1wd120_td18"/>
          <p:cNvSpPr/>
          <p:nvPr/>
        </p:nvSpPr>
        <p:spPr>
          <a:xfrm>
            <a:off x="2606040" y="1709928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wd120_tdt19"/>
          <p:cNvSpPr txBox="1"/>
          <p:nvPr/>
        </p:nvSpPr>
        <p:spPr>
          <a:xfrm>
            <a:off x="2679192" y="1709928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21" name="a1wd240_td20"/>
          <p:cNvSpPr/>
          <p:nvPr/>
        </p:nvSpPr>
        <p:spPr>
          <a:xfrm>
            <a:off x="2606040" y="2020824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wd240_tdt21"/>
          <p:cNvSpPr txBox="1"/>
          <p:nvPr/>
        </p:nvSpPr>
        <p:spPr>
          <a:xfrm>
            <a:off x="2679192" y="2020824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</a:t>
            </a:r>
          </a:p>
        </p:txBody>
      </p:sp>
      <p:sp>
        <p:nvSpPr>
          <p:cNvPr id="23" name="a1wd360_td22"/>
          <p:cNvSpPr/>
          <p:nvPr/>
        </p:nvSpPr>
        <p:spPr>
          <a:xfrm>
            <a:off x="2606040" y="2331720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wd360_tdt23"/>
          <p:cNvSpPr txBox="1"/>
          <p:nvPr/>
        </p:nvSpPr>
        <p:spPr>
          <a:xfrm>
            <a:off x="2679192" y="2331720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25" name="a1wd480_td24"/>
          <p:cNvSpPr/>
          <p:nvPr/>
        </p:nvSpPr>
        <p:spPr>
          <a:xfrm>
            <a:off x="2606040" y="2642615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1wd480_tdt25"/>
          <p:cNvSpPr txBox="1"/>
          <p:nvPr/>
        </p:nvSpPr>
        <p:spPr>
          <a:xfrm>
            <a:off x="2679192" y="2642615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4</a:t>
            </a:r>
          </a:p>
        </p:txBody>
      </p:sp>
      <p:sp>
        <p:nvSpPr>
          <p:cNvPr id="27" name="a1wd600_td26"/>
          <p:cNvSpPr/>
          <p:nvPr/>
        </p:nvSpPr>
        <p:spPr>
          <a:xfrm>
            <a:off x="2606040" y="2953512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1wd600_tdt27"/>
          <p:cNvSpPr txBox="1"/>
          <p:nvPr/>
        </p:nvSpPr>
        <p:spPr>
          <a:xfrm>
            <a:off x="2679192" y="29535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11</a:t>
            </a:r>
          </a:p>
        </p:txBody>
      </p:sp>
      <p:sp>
        <p:nvSpPr>
          <p:cNvPr id="29" name="a1f_th28"/>
          <p:cNvSpPr/>
          <p:nvPr/>
        </p:nvSpPr>
        <p:spPr>
          <a:xfrm>
            <a:off x="3429000" y="1399031"/>
            <a:ext cx="82296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1f_tht29"/>
          <p:cNvSpPr txBox="1"/>
          <p:nvPr/>
        </p:nvSpPr>
        <p:spPr>
          <a:xfrm>
            <a:off x="3502152" y="1399031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Bytes</a:t>
            </a:r>
          </a:p>
        </p:txBody>
      </p:sp>
      <p:sp>
        <p:nvSpPr>
          <p:cNvPr id="31" name="a1wd120_td30"/>
          <p:cNvSpPr/>
          <p:nvPr/>
        </p:nvSpPr>
        <p:spPr>
          <a:xfrm>
            <a:off x="3429000" y="1709928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1wd120_tdt31"/>
          <p:cNvSpPr txBox="1"/>
          <p:nvPr/>
        </p:nvSpPr>
        <p:spPr>
          <a:xfrm>
            <a:off x="3502152" y="1709928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33" name="a1wd240_td32"/>
          <p:cNvSpPr/>
          <p:nvPr/>
        </p:nvSpPr>
        <p:spPr>
          <a:xfrm>
            <a:off x="3429000" y="2020824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1wd240_tdt33"/>
          <p:cNvSpPr txBox="1"/>
          <p:nvPr/>
        </p:nvSpPr>
        <p:spPr>
          <a:xfrm>
            <a:off x="3502152" y="2020824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16</a:t>
            </a:r>
          </a:p>
        </p:txBody>
      </p:sp>
      <p:sp>
        <p:nvSpPr>
          <p:cNvPr id="35" name="a1wd360_td34"/>
          <p:cNvSpPr/>
          <p:nvPr/>
        </p:nvSpPr>
        <p:spPr>
          <a:xfrm>
            <a:off x="3429000" y="2331720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1wd360_tdt35"/>
          <p:cNvSpPr txBox="1"/>
          <p:nvPr/>
        </p:nvSpPr>
        <p:spPr>
          <a:xfrm>
            <a:off x="3502152" y="2331720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24</a:t>
            </a:r>
          </a:p>
        </p:txBody>
      </p:sp>
      <p:sp>
        <p:nvSpPr>
          <p:cNvPr id="37" name="a1wd480_td36"/>
          <p:cNvSpPr/>
          <p:nvPr/>
        </p:nvSpPr>
        <p:spPr>
          <a:xfrm>
            <a:off x="3429000" y="2642615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1wd480_tdt37"/>
          <p:cNvSpPr txBox="1"/>
          <p:nvPr/>
        </p:nvSpPr>
        <p:spPr>
          <a:xfrm>
            <a:off x="3502152" y="2642615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32</a:t>
            </a:r>
          </a:p>
        </p:txBody>
      </p:sp>
      <p:sp>
        <p:nvSpPr>
          <p:cNvPr id="39" name="a1wd600_td38"/>
          <p:cNvSpPr/>
          <p:nvPr/>
        </p:nvSpPr>
        <p:spPr>
          <a:xfrm>
            <a:off x="3429000" y="2953512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1wd600_tdt39"/>
          <p:cNvSpPr txBox="1"/>
          <p:nvPr/>
        </p:nvSpPr>
        <p:spPr>
          <a:xfrm>
            <a:off x="3502152" y="29535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88</a:t>
            </a:r>
          </a:p>
        </p:txBody>
      </p:sp>
      <p:sp>
        <p:nvSpPr>
          <p:cNvPr id="41" name="a2u_dot40"/>
          <p:cNvSpPr/>
          <p:nvPr/>
        </p:nvSpPr>
        <p:spPr>
          <a:xfrm>
            <a:off x="4526280" y="153619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2u_b41"/>
          <p:cNvSpPr txBox="1"/>
          <p:nvPr/>
        </p:nvSpPr>
        <p:spPr>
          <a:xfrm>
            <a:off x="4745736" y="1435607"/>
            <a:ext cx="3941063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elem/2 is constant time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elements sit next to each other in memory</a:t>
            </a:r>
          </a:p>
        </p:txBody>
      </p:sp>
      <p:sp>
        <p:nvSpPr>
          <p:cNvPr id="43" name="a2ud180_dot42"/>
          <p:cNvSpPr/>
          <p:nvPr/>
        </p:nvSpPr>
        <p:spPr>
          <a:xfrm>
            <a:off x="4526280" y="228599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2ud180_b43"/>
          <p:cNvSpPr txBox="1"/>
          <p:nvPr/>
        </p:nvSpPr>
        <p:spPr>
          <a:xfrm>
            <a:off x="4745736" y="2185415"/>
            <a:ext cx="3941063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put_elem/3 copies the tuple  </a:t>
            </a:r>
            <a:r>
              <a:rPr sz="1150" b="0">
                <a:solidFill>
                  <a:srgbClr val="334155"/>
                </a:solidFill>
                <a:latin typeface="Calibri"/>
              </a:rPr>
              <a:t>so building one element at a time is quadratic</a:t>
            </a:r>
          </a:p>
        </p:txBody>
      </p:sp>
      <p:sp>
        <p:nvSpPr>
          <p:cNvPr id="45" name="a2ud360_dot44"/>
          <p:cNvSpPr/>
          <p:nvPr/>
        </p:nvSpPr>
        <p:spPr>
          <a:xfrm>
            <a:off x="4526280" y="303580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a2ud360_b45"/>
          <p:cNvSpPr txBox="1"/>
          <p:nvPr/>
        </p:nvSpPr>
        <p:spPr>
          <a:xfrm>
            <a:off x="4745736" y="2935223"/>
            <a:ext cx="3941063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Use for fixed shapes  </a:t>
            </a:r>
            <a:r>
              <a:rPr sz="1150" b="0">
                <a:solidFill>
                  <a:srgbClr val="334155"/>
                </a:solidFill>
                <a:latin typeface="Calibri"/>
              </a:rPr>
              <a:t>{:ok, value} and {:error, reason} are the idiom</a:t>
            </a:r>
          </a:p>
        </p:txBody>
      </p:sp>
      <p:sp>
        <p:nvSpPr>
          <p:cNvPr id="47" name="a3f_nb46"/>
          <p:cNvSpPr/>
          <p:nvPr/>
        </p:nvSpPr>
        <p:spPr>
          <a:xfrm>
            <a:off x="457200" y="38130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3f_nacc47"/>
          <p:cNvSpPr/>
          <p:nvPr/>
        </p:nvSpPr>
        <p:spPr>
          <a:xfrm>
            <a:off x="457200" y="3813048"/>
            <a:ext cx="50292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a3f_nt48"/>
          <p:cNvSpPr txBox="1"/>
          <p:nvPr/>
        </p:nvSpPr>
        <p:spPr>
          <a:xfrm>
            <a:off x="658368" y="3813048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i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empty tuple measures 0 words because it is a shared constant - there is nothing to allocate.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COLLECTIONS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Lists — singly linked, two words per cell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word for the value, one for the pointer to the rest.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99031"/>
            <a:ext cx="214884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tht5"/>
          <p:cNvSpPr txBox="1"/>
          <p:nvPr/>
        </p:nvSpPr>
        <p:spPr>
          <a:xfrm>
            <a:off x="530352" y="1399031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List</a:t>
            </a:r>
          </a:p>
        </p:txBody>
      </p:sp>
      <p:sp>
        <p:nvSpPr>
          <p:cNvPr id="7" name="a1wd100_td6"/>
          <p:cNvSpPr/>
          <p:nvPr/>
        </p:nvSpPr>
        <p:spPr>
          <a:xfrm>
            <a:off x="457200" y="1691639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wd100_tdt7"/>
          <p:cNvSpPr txBox="1"/>
          <p:nvPr/>
        </p:nvSpPr>
        <p:spPr>
          <a:xfrm>
            <a:off x="530352" y="1691639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[]</a:t>
            </a:r>
          </a:p>
        </p:txBody>
      </p:sp>
      <p:sp>
        <p:nvSpPr>
          <p:cNvPr id="9" name="a1wd200_td8"/>
          <p:cNvSpPr/>
          <p:nvPr/>
        </p:nvSpPr>
        <p:spPr>
          <a:xfrm>
            <a:off x="457200" y="1984248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wd200_tdt9"/>
          <p:cNvSpPr txBox="1"/>
          <p:nvPr/>
        </p:nvSpPr>
        <p:spPr>
          <a:xfrm>
            <a:off x="530352" y="1984248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[1]</a:t>
            </a:r>
          </a:p>
        </p:txBody>
      </p:sp>
      <p:sp>
        <p:nvSpPr>
          <p:cNvPr id="11" name="a1wd300_td10"/>
          <p:cNvSpPr/>
          <p:nvPr/>
        </p:nvSpPr>
        <p:spPr>
          <a:xfrm>
            <a:off x="457200" y="2276856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wd300_tdt11"/>
          <p:cNvSpPr txBox="1"/>
          <p:nvPr/>
        </p:nvSpPr>
        <p:spPr>
          <a:xfrm>
            <a:off x="530352" y="2276856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[1, 2]</a:t>
            </a:r>
          </a:p>
        </p:txBody>
      </p:sp>
      <p:sp>
        <p:nvSpPr>
          <p:cNvPr id="13" name="a1wd400_td12"/>
          <p:cNvSpPr/>
          <p:nvPr/>
        </p:nvSpPr>
        <p:spPr>
          <a:xfrm>
            <a:off x="457200" y="2569463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wd400_tdt13"/>
          <p:cNvSpPr txBox="1"/>
          <p:nvPr/>
        </p:nvSpPr>
        <p:spPr>
          <a:xfrm>
            <a:off x="530352" y="2569463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[1, 2, 3]</a:t>
            </a:r>
          </a:p>
        </p:txBody>
      </p:sp>
      <p:sp>
        <p:nvSpPr>
          <p:cNvPr id="15" name="a1wd500_td14"/>
          <p:cNvSpPr/>
          <p:nvPr/>
        </p:nvSpPr>
        <p:spPr>
          <a:xfrm>
            <a:off x="457200" y="2862072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wd500_tdt15"/>
          <p:cNvSpPr txBox="1"/>
          <p:nvPr/>
        </p:nvSpPr>
        <p:spPr>
          <a:xfrm>
            <a:off x="530352" y="2862072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10 elements</a:t>
            </a:r>
          </a:p>
        </p:txBody>
      </p:sp>
      <p:sp>
        <p:nvSpPr>
          <p:cNvPr id="17" name="a1wd600_td16"/>
          <p:cNvSpPr/>
          <p:nvPr/>
        </p:nvSpPr>
        <p:spPr>
          <a:xfrm>
            <a:off x="457200" y="3154679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wd600_tdt17"/>
          <p:cNvSpPr txBox="1"/>
          <p:nvPr/>
        </p:nvSpPr>
        <p:spPr>
          <a:xfrm>
            <a:off x="530352" y="3154679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100 elements</a:t>
            </a:r>
          </a:p>
        </p:txBody>
      </p:sp>
      <p:sp>
        <p:nvSpPr>
          <p:cNvPr id="19" name="a1f_th18"/>
          <p:cNvSpPr/>
          <p:nvPr/>
        </p:nvSpPr>
        <p:spPr>
          <a:xfrm>
            <a:off x="2606040" y="1399031"/>
            <a:ext cx="82296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f_tht19"/>
          <p:cNvSpPr txBox="1"/>
          <p:nvPr/>
        </p:nvSpPr>
        <p:spPr>
          <a:xfrm>
            <a:off x="2679192" y="1399031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Words</a:t>
            </a:r>
          </a:p>
        </p:txBody>
      </p:sp>
      <p:sp>
        <p:nvSpPr>
          <p:cNvPr id="21" name="a1wd100_td20"/>
          <p:cNvSpPr/>
          <p:nvPr/>
        </p:nvSpPr>
        <p:spPr>
          <a:xfrm>
            <a:off x="2606040" y="1691639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wd100_tdt21"/>
          <p:cNvSpPr txBox="1"/>
          <p:nvPr/>
        </p:nvSpPr>
        <p:spPr>
          <a:xfrm>
            <a:off x="2679192" y="1691639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23" name="a1wd200_td22"/>
          <p:cNvSpPr/>
          <p:nvPr/>
        </p:nvSpPr>
        <p:spPr>
          <a:xfrm>
            <a:off x="2606040" y="198424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wd200_tdt23"/>
          <p:cNvSpPr txBox="1"/>
          <p:nvPr/>
        </p:nvSpPr>
        <p:spPr>
          <a:xfrm>
            <a:off x="2679192" y="1984248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</a:t>
            </a:r>
          </a:p>
        </p:txBody>
      </p:sp>
      <p:sp>
        <p:nvSpPr>
          <p:cNvPr id="25" name="a1wd300_td24"/>
          <p:cNvSpPr/>
          <p:nvPr/>
        </p:nvSpPr>
        <p:spPr>
          <a:xfrm>
            <a:off x="2606040" y="2276856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1wd300_tdt25"/>
          <p:cNvSpPr txBox="1"/>
          <p:nvPr/>
        </p:nvSpPr>
        <p:spPr>
          <a:xfrm>
            <a:off x="2679192" y="2276856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4</a:t>
            </a:r>
          </a:p>
        </p:txBody>
      </p:sp>
      <p:sp>
        <p:nvSpPr>
          <p:cNvPr id="27" name="a1wd400_td26"/>
          <p:cNvSpPr/>
          <p:nvPr/>
        </p:nvSpPr>
        <p:spPr>
          <a:xfrm>
            <a:off x="2606040" y="2569463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1wd400_tdt27"/>
          <p:cNvSpPr txBox="1"/>
          <p:nvPr/>
        </p:nvSpPr>
        <p:spPr>
          <a:xfrm>
            <a:off x="2679192" y="2569463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6</a:t>
            </a:r>
          </a:p>
        </p:txBody>
      </p:sp>
      <p:sp>
        <p:nvSpPr>
          <p:cNvPr id="29" name="a1wd500_td28"/>
          <p:cNvSpPr/>
          <p:nvPr/>
        </p:nvSpPr>
        <p:spPr>
          <a:xfrm>
            <a:off x="2606040" y="286207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1wd500_tdt29"/>
          <p:cNvSpPr txBox="1"/>
          <p:nvPr/>
        </p:nvSpPr>
        <p:spPr>
          <a:xfrm>
            <a:off x="2679192" y="2862072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20</a:t>
            </a:r>
          </a:p>
        </p:txBody>
      </p:sp>
      <p:sp>
        <p:nvSpPr>
          <p:cNvPr id="31" name="a1wd600_td30"/>
          <p:cNvSpPr/>
          <p:nvPr/>
        </p:nvSpPr>
        <p:spPr>
          <a:xfrm>
            <a:off x="2606040" y="3154679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1wd600_tdt31"/>
          <p:cNvSpPr txBox="1"/>
          <p:nvPr/>
        </p:nvSpPr>
        <p:spPr>
          <a:xfrm>
            <a:off x="2679192" y="3154679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200</a:t>
            </a:r>
          </a:p>
        </p:txBody>
      </p:sp>
      <p:sp>
        <p:nvSpPr>
          <p:cNvPr id="33" name="a1f_th32"/>
          <p:cNvSpPr/>
          <p:nvPr/>
        </p:nvSpPr>
        <p:spPr>
          <a:xfrm>
            <a:off x="3429000" y="1399031"/>
            <a:ext cx="82296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1f_tht33"/>
          <p:cNvSpPr txBox="1"/>
          <p:nvPr/>
        </p:nvSpPr>
        <p:spPr>
          <a:xfrm>
            <a:off x="3502152" y="1399031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Bytes</a:t>
            </a:r>
          </a:p>
        </p:txBody>
      </p:sp>
      <p:sp>
        <p:nvSpPr>
          <p:cNvPr id="35" name="a1wd100_td34"/>
          <p:cNvSpPr/>
          <p:nvPr/>
        </p:nvSpPr>
        <p:spPr>
          <a:xfrm>
            <a:off x="3429000" y="1691639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1wd100_tdt35"/>
          <p:cNvSpPr txBox="1"/>
          <p:nvPr/>
        </p:nvSpPr>
        <p:spPr>
          <a:xfrm>
            <a:off x="3502152" y="1691639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37" name="a1wd200_td36"/>
          <p:cNvSpPr/>
          <p:nvPr/>
        </p:nvSpPr>
        <p:spPr>
          <a:xfrm>
            <a:off x="3429000" y="198424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1wd200_tdt37"/>
          <p:cNvSpPr txBox="1"/>
          <p:nvPr/>
        </p:nvSpPr>
        <p:spPr>
          <a:xfrm>
            <a:off x="3502152" y="1984248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16</a:t>
            </a:r>
          </a:p>
        </p:txBody>
      </p:sp>
      <p:sp>
        <p:nvSpPr>
          <p:cNvPr id="39" name="a1wd300_td38"/>
          <p:cNvSpPr/>
          <p:nvPr/>
        </p:nvSpPr>
        <p:spPr>
          <a:xfrm>
            <a:off x="3429000" y="2276856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1wd300_tdt39"/>
          <p:cNvSpPr txBox="1"/>
          <p:nvPr/>
        </p:nvSpPr>
        <p:spPr>
          <a:xfrm>
            <a:off x="3502152" y="2276856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32</a:t>
            </a:r>
          </a:p>
        </p:txBody>
      </p:sp>
      <p:sp>
        <p:nvSpPr>
          <p:cNvPr id="41" name="a1wd400_td40"/>
          <p:cNvSpPr/>
          <p:nvPr/>
        </p:nvSpPr>
        <p:spPr>
          <a:xfrm>
            <a:off x="3429000" y="2569463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1wd400_tdt41"/>
          <p:cNvSpPr txBox="1"/>
          <p:nvPr/>
        </p:nvSpPr>
        <p:spPr>
          <a:xfrm>
            <a:off x="3502152" y="2569463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48</a:t>
            </a:r>
          </a:p>
        </p:txBody>
      </p:sp>
      <p:sp>
        <p:nvSpPr>
          <p:cNvPr id="43" name="a1wd500_td42"/>
          <p:cNvSpPr/>
          <p:nvPr/>
        </p:nvSpPr>
        <p:spPr>
          <a:xfrm>
            <a:off x="3429000" y="286207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1wd500_tdt43"/>
          <p:cNvSpPr txBox="1"/>
          <p:nvPr/>
        </p:nvSpPr>
        <p:spPr>
          <a:xfrm>
            <a:off x="3502152" y="2862072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160</a:t>
            </a:r>
          </a:p>
        </p:txBody>
      </p:sp>
      <p:sp>
        <p:nvSpPr>
          <p:cNvPr id="45" name="a1wd600_td44"/>
          <p:cNvSpPr/>
          <p:nvPr/>
        </p:nvSpPr>
        <p:spPr>
          <a:xfrm>
            <a:off x="3429000" y="3154679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a1wd600_tdt45"/>
          <p:cNvSpPr txBox="1"/>
          <p:nvPr/>
        </p:nvSpPr>
        <p:spPr>
          <a:xfrm>
            <a:off x="3502152" y="3154679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1600</a:t>
            </a:r>
          </a:p>
        </p:txBody>
      </p:sp>
      <p:sp>
        <p:nvSpPr>
          <p:cNvPr id="47" name="a2u_dot46"/>
          <p:cNvSpPr/>
          <p:nvPr/>
        </p:nvSpPr>
        <p:spPr>
          <a:xfrm>
            <a:off x="4526280" y="153619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2u_b47"/>
          <p:cNvSpPr txBox="1"/>
          <p:nvPr/>
        </p:nvSpPr>
        <p:spPr>
          <a:xfrm>
            <a:off x="4745736" y="1435607"/>
            <a:ext cx="3941063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Exactly 2 words per element  </a:t>
            </a:r>
            <a:r>
              <a:rPr sz="1150" b="0">
                <a:solidFill>
                  <a:srgbClr val="334155"/>
                </a:solidFill>
                <a:latin typeface="Calibri"/>
              </a:rPr>
              <a:t>100 elements measured 200 words - the pattern is perfectly linear</a:t>
            </a:r>
          </a:p>
        </p:txBody>
      </p:sp>
      <p:sp>
        <p:nvSpPr>
          <p:cNvPr id="49" name="a2ud180_dot48"/>
          <p:cNvSpPr/>
          <p:nvPr/>
        </p:nvSpPr>
        <p:spPr>
          <a:xfrm>
            <a:off x="4526280" y="228599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a2ud180_b49"/>
          <p:cNvSpPr txBox="1"/>
          <p:nvPr/>
        </p:nvSpPr>
        <p:spPr>
          <a:xfrm>
            <a:off x="4745736" y="2185415"/>
            <a:ext cx="3941063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Prepend is O(1)  </a:t>
            </a:r>
            <a:r>
              <a:rPr sz="1150" b="0">
                <a:solidFill>
                  <a:srgbClr val="334155"/>
                </a:solidFill>
                <a:latin typeface="Calibri"/>
              </a:rPr>
              <a:t>[head | tail] allocates one cell and points at the existing tail</a:t>
            </a:r>
          </a:p>
        </p:txBody>
      </p:sp>
      <p:sp>
        <p:nvSpPr>
          <p:cNvPr id="51" name="a2ud360_dot50"/>
          <p:cNvSpPr/>
          <p:nvPr/>
        </p:nvSpPr>
        <p:spPr>
          <a:xfrm>
            <a:off x="4526280" y="303580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a2ud360_b51"/>
          <p:cNvSpPr txBox="1"/>
          <p:nvPr/>
        </p:nvSpPr>
        <p:spPr>
          <a:xfrm>
            <a:off x="4745736" y="2935223"/>
            <a:ext cx="3941063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Append is O(n)  </a:t>
            </a:r>
            <a:r>
              <a:rPr sz="1150" b="0">
                <a:solidFill>
                  <a:srgbClr val="334155"/>
                </a:solidFill>
                <a:latin typeface="Calibri"/>
              </a:rPr>
              <a:t>list ++ [x] copies the whole left list - never do this in a loop</a:t>
            </a:r>
          </a:p>
        </p:txBody>
      </p:sp>
      <p:sp>
        <p:nvSpPr>
          <p:cNvPr id="53" name="a3f_nb52"/>
          <p:cNvSpPr/>
          <p:nvPr/>
        </p:nvSpPr>
        <p:spPr>
          <a:xfrm>
            <a:off x="457200" y="38130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a3f_nacc53"/>
          <p:cNvSpPr/>
          <p:nvPr/>
        </p:nvSpPr>
        <p:spPr>
          <a:xfrm>
            <a:off x="457200" y="3813048"/>
            <a:ext cx="50292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a3f_nt54"/>
          <p:cNvSpPr txBox="1"/>
          <p:nvPr/>
        </p:nvSpPr>
        <p:spPr>
          <a:xfrm>
            <a:off x="658368" y="3813048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idiom is: build the list backwards with prepends, then call Enum.reverse/1 once. That is O(n) instead of O(n²).</a:t>
            </a:r>
          </a:p>
        </p:txBody>
      </p:sp>
      <p:sp>
        <p:nvSpPr>
          <p:cNvPr id="56" name="ft5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57" name="ft5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COLLECTIONS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List or tuple?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They are not interchangeable — they answer different questions.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99031"/>
            <a:ext cx="4014215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_acc5"/>
          <p:cNvSpPr/>
          <p:nvPr/>
        </p:nvSpPr>
        <p:spPr>
          <a:xfrm>
            <a:off x="457200" y="1399031"/>
            <a:ext cx="4014215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90_ct6"/>
          <p:cNvSpPr txBox="1"/>
          <p:nvPr/>
        </p:nvSpPr>
        <p:spPr>
          <a:xfrm>
            <a:off x="621792" y="1600199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Use a list · variable length</a:t>
            </a:r>
          </a:p>
        </p:txBody>
      </p:sp>
      <p:sp>
        <p:nvSpPr>
          <p:cNvPr id="8" name="a1ud150_cb7"/>
          <p:cNvSpPr txBox="1"/>
          <p:nvPr/>
        </p:nvSpPr>
        <p:spPr>
          <a:xfrm>
            <a:off x="621792" y="1874519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You iterate it; the count varies</a:t>
            </a:r>
          </a:p>
        </p:txBody>
      </p:sp>
      <p:sp>
        <p:nvSpPr>
          <p:cNvPr id="9" name="a1ud220_cb8"/>
          <p:cNvSpPr txBox="1"/>
          <p:nvPr/>
        </p:nvSpPr>
        <p:spPr>
          <a:xfrm>
            <a:off x="621792" y="2258568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You prepend as you build</a:t>
            </a:r>
          </a:p>
        </p:txBody>
      </p:sp>
      <p:sp>
        <p:nvSpPr>
          <p:cNvPr id="10" name="a2u_card9"/>
          <p:cNvSpPr/>
          <p:nvPr/>
        </p:nvSpPr>
        <p:spPr>
          <a:xfrm>
            <a:off x="4672583" y="1399031"/>
            <a:ext cx="4014215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2u_acc10"/>
          <p:cNvSpPr/>
          <p:nvPr/>
        </p:nvSpPr>
        <p:spPr>
          <a:xfrm>
            <a:off x="4672583" y="1399031"/>
            <a:ext cx="401421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2ud90_ct11"/>
          <p:cNvSpPr txBox="1"/>
          <p:nvPr/>
        </p:nvSpPr>
        <p:spPr>
          <a:xfrm>
            <a:off x="4837175" y="1600199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Use a tuple · fixed shape</a:t>
            </a:r>
          </a:p>
        </p:txBody>
      </p:sp>
      <p:sp>
        <p:nvSpPr>
          <p:cNvPr id="13" name="a2ud150_cb12"/>
          <p:cNvSpPr txBox="1"/>
          <p:nvPr/>
        </p:nvSpPr>
        <p:spPr>
          <a:xfrm>
            <a:off x="4837175" y="1874519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Known number of fields</a:t>
            </a:r>
          </a:p>
        </p:txBody>
      </p:sp>
      <p:sp>
        <p:nvSpPr>
          <p:cNvPr id="14" name="a2ud220_cb13"/>
          <p:cNvSpPr txBox="1"/>
          <p:nvPr/>
        </p:nvSpPr>
        <p:spPr>
          <a:xfrm>
            <a:off x="4837175" y="2258568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{:ok, v} / {:error, reason}</a:t>
            </a:r>
          </a:p>
        </p:txBody>
      </p:sp>
      <p:sp>
        <p:nvSpPr>
          <p:cNvPr id="15" name="a3f_th14"/>
          <p:cNvSpPr/>
          <p:nvPr/>
        </p:nvSpPr>
        <p:spPr>
          <a:xfrm>
            <a:off x="457200" y="2916936"/>
            <a:ext cx="192024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3f_tht15"/>
          <p:cNvSpPr txBox="1"/>
          <p:nvPr/>
        </p:nvSpPr>
        <p:spPr>
          <a:xfrm>
            <a:off x="530352" y="2916936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17" name="a3wd110_td16"/>
          <p:cNvSpPr/>
          <p:nvPr/>
        </p:nvSpPr>
        <p:spPr>
          <a:xfrm>
            <a:off x="457200" y="3191256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3wd110_tdt17"/>
          <p:cNvSpPr txBox="1"/>
          <p:nvPr/>
        </p:nvSpPr>
        <p:spPr>
          <a:xfrm>
            <a:off x="530352" y="3191256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Length</a:t>
            </a:r>
          </a:p>
        </p:txBody>
      </p:sp>
      <p:sp>
        <p:nvSpPr>
          <p:cNvPr id="19" name="a3wd220_td18"/>
          <p:cNvSpPr/>
          <p:nvPr/>
        </p:nvSpPr>
        <p:spPr>
          <a:xfrm>
            <a:off x="457200" y="3465576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3wd220_tdt19"/>
          <p:cNvSpPr txBox="1"/>
          <p:nvPr/>
        </p:nvSpPr>
        <p:spPr>
          <a:xfrm>
            <a:off x="530352" y="3465576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Index access</a:t>
            </a:r>
          </a:p>
        </p:txBody>
      </p:sp>
      <p:sp>
        <p:nvSpPr>
          <p:cNvPr id="21" name="a3wd330_td20"/>
          <p:cNvSpPr/>
          <p:nvPr/>
        </p:nvSpPr>
        <p:spPr>
          <a:xfrm>
            <a:off x="457200" y="3739896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3wd330_tdt21"/>
          <p:cNvSpPr txBox="1"/>
          <p:nvPr/>
        </p:nvSpPr>
        <p:spPr>
          <a:xfrm>
            <a:off x="530352" y="3739896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Prepend</a:t>
            </a:r>
          </a:p>
        </p:txBody>
      </p:sp>
      <p:sp>
        <p:nvSpPr>
          <p:cNvPr id="23" name="a3wd440_td22"/>
          <p:cNvSpPr/>
          <p:nvPr/>
        </p:nvSpPr>
        <p:spPr>
          <a:xfrm>
            <a:off x="457200" y="4014215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wd440_tdt23"/>
          <p:cNvSpPr txBox="1"/>
          <p:nvPr/>
        </p:nvSpPr>
        <p:spPr>
          <a:xfrm>
            <a:off x="530352" y="4014215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Memory</a:t>
            </a:r>
          </a:p>
        </p:txBody>
      </p:sp>
      <p:sp>
        <p:nvSpPr>
          <p:cNvPr id="25" name="a3f_th24"/>
          <p:cNvSpPr/>
          <p:nvPr/>
        </p:nvSpPr>
        <p:spPr>
          <a:xfrm>
            <a:off x="2377440" y="2916936"/>
            <a:ext cx="288036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3f_tht25"/>
          <p:cNvSpPr txBox="1"/>
          <p:nvPr/>
        </p:nvSpPr>
        <p:spPr>
          <a:xfrm>
            <a:off x="2450592" y="291693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List</a:t>
            </a:r>
          </a:p>
        </p:txBody>
      </p:sp>
      <p:sp>
        <p:nvSpPr>
          <p:cNvPr id="27" name="a3wd110_td26"/>
          <p:cNvSpPr/>
          <p:nvPr/>
        </p:nvSpPr>
        <p:spPr>
          <a:xfrm>
            <a:off x="2377440" y="3191256"/>
            <a:ext cx="2880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3wd110_tdt27"/>
          <p:cNvSpPr txBox="1"/>
          <p:nvPr/>
        </p:nvSpPr>
        <p:spPr>
          <a:xfrm>
            <a:off x="2450592" y="319125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O(n) - it counts</a:t>
            </a:r>
          </a:p>
        </p:txBody>
      </p:sp>
      <p:sp>
        <p:nvSpPr>
          <p:cNvPr id="29" name="a3wd220_td28"/>
          <p:cNvSpPr/>
          <p:nvPr/>
        </p:nvSpPr>
        <p:spPr>
          <a:xfrm>
            <a:off x="2377440" y="3465576"/>
            <a:ext cx="2880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3wd220_tdt29"/>
          <p:cNvSpPr txBox="1"/>
          <p:nvPr/>
        </p:nvSpPr>
        <p:spPr>
          <a:xfrm>
            <a:off x="2450592" y="346557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O(n) - it walks</a:t>
            </a:r>
          </a:p>
        </p:txBody>
      </p:sp>
      <p:sp>
        <p:nvSpPr>
          <p:cNvPr id="31" name="a3wd330_td30"/>
          <p:cNvSpPr/>
          <p:nvPr/>
        </p:nvSpPr>
        <p:spPr>
          <a:xfrm>
            <a:off x="2377440" y="3739896"/>
            <a:ext cx="2880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3wd330_tdt31"/>
          <p:cNvSpPr txBox="1"/>
          <p:nvPr/>
        </p:nvSpPr>
        <p:spPr>
          <a:xfrm>
            <a:off x="2450592" y="373989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33" name="a3wd440_td32"/>
          <p:cNvSpPr/>
          <p:nvPr/>
        </p:nvSpPr>
        <p:spPr>
          <a:xfrm>
            <a:off x="2377440" y="4014215"/>
            <a:ext cx="2880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3wd440_tdt33"/>
          <p:cNvSpPr txBox="1"/>
          <p:nvPr/>
        </p:nvSpPr>
        <p:spPr>
          <a:xfrm>
            <a:off x="2450592" y="4014215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2 words per element</a:t>
            </a:r>
          </a:p>
        </p:txBody>
      </p:sp>
      <p:sp>
        <p:nvSpPr>
          <p:cNvPr id="35" name="a3f_th34"/>
          <p:cNvSpPr/>
          <p:nvPr/>
        </p:nvSpPr>
        <p:spPr>
          <a:xfrm>
            <a:off x="5257800" y="2916936"/>
            <a:ext cx="342900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3f_tht35"/>
          <p:cNvSpPr txBox="1"/>
          <p:nvPr/>
        </p:nvSpPr>
        <p:spPr>
          <a:xfrm>
            <a:off x="5330952" y="2916936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Tuple</a:t>
            </a:r>
          </a:p>
        </p:txBody>
      </p:sp>
      <p:sp>
        <p:nvSpPr>
          <p:cNvPr id="37" name="a3wd110_td36"/>
          <p:cNvSpPr/>
          <p:nvPr/>
        </p:nvSpPr>
        <p:spPr>
          <a:xfrm>
            <a:off x="5257800" y="3191256"/>
            <a:ext cx="3429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3wd110_tdt37"/>
          <p:cNvSpPr txBox="1"/>
          <p:nvPr/>
        </p:nvSpPr>
        <p:spPr>
          <a:xfrm>
            <a:off x="5330952" y="3191256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O(1) - stored in the header</a:t>
            </a:r>
          </a:p>
        </p:txBody>
      </p:sp>
      <p:sp>
        <p:nvSpPr>
          <p:cNvPr id="39" name="a3wd220_td38"/>
          <p:cNvSpPr/>
          <p:nvPr/>
        </p:nvSpPr>
        <p:spPr>
          <a:xfrm>
            <a:off x="5257800" y="3465576"/>
            <a:ext cx="3429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3wd220_tdt39"/>
          <p:cNvSpPr txBox="1"/>
          <p:nvPr/>
        </p:nvSpPr>
        <p:spPr>
          <a:xfrm>
            <a:off x="5330952" y="3465576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O(1) - direct offset</a:t>
            </a:r>
          </a:p>
        </p:txBody>
      </p:sp>
      <p:sp>
        <p:nvSpPr>
          <p:cNvPr id="41" name="a3wd330_td40"/>
          <p:cNvSpPr/>
          <p:nvPr/>
        </p:nvSpPr>
        <p:spPr>
          <a:xfrm>
            <a:off x="5257800" y="3739896"/>
            <a:ext cx="3429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3wd330_tdt41"/>
          <p:cNvSpPr txBox="1"/>
          <p:nvPr/>
        </p:nvSpPr>
        <p:spPr>
          <a:xfrm>
            <a:off x="5330952" y="3739896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O(n) - copies</a:t>
            </a:r>
          </a:p>
        </p:txBody>
      </p:sp>
      <p:sp>
        <p:nvSpPr>
          <p:cNvPr id="43" name="a3wd440_td42"/>
          <p:cNvSpPr/>
          <p:nvPr/>
        </p:nvSpPr>
        <p:spPr>
          <a:xfrm>
            <a:off x="5257800" y="4014215"/>
            <a:ext cx="3429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3wd440_tdt43"/>
          <p:cNvSpPr txBox="1"/>
          <p:nvPr/>
        </p:nvSpPr>
        <p:spPr>
          <a:xfrm>
            <a:off x="5330952" y="4014215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 + 1 words total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COLLECTIONS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Maps — two implementations, one syntax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Up to 32 keys a map is a flat array. At 33 it silently becomes a hash tree.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99031"/>
            <a:ext cx="169164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tht5"/>
          <p:cNvSpPr txBox="1"/>
          <p:nvPr/>
        </p:nvSpPr>
        <p:spPr>
          <a:xfrm>
            <a:off x="530352" y="1399031"/>
            <a:ext cx="15819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Map</a:t>
            </a:r>
          </a:p>
        </p:txBody>
      </p:sp>
      <p:sp>
        <p:nvSpPr>
          <p:cNvPr id="7" name="a1wd100_td6"/>
          <p:cNvSpPr/>
          <p:nvPr/>
        </p:nvSpPr>
        <p:spPr>
          <a:xfrm>
            <a:off x="457200" y="1691639"/>
            <a:ext cx="1691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wd100_tdt7"/>
          <p:cNvSpPr txBox="1"/>
          <p:nvPr/>
        </p:nvSpPr>
        <p:spPr>
          <a:xfrm>
            <a:off x="530352" y="1691639"/>
            <a:ext cx="15819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%{}</a:t>
            </a:r>
          </a:p>
        </p:txBody>
      </p:sp>
      <p:sp>
        <p:nvSpPr>
          <p:cNvPr id="9" name="a1wd200_td8"/>
          <p:cNvSpPr/>
          <p:nvPr/>
        </p:nvSpPr>
        <p:spPr>
          <a:xfrm>
            <a:off x="457200" y="1984248"/>
            <a:ext cx="1691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wd200_tdt9"/>
          <p:cNvSpPr txBox="1"/>
          <p:nvPr/>
        </p:nvSpPr>
        <p:spPr>
          <a:xfrm>
            <a:off x="530352" y="1984248"/>
            <a:ext cx="15819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%{a: 1}</a:t>
            </a:r>
          </a:p>
        </p:txBody>
      </p:sp>
      <p:sp>
        <p:nvSpPr>
          <p:cNvPr id="11" name="a1wd300_td10"/>
          <p:cNvSpPr/>
          <p:nvPr/>
        </p:nvSpPr>
        <p:spPr>
          <a:xfrm>
            <a:off x="457200" y="2276856"/>
            <a:ext cx="1691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wd300_tdt11"/>
          <p:cNvSpPr txBox="1"/>
          <p:nvPr/>
        </p:nvSpPr>
        <p:spPr>
          <a:xfrm>
            <a:off x="530352" y="2276856"/>
            <a:ext cx="15819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%{a: 1, b: 2}</a:t>
            </a:r>
          </a:p>
        </p:txBody>
      </p:sp>
      <p:sp>
        <p:nvSpPr>
          <p:cNvPr id="13" name="a1wd400_td12"/>
          <p:cNvSpPr/>
          <p:nvPr/>
        </p:nvSpPr>
        <p:spPr>
          <a:xfrm>
            <a:off x="457200" y="2569463"/>
            <a:ext cx="1691640" cy="29260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wd400_tdt13"/>
          <p:cNvSpPr txBox="1"/>
          <p:nvPr/>
        </p:nvSpPr>
        <p:spPr>
          <a:xfrm>
            <a:off x="530352" y="2569463"/>
            <a:ext cx="15819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32 keys</a:t>
            </a:r>
          </a:p>
        </p:txBody>
      </p:sp>
      <p:sp>
        <p:nvSpPr>
          <p:cNvPr id="15" name="a1wd500_td14"/>
          <p:cNvSpPr/>
          <p:nvPr/>
        </p:nvSpPr>
        <p:spPr>
          <a:xfrm>
            <a:off x="457200" y="2862072"/>
            <a:ext cx="1691640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wd500_tdt15"/>
          <p:cNvSpPr txBox="1"/>
          <p:nvPr/>
        </p:nvSpPr>
        <p:spPr>
          <a:xfrm>
            <a:off x="530352" y="2862072"/>
            <a:ext cx="15819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33 keys</a:t>
            </a:r>
          </a:p>
        </p:txBody>
      </p:sp>
      <p:sp>
        <p:nvSpPr>
          <p:cNvPr id="17" name="a1wd600_td16"/>
          <p:cNvSpPr/>
          <p:nvPr/>
        </p:nvSpPr>
        <p:spPr>
          <a:xfrm>
            <a:off x="457200" y="3154679"/>
            <a:ext cx="1691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wd600_tdt17"/>
          <p:cNvSpPr txBox="1"/>
          <p:nvPr/>
        </p:nvSpPr>
        <p:spPr>
          <a:xfrm>
            <a:off x="530352" y="3154679"/>
            <a:ext cx="15819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100 keys</a:t>
            </a:r>
          </a:p>
        </p:txBody>
      </p:sp>
      <p:sp>
        <p:nvSpPr>
          <p:cNvPr id="19" name="a1f_th18"/>
          <p:cNvSpPr/>
          <p:nvPr/>
        </p:nvSpPr>
        <p:spPr>
          <a:xfrm>
            <a:off x="2148840" y="1399031"/>
            <a:ext cx="77724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f_tht19"/>
          <p:cNvSpPr txBox="1"/>
          <p:nvPr/>
        </p:nvSpPr>
        <p:spPr>
          <a:xfrm>
            <a:off x="2221992" y="1399031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Words</a:t>
            </a:r>
          </a:p>
        </p:txBody>
      </p:sp>
      <p:sp>
        <p:nvSpPr>
          <p:cNvPr id="21" name="a1wd100_td20"/>
          <p:cNvSpPr/>
          <p:nvPr/>
        </p:nvSpPr>
        <p:spPr>
          <a:xfrm>
            <a:off x="2148840" y="1691639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wd100_tdt21"/>
          <p:cNvSpPr txBox="1"/>
          <p:nvPr/>
        </p:nvSpPr>
        <p:spPr>
          <a:xfrm>
            <a:off x="2221992" y="1691639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23" name="a1wd200_td22"/>
          <p:cNvSpPr/>
          <p:nvPr/>
        </p:nvSpPr>
        <p:spPr>
          <a:xfrm>
            <a:off x="2148840" y="1984248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wd200_tdt23"/>
          <p:cNvSpPr txBox="1"/>
          <p:nvPr/>
        </p:nvSpPr>
        <p:spPr>
          <a:xfrm>
            <a:off x="2221992" y="1984248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</a:t>
            </a:r>
          </a:p>
        </p:txBody>
      </p:sp>
      <p:sp>
        <p:nvSpPr>
          <p:cNvPr id="25" name="a1wd300_td24"/>
          <p:cNvSpPr/>
          <p:nvPr/>
        </p:nvSpPr>
        <p:spPr>
          <a:xfrm>
            <a:off x="2148840" y="2276856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1wd300_tdt25"/>
          <p:cNvSpPr txBox="1"/>
          <p:nvPr/>
        </p:nvSpPr>
        <p:spPr>
          <a:xfrm>
            <a:off x="2221992" y="2276856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8</a:t>
            </a:r>
          </a:p>
        </p:txBody>
      </p:sp>
      <p:sp>
        <p:nvSpPr>
          <p:cNvPr id="27" name="a1wd400_td26"/>
          <p:cNvSpPr/>
          <p:nvPr/>
        </p:nvSpPr>
        <p:spPr>
          <a:xfrm>
            <a:off x="2148840" y="2569463"/>
            <a:ext cx="777240" cy="29260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1wd400_tdt27"/>
          <p:cNvSpPr txBox="1"/>
          <p:nvPr/>
        </p:nvSpPr>
        <p:spPr>
          <a:xfrm>
            <a:off x="2221992" y="2569463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68</a:t>
            </a:r>
          </a:p>
        </p:txBody>
      </p:sp>
      <p:sp>
        <p:nvSpPr>
          <p:cNvPr id="29" name="a1wd500_td28"/>
          <p:cNvSpPr/>
          <p:nvPr/>
        </p:nvSpPr>
        <p:spPr>
          <a:xfrm>
            <a:off x="2148840" y="2862072"/>
            <a:ext cx="777240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1wd500_tdt29"/>
          <p:cNvSpPr txBox="1"/>
          <p:nvPr/>
        </p:nvSpPr>
        <p:spPr>
          <a:xfrm>
            <a:off x="2221992" y="2862072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123</a:t>
            </a:r>
          </a:p>
        </p:txBody>
      </p:sp>
      <p:sp>
        <p:nvSpPr>
          <p:cNvPr id="31" name="a1wd600_td30"/>
          <p:cNvSpPr/>
          <p:nvPr/>
        </p:nvSpPr>
        <p:spPr>
          <a:xfrm>
            <a:off x="2148840" y="3154679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1wd600_tdt31"/>
          <p:cNvSpPr txBox="1"/>
          <p:nvPr/>
        </p:nvSpPr>
        <p:spPr>
          <a:xfrm>
            <a:off x="2221992" y="3154679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364</a:t>
            </a:r>
          </a:p>
        </p:txBody>
      </p:sp>
      <p:sp>
        <p:nvSpPr>
          <p:cNvPr id="33" name="a1f_th32"/>
          <p:cNvSpPr/>
          <p:nvPr/>
        </p:nvSpPr>
        <p:spPr>
          <a:xfrm>
            <a:off x="2926080" y="1399031"/>
            <a:ext cx="77724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1f_tht33"/>
          <p:cNvSpPr txBox="1"/>
          <p:nvPr/>
        </p:nvSpPr>
        <p:spPr>
          <a:xfrm>
            <a:off x="2999232" y="1399031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Bytes</a:t>
            </a:r>
          </a:p>
        </p:txBody>
      </p:sp>
      <p:sp>
        <p:nvSpPr>
          <p:cNvPr id="35" name="a1wd100_td34"/>
          <p:cNvSpPr/>
          <p:nvPr/>
        </p:nvSpPr>
        <p:spPr>
          <a:xfrm>
            <a:off x="2926080" y="1691639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1wd100_tdt35"/>
          <p:cNvSpPr txBox="1"/>
          <p:nvPr/>
        </p:nvSpPr>
        <p:spPr>
          <a:xfrm>
            <a:off x="2999232" y="1691639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24</a:t>
            </a:r>
          </a:p>
        </p:txBody>
      </p:sp>
      <p:sp>
        <p:nvSpPr>
          <p:cNvPr id="37" name="a1wd200_td36"/>
          <p:cNvSpPr/>
          <p:nvPr/>
        </p:nvSpPr>
        <p:spPr>
          <a:xfrm>
            <a:off x="2926080" y="1984248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1wd200_tdt37"/>
          <p:cNvSpPr txBox="1"/>
          <p:nvPr/>
        </p:nvSpPr>
        <p:spPr>
          <a:xfrm>
            <a:off x="2999232" y="1984248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48</a:t>
            </a:r>
          </a:p>
        </p:txBody>
      </p:sp>
      <p:sp>
        <p:nvSpPr>
          <p:cNvPr id="39" name="a1wd300_td38"/>
          <p:cNvSpPr/>
          <p:nvPr/>
        </p:nvSpPr>
        <p:spPr>
          <a:xfrm>
            <a:off x="2926080" y="2276856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1wd300_tdt39"/>
          <p:cNvSpPr txBox="1"/>
          <p:nvPr/>
        </p:nvSpPr>
        <p:spPr>
          <a:xfrm>
            <a:off x="2999232" y="2276856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64</a:t>
            </a:r>
          </a:p>
        </p:txBody>
      </p:sp>
      <p:sp>
        <p:nvSpPr>
          <p:cNvPr id="41" name="a1wd400_td40"/>
          <p:cNvSpPr/>
          <p:nvPr/>
        </p:nvSpPr>
        <p:spPr>
          <a:xfrm>
            <a:off x="2926080" y="2569463"/>
            <a:ext cx="777240" cy="29260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1wd400_tdt41"/>
          <p:cNvSpPr txBox="1"/>
          <p:nvPr/>
        </p:nvSpPr>
        <p:spPr>
          <a:xfrm>
            <a:off x="2999232" y="2569463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544</a:t>
            </a:r>
          </a:p>
        </p:txBody>
      </p:sp>
      <p:sp>
        <p:nvSpPr>
          <p:cNvPr id="43" name="a1wd500_td42"/>
          <p:cNvSpPr/>
          <p:nvPr/>
        </p:nvSpPr>
        <p:spPr>
          <a:xfrm>
            <a:off x="2926080" y="2862072"/>
            <a:ext cx="777240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1wd500_tdt43"/>
          <p:cNvSpPr txBox="1"/>
          <p:nvPr/>
        </p:nvSpPr>
        <p:spPr>
          <a:xfrm>
            <a:off x="2999232" y="2862072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984</a:t>
            </a:r>
          </a:p>
        </p:txBody>
      </p:sp>
      <p:sp>
        <p:nvSpPr>
          <p:cNvPr id="45" name="a1wd600_td44"/>
          <p:cNvSpPr/>
          <p:nvPr/>
        </p:nvSpPr>
        <p:spPr>
          <a:xfrm>
            <a:off x="2926080" y="3154679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a1wd600_tdt45"/>
          <p:cNvSpPr txBox="1"/>
          <p:nvPr/>
        </p:nvSpPr>
        <p:spPr>
          <a:xfrm>
            <a:off x="2999232" y="3154679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2912</a:t>
            </a:r>
          </a:p>
        </p:txBody>
      </p:sp>
      <p:sp>
        <p:nvSpPr>
          <p:cNvPr id="47" name="a1f_th46"/>
          <p:cNvSpPr/>
          <p:nvPr/>
        </p:nvSpPr>
        <p:spPr>
          <a:xfrm>
            <a:off x="3703320" y="1399031"/>
            <a:ext cx="196596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1f_tht47"/>
          <p:cNvSpPr txBox="1"/>
          <p:nvPr/>
        </p:nvSpPr>
        <p:spPr>
          <a:xfrm>
            <a:off x="3776472" y="1399031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Representation</a:t>
            </a:r>
          </a:p>
        </p:txBody>
      </p:sp>
      <p:sp>
        <p:nvSpPr>
          <p:cNvPr id="49" name="a1wd100_td48"/>
          <p:cNvSpPr/>
          <p:nvPr/>
        </p:nvSpPr>
        <p:spPr>
          <a:xfrm>
            <a:off x="3703320" y="1691639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a1wd100_tdt49"/>
          <p:cNvSpPr txBox="1"/>
          <p:nvPr/>
        </p:nvSpPr>
        <p:spPr>
          <a:xfrm>
            <a:off x="3776472" y="1691639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empty</a:t>
            </a:r>
          </a:p>
        </p:txBody>
      </p:sp>
      <p:sp>
        <p:nvSpPr>
          <p:cNvPr id="51" name="a1wd200_td50"/>
          <p:cNvSpPr/>
          <p:nvPr/>
        </p:nvSpPr>
        <p:spPr>
          <a:xfrm>
            <a:off x="3703320" y="1984248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a1wd200_tdt51"/>
          <p:cNvSpPr txBox="1"/>
          <p:nvPr/>
        </p:nvSpPr>
        <p:spPr>
          <a:xfrm>
            <a:off x="3776472" y="1984248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flatmap</a:t>
            </a:r>
          </a:p>
        </p:txBody>
      </p:sp>
      <p:sp>
        <p:nvSpPr>
          <p:cNvPr id="53" name="a1wd300_td52"/>
          <p:cNvSpPr/>
          <p:nvPr/>
        </p:nvSpPr>
        <p:spPr>
          <a:xfrm>
            <a:off x="3703320" y="2276856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a1wd300_tdt53"/>
          <p:cNvSpPr txBox="1"/>
          <p:nvPr/>
        </p:nvSpPr>
        <p:spPr>
          <a:xfrm>
            <a:off x="3776472" y="2276856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flatmap</a:t>
            </a:r>
          </a:p>
        </p:txBody>
      </p:sp>
      <p:sp>
        <p:nvSpPr>
          <p:cNvPr id="55" name="a1wd400_td54"/>
          <p:cNvSpPr/>
          <p:nvPr/>
        </p:nvSpPr>
        <p:spPr>
          <a:xfrm>
            <a:off x="3703320" y="2569463"/>
            <a:ext cx="1965960" cy="29260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a1wd400_tdt55"/>
          <p:cNvSpPr txBox="1"/>
          <p:nvPr/>
        </p:nvSpPr>
        <p:spPr>
          <a:xfrm>
            <a:off x="3776472" y="2569463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flatmap - the limit</a:t>
            </a:r>
          </a:p>
        </p:txBody>
      </p:sp>
      <p:sp>
        <p:nvSpPr>
          <p:cNvPr id="57" name="a1wd500_td56"/>
          <p:cNvSpPr/>
          <p:nvPr/>
        </p:nvSpPr>
        <p:spPr>
          <a:xfrm>
            <a:off x="3703320" y="2862072"/>
            <a:ext cx="1965960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a1wd500_tdt57"/>
          <p:cNvSpPr txBox="1"/>
          <p:nvPr/>
        </p:nvSpPr>
        <p:spPr>
          <a:xfrm>
            <a:off x="3776472" y="2862072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hashmap - jumps 55 words</a:t>
            </a:r>
          </a:p>
        </p:txBody>
      </p:sp>
      <p:sp>
        <p:nvSpPr>
          <p:cNvPr id="59" name="a1wd600_td58"/>
          <p:cNvSpPr/>
          <p:nvPr/>
        </p:nvSpPr>
        <p:spPr>
          <a:xfrm>
            <a:off x="3703320" y="3154679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a1wd600_tdt59"/>
          <p:cNvSpPr txBox="1"/>
          <p:nvPr/>
        </p:nvSpPr>
        <p:spPr>
          <a:xfrm>
            <a:off x="3776472" y="3154679"/>
            <a:ext cx="18562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hashmap</a:t>
            </a:r>
          </a:p>
        </p:txBody>
      </p:sp>
      <p:sp>
        <p:nvSpPr>
          <p:cNvPr id="61" name="a2u_dot60"/>
          <p:cNvSpPr/>
          <p:nvPr/>
        </p:nvSpPr>
        <p:spPr>
          <a:xfrm>
            <a:off x="5806440" y="153619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a2u_b61"/>
          <p:cNvSpPr txBox="1"/>
          <p:nvPr/>
        </p:nvSpPr>
        <p:spPr>
          <a:xfrm>
            <a:off x="6025896" y="1435607"/>
            <a:ext cx="266090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Flatmap: keys array + values array  </a:t>
            </a:r>
            <a:r>
              <a:rPr sz="1050" b="0">
                <a:solidFill>
                  <a:srgbClr val="334155"/>
                </a:solidFill>
                <a:latin typeface="Calibri"/>
              </a:rPr>
              <a:t>small and cache-friendly; lookup scans</a:t>
            </a:r>
          </a:p>
        </p:txBody>
      </p:sp>
      <p:sp>
        <p:nvSpPr>
          <p:cNvPr id="63" name="a2ud180_dot62"/>
          <p:cNvSpPr/>
          <p:nvPr/>
        </p:nvSpPr>
        <p:spPr>
          <a:xfrm>
            <a:off x="5806440" y="226771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a2ud180_b63"/>
          <p:cNvSpPr txBox="1"/>
          <p:nvPr/>
        </p:nvSpPr>
        <p:spPr>
          <a:xfrm>
            <a:off x="6025896" y="2167127"/>
            <a:ext cx="266090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Hashmap: a HAMT  </a:t>
            </a:r>
            <a:r>
              <a:rPr sz="1050" b="0">
                <a:solidFill>
                  <a:srgbClr val="334155"/>
                </a:solidFill>
                <a:latin typeface="Calibri"/>
              </a:rPr>
              <a:t>lookup becomes effectively O(1), but each node costs</a:t>
            </a:r>
          </a:p>
        </p:txBody>
      </p:sp>
      <p:sp>
        <p:nvSpPr>
          <p:cNvPr id="65" name="a2ud360_dot64"/>
          <p:cNvSpPr/>
          <p:nvPr/>
        </p:nvSpPr>
        <p:spPr>
          <a:xfrm>
            <a:off x="5806440" y="299923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a2ud360_b65"/>
          <p:cNvSpPr txBox="1"/>
          <p:nvPr/>
        </p:nvSpPr>
        <p:spPr>
          <a:xfrm>
            <a:off x="6025896" y="2898647"/>
            <a:ext cx="266090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The switch is invisible  </a:t>
            </a:r>
            <a:r>
              <a:rPr sz="1050" b="0">
                <a:solidFill>
                  <a:srgbClr val="334155"/>
                </a:solidFill>
                <a:latin typeface="Calibri"/>
              </a:rPr>
              <a:t>same syntax, same functions, 55 extra words</a:t>
            </a:r>
          </a:p>
        </p:txBody>
      </p:sp>
      <p:sp>
        <p:nvSpPr>
          <p:cNvPr id="67" name="a3f_nb66"/>
          <p:cNvSpPr/>
          <p:nvPr/>
        </p:nvSpPr>
        <p:spPr>
          <a:xfrm>
            <a:off x="457200" y="375818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a3f_nacc67"/>
          <p:cNvSpPr/>
          <p:nvPr/>
        </p:nvSpPr>
        <p:spPr>
          <a:xfrm>
            <a:off x="457200" y="3758184"/>
            <a:ext cx="50292" cy="54864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a3f_nt68"/>
          <p:cNvSpPr txBox="1"/>
          <p:nvPr/>
        </p:nvSpPr>
        <p:spPr>
          <a:xfrm>
            <a:off x="658368" y="3758184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i  </a:t>
            </a:r>
            <a:r>
              <a:rPr sz="1150" b="0">
                <a:solidFill>
                  <a:srgbClr val="334155"/>
                </a:solidFill>
                <a:latin typeface="Calibri"/>
              </a:rPr>
              <a:t>Structs are maps with a fixed __struct__ key, so a struct with fewer than 32 fields gets the cheap flat representation.</a:t>
            </a:r>
          </a:p>
        </p:txBody>
      </p:sp>
      <p:sp>
        <p:nvSpPr>
          <p:cNvPr id="70" name="ft6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71" name="ft7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COLLECTIONS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Keyword lists — not a type, a convention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list of two-element tuples whose first element is an atom.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8229600" cy="1609344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Code.string_to_quoted!("[a: 1, b: 2]")</a:t>
            </a:r>
          </a:p>
        </p:txBody>
      </p:sp>
      <p:sp>
        <p:nvSpPr>
          <p:cNvPr id="8" name="a1wd110_code7"/>
          <p:cNvSpPr txBox="1"/>
          <p:nvPr/>
        </p:nvSpPr>
        <p:spPr>
          <a:xfrm>
            <a:off x="621792" y="2020824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[a: 1, b: 2]              # the AST is the list itself - no sugar node</a:t>
            </a:r>
          </a:p>
        </p:txBody>
      </p:sp>
      <p:sp>
        <p:nvSpPr>
          <p:cNvPr id="9" name="a1wd220_code8"/>
          <p:cNvSpPr txBox="1"/>
          <p:nvPr/>
        </p:nvSpPr>
        <p:spPr>
          <a:xfrm>
            <a:off x="621792" y="2221992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" name="a1wd330_code9"/>
          <p:cNvSpPr txBox="1"/>
          <p:nvPr/>
        </p:nvSpPr>
        <p:spPr>
          <a:xfrm>
            <a:off x="621792" y="2423160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[a: 1, b: 2] == [{:a, 1}, {:b, 2}]</a:t>
            </a:r>
          </a:p>
        </p:txBody>
      </p:sp>
      <p:sp>
        <p:nvSpPr>
          <p:cNvPr id="11" name="a1wd440_code10"/>
          <p:cNvSpPr txBox="1"/>
          <p:nvPr/>
        </p:nvSpPr>
        <p:spPr>
          <a:xfrm>
            <a:off x="621792" y="2624328"/>
            <a:ext cx="79004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                      # identical values</a:t>
            </a:r>
          </a:p>
        </p:txBody>
      </p:sp>
      <p:sp>
        <p:nvSpPr>
          <p:cNvPr id="12" name="a2f_th11"/>
          <p:cNvSpPr/>
          <p:nvPr/>
        </p:nvSpPr>
        <p:spPr>
          <a:xfrm>
            <a:off x="457200" y="3044952"/>
            <a:ext cx="3977639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2f_tht12"/>
          <p:cNvSpPr txBox="1"/>
          <p:nvPr/>
        </p:nvSpPr>
        <p:spPr>
          <a:xfrm>
            <a:off x="530352" y="3044952"/>
            <a:ext cx="38679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Keyword list</a:t>
            </a:r>
          </a:p>
        </p:txBody>
      </p:sp>
      <p:sp>
        <p:nvSpPr>
          <p:cNvPr id="14" name="a2wd120_td13"/>
          <p:cNvSpPr/>
          <p:nvPr/>
        </p:nvSpPr>
        <p:spPr>
          <a:xfrm>
            <a:off x="457200" y="3319272"/>
            <a:ext cx="397763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wd120_tdt14"/>
          <p:cNvSpPr txBox="1"/>
          <p:nvPr/>
        </p:nvSpPr>
        <p:spPr>
          <a:xfrm>
            <a:off x="530352" y="3319272"/>
            <a:ext cx="38679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Keys may repeat</a:t>
            </a:r>
          </a:p>
        </p:txBody>
      </p:sp>
      <p:sp>
        <p:nvSpPr>
          <p:cNvPr id="16" name="a2wd240_td15"/>
          <p:cNvSpPr/>
          <p:nvPr/>
        </p:nvSpPr>
        <p:spPr>
          <a:xfrm>
            <a:off x="457200" y="3593592"/>
            <a:ext cx="397763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wd240_tdt16"/>
          <p:cNvSpPr txBox="1"/>
          <p:nvPr/>
        </p:nvSpPr>
        <p:spPr>
          <a:xfrm>
            <a:off x="530352" y="3593592"/>
            <a:ext cx="38679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Order is preserved</a:t>
            </a:r>
          </a:p>
        </p:txBody>
      </p:sp>
      <p:sp>
        <p:nvSpPr>
          <p:cNvPr id="18" name="a2wd360_td17"/>
          <p:cNvSpPr/>
          <p:nvPr/>
        </p:nvSpPr>
        <p:spPr>
          <a:xfrm>
            <a:off x="457200" y="3867912"/>
            <a:ext cx="397763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wd360_tdt18"/>
          <p:cNvSpPr txBox="1"/>
          <p:nvPr/>
        </p:nvSpPr>
        <p:spPr>
          <a:xfrm>
            <a:off x="530352" y="3867912"/>
            <a:ext cx="38679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Keys must be atoms</a:t>
            </a:r>
          </a:p>
        </p:txBody>
      </p:sp>
      <p:sp>
        <p:nvSpPr>
          <p:cNvPr id="20" name="a2f_th19"/>
          <p:cNvSpPr/>
          <p:nvPr/>
        </p:nvSpPr>
        <p:spPr>
          <a:xfrm>
            <a:off x="4434840" y="3044952"/>
            <a:ext cx="425196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f_tht20"/>
          <p:cNvSpPr txBox="1"/>
          <p:nvPr/>
        </p:nvSpPr>
        <p:spPr>
          <a:xfrm>
            <a:off x="4507992" y="3044952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22" name="a2wd120_td21"/>
          <p:cNvSpPr/>
          <p:nvPr/>
        </p:nvSpPr>
        <p:spPr>
          <a:xfrm>
            <a:off x="4434840" y="3319272"/>
            <a:ext cx="4251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2wd120_tdt22"/>
          <p:cNvSpPr txBox="1"/>
          <p:nvPr/>
        </p:nvSpPr>
        <p:spPr>
          <a:xfrm>
            <a:off x="4507992" y="3319272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Map keys cannot</a:t>
            </a:r>
          </a:p>
        </p:txBody>
      </p:sp>
      <p:sp>
        <p:nvSpPr>
          <p:cNvPr id="24" name="a2wd240_td23"/>
          <p:cNvSpPr/>
          <p:nvPr/>
        </p:nvSpPr>
        <p:spPr>
          <a:xfrm>
            <a:off x="4434840" y="3593592"/>
            <a:ext cx="4251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2wd240_tdt24"/>
          <p:cNvSpPr txBox="1"/>
          <p:nvPr/>
        </p:nvSpPr>
        <p:spPr>
          <a:xfrm>
            <a:off x="4507992" y="3593592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Map order is not meaningful</a:t>
            </a:r>
          </a:p>
        </p:txBody>
      </p:sp>
      <p:sp>
        <p:nvSpPr>
          <p:cNvPr id="26" name="a2wd360_td25"/>
          <p:cNvSpPr/>
          <p:nvPr/>
        </p:nvSpPr>
        <p:spPr>
          <a:xfrm>
            <a:off x="4434840" y="3867912"/>
            <a:ext cx="4251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2wd360_tdt26"/>
          <p:cNvSpPr txBox="1"/>
          <p:nvPr/>
        </p:nvSpPr>
        <p:spPr>
          <a:xfrm>
            <a:off x="4507992" y="3867912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Map keys can be anything</a:t>
            </a:r>
          </a:p>
        </p:txBody>
      </p:sp>
      <p:sp>
        <p:nvSpPr>
          <p:cNvPr id="28" name="a3f_nb27"/>
          <p:cNvSpPr/>
          <p:nvPr/>
        </p:nvSpPr>
        <p:spPr>
          <a:xfrm>
            <a:off x="457200" y="421538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3f_nacc28"/>
          <p:cNvSpPr/>
          <p:nvPr/>
        </p:nvSpPr>
        <p:spPr>
          <a:xfrm>
            <a:off x="457200" y="4215384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3f_nt29"/>
          <p:cNvSpPr txBox="1"/>
          <p:nvPr/>
        </p:nvSpPr>
        <p:spPr>
          <a:xfrm>
            <a:off x="658368" y="421538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This is why function options are keyword lists: repeatable, ordered, and they read as trailing arguments without braces.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Text and binaries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Strings are binaries. That one fact
explains all the rest.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utf-8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64 bytes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charlists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TEXT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String is a UTF-8 binary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Which is why byte length and character length differ.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84632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probe_lang.exs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byte_size("héllo")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3454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6                    # bytes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4942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String.length("héllo")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6430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5                    # graphemes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79191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e = "e" &lt;&gt; &lt;&lt;0x301::utf8&gt;&gt;   # combining accent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9407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String.codepoints(e)</a:t>
            </a:r>
          </a:p>
        </p:txBody>
      </p:sp>
      <p:sp>
        <p:nvSpPr>
          <p:cNvPr id="13" name="a1wd540_code12"/>
          <p:cNvSpPr txBox="1"/>
          <p:nvPr/>
        </p:nvSpPr>
        <p:spPr>
          <a:xfrm>
            <a:off x="621792" y="310896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["e", "́"]           # two codepoints, 3 bytes</a:t>
            </a:r>
          </a:p>
        </p:txBody>
      </p:sp>
      <p:sp>
        <p:nvSpPr>
          <p:cNvPr id="14" name="a1wd630_code13"/>
          <p:cNvSpPr txBox="1"/>
          <p:nvPr/>
        </p:nvSpPr>
        <p:spPr>
          <a:xfrm>
            <a:off x="621792" y="332384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String.length(e)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621792" y="353872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1                    # still one grapheme</a:t>
            </a:r>
          </a:p>
        </p:txBody>
      </p:sp>
      <p:sp>
        <p:nvSpPr>
          <p:cNvPr id="16" name="a2u_dot15"/>
          <p:cNvSpPr/>
          <p:nvPr/>
        </p:nvSpPr>
        <p:spPr>
          <a:xfrm>
            <a:off x="5532120" y="1554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_b16"/>
          <p:cNvSpPr txBox="1"/>
          <p:nvPr/>
        </p:nvSpPr>
        <p:spPr>
          <a:xfrm>
            <a:off x="5751576" y="1453895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byte_size is O(1)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length is in the header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5532120" y="22311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d180_b18"/>
          <p:cNvSpPr txBox="1"/>
          <p:nvPr/>
        </p:nvSpPr>
        <p:spPr>
          <a:xfrm>
            <a:off x="5751576" y="2130551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String.length is O(n)  </a:t>
            </a:r>
            <a:r>
              <a:rPr sz="1100" b="0">
                <a:solidFill>
                  <a:srgbClr val="334155"/>
                </a:solidFill>
                <a:latin typeface="Calibri"/>
              </a:rPr>
              <a:t>it must walk and count graphemes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5532120" y="290779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ud360_b20"/>
          <p:cNvSpPr txBox="1"/>
          <p:nvPr/>
        </p:nvSpPr>
        <p:spPr>
          <a:xfrm>
            <a:off x="5751576" y="2807208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Graphemes, not codepoints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String module does the Unicode work for you</a:t>
            </a:r>
          </a:p>
        </p:txBody>
      </p:sp>
      <p:sp>
        <p:nvSpPr>
          <p:cNvPr id="22" name="a3f_nb21"/>
          <p:cNvSpPr/>
          <p:nvPr/>
        </p:nvSpPr>
        <p:spPr>
          <a:xfrm>
            <a:off x="457200" y="389534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f_nacc22"/>
          <p:cNvSpPr/>
          <p:nvPr/>
        </p:nvSpPr>
        <p:spPr>
          <a:xfrm>
            <a:off x="457200" y="3895344"/>
            <a:ext cx="50292" cy="475488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f_nt23"/>
          <p:cNvSpPr txBox="1"/>
          <p:nvPr/>
        </p:nvSpPr>
        <p:spPr>
          <a:xfrm>
            <a:off x="658368" y="389534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Indexing a string by byte offset will corrupt multi-byte characters. Use the String module, not raw binary slicing, for text.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TEXT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64-byte boundary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Short binaries live on the process heap. Longer ones live once, off-heap.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99031"/>
            <a:ext cx="169164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tht5"/>
          <p:cNvSpPr txBox="1"/>
          <p:nvPr/>
        </p:nvSpPr>
        <p:spPr>
          <a:xfrm>
            <a:off x="530352" y="1399031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Binary</a:t>
            </a:r>
          </a:p>
        </p:txBody>
      </p:sp>
      <p:sp>
        <p:nvSpPr>
          <p:cNvPr id="7" name="a1wd110_td6"/>
          <p:cNvSpPr/>
          <p:nvPr/>
        </p:nvSpPr>
        <p:spPr>
          <a:xfrm>
            <a:off x="457200" y="1709928"/>
            <a:ext cx="1691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wd110_tdt7"/>
          <p:cNvSpPr txBox="1"/>
          <p:nvPr/>
        </p:nvSpPr>
        <p:spPr>
          <a:xfrm>
            <a:off x="530352" y="1709928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""</a:t>
            </a:r>
          </a:p>
        </p:txBody>
      </p:sp>
      <p:sp>
        <p:nvSpPr>
          <p:cNvPr id="9" name="a1wd220_td8"/>
          <p:cNvSpPr/>
          <p:nvPr/>
        </p:nvSpPr>
        <p:spPr>
          <a:xfrm>
            <a:off x="457200" y="2020824"/>
            <a:ext cx="1691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wd220_tdt9"/>
          <p:cNvSpPr txBox="1"/>
          <p:nvPr/>
        </p:nvSpPr>
        <p:spPr>
          <a:xfrm>
            <a:off x="530352" y="2020824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"hi"</a:t>
            </a:r>
          </a:p>
        </p:txBody>
      </p:sp>
      <p:sp>
        <p:nvSpPr>
          <p:cNvPr id="11" name="a1wd330_td10"/>
          <p:cNvSpPr/>
          <p:nvPr/>
        </p:nvSpPr>
        <p:spPr>
          <a:xfrm>
            <a:off x="457200" y="2331720"/>
            <a:ext cx="1691640" cy="310896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wd330_tdt11"/>
          <p:cNvSpPr txBox="1"/>
          <p:nvPr/>
        </p:nvSpPr>
        <p:spPr>
          <a:xfrm>
            <a:off x="530352" y="2331720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64 bytes</a:t>
            </a:r>
          </a:p>
        </p:txBody>
      </p:sp>
      <p:sp>
        <p:nvSpPr>
          <p:cNvPr id="13" name="a1wd440_td12"/>
          <p:cNvSpPr/>
          <p:nvPr/>
        </p:nvSpPr>
        <p:spPr>
          <a:xfrm>
            <a:off x="457200" y="2642615"/>
            <a:ext cx="1691640" cy="3108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wd440_tdt13"/>
          <p:cNvSpPr txBox="1"/>
          <p:nvPr/>
        </p:nvSpPr>
        <p:spPr>
          <a:xfrm>
            <a:off x="530352" y="2642615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65 bytes</a:t>
            </a:r>
          </a:p>
        </p:txBody>
      </p:sp>
      <p:sp>
        <p:nvSpPr>
          <p:cNvPr id="15" name="a1wd550_td14"/>
          <p:cNvSpPr/>
          <p:nvPr/>
        </p:nvSpPr>
        <p:spPr>
          <a:xfrm>
            <a:off x="457200" y="2953512"/>
            <a:ext cx="1691640" cy="3108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wd550_tdt15"/>
          <p:cNvSpPr txBox="1"/>
          <p:nvPr/>
        </p:nvSpPr>
        <p:spPr>
          <a:xfrm>
            <a:off x="530352" y="2953512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 MB</a:t>
            </a:r>
          </a:p>
        </p:txBody>
      </p:sp>
      <p:sp>
        <p:nvSpPr>
          <p:cNvPr id="17" name="a1f_th16"/>
          <p:cNvSpPr/>
          <p:nvPr/>
        </p:nvSpPr>
        <p:spPr>
          <a:xfrm>
            <a:off x="2148840" y="1399031"/>
            <a:ext cx="77724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f_tht17"/>
          <p:cNvSpPr txBox="1"/>
          <p:nvPr/>
        </p:nvSpPr>
        <p:spPr>
          <a:xfrm>
            <a:off x="2221992" y="1399031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Words</a:t>
            </a:r>
          </a:p>
        </p:txBody>
      </p:sp>
      <p:sp>
        <p:nvSpPr>
          <p:cNvPr id="19" name="a1wd110_td18"/>
          <p:cNvSpPr/>
          <p:nvPr/>
        </p:nvSpPr>
        <p:spPr>
          <a:xfrm>
            <a:off x="2148840" y="1709928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wd110_tdt19"/>
          <p:cNvSpPr txBox="1"/>
          <p:nvPr/>
        </p:nvSpPr>
        <p:spPr>
          <a:xfrm>
            <a:off x="2221992" y="1709928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</a:t>
            </a:r>
          </a:p>
        </p:txBody>
      </p:sp>
      <p:sp>
        <p:nvSpPr>
          <p:cNvPr id="21" name="a1wd220_td20"/>
          <p:cNvSpPr/>
          <p:nvPr/>
        </p:nvSpPr>
        <p:spPr>
          <a:xfrm>
            <a:off x="2148840" y="2020824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wd220_tdt21"/>
          <p:cNvSpPr txBox="1"/>
          <p:nvPr/>
        </p:nvSpPr>
        <p:spPr>
          <a:xfrm>
            <a:off x="2221992" y="2020824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23" name="a1wd330_td22"/>
          <p:cNvSpPr/>
          <p:nvPr/>
        </p:nvSpPr>
        <p:spPr>
          <a:xfrm>
            <a:off x="2148840" y="2331720"/>
            <a:ext cx="777240" cy="310896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wd330_tdt23"/>
          <p:cNvSpPr txBox="1"/>
          <p:nvPr/>
        </p:nvSpPr>
        <p:spPr>
          <a:xfrm>
            <a:off x="2221992" y="2331720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10</a:t>
            </a:r>
          </a:p>
        </p:txBody>
      </p:sp>
      <p:sp>
        <p:nvSpPr>
          <p:cNvPr id="25" name="a1wd440_td24"/>
          <p:cNvSpPr/>
          <p:nvPr/>
        </p:nvSpPr>
        <p:spPr>
          <a:xfrm>
            <a:off x="2148840" y="2642615"/>
            <a:ext cx="777240" cy="3108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1wd440_tdt25"/>
          <p:cNvSpPr txBox="1"/>
          <p:nvPr/>
        </p:nvSpPr>
        <p:spPr>
          <a:xfrm>
            <a:off x="2221992" y="2642615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8</a:t>
            </a:r>
          </a:p>
        </p:txBody>
      </p:sp>
      <p:sp>
        <p:nvSpPr>
          <p:cNvPr id="27" name="a1wd550_td26"/>
          <p:cNvSpPr/>
          <p:nvPr/>
        </p:nvSpPr>
        <p:spPr>
          <a:xfrm>
            <a:off x="2148840" y="2953512"/>
            <a:ext cx="777240" cy="3108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1wd550_tdt27"/>
          <p:cNvSpPr txBox="1"/>
          <p:nvPr/>
        </p:nvSpPr>
        <p:spPr>
          <a:xfrm>
            <a:off x="2221992" y="2953512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8</a:t>
            </a:r>
          </a:p>
        </p:txBody>
      </p:sp>
      <p:sp>
        <p:nvSpPr>
          <p:cNvPr id="29" name="a1f_th28"/>
          <p:cNvSpPr/>
          <p:nvPr/>
        </p:nvSpPr>
        <p:spPr>
          <a:xfrm>
            <a:off x="2926080" y="1399031"/>
            <a:ext cx="77724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1f_tht29"/>
          <p:cNvSpPr txBox="1"/>
          <p:nvPr/>
        </p:nvSpPr>
        <p:spPr>
          <a:xfrm>
            <a:off x="2999232" y="1399031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Bytes</a:t>
            </a:r>
          </a:p>
        </p:txBody>
      </p:sp>
      <p:sp>
        <p:nvSpPr>
          <p:cNvPr id="31" name="a1wd110_td30"/>
          <p:cNvSpPr/>
          <p:nvPr/>
        </p:nvSpPr>
        <p:spPr>
          <a:xfrm>
            <a:off x="2926080" y="1709928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1wd110_tdt31"/>
          <p:cNvSpPr txBox="1"/>
          <p:nvPr/>
        </p:nvSpPr>
        <p:spPr>
          <a:xfrm>
            <a:off x="2999232" y="1709928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16</a:t>
            </a:r>
          </a:p>
        </p:txBody>
      </p:sp>
      <p:sp>
        <p:nvSpPr>
          <p:cNvPr id="33" name="a1wd220_td32"/>
          <p:cNvSpPr/>
          <p:nvPr/>
        </p:nvSpPr>
        <p:spPr>
          <a:xfrm>
            <a:off x="2926080" y="2020824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1wd220_tdt33"/>
          <p:cNvSpPr txBox="1"/>
          <p:nvPr/>
        </p:nvSpPr>
        <p:spPr>
          <a:xfrm>
            <a:off x="2999232" y="2020824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24</a:t>
            </a:r>
          </a:p>
        </p:txBody>
      </p:sp>
      <p:sp>
        <p:nvSpPr>
          <p:cNvPr id="35" name="a1wd330_td34"/>
          <p:cNvSpPr/>
          <p:nvPr/>
        </p:nvSpPr>
        <p:spPr>
          <a:xfrm>
            <a:off x="2926080" y="2331720"/>
            <a:ext cx="777240" cy="310896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1wd330_tdt35"/>
          <p:cNvSpPr txBox="1"/>
          <p:nvPr/>
        </p:nvSpPr>
        <p:spPr>
          <a:xfrm>
            <a:off x="2999232" y="2331720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80</a:t>
            </a:r>
          </a:p>
        </p:txBody>
      </p:sp>
      <p:sp>
        <p:nvSpPr>
          <p:cNvPr id="37" name="a1wd440_td36"/>
          <p:cNvSpPr/>
          <p:nvPr/>
        </p:nvSpPr>
        <p:spPr>
          <a:xfrm>
            <a:off x="2926080" y="2642615"/>
            <a:ext cx="777240" cy="3108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1wd440_tdt37"/>
          <p:cNvSpPr txBox="1"/>
          <p:nvPr/>
        </p:nvSpPr>
        <p:spPr>
          <a:xfrm>
            <a:off x="2999232" y="2642615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64</a:t>
            </a:r>
          </a:p>
        </p:txBody>
      </p:sp>
      <p:sp>
        <p:nvSpPr>
          <p:cNvPr id="39" name="a1wd550_td38"/>
          <p:cNvSpPr/>
          <p:nvPr/>
        </p:nvSpPr>
        <p:spPr>
          <a:xfrm>
            <a:off x="2926080" y="2953512"/>
            <a:ext cx="777240" cy="3108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1wd550_tdt39"/>
          <p:cNvSpPr txBox="1"/>
          <p:nvPr/>
        </p:nvSpPr>
        <p:spPr>
          <a:xfrm>
            <a:off x="2999232" y="2953512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64</a:t>
            </a:r>
          </a:p>
        </p:txBody>
      </p:sp>
      <p:sp>
        <p:nvSpPr>
          <p:cNvPr id="41" name="a1f_th40"/>
          <p:cNvSpPr/>
          <p:nvPr/>
        </p:nvSpPr>
        <p:spPr>
          <a:xfrm>
            <a:off x="3703320" y="1399031"/>
            <a:ext cx="192024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1f_tht41"/>
          <p:cNvSpPr txBox="1"/>
          <p:nvPr/>
        </p:nvSpPr>
        <p:spPr>
          <a:xfrm>
            <a:off x="3776472" y="1399031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Representation</a:t>
            </a:r>
          </a:p>
        </p:txBody>
      </p:sp>
      <p:sp>
        <p:nvSpPr>
          <p:cNvPr id="43" name="a1wd110_td42"/>
          <p:cNvSpPr/>
          <p:nvPr/>
        </p:nvSpPr>
        <p:spPr>
          <a:xfrm>
            <a:off x="3703320" y="1709928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1wd110_tdt43"/>
          <p:cNvSpPr txBox="1"/>
          <p:nvPr/>
        </p:nvSpPr>
        <p:spPr>
          <a:xfrm>
            <a:off x="3776472" y="1709928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heap binary</a:t>
            </a:r>
          </a:p>
        </p:txBody>
      </p:sp>
      <p:sp>
        <p:nvSpPr>
          <p:cNvPr id="45" name="a1wd220_td44"/>
          <p:cNvSpPr/>
          <p:nvPr/>
        </p:nvSpPr>
        <p:spPr>
          <a:xfrm>
            <a:off x="3703320" y="2020824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a1wd220_tdt45"/>
          <p:cNvSpPr txBox="1"/>
          <p:nvPr/>
        </p:nvSpPr>
        <p:spPr>
          <a:xfrm>
            <a:off x="3776472" y="2020824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heap binary</a:t>
            </a:r>
          </a:p>
        </p:txBody>
      </p:sp>
      <p:sp>
        <p:nvSpPr>
          <p:cNvPr id="47" name="a1wd330_td46"/>
          <p:cNvSpPr/>
          <p:nvPr/>
        </p:nvSpPr>
        <p:spPr>
          <a:xfrm>
            <a:off x="3703320" y="2331720"/>
            <a:ext cx="1920240" cy="310896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1wd330_tdt47"/>
          <p:cNvSpPr txBox="1"/>
          <p:nvPr/>
        </p:nvSpPr>
        <p:spPr>
          <a:xfrm>
            <a:off x="3776472" y="2331720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heap binary - the limit</a:t>
            </a:r>
          </a:p>
        </p:txBody>
      </p:sp>
      <p:sp>
        <p:nvSpPr>
          <p:cNvPr id="49" name="a1wd440_td48"/>
          <p:cNvSpPr/>
          <p:nvPr/>
        </p:nvSpPr>
        <p:spPr>
          <a:xfrm>
            <a:off x="3703320" y="2642615"/>
            <a:ext cx="1920240" cy="3108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a1wd440_tdt49"/>
          <p:cNvSpPr txBox="1"/>
          <p:nvPr/>
        </p:nvSpPr>
        <p:spPr>
          <a:xfrm>
            <a:off x="3776472" y="2642615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refc - only a reference</a:t>
            </a:r>
          </a:p>
        </p:txBody>
      </p:sp>
      <p:sp>
        <p:nvSpPr>
          <p:cNvPr id="51" name="a1wd550_td50"/>
          <p:cNvSpPr/>
          <p:nvPr/>
        </p:nvSpPr>
        <p:spPr>
          <a:xfrm>
            <a:off x="3703320" y="2953512"/>
            <a:ext cx="1920240" cy="3108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a1wd550_tdt51"/>
          <p:cNvSpPr txBox="1"/>
          <p:nvPr/>
        </p:nvSpPr>
        <p:spPr>
          <a:xfrm>
            <a:off x="3776472" y="2953512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refc - same 8 words</a:t>
            </a:r>
          </a:p>
        </p:txBody>
      </p:sp>
      <p:sp>
        <p:nvSpPr>
          <p:cNvPr id="53" name="a2u_dot52"/>
          <p:cNvSpPr/>
          <p:nvPr/>
        </p:nvSpPr>
        <p:spPr>
          <a:xfrm>
            <a:off x="5760720" y="153619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a2u_b53"/>
          <p:cNvSpPr txBox="1"/>
          <p:nvPr/>
        </p:nvSpPr>
        <p:spPr>
          <a:xfrm>
            <a:off x="5980176" y="1435607"/>
            <a:ext cx="270662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Notice the size goes down  </a:t>
            </a:r>
            <a:r>
              <a:rPr sz="1050" b="0">
                <a:solidFill>
                  <a:srgbClr val="334155"/>
                </a:solidFill>
                <a:latin typeface="Calibri"/>
              </a:rPr>
              <a:t>65 bytes measures less than 64 - the data left the heap</a:t>
            </a:r>
          </a:p>
        </p:txBody>
      </p:sp>
      <p:sp>
        <p:nvSpPr>
          <p:cNvPr id="55" name="a2ud180_dot54"/>
          <p:cNvSpPr/>
          <p:nvPr/>
        </p:nvSpPr>
        <p:spPr>
          <a:xfrm>
            <a:off x="5760720" y="228599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a2ud180_b55"/>
          <p:cNvSpPr txBox="1"/>
          <p:nvPr/>
        </p:nvSpPr>
        <p:spPr>
          <a:xfrm>
            <a:off x="5980176" y="2185415"/>
            <a:ext cx="270662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 1 MB binary is 8 words  </a:t>
            </a:r>
            <a:r>
              <a:rPr sz="1050" b="0">
                <a:solidFill>
                  <a:srgbClr val="334155"/>
                </a:solidFill>
                <a:latin typeface="Calibri"/>
              </a:rPr>
              <a:t>flat_size counts the reference, not the payload</a:t>
            </a:r>
          </a:p>
        </p:txBody>
      </p:sp>
      <p:sp>
        <p:nvSpPr>
          <p:cNvPr id="57" name="a2ud360_dot56"/>
          <p:cNvSpPr/>
          <p:nvPr/>
        </p:nvSpPr>
        <p:spPr>
          <a:xfrm>
            <a:off x="5760720" y="303580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a2ud360_b57"/>
          <p:cNvSpPr txBox="1"/>
          <p:nvPr/>
        </p:nvSpPr>
        <p:spPr>
          <a:xfrm>
            <a:off x="5980176" y="2935223"/>
            <a:ext cx="270662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Refc binaries are shared  </a:t>
            </a:r>
            <a:r>
              <a:rPr sz="1050" b="0">
                <a:solidFill>
                  <a:srgbClr val="334155"/>
                </a:solidFill>
                <a:latin typeface="Calibri"/>
              </a:rPr>
              <a:t>passing one between processes copies no bytes</a:t>
            </a:r>
          </a:p>
        </p:txBody>
      </p:sp>
      <p:sp>
        <p:nvSpPr>
          <p:cNvPr id="59" name="a3f_nb58"/>
          <p:cNvSpPr/>
          <p:nvPr/>
        </p:nvSpPr>
        <p:spPr>
          <a:xfrm>
            <a:off x="457200" y="381304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a3f_nacc59"/>
          <p:cNvSpPr/>
          <p:nvPr/>
        </p:nvSpPr>
        <p:spPr>
          <a:xfrm>
            <a:off x="457200" y="3813048"/>
            <a:ext cx="50292" cy="603504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a3f_nt60"/>
          <p:cNvSpPr txBox="1"/>
          <p:nvPr/>
        </p:nvSpPr>
        <p:spPr>
          <a:xfrm>
            <a:off x="658368" y="3813048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This is the classic memory-leak shape: a small slice of a large refc binary keeps the whole megabyte alive. :binary.copy/1 breaks the link when you only need the slice.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63" name="ft6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TEXT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Charlists — the other string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list of codepoints. You meet it whenever you call Erlang.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06908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~c"hi"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~c"hi"                # a LIST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:erts_debug.flat_size(~c"hi")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4                     # 2 words/char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:erts_debug.flat_size("hi")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940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3                     # binary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617720" y="1380744"/>
            <a:ext cx="406908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f_codeh13"/>
          <p:cNvSpPr txBox="1"/>
          <p:nvPr/>
        </p:nvSpPr>
        <p:spPr>
          <a:xfrm>
            <a:off x="478231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CONVERTING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478231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to_charlist("hi")</a:t>
            </a:r>
          </a:p>
        </p:txBody>
      </p:sp>
      <p:sp>
        <p:nvSpPr>
          <p:cNvPr id="16" name="a2wd90_code15"/>
          <p:cNvSpPr txBox="1"/>
          <p:nvPr/>
        </p:nvSpPr>
        <p:spPr>
          <a:xfrm>
            <a:off x="478231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~c"hi"</a:t>
            </a:r>
          </a:p>
        </p:txBody>
      </p:sp>
      <p:sp>
        <p:nvSpPr>
          <p:cNvPr id="17" name="a2wd180_code16"/>
          <p:cNvSpPr txBox="1"/>
          <p:nvPr/>
        </p:nvSpPr>
        <p:spPr>
          <a:xfrm>
            <a:off x="478231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List.to_string(~c"hi")</a:t>
            </a:r>
          </a:p>
        </p:txBody>
      </p:sp>
      <p:sp>
        <p:nvSpPr>
          <p:cNvPr id="18" name="a2wd270_code17"/>
          <p:cNvSpPr txBox="1"/>
          <p:nvPr/>
        </p:nvSpPr>
        <p:spPr>
          <a:xfrm>
            <a:off x="478231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"hi"</a:t>
            </a:r>
          </a:p>
        </p:txBody>
      </p:sp>
      <p:sp>
        <p:nvSpPr>
          <p:cNvPr id="19" name="a2wd360_code18"/>
          <p:cNvSpPr txBox="1"/>
          <p:nvPr/>
        </p:nvSpPr>
        <p:spPr>
          <a:xfrm>
            <a:off x="478231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&lt;&lt;104, 105&gt;&gt;</a:t>
            </a:r>
          </a:p>
        </p:txBody>
      </p:sp>
      <p:sp>
        <p:nvSpPr>
          <p:cNvPr id="20" name="a2wd450_code19"/>
          <p:cNvSpPr txBox="1"/>
          <p:nvPr/>
        </p:nvSpPr>
        <p:spPr>
          <a:xfrm>
            <a:off x="4782312" y="28940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"hi"                  # bytes ARE the string</a:t>
            </a:r>
          </a:p>
        </p:txBody>
      </p:sp>
      <p:sp>
        <p:nvSpPr>
          <p:cNvPr id="21" name="a3u_dot20"/>
          <p:cNvSpPr/>
          <p:nvPr/>
        </p:nvSpPr>
        <p:spPr>
          <a:xfrm>
            <a:off x="457200" y="3483863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3u_b21"/>
          <p:cNvSpPr txBox="1"/>
          <p:nvPr/>
        </p:nvSpPr>
        <p:spPr>
          <a:xfrm>
            <a:off x="676656" y="3383279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Double quotes make a binary  </a:t>
            </a:r>
            <a:r>
              <a:rPr sz="1150" b="0">
                <a:solidFill>
                  <a:srgbClr val="334155"/>
                </a:solidFill>
                <a:latin typeface="Calibri"/>
              </a:rPr>
              <a:t>single quotes are gone - the charlist sigil is ~c"..."</a:t>
            </a:r>
          </a:p>
        </p:txBody>
      </p:sp>
      <p:sp>
        <p:nvSpPr>
          <p:cNvPr id="23" name="a3ud170_dot22"/>
          <p:cNvSpPr/>
          <p:nvPr/>
        </p:nvSpPr>
        <p:spPr>
          <a:xfrm>
            <a:off x="457200" y="39044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d170_b23"/>
          <p:cNvSpPr txBox="1"/>
          <p:nvPr/>
        </p:nvSpPr>
        <p:spPr>
          <a:xfrm>
            <a:off x="676656" y="3803904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Erlang functions want charlists  </a:t>
            </a:r>
            <a:r>
              <a:rPr sz="1150" b="0">
                <a:solidFill>
                  <a:srgbClr val="334155"/>
                </a:solidFill>
                <a:latin typeface="Calibri"/>
              </a:rPr>
              <a:t>that is the only reason you will type one</a:t>
            </a:r>
          </a:p>
        </p:txBody>
      </p:sp>
      <p:sp>
        <p:nvSpPr>
          <p:cNvPr id="25" name="a3ud340_dot24"/>
          <p:cNvSpPr/>
          <p:nvPr/>
        </p:nvSpPr>
        <p:spPr>
          <a:xfrm>
            <a:off x="457200" y="432511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3ud340_b25"/>
          <p:cNvSpPr txBox="1"/>
          <p:nvPr/>
        </p:nvSpPr>
        <p:spPr>
          <a:xfrm>
            <a:off x="676656" y="4224528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Charlists cost 2 words per character  </a:t>
            </a:r>
            <a:r>
              <a:rPr sz="1150" b="0">
                <a:solidFill>
                  <a:srgbClr val="334155"/>
                </a:solidFill>
                <a:latin typeface="Calibri"/>
              </a:rPr>
              <a:t>against roughly one byte per character for a binary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TEXT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Bitstrings — binaries without the byte rule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binary is a bitstring whose bit count divides by 8.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84632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SYNTAX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&lt;&lt;1::1&gt;&gt;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&lt;&lt;1::size(1)&gt;&gt;         # one single bit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is_binary(&lt;&lt;1::1&gt;&gt;)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false</a:t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is_bitstring(&lt;&lt;1::1&gt;&gt;)</a:t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</a:t>
            </a:r>
          </a:p>
        </p:txBody>
      </p:sp>
      <p:sp>
        <p:nvSpPr>
          <p:cNvPr id="13" name="a1wd510_code12"/>
          <p:cNvSpPr txBox="1"/>
          <p:nvPr/>
        </p:nvSpPr>
        <p:spPr>
          <a:xfrm>
            <a:off x="621792" y="310896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&lt;&lt;r::5, g::6, b::5&gt;&gt; = &lt;&lt;0xF81F::16&gt;&gt;</a:t>
            </a:r>
          </a:p>
        </p:txBody>
      </p:sp>
      <p:sp>
        <p:nvSpPr>
          <p:cNvPr id="14" name="a1wd595_code13"/>
          <p:cNvSpPr txBox="1"/>
          <p:nvPr/>
        </p:nvSpPr>
        <p:spPr>
          <a:xfrm>
            <a:off x="621792" y="332384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{r, g, b}</a:t>
            </a:r>
          </a:p>
        </p:txBody>
      </p:sp>
      <p:sp>
        <p:nvSpPr>
          <p:cNvPr id="15" name="a1wd680_code14"/>
          <p:cNvSpPr txBox="1"/>
          <p:nvPr/>
        </p:nvSpPr>
        <p:spPr>
          <a:xfrm>
            <a:off x="621792" y="353872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{31, 0, 31}            # unpacked in one match</a:t>
            </a:r>
          </a:p>
        </p:txBody>
      </p:sp>
      <p:sp>
        <p:nvSpPr>
          <p:cNvPr id="16" name="a2u_dot15"/>
          <p:cNvSpPr/>
          <p:nvPr/>
        </p:nvSpPr>
        <p:spPr>
          <a:xfrm>
            <a:off x="5532120" y="1554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_b16"/>
          <p:cNvSpPr txBox="1"/>
          <p:nvPr/>
        </p:nvSpPr>
        <p:spPr>
          <a:xfrm>
            <a:off x="5751576" y="1453895"/>
            <a:ext cx="2935224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Pattern match on bits  </a:t>
            </a:r>
            <a:r>
              <a:rPr sz="1100" b="0">
                <a:solidFill>
                  <a:srgbClr val="334155"/>
                </a:solidFill>
                <a:latin typeface="Calibri"/>
              </a:rPr>
              <a:t>binary protocols parse in one line, no bit shifting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5532120" y="246887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d180_b18"/>
          <p:cNvSpPr txBox="1"/>
          <p:nvPr/>
        </p:nvSpPr>
        <p:spPr>
          <a:xfrm>
            <a:off x="5751576" y="2368296"/>
            <a:ext cx="2935224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This is a core strength  </a:t>
            </a:r>
            <a:r>
              <a:rPr sz="1100" b="0">
                <a:solidFill>
                  <a:srgbClr val="334155"/>
                </a:solidFill>
                <a:latin typeface="Calibri"/>
              </a:rPr>
              <a:t>it is why the BEAM is good at network and codec work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05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Everything else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Functions, pids, references, ranges -
and how any two terms compare.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functions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pids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ranges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ordering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TERMS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Functions and closures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closure carries what it captured — and you can measure it.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84632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fn x -&gt; x end             flat =   2w</a:t>
            </a:r>
          </a:p>
        </p:txBody>
      </p:sp>
      <p:sp>
        <p:nvSpPr>
          <p:cNvPr id="8" name="a1wd100_code7"/>
          <p:cNvSpPr txBox="1"/>
          <p:nvPr/>
        </p:nvSpPr>
        <p:spPr>
          <a:xfrm>
            <a:off x="621792" y="203454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&amp;String.upcase/1          flat =   2w</a:t>
            </a:r>
          </a:p>
        </p:txBody>
      </p:sp>
      <p:sp>
        <p:nvSpPr>
          <p:cNvPr id="9" name="a1wd200_code8"/>
          <p:cNvSpPr txBox="1"/>
          <p:nvPr/>
        </p:nvSpPr>
        <p:spPr>
          <a:xfrm>
            <a:off x="621792" y="224942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" name="a1wd300_code9"/>
          <p:cNvSpPr txBox="1"/>
          <p:nvPr/>
        </p:nvSpPr>
        <p:spPr>
          <a:xfrm>
            <a:off x="621792" y="246430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big = Enum.to_list(1..100)   # 200 words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621792" y="2679191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fn -&gt; big end             flat = 203w</a:t>
            </a:r>
          </a:p>
        </p:txBody>
      </p:sp>
      <p:sp>
        <p:nvSpPr>
          <p:cNvPr id="12" name="a2u_dot11"/>
          <p:cNvSpPr/>
          <p:nvPr/>
        </p:nvSpPr>
        <p:spPr>
          <a:xfrm>
            <a:off x="5532120" y="1554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2u_b12"/>
          <p:cNvSpPr txBox="1"/>
          <p:nvPr/>
        </p:nvSpPr>
        <p:spPr>
          <a:xfrm>
            <a:off x="5751576" y="1453895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 bare function is 2 words  </a:t>
            </a:r>
            <a:r>
              <a:rPr sz="1100" b="0">
                <a:solidFill>
                  <a:srgbClr val="334155"/>
                </a:solidFill>
                <a:latin typeface="Calibri"/>
              </a:rPr>
              <a:t>just a reference to compiled code</a:t>
            </a:r>
          </a:p>
        </p:txBody>
      </p:sp>
      <p:sp>
        <p:nvSpPr>
          <p:cNvPr id="14" name="a2ud180_dot13"/>
          <p:cNvSpPr/>
          <p:nvPr/>
        </p:nvSpPr>
        <p:spPr>
          <a:xfrm>
            <a:off x="5532120" y="22311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ud180_b14"/>
          <p:cNvSpPr txBox="1"/>
          <p:nvPr/>
        </p:nvSpPr>
        <p:spPr>
          <a:xfrm>
            <a:off x="5751576" y="2130551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 closure includes the capture  </a:t>
            </a:r>
            <a:r>
              <a:rPr sz="1100" b="0">
                <a:solidFill>
                  <a:srgbClr val="334155"/>
                </a:solidFill>
                <a:latin typeface="Calibri"/>
              </a:rPr>
              <a:t>203 words = the fun plus the 200-word list</a:t>
            </a:r>
          </a:p>
        </p:txBody>
      </p:sp>
      <p:sp>
        <p:nvSpPr>
          <p:cNvPr id="16" name="a2ud360_dot15"/>
          <p:cNvSpPr/>
          <p:nvPr/>
        </p:nvSpPr>
        <p:spPr>
          <a:xfrm>
            <a:off x="5532120" y="290779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d360_b16"/>
          <p:cNvSpPr txBox="1"/>
          <p:nvPr/>
        </p:nvSpPr>
        <p:spPr>
          <a:xfrm>
            <a:off x="5751576" y="2807208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So closures can pin memory  </a:t>
            </a:r>
            <a:r>
              <a:rPr sz="1100" b="0">
                <a:solidFill>
                  <a:srgbClr val="334155"/>
                </a:solidFill>
                <a:latin typeface="Calibri"/>
              </a:rPr>
              <a:t>a long-lived fun keeps its captured data alive</a:t>
            </a:r>
          </a:p>
        </p:txBody>
      </p:sp>
      <p:sp>
        <p:nvSpPr>
          <p:cNvPr id="18" name="a3f_nb17"/>
          <p:cNvSpPr/>
          <p:nvPr/>
        </p:nvSpPr>
        <p:spPr>
          <a:xfrm>
            <a:off x="457200" y="3593591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3f_nacc18"/>
          <p:cNvSpPr/>
          <p:nvPr/>
        </p:nvSpPr>
        <p:spPr>
          <a:xfrm>
            <a:off x="457200" y="3593591"/>
            <a:ext cx="50292" cy="6035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3f_nt19"/>
          <p:cNvSpPr txBox="1"/>
          <p:nvPr/>
        </p:nvSpPr>
        <p:spPr>
          <a:xfrm>
            <a:off x="658368" y="3593591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Capture only what you need. A closure sent to another process copies everything it closed over - which is the usual reason a small message turns out to be large.</a:t>
            </a:r>
          </a:p>
        </p:txBody>
      </p:sp>
      <p:sp>
        <p:nvSpPr>
          <p:cNvPr id="21" name="a4u_dot20"/>
          <p:cNvSpPr/>
          <p:nvPr/>
        </p:nvSpPr>
        <p:spPr>
          <a:xfrm>
            <a:off x="457200" y="440740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4u_b21"/>
          <p:cNvSpPr txBox="1"/>
          <p:nvPr/>
        </p:nvSpPr>
        <p:spPr>
          <a:xfrm>
            <a:off x="676656" y="4306824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Two syntaxes, one thing  </a:t>
            </a:r>
            <a:r>
              <a:rPr sz="1150" b="0">
                <a:solidFill>
                  <a:srgbClr val="334155"/>
                </a:solidFill>
                <a:latin typeface="Calibri"/>
              </a:rPr>
              <a:t>fn x -&gt; x * 2 end and &amp;(&amp;1 * 2) compile to the same function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TERMS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PIDs, references and ranges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70431"/>
            <a:ext cx="196596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170431"/>
            <a:ext cx="18562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Term</a:t>
            </a:r>
          </a:p>
        </p:txBody>
      </p:sp>
      <p:sp>
        <p:nvSpPr>
          <p:cNvPr id="6" name="a1wd130_td5"/>
          <p:cNvSpPr/>
          <p:nvPr/>
        </p:nvSpPr>
        <p:spPr>
          <a:xfrm>
            <a:off x="457200" y="1536191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130_tdt6"/>
          <p:cNvSpPr txBox="1"/>
          <p:nvPr/>
        </p:nvSpPr>
        <p:spPr>
          <a:xfrm>
            <a:off x="530352" y="1536191"/>
            <a:ext cx="18562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self()</a:t>
            </a:r>
          </a:p>
        </p:txBody>
      </p:sp>
      <p:sp>
        <p:nvSpPr>
          <p:cNvPr id="8" name="a1wd260_td7"/>
          <p:cNvSpPr/>
          <p:nvPr/>
        </p:nvSpPr>
        <p:spPr>
          <a:xfrm>
            <a:off x="457200" y="1901952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260_tdt8"/>
          <p:cNvSpPr txBox="1"/>
          <p:nvPr/>
        </p:nvSpPr>
        <p:spPr>
          <a:xfrm>
            <a:off x="530352" y="1901952"/>
            <a:ext cx="18562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make_ref()</a:t>
            </a:r>
          </a:p>
        </p:txBody>
      </p:sp>
      <p:sp>
        <p:nvSpPr>
          <p:cNvPr id="10" name="a1wd390_td9"/>
          <p:cNvSpPr/>
          <p:nvPr/>
        </p:nvSpPr>
        <p:spPr>
          <a:xfrm>
            <a:off x="457200" y="2267712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390_tdt10"/>
          <p:cNvSpPr txBox="1"/>
          <p:nvPr/>
        </p:nvSpPr>
        <p:spPr>
          <a:xfrm>
            <a:off x="530352" y="2267712"/>
            <a:ext cx="18562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1..10</a:t>
            </a:r>
          </a:p>
        </p:txBody>
      </p:sp>
      <p:sp>
        <p:nvSpPr>
          <p:cNvPr id="12" name="a1wd520_td11"/>
          <p:cNvSpPr/>
          <p:nvPr/>
        </p:nvSpPr>
        <p:spPr>
          <a:xfrm>
            <a:off x="457200" y="2633472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520_tdt12"/>
          <p:cNvSpPr txBox="1"/>
          <p:nvPr/>
        </p:nvSpPr>
        <p:spPr>
          <a:xfrm>
            <a:off x="530352" y="2633472"/>
            <a:ext cx="18562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1..1_000_000</a:t>
            </a:r>
          </a:p>
        </p:txBody>
      </p:sp>
      <p:sp>
        <p:nvSpPr>
          <p:cNvPr id="14" name="a1f_th13"/>
          <p:cNvSpPr/>
          <p:nvPr/>
        </p:nvSpPr>
        <p:spPr>
          <a:xfrm>
            <a:off x="2423160" y="1170431"/>
            <a:ext cx="86868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f_tht14"/>
          <p:cNvSpPr txBox="1"/>
          <p:nvPr/>
        </p:nvSpPr>
        <p:spPr>
          <a:xfrm>
            <a:off x="2496312" y="1170431"/>
            <a:ext cx="758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Words</a:t>
            </a:r>
          </a:p>
        </p:txBody>
      </p:sp>
      <p:sp>
        <p:nvSpPr>
          <p:cNvPr id="16" name="a1wd130_td15"/>
          <p:cNvSpPr/>
          <p:nvPr/>
        </p:nvSpPr>
        <p:spPr>
          <a:xfrm>
            <a:off x="2423160" y="1536191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130_tdt16"/>
          <p:cNvSpPr txBox="1"/>
          <p:nvPr/>
        </p:nvSpPr>
        <p:spPr>
          <a:xfrm>
            <a:off x="2496312" y="1536191"/>
            <a:ext cx="758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18" name="a1wd260_td17"/>
          <p:cNvSpPr/>
          <p:nvPr/>
        </p:nvSpPr>
        <p:spPr>
          <a:xfrm>
            <a:off x="2423160" y="1901952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260_tdt18"/>
          <p:cNvSpPr txBox="1"/>
          <p:nvPr/>
        </p:nvSpPr>
        <p:spPr>
          <a:xfrm>
            <a:off x="2496312" y="1901952"/>
            <a:ext cx="758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20" name="a1wd390_td19"/>
          <p:cNvSpPr/>
          <p:nvPr/>
        </p:nvSpPr>
        <p:spPr>
          <a:xfrm>
            <a:off x="2423160" y="2267712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390_tdt20"/>
          <p:cNvSpPr txBox="1"/>
          <p:nvPr/>
        </p:nvSpPr>
        <p:spPr>
          <a:xfrm>
            <a:off x="2496312" y="2267712"/>
            <a:ext cx="758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12</a:t>
            </a:r>
          </a:p>
        </p:txBody>
      </p:sp>
      <p:sp>
        <p:nvSpPr>
          <p:cNvPr id="22" name="a1wd520_td21"/>
          <p:cNvSpPr/>
          <p:nvPr/>
        </p:nvSpPr>
        <p:spPr>
          <a:xfrm>
            <a:off x="2423160" y="2633472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wd520_tdt22"/>
          <p:cNvSpPr txBox="1"/>
          <p:nvPr/>
        </p:nvSpPr>
        <p:spPr>
          <a:xfrm>
            <a:off x="2496312" y="2633472"/>
            <a:ext cx="758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12</a:t>
            </a:r>
          </a:p>
        </p:txBody>
      </p:sp>
      <p:sp>
        <p:nvSpPr>
          <p:cNvPr id="24" name="a1f_th23"/>
          <p:cNvSpPr/>
          <p:nvPr/>
        </p:nvSpPr>
        <p:spPr>
          <a:xfrm>
            <a:off x="3291839" y="1170431"/>
            <a:ext cx="539496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f_tht24"/>
          <p:cNvSpPr txBox="1"/>
          <p:nvPr/>
        </p:nvSpPr>
        <p:spPr>
          <a:xfrm>
            <a:off x="3364991" y="1170431"/>
            <a:ext cx="52852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26" name="a1wd130_td25"/>
          <p:cNvSpPr/>
          <p:nvPr/>
        </p:nvSpPr>
        <p:spPr>
          <a:xfrm>
            <a:off x="3291839" y="1536191"/>
            <a:ext cx="5394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130_tdt26"/>
          <p:cNvSpPr txBox="1"/>
          <p:nvPr/>
        </p:nvSpPr>
        <p:spPr>
          <a:xfrm>
            <a:off x="3364991" y="1536191"/>
            <a:ext cx="52852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pid is an immediate - process identity, free to hold</a:t>
            </a:r>
          </a:p>
        </p:txBody>
      </p:sp>
      <p:sp>
        <p:nvSpPr>
          <p:cNvPr id="28" name="a1wd260_td27"/>
          <p:cNvSpPr/>
          <p:nvPr/>
        </p:nvSpPr>
        <p:spPr>
          <a:xfrm>
            <a:off x="3291839" y="1901952"/>
            <a:ext cx="5394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wd260_tdt28"/>
          <p:cNvSpPr txBox="1"/>
          <p:nvPr/>
        </p:nvSpPr>
        <p:spPr>
          <a:xfrm>
            <a:off x="3364991" y="1901952"/>
            <a:ext cx="52852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unique token; unique per node, per VM run</a:t>
            </a:r>
          </a:p>
        </p:txBody>
      </p:sp>
      <p:sp>
        <p:nvSpPr>
          <p:cNvPr id="30" name="a1wd390_td29"/>
          <p:cNvSpPr/>
          <p:nvPr/>
        </p:nvSpPr>
        <p:spPr>
          <a:xfrm>
            <a:off x="3291839" y="2267712"/>
            <a:ext cx="5394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390_tdt30"/>
          <p:cNvSpPr txBox="1"/>
          <p:nvPr/>
        </p:nvSpPr>
        <p:spPr>
          <a:xfrm>
            <a:off x="3364991" y="2267712"/>
            <a:ext cx="52852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struct: first, last, step</a:t>
            </a:r>
          </a:p>
        </p:txBody>
      </p:sp>
      <p:sp>
        <p:nvSpPr>
          <p:cNvPr id="32" name="a1wd520_td31"/>
          <p:cNvSpPr/>
          <p:nvPr/>
        </p:nvSpPr>
        <p:spPr>
          <a:xfrm>
            <a:off x="3291839" y="2633472"/>
            <a:ext cx="5394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520_tdt32"/>
          <p:cNvSpPr txBox="1"/>
          <p:nvPr/>
        </p:nvSpPr>
        <p:spPr>
          <a:xfrm>
            <a:off x="3364991" y="2633472"/>
            <a:ext cx="52852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same 12 words - a range is lazy, not a list</a:t>
            </a:r>
          </a:p>
        </p:txBody>
      </p:sp>
      <p:sp>
        <p:nvSpPr>
          <p:cNvPr id="34" name="a2f_nb33"/>
          <p:cNvSpPr/>
          <p:nvPr/>
        </p:nvSpPr>
        <p:spPr>
          <a:xfrm>
            <a:off x="457200" y="29352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2f_nacc34"/>
          <p:cNvSpPr/>
          <p:nvPr/>
        </p:nvSpPr>
        <p:spPr>
          <a:xfrm>
            <a:off x="457200" y="2935224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2f_nt35"/>
          <p:cNvSpPr txBox="1"/>
          <p:nvPr/>
        </p:nvSpPr>
        <p:spPr>
          <a:xfrm>
            <a:off x="658368" y="2935224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range result is the one to remember: 1..1_000_000 costs the same 12 words as 1..10, because it describes the sequence rather than holding it. Enum.to_list/1 is what makes it expensive.</a:t>
            </a:r>
          </a:p>
        </p:txBody>
      </p:sp>
      <p:sp>
        <p:nvSpPr>
          <p:cNvPr id="37" name="a3u_dot36"/>
          <p:cNvSpPr/>
          <p:nvPr/>
        </p:nvSpPr>
        <p:spPr>
          <a:xfrm>
            <a:off x="457200" y="3840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3u_b37"/>
          <p:cNvSpPr txBox="1"/>
          <p:nvPr/>
        </p:nvSpPr>
        <p:spPr>
          <a:xfrm>
            <a:off x="676656" y="3739896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References are for correlation  </a:t>
            </a:r>
            <a:r>
              <a:rPr sz="1150" b="0">
                <a:solidFill>
                  <a:srgbClr val="334155"/>
                </a:solidFill>
                <a:latin typeface="Calibri"/>
              </a:rPr>
              <a:t>tag a request, match the reply - never reuse across nodes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TERMS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Any two terms can be compared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There is a total ordering across all types — memorise it or be surprised by sorts.</a:t>
            </a:r>
          </a:p>
        </p:txBody>
      </p:sp>
      <p:sp>
        <p:nvSpPr>
          <p:cNvPr id="5" name="a1u_ord4"/>
          <p:cNvSpPr/>
          <p:nvPr/>
        </p:nvSpPr>
        <p:spPr>
          <a:xfrm>
            <a:off x="457200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_ordt5"/>
          <p:cNvSpPr txBox="1"/>
          <p:nvPr/>
        </p:nvSpPr>
        <p:spPr>
          <a:xfrm>
            <a:off x="475488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number</a:t>
            </a:r>
          </a:p>
        </p:txBody>
      </p:sp>
      <p:sp>
        <p:nvSpPr>
          <p:cNvPr id="7" name="a1ud70_ord6"/>
          <p:cNvSpPr/>
          <p:nvPr/>
        </p:nvSpPr>
        <p:spPr>
          <a:xfrm>
            <a:off x="1285646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ud70_ordt7"/>
          <p:cNvSpPr txBox="1"/>
          <p:nvPr/>
        </p:nvSpPr>
        <p:spPr>
          <a:xfrm>
            <a:off x="1303934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atom</a:t>
            </a:r>
          </a:p>
        </p:txBody>
      </p:sp>
      <p:sp>
        <p:nvSpPr>
          <p:cNvPr id="9" name="a1ud140_ord8"/>
          <p:cNvSpPr/>
          <p:nvPr/>
        </p:nvSpPr>
        <p:spPr>
          <a:xfrm>
            <a:off x="2114092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ud140_ordt9"/>
          <p:cNvSpPr txBox="1"/>
          <p:nvPr/>
        </p:nvSpPr>
        <p:spPr>
          <a:xfrm>
            <a:off x="2132380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reference</a:t>
            </a:r>
          </a:p>
        </p:txBody>
      </p:sp>
      <p:sp>
        <p:nvSpPr>
          <p:cNvPr id="11" name="a1ud210_ord10"/>
          <p:cNvSpPr/>
          <p:nvPr/>
        </p:nvSpPr>
        <p:spPr>
          <a:xfrm>
            <a:off x="2942539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ud210_ordt11"/>
          <p:cNvSpPr txBox="1"/>
          <p:nvPr/>
        </p:nvSpPr>
        <p:spPr>
          <a:xfrm>
            <a:off x="2960827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13" name="a1ud280_ord12"/>
          <p:cNvSpPr/>
          <p:nvPr/>
        </p:nvSpPr>
        <p:spPr>
          <a:xfrm>
            <a:off x="3770985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ud280_ordt13"/>
          <p:cNvSpPr txBox="1"/>
          <p:nvPr/>
        </p:nvSpPr>
        <p:spPr>
          <a:xfrm>
            <a:off x="3789273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port</a:t>
            </a:r>
          </a:p>
        </p:txBody>
      </p:sp>
      <p:sp>
        <p:nvSpPr>
          <p:cNvPr id="15" name="a1ud350_ord14"/>
          <p:cNvSpPr/>
          <p:nvPr/>
        </p:nvSpPr>
        <p:spPr>
          <a:xfrm>
            <a:off x="4599432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ud350_ordt15"/>
          <p:cNvSpPr txBox="1"/>
          <p:nvPr/>
        </p:nvSpPr>
        <p:spPr>
          <a:xfrm>
            <a:off x="4617720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pid</a:t>
            </a:r>
          </a:p>
        </p:txBody>
      </p:sp>
      <p:sp>
        <p:nvSpPr>
          <p:cNvPr id="17" name="a1ud420_ord16"/>
          <p:cNvSpPr/>
          <p:nvPr/>
        </p:nvSpPr>
        <p:spPr>
          <a:xfrm>
            <a:off x="5427878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ud420_ordt17"/>
          <p:cNvSpPr txBox="1"/>
          <p:nvPr/>
        </p:nvSpPr>
        <p:spPr>
          <a:xfrm>
            <a:off x="5446166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tuple</a:t>
            </a:r>
          </a:p>
        </p:txBody>
      </p:sp>
      <p:sp>
        <p:nvSpPr>
          <p:cNvPr id="19" name="a1ud490_ord18"/>
          <p:cNvSpPr/>
          <p:nvPr/>
        </p:nvSpPr>
        <p:spPr>
          <a:xfrm>
            <a:off x="6256324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ud490_ordt19"/>
          <p:cNvSpPr txBox="1"/>
          <p:nvPr/>
        </p:nvSpPr>
        <p:spPr>
          <a:xfrm>
            <a:off x="6274612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21" name="a1ud560_ord20"/>
          <p:cNvSpPr/>
          <p:nvPr/>
        </p:nvSpPr>
        <p:spPr>
          <a:xfrm>
            <a:off x="7084771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ud560_ordt21"/>
          <p:cNvSpPr txBox="1"/>
          <p:nvPr/>
        </p:nvSpPr>
        <p:spPr>
          <a:xfrm>
            <a:off x="7103059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list</a:t>
            </a:r>
          </a:p>
        </p:txBody>
      </p:sp>
      <p:sp>
        <p:nvSpPr>
          <p:cNvPr id="23" name="a1ud630_ord22"/>
          <p:cNvSpPr/>
          <p:nvPr/>
        </p:nvSpPr>
        <p:spPr>
          <a:xfrm>
            <a:off x="7913217" y="1453895"/>
            <a:ext cx="773582" cy="475488"/>
          </a:xfrm>
          <a:prstGeom prst="roundRect">
            <a:avLst>
              <a:gd name="adj" fmla="val 1346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ud630_ordt23"/>
          <p:cNvSpPr txBox="1"/>
          <p:nvPr/>
        </p:nvSpPr>
        <p:spPr>
          <a:xfrm>
            <a:off x="7931505" y="1453895"/>
            <a:ext cx="7370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bitstring</a:t>
            </a:r>
          </a:p>
        </p:txBody>
      </p:sp>
      <p:sp>
        <p:nvSpPr>
          <p:cNvPr id="25" name="a1fd800_lbl24"/>
          <p:cNvSpPr txBox="1"/>
          <p:nvPr/>
        </p:nvSpPr>
        <p:spPr>
          <a:xfrm>
            <a:off x="457200" y="19842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lowest  →  highest</a:t>
            </a:r>
          </a:p>
        </p:txBody>
      </p:sp>
      <p:sp>
        <p:nvSpPr>
          <p:cNvPr id="26" name="a2f_codebg25"/>
          <p:cNvSpPr/>
          <p:nvPr/>
        </p:nvSpPr>
        <p:spPr>
          <a:xfrm>
            <a:off x="457200" y="2313432"/>
            <a:ext cx="822960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2f_codeh26"/>
          <p:cNvSpPr txBox="1"/>
          <p:nvPr/>
        </p:nvSpPr>
        <p:spPr>
          <a:xfrm>
            <a:off x="621792" y="2368296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probe_lang.exs</a:t>
            </a:r>
          </a:p>
        </p:txBody>
      </p:sp>
      <p:sp>
        <p:nvSpPr>
          <p:cNvPr id="28" name="a2w_code27"/>
          <p:cNvSpPr txBox="1"/>
          <p:nvPr/>
        </p:nvSpPr>
        <p:spPr>
          <a:xfrm>
            <a:off x="621792" y="275234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1 &lt; 2.0 and 2.0 &lt; :atom and :atom &lt; {1} and {1} &lt; %{a: 1}</a:t>
            </a:r>
          </a:p>
        </p:txBody>
      </p:sp>
      <p:sp>
        <p:nvSpPr>
          <p:cNvPr id="29" name="a2wd90_code28"/>
          <p:cNvSpPr txBox="1"/>
          <p:nvPr/>
        </p:nvSpPr>
        <p:spPr>
          <a:xfrm>
            <a:off x="621792" y="296722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</a:t>
            </a:r>
          </a:p>
        </p:txBody>
      </p:sp>
      <p:sp>
        <p:nvSpPr>
          <p:cNvPr id="30" name="a2wd180_code29"/>
          <p:cNvSpPr txBox="1"/>
          <p:nvPr/>
        </p:nvSpPr>
        <p:spPr>
          <a:xfrm>
            <a:off x="621792" y="318211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%{a: 1} &lt; [1] and [1] &lt; "bin"</a:t>
            </a:r>
          </a:p>
        </p:txBody>
      </p:sp>
      <p:sp>
        <p:nvSpPr>
          <p:cNvPr id="31" name="a2wd270_code30"/>
          <p:cNvSpPr txBox="1"/>
          <p:nvPr/>
        </p:nvSpPr>
        <p:spPr>
          <a:xfrm>
            <a:off x="621792" y="339699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</a:t>
            </a:r>
          </a:p>
        </p:txBody>
      </p:sp>
      <p:sp>
        <p:nvSpPr>
          <p:cNvPr id="32" name="a2wd360_code31"/>
          <p:cNvSpPr txBox="1"/>
          <p:nvPr/>
        </p:nvSpPr>
        <p:spPr>
          <a:xfrm>
            <a:off x="621792" y="361188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1 == 1.0</a:t>
            </a:r>
          </a:p>
        </p:txBody>
      </p:sp>
      <p:sp>
        <p:nvSpPr>
          <p:cNvPr id="33" name="a2wd450_code32"/>
          <p:cNvSpPr txBox="1"/>
          <p:nvPr/>
        </p:nvSpPr>
        <p:spPr>
          <a:xfrm>
            <a:off x="621792" y="382676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true                    # == compares value across int and float</a:t>
            </a:r>
          </a:p>
        </p:txBody>
      </p:sp>
      <p:sp>
        <p:nvSpPr>
          <p:cNvPr id="34" name="a2wd540_code33"/>
          <p:cNvSpPr txBox="1"/>
          <p:nvPr/>
        </p:nvSpPr>
        <p:spPr>
          <a:xfrm>
            <a:off x="621792" y="404164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1 === 1.0</a:t>
            </a:r>
          </a:p>
        </p:txBody>
      </p:sp>
      <p:sp>
        <p:nvSpPr>
          <p:cNvPr id="35" name="a2wd630_code34"/>
          <p:cNvSpPr txBox="1"/>
          <p:nvPr/>
        </p:nvSpPr>
        <p:spPr>
          <a:xfrm>
            <a:off x="621792" y="425653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false                   # === also compares type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REFERENCE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Every size on one slide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Measured with :erts_debug.flat_size/1 · Elixir 1.20.4 · OTP 29 · 8-byte word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80744"/>
            <a:ext cx="205740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tht5"/>
          <p:cNvSpPr txBox="1"/>
          <p:nvPr/>
        </p:nvSpPr>
        <p:spPr>
          <a:xfrm>
            <a:off x="530352" y="138074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7" name="a1wd80_td6"/>
          <p:cNvSpPr/>
          <p:nvPr/>
        </p:nvSpPr>
        <p:spPr>
          <a:xfrm>
            <a:off x="457200" y="165506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wd80_tdt7"/>
          <p:cNvSpPr txBox="1"/>
          <p:nvPr/>
        </p:nvSpPr>
        <p:spPr>
          <a:xfrm>
            <a:off x="530352" y="165506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Small integer</a:t>
            </a:r>
          </a:p>
        </p:txBody>
      </p:sp>
      <p:sp>
        <p:nvSpPr>
          <p:cNvPr id="9" name="a1wd160_td8"/>
          <p:cNvSpPr/>
          <p:nvPr/>
        </p:nvSpPr>
        <p:spPr>
          <a:xfrm>
            <a:off x="457200" y="192938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wd160_tdt9"/>
          <p:cNvSpPr txBox="1"/>
          <p:nvPr/>
        </p:nvSpPr>
        <p:spPr>
          <a:xfrm>
            <a:off x="530352" y="19293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Bignum 2^64</a:t>
            </a:r>
          </a:p>
        </p:txBody>
      </p:sp>
      <p:sp>
        <p:nvSpPr>
          <p:cNvPr id="11" name="a1wd240_td10"/>
          <p:cNvSpPr/>
          <p:nvPr/>
        </p:nvSpPr>
        <p:spPr>
          <a:xfrm>
            <a:off x="457200" y="220370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wd240_tdt11"/>
          <p:cNvSpPr txBox="1"/>
          <p:nvPr/>
        </p:nvSpPr>
        <p:spPr>
          <a:xfrm>
            <a:off x="530352" y="220370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Float</a:t>
            </a:r>
          </a:p>
        </p:txBody>
      </p:sp>
      <p:sp>
        <p:nvSpPr>
          <p:cNvPr id="13" name="a1wd320_td12"/>
          <p:cNvSpPr/>
          <p:nvPr/>
        </p:nvSpPr>
        <p:spPr>
          <a:xfrm>
            <a:off x="457200" y="247802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1wd320_tdt13"/>
          <p:cNvSpPr txBox="1"/>
          <p:nvPr/>
        </p:nvSpPr>
        <p:spPr>
          <a:xfrm>
            <a:off x="530352" y="247802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Atom (any length)</a:t>
            </a:r>
          </a:p>
        </p:txBody>
      </p:sp>
      <p:sp>
        <p:nvSpPr>
          <p:cNvPr id="15" name="a1wd400_td14"/>
          <p:cNvSpPr/>
          <p:nvPr/>
        </p:nvSpPr>
        <p:spPr>
          <a:xfrm>
            <a:off x="457200" y="275234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wd400_tdt15"/>
          <p:cNvSpPr txBox="1"/>
          <p:nvPr/>
        </p:nvSpPr>
        <p:spPr>
          <a:xfrm>
            <a:off x="530352" y="275234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PID</a:t>
            </a:r>
          </a:p>
        </p:txBody>
      </p:sp>
      <p:sp>
        <p:nvSpPr>
          <p:cNvPr id="17" name="a1wd480_td16"/>
          <p:cNvSpPr/>
          <p:nvPr/>
        </p:nvSpPr>
        <p:spPr>
          <a:xfrm>
            <a:off x="457200" y="3026663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1wd480_tdt17"/>
          <p:cNvSpPr txBox="1"/>
          <p:nvPr/>
        </p:nvSpPr>
        <p:spPr>
          <a:xfrm>
            <a:off x="530352" y="3026663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Reference</a:t>
            </a:r>
          </a:p>
        </p:txBody>
      </p:sp>
      <p:sp>
        <p:nvSpPr>
          <p:cNvPr id="19" name="a1wd560_td18"/>
          <p:cNvSpPr/>
          <p:nvPr/>
        </p:nvSpPr>
        <p:spPr>
          <a:xfrm>
            <a:off x="457200" y="330098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1wd560_tdt19"/>
          <p:cNvSpPr txBox="1"/>
          <p:nvPr/>
        </p:nvSpPr>
        <p:spPr>
          <a:xfrm>
            <a:off x="530352" y="33009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Empty tuple</a:t>
            </a:r>
          </a:p>
        </p:txBody>
      </p:sp>
      <p:sp>
        <p:nvSpPr>
          <p:cNvPr id="21" name="a1wd640_td20"/>
          <p:cNvSpPr/>
          <p:nvPr/>
        </p:nvSpPr>
        <p:spPr>
          <a:xfrm>
            <a:off x="457200" y="357530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1wd640_tdt21"/>
          <p:cNvSpPr txBox="1"/>
          <p:nvPr/>
        </p:nvSpPr>
        <p:spPr>
          <a:xfrm>
            <a:off x="530352" y="357530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Tuple of n</a:t>
            </a:r>
          </a:p>
        </p:txBody>
      </p:sp>
      <p:sp>
        <p:nvSpPr>
          <p:cNvPr id="23" name="a1f_th22"/>
          <p:cNvSpPr/>
          <p:nvPr/>
        </p:nvSpPr>
        <p:spPr>
          <a:xfrm>
            <a:off x="2514600" y="1380744"/>
            <a:ext cx="91440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1f_tht23"/>
          <p:cNvSpPr txBox="1"/>
          <p:nvPr/>
        </p:nvSpPr>
        <p:spPr>
          <a:xfrm>
            <a:off x="2587752" y="138074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Words</a:t>
            </a:r>
          </a:p>
        </p:txBody>
      </p:sp>
      <p:sp>
        <p:nvSpPr>
          <p:cNvPr id="25" name="a1wd80_td24"/>
          <p:cNvSpPr/>
          <p:nvPr/>
        </p:nvSpPr>
        <p:spPr>
          <a:xfrm>
            <a:off x="2514600" y="165506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1wd80_tdt25"/>
          <p:cNvSpPr txBox="1"/>
          <p:nvPr/>
        </p:nvSpPr>
        <p:spPr>
          <a:xfrm>
            <a:off x="2587752" y="165506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27" name="a1wd160_td26"/>
          <p:cNvSpPr/>
          <p:nvPr/>
        </p:nvSpPr>
        <p:spPr>
          <a:xfrm>
            <a:off x="2514600" y="192938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1wd160_tdt27"/>
          <p:cNvSpPr txBox="1"/>
          <p:nvPr/>
        </p:nvSpPr>
        <p:spPr>
          <a:xfrm>
            <a:off x="2587752" y="192938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29" name="a1wd240_td28"/>
          <p:cNvSpPr/>
          <p:nvPr/>
        </p:nvSpPr>
        <p:spPr>
          <a:xfrm>
            <a:off x="2514600" y="220370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1wd240_tdt29"/>
          <p:cNvSpPr txBox="1"/>
          <p:nvPr/>
        </p:nvSpPr>
        <p:spPr>
          <a:xfrm>
            <a:off x="2587752" y="220370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</a:t>
            </a:r>
          </a:p>
        </p:txBody>
      </p:sp>
      <p:sp>
        <p:nvSpPr>
          <p:cNvPr id="31" name="a1wd320_td30"/>
          <p:cNvSpPr/>
          <p:nvPr/>
        </p:nvSpPr>
        <p:spPr>
          <a:xfrm>
            <a:off x="2514600" y="247802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1wd320_tdt31"/>
          <p:cNvSpPr txBox="1"/>
          <p:nvPr/>
        </p:nvSpPr>
        <p:spPr>
          <a:xfrm>
            <a:off x="2587752" y="247802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33" name="a1wd400_td32"/>
          <p:cNvSpPr/>
          <p:nvPr/>
        </p:nvSpPr>
        <p:spPr>
          <a:xfrm>
            <a:off x="2514600" y="275234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1wd400_tdt33"/>
          <p:cNvSpPr txBox="1"/>
          <p:nvPr/>
        </p:nvSpPr>
        <p:spPr>
          <a:xfrm>
            <a:off x="2587752" y="275234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35" name="a1wd480_td34"/>
          <p:cNvSpPr/>
          <p:nvPr/>
        </p:nvSpPr>
        <p:spPr>
          <a:xfrm>
            <a:off x="2514600" y="3026663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a1wd480_tdt35"/>
          <p:cNvSpPr txBox="1"/>
          <p:nvPr/>
        </p:nvSpPr>
        <p:spPr>
          <a:xfrm>
            <a:off x="2587752" y="3026663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37" name="a1wd560_td36"/>
          <p:cNvSpPr/>
          <p:nvPr/>
        </p:nvSpPr>
        <p:spPr>
          <a:xfrm>
            <a:off x="2514600" y="330098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1wd560_tdt37"/>
          <p:cNvSpPr txBox="1"/>
          <p:nvPr/>
        </p:nvSpPr>
        <p:spPr>
          <a:xfrm>
            <a:off x="2587752" y="330098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39" name="a1wd640_td38"/>
          <p:cNvSpPr/>
          <p:nvPr/>
        </p:nvSpPr>
        <p:spPr>
          <a:xfrm>
            <a:off x="2514600" y="357530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1wd640_tdt39"/>
          <p:cNvSpPr txBox="1"/>
          <p:nvPr/>
        </p:nvSpPr>
        <p:spPr>
          <a:xfrm>
            <a:off x="2587752" y="357530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n + 1</a:t>
            </a:r>
          </a:p>
        </p:txBody>
      </p:sp>
      <p:sp>
        <p:nvSpPr>
          <p:cNvPr id="41" name="a1f_th40"/>
          <p:cNvSpPr/>
          <p:nvPr/>
        </p:nvSpPr>
        <p:spPr>
          <a:xfrm>
            <a:off x="3429000" y="1380744"/>
            <a:ext cx="100584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1f_tht41"/>
          <p:cNvSpPr txBox="1"/>
          <p:nvPr/>
        </p:nvSpPr>
        <p:spPr>
          <a:xfrm>
            <a:off x="3502152" y="138074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Bytes</a:t>
            </a:r>
          </a:p>
        </p:txBody>
      </p:sp>
      <p:sp>
        <p:nvSpPr>
          <p:cNvPr id="43" name="a1wd80_td42"/>
          <p:cNvSpPr/>
          <p:nvPr/>
        </p:nvSpPr>
        <p:spPr>
          <a:xfrm>
            <a:off x="3429000" y="165506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a1wd80_tdt43"/>
          <p:cNvSpPr txBox="1"/>
          <p:nvPr/>
        </p:nvSpPr>
        <p:spPr>
          <a:xfrm>
            <a:off x="3502152" y="165506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45" name="a1wd160_td44"/>
          <p:cNvSpPr/>
          <p:nvPr/>
        </p:nvSpPr>
        <p:spPr>
          <a:xfrm>
            <a:off x="3429000" y="192938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a1wd160_tdt45"/>
          <p:cNvSpPr txBox="1"/>
          <p:nvPr/>
        </p:nvSpPr>
        <p:spPr>
          <a:xfrm>
            <a:off x="3502152" y="192938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24</a:t>
            </a:r>
          </a:p>
        </p:txBody>
      </p:sp>
      <p:sp>
        <p:nvSpPr>
          <p:cNvPr id="47" name="a1wd240_td46"/>
          <p:cNvSpPr/>
          <p:nvPr/>
        </p:nvSpPr>
        <p:spPr>
          <a:xfrm>
            <a:off x="3429000" y="220370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a1wd240_tdt47"/>
          <p:cNvSpPr txBox="1"/>
          <p:nvPr/>
        </p:nvSpPr>
        <p:spPr>
          <a:xfrm>
            <a:off x="3502152" y="220370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16</a:t>
            </a:r>
          </a:p>
        </p:txBody>
      </p:sp>
      <p:sp>
        <p:nvSpPr>
          <p:cNvPr id="49" name="a1wd320_td48"/>
          <p:cNvSpPr/>
          <p:nvPr/>
        </p:nvSpPr>
        <p:spPr>
          <a:xfrm>
            <a:off x="3429000" y="247802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a1wd320_tdt49"/>
          <p:cNvSpPr txBox="1"/>
          <p:nvPr/>
        </p:nvSpPr>
        <p:spPr>
          <a:xfrm>
            <a:off x="3502152" y="247802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51" name="a1wd400_td50"/>
          <p:cNvSpPr/>
          <p:nvPr/>
        </p:nvSpPr>
        <p:spPr>
          <a:xfrm>
            <a:off x="3429000" y="275234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a1wd400_tdt51"/>
          <p:cNvSpPr txBox="1"/>
          <p:nvPr/>
        </p:nvSpPr>
        <p:spPr>
          <a:xfrm>
            <a:off x="3502152" y="275234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53" name="a1wd480_td52"/>
          <p:cNvSpPr/>
          <p:nvPr/>
        </p:nvSpPr>
        <p:spPr>
          <a:xfrm>
            <a:off x="3429000" y="3026663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a1wd480_tdt53"/>
          <p:cNvSpPr txBox="1"/>
          <p:nvPr/>
        </p:nvSpPr>
        <p:spPr>
          <a:xfrm>
            <a:off x="3502152" y="3026663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24</a:t>
            </a:r>
          </a:p>
        </p:txBody>
      </p:sp>
      <p:sp>
        <p:nvSpPr>
          <p:cNvPr id="55" name="a1wd560_td54"/>
          <p:cNvSpPr/>
          <p:nvPr/>
        </p:nvSpPr>
        <p:spPr>
          <a:xfrm>
            <a:off x="3429000" y="330098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a1wd560_tdt55"/>
          <p:cNvSpPr txBox="1"/>
          <p:nvPr/>
        </p:nvSpPr>
        <p:spPr>
          <a:xfrm>
            <a:off x="3502152" y="330098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57" name="a1wd640_td56"/>
          <p:cNvSpPr/>
          <p:nvPr/>
        </p:nvSpPr>
        <p:spPr>
          <a:xfrm>
            <a:off x="3429000" y="357530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a1wd640_tdt57"/>
          <p:cNvSpPr txBox="1"/>
          <p:nvPr/>
        </p:nvSpPr>
        <p:spPr>
          <a:xfrm>
            <a:off x="3502152" y="357530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8(n+1)</a:t>
            </a:r>
          </a:p>
        </p:txBody>
      </p:sp>
      <p:sp>
        <p:nvSpPr>
          <p:cNvPr id="59" name="a2f_th58"/>
          <p:cNvSpPr/>
          <p:nvPr/>
        </p:nvSpPr>
        <p:spPr>
          <a:xfrm>
            <a:off x="4709160" y="1380744"/>
            <a:ext cx="205740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a2f_tht59"/>
          <p:cNvSpPr txBox="1"/>
          <p:nvPr/>
        </p:nvSpPr>
        <p:spPr>
          <a:xfrm>
            <a:off x="4782312" y="138074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61" name="a2wd80_td60"/>
          <p:cNvSpPr/>
          <p:nvPr/>
        </p:nvSpPr>
        <p:spPr>
          <a:xfrm>
            <a:off x="4709160" y="165506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a2wd80_tdt61"/>
          <p:cNvSpPr txBox="1"/>
          <p:nvPr/>
        </p:nvSpPr>
        <p:spPr>
          <a:xfrm>
            <a:off x="4782312" y="165506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Empty list</a:t>
            </a:r>
          </a:p>
        </p:txBody>
      </p:sp>
      <p:sp>
        <p:nvSpPr>
          <p:cNvPr id="63" name="a2wd160_td62"/>
          <p:cNvSpPr/>
          <p:nvPr/>
        </p:nvSpPr>
        <p:spPr>
          <a:xfrm>
            <a:off x="4709160" y="192938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a2wd160_tdt63"/>
          <p:cNvSpPr txBox="1"/>
          <p:nvPr/>
        </p:nvSpPr>
        <p:spPr>
          <a:xfrm>
            <a:off x="4782312" y="19293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 of n</a:t>
            </a:r>
          </a:p>
        </p:txBody>
      </p:sp>
      <p:sp>
        <p:nvSpPr>
          <p:cNvPr id="65" name="a2wd240_td64"/>
          <p:cNvSpPr/>
          <p:nvPr/>
        </p:nvSpPr>
        <p:spPr>
          <a:xfrm>
            <a:off x="4709160" y="220370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a2wd240_tdt65"/>
          <p:cNvSpPr txBox="1"/>
          <p:nvPr/>
        </p:nvSpPr>
        <p:spPr>
          <a:xfrm>
            <a:off x="4782312" y="220370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Empty map</a:t>
            </a:r>
          </a:p>
        </p:txBody>
      </p:sp>
      <p:sp>
        <p:nvSpPr>
          <p:cNvPr id="67" name="a2wd320_td66"/>
          <p:cNvSpPr/>
          <p:nvPr/>
        </p:nvSpPr>
        <p:spPr>
          <a:xfrm>
            <a:off x="4709160" y="247802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a2wd320_tdt67"/>
          <p:cNvSpPr txBox="1"/>
          <p:nvPr/>
        </p:nvSpPr>
        <p:spPr>
          <a:xfrm>
            <a:off x="4782312" y="247802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Map, 32 keys</a:t>
            </a:r>
          </a:p>
        </p:txBody>
      </p:sp>
      <p:sp>
        <p:nvSpPr>
          <p:cNvPr id="69" name="a2wd400_td68"/>
          <p:cNvSpPr/>
          <p:nvPr/>
        </p:nvSpPr>
        <p:spPr>
          <a:xfrm>
            <a:off x="4709160" y="275234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a2wd400_tdt69"/>
          <p:cNvSpPr txBox="1"/>
          <p:nvPr/>
        </p:nvSpPr>
        <p:spPr>
          <a:xfrm>
            <a:off x="4782312" y="275234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Map, 33 keys</a:t>
            </a:r>
          </a:p>
        </p:txBody>
      </p:sp>
      <p:sp>
        <p:nvSpPr>
          <p:cNvPr id="71" name="a2wd480_td70"/>
          <p:cNvSpPr/>
          <p:nvPr/>
        </p:nvSpPr>
        <p:spPr>
          <a:xfrm>
            <a:off x="4709160" y="3026663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a2wd480_tdt71"/>
          <p:cNvSpPr txBox="1"/>
          <p:nvPr/>
        </p:nvSpPr>
        <p:spPr>
          <a:xfrm>
            <a:off x="4782312" y="3026663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Binary &lt;= 64 B</a:t>
            </a:r>
          </a:p>
        </p:txBody>
      </p:sp>
      <p:sp>
        <p:nvSpPr>
          <p:cNvPr id="73" name="a2wd560_td72"/>
          <p:cNvSpPr/>
          <p:nvPr/>
        </p:nvSpPr>
        <p:spPr>
          <a:xfrm>
            <a:off x="4709160" y="330098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a2wd560_tdt73"/>
          <p:cNvSpPr txBox="1"/>
          <p:nvPr/>
        </p:nvSpPr>
        <p:spPr>
          <a:xfrm>
            <a:off x="4782312" y="33009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Binary &gt; 64 B</a:t>
            </a:r>
          </a:p>
        </p:txBody>
      </p:sp>
      <p:sp>
        <p:nvSpPr>
          <p:cNvPr id="75" name="a2wd640_td74"/>
          <p:cNvSpPr/>
          <p:nvPr/>
        </p:nvSpPr>
        <p:spPr>
          <a:xfrm>
            <a:off x="4709160" y="3575304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a2wd640_tdt75"/>
          <p:cNvSpPr txBox="1"/>
          <p:nvPr/>
        </p:nvSpPr>
        <p:spPr>
          <a:xfrm>
            <a:off x="4782312" y="357530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Range (any size)</a:t>
            </a:r>
          </a:p>
        </p:txBody>
      </p:sp>
      <p:sp>
        <p:nvSpPr>
          <p:cNvPr id="77" name="a2f_th76"/>
          <p:cNvSpPr/>
          <p:nvPr/>
        </p:nvSpPr>
        <p:spPr>
          <a:xfrm>
            <a:off x="6766560" y="1380744"/>
            <a:ext cx="91440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a2f_tht77"/>
          <p:cNvSpPr txBox="1"/>
          <p:nvPr/>
        </p:nvSpPr>
        <p:spPr>
          <a:xfrm>
            <a:off x="6839712" y="138074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Words</a:t>
            </a:r>
          </a:p>
        </p:txBody>
      </p:sp>
      <p:sp>
        <p:nvSpPr>
          <p:cNvPr id="79" name="a2wd80_td78"/>
          <p:cNvSpPr/>
          <p:nvPr/>
        </p:nvSpPr>
        <p:spPr>
          <a:xfrm>
            <a:off x="6766560" y="165506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a2wd80_tdt79"/>
          <p:cNvSpPr txBox="1"/>
          <p:nvPr/>
        </p:nvSpPr>
        <p:spPr>
          <a:xfrm>
            <a:off x="6839712" y="165506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81" name="a2wd160_td80"/>
          <p:cNvSpPr/>
          <p:nvPr/>
        </p:nvSpPr>
        <p:spPr>
          <a:xfrm>
            <a:off x="6766560" y="192938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a2wd160_tdt81"/>
          <p:cNvSpPr txBox="1"/>
          <p:nvPr/>
        </p:nvSpPr>
        <p:spPr>
          <a:xfrm>
            <a:off x="6839712" y="192938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2n</a:t>
            </a:r>
          </a:p>
        </p:txBody>
      </p:sp>
      <p:sp>
        <p:nvSpPr>
          <p:cNvPr id="83" name="a2wd240_td82"/>
          <p:cNvSpPr/>
          <p:nvPr/>
        </p:nvSpPr>
        <p:spPr>
          <a:xfrm>
            <a:off x="6766560" y="220370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a2wd240_tdt83"/>
          <p:cNvSpPr txBox="1"/>
          <p:nvPr/>
        </p:nvSpPr>
        <p:spPr>
          <a:xfrm>
            <a:off x="6839712" y="220370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85" name="a2wd320_td84"/>
          <p:cNvSpPr/>
          <p:nvPr/>
        </p:nvSpPr>
        <p:spPr>
          <a:xfrm>
            <a:off x="6766560" y="247802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a2wd320_tdt85"/>
          <p:cNvSpPr txBox="1"/>
          <p:nvPr/>
        </p:nvSpPr>
        <p:spPr>
          <a:xfrm>
            <a:off x="6839712" y="247802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68</a:t>
            </a:r>
          </a:p>
        </p:txBody>
      </p:sp>
      <p:sp>
        <p:nvSpPr>
          <p:cNvPr id="87" name="a2wd400_td86"/>
          <p:cNvSpPr/>
          <p:nvPr/>
        </p:nvSpPr>
        <p:spPr>
          <a:xfrm>
            <a:off x="6766560" y="275234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a2wd400_tdt87"/>
          <p:cNvSpPr txBox="1"/>
          <p:nvPr/>
        </p:nvSpPr>
        <p:spPr>
          <a:xfrm>
            <a:off x="6839712" y="275234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123</a:t>
            </a:r>
          </a:p>
        </p:txBody>
      </p:sp>
      <p:sp>
        <p:nvSpPr>
          <p:cNvPr id="89" name="a2wd480_td88"/>
          <p:cNvSpPr/>
          <p:nvPr/>
        </p:nvSpPr>
        <p:spPr>
          <a:xfrm>
            <a:off x="6766560" y="3026663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a2wd480_tdt89"/>
          <p:cNvSpPr txBox="1"/>
          <p:nvPr/>
        </p:nvSpPr>
        <p:spPr>
          <a:xfrm>
            <a:off x="6839712" y="3026663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 + n/8</a:t>
            </a:r>
          </a:p>
        </p:txBody>
      </p:sp>
      <p:sp>
        <p:nvSpPr>
          <p:cNvPr id="91" name="a2wd560_td90"/>
          <p:cNvSpPr/>
          <p:nvPr/>
        </p:nvSpPr>
        <p:spPr>
          <a:xfrm>
            <a:off x="6766560" y="330098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a2wd560_tdt91"/>
          <p:cNvSpPr txBox="1"/>
          <p:nvPr/>
        </p:nvSpPr>
        <p:spPr>
          <a:xfrm>
            <a:off x="6839712" y="330098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8</a:t>
            </a:r>
          </a:p>
        </p:txBody>
      </p:sp>
      <p:sp>
        <p:nvSpPr>
          <p:cNvPr id="93" name="a2wd640_td92"/>
          <p:cNvSpPr/>
          <p:nvPr/>
        </p:nvSpPr>
        <p:spPr>
          <a:xfrm>
            <a:off x="6766560" y="3575304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a2wd640_tdt93"/>
          <p:cNvSpPr txBox="1"/>
          <p:nvPr/>
        </p:nvSpPr>
        <p:spPr>
          <a:xfrm>
            <a:off x="6839712" y="357530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12</a:t>
            </a:r>
          </a:p>
        </p:txBody>
      </p:sp>
      <p:sp>
        <p:nvSpPr>
          <p:cNvPr id="95" name="a2f_th94"/>
          <p:cNvSpPr/>
          <p:nvPr/>
        </p:nvSpPr>
        <p:spPr>
          <a:xfrm>
            <a:off x="7680960" y="1380744"/>
            <a:ext cx="100584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a2f_tht95"/>
          <p:cNvSpPr txBox="1"/>
          <p:nvPr/>
        </p:nvSpPr>
        <p:spPr>
          <a:xfrm>
            <a:off x="7754112" y="138074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Bytes</a:t>
            </a:r>
          </a:p>
        </p:txBody>
      </p:sp>
      <p:sp>
        <p:nvSpPr>
          <p:cNvPr id="97" name="a2wd80_td96"/>
          <p:cNvSpPr/>
          <p:nvPr/>
        </p:nvSpPr>
        <p:spPr>
          <a:xfrm>
            <a:off x="7680960" y="165506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a2wd80_tdt97"/>
          <p:cNvSpPr txBox="1"/>
          <p:nvPr/>
        </p:nvSpPr>
        <p:spPr>
          <a:xfrm>
            <a:off x="7754112" y="165506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99" name="a2wd160_td98"/>
          <p:cNvSpPr/>
          <p:nvPr/>
        </p:nvSpPr>
        <p:spPr>
          <a:xfrm>
            <a:off x="7680960" y="192938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a2wd160_tdt99"/>
          <p:cNvSpPr txBox="1"/>
          <p:nvPr/>
        </p:nvSpPr>
        <p:spPr>
          <a:xfrm>
            <a:off x="7754112" y="192938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16n</a:t>
            </a:r>
          </a:p>
        </p:txBody>
      </p:sp>
      <p:sp>
        <p:nvSpPr>
          <p:cNvPr id="101" name="a2wd240_td100"/>
          <p:cNvSpPr/>
          <p:nvPr/>
        </p:nvSpPr>
        <p:spPr>
          <a:xfrm>
            <a:off x="7680960" y="220370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a2wd240_tdt101"/>
          <p:cNvSpPr txBox="1"/>
          <p:nvPr/>
        </p:nvSpPr>
        <p:spPr>
          <a:xfrm>
            <a:off x="7754112" y="220370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24</a:t>
            </a:r>
          </a:p>
        </p:txBody>
      </p:sp>
      <p:sp>
        <p:nvSpPr>
          <p:cNvPr id="103" name="a2wd320_td102"/>
          <p:cNvSpPr/>
          <p:nvPr/>
        </p:nvSpPr>
        <p:spPr>
          <a:xfrm>
            <a:off x="7680960" y="247802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a2wd320_tdt103"/>
          <p:cNvSpPr txBox="1"/>
          <p:nvPr/>
        </p:nvSpPr>
        <p:spPr>
          <a:xfrm>
            <a:off x="7754112" y="247802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544</a:t>
            </a:r>
          </a:p>
        </p:txBody>
      </p:sp>
      <p:sp>
        <p:nvSpPr>
          <p:cNvPr id="105" name="a2wd400_td104"/>
          <p:cNvSpPr/>
          <p:nvPr/>
        </p:nvSpPr>
        <p:spPr>
          <a:xfrm>
            <a:off x="7680960" y="275234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a2wd400_tdt105"/>
          <p:cNvSpPr txBox="1"/>
          <p:nvPr/>
        </p:nvSpPr>
        <p:spPr>
          <a:xfrm>
            <a:off x="7754112" y="275234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984</a:t>
            </a:r>
          </a:p>
        </p:txBody>
      </p:sp>
      <p:sp>
        <p:nvSpPr>
          <p:cNvPr id="107" name="a2wd480_td106"/>
          <p:cNvSpPr/>
          <p:nvPr/>
        </p:nvSpPr>
        <p:spPr>
          <a:xfrm>
            <a:off x="7680960" y="3026663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a2wd480_tdt107"/>
          <p:cNvSpPr txBox="1"/>
          <p:nvPr/>
        </p:nvSpPr>
        <p:spPr>
          <a:xfrm>
            <a:off x="7754112" y="3026663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heap</a:t>
            </a:r>
          </a:p>
        </p:txBody>
      </p:sp>
      <p:sp>
        <p:nvSpPr>
          <p:cNvPr id="109" name="a2wd560_td108"/>
          <p:cNvSpPr/>
          <p:nvPr/>
        </p:nvSpPr>
        <p:spPr>
          <a:xfrm>
            <a:off x="7680960" y="330098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a2wd560_tdt109"/>
          <p:cNvSpPr txBox="1"/>
          <p:nvPr/>
        </p:nvSpPr>
        <p:spPr>
          <a:xfrm>
            <a:off x="7754112" y="330098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64 + off-heap</a:t>
            </a:r>
          </a:p>
        </p:txBody>
      </p:sp>
      <p:sp>
        <p:nvSpPr>
          <p:cNvPr id="111" name="a2wd640_td110"/>
          <p:cNvSpPr/>
          <p:nvPr/>
        </p:nvSpPr>
        <p:spPr>
          <a:xfrm>
            <a:off x="7680960" y="3575304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a2wd640_tdt111"/>
          <p:cNvSpPr txBox="1"/>
          <p:nvPr/>
        </p:nvSpPr>
        <p:spPr>
          <a:xfrm>
            <a:off x="7754112" y="357530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96</a:t>
            </a:r>
          </a:p>
        </p:txBody>
      </p:sp>
      <p:sp>
        <p:nvSpPr>
          <p:cNvPr id="113" name="a3f_nb112"/>
          <p:cNvSpPr/>
          <p:nvPr/>
        </p:nvSpPr>
        <p:spPr>
          <a:xfrm>
            <a:off x="457200" y="3941063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a3f_nacc113"/>
          <p:cNvSpPr/>
          <p:nvPr/>
        </p:nvSpPr>
        <p:spPr>
          <a:xfrm>
            <a:off x="457200" y="3941063"/>
            <a:ext cx="50292" cy="47548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a3f_nt114"/>
          <p:cNvSpPr txBox="1"/>
          <p:nvPr/>
        </p:nvSpPr>
        <p:spPr>
          <a:xfrm>
            <a:off x="658368" y="3941063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Reproduce the whole table in one command: elixir verify/probe_sizes.exs</a:t>
            </a:r>
          </a:p>
        </p:txBody>
      </p:sp>
      <p:sp>
        <p:nvSpPr>
          <p:cNvPr id="116" name="ft11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8-byte word · sizes measured with :erts_debug.flat_size/1</a:t>
            </a:r>
          </a:p>
        </p:txBody>
      </p:sp>
      <p:sp>
        <p:nvSpPr>
          <p:cNvPr id="117" name="ft11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to take away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Immediates are free, heap terms are not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Small integers, atoms and pids cost zero words. Everything else you can measure, and should.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Lists and tuples answer different questions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2 words per cell and O(1) prepend, against n+1 words and O(1) indexing.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Maps change representation at 33 keys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68 words becomes 123 with no syntax change - the only way to see it is to measure.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Strings are binaries, and 64 bytes is the line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Past it the data moves off-heap and is shared, which is both the optimisation and the leak.</a:t>
            </a:r>
          </a:p>
        </p:txBody>
      </p:sp>
      <p:sp>
        <p:nvSpPr>
          <p:cNvPr id="15" name="a2u_next14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_nextt15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9B72CF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Labs and exercises -
then the next set of
topics you choose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4411</Words>
  <Application>Microsoft Office PowerPoint</Application>
  <PresentationFormat>On-screen Show (16:9)</PresentationFormat>
  <Paragraphs>725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Subramanian Murugan</cp:lastModifiedBy>
  <cp:revision>2</cp:revision>
  <dcterms:created xsi:type="dcterms:W3CDTF">2013-01-27T09:14:16Z</dcterms:created>
  <dcterms:modified xsi:type="dcterms:W3CDTF">2026-09-22T08:55:28Z</dcterms:modified>
  <cp:category/>
</cp:coreProperties>
</file>