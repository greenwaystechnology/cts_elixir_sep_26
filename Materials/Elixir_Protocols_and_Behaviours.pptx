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PROTOCOLS &amp; BEHAVIOURS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Protocols &amp;
Behaviours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Polymorphism over data — and contracts between modules.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protocol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defimpl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@callback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@impl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Part A: protocols · Part B: behaviours · measured on Elixir 1.20.4</a:t>
            </a:r>
          </a:p>
        </p:txBody>
      </p:sp>
      <p:sp>
        <p:nvSpPr>
          <p:cNvPr id="10" name="a0ud1000_stg9"/>
          <p:cNvSpPr/>
          <p:nvPr/>
        </p:nvSpPr>
        <p:spPr>
          <a:xfrm>
            <a:off x="6172200" y="1097280"/>
            <a:ext cx="2514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9B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ud1000_stgt10"/>
          <p:cNvSpPr txBox="1"/>
          <p:nvPr/>
        </p:nvSpPr>
        <p:spPr>
          <a:xfrm>
            <a:off x="621792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ourier New"/>
              </a:rPr>
              <a:t>Size.size(x)</a:t>
            </a:r>
          </a:p>
        </p:txBody>
      </p:sp>
      <p:cxnSp>
        <p:nvCxnSpPr>
          <p:cNvPr id="12" name="a0ud1250_ln11"/>
          <p:cNvCxnSpPr/>
          <p:nvPr/>
        </p:nvCxnSpPr>
        <p:spPr>
          <a:xfrm flipH="1">
            <a:off x="6492240" y="1554480"/>
            <a:ext cx="937260" cy="6858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0ud1250_stg12"/>
          <p:cNvSpPr/>
          <p:nvPr/>
        </p:nvSpPr>
        <p:spPr>
          <a:xfrm>
            <a:off x="6199632" y="2240280"/>
            <a:ext cx="585216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ud1250_stgt13"/>
          <p:cNvSpPr txBox="1"/>
          <p:nvPr/>
        </p:nvSpPr>
        <p:spPr>
          <a:xfrm>
            <a:off x="6245352" y="2240280"/>
            <a:ext cx="4937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0">
                <a:solidFill>
                  <a:srgbClr val="E2E8F0"/>
                </a:solidFill>
                <a:latin typeface="Courier New"/>
              </a:rPr>
              <a:t>BitString</a:t>
            </a:r>
          </a:p>
        </p:txBody>
      </p:sp>
      <p:cxnSp>
        <p:nvCxnSpPr>
          <p:cNvPr id="15" name="a0ud1370_ln14"/>
          <p:cNvCxnSpPr/>
          <p:nvPr/>
        </p:nvCxnSpPr>
        <p:spPr>
          <a:xfrm flipH="1">
            <a:off x="7132320" y="1554480"/>
            <a:ext cx="297180" cy="6858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0ud1370_stg15"/>
          <p:cNvSpPr/>
          <p:nvPr/>
        </p:nvSpPr>
        <p:spPr>
          <a:xfrm>
            <a:off x="6839712" y="2240280"/>
            <a:ext cx="585216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0ud1370_stgt16"/>
          <p:cNvSpPr txBox="1"/>
          <p:nvPr/>
        </p:nvSpPr>
        <p:spPr>
          <a:xfrm>
            <a:off x="6885432" y="2240280"/>
            <a:ext cx="4937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0">
                <a:solidFill>
                  <a:srgbClr val="E2E8F0"/>
                </a:solidFill>
                <a:latin typeface="Courier New"/>
              </a:rPr>
              <a:t>Map</a:t>
            </a:r>
          </a:p>
        </p:txBody>
      </p:sp>
      <p:cxnSp>
        <p:nvCxnSpPr>
          <p:cNvPr id="18" name="a0ud1490_ln17"/>
          <p:cNvCxnSpPr/>
          <p:nvPr/>
        </p:nvCxnSpPr>
        <p:spPr>
          <a:xfrm>
            <a:off x="7429500" y="1554480"/>
            <a:ext cx="342900" cy="6858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0ud1490_stg18"/>
          <p:cNvSpPr/>
          <p:nvPr/>
        </p:nvSpPr>
        <p:spPr>
          <a:xfrm>
            <a:off x="7479792" y="2240280"/>
            <a:ext cx="585216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1490_stgt19"/>
          <p:cNvSpPr txBox="1"/>
          <p:nvPr/>
        </p:nvSpPr>
        <p:spPr>
          <a:xfrm>
            <a:off x="7525512" y="2240280"/>
            <a:ext cx="4937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0">
                <a:solidFill>
                  <a:srgbClr val="E2E8F0"/>
                </a:solidFill>
                <a:latin typeface="Courier New"/>
              </a:rPr>
              <a:t>List</a:t>
            </a:r>
          </a:p>
        </p:txBody>
      </p:sp>
      <p:cxnSp>
        <p:nvCxnSpPr>
          <p:cNvPr id="21" name="a0ud1610_ln20"/>
          <p:cNvCxnSpPr/>
          <p:nvPr/>
        </p:nvCxnSpPr>
        <p:spPr>
          <a:xfrm>
            <a:off x="7429500" y="1554480"/>
            <a:ext cx="982980" cy="6858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0ud1610_stg21"/>
          <p:cNvSpPr/>
          <p:nvPr/>
        </p:nvSpPr>
        <p:spPr>
          <a:xfrm>
            <a:off x="8119871" y="2240280"/>
            <a:ext cx="585216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0ud1610_stgt22"/>
          <p:cNvSpPr txBox="1"/>
          <p:nvPr/>
        </p:nvSpPr>
        <p:spPr>
          <a:xfrm>
            <a:off x="8165592" y="2240280"/>
            <a:ext cx="4937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0">
                <a:solidFill>
                  <a:srgbClr val="E2E8F0"/>
                </a:solidFill>
                <a:latin typeface="Courier New"/>
              </a:rPr>
              <a:t>Tuple</a:t>
            </a:r>
          </a:p>
        </p:txBody>
      </p:sp>
      <p:sp>
        <p:nvSpPr>
          <p:cNvPr id="24" name="a0fd1800_cap23"/>
          <p:cNvSpPr txBox="1"/>
          <p:nvPr/>
        </p:nvSpPr>
        <p:spPr>
          <a:xfrm>
            <a:off x="6172200" y="27889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one call · the data picks the code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502920" cy="26517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6" name="a1wd80_td5"/>
          <p:cNvSpPr/>
          <p:nvPr/>
        </p:nvSpPr>
        <p:spPr>
          <a:xfrm>
            <a:off x="457200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tdt6"/>
          <p:cNvSpPr txBox="1"/>
          <p:nvPr/>
        </p:nvSpPr>
        <p:spPr>
          <a:xfrm>
            <a:off x="530352" y="1344168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A1</a:t>
            </a:r>
          </a:p>
        </p:txBody>
      </p:sp>
      <p:sp>
        <p:nvSpPr>
          <p:cNvPr id="8" name="a1wd160_td7"/>
          <p:cNvSpPr/>
          <p:nvPr/>
        </p:nvSpPr>
        <p:spPr>
          <a:xfrm>
            <a:off x="457200" y="1609343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60_tdt8"/>
          <p:cNvSpPr txBox="1"/>
          <p:nvPr/>
        </p:nvSpPr>
        <p:spPr>
          <a:xfrm>
            <a:off x="530352" y="1609343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A2</a:t>
            </a:r>
          </a:p>
        </p:txBody>
      </p:sp>
      <p:sp>
        <p:nvSpPr>
          <p:cNvPr id="10" name="a1wd240_td9"/>
          <p:cNvSpPr/>
          <p:nvPr/>
        </p:nvSpPr>
        <p:spPr>
          <a:xfrm>
            <a:off x="457200" y="1874519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40_tdt10"/>
          <p:cNvSpPr txBox="1"/>
          <p:nvPr/>
        </p:nvSpPr>
        <p:spPr>
          <a:xfrm>
            <a:off x="530352" y="1874519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A3</a:t>
            </a:r>
          </a:p>
        </p:txBody>
      </p:sp>
      <p:sp>
        <p:nvSpPr>
          <p:cNvPr id="12" name="a1wd320_td11"/>
          <p:cNvSpPr/>
          <p:nvPr/>
        </p:nvSpPr>
        <p:spPr>
          <a:xfrm>
            <a:off x="457200" y="2139696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20_tdt12"/>
          <p:cNvSpPr txBox="1"/>
          <p:nvPr/>
        </p:nvSpPr>
        <p:spPr>
          <a:xfrm>
            <a:off x="530352" y="2139696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A4</a:t>
            </a:r>
          </a:p>
        </p:txBody>
      </p:sp>
      <p:sp>
        <p:nvSpPr>
          <p:cNvPr id="14" name="a1wd400_td13"/>
          <p:cNvSpPr/>
          <p:nvPr/>
        </p:nvSpPr>
        <p:spPr>
          <a:xfrm>
            <a:off x="457200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0_tdt14"/>
          <p:cNvSpPr txBox="1"/>
          <p:nvPr/>
        </p:nvSpPr>
        <p:spPr>
          <a:xfrm>
            <a:off x="530352" y="2404872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A5</a:t>
            </a:r>
          </a:p>
        </p:txBody>
      </p:sp>
      <p:sp>
        <p:nvSpPr>
          <p:cNvPr id="16" name="a1wd480_td15"/>
          <p:cNvSpPr/>
          <p:nvPr/>
        </p:nvSpPr>
        <p:spPr>
          <a:xfrm>
            <a:off x="457200" y="267004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80_tdt16"/>
          <p:cNvSpPr txBox="1"/>
          <p:nvPr/>
        </p:nvSpPr>
        <p:spPr>
          <a:xfrm>
            <a:off x="530352" y="2670048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A6</a:t>
            </a:r>
          </a:p>
        </p:txBody>
      </p:sp>
      <p:sp>
        <p:nvSpPr>
          <p:cNvPr id="18" name="a1wd560_td17"/>
          <p:cNvSpPr/>
          <p:nvPr/>
        </p:nvSpPr>
        <p:spPr>
          <a:xfrm>
            <a:off x="457200" y="2935224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60_tdt18"/>
          <p:cNvSpPr txBox="1"/>
          <p:nvPr/>
        </p:nvSpPr>
        <p:spPr>
          <a:xfrm>
            <a:off x="530352" y="2935224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B1</a:t>
            </a:r>
          </a:p>
        </p:txBody>
      </p:sp>
      <p:sp>
        <p:nvSpPr>
          <p:cNvPr id="20" name="a1wd640_td19"/>
          <p:cNvSpPr/>
          <p:nvPr/>
        </p:nvSpPr>
        <p:spPr>
          <a:xfrm>
            <a:off x="457200" y="320040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40_tdt20"/>
          <p:cNvSpPr txBox="1"/>
          <p:nvPr/>
        </p:nvSpPr>
        <p:spPr>
          <a:xfrm>
            <a:off x="530352" y="3200400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B2</a:t>
            </a:r>
          </a:p>
        </p:txBody>
      </p:sp>
      <p:sp>
        <p:nvSpPr>
          <p:cNvPr id="22" name="a1wd720_td21"/>
          <p:cNvSpPr/>
          <p:nvPr/>
        </p:nvSpPr>
        <p:spPr>
          <a:xfrm>
            <a:off x="457200" y="3465576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720_tdt22"/>
          <p:cNvSpPr txBox="1"/>
          <p:nvPr/>
        </p:nvSpPr>
        <p:spPr>
          <a:xfrm>
            <a:off x="530352" y="3465576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B3</a:t>
            </a:r>
          </a:p>
        </p:txBody>
      </p:sp>
      <p:sp>
        <p:nvSpPr>
          <p:cNvPr id="24" name="a1wd800_td23"/>
          <p:cNvSpPr/>
          <p:nvPr/>
        </p:nvSpPr>
        <p:spPr>
          <a:xfrm>
            <a:off x="457200" y="373075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00_tdt24"/>
          <p:cNvSpPr txBox="1"/>
          <p:nvPr/>
        </p:nvSpPr>
        <p:spPr>
          <a:xfrm>
            <a:off x="530352" y="3730752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B4</a:t>
            </a:r>
          </a:p>
        </p:txBody>
      </p:sp>
      <p:sp>
        <p:nvSpPr>
          <p:cNvPr id="26" name="a1wd880_td25"/>
          <p:cNvSpPr/>
          <p:nvPr/>
        </p:nvSpPr>
        <p:spPr>
          <a:xfrm>
            <a:off x="457200" y="399592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880_tdt26"/>
          <p:cNvSpPr txBox="1"/>
          <p:nvPr/>
        </p:nvSpPr>
        <p:spPr>
          <a:xfrm>
            <a:off x="530352" y="3995928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B5</a:t>
            </a:r>
          </a:p>
        </p:txBody>
      </p:sp>
      <p:sp>
        <p:nvSpPr>
          <p:cNvPr id="28" name="a1wd960_td27"/>
          <p:cNvSpPr/>
          <p:nvPr/>
        </p:nvSpPr>
        <p:spPr>
          <a:xfrm>
            <a:off x="457200" y="4261103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960_tdt28"/>
          <p:cNvSpPr txBox="1"/>
          <p:nvPr/>
        </p:nvSpPr>
        <p:spPr>
          <a:xfrm>
            <a:off x="530352" y="4261103"/>
            <a:ext cx="393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B6</a:t>
            </a:r>
          </a:p>
        </p:txBody>
      </p:sp>
      <p:sp>
        <p:nvSpPr>
          <p:cNvPr id="30" name="a1f_th29"/>
          <p:cNvSpPr/>
          <p:nvPr/>
        </p:nvSpPr>
        <p:spPr>
          <a:xfrm>
            <a:off x="960120" y="1078992"/>
            <a:ext cx="2331720" cy="26517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f_tht30"/>
          <p:cNvSpPr txBox="1"/>
          <p:nvPr/>
        </p:nvSpPr>
        <p:spPr>
          <a:xfrm>
            <a:off x="1033272" y="1078992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32" name="a1wd80_td31"/>
          <p:cNvSpPr/>
          <p:nvPr/>
        </p:nvSpPr>
        <p:spPr>
          <a:xfrm>
            <a:off x="960120" y="1344168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80_tdt32"/>
          <p:cNvSpPr txBox="1"/>
          <p:nvPr/>
        </p:nvSpPr>
        <p:spPr>
          <a:xfrm>
            <a:off x="1033272" y="1344168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Protocols — core concepts</a:t>
            </a:r>
          </a:p>
        </p:txBody>
      </p:sp>
      <p:sp>
        <p:nvSpPr>
          <p:cNvPr id="34" name="a1wd160_td33"/>
          <p:cNvSpPr/>
          <p:nvPr/>
        </p:nvSpPr>
        <p:spPr>
          <a:xfrm>
            <a:off x="960120" y="1609343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60_tdt34"/>
          <p:cNvSpPr txBox="1"/>
          <p:nvPr/>
        </p:nvSpPr>
        <p:spPr>
          <a:xfrm>
            <a:off x="1033272" y="1609343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Define, implement, use</a:t>
            </a:r>
          </a:p>
        </p:txBody>
      </p:sp>
      <p:sp>
        <p:nvSpPr>
          <p:cNvPr id="36" name="a1wd240_td35"/>
          <p:cNvSpPr/>
          <p:nvPr/>
        </p:nvSpPr>
        <p:spPr>
          <a:xfrm>
            <a:off x="960120" y="1874519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1033272" y="1874519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Fallback and structs</a:t>
            </a:r>
          </a:p>
        </p:txBody>
      </p:sp>
      <p:sp>
        <p:nvSpPr>
          <p:cNvPr id="38" name="a1wd320_td37"/>
          <p:cNvSpPr/>
          <p:nvPr/>
        </p:nvSpPr>
        <p:spPr>
          <a:xfrm>
            <a:off x="960120" y="2139696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20_tdt38"/>
          <p:cNvSpPr txBox="1"/>
          <p:nvPr/>
        </p:nvSpPr>
        <p:spPr>
          <a:xfrm>
            <a:off x="1033272" y="2139696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Built-in protocols</a:t>
            </a:r>
          </a:p>
        </p:txBody>
      </p:sp>
      <p:sp>
        <p:nvSpPr>
          <p:cNvPr id="40" name="a1wd400_td39"/>
          <p:cNvSpPr/>
          <p:nvPr/>
        </p:nvSpPr>
        <p:spPr>
          <a:xfrm>
            <a:off x="960120" y="2404872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00_tdt40"/>
          <p:cNvSpPr txBox="1"/>
          <p:nvPr/>
        </p:nvSpPr>
        <p:spPr>
          <a:xfrm>
            <a:off x="1033272" y="2404872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Deriving and checking</a:t>
            </a:r>
          </a:p>
        </p:txBody>
      </p:sp>
      <p:sp>
        <p:nvSpPr>
          <p:cNvPr id="42" name="a1wd480_td41"/>
          <p:cNvSpPr/>
          <p:nvPr/>
        </p:nvSpPr>
        <p:spPr>
          <a:xfrm>
            <a:off x="960120" y="2670048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80_tdt42"/>
          <p:cNvSpPr txBox="1"/>
          <p:nvPr/>
        </p:nvSpPr>
        <p:spPr>
          <a:xfrm>
            <a:off x="1033272" y="2670048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Mini example: Blank</a:t>
            </a:r>
          </a:p>
        </p:txBody>
      </p:sp>
      <p:sp>
        <p:nvSpPr>
          <p:cNvPr id="44" name="a1wd560_td43"/>
          <p:cNvSpPr/>
          <p:nvPr/>
        </p:nvSpPr>
        <p:spPr>
          <a:xfrm>
            <a:off x="960120" y="2935224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60_tdt44"/>
          <p:cNvSpPr txBox="1"/>
          <p:nvPr/>
        </p:nvSpPr>
        <p:spPr>
          <a:xfrm>
            <a:off x="1033272" y="2935224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Behaviours — core concepts</a:t>
            </a:r>
          </a:p>
        </p:txBody>
      </p:sp>
      <p:sp>
        <p:nvSpPr>
          <p:cNvPr id="46" name="a1wd640_td45"/>
          <p:cNvSpPr/>
          <p:nvPr/>
        </p:nvSpPr>
        <p:spPr>
          <a:xfrm>
            <a:off x="960120" y="3200400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640_tdt46"/>
          <p:cNvSpPr txBox="1"/>
          <p:nvPr/>
        </p:nvSpPr>
        <p:spPr>
          <a:xfrm>
            <a:off x="1033272" y="3200400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Defining a behaviour</a:t>
            </a:r>
          </a:p>
        </p:txBody>
      </p:sp>
      <p:sp>
        <p:nvSpPr>
          <p:cNvPr id="48" name="a1wd720_td47"/>
          <p:cNvSpPr/>
          <p:nvPr/>
        </p:nvSpPr>
        <p:spPr>
          <a:xfrm>
            <a:off x="960120" y="3465576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720_tdt48"/>
          <p:cNvSpPr txBox="1"/>
          <p:nvPr/>
        </p:nvSpPr>
        <p:spPr>
          <a:xfrm>
            <a:off x="1033272" y="3465576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Reading a @callback line</a:t>
            </a:r>
          </a:p>
        </p:txBody>
      </p:sp>
      <p:sp>
        <p:nvSpPr>
          <p:cNvPr id="50" name="a1wd800_td49"/>
          <p:cNvSpPr/>
          <p:nvPr/>
        </p:nvSpPr>
        <p:spPr>
          <a:xfrm>
            <a:off x="960120" y="3730752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800_tdt50"/>
          <p:cNvSpPr txBox="1"/>
          <p:nvPr/>
        </p:nvSpPr>
        <p:spPr>
          <a:xfrm>
            <a:off x="1033272" y="3730752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Implementing and using</a:t>
            </a:r>
          </a:p>
        </p:txBody>
      </p:sp>
      <p:sp>
        <p:nvSpPr>
          <p:cNvPr id="52" name="a1wd880_td51"/>
          <p:cNvSpPr/>
          <p:nvPr/>
        </p:nvSpPr>
        <p:spPr>
          <a:xfrm>
            <a:off x="960120" y="3995928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880_tdt52"/>
          <p:cNvSpPr txBox="1"/>
          <p:nvPr/>
        </p:nvSpPr>
        <p:spPr>
          <a:xfrm>
            <a:off x="1033272" y="3995928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Worker and OTP behaviours</a:t>
            </a:r>
          </a:p>
        </p:txBody>
      </p:sp>
      <p:sp>
        <p:nvSpPr>
          <p:cNvPr id="54" name="a1wd960_td53"/>
          <p:cNvSpPr/>
          <p:nvPr/>
        </p:nvSpPr>
        <p:spPr>
          <a:xfrm>
            <a:off x="960120" y="4261103"/>
            <a:ext cx="23317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960_tdt54"/>
          <p:cNvSpPr txBox="1"/>
          <p:nvPr/>
        </p:nvSpPr>
        <p:spPr>
          <a:xfrm>
            <a:off x="1033272" y="4261103"/>
            <a:ext cx="22219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Checks, practices, recap</a:t>
            </a:r>
          </a:p>
        </p:txBody>
      </p:sp>
      <p:sp>
        <p:nvSpPr>
          <p:cNvPr id="56" name="a1f_th55"/>
          <p:cNvSpPr/>
          <p:nvPr/>
        </p:nvSpPr>
        <p:spPr>
          <a:xfrm>
            <a:off x="3291839" y="1078992"/>
            <a:ext cx="5394960" cy="26517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f_tht56"/>
          <p:cNvSpPr txBox="1"/>
          <p:nvPr/>
        </p:nvSpPr>
        <p:spPr>
          <a:xfrm>
            <a:off x="3364991" y="1078992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What it covers</a:t>
            </a:r>
          </a:p>
        </p:txBody>
      </p:sp>
      <p:sp>
        <p:nvSpPr>
          <p:cNvPr id="58" name="a1wd80_td57"/>
          <p:cNvSpPr/>
          <p:nvPr/>
        </p:nvSpPr>
        <p:spPr>
          <a:xfrm>
            <a:off x="3291839" y="1344168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80_tdt58"/>
          <p:cNvSpPr txBox="1"/>
          <p:nvPr/>
        </p:nvSpPr>
        <p:spPr>
          <a:xfrm>
            <a:off x="3364991" y="1344168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Protocol, defimpl, dispatch, fallback, built-ins</a:t>
            </a:r>
          </a:p>
        </p:txBody>
      </p:sp>
      <p:sp>
        <p:nvSpPr>
          <p:cNvPr id="60" name="a1wd160_td59"/>
          <p:cNvSpPr/>
          <p:nvPr/>
        </p:nvSpPr>
        <p:spPr>
          <a:xfrm>
            <a:off x="3291839" y="1609343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160_tdt60"/>
          <p:cNvSpPr txBox="1"/>
          <p:nvPr/>
        </p:nvSpPr>
        <p:spPr>
          <a:xfrm>
            <a:off x="3364991" y="1609343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Size protocol for strings, maps, lists, tuples</a:t>
            </a:r>
          </a:p>
        </p:txBody>
      </p:sp>
      <p:sp>
        <p:nvSpPr>
          <p:cNvPr id="62" name="a1wd240_td61"/>
          <p:cNvSpPr/>
          <p:nvPr/>
        </p:nvSpPr>
        <p:spPr>
          <a:xfrm>
            <a:off x="3291839" y="1874519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240_tdt62"/>
          <p:cNvSpPr txBox="1"/>
          <p:nvPr/>
        </p:nvSpPr>
        <p:spPr>
          <a:xfrm>
            <a:off x="3364991" y="1874519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for: Any, @fallback_to_any, a protocol for your own struct</a:t>
            </a:r>
          </a:p>
        </p:txBody>
      </p:sp>
      <p:sp>
        <p:nvSpPr>
          <p:cNvPr id="64" name="a1wd320_td63"/>
          <p:cNvSpPr/>
          <p:nvPr/>
        </p:nvSpPr>
        <p:spPr>
          <a:xfrm>
            <a:off x="3291839" y="2139696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20_tdt64"/>
          <p:cNvSpPr txBox="1"/>
          <p:nvPr/>
        </p:nvSpPr>
        <p:spPr>
          <a:xfrm>
            <a:off x="3364991" y="2139696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Enumerable, String.Chars, Inspect</a:t>
            </a:r>
          </a:p>
        </p:txBody>
      </p:sp>
      <p:sp>
        <p:nvSpPr>
          <p:cNvPr id="66" name="a1wd400_td65"/>
          <p:cNvSpPr/>
          <p:nvPr/>
        </p:nvSpPr>
        <p:spPr>
          <a:xfrm>
            <a:off x="3291839" y="2404872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00_tdt66"/>
          <p:cNvSpPr txBox="1"/>
          <p:nvPr/>
        </p:nvSpPr>
        <p:spPr>
          <a:xfrm>
            <a:off x="3364991" y="2404872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@derive and impl_for/1</a:t>
            </a:r>
          </a:p>
        </p:txBody>
      </p:sp>
      <p:sp>
        <p:nvSpPr>
          <p:cNvPr id="68" name="a1wd480_td67"/>
          <p:cNvSpPr/>
          <p:nvPr/>
        </p:nvSpPr>
        <p:spPr>
          <a:xfrm>
            <a:off x="3291839" y="2670048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480_tdt68"/>
          <p:cNvSpPr txBox="1"/>
          <p:nvPr/>
        </p:nvSpPr>
        <p:spPr>
          <a:xfrm>
            <a:off x="3364991" y="2670048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practical protocol, and the protocol takeaways</a:t>
            </a:r>
          </a:p>
        </p:txBody>
      </p:sp>
      <p:sp>
        <p:nvSpPr>
          <p:cNvPr id="70" name="a1wd560_td69"/>
          <p:cNvSpPr/>
          <p:nvPr/>
        </p:nvSpPr>
        <p:spPr>
          <a:xfrm>
            <a:off x="3291839" y="2935224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560_tdt70"/>
          <p:cNvSpPr txBox="1"/>
          <p:nvPr/>
        </p:nvSpPr>
        <p:spPr>
          <a:xfrm>
            <a:off x="3364991" y="2935224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@callback, @behaviour, compiler check, optional callbacks</a:t>
            </a:r>
          </a:p>
        </p:txBody>
      </p:sp>
      <p:sp>
        <p:nvSpPr>
          <p:cNvPr id="72" name="a1wd640_td71"/>
          <p:cNvSpPr/>
          <p:nvPr/>
        </p:nvSpPr>
        <p:spPr>
          <a:xfrm>
            <a:off x="3291839" y="3200400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640_tdt72"/>
          <p:cNvSpPr txBox="1"/>
          <p:nvPr/>
        </p:nvSpPr>
        <p:spPr>
          <a:xfrm>
            <a:off x="3364991" y="3200400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Parser behaviour</a:t>
            </a:r>
          </a:p>
        </p:txBody>
      </p:sp>
      <p:sp>
        <p:nvSpPr>
          <p:cNvPr id="74" name="a1wd720_td73"/>
          <p:cNvSpPr/>
          <p:nvPr/>
        </p:nvSpPr>
        <p:spPr>
          <a:xfrm>
            <a:off x="3291839" y="3465576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720_tdt74"/>
          <p:cNvSpPr txBox="1"/>
          <p:nvPr/>
        </p:nvSpPr>
        <p:spPr>
          <a:xfrm>
            <a:off x="3364991" y="3465576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:: and term(), piece by piece, and more precise types</a:t>
            </a:r>
          </a:p>
        </p:txBody>
      </p:sp>
      <p:sp>
        <p:nvSpPr>
          <p:cNvPr id="76" name="a1wd800_td75"/>
          <p:cNvSpPr/>
          <p:nvPr/>
        </p:nvSpPr>
        <p:spPr>
          <a:xfrm>
            <a:off x="3291839" y="3730752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1wd800_tdt76"/>
          <p:cNvSpPr txBox="1"/>
          <p:nvPr/>
        </p:nvSpPr>
        <p:spPr>
          <a:xfrm>
            <a:off x="3364991" y="3730752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JSONParser, CSVParser, ParserRunner, @impl, real warnings</a:t>
            </a:r>
          </a:p>
        </p:txBody>
      </p:sp>
      <p:sp>
        <p:nvSpPr>
          <p:cNvPr id="78" name="a1wd880_td77"/>
          <p:cNvSpPr/>
          <p:nvPr/>
        </p:nvSpPr>
        <p:spPr>
          <a:xfrm>
            <a:off x="3291839" y="3995928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a1wd880_tdt78"/>
          <p:cNvSpPr txBox="1"/>
          <p:nvPr/>
        </p:nvSpPr>
        <p:spPr>
          <a:xfrm>
            <a:off x="3364991" y="3995928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worker contract; GenServer and friends</a:t>
            </a:r>
          </a:p>
        </p:txBody>
      </p:sp>
      <p:sp>
        <p:nvSpPr>
          <p:cNvPr id="80" name="a1wd960_td79"/>
          <p:cNvSpPr/>
          <p:nvPr/>
        </p:nvSpPr>
        <p:spPr>
          <a:xfrm>
            <a:off x="3291839" y="4261103"/>
            <a:ext cx="53949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a1wd960_tdt80"/>
          <p:cNvSpPr txBox="1"/>
          <p:nvPr/>
        </p:nvSpPr>
        <p:spPr>
          <a:xfrm>
            <a:off x="3364991" y="4261103"/>
            <a:ext cx="5285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Runtime checks, best practices, behaviour vs protocol</a:t>
            </a:r>
          </a:p>
        </p:txBody>
      </p:sp>
      <p:sp>
        <p:nvSpPr>
          <p:cNvPr id="82" name="ft8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83" name="ft8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BIG PICTURE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Two ways to write code that works for many things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Protocols vary the code by the data you pass. Behaviours vary it by the module you pick.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62456"/>
            <a:ext cx="400507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62456"/>
            <a:ext cx="400507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_ct6"/>
          <p:cNvSpPr txBox="1"/>
          <p:nvPr/>
        </p:nvSpPr>
        <p:spPr>
          <a:xfrm>
            <a:off x="685800" y="136245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8" name="a1ud100_cb7"/>
          <p:cNvSpPr txBox="1"/>
          <p:nvPr/>
        </p:nvSpPr>
        <p:spPr>
          <a:xfrm>
            <a:off x="685800" y="21488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9" name="a1ud100_cb8"/>
          <p:cNvSpPr txBox="1"/>
          <p:nvPr/>
        </p:nvSpPr>
        <p:spPr>
          <a:xfrm>
            <a:off x="2057400" y="21305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data types</a:t>
            </a:r>
          </a:p>
        </p:txBody>
      </p:sp>
      <p:sp>
        <p:nvSpPr>
          <p:cNvPr id="10" name="a1ud180_cb9"/>
          <p:cNvSpPr txBox="1"/>
          <p:nvPr/>
        </p:nvSpPr>
        <p:spPr>
          <a:xfrm>
            <a:off x="685800" y="26974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Declare</a:t>
            </a:r>
          </a:p>
        </p:txBody>
      </p:sp>
      <p:sp>
        <p:nvSpPr>
          <p:cNvPr id="11" name="a1ud180_cb10"/>
          <p:cNvSpPr txBox="1"/>
          <p:nvPr/>
        </p:nvSpPr>
        <p:spPr>
          <a:xfrm>
            <a:off x="2057400" y="26791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defprotocol + defimpl</a:t>
            </a:r>
          </a:p>
        </p:txBody>
      </p:sp>
      <p:sp>
        <p:nvSpPr>
          <p:cNvPr id="12" name="a1ud260_cb11"/>
          <p:cNvSpPr txBox="1"/>
          <p:nvPr/>
        </p:nvSpPr>
        <p:spPr>
          <a:xfrm>
            <a:off x="685800" y="32461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Dispatch</a:t>
            </a:r>
          </a:p>
        </p:txBody>
      </p:sp>
      <p:sp>
        <p:nvSpPr>
          <p:cNvPr id="13" name="a1ud260_cb12"/>
          <p:cNvSpPr txBox="1"/>
          <p:nvPr/>
        </p:nvSpPr>
        <p:spPr>
          <a:xfrm>
            <a:off x="2057400" y="322783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at run time, on the first argument</a:t>
            </a:r>
          </a:p>
        </p:txBody>
      </p:sp>
      <p:sp>
        <p:nvSpPr>
          <p:cNvPr id="14" name="a1ud340_cb13"/>
          <p:cNvSpPr txBox="1"/>
          <p:nvPr/>
        </p:nvSpPr>
        <p:spPr>
          <a:xfrm>
            <a:off x="685800" y="3794759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Missing impl</a:t>
            </a:r>
          </a:p>
        </p:txBody>
      </p:sp>
      <p:sp>
        <p:nvSpPr>
          <p:cNvPr id="15" name="a1ud340_cb14"/>
          <p:cNvSpPr txBox="1"/>
          <p:nvPr/>
        </p:nvSpPr>
        <p:spPr>
          <a:xfrm>
            <a:off x="2057400" y="37764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Protocol.UndefinedError (or the fallback)</a:t>
            </a:r>
          </a:p>
        </p:txBody>
      </p:sp>
      <p:sp>
        <p:nvSpPr>
          <p:cNvPr id="16" name="a2u_card15"/>
          <p:cNvSpPr/>
          <p:nvPr/>
        </p:nvSpPr>
        <p:spPr>
          <a:xfrm>
            <a:off x="4681728" y="1362456"/>
            <a:ext cx="400507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acc16"/>
          <p:cNvSpPr/>
          <p:nvPr/>
        </p:nvSpPr>
        <p:spPr>
          <a:xfrm>
            <a:off x="4681728" y="1362456"/>
            <a:ext cx="400507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ct17"/>
          <p:cNvSpPr txBox="1"/>
          <p:nvPr/>
        </p:nvSpPr>
        <p:spPr>
          <a:xfrm>
            <a:off x="4910328" y="136245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9" name="a2ud100_cb18"/>
          <p:cNvSpPr txBox="1"/>
          <p:nvPr/>
        </p:nvSpPr>
        <p:spPr>
          <a:xfrm>
            <a:off x="4910328" y="21488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20" name="a2ud100_cb19"/>
          <p:cNvSpPr txBox="1"/>
          <p:nvPr/>
        </p:nvSpPr>
        <p:spPr>
          <a:xfrm>
            <a:off x="6281928" y="21305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modules</a:t>
            </a:r>
          </a:p>
        </p:txBody>
      </p:sp>
      <p:sp>
        <p:nvSpPr>
          <p:cNvPr id="21" name="a2ud180_cb20"/>
          <p:cNvSpPr txBox="1"/>
          <p:nvPr/>
        </p:nvSpPr>
        <p:spPr>
          <a:xfrm>
            <a:off x="4910328" y="26974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Declare</a:t>
            </a:r>
          </a:p>
        </p:txBody>
      </p:sp>
      <p:sp>
        <p:nvSpPr>
          <p:cNvPr id="22" name="a2ud180_cb21"/>
          <p:cNvSpPr txBox="1"/>
          <p:nvPr/>
        </p:nvSpPr>
        <p:spPr>
          <a:xfrm>
            <a:off x="6281928" y="26791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@callback + @behaviour</a:t>
            </a:r>
          </a:p>
        </p:txBody>
      </p:sp>
      <p:sp>
        <p:nvSpPr>
          <p:cNvPr id="23" name="a2ud260_cb22"/>
          <p:cNvSpPr txBox="1"/>
          <p:nvPr/>
        </p:nvSpPr>
        <p:spPr>
          <a:xfrm>
            <a:off x="4910328" y="32461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Checked</a:t>
            </a:r>
          </a:p>
        </p:txBody>
      </p:sp>
      <p:sp>
        <p:nvSpPr>
          <p:cNvPr id="24" name="a2ud260_cb23"/>
          <p:cNvSpPr txBox="1"/>
          <p:nvPr/>
        </p:nvSpPr>
        <p:spPr>
          <a:xfrm>
            <a:off x="6281928" y="322783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at compile time</a:t>
            </a:r>
          </a:p>
        </p:txBody>
      </p:sp>
      <p:sp>
        <p:nvSpPr>
          <p:cNvPr id="25" name="a2ud340_cb24"/>
          <p:cNvSpPr txBox="1"/>
          <p:nvPr/>
        </p:nvSpPr>
        <p:spPr>
          <a:xfrm>
            <a:off x="4910328" y="3794759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Missing callback</a:t>
            </a:r>
          </a:p>
        </p:txBody>
      </p:sp>
      <p:sp>
        <p:nvSpPr>
          <p:cNvPr id="26" name="a2ud340_cb25"/>
          <p:cNvSpPr txBox="1"/>
          <p:nvPr/>
        </p:nvSpPr>
        <p:spPr>
          <a:xfrm>
            <a:off x="6281928" y="37764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 compiler warning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A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Protocols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Polymorphism over data types:
one call, many implementations.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defprotocol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defimpl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@fallback_to_any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@derive · impl_for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CORE CONCEPTS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Protocols: the same call, working for many types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Like interfaces — or type classes in Haskell, traits in Rust — with Elixir's dynamic style.</a:t>
            </a:r>
          </a:p>
        </p:txBody>
      </p:sp>
      <p:sp>
        <p:nvSpPr>
          <p:cNvPr id="5" name="a1u_n4"/>
          <p:cNvSpPr/>
          <p:nvPr/>
        </p:nvSpPr>
        <p:spPr>
          <a:xfrm>
            <a:off x="457200" y="136245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nt5"/>
          <p:cNvSpPr txBox="1"/>
          <p:nvPr/>
        </p:nvSpPr>
        <p:spPr>
          <a:xfrm>
            <a:off x="457200" y="13624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a1u_nb6"/>
          <p:cNvSpPr txBox="1"/>
          <p:nvPr/>
        </p:nvSpPr>
        <p:spPr>
          <a:xfrm>
            <a:off x="1078992" y="1316736"/>
            <a:ext cx="760780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Protocol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declares what functions must be available</a:t>
            </a:r>
          </a:p>
        </p:txBody>
      </p:sp>
      <p:sp>
        <p:nvSpPr>
          <p:cNvPr id="8" name="a1ud160_n7"/>
          <p:cNvSpPr/>
          <p:nvPr/>
        </p:nvSpPr>
        <p:spPr>
          <a:xfrm>
            <a:off x="457200" y="202082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60_nt8"/>
          <p:cNvSpPr txBox="1"/>
          <p:nvPr/>
        </p:nvSpPr>
        <p:spPr>
          <a:xfrm>
            <a:off x="457200" y="20208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a1ud160_nb9"/>
          <p:cNvSpPr txBox="1"/>
          <p:nvPr/>
        </p:nvSpPr>
        <p:spPr>
          <a:xfrm>
            <a:off x="1078992" y="1975104"/>
            <a:ext cx="760780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Implementation (defimpl)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provides the actual code for a concrete type</a:t>
            </a:r>
          </a:p>
        </p:txBody>
      </p:sp>
      <p:sp>
        <p:nvSpPr>
          <p:cNvPr id="11" name="a1ud320_n10"/>
          <p:cNvSpPr/>
          <p:nvPr/>
        </p:nvSpPr>
        <p:spPr>
          <a:xfrm>
            <a:off x="457200" y="2679191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320_nt11"/>
          <p:cNvSpPr txBox="1"/>
          <p:nvPr/>
        </p:nvSpPr>
        <p:spPr>
          <a:xfrm>
            <a:off x="457200" y="267919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a1ud320_nb12"/>
          <p:cNvSpPr txBox="1"/>
          <p:nvPr/>
        </p:nvSpPr>
        <p:spPr>
          <a:xfrm>
            <a:off x="1078992" y="2633472"/>
            <a:ext cx="760780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Dispatch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at runtime Elixir looks at the data's type and calls the matching implementation</a:t>
            </a:r>
          </a:p>
        </p:txBody>
      </p:sp>
      <p:sp>
        <p:nvSpPr>
          <p:cNvPr id="14" name="a1ud480_n13"/>
          <p:cNvSpPr/>
          <p:nvPr/>
        </p:nvSpPr>
        <p:spPr>
          <a:xfrm>
            <a:off x="457200" y="3337559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480_nt14"/>
          <p:cNvSpPr txBox="1"/>
          <p:nvPr/>
        </p:nvSpPr>
        <p:spPr>
          <a:xfrm>
            <a:off x="457200" y="33375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a1ud480_nb15"/>
          <p:cNvSpPr txBox="1"/>
          <p:nvPr/>
        </p:nvSpPr>
        <p:spPr>
          <a:xfrm>
            <a:off x="1078992" y="3291839"/>
            <a:ext cx="760780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Fallback / Any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a default implementation for types that don't have a specific one</a:t>
            </a:r>
          </a:p>
        </p:txBody>
      </p:sp>
      <p:sp>
        <p:nvSpPr>
          <p:cNvPr id="17" name="a1ud640_n16"/>
          <p:cNvSpPr/>
          <p:nvPr/>
        </p:nvSpPr>
        <p:spPr>
          <a:xfrm>
            <a:off x="457200" y="3995927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640_nt17"/>
          <p:cNvSpPr txBox="1"/>
          <p:nvPr/>
        </p:nvSpPr>
        <p:spPr>
          <a:xfrm>
            <a:off x="457200" y="399592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a1ud640_nb18"/>
          <p:cNvSpPr txBox="1"/>
          <p:nvPr/>
        </p:nvSpPr>
        <p:spPr>
          <a:xfrm>
            <a:off x="1078992" y="3950207"/>
            <a:ext cx="760780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Built-in protocols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Enumerable, Collectable, Inspect, String.Chars, List.Chars, Access, etc.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DEFINE, IMPLEMENT, USE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Define it once, implement it per type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defprotocol declares size/1; one defimpl per type supplies the code.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06240" cy="3134563"/>
          </a:xfrm>
          <a:prstGeom prst="roundRect">
            <a:avLst>
              <a:gd name="adj" fmla="val 23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39502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size.ex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defprotocol Size do</a:t>
            </a:r>
          </a:p>
        </p:txBody>
      </p:sp>
      <p:sp>
        <p:nvSpPr>
          <p:cNvPr id="8" name="a1wd40_code7"/>
          <p:cNvSpPr txBox="1"/>
          <p:nvPr/>
        </p:nvSpPr>
        <p:spPr>
          <a:xfrm>
            <a:off x="585216" y="1872691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@doc "Calculates the size of a data structure"</a:t>
            </a:r>
          </a:p>
        </p:txBody>
      </p:sp>
      <p:sp>
        <p:nvSpPr>
          <p:cNvPr id="9" name="a1wd80_code8"/>
          <p:cNvSpPr txBox="1"/>
          <p:nvPr/>
        </p:nvSpPr>
        <p:spPr>
          <a:xfrm>
            <a:off x="585216" y="2035454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size(data)</a:t>
            </a:r>
          </a:p>
        </p:txBody>
      </p:sp>
      <p:sp>
        <p:nvSpPr>
          <p:cNvPr id="10" name="a1wd120_code9"/>
          <p:cNvSpPr txBox="1"/>
          <p:nvPr/>
        </p:nvSpPr>
        <p:spPr>
          <a:xfrm>
            <a:off x="585216" y="2198217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1" name="a1wd160_code10"/>
          <p:cNvSpPr txBox="1"/>
          <p:nvPr/>
        </p:nvSpPr>
        <p:spPr>
          <a:xfrm>
            <a:off x="585216" y="236098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Size, for: BitString do</a:t>
            </a:r>
          </a:p>
        </p:txBody>
      </p:sp>
      <p:sp>
        <p:nvSpPr>
          <p:cNvPr id="12" name="a1wd200_code11"/>
          <p:cNvSpPr txBox="1"/>
          <p:nvPr/>
        </p:nvSpPr>
        <p:spPr>
          <a:xfrm>
            <a:off x="585216" y="2523744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size(string), do: byte_size(string)</a:t>
            </a:r>
          </a:p>
        </p:txBody>
      </p:sp>
      <p:sp>
        <p:nvSpPr>
          <p:cNvPr id="13" name="a1wd240_code12"/>
          <p:cNvSpPr txBox="1"/>
          <p:nvPr/>
        </p:nvSpPr>
        <p:spPr>
          <a:xfrm>
            <a:off x="585216" y="2686507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4" name="a1wd280_code13"/>
          <p:cNvSpPr txBox="1"/>
          <p:nvPr/>
        </p:nvSpPr>
        <p:spPr>
          <a:xfrm>
            <a:off x="585216" y="284927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Size, for: Map do</a:t>
            </a:r>
          </a:p>
        </p:txBody>
      </p:sp>
      <p:sp>
        <p:nvSpPr>
          <p:cNvPr id="15" name="a1wd320_code14"/>
          <p:cNvSpPr txBox="1"/>
          <p:nvPr/>
        </p:nvSpPr>
        <p:spPr>
          <a:xfrm>
            <a:off x="585216" y="3012033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size(map), do: map_size(map)</a:t>
            </a:r>
          </a:p>
        </p:txBody>
      </p:sp>
      <p:sp>
        <p:nvSpPr>
          <p:cNvPr id="16" name="a1wd360_code15"/>
          <p:cNvSpPr txBox="1"/>
          <p:nvPr/>
        </p:nvSpPr>
        <p:spPr>
          <a:xfrm>
            <a:off x="585216" y="317479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7" name="a1wd400_code16"/>
          <p:cNvSpPr txBox="1"/>
          <p:nvPr/>
        </p:nvSpPr>
        <p:spPr>
          <a:xfrm>
            <a:off x="585216" y="333756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Size, for: List do</a:t>
            </a:r>
          </a:p>
        </p:txBody>
      </p:sp>
      <p:sp>
        <p:nvSpPr>
          <p:cNvPr id="18" name="a1wd440_code17"/>
          <p:cNvSpPr txBox="1"/>
          <p:nvPr/>
        </p:nvSpPr>
        <p:spPr>
          <a:xfrm>
            <a:off x="585216" y="3500323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size(list), do: length(list)</a:t>
            </a:r>
          </a:p>
        </p:txBody>
      </p:sp>
      <p:sp>
        <p:nvSpPr>
          <p:cNvPr id="19" name="a1wd480_code18"/>
          <p:cNvSpPr txBox="1"/>
          <p:nvPr/>
        </p:nvSpPr>
        <p:spPr>
          <a:xfrm>
            <a:off x="585216" y="366308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0" name="a1wd520_code19"/>
          <p:cNvSpPr txBox="1"/>
          <p:nvPr/>
        </p:nvSpPr>
        <p:spPr>
          <a:xfrm>
            <a:off x="585216" y="3825849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Size, for: Tuple do</a:t>
            </a:r>
          </a:p>
        </p:txBody>
      </p:sp>
      <p:sp>
        <p:nvSpPr>
          <p:cNvPr id="21" name="a1wd560_code20"/>
          <p:cNvSpPr txBox="1"/>
          <p:nvPr/>
        </p:nvSpPr>
        <p:spPr>
          <a:xfrm>
            <a:off x="585216" y="3988612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size(tuple), do: tuple_size(tuple)</a:t>
            </a:r>
          </a:p>
        </p:txBody>
      </p:sp>
      <p:sp>
        <p:nvSpPr>
          <p:cNvPr id="22" name="a1wd600_code21"/>
          <p:cNvSpPr txBox="1"/>
          <p:nvPr/>
        </p:nvSpPr>
        <p:spPr>
          <a:xfrm>
            <a:off x="585216" y="415137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3" name="a2f_codebg22"/>
          <p:cNvSpPr/>
          <p:nvPr/>
        </p:nvSpPr>
        <p:spPr>
          <a:xfrm>
            <a:off x="4846320" y="1307592"/>
            <a:ext cx="3840480" cy="1408176"/>
          </a:xfrm>
          <a:prstGeom prst="roundRect">
            <a:avLst>
              <a:gd name="adj" fmla="val 51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f_codeh23"/>
          <p:cNvSpPr txBox="1"/>
          <p:nvPr/>
        </p:nvSpPr>
        <p:spPr>
          <a:xfrm>
            <a:off x="5010912" y="1362456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using it · REAL</a:t>
            </a:r>
          </a:p>
        </p:txBody>
      </p:sp>
      <p:sp>
        <p:nvSpPr>
          <p:cNvPr id="25" name="a2w_code24"/>
          <p:cNvSpPr txBox="1"/>
          <p:nvPr/>
        </p:nvSpPr>
        <p:spPr>
          <a:xfrm>
            <a:off x="5010912" y="1746504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Size.size("hello")          #=&gt; 5</a:t>
            </a:r>
          </a:p>
        </p:txBody>
      </p:sp>
      <p:sp>
        <p:nvSpPr>
          <p:cNvPr id="26" name="a2wd90_code25"/>
          <p:cNvSpPr txBox="1"/>
          <p:nvPr/>
        </p:nvSpPr>
        <p:spPr>
          <a:xfrm>
            <a:off x="5010912" y="1947672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Size.size(%{a: 1, b: 2})    #=&gt; 2</a:t>
            </a:r>
          </a:p>
        </p:txBody>
      </p:sp>
      <p:sp>
        <p:nvSpPr>
          <p:cNvPr id="27" name="a2wd180_code26"/>
          <p:cNvSpPr txBox="1"/>
          <p:nvPr/>
        </p:nvSpPr>
        <p:spPr>
          <a:xfrm>
            <a:off x="5010912" y="2148840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Size.size([1, 2, 3, 4])     #=&gt; 4</a:t>
            </a:r>
          </a:p>
        </p:txBody>
      </p:sp>
      <p:sp>
        <p:nvSpPr>
          <p:cNvPr id="28" name="a2wd270_code27"/>
          <p:cNvSpPr txBox="1"/>
          <p:nvPr/>
        </p:nvSpPr>
        <p:spPr>
          <a:xfrm>
            <a:off x="5010912" y="2350008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Size.size({1, 2, 3})        #=&gt; 3</a:t>
            </a:r>
          </a:p>
        </p:txBody>
      </p:sp>
      <p:sp>
        <p:nvSpPr>
          <p:cNvPr id="29" name="a3f_cap28"/>
          <p:cNvSpPr txBox="1"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dispatch on the type of the first argument →</a:t>
            </a:r>
          </a:p>
        </p:txBody>
      </p:sp>
      <p:sp>
        <p:nvSpPr>
          <p:cNvPr id="30" name="a3ud100_stg29"/>
          <p:cNvSpPr/>
          <p:nvPr/>
        </p:nvSpPr>
        <p:spPr>
          <a:xfrm>
            <a:off x="4846320" y="3246120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d100_stgt30"/>
          <p:cNvSpPr txBox="1"/>
          <p:nvPr/>
        </p:nvSpPr>
        <p:spPr>
          <a:xfrm>
            <a:off x="4892040" y="3246120"/>
            <a:ext cx="17830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Size.BitString</a:t>
            </a:r>
          </a:p>
        </p:txBody>
      </p:sp>
      <p:sp>
        <p:nvSpPr>
          <p:cNvPr id="32" name="a3ud190_stg31"/>
          <p:cNvSpPr/>
          <p:nvPr/>
        </p:nvSpPr>
        <p:spPr>
          <a:xfrm>
            <a:off x="6812279" y="3246120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d190_stgt32"/>
          <p:cNvSpPr txBox="1"/>
          <p:nvPr/>
        </p:nvSpPr>
        <p:spPr>
          <a:xfrm>
            <a:off x="6857999" y="3246120"/>
            <a:ext cx="17830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Size.Map</a:t>
            </a:r>
          </a:p>
        </p:txBody>
      </p:sp>
      <p:sp>
        <p:nvSpPr>
          <p:cNvPr id="34" name="a3ud280_stg33"/>
          <p:cNvSpPr/>
          <p:nvPr/>
        </p:nvSpPr>
        <p:spPr>
          <a:xfrm>
            <a:off x="4846320" y="3749039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d280_stgt34"/>
          <p:cNvSpPr txBox="1"/>
          <p:nvPr/>
        </p:nvSpPr>
        <p:spPr>
          <a:xfrm>
            <a:off x="4892040" y="3749039"/>
            <a:ext cx="17830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Size.List</a:t>
            </a:r>
          </a:p>
        </p:txBody>
      </p:sp>
      <p:sp>
        <p:nvSpPr>
          <p:cNvPr id="36" name="a3ud370_stg35"/>
          <p:cNvSpPr/>
          <p:nvPr/>
        </p:nvSpPr>
        <p:spPr>
          <a:xfrm>
            <a:off x="6812279" y="3749039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d370_stgt36"/>
          <p:cNvSpPr txBox="1"/>
          <p:nvPr/>
        </p:nvSpPr>
        <p:spPr>
          <a:xfrm>
            <a:off x="6857999" y="3749039"/>
            <a:ext cx="17830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Size.Tuple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FALLBACK (ANY)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fallback needs two things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for: Any implementation alone changes nothing — the protocol must opt in with @fallback_to_any.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023360" cy="1947672"/>
          </a:xfrm>
          <a:prstGeom prst="roundRect">
            <a:avLst>
              <a:gd name="adj" fmla="val 37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Any alone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C9B3E8"/>
                </a:solidFill>
                <a:latin typeface="Courier New"/>
              </a:rPr>
              <a:t>defimpl Size, for: Any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38528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E2E8F0"/>
                </a:solidFill>
                <a:latin typeface="Courier New"/>
              </a:rPr>
              <a:t>  def size(_), do: 0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30552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22576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4B8A6"/>
                </a:solidFill>
                <a:latin typeface="Courier New"/>
              </a:rPr>
              <a:t>Size.impl_for(123)   #=&gt; nil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14600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E2E8F0"/>
                </a:solidFill>
                <a:latin typeface="Courier New"/>
              </a:rPr>
              <a:t>Size.size(123)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06624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FCA5A5"/>
                </a:solidFill>
                <a:latin typeface="Courier New"/>
              </a:rPr>
              <a:t>** (Protocol.UndefinedError)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98648"/>
            <a:ext cx="369417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FCA5A5"/>
                </a:solidFill>
                <a:latin typeface="Courier New"/>
              </a:rPr>
              <a:t>   protocol Size not implemented for Integer</a:t>
            </a:r>
          </a:p>
        </p:txBody>
      </p:sp>
      <p:sp>
        <p:nvSpPr>
          <p:cNvPr id="14" name="a2u_nb13"/>
          <p:cNvSpPr/>
          <p:nvPr/>
        </p:nvSpPr>
        <p:spPr>
          <a:xfrm>
            <a:off x="457200" y="3392423"/>
            <a:ext cx="402336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nacc14"/>
          <p:cNvSpPr/>
          <p:nvPr/>
        </p:nvSpPr>
        <p:spPr>
          <a:xfrm>
            <a:off x="457200" y="3392423"/>
            <a:ext cx="50292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t15"/>
          <p:cNvSpPr txBox="1"/>
          <p:nvPr/>
        </p:nvSpPr>
        <p:spPr>
          <a:xfrm>
            <a:off x="658368" y="3392423"/>
            <a:ext cx="3621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!  </a:t>
            </a:r>
            <a:r>
              <a:rPr sz="1100" b="0">
                <a:solidFill>
                  <a:srgbClr val="334155"/>
                </a:solidFill>
                <a:latin typeface="Calibri"/>
              </a:rPr>
              <a:t>On its own, the Any implementation is only used by @derive (A5).</a:t>
            </a:r>
          </a:p>
        </p:txBody>
      </p:sp>
      <p:sp>
        <p:nvSpPr>
          <p:cNvPr id="17" name="a3f_codebg16"/>
          <p:cNvSpPr/>
          <p:nvPr/>
        </p:nvSpPr>
        <p:spPr>
          <a:xfrm>
            <a:off x="4663440" y="1307592"/>
            <a:ext cx="4023360" cy="2862072"/>
          </a:xfrm>
          <a:prstGeom prst="roundRect">
            <a:avLst>
              <a:gd name="adj" fmla="val 25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f_codeh17"/>
          <p:cNvSpPr txBox="1"/>
          <p:nvPr/>
        </p:nvSpPr>
        <p:spPr>
          <a:xfrm>
            <a:off x="4828031" y="1362456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with @fallback_to_any true · REAL</a:t>
            </a:r>
          </a:p>
        </p:txBody>
      </p:sp>
      <p:sp>
        <p:nvSpPr>
          <p:cNvPr id="19" name="a3w_code18"/>
          <p:cNvSpPr txBox="1"/>
          <p:nvPr/>
        </p:nvSpPr>
        <p:spPr>
          <a:xfrm>
            <a:off x="4828031" y="1746504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defprotocol Size2 do</a:t>
            </a:r>
          </a:p>
        </p:txBody>
      </p:sp>
      <p:sp>
        <p:nvSpPr>
          <p:cNvPr id="20" name="a3wd50_code19"/>
          <p:cNvSpPr txBox="1"/>
          <p:nvPr/>
        </p:nvSpPr>
        <p:spPr>
          <a:xfrm>
            <a:off x="4828031" y="1920240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@fallback_to_any true</a:t>
            </a:r>
          </a:p>
        </p:txBody>
      </p:sp>
      <p:sp>
        <p:nvSpPr>
          <p:cNvPr id="21" name="a3wd100_code20"/>
          <p:cNvSpPr txBox="1"/>
          <p:nvPr/>
        </p:nvSpPr>
        <p:spPr>
          <a:xfrm>
            <a:off x="4828031" y="2093976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 size(data)</a:t>
            </a:r>
          </a:p>
        </p:txBody>
      </p:sp>
      <p:sp>
        <p:nvSpPr>
          <p:cNvPr id="22" name="a3wd150_code21"/>
          <p:cNvSpPr txBox="1"/>
          <p:nvPr/>
        </p:nvSpPr>
        <p:spPr>
          <a:xfrm>
            <a:off x="4828031" y="2267712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3" name="a3wd200_code22"/>
          <p:cNvSpPr txBox="1"/>
          <p:nvPr/>
        </p:nvSpPr>
        <p:spPr>
          <a:xfrm>
            <a:off x="4828031" y="2441448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defimpl Size2, for: List do</a:t>
            </a:r>
          </a:p>
        </p:txBody>
      </p:sp>
      <p:sp>
        <p:nvSpPr>
          <p:cNvPr id="24" name="a3wd250_code23"/>
          <p:cNvSpPr txBox="1"/>
          <p:nvPr/>
        </p:nvSpPr>
        <p:spPr>
          <a:xfrm>
            <a:off x="4828031" y="2615184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 size(list), do: length(list)</a:t>
            </a:r>
          </a:p>
        </p:txBody>
      </p:sp>
      <p:sp>
        <p:nvSpPr>
          <p:cNvPr id="25" name="a3wd300_code24"/>
          <p:cNvSpPr txBox="1"/>
          <p:nvPr/>
        </p:nvSpPr>
        <p:spPr>
          <a:xfrm>
            <a:off x="4828031" y="2788920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6" name="a3wd350_code25"/>
          <p:cNvSpPr txBox="1"/>
          <p:nvPr/>
        </p:nvSpPr>
        <p:spPr>
          <a:xfrm>
            <a:off x="4828031" y="2962656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defimpl Size2, for: Any do</a:t>
            </a:r>
          </a:p>
        </p:txBody>
      </p:sp>
      <p:sp>
        <p:nvSpPr>
          <p:cNvPr id="27" name="a3wd400_code26"/>
          <p:cNvSpPr txBox="1"/>
          <p:nvPr/>
        </p:nvSpPr>
        <p:spPr>
          <a:xfrm>
            <a:off x="4828031" y="3136391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 size(_), do: 0</a:t>
            </a:r>
          </a:p>
        </p:txBody>
      </p:sp>
      <p:sp>
        <p:nvSpPr>
          <p:cNvPr id="28" name="a3wd450_code27"/>
          <p:cNvSpPr txBox="1"/>
          <p:nvPr/>
        </p:nvSpPr>
        <p:spPr>
          <a:xfrm>
            <a:off x="4828031" y="3310128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9" name="a3wd500_code28"/>
          <p:cNvSpPr txBox="1"/>
          <p:nvPr/>
        </p:nvSpPr>
        <p:spPr>
          <a:xfrm>
            <a:off x="4828031" y="3483863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Size2.size(123)        #=&gt; 0</a:t>
            </a:r>
          </a:p>
        </p:txBody>
      </p:sp>
      <p:sp>
        <p:nvSpPr>
          <p:cNvPr id="30" name="a3wd550_code29"/>
          <p:cNvSpPr txBox="1"/>
          <p:nvPr/>
        </p:nvSpPr>
        <p:spPr>
          <a:xfrm>
            <a:off x="4828031" y="3657600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Size2.impl_for(123)    #=&gt; Size2.Any</a:t>
            </a:r>
          </a:p>
        </p:txBody>
      </p:sp>
      <p:sp>
        <p:nvSpPr>
          <p:cNvPr id="31" name="a3wd600_code30"/>
          <p:cNvSpPr txBox="1"/>
          <p:nvPr/>
        </p:nvSpPr>
        <p:spPr>
          <a:xfrm>
            <a:off x="4828031" y="3831336"/>
            <a:ext cx="36941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Size2.size([1, 2])     #=&gt; 2   (specific wins)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STRUCTS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protocol for your own struct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struct is a map underneath — but it gets its own implementation, never the Map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06240" cy="2523744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38770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User do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38528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defstruct [:name, :age]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22576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14600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defimpl Size, for: User do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706624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size(%User{}), do: 2    # two fields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98648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90672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82696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Size.size(%User{name: "Alice", age: 30})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474720"/>
            <a:ext cx="38770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2</a:t>
            </a:r>
          </a:p>
        </p:txBody>
      </p:sp>
      <p:sp>
        <p:nvSpPr>
          <p:cNvPr id="17" name="a2u_nb16"/>
          <p:cNvSpPr/>
          <p:nvPr/>
        </p:nvSpPr>
        <p:spPr>
          <a:xfrm>
            <a:off x="4846320" y="1335024"/>
            <a:ext cx="384048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acc17"/>
          <p:cNvSpPr/>
          <p:nvPr/>
        </p:nvSpPr>
        <p:spPr>
          <a:xfrm>
            <a:off x="4846320" y="1335024"/>
            <a:ext cx="50292" cy="1005840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t18"/>
          <p:cNvSpPr txBox="1"/>
          <p:nvPr/>
        </p:nvSpPr>
        <p:spPr>
          <a:xfrm>
            <a:off x="5047488" y="1335024"/>
            <a:ext cx="343814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!  </a:t>
            </a:r>
            <a:r>
              <a:rPr sz="1050" b="0">
                <a:solidFill>
                  <a:srgbClr val="334155"/>
                </a:solidFill>
                <a:latin typeface="Calibri"/>
              </a:rPr>
              <a:t>Before the defimpl, the same call raised: protocol Size not implemented for User (a struct). The Map implementation is not used.</a:t>
            </a:r>
          </a:p>
        </p:txBody>
      </p:sp>
      <p:sp>
        <p:nvSpPr>
          <p:cNvPr id="20" name="a3u_nb19"/>
          <p:cNvSpPr/>
          <p:nvPr/>
        </p:nvSpPr>
        <p:spPr>
          <a:xfrm>
            <a:off x="4846320" y="2478024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nacc20"/>
          <p:cNvSpPr/>
          <p:nvPr/>
        </p:nvSpPr>
        <p:spPr>
          <a:xfrm>
            <a:off x="4846320" y="2478024"/>
            <a:ext cx="50292" cy="7315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nt21"/>
          <p:cNvSpPr txBox="1"/>
          <p:nvPr/>
        </p:nvSpPr>
        <p:spPr>
          <a:xfrm>
            <a:off x="5047488" y="2478024"/>
            <a:ext cx="343814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→  </a:t>
            </a:r>
            <a:r>
              <a:rPr sz="1050" b="0">
                <a:solidFill>
                  <a:srgbClr val="334155"/>
                </a:solidFill>
                <a:latin typeface="Calibri"/>
              </a:rPr>
              <a:t>After it, Size.impl_for(%User{}) returns Size.User.</a:t>
            </a:r>
          </a:p>
        </p:txBody>
      </p:sp>
      <p:sp>
        <p:nvSpPr>
          <p:cNvPr id="23" name="a4u_nb22"/>
          <p:cNvSpPr/>
          <p:nvPr/>
        </p:nvSpPr>
        <p:spPr>
          <a:xfrm>
            <a:off x="4846320" y="3346704"/>
            <a:ext cx="384048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_nacc23"/>
          <p:cNvSpPr/>
          <p:nvPr/>
        </p:nvSpPr>
        <p:spPr>
          <a:xfrm>
            <a:off x="4846320" y="3346704"/>
            <a:ext cx="50292" cy="1188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4u_nt24"/>
          <p:cNvSpPr txBox="1"/>
          <p:nvPr/>
        </p:nvSpPr>
        <p:spPr>
          <a:xfrm>
            <a:off x="5047488" y="3346704"/>
            <a:ext cx="34381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!  </a:t>
            </a:r>
            <a:r>
              <a:rPr sz="1050" b="0">
                <a:solidFill>
                  <a:srgbClr val="334155"/>
                </a:solidFill>
                <a:latin typeface="Calibri"/>
              </a:rPr>
              <a:t>Gotcha on 1.20: a .exs script cannot use a struct at the top level of the same file that defines it. Paste into iex, or keep the struct in its own file.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BUILT-INS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Built-in protocols you implement every day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String.Chars feeds interpolation, Inspect feeds the console, Enumerable feeds Enum.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069080" cy="1682496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String.Chars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String.Chars, for: User do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585216" y="187452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to_string(%User{name: name, age: age}) do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585216" y="203911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"#{name} (#{age})"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585216" y="2203704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585216" y="2368296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585216" y="253288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"Hello #{%User{name: "Bob", age: 25}}"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585216" y="269748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"Hello Bob (25)"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617720" y="1307592"/>
            <a:ext cx="4069080" cy="1847088"/>
          </a:xfrm>
          <a:prstGeom prst="roundRect">
            <a:avLst>
              <a:gd name="adj" fmla="val 39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745736" y="136245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Inspect · REAL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745736" y="170992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defimpl Inspect, for: User do</a:t>
            </a:r>
          </a:p>
        </p:txBody>
      </p:sp>
      <p:sp>
        <p:nvSpPr>
          <p:cNvPr id="17" name="a2wd60_code16"/>
          <p:cNvSpPr txBox="1"/>
          <p:nvPr/>
        </p:nvSpPr>
        <p:spPr>
          <a:xfrm>
            <a:off x="4745736" y="187452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inspect(%User{name: name, age: age}, _opts) do</a:t>
            </a:r>
          </a:p>
        </p:txBody>
      </p:sp>
      <p:sp>
        <p:nvSpPr>
          <p:cNvPr id="18" name="a2wd120_code17"/>
          <p:cNvSpPr txBox="1"/>
          <p:nvPr/>
        </p:nvSpPr>
        <p:spPr>
          <a:xfrm>
            <a:off x="4745736" y="203911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"#User&lt;#{name}, #{age}&gt;"</a:t>
            </a:r>
          </a:p>
        </p:txBody>
      </p:sp>
      <p:sp>
        <p:nvSpPr>
          <p:cNvPr id="19" name="a2wd180_code18"/>
          <p:cNvSpPr txBox="1"/>
          <p:nvPr/>
        </p:nvSpPr>
        <p:spPr>
          <a:xfrm>
            <a:off x="4745736" y="2203704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0" name="a2wd240_code19"/>
          <p:cNvSpPr txBox="1"/>
          <p:nvPr/>
        </p:nvSpPr>
        <p:spPr>
          <a:xfrm>
            <a:off x="4745736" y="2368296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1" name="a2wd300_code20"/>
          <p:cNvSpPr txBox="1"/>
          <p:nvPr/>
        </p:nvSpPr>
        <p:spPr>
          <a:xfrm>
            <a:off x="4745736" y="253288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%User{name: "Bob", age: 25}</a:t>
            </a:r>
          </a:p>
        </p:txBody>
      </p:sp>
      <p:sp>
        <p:nvSpPr>
          <p:cNvPr id="22" name="a2wd360_code21"/>
          <p:cNvSpPr txBox="1"/>
          <p:nvPr/>
        </p:nvSpPr>
        <p:spPr>
          <a:xfrm>
            <a:off x="4745736" y="269748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#User&lt;Bob, 25&gt;</a:t>
            </a:r>
          </a:p>
        </p:txBody>
      </p:sp>
      <p:sp>
        <p:nvSpPr>
          <p:cNvPr id="23" name="a2wd420_code22"/>
          <p:cNvSpPr txBox="1"/>
          <p:nvPr/>
        </p:nvSpPr>
        <p:spPr>
          <a:xfrm>
            <a:off x="4745736" y="286207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urier New"/>
              </a:rPr>
              <a:t># before: %User{name: "Bob", age: 25}</a:t>
            </a:r>
          </a:p>
        </p:txBody>
      </p:sp>
      <p:sp>
        <p:nvSpPr>
          <p:cNvPr id="24" name="a3f_codebg23"/>
          <p:cNvSpPr/>
          <p:nvPr/>
        </p:nvSpPr>
        <p:spPr>
          <a:xfrm>
            <a:off x="457200" y="3255263"/>
            <a:ext cx="8229600" cy="1005839"/>
          </a:xfrm>
          <a:prstGeom prst="roundRect">
            <a:avLst>
              <a:gd name="adj" fmla="val 727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codeh24"/>
          <p:cNvSpPr txBox="1"/>
          <p:nvPr/>
        </p:nvSpPr>
        <p:spPr>
          <a:xfrm>
            <a:off x="621792" y="3310127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Enumerable — works because List and Map implement it · REAL</a:t>
            </a:r>
          </a:p>
        </p:txBody>
      </p:sp>
      <p:sp>
        <p:nvSpPr>
          <p:cNvPr id="26" name="a3w_code25"/>
          <p:cNvSpPr txBox="1"/>
          <p:nvPr/>
        </p:nvSpPr>
        <p:spPr>
          <a:xfrm>
            <a:off x="621792" y="3694175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Enum.map([1, 2, 3], &amp;(&amp;1 * 2))                          #=&gt; [2, 4, 6]</a:t>
            </a:r>
          </a:p>
        </p:txBody>
      </p:sp>
      <p:sp>
        <p:nvSpPr>
          <p:cNvPr id="27" name="a3wd90_code26"/>
          <p:cNvSpPr txBox="1"/>
          <p:nvPr/>
        </p:nvSpPr>
        <p:spPr>
          <a:xfrm>
            <a:off x="621792" y="3895343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Enum.map(%{a: 1, b: 2}, fn {k, v} -&gt; {k, v * 2} end)    #=&gt; [a: 2, b: 4]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DERIVING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@derive copies the Any implementation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So deriving Size needs defimpl Size, for: Any — a Map implementation is not enough.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1408176"/>
          </a:xfrm>
          <a:prstGeom prst="roundRect">
            <a:avLst>
              <a:gd name="adj" fmla="val 51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as written in the notes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Point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47672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@derive [Inspect, Size]   # if Size is already defined for maps/structs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48840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defstruct [:x, :y]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50008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1" name="a2f_codebg10"/>
          <p:cNvSpPr/>
          <p:nvPr/>
        </p:nvSpPr>
        <p:spPr>
          <a:xfrm>
            <a:off x="457200" y="2770632"/>
            <a:ext cx="4023360" cy="1152144"/>
          </a:xfrm>
          <a:prstGeom prst="roundRect">
            <a:avLst>
              <a:gd name="adj" fmla="val 63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f_codeh11"/>
          <p:cNvSpPr txBox="1"/>
          <p:nvPr/>
        </p:nvSpPr>
        <p:spPr>
          <a:xfrm>
            <a:off x="621792" y="2825496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only a Map impl exists · REAL</a:t>
            </a:r>
          </a:p>
        </p:txBody>
      </p:sp>
      <p:sp>
        <p:nvSpPr>
          <p:cNvPr id="13" name="a2w_code12"/>
          <p:cNvSpPr txBox="1"/>
          <p:nvPr/>
        </p:nvSpPr>
        <p:spPr>
          <a:xfrm>
            <a:off x="621792" y="3209544"/>
            <a:ext cx="36941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(ArgumentError) could not load</a:t>
            </a:r>
          </a:p>
        </p:txBody>
      </p:sp>
      <p:sp>
        <p:nvSpPr>
          <p:cNvPr id="14" name="a2wd80_code13"/>
          <p:cNvSpPr txBox="1"/>
          <p:nvPr/>
        </p:nvSpPr>
        <p:spPr>
          <a:xfrm>
            <a:off x="621792" y="3392424"/>
            <a:ext cx="36941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 module Size.Any due to reason</a:t>
            </a:r>
          </a:p>
        </p:txBody>
      </p:sp>
      <p:sp>
        <p:nvSpPr>
          <p:cNvPr id="15" name="a2wd160_code14"/>
          <p:cNvSpPr txBox="1"/>
          <p:nvPr/>
        </p:nvSpPr>
        <p:spPr>
          <a:xfrm>
            <a:off x="621792" y="3575304"/>
            <a:ext cx="36941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 :nofile, cannot derive Size for Point</a:t>
            </a:r>
          </a:p>
        </p:txBody>
      </p:sp>
      <p:sp>
        <p:nvSpPr>
          <p:cNvPr id="16" name="a3f_codebg15"/>
          <p:cNvSpPr/>
          <p:nvPr/>
        </p:nvSpPr>
        <p:spPr>
          <a:xfrm>
            <a:off x="4663440" y="2770632"/>
            <a:ext cx="402336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f_codeh16"/>
          <p:cNvSpPr txBox="1"/>
          <p:nvPr/>
        </p:nvSpPr>
        <p:spPr>
          <a:xfrm>
            <a:off x="4828031" y="2825496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after defimpl Size, for: Any · REAL</a:t>
            </a:r>
          </a:p>
        </p:txBody>
      </p:sp>
      <p:sp>
        <p:nvSpPr>
          <p:cNvPr id="18" name="a3w_code17"/>
          <p:cNvSpPr txBox="1"/>
          <p:nvPr/>
        </p:nvSpPr>
        <p:spPr>
          <a:xfrm>
            <a:off x="4828031" y="3209544"/>
            <a:ext cx="36941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Size.size(%Point{x: 1, y: 2})      #=&gt; 0</a:t>
            </a:r>
          </a:p>
        </p:txBody>
      </p:sp>
      <p:sp>
        <p:nvSpPr>
          <p:cNvPr id="19" name="a3wd80_code18"/>
          <p:cNvSpPr txBox="1"/>
          <p:nvPr/>
        </p:nvSpPr>
        <p:spPr>
          <a:xfrm>
            <a:off x="4828031" y="3392424"/>
            <a:ext cx="36941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Size.impl_for(%Point{x: 1, y: 2})  #=&gt; Size.Point</a:t>
            </a:r>
          </a:p>
        </p:txBody>
      </p:sp>
      <p:sp>
        <p:nvSpPr>
          <p:cNvPr id="20" name="a4u_nb19"/>
          <p:cNvSpPr/>
          <p:nvPr/>
        </p:nvSpPr>
        <p:spPr>
          <a:xfrm>
            <a:off x="4663440" y="384962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4u_nacc20"/>
          <p:cNvSpPr/>
          <p:nvPr/>
        </p:nvSpPr>
        <p:spPr>
          <a:xfrm>
            <a:off x="4663440" y="3849624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4u_nt21"/>
          <p:cNvSpPr txBox="1"/>
          <p:nvPr/>
        </p:nvSpPr>
        <p:spPr>
          <a:xfrm>
            <a:off x="4864607" y="3849624"/>
            <a:ext cx="362102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→  </a:t>
            </a:r>
            <a:r>
              <a:rPr sz="1000" b="0">
                <a:solidFill>
                  <a:srgbClr val="334155"/>
                </a:solidFill>
                <a:latin typeface="Calibri"/>
              </a:rPr>
              <a:t>Tip: bare @derive Inspect changes nothing; @derive {Inspect, only: [:x]} prints #Point&lt;x: 1, ...&gt;.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CHECKING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impl_for/1: who handles this value?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Value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6304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6304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"hello"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82880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82880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%{}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9456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%User{...}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56032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56032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%Point{...}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92608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92608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123</a:t>
            </a:r>
          </a:p>
        </p:txBody>
      </p:sp>
      <p:sp>
        <p:nvSpPr>
          <p:cNvPr id="16" name="a1wd660_td15"/>
          <p:cNvSpPr/>
          <p:nvPr/>
        </p:nvSpPr>
        <p:spPr>
          <a:xfrm>
            <a:off x="457200" y="329184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60_tdt16"/>
          <p:cNvSpPr txBox="1"/>
          <p:nvPr/>
        </p:nvSpPr>
        <p:spPr>
          <a:xfrm>
            <a:off x="530352" y="3291840"/>
            <a:ext cx="19933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123  (Size2)</a:t>
            </a:r>
          </a:p>
        </p:txBody>
      </p:sp>
      <p:sp>
        <p:nvSpPr>
          <p:cNvPr id="18" name="a1f_th17"/>
          <p:cNvSpPr/>
          <p:nvPr/>
        </p:nvSpPr>
        <p:spPr>
          <a:xfrm>
            <a:off x="2560320" y="1097280"/>
            <a:ext cx="219456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2633472" y="109728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impl_for returns</a:t>
            </a:r>
          </a:p>
        </p:txBody>
      </p:sp>
      <p:sp>
        <p:nvSpPr>
          <p:cNvPr id="20" name="a1wd110_td19"/>
          <p:cNvSpPr/>
          <p:nvPr/>
        </p:nvSpPr>
        <p:spPr>
          <a:xfrm>
            <a:off x="2560320" y="146304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10_tdt20"/>
          <p:cNvSpPr txBox="1"/>
          <p:nvPr/>
        </p:nvSpPr>
        <p:spPr>
          <a:xfrm>
            <a:off x="2633472" y="146304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Size.BitString</a:t>
            </a:r>
          </a:p>
        </p:txBody>
      </p:sp>
      <p:sp>
        <p:nvSpPr>
          <p:cNvPr id="22" name="a1wd220_td21"/>
          <p:cNvSpPr/>
          <p:nvPr/>
        </p:nvSpPr>
        <p:spPr>
          <a:xfrm>
            <a:off x="2560320" y="1828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20_tdt22"/>
          <p:cNvSpPr txBox="1"/>
          <p:nvPr/>
        </p:nvSpPr>
        <p:spPr>
          <a:xfrm>
            <a:off x="2633472" y="182880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Size.Map</a:t>
            </a:r>
          </a:p>
        </p:txBody>
      </p:sp>
      <p:sp>
        <p:nvSpPr>
          <p:cNvPr id="24" name="a1wd330_td23"/>
          <p:cNvSpPr/>
          <p:nvPr/>
        </p:nvSpPr>
        <p:spPr>
          <a:xfrm>
            <a:off x="2560320" y="21945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30_tdt24"/>
          <p:cNvSpPr txBox="1"/>
          <p:nvPr/>
        </p:nvSpPr>
        <p:spPr>
          <a:xfrm>
            <a:off x="2633472" y="21945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Size.User</a:t>
            </a:r>
          </a:p>
        </p:txBody>
      </p:sp>
      <p:sp>
        <p:nvSpPr>
          <p:cNvPr id="26" name="a1wd440_td25"/>
          <p:cNvSpPr/>
          <p:nvPr/>
        </p:nvSpPr>
        <p:spPr>
          <a:xfrm>
            <a:off x="2560320" y="256032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40_tdt26"/>
          <p:cNvSpPr txBox="1"/>
          <p:nvPr/>
        </p:nvSpPr>
        <p:spPr>
          <a:xfrm>
            <a:off x="2633472" y="256032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Size.Point</a:t>
            </a:r>
          </a:p>
        </p:txBody>
      </p:sp>
      <p:sp>
        <p:nvSpPr>
          <p:cNvPr id="28" name="a1wd550_td27"/>
          <p:cNvSpPr/>
          <p:nvPr/>
        </p:nvSpPr>
        <p:spPr>
          <a:xfrm>
            <a:off x="2560320" y="29260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550_tdt28"/>
          <p:cNvSpPr txBox="1"/>
          <p:nvPr/>
        </p:nvSpPr>
        <p:spPr>
          <a:xfrm>
            <a:off x="2633472" y="292608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nil</a:t>
            </a:r>
          </a:p>
        </p:txBody>
      </p:sp>
      <p:sp>
        <p:nvSpPr>
          <p:cNvPr id="30" name="a1wd660_td29"/>
          <p:cNvSpPr/>
          <p:nvPr/>
        </p:nvSpPr>
        <p:spPr>
          <a:xfrm>
            <a:off x="2560320" y="329184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60_tdt30"/>
          <p:cNvSpPr txBox="1"/>
          <p:nvPr/>
        </p:nvSpPr>
        <p:spPr>
          <a:xfrm>
            <a:off x="2633472" y="329184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Size2.Any</a:t>
            </a:r>
          </a:p>
        </p:txBody>
      </p:sp>
      <p:sp>
        <p:nvSpPr>
          <p:cNvPr id="32" name="a1f_th31"/>
          <p:cNvSpPr/>
          <p:nvPr/>
        </p:nvSpPr>
        <p:spPr>
          <a:xfrm>
            <a:off x="4754879" y="1097280"/>
            <a:ext cx="393192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4828031" y="109728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34" name="a1wd110_td33"/>
          <p:cNvSpPr/>
          <p:nvPr/>
        </p:nvSpPr>
        <p:spPr>
          <a:xfrm>
            <a:off x="4754879" y="146304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10_tdt34"/>
          <p:cNvSpPr txBox="1"/>
          <p:nvPr/>
        </p:nvSpPr>
        <p:spPr>
          <a:xfrm>
            <a:off x="4828031" y="146304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strings are BitStrings</a:t>
            </a:r>
          </a:p>
        </p:txBody>
      </p:sp>
      <p:sp>
        <p:nvSpPr>
          <p:cNvPr id="36" name="a1wd220_td35"/>
          <p:cNvSpPr/>
          <p:nvPr/>
        </p:nvSpPr>
        <p:spPr>
          <a:xfrm>
            <a:off x="4754879" y="182880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20_tdt36"/>
          <p:cNvSpPr txBox="1"/>
          <p:nvPr/>
        </p:nvSpPr>
        <p:spPr>
          <a:xfrm>
            <a:off x="4828031" y="182880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plain map</a:t>
            </a:r>
          </a:p>
        </p:txBody>
      </p:sp>
      <p:sp>
        <p:nvSpPr>
          <p:cNvPr id="38" name="a1wd330_td37"/>
          <p:cNvSpPr/>
          <p:nvPr/>
        </p:nvSpPr>
        <p:spPr>
          <a:xfrm>
            <a:off x="4754879" y="219456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30_tdt38"/>
          <p:cNvSpPr txBox="1"/>
          <p:nvPr/>
        </p:nvSpPr>
        <p:spPr>
          <a:xfrm>
            <a:off x="4828031" y="219456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struct's own defimpl</a:t>
            </a:r>
          </a:p>
        </p:txBody>
      </p:sp>
      <p:sp>
        <p:nvSpPr>
          <p:cNvPr id="40" name="a1wd440_td39"/>
          <p:cNvSpPr/>
          <p:nvPr/>
        </p:nvSpPr>
        <p:spPr>
          <a:xfrm>
            <a:off x="4754879" y="256032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40_tdt40"/>
          <p:cNvSpPr txBox="1"/>
          <p:nvPr/>
        </p:nvSpPr>
        <p:spPr>
          <a:xfrm>
            <a:off x="4828031" y="256032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derived from the Any implementation</a:t>
            </a:r>
          </a:p>
        </p:txBody>
      </p:sp>
      <p:sp>
        <p:nvSpPr>
          <p:cNvPr id="42" name="a1wd550_td41"/>
          <p:cNvSpPr/>
          <p:nvPr/>
        </p:nvSpPr>
        <p:spPr>
          <a:xfrm>
            <a:off x="4754879" y="292608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50_tdt42"/>
          <p:cNvSpPr txBox="1"/>
          <p:nvPr/>
        </p:nvSpPr>
        <p:spPr>
          <a:xfrm>
            <a:off x="4828031" y="292608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 Integer impl — Size.size(123) raises</a:t>
            </a:r>
          </a:p>
        </p:txBody>
      </p:sp>
      <p:sp>
        <p:nvSpPr>
          <p:cNvPr id="44" name="a1wd660_td43"/>
          <p:cNvSpPr/>
          <p:nvPr/>
        </p:nvSpPr>
        <p:spPr>
          <a:xfrm>
            <a:off x="4754879" y="329184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660_tdt44"/>
          <p:cNvSpPr txBox="1"/>
          <p:nvPr/>
        </p:nvSpPr>
        <p:spPr>
          <a:xfrm>
            <a:off x="4828031" y="3291840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protocol says @fallback_to_any true</a:t>
            </a:r>
          </a:p>
        </p:txBody>
      </p:sp>
      <p:sp>
        <p:nvSpPr>
          <p:cNvPr id="46" name="a2u_nb45"/>
          <p:cNvSpPr/>
          <p:nvPr/>
        </p:nvSpPr>
        <p:spPr>
          <a:xfrm>
            <a:off x="457200" y="385876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u_nacc46"/>
          <p:cNvSpPr/>
          <p:nvPr/>
        </p:nvSpPr>
        <p:spPr>
          <a:xfrm>
            <a:off x="457200" y="3858768"/>
            <a:ext cx="50292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_nt47"/>
          <p:cNvSpPr txBox="1"/>
          <p:nvPr/>
        </p:nvSpPr>
        <p:spPr>
          <a:xfrm>
            <a:off x="658368" y="385876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Calibri"/>
              </a:rPr>
              <a:t>✓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notes' three impl_for lines ("hello", %{}, 123) print exactly what they claim on 1.20.4.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PRACTICAL EXAMPLE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Mini example: a Blank protocol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counts as “blank” depends on the type — a natural fit for a protocol.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06240" cy="3221431"/>
          </a:xfrm>
          <a:prstGeom prst="roundRect">
            <a:avLst>
              <a:gd name="adj" fmla="val 22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66928" y="1362456"/>
            <a:ext cx="39867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blank.ex · condensed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66928" y="1691640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defprotocol Blank do</a:t>
            </a:r>
          </a:p>
        </p:txBody>
      </p:sp>
      <p:sp>
        <p:nvSpPr>
          <p:cNvPr id="8" name="a1wd35_code7"/>
          <p:cNvSpPr txBox="1"/>
          <p:nvPr/>
        </p:nvSpPr>
        <p:spPr>
          <a:xfrm>
            <a:off x="566928" y="1835200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blank?(data)</a:t>
            </a:r>
          </a:p>
        </p:txBody>
      </p:sp>
      <p:sp>
        <p:nvSpPr>
          <p:cNvPr id="9" name="a1wd70_code8"/>
          <p:cNvSpPr txBox="1"/>
          <p:nvPr/>
        </p:nvSpPr>
        <p:spPr>
          <a:xfrm>
            <a:off x="566928" y="1978761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0" name="a1wd105_code9"/>
          <p:cNvSpPr txBox="1"/>
          <p:nvPr/>
        </p:nvSpPr>
        <p:spPr>
          <a:xfrm>
            <a:off x="566928" y="2122322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defimpl Blank, for: BitString do</a:t>
            </a:r>
          </a:p>
        </p:txBody>
      </p:sp>
      <p:sp>
        <p:nvSpPr>
          <p:cNvPr id="11" name="a1wd140_code10"/>
          <p:cNvSpPr txBox="1"/>
          <p:nvPr/>
        </p:nvSpPr>
        <p:spPr>
          <a:xfrm>
            <a:off x="566928" y="2265883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blank?(""), do: true</a:t>
            </a:r>
          </a:p>
        </p:txBody>
      </p:sp>
      <p:sp>
        <p:nvSpPr>
          <p:cNvPr id="12" name="a1wd175_code11"/>
          <p:cNvSpPr txBox="1"/>
          <p:nvPr/>
        </p:nvSpPr>
        <p:spPr>
          <a:xfrm>
            <a:off x="566928" y="2409444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blank?(_),  do: false</a:t>
            </a:r>
          </a:p>
        </p:txBody>
      </p:sp>
      <p:sp>
        <p:nvSpPr>
          <p:cNvPr id="13" name="a1wd210_code12"/>
          <p:cNvSpPr txBox="1"/>
          <p:nvPr/>
        </p:nvSpPr>
        <p:spPr>
          <a:xfrm>
            <a:off x="566928" y="2553004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4" name="a1wd245_code13"/>
          <p:cNvSpPr txBox="1"/>
          <p:nvPr/>
        </p:nvSpPr>
        <p:spPr>
          <a:xfrm>
            <a:off x="566928" y="2696565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defimpl Blank, for: List do</a:t>
            </a:r>
          </a:p>
        </p:txBody>
      </p:sp>
      <p:sp>
        <p:nvSpPr>
          <p:cNvPr id="15" name="a1wd280_code14"/>
          <p:cNvSpPr txBox="1"/>
          <p:nvPr/>
        </p:nvSpPr>
        <p:spPr>
          <a:xfrm>
            <a:off x="566928" y="2840126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blank?([]), do: true</a:t>
            </a:r>
          </a:p>
        </p:txBody>
      </p:sp>
      <p:sp>
        <p:nvSpPr>
          <p:cNvPr id="16" name="a1wd315_code15"/>
          <p:cNvSpPr txBox="1"/>
          <p:nvPr/>
        </p:nvSpPr>
        <p:spPr>
          <a:xfrm>
            <a:off x="566928" y="2983687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blank?(_),  do: false</a:t>
            </a:r>
          </a:p>
        </p:txBody>
      </p:sp>
      <p:sp>
        <p:nvSpPr>
          <p:cNvPr id="17" name="a1wd350_code16"/>
          <p:cNvSpPr txBox="1"/>
          <p:nvPr/>
        </p:nvSpPr>
        <p:spPr>
          <a:xfrm>
            <a:off x="566928" y="3127248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8" name="a1wd385_code17"/>
          <p:cNvSpPr txBox="1"/>
          <p:nvPr/>
        </p:nvSpPr>
        <p:spPr>
          <a:xfrm>
            <a:off x="566928" y="3270808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defimpl Blank, for: Map do</a:t>
            </a:r>
          </a:p>
        </p:txBody>
      </p:sp>
      <p:sp>
        <p:nvSpPr>
          <p:cNvPr id="19" name="a1wd420_code18"/>
          <p:cNvSpPr txBox="1"/>
          <p:nvPr/>
        </p:nvSpPr>
        <p:spPr>
          <a:xfrm>
            <a:off x="566928" y="3414369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blank?(map), do: map_size(map) == 0</a:t>
            </a:r>
          </a:p>
        </p:txBody>
      </p:sp>
      <p:sp>
        <p:nvSpPr>
          <p:cNvPr id="20" name="a1wd455_code19"/>
          <p:cNvSpPr txBox="1"/>
          <p:nvPr/>
        </p:nvSpPr>
        <p:spPr>
          <a:xfrm>
            <a:off x="566928" y="3557930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1" name="a1wd490_code20"/>
          <p:cNvSpPr txBox="1"/>
          <p:nvPr/>
        </p:nvSpPr>
        <p:spPr>
          <a:xfrm>
            <a:off x="566928" y="3701491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defimpl Blank, for: Atom do</a:t>
            </a:r>
          </a:p>
        </p:txBody>
      </p:sp>
      <p:sp>
        <p:nvSpPr>
          <p:cNvPr id="22" name="a1wd525_code21"/>
          <p:cNvSpPr txBox="1"/>
          <p:nvPr/>
        </p:nvSpPr>
        <p:spPr>
          <a:xfrm>
            <a:off x="566928" y="3845052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blank?(nil),  do: true</a:t>
            </a:r>
          </a:p>
        </p:txBody>
      </p:sp>
      <p:sp>
        <p:nvSpPr>
          <p:cNvPr id="23" name="a1wd560_code22"/>
          <p:cNvSpPr txBox="1"/>
          <p:nvPr/>
        </p:nvSpPr>
        <p:spPr>
          <a:xfrm>
            <a:off x="566928" y="3988612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blank?(false), do: true</a:t>
            </a:r>
          </a:p>
        </p:txBody>
      </p:sp>
      <p:sp>
        <p:nvSpPr>
          <p:cNvPr id="24" name="a1wd595_code23"/>
          <p:cNvSpPr txBox="1"/>
          <p:nvPr/>
        </p:nvSpPr>
        <p:spPr>
          <a:xfrm>
            <a:off x="566928" y="4132173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blank?(_),    do: false</a:t>
            </a:r>
          </a:p>
        </p:txBody>
      </p:sp>
      <p:sp>
        <p:nvSpPr>
          <p:cNvPr id="25" name="a1wd630_code24"/>
          <p:cNvSpPr txBox="1"/>
          <p:nvPr/>
        </p:nvSpPr>
        <p:spPr>
          <a:xfrm>
            <a:off x="566928" y="4275734"/>
            <a:ext cx="3986783" cy="143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6" name="a2f_codebg25"/>
          <p:cNvSpPr/>
          <p:nvPr/>
        </p:nvSpPr>
        <p:spPr>
          <a:xfrm>
            <a:off x="4846320" y="1307592"/>
            <a:ext cx="3840480" cy="2066543"/>
          </a:xfrm>
          <a:prstGeom prst="roundRect">
            <a:avLst>
              <a:gd name="adj" fmla="val 35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f_codeh26"/>
          <p:cNvSpPr txBox="1"/>
          <p:nvPr/>
        </p:nvSpPr>
        <p:spPr>
          <a:xfrm>
            <a:off x="5010912" y="1362456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usage · REAL</a:t>
            </a:r>
          </a:p>
        </p:txBody>
      </p:sp>
      <p:sp>
        <p:nvSpPr>
          <p:cNvPr id="28" name="a2w_code27"/>
          <p:cNvSpPr txBox="1"/>
          <p:nvPr/>
        </p:nvSpPr>
        <p:spPr>
          <a:xfrm>
            <a:off x="5010912" y="174650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Blank.blank?("")     #=&gt; true</a:t>
            </a:r>
          </a:p>
        </p:txBody>
      </p:sp>
      <p:sp>
        <p:nvSpPr>
          <p:cNvPr id="29" name="a2wd70_code28"/>
          <p:cNvSpPr txBox="1"/>
          <p:nvPr/>
        </p:nvSpPr>
        <p:spPr>
          <a:xfrm>
            <a:off x="5010912" y="192938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Blank.blank?("hi")   #=&gt; false</a:t>
            </a:r>
          </a:p>
        </p:txBody>
      </p:sp>
      <p:sp>
        <p:nvSpPr>
          <p:cNvPr id="30" name="a2wd140_code29"/>
          <p:cNvSpPr txBox="1"/>
          <p:nvPr/>
        </p:nvSpPr>
        <p:spPr>
          <a:xfrm>
            <a:off x="5010912" y="211226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Blank.blank?([])     #=&gt; true</a:t>
            </a:r>
          </a:p>
        </p:txBody>
      </p:sp>
      <p:sp>
        <p:nvSpPr>
          <p:cNvPr id="31" name="a2wd210_code30"/>
          <p:cNvSpPr txBox="1"/>
          <p:nvPr/>
        </p:nvSpPr>
        <p:spPr>
          <a:xfrm>
            <a:off x="5010912" y="229514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Blank.blank?(%{})    #=&gt; true</a:t>
            </a:r>
          </a:p>
        </p:txBody>
      </p:sp>
      <p:sp>
        <p:nvSpPr>
          <p:cNvPr id="32" name="a2wd280_code31"/>
          <p:cNvSpPr txBox="1"/>
          <p:nvPr/>
        </p:nvSpPr>
        <p:spPr>
          <a:xfrm>
            <a:off x="5010912" y="247802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Blank.blank?(nil)    #=&gt; true</a:t>
            </a:r>
          </a:p>
        </p:txBody>
      </p:sp>
      <p:sp>
        <p:nvSpPr>
          <p:cNvPr id="33" name="a2wd350_code32"/>
          <p:cNvSpPr txBox="1"/>
          <p:nvPr/>
        </p:nvSpPr>
        <p:spPr>
          <a:xfrm>
            <a:off x="5010912" y="266090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Blank.blank?(0)</a:t>
            </a:r>
          </a:p>
        </p:txBody>
      </p:sp>
      <p:sp>
        <p:nvSpPr>
          <p:cNvPr id="34" name="a2wd420_code33"/>
          <p:cNvSpPr txBox="1"/>
          <p:nvPr/>
        </p:nvSpPr>
        <p:spPr>
          <a:xfrm>
            <a:off x="5010912" y="284378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(Protocol.UndefinedError)</a:t>
            </a:r>
          </a:p>
        </p:txBody>
      </p:sp>
      <p:sp>
        <p:nvSpPr>
          <p:cNvPr id="35" name="a2wd490_code34"/>
          <p:cNvSpPr txBox="1"/>
          <p:nvPr/>
        </p:nvSpPr>
        <p:spPr>
          <a:xfrm>
            <a:off x="5010912" y="302666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 protocol Blank not implemented for Integer</a:t>
            </a:r>
          </a:p>
        </p:txBody>
      </p:sp>
      <p:sp>
        <p:nvSpPr>
          <p:cNvPr id="36" name="a3u_nb35"/>
          <p:cNvSpPr/>
          <p:nvPr/>
        </p:nvSpPr>
        <p:spPr>
          <a:xfrm>
            <a:off x="4846320" y="3511295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_nacc36"/>
          <p:cNvSpPr/>
          <p:nvPr/>
        </p:nvSpPr>
        <p:spPr>
          <a:xfrm>
            <a:off x="4846320" y="3511295"/>
            <a:ext cx="50292" cy="8686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_nt37"/>
          <p:cNvSpPr txBox="1"/>
          <p:nvPr/>
        </p:nvSpPr>
        <p:spPr>
          <a:xfrm>
            <a:off x="5047488" y="3511295"/>
            <a:ext cx="343814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→  </a:t>
            </a:r>
            <a:r>
              <a:rPr sz="1050" b="0">
                <a:solidFill>
                  <a:srgbClr val="334155"/>
                </a:solidFill>
                <a:latin typeface="Calibri"/>
              </a:rPr>
              <a:t>To make 0 work: add an Integer impl — or a for: Any impl plus @fallback_to_any true.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SUMMARY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Protocol takeaways</a:t>
            </a:r>
          </a:p>
        </p:txBody>
      </p:sp>
      <p:sp>
        <p:nvSpPr>
          <p:cNvPr id="4" name="a1u_n3"/>
          <p:cNvSpPr/>
          <p:nvPr/>
        </p:nvSpPr>
        <p:spPr>
          <a:xfrm>
            <a:off x="457200" y="1152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nt4"/>
          <p:cNvSpPr txBox="1"/>
          <p:nvPr/>
        </p:nvSpPr>
        <p:spPr>
          <a:xfrm>
            <a:off x="457200" y="11521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a1u_nb5"/>
          <p:cNvSpPr txBox="1"/>
          <p:nvPr/>
        </p:nvSpPr>
        <p:spPr>
          <a:xfrm>
            <a:off x="1115568" y="1106424"/>
            <a:ext cx="757123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Open polymorphism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you can add implementations for types you don't own</a:t>
            </a:r>
          </a:p>
        </p:txBody>
      </p:sp>
      <p:sp>
        <p:nvSpPr>
          <p:cNvPr id="7" name="a1ud180_n6"/>
          <p:cNvSpPr/>
          <p:nvPr/>
        </p:nvSpPr>
        <p:spPr>
          <a:xfrm>
            <a:off x="457200" y="19293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80_nt7"/>
          <p:cNvSpPr txBox="1"/>
          <p:nvPr/>
        </p:nvSpPr>
        <p:spPr>
          <a:xfrm>
            <a:off x="457200" y="1929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a1ud180_nb8"/>
          <p:cNvSpPr txBox="1"/>
          <p:nvPr/>
        </p:nvSpPr>
        <p:spPr>
          <a:xfrm>
            <a:off x="1115568" y="1883664"/>
            <a:ext cx="757123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Dispatch on the concrete type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of the first argument</a:t>
            </a:r>
          </a:p>
        </p:txBody>
      </p:sp>
      <p:sp>
        <p:nvSpPr>
          <p:cNvPr id="10" name="a1ud360_n9"/>
          <p:cNvSpPr/>
          <p:nvPr/>
        </p:nvSpPr>
        <p:spPr>
          <a:xfrm>
            <a:off x="457200" y="27066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360_nt10"/>
          <p:cNvSpPr txBox="1"/>
          <p:nvPr/>
        </p:nvSpPr>
        <p:spPr>
          <a:xfrm>
            <a:off x="457200" y="27066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a1ud360_nb11"/>
          <p:cNvSpPr txBox="1"/>
          <p:nvPr/>
        </p:nvSpPr>
        <p:spPr>
          <a:xfrm>
            <a:off x="1115568" y="2660904"/>
            <a:ext cx="757123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Prefer protocols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when you need the same behaviour across many different data shapes</a:t>
            </a:r>
          </a:p>
        </p:txBody>
      </p:sp>
      <p:sp>
        <p:nvSpPr>
          <p:cNvPr id="13" name="a1ud540_n12"/>
          <p:cNvSpPr/>
          <p:nvPr/>
        </p:nvSpPr>
        <p:spPr>
          <a:xfrm>
            <a:off x="457200" y="34838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540_nt13"/>
          <p:cNvSpPr txBox="1"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a1ud540_nb14"/>
          <p:cNvSpPr txBox="1"/>
          <p:nvPr/>
        </p:nvSpPr>
        <p:spPr>
          <a:xfrm>
            <a:off x="1115568" y="3438144"/>
            <a:ext cx="757123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Prefer behaviours (@behaviour)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when modules should implement a known set of callbacks — Part B</a:t>
            </a:r>
          </a:p>
        </p:txBody>
      </p:sp>
      <p:sp>
        <p:nvSpPr>
          <p:cNvPr id="16" name="ft1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B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Behaviours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contract between modules,
checked by the compiler.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@callback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@behaviour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@impl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@optional_callbacks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CORE CONCEPTS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Behaviours: a contract modules must fulfil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contract a module must fulfil — the mechanism behind GenServer, Supervisor and Application.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21031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Concept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36776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36776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Behaviour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65960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1965960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Callback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29514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295144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@behaviour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624328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624328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Compiler check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953511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2953511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Optional callbacks</a:t>
            </a:r>
          </a:p>
        </p:txBody>
      </p:sp>
      <p:sp>
        <p:nvSpPr>
          <p:cNvPr id="17" name="a1f_th16"/>
          <p:cNvSpPr/>
          <p:nvPr/>
        </p:nvSpPr>
        <p:spPr>
          <a:xfrm>
            <a:off x="2560320" y="1307592"/>
            <a:ext cx="612648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f_tht17"/>
          <p:cNvSpPr txBox="1"/>
          <p:nvPr/>
        </p:nvSpPr>
        <p:spPr>
          <a:xfrm>
            <a:off x="2633472" y="1307592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9" name="a1wd110_td18"/>
          <p:cNvSpPr/>
          <p:nvPr/>
        </p:nvSpPr>
        <p:spPr>
          <a:xfrm>
            <a:off x="2560320" y="1636776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110_tdt19"/>
          <p:cNvSpPr txBox="1"/>
          <p:nvPr/>
        </p:nvSpPr>
        <p:spPr>
          <a:xfrm>
            <a:off x="2633472" y="1636776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module that declares required (and optional) callbacks using @callback</a:t>
            </a:r>
          </a:p>
        </p:txBody>
      </p:sp>
      <p:sp>
        <p:nvSpPr>
          <p:cNvPr id="21" name="a1wd220_td20"/>
          <p:cNvSpPr/>
          <p:nvPr/>
        </p:nvSpPr>
        <p:spPr>
          <a:xfrm>
            <a:off x="2560320" y="1965960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220_tdt21"/>
          <p:cNvSpPr txBox="1"/>
          <p:nvPr/>
        </p:nvSpPr>
        <p:spPr>
          <a:xfrm>
            <a:off x="2633472" y="1965960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function specification that implementing modules must (or may) define</a:t>
            </a:r>
          </a:p>
        </p:txBody>
      </p:sp>
      <p:sp>
        <p:nvSpPr>
          <p:cNvPr id="23" name="a1wd330_td22"/>
          <p:cNvSpPr/>
          <p:nvPr/>
        </p:nvSpPr>
        <p:spPr>
          <a:xfrm>
            <a:off x="2560320" y="2295144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330_tdt23"/>
          <p:cNvSpPr txBox="1"/>
          <p:nvPr/>
        </p:nvSpPr>
        <p:spPr>
          <a:xfrm>
            <a:off x="2633472" y="2295144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Attribute a module uses to declare that it implements a behaviour</a:t>
            </a:r>
          </a:p>
        </p:txBody>
      </p:sp>
      <p:sp>
        <p:nvSpPr>
          <p:cNvPr id="25" name="a1wd440_td24"/>
          <p:cNvSpPr/>
          <p:nvPr/>
        </p:nvSpPr>
        <p:spPr>
          <a:xfrm>
            <a:off x="2560320" y="2624328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440_tdt25"/>
          <p:cNvSpPr txBox="1"/>
          <p:nvPr/>
        </p:nvSpPr>
        <p:spPr>
          <a:xfrm>
            <a:off x="2633472" y="2624328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Elixir warns at compile time if required callbacks are missing</a:t>
            </a:r>
          </a:p>
        </p:txBody>
      </p:sp>
      <p:sp>
        <p:nvSpPr>
          <p:cNvPr id="27" name="a1wd550_td26"/>
          <p:cNvSpPr/>
          <p:nvPr/>
        </p:nvSpPr>
        <p:spPr>
          <a:xfrm>
            <a:off x="2560320" y="2953511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550_tdt27"/>
          <p:cNvSpPr txBox="1"/>
          <p:nvPr/>
        </p:nvSpPr>
        <p:spPr>
          <a:xfrm>
            <a:off x="2633472" y="2953511"/>
            <a:ext cx="6016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Declared with @optional_callbacks — implementing them is not mandatory</a:t>
            </a:r>
          </a:p>
        </p:txBody>
      </p:sp>
      <p:sp>
        <p:nvSpPr>
          <p:cNvPr id="29" name="a2u_nb28"/>
          <p:cNvSpPr/>
          <p:nvPr/>
        </p:nvSpPr>
        <p:spPr>
          <a:xfrm>
            <a:off x="457200" y="346557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nacc29"/>
          <p:cNvSpPr/>
          <p:nvPr/>
        </p:nvSpPr>
        <p:spPr>
          <a:xfrm>
            <a:off x="457200" y="3465576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_nt30"/>
          <p:cNvSpPr txBox="1"/>
          <p:nvPr/>
        </p:nvSpPr>
        <p:spPr>
          <a:xfrm>
            <a:off x="658368" y="3465576"/>
            <a:ext cx="362102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→  </a:t>
            </a:r>
            <a:r>
              <a:rPr sz="1100" b="0">
                <a:solidFill>
                  <a:srgbClr val="334155"/>
                </a:solidFill>
                <a:latin typeface="Calibri"/>
              </a:rPr>
              <a:t>Behaviour → a contract between modules: compile-time, static.</a:t>
            </a:r>
          </a:p>
        </p:txBody>
      </p:sp>
      <p:sp>
        <p:nvSpPr>
          <p:cNvPr id="32" name="a3u_nb31"/>
          <p:cNvSpPr/>
          <p:nvPr/>
        </p:nvSpPr>
        <p:spPr>
          <a:xfrm>
            <a:off x="4663440" y="346557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_nacc32"/>
          <p:cNvSpPr/>
          <p:nvPr/>
        </p:nvSpPr>
        <p:spPr>
          <a:xfrm>
            <a:off x="4663440" y="3465576"/>
            <a:ext cx="50292" cy="65836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t33"/>
          <p:cNvSpPr txBox="1"/>
          <p:nvPr/>
        </p:nvSpPr>
        <p:spPr>
          <a:xfrm>
            <a:off x="4864607" y="3465576"/>
            <a:ext cx="362102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B3FA0"/>
                </a:solidFill>
                <a:latin typeface="Calibri"/>
              </a:rPr>
              <a:t>→  </a:t>
            </a:r>
            <a:r>
              <a:rPr sz="1100" b="0">
                <a:solidFill>
                  <a:srgbClr val="334155"/>
                </a:solidFill>
                <a:latin typeface="Calibri"/>
              </a:rPr>
              <a:t>Protocol → polymorphism over data types: runtime dispatch.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DEFINING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Defining a behaviour: Parser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required callbacks, one optional — each with a typespec and a @doc.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5349240" cy="2670048"/>
          </a:xfrm>
          <a:prstGeom prst="roundRect">
            <a:avLst>
              <a:gd name="adj" fmla="val 27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50932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parser.ex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9B3E8"/>
                </a:solidFill>
                <a:latin typeface="Courier New"/>
              </a:rPr>
              <a:t>defmodule Parser do</a:t>
            </a:r>
          </a:p>
        </p:txBody>
      </p:sp>
      <p:sp>
        <p:nvSpPr>
          <p:cNvPr id="8" name="a1wd45_code7"/>
          <p:cNvSpPr txBox="1"/>
          <p:nvPr/>
        </p:nvSpPr>
        <p:spPr>
          <a:xfrm>
            <a:off x="585216" y="1874520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@moduledoc "A behaviour for parsing data into a known format"</a:t>
            </a:r>
          </a:p>
        </p:txBody>
      </p:sp>
      <p:sp>
        <p:nvSpPr>
          <p:cNvPr id="9" name="a1wd90_code8"/>
          <p:cNvSpPr txBox="1"/>
          <p:nvPr/>
        </p:nvSpPr>
        <p:spPr>
          <a:xfrm>
            <a:off x="585216" y="2039112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35_code9"/>
          <p:cNvSpPr txBox="1"/>
          <p:nvPr/>
        </p:nvSpPr>
        <p:spPr>
          <a:xfrm>
            <a:off x="585216" y="2203704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@doc "Parses the given input and returns {:ok, result} or {:error, reason}"</a:t>
            </a:r>
          </a:p>
        </p:txBody>
      </p:sp>
      <p:sp>
        <p:nvSpPr>
          <p:cNvPr id="11" name="a1wd180_code10"/>
          <p:cNvSpPr txBox="1"/>
          <p:nvPr/>
        </p:nvSpPr>
        <p:spPr>
          <a:xfrm>
            <a:off x="585216" y="2368296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@callback parse(input :: term()) :: {:ok, term()} | {:error, term()}</a:t>
            </a:r>
          </a:p>
        </p:txBody>
      </p:sp>
      <p:sp>
        <p:nvSpPr>
          <p:cNvPr id="12" name="a1wd225_code11"/>
          <p:cNvSpPr txBox="1"/>
          <p:nvPr/>
        </p:nvSpPr>
        <p:spPr>
          <a:xfrm>
            <a:off x="585216" y="2532888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270_code12"/>
          <p:cNvSpPr txBox="1"/>
          <p:nvPr/>
        </p:nvSpPr>
        <p:spPr>
          <a:xfrm>
            <a:off x="585216" y="2697480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@doc "Returns a human-readable name for this parser"</a:t>
            </a:r>
          </a:p>
        </p:txBody>
      </p:sp>
      <p:sp>
        <p:nvSpPr>
          <p:cNvPr id="14" name="a1wd315_code13"/>
          <p:cNvSpPr txBox="1"/>
          <p:nvPr/>
        </p:nvSpPr>
        <p:spPr>
          <a:xfrm>
            <a:off x="585216" y="2862072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@callback name() :: String.t()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585216" y="3026664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6" name="a1wd405_code15"/>
          <p:cNvSpPr txBox="1"/>
          <p:nvPr/>
        </p:nvSpPr>
        <p:spPr>
          <a:xfrm>
            <a:off x="585216" y="3191256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urier New"/>
              </a:rPr>
              <a:t>  # Optional callback</a:t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585216" y="3355848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@callback validate(input :: term()) :: boolean()</a:t>
            </a:r>
          </a:p>
        </p:txBody>
      </p:sp>
      <p:sp>
        <p:nvSpPr>
          <p:cNvPr id="18" name="a1wd495_code17"/>
          <p:cNvSpPr txBox="1"/>
          <p:nvPr/>
        </p:nvSpPr>
        <p:spPr>
          <a:xfrm>
            <a:off x="585216" y="3520440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  @optional_callbacks validate: 1</a:t>
            </a:r>
          </a:p>
        </p:txBody>
      </p:sp>
      <p:sp>
        <p:nvSpPr>
          <p:cNvPr id="19" name="a1wd540_code18"/>
          <p:cNvSpPr txBox="1"/>
          <p:nvPr/>
        </p:nvSpPr>
        <p:spPr>
          <a:xfrm>
            <a:off x="585216" y="3685032"/>
            <a:ext cx="5093207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0" name="a2f_codebg19"/>
          <p:cNvSpPr/>
          <p:nvPr/>
        </p:nvSpPr>
        <p:spPr>
          <a:xfrm>
            <a:off x="5989320" y="1307592"/>
            <a:ext cx="2697480" cy="1746504"/>
          </a:xfrm>
          <a:prstGeom prst="roundRect">
            <a:avLst>
              <a:gd name="adj" fmla="val 41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codeh20"/>
          <p:cNvSpPr txBox="1"/>
          <p:nvPr/>
        </p:nvSpPr>
        <p:spPr>
          <a:xfrm>
            <a:off x="6117336" y="1362456"/>
            <a:ext cx="2441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2" name="a2w_code21"/>
          <p:cNvSpPr txBox="1"/>
          <p:nvPr/>
        </p:nvSpPr>
        <p:spPr>
          <a:xfrm>
            <a:off x="6117336" y="1709928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Parser.behaviour_info(</a:t>
            </a:r>
          </a:p>
        </p:txBody>
      </p:sp>
      <p:sp>
        <p:nvSpPr>
          <p:cNvPr id="23" name="a2wd60_code22"/>
          <p:cNvSpPr txBox="1"/>
          <p:nvPr/>
        </p:nvSpPr>
        <p:spPr>
          <a:xfrm>
            <a:off x="6117336" y="1883664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:callbacks)</a:t>
            </a:r>
          </a:p>
        </p:txBody>
      </p:sp>
      <p:sp>
        <p:nvSpPr>
          <p:cNvPr id="24" name="a2wd120_code23"/>
          <p:cNvSpPr txBox="1"/>
          <p:nvPr/>
        </p:nvSpPr>
        <p:spPr>
          <a:xfrm>
            <a:off x="6117336" y="2057400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#=&gt; [validate: 1, parse: 1,</a:t>
            </a:r>
          </a:p>
        </p:txBody>
      </p:sp>
      <p:sp>
        <p:nvSpPr>
          <p:cNvPr id="25" name="a2wd180_code24"/>
          <p:cNvSpPr txBox="1"/>
          <p:nvPr/>
        </p:nvSpPr>
        <p:spPr>
          <a:xfrm>
            <a:off x="6117336" y="2231136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#=&gt;  name: 0]</a:t>
            </a:r>
          </a:p>
        </p:txBody>
      </p:sp>
      <p:sp>
        <p:nvSpPr>
          <p:cNvPr id="26" name="a2wd240_code25"/>
          <p:cNvSpPr txBox="1"/>
          <p:nvPr/>
        </p:nvSpPr>
        <p:spPr>
          <a:xfrm>
            <a:off x="6117336" y="2404872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Parser.behaviour_info(</a:t>
            </a:r>
          </a:p>
        </p:txBody>
      </p:sp>
      <p:sp>
        <p:nvSpPr>
          <p:cNvPr id="27" name="a2wd300_code26"/>
          <p:cNvSpPr txBox="1"/>
          <p:nvPr/>
        </p:nvSpPr>
        <p:spPr>
          <a:xfrm>
            <a:off x="6117336" y="2578608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:optional_callbacks)</a:t>
            </a:r>
          </a:p>
        </p:txBody>
      </p:sp>
      <p:sp>
        <p:nvSpPr>
          <p:cNvPr id="28" name="a2wd360_code27"/>
          <p:cNvSpPr txBox="1"/>
          <p:nvPr/>
        </p:nvSpPr>
        <p:spPr>
          <a:xfrm>
            <a:off x="6117336" y="2752344"/>
            <a:ext cx="244144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#=&gt; [validate: 1]</a:t>
            </a:r>
          </a:p>
        </p:txBody>
      </p:sp>
      <p:sp>
        <p:nvSpPr>
          <p:cNvPr id="29" name="a3u_dot28"/>
          <p:cNvSpPr/>
          <p:nvPr/>
        </p:nvSpPr>
        <p:spPr>
          <a:xfrm>
            <a:off x="5989320" y="330098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_b29"/>
          <p:cNvSpPr txBox="1"/>
          <p:nvPr/>
        </p:nvSpPr>
        <p:spPr>
          <a:xfrm>
            <a:off x="6208776" y="3200400"/>
            <a:ext cx="2478024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@callback 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implementer defines it</a:t>
            </a:r>
          </a:p>
        </p:txBody>
      </p:sp>
      <p:sp>
        <p:nvSpPr>
          <p:cNvPr id="31" name="a3ud150_dot30"/>
          <p:cNvSpPr/>
          <p:nvPr/>
        </p:nvSpPr>
        <p:spPr>
          <a:xfrm>
            <a:off x="5989320" y="380390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d150_b31"/>
          <p:cNvSpPr txBox="1"/>
          <p:nvPr/>
        </p:nvSpPr>
        <p:spPr>
          <a:xfrm>
            <a:off x="6208776" y="3703320"/>
            <a:ext cx="2478024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@optional_callbacks  </a:t>
            </a:r>
            <a:r>
              <a:rPr sz="1050" b="0">
                <a:solidFill>
                  <a:srgbClr val="334155"/>
                </a:solidFill>
                <a:latin typeface="Calibri"/>
              </a:rPr>
              <a:t>may be skipped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TYPESPECS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Reading a @callback line, piece by piece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078992"/>
            <a:ext cx="8229600" cy="539496"/>
          </a:xfrm>
          <a:prstGeom prst="roundRect">
            <a:avLst>
              <a:gd name="adj" fmla="val 135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w_code4"/>
          <p:cNvSpPr txBox="1"/>
          <p:nvPr/>
        </p:nvSpPr>
        <p:spPr>
          <a:xfrm>
            <a:off x="621792" y="1243584"/>
            <a:ext cx="79004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E2E8F0"/>
                </a:solidFill>
                <a:latin typeface="Courier New"/>
              </a:rPr>
              <a:t>@callback perform(state :: term()) :: {:ok, new_state :: term()} | {:error, reason :: term()}</a:t>
            </a:r>
          </a:p>
        </p:txBody>
      </p:sp>
      <p:sp>
        <p:nvSpPr>
          <p:cNvPr id="6" name="a2f_th5"/>
          <p:cNvSpPr/>
          <p:nvPr/>
        </p:nvSpPr>
        <p:spPr>
          <a:xfrm>
            <a:off x="457200" y="1755648"/>
            <a:ext cx="2743200" cy="28346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2f_tht6"/>
          <p:cNvSpPr txBox="1"/>
          <p:nvPr/>
        </p:nvSpPr>
        <p:spPr>
          <a:xfrm>
            <a:off x="530352" y="1755648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Piece</a:t>
            </a:r>
          </a:p>
        </p:txBody>
      </p:sp>
      <p:sp>
        <p:nvSpPr>
          <p:cNvPr id="8" name="a2wd100_td7"/>
          <p:cNvSpPr/>
          <p:nvPr/>
        </p:nvSpPr>
        <p:spPr>
          <a:xfrm>
            <a:off x="457200" y="2039112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wd100_tdt8"/>
          <p:cNvSpPr txBox="1"/>
          <p:nvPr/>
        </p:nvSpPr>
        <p:spPr>
          <a:xfrm>
            <a:off x="530352" y="2039112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@callback</a:t>
            </a:r>
          </a:p>
        </p:txBody>
      </p:sp>
      <p:sp>
        <p:nvSpPr>
          <p:cNvPr id="10" name="a2wd200_td9"/>
          <p:cNvSpPr/>
          <p:nvPr/>
        </p:nvSpPr>
        <p:spPr>
          <a:xfrm>
            <a:off x="457200" y="2322576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wd200_tdt10"/>
          <p:cNvSpPr txBox="1"/>
          <p:nvPr/>
        </p:nvSpPr>
        <p:spPr>
          <a:xfrm>
            <a:off x="530352" y="2322576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perform(...)</a:t>
            </a:r>
          </a:p>
        </p:txBody>
      </p:sp>
      <p:sp>
        <p:nvSpPr>
          <p:cNvPr id="12" name="a2wd300_td11"/>
          <p:cNvSpPr/>
          <p:nvPr/>
        </p:nvSpPr>
        <p:spPr>
          <a:xfrm>
            <a:off x="457200" y="2606039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wd300_tdt12"/>
          <p:cNvSpPr txBox="1"/>
          <p:nvPr/>
        </p:nvSpPr>
        <p:spPr>
          <a:xfrm>
            <a:off x="530352" y="2606039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state :: term()</a:t>
            </a:r>
          </a:p>
        </p:txBody>
      </p:sp>
      <p:sp>
        <p:nvSpPr>
          <p:cNvPr id="14" name="a2wd400_td13"/>
          <p:cNvSpPr/>
          <p:nvPr/>
        </p:nvSpPr>
        <p:spPr>
          <a:xfrm>
            <a:off x="457200" y="2889504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wd400_tdt14"/>
          <p:cNvSpPr txBox="1"/>
          <p:nvPr/>
        </p:nvSpPr>
        <p:spPr>
          <a:xfrm>
            <a:off x="530352" y="2889504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:: (after the parameters)</a:t>
            </a:r>
          </a:p>
        </p:txBody>
      </p:sp>
      <p:sp>
        <p:nvSpPr>
          <p:cNvPr id="16" name="a2wd500_td15"/>
          <p:cNvSpPr/>
          <p:nvPr/>
        </p:nvSpPr>
        <p:spPr>
          <a:xfrm>
            <a:off x="457200" y="3172968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500_tdt16"/>
          <p:cNvSpPr txBox="1"/>
          <p:nvPr/>
        </p:nvSpPr>
        <p:spPr>
          <a:xfrm>
            <a:off x="530352" y="3172968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{:ok, new_state :: term()}</a:t>
            </a:r>
          </a:p>
        </p:txBody>
      </p:sp>
      <p:sp>
        <p:nvSpPr>
          <p:cNvPr id="18" name="a2wd600_td17"/>
          <p:cNvSpPr/>
          <p:nvPr/>
        </p:nvSpPr>
        <p:spPr>
          <a:xfrm>
            <a:off x="457200" y="3456432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600_tdt18"/>
          <p:cNvSpPr txBox="1"/>
          <p:nvPr/>
        </p:nvSpPr>
        <p:spPr>
          <a:xfrm>
            <a:off x="530352" y="3456432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|</a:t>
            </a:r>
          </a:p>
        </p:txBody>
      </p:sp>
      <p:sp>
        <p:nvSpPr>
          <p:cNvPr id="20" name="a2wd700_td19"/>
          <p:cNvSpPr/>
          <p:nvPr/>
        </p:nvSpPr>
        <p:spPr>
          <a:xfrm>
            <a:off x="457200" y="3739896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700_tdt20"/>
          <p:cNvSpPr txBox="1"/>
          <p:nvPr/>
        </p:nvSpPr>
        <p:spPr>
          <a:xfrm>
            <a:off x="530352" y="3739896"/>
            <a:ext cx="2633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{:error, reason :: term()}</a:t>
            </a:r>
          </a:p>
        </p:txBody>
      </p:sp>
      <p:sp>
        <p:nvSpPr>
          <p:cNvPr id="22" name="a2f_th21"/>
          <p:cNvSpPr/>
          <p:nvPr/>
        </p:nvSpPr>
        <p:spPr>
          <a:xfrm>
            <a:off x="3200400" y="1755648"/>
            <a:ext cx="5486400" cy="28346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tht22"/>
          <p:cNvSpPr txBox="1"/>
          <p:nvPr/>
        </p:nvSpPr>
        <p:spPr>
          <a:xfrm>
            <a:off x="3273552" y="1755648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24" name="a2wd100_td23"/>
          <p:cNvSpPr/>
          <p:nvPr/>
        </p:nvSpPr>
        <p:spPr>
          <a:xfrm>
            <a:off x="3200400" y="2039112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100_tdt24"/>
          <p:cNvSpPr txBox="1"/>
          <p:nvPr/>
        </p:nvSpPr>
        <p:spPr>
          <a:xfrm>
            <a:off x="3273552" y="2039112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required function that implementing modules must define</a:t>
            </a:r>
          </a:p>
        </p:txBody>
      </p:sp>
      <p:sp>
        <p:nvSpPr>
          <p:cNvPr id="26" name="a2wd200_td25"/>
          <p:cNvSpPr/>
          <p:nvPr/>
        </p:nvSpPr>
        <p:spPr>
          <a:xfrm>
            <a:off x="3200400" y="2322576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200_tdt26"/>
          <p:cNvSpPr txBox="1"/>
          <p:nvPr/>
        </p:nvSpPr>
        <p:spPr>
          <a:xfrm>
            <a:off x="3273552" y="2322576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function name and its parameters</a:t>
            </a:r>
          </a:p>
        </p:txBody>
      </p:sp>
      <p:sp>
        <p:nvSpPr>
          <p:cNvPr id="28" name="a2wd300_td27"/>
          <p:cNvSpPr/>
          <p:nvPr/>
        </p:nvSpPr>
        <p:spPr>
          <a:xfrm>
            <a:off x="3200400" y="2606039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300_tdt28"/>
          <p:cNvSpPr txBox="1"/>
          <p:nvPr/>
        </p:nvSpPr>
        <p:spPr>
          <a:xfrm>
            <a:off x="3273552" y="2606039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First (and only) argument is named state and can be any value</a:t>
            </a:r>
          </a:p>
        </p:txBody>
      </p:sp>
      <p:sp>
        <p:nvSpPr>
          <p:cNvPr id="30" name="a2wd400_td29"/>
          <p:cNvSpPr/>
          <p:nvPr/>
        </p:nvSpPr>
        <p:spPr>
          <a:xfrm>
            <a:off x="3200400" y="2889504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400_tdt30"/>
          <p:cNvSpPr txBox="1"/>
          <p:nvPr/>
        </p:nvSpPr>
        <p:spPr>
          <a:xfrm>
            <a:off x="3273552" y="2889504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“This function returns…”</a:t>
            </a:r>
          </a:p>
        </p:txBody>
      </p:sp>
      <p:sp>
        <p:nvSpPr>
          <p:cNvPr id="32" name="a2wd500_td31"/>
          <p:cNvSpPr/>
          <p:nvPr/>
        </p:nvSpPr>
        <p:spPr>
          <a:xfrm>
            <a:off x="3200400" y="3172968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500_tdt32"/>
          <p:cNvSpPr txBox="1"/>
          <p:nvPr/>
        </p:nvSpPr>
        <p:spPr>
          <a:xfrm>
            <a:off x="3273552" y="3172968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Success case: :ok and a new state (any value)</a:t>
            </a:r>
          </a:p>
        </p:txBody>
      </p:sp>
      <p:sp>
        <p:nvSpPr>
          <p:cNvPr id="34" name="a2wd600_td33"/>
          <p:cNvSpPr/>
          <p:nvPr/>
        </p:nvSpPr>
        <p:spPr>
          <a:xfrm>
            <a:off x="3200400" y="3456432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600_tdt34"/>
          <p:cNvSpPr txBox="1"/>
          <p:nvPr/>
        </p:nvSpPr>
        <p:spPr>
          <a:xfrm>
            <a:off x="3273552" y="3456432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or</a:t>
            </a:r>
          </a:p>
        </p:txBody>
      </p:sp>
      <p:sp>
        <p:nvSpPr>
          <p:cNvPr id="36" name="a2wd700_td35"/>
          <p:cNvSpPr/>
          <p:nvPr/>
        </p:nvSpPr>
        <p:spPr>
          <a:xfrm>
            <a:off x="3200400" y="3739896"/>
            <a:ext cx="5486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700_tdt36"/>
          <p:cNvSpPr txBox="1"/>
          <p:nvPr/>
        </p:nvSpPr>
        <p:spPr>
          <a:xfrm>
            <a:off x="3273552" y="3739896"/>
            <a:ext cx="53766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Error case: :error and a reason (any value)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TYPESPECS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:: means “has the type” — term() means “anything”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Then say more: precise types document the contract and let tools catch more.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35024"/>
            <a:ext cx="3749039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35024"/>
            <a:ext cx="54864" cy="13258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ct6"/>
          <p:cNvSpPr txBox="1"/>
          <p:nvPr/>
        </p:nvSpPr>
        <p:spPr>
          <a:xfrm>
            <a:off x="685800" y="1481328"/>
            <a:ext cx="333755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ourier New"/>
              </a:rPr>
              <a:t>:: — the typespec operator</a:t>
            </a:r>
          </a:p>
        </p:txBody>
      </p:sp>
      <p:sp>
        <p:nvSpPr>
          <p:cNvPr id="8" name="a1ud120_cb7"/>
          <p:cNvSpPr txBox="1"/>
          <p:nvPr/>
        </p:nvSpPr>
        <p:spPr>
          <a:xfrm>
            <a:off x="685800" y="1847088"/>
            <a:ext cx="3337559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Left of :: is the name of the argument or return value; right of it is the type.</a:t>
            </a:r>
          </a:p>
        </p:txBody>
      </p:sp>
      <p:sp>
        <p:nvSpPr>
          <p:cNvPr id="9" name="a2u_card8"/>
          <p:cNvSpPr/>
          <p:nvPr/>
        </p:nvSpPr>
        <p:spPr>
          <a:xfrm>
            <a:off x="457200" y="2798063"/>
            <a:ext cx="374903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_acc9"/>
          <p:cNvSpPr/>
          <p:nvPr/>
        </p:nvSpPr>
        <p:spPr>
          <a:xfrm>
            <a:off x="457200" y="2798063"/>
            <a:ext cx="54864" cy="1600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d60_ct10"/>
          <p:cNvSpPr txBox="1"/>
          <p:nvPr/>
        </p:nvSpPr>
        <p:spPr>
          <a:xfrm>
            <a:off x="685800" y="2944368"/>
            <a:ext cx="333755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ourier New"/>
              </a:rPr>
              <a:t>term() — the most general type</a:t>
            </a:r>
          </a:p>
        </p:txBody>
      </p:sp>
      <p:sp>
        <p:nvSpPr>
          <p:cNvPr id="12" name="a2ud120_cb11"/>
          <p:cNvSpPr txBox="1"/>
          <p:nvPr/>
        </p:nvSpPr>
        <p:spPr>
          <a:xfrm>
            <a:off x="685800" y="3310127"/>
            <a:ext cx="3337559" cy="996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Any Elixir value: integers, floats, atoms, strings, lists, maps, tuples, pids, functions, structs… everything.</a:t>
            </a:r>
          </a:p>
        </p:txBody>
      </p:sp>
      <p:sp>
        <p:nvSpPr>
          <p:cNvPr id="13" name="a3f_codebg12"/>
          <p:cNvSpPr/>
          <p:nvPr/>
        </p:nvSpPr>
        <p:spPr>
          <a:xfrm>
            <a:off x="4434840" y="1335024"/>
            <a:ext cx="4251960" cy="1051560"/>
          </a:xfrm>
          <a:prstGeom prst="roundRect">
            <a:avLst>
              <a:gd name="adj" fmla="val 69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3f_codeh13"/>
          <p:cNvSpPr txBox="1"/>
          <p:nvPr/>
        </p:nvSpPr>
        <p:spPr>
          <a:xfrm>
            <a:off x="4562855" y="1389888"/>
            <a:ext cx="3995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more precise types</a:t>
            </a:r>
          </a:p>
        </p:txBody>
      </p:sp>
      <p:sp>
        <p:nvSpPr>
          <p:cNvPr id="15" name="a3w_code14"/>
          <p:cNvSpPr txBox="1"/>
          <p:nvPr/>
        </p:nvSpPr>
        <p:spPr>
          <a:xfrm>
            <a:off x="4562855" y="1737360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@callback perform(state :: map()) ::</a:t>
            </a:r>
          </a:p>
        </p:txBody>
      </p:sp>
      <p:sp>
        <p:nvSpPr>
          <p:cNvPr id="16" name="a3wd70_code15"/>
          <p:cNvSpPr txBox="1"/>
          <p:nvPr/>
        </p:nvSpPr>
        <p:spPr>
          <a:xfrm>
            <a:off x="4562855" y="1911095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{:ok, new_state :: map()} |</a:t>
            </a:r>
          </a:p>
        </p:txBody>
      </p:sp>
      <p:sp>
        <p:nvSpPr>
          <p:cNvPr id="17" name="a3wd140_code16"/>
          <p:cNvSpPr txBox="1"/>
          <p:nvPr/>
        </p:nvSpPr>
        <p:spPr>
          <a:xfrm>
            <a:off x="4562855" y="2084831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{:error, reason :: atom() | String.t()}</a:t>
            </a:r>
          </a:p>
        </p:txBody>
      </p:sp>
      <p:sp>
        <p:nvSpPr>
          <p:cNvPr id="18" name="a4f_codebg17"/>
          <p:cNvSpPr/>
          <p:nvPr/>
        </p:nvSpPr>
        <p:spPr>
          <a:xfrm>
            <a:off x="4434840" y="2496312"/>
            <a:ext cx="4251960" cy="1051560"/>
          </a:xfrm>
          <a:prstGeom prst="roundRect">
            <a:avLst>
              <a:gd name="adj" fmla="val 69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4f_codeh18"/>
          <p:cNvSpPr txBox="1"/>
          <p:nvPr/>
        </p:nvSpPr>
        <p:spPr>
          <a:xfrm>
            <a:off x="4562855" y="2551176"/>
            <a:ext cx="3995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or custom types</a:t>
            </a:r>
          </a:p>
        </p:txBody>
      </p:sp>
      <p:sp>
        <p:nvSpPr>
          <p:cNvPr id="20" name="a4w_code19"/>
          <p:cNvSpPr txBox="1"/>
          <p:nvPr/>
        </p:nvSpPr>
        <p:spPr>
          <a:xfrm>
            <a:off x="4562855" y="2898648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@type state :: map()</a:t>
            </a:r>
          </a:p>
        </p:txBody>
      </p:sp>
      <p:sp>
        <p:nvSpPr>
          <p:cNvPr id="21" name="a4wd70_code20"/>
          <p:cNvSpPr txBox="1"/>
          <p:nvPr/>
        </p:nvSpPr>
        <p:spPr>
          <a:xfrm>
            <a:off x="4562855" y="3072384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@type reason :: atom() | String.t()</a:t>
            </a:r>
          </a:p>
        </p:txBody>
      </p:sp>
      <p:sp>
        <p:nvSpPr>
          <p:cNvPr id="22" name="a4wd140_code21"/>
          <p:cNvSpPr txBox="1"/>
          <p:nvPr/>
        </p:nvSpPr>
        <p:spPr>
          <a:xfrm>
            <a:off x="4562855" y="3246120"/>
            <a:ext cx="39959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@callback perform(state) :: {:ok, state} | {:error, reason}</a:t>
            </a:r>
          </a:p>
        </p:txBody>
      </p:sp>
      <p:sp>
        <p:nvSpPr>
          <p:cNvPr id="23" name="a5u_nb22"/>
          <p:cNvSpPr/>
          <p:nvPr/>
        </p:nvSpPr>
        <p:spPr>
          <a:xfrm>
            <a:off x="4434840" y="3657600"/>
            <a:ext cx="4251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5u_nacc23"/>
          <p:cNvSpPr/>
          <p:nvPr/>
        </p:nvSpPr>
        <p:spPr>
          <a:xfrm>
            <a:off x="4434840" y="3657600"/>
            <a:ext cx="50292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5u_nt24"/>
          <p:cNvSpPr txBox="1"/>
          <p:nvPr/>
        </p:nvSpPr>
        <p:spPr>
          <a:xfrm>
            <a:off x="4636007" y="3657600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✓  </a:t>
            </a:r>
            <a:r>
              <a:rPr sz="1050" b="0">
                <a:solidFill>
                  <a:srgbClr val="334155"/>
                </a:solidFill>
                <a:latin typeface="Calibri"/>
              </a:rPr>
              <a:t>All three forms compile to the same callback, perform/1 (verified).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IMPLEMENTING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Implementing Parser, twice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JSONParser needs the Jason package ({:jason, "~&gt; 1.4"}); Elixir 1.18+ also ships JSON.decode/1.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160520" cy="3176625"/>
          </a:xfrm>
          <a:prstGeom prst="roundRect">
            <a:avLst>
              <a:gd name="adj" fmla="val 2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66928" y="1362456"/>
            <a:ext cx="394106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json_parser.ex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66928" y="1691640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defmodule JSONParser do</a:t>
            </a:r>
          </a:p>
        </p:txBody>
      </p:sp>
      <p:sp>
        <p:nvSpPr>
          <p:cNvPr id="8" name="a1wd35_code7"/>
          <p:cNvSpPr txBox="1"/>
          <p:nvPr/>
        </p:nvSpPr>
        <p:spPr>
          <a:xfrm>
            <a:off x="566928" y="1840687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@behaviour Parser</a:t>
            </a:r>
          </a:p>
        </p:txBody>
      </p:sp>
      <p:sp>
        <p:nvSpPr>
          <p:cNvPr id="9" name="a1wd70_code8"/>
          <p:cNvSpPr txBox="1"/>
          <p:nvPr/>
        </p:nvSpPr>
        <p:spPr>
          <a:xfrm>
            <a:off x="566928" y="1989734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0" name="a1wd105_code9"/>
          <p:cNvSpPr txBox="1"/>
          <p:nvPr/>
        </p:nvSpPr>
        <p:spPr>
          <a:xfrm>
            <a:off x="566928" y="2138781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parse(input) when is_binary(input) do</a:t>
            </a:r>
          </a:p>
        </p:txBody>
      </p:sp>
      <p:sp>
        <p:nvSpPr>
          <p:cNvPr id="11" name="a1wd140_code10"/>
          <p:cNvSpPr txBox="1"/>
          <p:nvPr/>
        </p:nvSpPr>
        <p:spPr>
          <a:xfrm>
            <a:off x="566928" y="2287828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case Jason.decode(input) do</a:t>
            </a:r>
          </a:p>
        </p:txBody>
      </p:sp>
      <p:sp>
        <p:nvSpPr>
          <p:cNvPr id="12" name="a1wd175_code11"/>
          <p:cNvSpPr txBox="1"/>
          <p:nvPr/>
        </p:nvSpPr>
        <p:spPr>
          <a:xfrm>
            <a:off x="566928" y="2436876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{:ok, data} -&gt; {:ok, data}</a:t>
            </a:r>
          </a:p>
        </p:txBody>
      </p:sp>
      <p:sp>
        <p:nvSpPr>
          <p:cNvPr id="13" name="a1wd210_code12"/>
          <p:cNvSpPr txBox="1"/>
          <p:nvPr/>
        </p:nvSpPr>
        <p:spPr>
          <a:xfrm>
            <a:off x="566928" y="2585923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{:error, reason} -&gt; {:error, reason}</a:t>
            </a:r>
          </a:p>
        </p:txBody>
      </p:sp>
      <p:sp>
        <p:nvSpPr>
          <p:cNvPr id="14" name="a1wd245_code13"/>
          <p:cNvSpPr txBox="1"/>
          <p:nvPr/>
        </p:nvSpPr>
        <p:spPr>
          <a:xfrm>
            <a:off x="566928" y="2734970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5" name="a1wd280_code14"/>
          <p:cNvSpPr txBox="1"/>
          <p:nvPr/>
        </p:nvSpPr>
        <p:spPr>
          <a:xfrm>
            <a:off x="566928" y="2884017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6" name="a1wd315_code15"/>
          <p:cNvSpPr txBox="1"/>
          <p:nvPr/>
        </p:nvSpPr>
        <p:spPr>
          <a:xfrm>
            <a:off x="566928" y="3033064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parse(_), do: {:error, :invalid_input}</a:t>
            </a:r>
          </a:p>
        </p:txBody>
      </p:sp>
      <p:sp>
        <p:nvSpPr>
          <p:cNvPr id="17" name="a1wd350_code16"/>
          <p:cNvSpPr txBox="1"/>
          <p:nvPr/>
        </p:nvSpPr>
        <p:spPr>
          <a:xfrm>
            <a:off x="566928" y="3182112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8" name="a1wd385_code17"/>
          <p:cNvSpPr txBox="1"/>
          <p:nvPr/>
        </p:nvSpPr>
        <p:spPr>
          <a:xfrm>
            <a:off x="566928" y="3331159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name, do: "JSON Parser"</a:t>
            </a:r>
          </a:p>
        </p:txBody>
      </p:sp>
      <p:sp>
        <p:nvSpPr>
          <p:cNvPr id="19" name="a1wd420_code18"/>
          <p:cNvSpPr txBox="1"/>
          <p:nvPr/>
        </p:nvSpPr>
        <p:spPr>
          <a:xfrm>
            <a:off x="566928" y="3480206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Courier New"/>
              </a:rPr>
              <a:t>  # Optional callback – we choose to implement it</a:t>
            </a:r>
          </a:p>
        </p:txBody>
      </p:sp>
      <p:sp>
        <p:nvSpPr>
          <p:cNvPr id="20" name="a1wd455_code19"/>
          <p:cNvSpPr txBox="1"/>
          <p:nvPr/>
        </p:nvSpPr>
        <p:spPr>
          <a:xfrm>
            <a:off x="566928" y="3629253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21" name="a1wd490_code20"/>
          <p:cNvSpPr txBox="1"/>
          <p:nvPr/>
        </p:nvSpPr>
        <p:spPr>
          <a:xfrm>
            <a:off x="566928" y="3778300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validate(input) when is_binary(input),</a:t>
            </a:r>
          </a:p>
        </p:txBody>
      </p:sp>
      <p:sp>
        <p:nvSpPr>
          <p:cNvPr id="22" name="a1wd525_code21"/>
          <p:cNvSpPr txBox="1"/>
          <p:nvPr/>
        </p:nvSpPr>
        <p:spPr>
          <a:xfrm>
            <a:off x="566928" y="3927348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do: String.trim(input) != ""</a:t>
            </a:r>
          </a:p>
        </p:txBody>
      </p:sp>
      <p:sp>
        <p:nvSpPr>
          <p:cNvPr id="23" name="a1wd560_code22"/>
          <p:cNvSpPr txBox="1"/>
          <p:nvPr/>
        </p:nvSpPr>
        <p:spPr>
          <a:xfrm>
            <a:off x="566928" y="4076395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validate(_), do: false</a:t>
            </a:r>
          </a:p>
        </p:txBody>
      </p:sp>
      <p:sp>
        <p:nvSpPr>
          <p:cNvPr id="24" name="a1wd595_code23"/>
          <p:cNvSpPr txBox="1"/>
          <p:nvPr/>
        </p:nvSpPr>
        <p:spPr>
          <a:xfrm>
            <a:off x="566928" y="4225442"/>
            <a:ext cx="394106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5" name="a2f_codebg24"/>
          <p:cNvSpPr/>
          <p:nvPr/>
        </p:nvSpPr>
        <p:spPr>
          <a:xfrm>
            <a:off x="4709160" y="1307592"/>
            <a:ext cx="3977639" cy="2729484"/>
          </a:xfrm>
          <a:prstGeom prst="roundRect">
            <a:avLst>
              <a:gd name="adj" fmla="val 26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f_codeh25"/>
          <p:cNvSpPr txBox="1"/>
          <p:nvPr/>
        </p:nvSpPr>
        <p:spPr>
          <a:xfrm>
            <a:off x="4818888" y="1362456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csv_parser.ex</a:t>
            </a:r>
          </a:p>
        </p:txBody>
      </p:sp>
      <p:sp>
        <p:nvSpPr>
          <p:cNvPr id="27" name="a2w_code26"/>
          <p:cNvSpPr txBox="1"/>
          <p:nvPr/>
        </p:nvSpPr>
        <p:spPr>
          <a:xfrm>
            <a:off x="4818888" y="1691640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defmodule CSVParser do</a:t>
            </a:r>
          </a:p>
        </p:txBody>
      </p:sp>
      <p:sp>
        <p:nvSpPr>
          <p:cNvPr id="28" name="a2wd35_code27"/>
          <p:cNvSpPr txBox="1"/>
          <p:nvPr/>
        </p:nvSpPr>
        <p:spPr>
          <a:xfrm>
            <a:off x="4818888" y="1840687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@behaviour Parser</a:t>
            </a:r>
          </a:p>
        </p:txBody>
      </p:sp>
      <p:sp>
        <p:nvSpPr>
          <p:cNvPr id="29" name="a2wd70_code28"/>
          <p:cNvSpPr txBox="1"/>
          <p:nvPr/>
        </p:nvSpPr>
        <p:spPr>
          <a:xfrm>
            <a:off x="4818888" y="1989734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30" name="a2wd105_code29"/>
          <p:cNvSpPr txBox="1"/>
          <p:nvPr/>
        </p:nvSpPr>
        <p:spPr>
          <a:xfrm>
            <a:off x="4818888" y="2138781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parse(input) when is_binary(input) do</a:t>
            </a:r>
          </a:p>
        </p:txBody>
      </p:sp>
      <p:sp>
        <p:nvSpPr>
          <p:cNvPr id="31" name="a2wd140_code30"/>
          <p:cNvSpPr txBox="1"/>
          <p:nvPr/>
        </p:nvSpPr>
        <p:spPr>
          <a:xfrm>
            <a:off x="4818888" y="2287828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rows =</a:t>
            </a:r>
          </a:p>
        </p:txBody>
      </p:sp>
      <p:sp>
        <p:nvSpPr>
          <p:cNvPr id="32" name="a2wd175_code31"/>
          <p:cNvSpPr txBox="1"/>
          <p:nvPr/>
        </p:nvSpPr>
        <p:spPr>
          <a:xfrm>
            <a:off x="4818888" y="2436876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input</a:t>
            </a:r>
          </a:p>
        </p:txBody>
      </p:sp>
      <p:sp>
        <p:nvSpPr>
          <p:cNvPr id="33" name="a2wd210_code32"/>
          <p:cNvSpPr txBox="1"/>
          <p:nvPr/>
        </p:nvSpPr>
        <p:spPr>
          <a:xfrm>
            <a:off x="4818888" y="2585923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|&gt; String.split("\n", trim: true)</a:t>
            </a:r>
          </a:p>
        </p:txBody>
      </p:sp>
      <p:sp>
        <p:nvSpPr>
          <p:cNvPr id="34" name="a2wd245_code33"/>
          <p:cNvSpPr txBox="1"/>
          <p:nvPr/>
        </p:nvSpPr>
        <p:spPr>
          <a:xfrm>
            <a:off x="4818888" y="2734970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|&gt; Enum.map(&amp;String.split(&amp;1, ","))</a:t>
            </a:r>
          </a:p>
        </p:txBody>
      </p:sp>
      <p:sp>
        <p:nvSpPr>
          <p:cNvPr id="35" name="a2wd280_code34"/>
          <p:cNvSpPr txBox="1"/>
          <p:nvPr/>
        </p:nvSpPr>
        <p:spPr>
          <a:xfrm>
            <a:off x="4818888" y="2884017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{:ok, rows}</a:t>
            </a:r>
          </a:p>
        </p:txBody>
      </p:sp>
      <p:sp>
        <p:nvSpPr>
          <p:cNvPr id="36" name="a2wd315_code35"/>
          <p:cNvSpPr txBox="1"/>
          <p:nvPr/>
        </p:nvSpPr>
        <p:spPr>
          <a:xfrm>
            <a:off x="4818888" y="3033064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37" name="a2wd350_code36"/>
          <p:cNvSpPr txBox="1"/>
          <p:nvPr/>
        </p:nvSpPr>
        <p:spPr>
          <a:xfrm>
            <a:off x="4818888" y="3182112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parse(_), do: {:error, :invalid_input}</a:t>
            </a:r>
          </a:p>
        </p:txBody>
      </p:sp>
      <p:sp>
        <p:nvSpPr>
          <p:cNvPr id="38" name="a2wd385_code37"/>
          <p:cNvSpPr txBox="1"/>
          <p:nvPr/>
        </p:nvSpPr>
        <p:spPr>
          <a:xfrm>
            <a:off x="4818888" y="3331159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39" name="a2wd420_code38"/>
          <p:cNvSpPr txBox="1"/>
          <p:nvPr/>
        </p:nvSpPr>
        <p:spPr>
          <a:xfrm>
            <a:off x="4818888" y="3480206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name, do: "CSV Parser"</a:t>
            </a:r>
          </a:p>
        </p:txBody>
      </p:sp>
      <p:sp>
        <p:nvSpPr>
          <p:cNvPr id="40" name="a2wd455_code39"/>
          <p:cNvSpPr txBox="1"/>
          <p:nvPr/>
        </p:nvSpPr>
        <p:spPr>
          <a:xfrm>
            <a:off x="4818888" y="3629253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Courier New"/>
              </a:rPr>
              <a:t>  # We skip the optional `validate/1` – no warning</a:t>
            </a:r>
          </a:p>
        </p:txBody>
      </p:sp>
      <p:sp>
        <p:nvSpPr>
          <p:cNvPr id="41" name="a2wd490_code40"/>
          <p:cNvSpPr txBox="1"/>
          <p:nvPr/>
        </p:nvSpPr>
        <p:spPr>
          <a:xfrm>
            <a:off x="4818888" y="3778300"/>
            <a:ext cx="37581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USING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Using it: the runner trusts the contract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ParserRunner never knows which parser it has — only that name/0 and parse/1 exist.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51960" cy="3136392"/>
          </a:xfrm>
          <a:prstGeom prst="roundRect">
            <a:avLst>
              <a:gd name="adj" fmla="val 233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66928" y="1362456"/>
            <a:ext cx="40325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parser_runner.ex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66928" y="1691640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defmodule ParserRunner do</a:t>
            </a:r>
          </a:p>
        </p:txBody>
      </p:sp>
      <p:sp>
        <p:nvSpPr>
          <p:cNvPr id="8" name="a1wd35_code7"/>
          <p:cNvSpPr txBox="1"/>
          <p:nvPr/>
        </p:nvSpPr>
        <p:spPr>
          <a:xfrm>
            <a:off x="566928" y="1847088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 run(parser_module, input) do</a:t>
            </a:r>
          </a:p>
        </p:txBody>
      </p:sp>
      <p:sp>
        <p:nvSpPr>
          <p:cNvPr id="9" name="a1wd70_code8"/>
          <p:cNvSpPr txBox="1"/>
          <p:nvPr/>
        </p:nvSpPr>
        <p:spPr>
          <a:xfrm>
            <a:off x="566928" y="2002536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Courier New"/>
              </a:rPr>
              <a:t>    # We can rely on the contract</a:t>
            </a:r>
          </a:p>
        </p:txBody>
      </p:sp>
      <p:sp>
        <p:nvSpPr>
          <p:cNvPr id="10" name="a1wd105_code9"/>
          <p:cNvSpPr txBox="1"/>
          <p:nvPr/>
        </p:nvSpPr>
        <p:spPr>
          <a:xfrm>
            <a:off x="566928" y="2157984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IO.puts("Using: #{parser_module.name()}")</a:t>
            </a:r>
          </a:p>
        </p:txBody>
      </p:sp>
      <p:sp>
        <p:nvSpPr>
          <p:cNvPr id="11" name="a1wd140_code10"/>
          <p:cNvSpPr txBox="1"/>
          <p:nvPr/>
        </p:nvSpPr>
        <p:spPr>
          <a:xfrm>
            <a:off x="566928" y="2313432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case parser_module.parse(input) do</a:t>
            </a:r>
          </a:p>
        </p:txBody>
      </p:sp>
      <p:sp>
        <p:nvSpPr>
          <p:cNvPr id="12" name="a1wd175_code11"/>
          <p:cNvSpPr txBox="1"/>
          <p:nvPr/>
        </p:nvSpPr>
        <p:spPr>
          <a:xfrm>
            <a:off x="566928" y="2468880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{:ok, result} -&gt;</a:t>
            </a:r>
          </a:p>
        </p:txBody>
      </p:sp>
      <p:sp>
        <p:nvSpPr>
          <p:cNvPr id="13" name="a1wd210_code12"/>
          <p:cNvSpPr txBox="1"/>
          <p:nvPr/>
        </p:nvSpPr>
        <p:spPr>
          <a:xfrm>
            <a:off x="566928" y="2624328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IO.inspect(result, label: "Parsed")</a:t>
            </a:r>
          </a:p>
        </p:txBody>
      </p:sp>
      <p:sp>
        <p:nvSpPr>
          <p:cNvPr id="14" name="a1wd245_code13"/>
          <p:cNvSpPr txBox="1"/>
          <p:nvPr/>
        </p:nvSpPr>
        <p:spPr>
          <a:xfrm>
            <a:off x="566928" y="2779776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:ok</a:t>
            </a:r>
          </a:p>
        </p:txBody>
      </p:sp>
      <p:sp>
        <p:nvSpPr>
          <p:cNvPr id="15" name="a1wd280_code14"/>
          <p:cNvSpPr txBox="1"/>
          <p:nvPr/>
        </p:nvSpPr>
        <p:spPr>
          <a:xfrm>
            <a:off x="566928" y="2935224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{:error, reason} -&gt;</a:t>
            </a:r>
          </a:p>
        </p:txBody>
      </p:sp>
      <p:sp>
        <p:nvSpPr>
          <p:cNvPr id="16" name="a1wd315_code15"/>
          <p:cNvSpPr txBox="1"/>
          <p:nvPr/>
        </p:nvSpPr>
        <p:spPr>
          <a:xfrm>
            <a:off x="566928" y="3090672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IO.puts("Failed: #{inspect(reason)}")</a:t>
            </a:r>
          </a:p>
        </p:txBody>
      </p:sp>
      <p:sp>
        <p:nvSpPr>
          <p:cNvPr id="17" name="a1wd350_code16"/>
          <p:cNvSpPr txBox="1"/>
          <p:nvPr/>
        </p:nvSpPr>
        <p:spPr>
          <a:xfrm>
            <a:off x="566928" y="3246120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:error</a:t>
            </a:r>
          </a:p>
        </p:txBody>
      </p:sp>
      <p:sp>
        <p:nvSpPr>
          <p:cNvPr id="18" name="a1wd385_code17"/>
          <p:cNvSpPr txBox="1"/>
          <p:nvPr/>
        </p:nvSpPr>
        <p:spPr>
          <a:xfrm>
            <a:off x="566928" y="3401568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9" name="a1wd420_code18"/>
          <p:cNvSpPr txBox="1"/>
          <p:nvPr/>
        </p:nvSpPr>
        <p:spPr>
          <a:xfrm>
            <a:off x="566928" y="3557016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0" name="a1wd455_code19"/>
          <p:cNvSpPr txBox="1"/>
          <p:nvPr/>
        </p:nvSpPr>
        <p:spPr>
          <a:xfrm>
            <a:off x="566928" y="3712464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1" name="a1wd490_code20"/>
          <p:cNvSpPr txBox="1"/>
          <p:nvPr/>
        </p:nvSpPr>
        <p:spPr>
          <a:xfrm>
            <a:off x="566928" y="3867912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ParserRunner.run(JSONParser,</a:t>
            </a:r>
          </a:p>
        </p:txBody>
      </p:sp>
      <p:sp>
        <p:nvSpPr>
          <p:cNvPr id="22" name="a1wd525_code21"/>
          <p:cNvSpPr txBox="1"/>
          <p:nvPr/>
        </p:nvSpPr>
        <p:spPr>
          <a:xfrm>
            <a:off x="566928" y="4023360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~s({"name": "Alice", "age": 30}))</a:t>
            </a:r>
          </a:p>
        </p:txBody>
      </p:sp>
      <p:sp>
        <p:nvSpPr>
          <p:cNvPr id="23" name="a1wd560_code22"/>
          <p:cNvSpPr txBox="1"/>
          <p:nvPr/>
        </p:nvSpPr>
        <p:spPr>
          <a:xfrm>
            <a:off x="566928" y="4178808"/>
            <a:ext cx="4032504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ParserRunner.run(CSVParser, "name,age\nAlice,30\nBob,25")</a:t>
            </a:r>
          </a:p>
        </p:txBody>
      </p:sp>
      <p:sp>
        <p:nvSpPr>
          <p:cNvPr id="24" name="a2f_codebg23"/>
          <p:cNvSpPr/>
          <p:nvPr/>
        </p:nvSpPr>
        <p:spPr>
          <a:xfrm>
            <a:off x="4892040" y="1307592"/>
            <a:ext cx="3794760" cy="1399032"/>
          </a:xfrm>
          <a:prstGeom prst="roundRect">
            <a:avLst>
              <a:gd name="adj" fmla="val 5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f_codeh24"/>
          <p:cNvSpPr txBox="1"/>
          <p:nvPr/>
        </p:nvSpPr>
        <p:spPr>
          <a:xfrm>
            <a:off x="5020055" y="1362456"/>
            <a:ext cx="3538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both return :ok</a:t>
            </a:r>
          </a:p>
        </p:txBody>
      </p:sp>
      <p:sp>
        <p:nvSpPr>
          <p:cNvPr id="26" name="a2w_code25"/>
          <p:cNvSpPr txBox="1"/>
          <p:nvPr/>
        </p:nvSpPr>
        <p:spPr>
          <a:xfrm>
            <a:off x="5020055" y="1709928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Using: JSON Parser</a:t>
            </a:r>
          </a:p>
        </p:txBody>
      </p:sp>
      <p:sp>
        <p:nvSpPr>
          <p:cNvPr id="27" name="a2wd80_code26"/>
          <p:cNvSpPr txBox="1"/>
          <p:nvPr/>
        </p:nvSpPr>
        <p:spPr>
          <a:xfrm>
            <a:off x="5020055" y="1883664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Parsed: %{"age" =&gt; 30, "name" =&gt; "Alice"}</a:t>
            </a:r>
          </a:p>
        </p:txBody>
      </p:sp>
      <p:sp>
        <p:nvSpPr>
          <p:cNvPr id="28" name="a2wd160_code27"/>
          <p:cNvSpPr txBox="1"/>
          <p:nvPr/>
        </p:nvSpPr>
        <p:spPr>
          <a:xfrm>
            <a:off x="5020055" y="2057400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Using: CSV Parser</a:t>
            </a:r>
          </a:p>
        </p:txBody>
      </p:sp>
      <p:sp>
        <p:nvSpPr>
          <p:cNvPr id="29" name="a2wd240_code28"/>
          <p:cNvSpPr txBox="1"/>
          <p:nvPr/>
        </p:nvSpPr>
        <p:spPr>
          <a:xfrm>
            <a:off x="5020055" y="2231136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Parsed: [["name", "age"], ["Alice", "30"],</a:t>
            </a:r>
          </a:p>
        </p:txBody>
      </p:sp>
      <p:sp>
        <p:nvSpPr>
          <p:cNvPr id="30" name="a2wd320_code29"/>
          <p:cNvSpPr txBox="1"/>
          <p:nvPr/>
        </p:nvSpPr>
        <p:spPr>
          <a:xfrm>
            <a:off x="5020055" y="2404872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       ["Bob", "25"]]</a:t>
            </a:r>
          </a:p>
        </p:txBody>
      </p:sp>
      <p:sp>
        <p:nvSpPr>
          <p:cNvPr id="31" name="a3f_codebg30"/>
          <p:cNvSpPr/>
          <p:nvPr/>
        </p:nvSpPr>
        <p:spPr>
          <a:xfrm>
            <a:off x="4892040" y="2816352"/>
            <a:ext cx="3794760" cy="1225296"/>
          </a:xfrm>
          <a:prstGeom prst="roundRect">
            <a:avLst>
              <a:gd name="adj" fmla="val 59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codeh31"/>
          <p:cNvSpPr txBox="1"/>
          <p:nvPr/>
        </p:nvSpPr>
        <p:spPr>
          <a:xfrm>
            <a:off x="5020055" y="2871216"/>
            <a:ext cx="3538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bad input · REAL</a:t>
            </a:r>
          </a:p>
        </p:txBody>
      </p:sp>
      <p:sp>
        <p:nvSpPr>
          <p:cNvPr id="33" name="a3w_code32"/>
          <p:cNvSpPr txBox="1"/>
          <p:nvPr/>
        </p:nvSpPr>
        <p:spPr>
          <a:xfrm>
            <a:off x="5020055" y="3218688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ParserRunner.run(JSONParser, "{bad")</a:t>
            </a:r>
          </a:p>
        </p:txBody>
      </p:sp>
      <p:sp>
        <p:nvSpPr>
          <p:cNvPr id="34" name="a3wd80_code33"/>
          <p:cNvSpPr txBox="1"/>
          <p:nvPr/>
        </p:nvSpPr>
        <p:spPr>
          <a:xfrm>
            <a:off x="5020055" y="3392424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Failed: %Jason.DecodeError{position: 1,</a:t>
            </a:r>
          </a:p>
        </p:txBody>
      </p:sp>
      <p:sp>
        <p:nvSpPr>
          <p:cNvPr id="35" name="a3wd160_code34"/>
          <p:cNvSpPr txBox="1"/>
          <p:nvPr/>
        </p:nvSpPr>
        <p:spPr>
          <a:xfrm>
            <a:off x="5020055" y="3566160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token: nil, data: "{bad"}</a:t>
            </a:r>
          </a:p>
        </p:txBody>
      </p:sp>
      <p:sp>
        <p:nvSpPr>
          <p:cNvPr id="36" name="a3wd240_code35"/>
          <p:cNvSpPr txBox="1"/>
          <p:nvPr/>
        </p:nvSpPr>
        <p:spPr>
          <a:xfrm>
            <a:off x="5020055" y="3739896"/>
            <a:ext cx="35387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#=&gt; :error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COMPILER CHECKS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compiler check, for real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modules that break the contract — and what Elixir 1.20.4 says about each.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621792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48640" y="1362456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@behaviour Parser, only parse/1 defined · REAL WARNING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48640" y="1673352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warning: function name/0 required by behaviour Parser is not implemented (in module BrokenParser)</a:t>
            </a:r>
          </a:p>
        </p:txBody>
      </p:sp>
      <p:sp>
        <p:nvSpPr>
          <p:cNvPr id="8" name="a2f_codebg7"/>
          <p:cNvSpPr/>
          <p:nvPr/>
        </p:nvSpPr>
        <p:spPr>
          <a:xfrm>
            <a:off x="457200" y="2020824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f_codeh8"/>
          <p:cNvSpPr txBox="1"/>
          <p:nvPr/>
        </p:nvSpPr>
        <p:spPr>
          <a:xfrm>
            <a:off x="548640" y="2075688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@impl true on a non-callback · REAL WARNING (list shortened)</a:t>
            </a:r>
          </a:p>
        </p:txBody>
      </p:sp>
      <p:sp>
        <p:nvSpPr>
          <p:cNvPr id="10" name="a2w_code9"/>
          <p:cNvSpPr txBox="1"/>
          <p:nvPr/>
        </p:nvSpPr>
        <p:spPr>
          <a:xfrm>
            <a:off x="548640" y="2386584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warning: got "@impl true" for function helper/0 but no behaviour specifies such callback.</a:t>
            </a:r>
          </a:p>
        </p:txBody>
      </p:sp>
      <p:sp>
        <p:nvSpPr>
          <p:cNvPr id="11" name="a2wd120_code10"/>
          <p:cNvSpPr txBox="1"/>
          <p:nvPr/>
        </p:nvSpPr>
        <p:spPr>
          <a:xfrm>
            <a:off x="548640" y="2551176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The known callbacks are: Parser.name/0, Parser.parse/1, Parser.validate/1</a:t>
            </a:r>
          </a:p>
        </p:txBody>
      </p:sp>
      <p:sp>
        <p:nvSpPr>
          <p:cNvPr id="12" name="a3f_codebg11"/>
          <p:cNvSpPr/>
          <p:nvPr/>
        </p:nvSpPr>
        <p:spPr>
          <a:xfrm>
            <a:off x="457200" y="2898648"/>
            <a:ext cx="8229600" cy="950976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3f_codeh12"/>
          <p:cNvSpPr txBox="1"/>
          <p:nvPr/>
        </p:nvSpPr>
        <p:spPr>
          <a:xfrm>
            <a:off x="548640" y="2953512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@impl on parse/1 but not on name/0 · REAL WARNING</a:t>
            </a:r>
          </a:p>
        </p:txBody>
      </p:sp>
      <p:sp>
        <p:nvSpPr>
          <p:cNvPr id="14" name="a3w_code13"/>
          <p:cNvSpPr txBox="1"/>
          <p:nvPr/>
        </p:nvSpPr>
        <p:spPr>
          <a:xfrm>
            <a:off x="548640" y="3264408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warning: module attribute @impl was not set for function name/0 callback (specified in Parser).</a:t>
            </a:r>
          </a:p>
        </p:txBody>
      </p:sp>
      <p:sp>
        <p:nvSpPr>
          <p:cNvPr id="15" name="a3wd120_code14"/>
          <p:cNvSpPr txBox="1"/>
          <p:nvPr/>
        </p:nvSpPr>
        <p:spPr>
          <a:xfrm>
            <a:off x="548640" y="3429000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This either means you forgot to add the "@impl true" annotation before the definition</a:t>
            </a:r>
          </a:p>
        </p:txBody>
      </p:sp>
      <p:sp>
        <p:nvSpPr>
          <p:cNvPr id="16" name="a3wd240_code15"/>
          <p:cNvSpPr txBox="1"/>
          <p:nvPr/>
        </p:nvSpPr>
        <p:spPr>
          <a:xfrm>
            <a:off x="548640" y="3593591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or that you are accidentally overriding this callback</a:t>
            </a:r>
          </a:p>
        </p:txBody>
      </p:sp>
      <p:sp>
        <p:nvSpPr>
          <p:cNvPr id="17" name="a4u_nb16"/>
          <p:cNvSpPr/>
          <p:nvPr/>
        </p:nvSpPr>
        <p:spPr>
          <a:xfrm>
            <a:off x="457200" y="3959352"/>
            <a:ext cx="822960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4u_nacc17"/>
          <p:cNvSpPr/>
          <p:nvPr/>
        </p:nvSpPr>
        <p:spPr>
          <a:xfrm>
            <a:off x="457200" y="3959352"/>
            <a:ext cx="50292" cy="43891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4u_nt18"/>
          <p:cNvSpPr txBox="1"/>
          <p:nvPr/>
        </p:nvSpPr>
        <p:spPr>
          <a:xfrm>
            <a:off x="658368" y="3959352"/>
            <a:ext cx="78272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Calibri"/>
              </a:rPr>
              <a:t>✓  </a:t>
            </a:r>
            <a:r>
              <a:rPr sz="1100" b="0">
                <a:solidFill>
                  <a:srgbClr val="334155"/>
                </a:solidFill>
                <a:latin typeface="Calibri"/>
              </a:rPr>
              <a:t>CSVParser skips the optional validate/1 — and compiles with no warning at all.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@IMPL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@impl: say which functions are callbacks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194560" cy="38404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ourier New"/>
              </a:rPr>
              <a:t>Form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48132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481328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ourier New"/>
              </a:rPr>
              <a:t>@impl true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6537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865376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ourier New"/>
              </a:rPr>
              <a:t>@impl Parser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24942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249424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ourier New"/>
              </a:rPr>
              <a:t>@impl false</a:t>
            </a:r>
          </a:p>
        </p:txBody>
      </p:sp>
      <p:sp>
        <p:nvSpPr>
          <p:cNvPr id="12" name="a1f_th11"/>
          <p:cNvSpPr/>
          <p:nvPr/>
        </p:nvSpPr>
        <p:spPr>
          <a:xfrm>
            <a:off x="2651760" y="1097280"/>
            <a:ext cx="6035040" cy="38404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f_tht12"/>
          <p:cNvSpPr txBox="1"/>
          <p:nvPr/>
        </p:nvSpPr>
        <p:spPr>
          <a:xfrm>
            <a:off x="2724912" y="1097280"/>
            <a:ext cx="59253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4" name="a1wd120_td13"/>
          <p:cNvSpPr/>
          <p:nvPr/>
        </p:nvSpPr>
        <p:spPr>
          <a:xfrm>
            <a:off x="2651760" y="1481328"/>
            <a:ext cx="6035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120_tdt14"/>
          <p:cNvSpPr txBox="1"/>
          <p:nvPr/>
        </p:nvSpPr>
        <p:spPr>
          <a:xfrm>
            <a:off x="2724912" y="1481328"/>
            <a:ext cx="59253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This function implements a callback</a:t>
            </a:r>
          </a:p>
        </p:txBody>
      </p:sp>
      <p:sp>
        <p:nvSpPr>
          <p:cNvPr id="16" name="a1wd240_td15"/>
          <p:cNvSpPr/>
          <p:nvPr/>
        </p:nvSpPr>
        <p:spPr>
          <a:xfrm>
            <a:off x="2651760" y="1865376"/>
            <a:ext cx="6035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240_tdt16"/>
          <p:cNvSpPr txBox="1"/>
          <p:nvPr/>
        </p:nvSpPr>
        <p:spPr>
          <a:xfrm>
            <a:off x="2724912" y="1865376"/>
            <a:ext cx="59253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More explicit — implements a callback from Parser</a:t>
            </a:r>
          </a:p>
        </p:txBody>
      </p:sp>
      <p:sp>
        <p:nvSpPr>
          <p:cNvPr id="18" name="a1wd360_td17"/>
          <p:cNvSpPr/>
          <p:nvPr/>
        </p:nvSpPr>
        <p:spPr>
          <a:xfrm>
            <a:off x="2651760" y="2249424"/>
            <a:ext cx="6035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360_tdt18"/>
          <p:cNvSpPr txBox="1"/>
          <p:nvPr/>
        </p:nvSpPr>
        <p:spPr>
          <a:xfrm>
            <a:off x="2724912" y="2249424"/>
            <a:ext cx="59253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Explicitly marks a function as not a callback</a:t>
            </a:r>
          </a:p>
        </p:txBody>
      </p:sp>
      <p:sp>
        <p:nvSpPr>
          <p:cNvPr id="20" name="a2u_nb19"/>
          <p:cNvSpPr/>
          <p:nvPr/>
        </p:nvSpPr>
        <p:spPr>
          <a:xfrm>
            <a:off x="457200" y="286207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nacc20"/>
          <p:cNvSpPr/>
          <p:nvPr/>
        </p:nvSpPr>
        <p:spPr>
          <a:xfrm>
            <a:off x="457200" y="2862072"/>
            <a:ext cx="50292" cy="7315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_nt21"/>
          <p:cNvSpPr txBox="1"/>
          <p:nvPr/>
        </p:nvSpPr>
        <p:spPr>
          <a:xfrm>
            <a:off x="658368" y="2862072"/>
            <a:ext cx="782726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Using @impl true gives better compiler warnings — the last two warnings on the previous slide only exist because of it — and makes the code self-documenting.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WORKER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real-world contract: background workers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Worker declares three callbacks; EmailWorker fulfils them.</a:t>
            </a:r>
          </a:p>
        </p:txBody>
      </p:sp>
      <p:sp>
        <p:nvSpPr>
          <p:cNvPr id="5" name="a2f_codebg4"/>
          <p:cNvSpPr/>
          <p:nvPr/>
        </p:nvSpPr>
        <p:spPr>
          <a:xfrm>
            <a:off x="457200" y="1307592"/>
            <a:ext cx="4663440" cy="3176625"/>
          </a:xfrm>
          <a:prstGeom prst="roundRect">
            <a:avLst>
              <a:gd name="adj" fmla="val 2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2f_codeh5"/>
          <p:cNvSpPr txBox="1"/>
          <p:nvPr/>
        </p:nvSpPr>
        <p:spPr>
          <a:xfrm>
            <a:off x="566928" y="1362456"/>
            <a:ext cx="44439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email_worker.ex</a:t>
            </a:r>
          </a:p>
        </p:txBody>
      </p:sp>
      <p:sp>
        <p:nvSpPr>
          <p:cNvPr id="7" name="a2w_code6"/>
          <p:cNvSpPr txBox="1"/>
          <p:nvPr/>
        </p:nvSpPr>
        <p:spPr>
          <a:xfrm>
            <a:off x="566928" y="1691640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defmodule EmailWorker do</a:t>
            </a:r>
          </a:p>
        </p:txBody>
      </p:sp>
      <p:sp>
        <p:nvSpPr>
          <p:cNvPr id="8" name="a2wd35_code7"/>
          <p:cNvSpPr txBox="1"/>
          <p:nvPr/>
        </p:nvSpPr>
        <p:spPr>
          <a:xfrm>
            <a:off x="566928" y="1840687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@behaviour Worker</a:t>
            </a:r>
          </a:p>
        </p:txBody>
      </p:sp>
      <p:sp>
        <p:nvSpPr>
          <p:cNvPr id="9" name="a2wd70_code8"/>
          <p:cNvSpPr txBox="1"/>
          <p:nvPr/>
        </p:nvSpPr>
        <p:spPr>
          <a:xfrm>
            <a:off x="566928" y="1989734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2wd105_code9"/>
          <p:cNvSpPr txBox="1"/>
          <p:nvPr/>
        </p:nvSpPr>
        <p:spPr>
          <a:xfrm>
            <a:off x="566928" y="2138781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1" name="a2wd140_code10"/>
          <p:cNvSpPr txBox="1"/>
          <p:nvPr/>
        </p:nvSpPr>
        <p:spPr>
          <a:xfrm>
            <a:off x="566928" y="2287828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init(opts) do</a:t>
            </a:r>
          </a:p>
        </p:txBody>
      </p:sp>
      <p:sp>
        <p:nvSpPr>
          <p:cNvPr id="12" name="a2wd175_code11"/>
          <p:cNvSpPr txBox="1"/>
          <p:nvPr/>
        </p:nvSpPr>
        <p:spPr>
          <a:xfrm>
            <a:off x="566928" y="2436876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{:ok, %{queue: opts[:queue] || "default", retries: 0}}</a:t>
            </a:r>
          </a:p>
        </p:txBody>
      </p:sp>
      <p:sp>
        <p:nvSpPr>
          <p:cNvPr id="13" name="a2wd210_code12"/>
          <p:cNvSpPr txBox="1"/>
          <p:nvPr/>
        </p:nvSpPr>
        <p:spPr>
          <a:xfrm>
            <a:off x="566928" y="2585923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4" name="a2wd245_code13"/>
          <p:cNvSpPr txBox="1"/>
          <p:nvPr/>
        </p:nvSpPr>
        <p:spPr>
          <a:xfrm>
            <a:off x="566928" y="2734970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2wd280_code14"/>
          <p:cNvSpPr txBox="1"/>
          <p:nvPr/>
        </p:nvSpPr>
        <p:spPr>
          <a:xfrm>
            <a:off x="566928" y="2884017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6" name="a2wd315_code15"/>
          <p:cNvSpPr txBox="1"/>
          <p:nvPr/>
        </p:nvSpPr>
        <p:spPr>
          <a:xfrm>
            <a:off x="566928" y="3033064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perform(state) do</a:t>
            </a:r>
          </a:p>
        </p:txBody>
      </p:sp>
      <p:sp>
        <p:nvSpPr>
          <p:cNvPr id="17" name="a2wd350_code16"/>
          <p:cNvSpPr txBox="1"/>
          <p:nvPr/>
        </p:nvSpPr>
        <p:spPr>
          <a:xfrm>
            <a:off x="566928" y="3182112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Courier New"/>
              </a:rPr>
              <a:t>    # pretend to send an email</a:t>
            </a:r>
          </a:p>
        </p:txBody>
      </p:sp>
      <p:sp>
        <p:nvSpPr>
          <p:cNvPr id="18" name="a2wd385_code17"/>
          <p:cNvSpPr txBox="1"/>
          <p:nvPr/>
        </p:nvSpPr>
        <p:spPr>
          <a:xfrm>
            <a:off x="566928" y="3331159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IO.puts("Sending email from queue: #{state.queue}")</a:t>
            </a:r>
          </a:p>
        </p:txBody>
      </p:sp>
      <p:sp>
        <p:nvSpPr>
          <p:cNvPr id="19" name="a2wd420_code18"/>
          <p:cNvSpPr txBox="1"/>
          <p:nvPr/>
        </p:nvSpPr>
        <p:spPr>
          <a:xfrm>
            <a:off x="566928" y="3480206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{:ok, %{state | retries: 0}}</a:t>
            </a:r>
          </a:p>
        </p:txBody>
      </p:sp>
      <p:sp>
        <p:nvSpPr>
          <p:cNvPr id="20" name="a2wd455_code19"/>
          <p:cNvSpPr txBox="1"/>
          <p:nvPr/>
        </p:nvSpPr>
        <p:spPr>
          <a:xfrm>
            <a:off x="566928" y="3629253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1" name="a2wd490_code20"/>
          <p:cNvSpPr txBox="1"/>
          <p:nvPr/>
        </p:nvSpPr>
        <p:spPr>
          <a:xfrm>
            <a:off x="566928" y="3778300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2" name="a2wd525_code21"/>
          <p:cNvSpPr txBox="1"/>
          <p:nvPr/>
        </p:nvSpPr>
        <p:spPr>
          <a:xfrm>
            <a:off x="566928" y="3927348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23" name="a2wd560_code22"/>
          <p:cNvSpPr txBox="1"/>
          <p:nvPr/>
        </p:nvSpPr>
        <p:spPr>
          <a:xfrm>
            <a:off x="566928" y="4076395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terminate(_reason, _state), do: :ok</a:t>
            </a:r>
          </a:p>
        </p:txBody>
      </p:sp>
      <p:sp>
        <p:nvSpPr>
          <p:cNvPr id="24" name="a2wd595_code23"/>
          <p:cNvSpPr txBox="1"/>
          <p:nvPr/>
        </p:nvSpPr>
        <p:spPr>
          <a:xfrm>
            <a:off x="566928" y="4225442"/>
            <a:ext cx="4443983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5" name="a1f_th24"/>
          <p:cNvSpPr/>
          <p:nvPr/>
        </p:nvSpPr>
        <p:spPr>
          <a:xfrm>
            <a:off x="5303520" y="1307592"/>
            <a:ext cx="132588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5376672" y="1307592"/>
            <a:ext cx="1216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Worker callback</a:t>
            </a:r>
          </a:p>
        </p:txBody>
      </p:sp>
      <p:sp>
        <p:nvSpPr>
          <p:cNvPr id="27" name="a1wd100_td26"/>
          <p:cNvSpPr/>
          <p:nvPr/>
        </p:nvSpPr>
        <p:spPr>
          <a:xfrm>
            <a:off x="5303520" y="1728216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00_tdt27"/>
          <p:cNvSpPr txBox="1"/>
          <p:nvPr/>
        </p:nvSpPr>
        <p:spPr>
          <a:xfrm>
            <a:off x="5376672" y="1728216"/>
            <a:ext cx="1216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init/1</a:t>
            </a:r>
          </a:p>
        </p:txBody>
      </p:sp>
      <p:sp>
        <p:nvSpPr>
          <p:cNvPr id="29" name="a1wd200_td28"/>
          <p:cNvSpPr/>
          <p:nvPr/>
        </p:nvSpPr>
        <p:spPr>
          <a:xfrm>
            <a:off x="5303520" y="2148840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00_tdt29"/>
          <p:cNvSpPr txBox="1"/>
          <p:nvPr/>
        </p:nvSpPr>
        <p:spPr>
          <a:xfrm>
            <a:off x="5376672" y="2148840"/>
            <a:ext cx="1216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perform/1</a:t>
            </a:r>
          </a:p>
        </p:txBody>
      </p:sp>
      <p:sp>
        <p:nvSpPr>
          <p:cNvPr id="31" name="a1wd300_td30"/>
          <p:cNvSpPr/>
          <p:nvPr/>
        </p:nvSpPr>
        <p:spPr>
          <a:xfrm>
            <a:off x="5303520" y="2569464"/>
            <a:ext cx="1325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300_tdt31"/>
          <p:cNvSpPr txBox="1"/>
          <p:nvPr/>
        </p:nvSpPr>
        <p:spPr>
          <a:xfrm>
            <a:off x="5376672" y="2569464"/>
            <a:ext cx="1216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terminate/2</a:t>
            </a:r>
          </a:p>
        </p:txBody>
      </p:sp>
      <p:sp>
        <p:nvSpPr>
          <p:cNvPr id="33" name="a1f_th32"/>
          <p:cNvSpPr/>
          <p:nvPr/>
        </p:nvSpPr>
        <p:spPr>
          <a:xfrm>
            <a:off x="6629400" y="1307592"/>
            <a:ext cx="205740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6702552" y="1307592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Returns</a:t>
            </a:r>
          </a:p>
        </p:txBody>
      </p:sp>
      <p:sp>
        <p:nvSpPr>
          <p:cNvPr id="35" name="a1wd100_td34"/>
          <p:cNvSpPr/>
          <p:nvPr/>
        </p:nvSpPr>
        <p:spPr>
          <a:xfrm>
            <a:off x="6629400" y="1728216"/>
            <a:ext cx="2057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00_tdt35"/>
          <p:cNvSpPr txBox="1"/>
          <p:nvPr/>
        </p:nvSpPr>
        <p:spPr>
          <a:xfrm>
            <a:off x="6702552" y="1728216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{:ok, state} | {:error, reason}</a:t>
            </a:r>
          </a:p>
        </p:txBody>
      </p:sp>
      <p:sp>
        <p:nvSpPr>
          <p:cNvPr id="37" name="a1wd200_td36"/>
          <p:cNvSpPr/>
          <p:nvPr/>
        </p:nvSpPr>
        <p:spPr>
          <a:xfrm>
            <a:off x="6629400" y="2148840"/>
            <a:ext cx="2057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00_tdt37"/>
          <p:cNvSpPr txBox="1"/>
          <p:nvPr/>
        </p:nvSpPr>
        <p:spPr>
          <a:xfrm>
            <a:off x="6702552" y="2148840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{:ok, new_state} | {:error, reason}</a:t>
            </a:r>
          </a:p>
        </p:txBody>
      </p:sp>
      <p:sp>
        <p:nvSpPr>
          <p:cNvPr id="39" name="a1wd300_td38"/>
          <p:cNvSpPr/>
          <p:nvPr/>
        </p:nvSpPr>
        <p:spPr>
          <a:xfrm>
            <a:off x="6629400" y="2569464"/>
            <a:ext cx="2057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00_tdt39"/>
          <p:cNvSpPr txBox="1"/>
          <p:nvPr/>
        </p:nvSpPr>
        <p:spPr>
          <a:xfrm>
            <a:off x="6702552" y="2569464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:ok</a:t>
            </a:r>
          </a:p>
        </p:txBody>
      </p:sp>
      <p:sp>
        <p:nvSpPr>
          <p:cNvPr id="41" name="a3f_codebg40"/>
          <p:cNvSpPr/>
          <p:nvPr/>
        </p:nvSpPr>
        <p:spPr>
          <a:xfrm>
            <a:off x="5303520" y="3127248"/>
            <a:ext cx="3383280" cy="859536"/>
          </a:xfrm>
          <a:prstGeom prst="roundRect">
            <a:avLst>
              <a:gd name="adj" fmla="val 85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f_codeh41"/>
          <p:cNvSpPr txBox="1"/>
          <p:nvPr/>
        </p:nvSpPr>
        <p:spPr>
          <a:xfrm>
            <a:off x="5413248" y="3182112"/>
            <a:ext cx="31638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init([]) then perform · REAL</a:t>
            </a:r>
          </a:p>
        </p:txBody>
      </p:sp>
      <p:sp>
        <p:nvSpPr>
          <p:cNvPr id="43" name="a3w_code42"/>
          <p:cNvSpPr txBox="1"/>
          <p:nvPr/>
        </p:nvSpPr>
        <p:spPr>
          <a:xfrm>
            <a:off x="5413248" y="3511296"/>
            <a:ext cx="31638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14B8A6"/>
                </a:solidFill>
                <a:latin typeface="Courier New"/>
              </a:rPr>
              <a:t>Sending email from queue: default</a:t>
            </a:r>
          </a:p>
        </p:txBody>
      </p:sp>
      <p:sp>
        <p:nvSpPr>
          <p:cNvPr id="44" name="a3wd80_code43"/>
          <p:cNvSpPr txBox="1"/>
          <p:nvPr/>
        </p:nvSpPr>
        <p:spPr>
          <a:xfrm>
            <a:off x="5413248" y="3694176"/>
            <a:ext cx="31638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14B8A6"/>
                </a:solidFill>
                <a:latin typeface="Courier New"/>
              </a:rPr>
              <a:t>#=&gt; {:ok, %{queue: "default", retries: 0}}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OTP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OTP behaviours: the most common use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Measured: call :get → 1, after cast {:set, 42} → 42. GenServer: 9 callbacks, only init/1 required.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160520" cy="3238804"/>
          </a:xfrm>
          <a:prstGeom prst="roundRect">
            <a:avLst>
              <a:gd name="adj" fmla="val 22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66928" y="1362456"/>
            <a:ext cx="394106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my_server.ex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66928" y="1691640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defmodule MyServer do</a:t>
            </a:r>
          </a:p>
        </p:txBody>
      </p:sp>
      <p:sp>
        <p:nvSpPr>
          <p:cNvPr id="8" name="a1wd35_code7"/>
          <p:cNvSpPr txBox="1"/>
          <p:nvPr/>
        </p:nvSpPr>
        <p:spPr>
          <a:xfrm>
            <a:off x="566928" y="1836115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use GenServer   # = @behaviour GenServer + defaults</a:t>
            </a:r>
          </a:p>
        </p:txBody>
      </p:sp>
      <p:sp>
        <p:nvSpPr>
          <p:cNvPr id="9" name="a1wd70_code8"/>
          <p:cNvSpPr txBox="1"/>
          <p:nvPr/>
        </p:nvSpPr>
        <p:spPr>
          <a:xfrm>
            <a:off x="566928" y="1980590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05_code9"/>
          <p:cNvSpPr txBox="1"/>
          <p:nvPr/>
        </p:nvSpPr>
        <p:spPr>
          <a:xfrm>
            <a:off x="566928" y="2125065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Courier New"/>
              </a:rPr>
              <a:t>  # You only implement the callbacks you care about</a:t>
            </a:r>
          </a:p>
        </p:txBody>
      </p:sp>
      <p:sp>
        <p:nvSpPr>
          <p:cNvPr id="11" name="a1wd140_code10"/>
          <p:cNvSpPr txBox="1"/>
          <p:nvPr/>
        </p:nvSpPr>
        <p:spPr>
          <a:xfrm>
            <a:off x="566928" y="2269540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2" name="a1wd175_code11"/>
          <p:cNvSpPr txBox="1"/>
          <p:nvPr/>
        </p:nvSpPr>
        <p:spPr>
          <a:xfrm>
            <a:off x="566928" y="2414016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init(initial_value) do</a:t>
            </a:r>
          </a:p>
        </p:txBody>
      </p:sp>
      <p:sp>
        <p:nvSpPr>
          <p:cNvPr id="13" name="a1wd210_code12"/>
          <p:cNvSpPr txBox="1"/>
          <p:nvPr/>
        </p:nvSpPr>
        <p:spPr>
          <a:xfrm>
            <a:off x="566928" y="2558491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{:ok, initial_value}</a:t>
            </a:r>
          </a:p>
        </p:txBody>
      </p:sp>
      <p:sp>
        <p:nvSpPr>
          <p:cNvPr id="14" name="a1wd245_code13"/>
          <p:cNvSpPr txBox="1"/>
          <p:nvPr/>
        </p:nvSpPr>
        <p:spPr>
          <a:xfrm>
            <a:off x="566928" y="2702966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5" name="a1wd280_code14"/>
          <p:cNvSpPr txBox="1"/>
          <p:nvPr/>
        </p:nvSpPr>
        <p:spPr>
          <a:xfrm>
            <a:off x="566928" y="2847441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6" name="a1wd315_code15"/>
          <p:cNvSpPr txBox="1"/>
          <p:nvPr/>
        </p:nvSpPr>
        <p:spPr>
          <a:xfrm>
            <a:off x="566928" y="2991916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7" name="a1wd350_code16"/>
          <p:cNvSpPr txBox="1"/>
          <p:nvPr/>
        </p:nvSpPr>
        <p:spPr>
          <a:xfrm>
            <a:off x="566928" y="3136392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handle_call(:get, _from, state) do</a:t>
            </a:r>
          </a:p>
        </p:txBody>
      </p:sp>
      <p:sp>
        <p:nvSpPr>
          <p:cNvPr id="18" name="a1wd385_code17"/>
          <p:cNvSpPr txBox="1"/>
          <p:nvPr/>
        </p:nvSpPr>
        <p:spPr>
          <a:xfrm>
            <a:off x="566928" y="3280867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{:reply, state, state}</a:t>
            </a:r>
          </a:p>
        </p:txBody>
      </p:sp>
      <p:sp>
        <p:nvSpPr>
          <p:cNvPr id="19" name="a1wd420_code18"/>
          <p:cNvSpPr txBox="1"/>
          <p:nvPr/>
        </p:nvSpPr>
        <p:spPr>
          <a:xfrm>
            <a:off x="566928" y="3425342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0" name="a1wd455_code19"/>
          <p:cNvSpPr txBox="1"/>
          <p:nvPr/>
        </p:nvSpPr>
        <p:spPr>
          <a:xfrm>
            <a:off x="566928" y="3569817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1" name="a1wd490_code20"/>
          <p:cNvSpPr txBox="1"/>
          <p:nvPr/>
        </p:nvSpPr>
        <p:spPr>
          <a:xfrm>
            <a:off x="566928" y="3714292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22" name="a1wd525_code21"/>
          <p:cNvSpPr txBox="1"/>
          <p:nvPr/>
        </p:nvSpPr>
        <p:spPr>
          <a:xfrm>
            <a:off x="566928" y="3858768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handle_cast({:set, value}, _state) do</a:t>
            </a:r>
          </a:p>
        </p:txBody>
      </p:sp>
      <p:sp>
        <p:nvSpPr>
          <p:cNvPr id="23" name="a1wd560_code22"/>
          <p:cNvSpPr txBox="1"/>
          <p:nvPr/>
        </p:nvSpPr>
        <p:spPr>
          <a:xfrm>
            <a:off x="566928" y="4003243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{:noreply, value}</a:t>
            </a:r>
          </a:p>
        </p:txBody>
      </p:sp>
      <p:sp>
        <p:nvSpPr>
          <p:cNvPr id="24" name="a1wd595_code23"/>
          <p:cNvSpPr txBox="1"/>
          <p:nvPr/>
        </p:nvSpPr>
        <p:spPr>
          <a:xfrm>
            <a:off x="566928" y="4147718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5" name="a1wd630_code24"/>
          <p:cNvSpPr txBox="1"/>
          <p:nvPr/>
        </p:nvSpPr>
        <p:spPr>
          <a:xfrm>
            <a:off x="566928" y="4292193"/>
            <a:ext cx="39410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6" name="a2f_th25"/>
          <p:cNvSpPr/>
          <p:nvPr/>
        </p:nvSpPr>
        <p:spPr>
          <a:xfrm>
            <a:off x="4800600" y="1307592"/>
            <a:ext cx="196596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f_tht26"/>
          <p:cNvSpPr txBox="1"/>
          <p:nvPr/>
        </p:nvSpPr>
        <p:spPr>
          <a:xfrm>
            <a:off x="4873752" y="130759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OTP module</a:t>
            </a:r>
          </a:p>
        </p:txBody>
      </p:sp>
      <p:sp>
        <p:nvSpPr>
          <p:cNvPr id="28" name="a2wd80_td27"/>
          <p:cNvSpPr/>
          <p:nvPr/>
        </p:nvSpPr>
        <p:spPr>
          <a:xfrm>
            <a:off x="4800600" y="1581912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80_tdt28"/>
          <p:cNvSpPr txBox="1"/>
          <p:nvPr/>
        </p:nvSpPr>
        <p:spPr>
          <a:xfrm>
            <a:off x="4873752" y="158191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Supervisor</a:t>
            </a:r>
          </a:p>
        </p:txBody>
      </p:sp>
      <p:sp>
        <p:nvSpPr>
          <p:cNvPr id="30" name="a2wd160_td29"/>
          <p:cNvSpPr/>
          <p:nvPr/>
        </p:nvSpPr>
        <p:spPr>
          <a:xfrm>
            <a:off x="4800600" y="1856231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160_tdt30"/>
          <p:cNvSpPr txBox="1"/>
          <p:nvPr/>
        </p:nvSpPr>
        <p:spPr>
          <a:xfrm>
            <a:off x="4873752" y="1856231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Application</a:t>
            </a:r>
          </a:p>
        </p:txBody>
      </p:sp>
      <p:sp>
        <p:nvSpPr>
          <p:cNvPr id="32" name="a2wd240_td31"/>
          <p:cNvSpPr/>
          <p:nvPr/>
        </p:nvSpPr>
        <p:spPr>
          <a:xfrm>
            <a:off x="4800600" y="2130552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240_tdt32"/>
          <p:cNvSpPr txBox="1"/>
          <p:nvPr/>
        </p:nvSpPr>
        <p:spPr>
          <a:xfrm>
            <a:off x="4873752" y="213055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GenServer</a:t>
            </a:r>
          </a:p>
        </p:txBody>
      </p:sp>
      <p:sp>
        <p:nvSpPr>
          <p:cNvPr id="34" name="a2wd320_td33"/>
          <p:cNvSpPr/>
          <p:nvPr/>
        </p:nvSpPr>
        <p:spPr>
          <a:xfrm>
            <a:off x="4800600" y="2404872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320_tdt34"/>
          <p:cNvSpPr txBox="1"/>
          <p:nvPr/>
        </p:nvSpPr>
        <p:spPr>
          <a:xfrm>
            <a:off x="4873752" y="240487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DynamicSupervisor</a:t>
            </a:r>
          </a:p>
        </p:txBody>
      </p:sp>
      <p:sp>
        <p:nvSpPr>
          <p:cNvPr id="36" name="a2wd400_td35"/>
          <p:cNvSpPr/>
          <p:nvPr/>
        </p:nvSpPr>
        <p:spPr>
          <a:xfrm>
            <a:off x="4800600" y="2679191"/>
            <a:ext cx="196596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400_tdt36"/>
          <p:cNvSpPr txBox="1"/>
          <p:nvPr/>
        </p:nvSpPr>
        <p:spPr>
          <a:xfrm>
            <a:off x="4873752" y="2679191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Agent</a:t>
            </a:r>
          </a:p>
        </p:txBody>
      </p:sp>
      <p:sp>
        <p:nvSpPr>
          <p:cNvPr id="38" name="a2wd480_td37"/>
          <p:cNvSpPr/>
          <p:nvPr/>
        </p:nvSpPr>
        <p:spPr>
          <a:xfrm>
            <a:off x="4800600" y="2953511"/>
            <a:ext cx="196596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480_tdt38"/>
          <p:cNvSpPr txBox="1"/>
          <p:nvPr/>
        </p:nvSpPr>
        <p:spPr>
          <a:xfrm>
            <a:off x="4873752" y="2953511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Task</a:t>
            </a:r>
          </a:p>
        </p:txBody>
      </p:sp>
      <p:sp>
        <p:nvSpPr>
          <p:cNvPr id="40" name="a2wd560_td39"/>
          <p:cNvSpPr/>
          <p:nvPr/>
        </p:nvSpPr>
        <p:spPr>
          <a:xfrm>
            <a:off x="4800600" y="3227832"/>
            <a:ext cx="196596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560_tdt40"/>
          <p:cNvSpPr txBox="1"/>
          <p:nvPr/>
        </p:nvSpPr>
        <p:spPr>
          <a:xfrm>
            <a:off x="4873752" y="322783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Registry</a:t>
            </a:r>
          </a:p>
        </p:txBody>
      </p:sp>
      <p:sp>
        <p:nvSpPr>
          <p:cNvPr id="42" name="a2f_th41"/>
          <p:cNvSpPr/>
          <p:nvPr/>
        </p:nvSpPr>
        <p:spPr>
          <a:xfrm>
            <a:off x="6766560" y="1307592"/>
            <a:ext cx="19202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f_tht42"/>
          <p:cNvSpPr txBox="1"/>
          <p:nvPr/>
        </p:nvSpPr>
        <p:spPr>
          <a:xfrm>
            <a:off x="6839712" y="130759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Behaviour?</a:t>
            </a:r>
          </a:p>
        </p:txBody>
      </p:sp>
      <p:sp>
        <p:nvSpPr>
          <p:cNvPr id="44" name="a2wd80_td43"/>
          <p:cNvSpPr/>
          <p:nvPr/>
        </p:nvSpPr>
        <p:spPr>
          <a:xfrm>
            <a:off x="6766560" y="1581912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80_tdt44"/>
          <p:cNvSpPr txBox="1"/>
          <p:nvPr/>
        </p:nvSpPr>
        <p:spPr>
          <a:xfrm>
            <a:off x="6839712" y="158191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46" name="a2wd160_td45"/>
          <p:cNvSpPr/>
          <p:nvPr/>
        </p:nvSpPr>
        <p:spPr>
          <a:xfrm>
            <a:off x="6766560" y="1856231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160_tdt46"/>
          <p:cNvSpPr txBox="1"/>
          <p:nvPr/>
        </p:nvSpPr>
        <p:spPr>
          <a:xfrm>
            <a:off x="6839712" y="1856231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48" name="a2wd240_td47"/>
          <p:cNvSpPr/>
          <p:nvPr/>
        </p:nvSpPr>
        <p:spPr>
          <a:xfrm>
            <a:off x="6766560" y="2130552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240_tdt48"/>
          <p:cNvSpPr txBox="1"/>
          <p:nvPr/>
        </p:nvSpPr>
        <p:spPr>
          <a:xfrm>
            <a:off x="6839712" y="21305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50" name="a2wd320_td49"/>
          <p:cNvSpPr/>
          <p:nvPr/>
        </p:nvSpPr>
        <p:spPr>
          <a:xfrm>
            <a:off x="6766560" y="2404872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320_tdt50"/>
          <p:cNvSpPr txBox="1"/>
          <p:nvPr/>
        </p:nvSpPr>
        <p:spPr>
          <a:xfrm>
            <a:off x="6839712" y="240487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52" name="a2wd400_td51"/>
          <p:cNvSpPr/>
          <p:nvPr/>
        </p:nvSpPr>
        <p:spPr>
          <a:xfrm>
            <a:off x="6766560" y="2679191"/>
            <a:ext cx="192024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d400_tdt52"/>
          <p:cNvSpPr txBox="1"/>
          <p:nvPr/>
        </p:nvSpPr>
        <p:spPr>
          <a:xfrm>
            <a:off x="6839712" y="2679191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54" name="a2wd480_td53"/>
          <p:cNvSpPr/>
          <p:nvPr/>
        </p:nvSpPr>
        <p:spPr>
          <a:xfrm>
            <a:off x="6766560" y="2953511"/>
            <a:ext cx="192024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480_tdt54"/>
          <p:cNvSpPr txBox="1"/>
          <p:nvPr/>
        </p:nvSpPr>
        <p:spPr>
          <a:xfrm>
            <a:off x="6839712" y="2953511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56" name="a2wd560_td55"/>
          <p:cNvSpPr/>
          <p:nvPr/>
        </p:nvSpPr>
        <p:spPr>
          <a:xfrm>
            <a:off x="6766560" y="3227832"/>
            <a:ext cx="1920240" cy="274320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2wd560_tdt56"/>
          <p:cNvSpPr txBox="1"/>
          <p:nvPr/>
        </p:nvSpPr>
        <p:spPr>
          <a:xfrm>
            <a:off x="6839712" y="322783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58" name="a3u_nb57"/>
          <p:cNvSpPr/>
          <p:nvPr/>
        </p:nvSpPr>
        <p:spPr>
          <a:xfrm>
            <a:off x="4800600" y="3611880"/>
            <a:ext cx="3886200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u_nacc58"/>
          <p:cNvSpPr/>
          <p:nvPr/>
        </p:nvSpPr>
        <p:spPr>
          <a:xfrm>
            <a:off x="4800600" y="3611880"/>
            <a:ext cx="50292" cy="8412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3u_nt59"/>
          <p:cNvSpPr txBox="1"/>
          <p:nvPr/>
        </p:nvSpPr>
        <p:spPr>
          <a:xfrm>
            <a:off x="5001768" y="3611880"/>
            <a:ext cx="348386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notes list all seven. Only four define callbacks — Agent, Task and Registry are plain modules (no behaviour_info/1).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PRACTICE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Checking at runtime — and best practices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function_exported?/3 proves a function exists. The contract itself lives in the attributes.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51960" cy="2066543"/>
          </a:xfrm>
          <a:prstGeom prst="roundRect">
            <a:avLst>
              <a:gd name="adj" fmla="val 35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3922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function_exported?(JSONParser, :parse, 1)  #=&gt; true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2938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Code.ensure_loaded?(JSONParser) &amp;&amp;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1226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  function_exported?(JSONParser, :parse, 1) #=&gt; true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9514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function_exported?(Map, :get, 2)           #=&gt; true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JSONParser.module_info(:attributes)[:behaviour]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6090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[Parser]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4378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Map.module_info(:attributes)[:behaviour]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26664"/>
            <a:ext cx="392277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nil</a:t>
            </a:r>
          </a:p>
        </p:txBody>
      </p:sp>
      <p:sp>
        <p:nvSpPr>
          <p:cNvPr id="15" name="a2u_nb14"/>
          <p:cNvSpPr/>
          <p:nvPr/>
        </p:nvSpPr>
        <p:spPr>
          <a:xfrm>
            <a:off x="457200" y="3483863"/>
            <a:ext cx="4251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acc15"/>
          <p:cNvSpPr/>
          <p:nvPr/>
        </p:nvSpPr>
        <p:spPr>
          <a:xfrm>
            <a:off x="457200" y="3483863"/>
            <a:ext cx="50292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nt16"/>
          <p:cNvSpPr txBox="1"/>
          <p:nvPr/>
        </p:nvSpPr>
        <p:spPr>
          <a:xfrm>
            <a:off x="658368" y="3483863"/>
            <a:ext cx="3849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!  </a:t>
            </a:r>
            <a:r>
              <a:rPr sz="1050" b="0">
                <a:solidFill>
                  <a:srgbClr val="334155"/>
                </a:solidFill>
                <a:latin typeface="Calibri"/>
              </a:rPr>
              <a:t>Map exports get/2 too — so a true from function_exported? is not proof of @behaviour.</a:t>
            </a:r>
          </a:p>
        </p:txBody>
      </p:sp>
      <p:sp>
        <p:nvSpPr>
          <p:cNvPr id="18" name="a3u_dot17"/>
          <p:cNvSpPr/>
          <p:nvPr/>
        </p:nvSpPr>
        <p:spPr>
          <a:xfrm>
            <a:off x="4937760" y="14447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_b18"/>
          <p:cNvSpPr txBox="1"/>
          <p:nvPr/>
        </p:nvSpPr>
        <p:spPr>
          <a:xfrm>
            <a:off x="5157216" y="1344168"/>
            <a:ext cx="3529583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@impl  </a:t>
            </a:r>
            <a:r>
              <a:rPr sz="1050" b="0">
                <a:solidFill>
                  <a:srgbClr val="334155"/>
                </a:solidFill>
                <a:latin typeface="Calibri"/>
              </a:rPr>
              <a:t>on every callback implementation</a:t>
            </a:r>
          </a:p>
        </p:txBody>
      </p:sp>
      <p:sp>
        <p:nvSpPr>
          <p:cNvPr id="20" name="a3ud140_dot19"/>
          <p:cNvSpPr/>
          <p:nvPr/>
        </p:nvSpPr>
        <p:spPr>
          <a:xfrm>
            <a:off x="4937760" y="197510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d140_b20"/>
          <p:cNvSpPr txBox="1"/>
          <p:nvPr/>
        </p:nvSpPr>
        <p:spPr>
          <a:xfrm>
            <a:off x="5157216" y="1874519"/>
            <a:ext cx="3529583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@optional_callbacks  </a:t>
            </a:r>
            <a:r>
              <a:rPr sz="1050" b="0">
                <a:solidFill>
                  <a:srgbClr val="334155"/>
                </a:solidFill>
                <a:latin typeface="Calibri"/>
              </a:rPr>
              <a:t>for nice-to-have functions</a:t>
            </a:r>
          </a:p>
        </p:txBody>
      </p:sp>
      <p:sp>
        <p:nvSpPr>
          <p:cNvPr id="22" name="a3ud280_dot21"/>
          <p:cNvSpPr/>
          <p:nvPr/>
        </p:nvSpPr>
        <p:spPr>
          <a:xfrm>
            <a:off x="4937760" y="25054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280_b22"/>
          <p:cNvSpPr txBox="1"/>
          <p:nvPr/>
        </p:nvSpPr>
        <p:spPr>
          <a:xfrm>
            <a:off x="5157216" y="2404872"/>
            <a:ext cx="3529583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@doc  </a:t>
            </a:r>
            <a:r>
              <a:rPr sz="1050" b="0">
                <a:solidFill>
                  <a:srgbClr val="334155"/>
                </a:solidFill>
                <a:latin typeface="Calibri"/>
              </a:rPr>
              <a:t>on every @callback</a:t>
            </a:r>
          </a:p>
        </p:txBody>
      </p:sp>
      <p:sp>
        <p:nvSpPr>
          <p:cNvPr id="24" name="a3ud420_dot23"/>
          <p:cNvSpPr/>
          <p:nvPr/>
        </p:nvSpPr>
        <p:spPr>
          <a:xfrm>
            <a:off x="4937760" y="30358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420_b24"/>
          <p:cNvSpPr txBox="1"/>
          <p:nvPr/>
        </p:nvSpPr>
        <p:spPr>
          <a:xfrm>
            <a:off x="5157216" y="2935224"/>
            <a:ext cx="3529583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Focused  </a:t>
            </a:r>
            <a:r>
              <a:rPr sz="1050" b="0">
                <a:solidFill>
                  <a:srgbClr val="334155"/>
                </a:solidFill>
                <a:latin typeface="Calibri"/>
              </a:rPr>
              <a:t>one clear responsibility per behaviour</a:t>
            </a:r>
          </a:p>
        </p:txBody>
      </p:sp>
      <p:sp>
        <p:nvSpPr>
          <p:cNvPr id="26" name="a3ud560_dot25"/>
          <p:cNvSpPr/>
          <p:nvPr/>
        </p:nvSpPr>
        <p:spPr>
          <a:xfrm>
            <a:off x="4937760" y="35661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d560_b26"/>
          <p:cNvSpPr txBox="1"/>
          <p:nvPr/>
        </p:nvSpPr>
        <p:spPr>
          <a:xfrm>
            <a:off x="5157216" y="3465576"/>
            <a:ext cx="3529583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Simpler?  </a:t>
            </a:r>
            <a:r>
              <a:rPr sz="1050" b="0">
                <a:solidFill>
                  <a:srgbClr val="334155"/>
                </a:solidFill>
                <a:latin typeface="Calibri"/>
              </a:rPr>
              <a:t>if you own both sides, a module + pattern matching may be clearer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RECAP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Behaviour vs protocol, side by side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01168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9019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99616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99616"/>
            <a:ext cx="19019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Target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901952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901952"/>
            <a:ext cx="19019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Dispatch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304288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304288"/>
            <a:ext cx="19019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Common use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7066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706624"/>
            <a:ext cx="19019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Missing impl</a:t>
            </a:r>
          </a:p>
        </p:txBody>
      </p:sp>
      <p:sp>
        <p:nvSpPr>
          <p:cNvPr id="14" name="a1f_th13"/>
          <p:cNvSpPr/>
          <p:nvPr/>
        </p:nvSpPr>
        <p:spPr>
          <a:xfrm>
            <a:off x="2468880" y="1097280"/>
            <a:ext cx="3108960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2542032" y="1097280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6" name="a1wd110_td15"/>
          <p:cNvSpPr/>
          <p:nvPr/>
        </p:nvSpPr>
        <p:spPr>
          <a:xfrm>
            <a:off x="2468880" y="1499616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10_tdt16"/>
          <p:cNvSpPr txBox="1"/>
          <p:nvPr/>
        </p:nvSpPr>
        <p:spPr>
          <a:xfrm>
            <a:off x="2542032" y="1499616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Modules</a:t>
            </a:r>
          </a:p>
        </p:txBody>
      </p:sp>
      <p:sp>
        <p:nvSpPr>
          <p:cNvPr id="18" name="a1wd220_td17"/>
          <p:cNvSpPr/>
          <p:nvPr/>
        </p:nvSpPr>
        <p:spPr>
          <a:xfrm>
            <a:off x="2468880" y="1901952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20_tdt18"/>
          <p:cNvSpPr txBox="1"/>
          <p:nvPr/>
        </p:nvSpPr>
        <p:spPr>
          <a:xfrm>
            <a:off x="2542032" y="1901952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Compile-time / explicit module</a:t>
            </a:r>
          </a:p>
        </p:txBody>
      </p:sp>
      <p:sp>
        <p:nvSpPr>
          <p:cNvPr id="20" name="a1wd330_td19"/>
          <p:cNvSpPr/>
          <p:nvPr/>
        </p:nvSpPr>
        <p:spPr>
          <a:xfrm>
            <a:off x="2468880" y="2304288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330_tdt20"/>
          <p:cNvSpPr txBox="1"/>
          <p:nvPr/>
        </p:nvSpPr>
        <p:spPr>
          <a:xfrm>
            <a:off x="2542032" y="2304288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OTP, plugins, strategies</a:t>
            </a:r>
          </a:p>
        </p:txBody>
      </p:sp>
      <p:sp>
        <p:nvSpPr>
          <p:cNvPr id="22" name="a1wd440_td21"/>
          <p:cNvSpPr/>
          <p:nvPr/>
        </p:nvSpPr>
        <p:spPr>
          <a:xfrm>
            <a:off x="2468880" y="2706624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40_tdt22"/>
          <p:cNvSpPr txBox="1"/>
          <p:nvPr/>
        </p:nvSpPr>
        <p:spPr>
          <a:xfrm>
            <a:off x="2542032" y="2706624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Compiler warning</a:t>
            </a:r>
          </a:p>
        </p:txBody>
      </p:sp>
      <p:sp>
        <p:nvSpPr>
          <p:cNvPr id="24" name="a1f_th23"/>
          <p:cNvSpPr/>
          <p:nvPr/>
        </p:nvSpPr>
        <p:spPr>
          <a:xfrm>
            <a:off x="5577840" y="1097280"/>
            <a:ext cx="3108960" cy="40233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5650992" y="1097280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26" name="a1wd110_td25"/>
          <p:cNvSpPr/>
          <p:nvPr/>
        </p:nvSpPr>
        <p:spPr>
          <a:xfrm>
            <a:off x="5577840" y="1499616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10_tdt26"/>
          <p:cNvSpPr txBox="1"/>
          <p:nvPr/>
        </p:nvSpPr>
        <p:spPr>
          <a:xfrm>
            <a:off x="5650992" y="1499616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Data types</a:t>
            </a:r>
          </a:p>
        </p:txBody>
      </p:sp>
      <p:sp>
        <p:nvSpPr>
          <p:cNvPr id="28" name="a1wd220_td27"/>
          <p:cNvSpPr/>
          <p:nvPr/>
        </p:nvSpPr>
        <p:spPr>
          <a:xfrm>
            <a:off x="5577840" y="1901952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20_tdt28"/>
          <p:cNvSpPr txBox="1"/>
          <p:nvPr/>
        </p:nvSpPr>
        <p:spPr>
          <a:xfrm>
            <a:off x="5650992" y="1901952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Runtime (based on data type)</a:t>
            </a:r>
          </a:p>
        </p:txBody>
      </p:sp>
      <p:sp>
        <p:nvSpPr>
          <p:cNvPr id="30" name="a1wd330_td29"/>
          <p:cNvSpPr/>
          <p:nvPr/>
        </p:nvSpPr>
        <p:spPr>
          <a:xfrm>
            <a:off x="5577840" y="2304288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30_tdt30"/>
          <p:cNvSpPr txBox="1"/>
          <p:nvPr/>
        </p:nvSpPr>
        <p:spPr>
          <a:xfrm>
            <a:off x="5650992" y="2304288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Enumerable, Inspect, String.Chars</a:t>
            </a:r>
          </a:p>
        </p:txBody>
      </p:sp>
      <p:sp>
        <p:nvSpPr>
          <p:cNvPr id="32" name="a1wd440_td31"/>
          <p:cNvSpPr/>
          <p:nvPr/>
        </p:nvSpPr>
        <p:spPr>
          <a:xfrm>
            <a:off x="5577840" y="2706624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40_tdt32"/>
          <p:cNvSpPr txBox="1"/>
          <p:nvPr/>
        </p:nvSpPr>
        <p:spPr>
          <a:xfrm>
            <a:off x="5650992" y="2706624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Runtime error (or fallback)</a:t>
            </a:r>
          </a:p>
        </p:txBody>
      </p:sp>
      <p:sp>
        <p:nvSpPr>
          <p:cNvPr id="34" name="a2u_nb33"/>
          <p:cNvSpPr/>
          <p:nvPr/>
        </p:nvSpPr>
        <p:spPr>
          <a:xfrm>
            <a:off x="457200" y="33375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_nacc34"/>
          <p:cNvSpPr/>
          <p:nvPr/>
        </p:nvSpPr>
        <p:spPr>
          <a:xfrm>
            <a:off x="457200" y="3337560"/>
            <a:ext cx="50292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u_nt35"/>
          <p:cNvSpPr txBox="1"/>
          <p:nvPr/>
        </p:nvSpPr>
        <p:spPr>
          <a:xfrm>
            <a:off x="658368" y="33375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Calibri"/>
              </a:rPr>
              <a:t>✓  </a:t>
            </a:r>
            <a:r>
              <a:rPr sz="1100" b="0">
                <a:solidFill>
                  <a:srgbClr val="334155"/>
                </a:solidFill>
                <a:latin typeface="Calibri"/>
              </a:rPr>
              <a:t>Both “missing impl” cells are measured: BrokenParser's warning, and Blank.blank?(0)'s Protocol.UndefinedError.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Protocols &amp; Behaviours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188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188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70432" y="1143000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Protocols: many data types, one call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defprotocol + defimpl; dispatch at run time on the first argument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18836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70432" y="1837944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fallback needs Any and @fallback_to_any true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structs never fall back to Map; @derive copies the Any implementation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578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70432" y="2532888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Behaviours: many modules, one contract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@callback declares it, @behaviour signs it, the compiler checks it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2735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70432" y="3227832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Always write @impl true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it turns silent mistakes into compiler warnings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39684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3968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70432" y="3922776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OTP is built on behaviours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GenServer, Supervisor, Application, DynamicSupervisor — you fill in the callbacks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