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9B72CF"/>
                </a:solidFill>
                <a:latin typeface="Calibri"/>
              </a:rPr>
              <a:t>ELIXIR · OPERATORS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Thirty-odd symbols — and every one of them is an ordinary function.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+ - *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|&gt;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&amp;</a:t>
            </a:r>
          </a:p>
        </p:txBody>
      </p:sp>
      <p:sp>
        <p:nvSpPr>
          <p:cNvPr id="8" name="a0fd1400_nt7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Session 4 · every result here was measured on the training machine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ROADMAP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we cover today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70431"/>
            <a:ext cx="1906524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idea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a + b = +(a, b)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Operators are functions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You can capture them</a:t>
            </a:r>
          </a:p>
        </p:txBody>
      </p:sp>
      <p:sp>
        <p:nvSpPr>
          <p:cNvPr id="12" name="a1ud290_cb11"/>
          <p:cNvSpPr txBox="1"/>
          <p:nvPr/>
        </p:nvSpPr>
        <p:spPr>
          <a:xfrm>
            <a:off x="621792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You can define your own</a:t>
            </a:r>
          </a:p>
        </p:txBody>
      </p:sp>
      <p:sp>
        <p:nvSpPr>
          <p:cNvPr id="13" name="a2u_card12"/>
          <p:cNvSpPr/>
          <p:nvPr/>
        </p:nvSpPr>
        <p:spPr>
          <a:xfrm>
            <a:off x="2564892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_acc13"/>
          <p:cNvSpPr/>
          <p:nvPr/>
        </p:nvSpPr>
        <p:spPr>
          <a:xfrm>
            <a:off x="2564892" y="1170431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14"/>
          <p:cNvSpPr/>
          <p:nvPr/>
        </p:nvSpPr>
        <p:spPr>
          <a:xfrm>
            <a:off x="2729484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60_ict15"/>
          <p:cNvSpPr txBox="1"/>
          <p:nvPr/>
        </p:nvSpPr>
        <p:spPr>
          <a:xfrm>
            <a:off x="2729484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a2ud90_ct16"/>
          <p:cNvSpPr txBox="1"/>
          <p:nvPr/>
        </p:nvSpPr>
        <p:spPr>
          <a:xfrm>
            <a:off x="2729484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families</a:t>
            </a:r>
          </a:p>
        </p:txBody>
      </p:sp>
      <p:sp>
        <p:nvSpPr>
          <p:cNvPr id="18" name="a2ud120_cs17"/>
          <p:cNvSpPr txBox="1"/>
          <p:nvPr/>
        </p:nvSpPr>
        <p:spPr>
          <a:xfrm>
            <a:off x="2729484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maths == &amp;&amp; &lt;&gt;</a:t>
            </a:r>
          </a:p>
        </p:txBody>
      </p:sp>
      <p:sp>
        <p:nvSpPr>
          <p:cNvPr id="19" name="a2ud150_cb18"/>
          <p:cNvSpPr txBox="1"/>
          <p:nvPr/>
        </p:nvSpPr>
        <p:spPr>
          <a:xfrm>
            <a:off x="2729484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Arithmetic and division</a:t>
            </a:r>
          </a:p>
        </p:txBody>
      </p:sp>
      <p:sp>
        <p:nvSpPr>
          <p:cNvPr id="20" name="a2ud220_cb19"/>
          <p:cNvSpPr txBox="1"/>
          <p:nvPr/>
        </p:nvSpPr>
        <p:spPr>
          <a:xfrm>
            <a:off x="2729484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Equality and ordering</a:t>
            </a:r>
          </a:p>
        </p:txBody>
      </p:sp>
      <p:sp>
        <p:nvSpPr>
          <p:cNvPr id="21" name="a2ud290_cb20"/>
          <p:cNvSpPr txBox="1"/>
          <p:nvPr/>
        </p:nvSpPr>
        <p:spPr>
          <a:xfrm>
            <a:off x="2729484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Booleans and truthiness</a:t>
            </a:r>
          </a:p>
        </p:txBody>
      </p:sp>
      <p:sp>
        <p:nvSpPr>
          <p:cNvPr id="22" name="a3u_card21"/>
          <p:cNvSpPr/>
          <p:nvPr/>
        </p:nvSpPr>
        <p:spPr>
          <a:xfrm>
            <a:off x="4672584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_acc22"/>
          <p:cNvSpPr/>
          <p:nvPr/>
        </p:nvSpPr>
        <p:spPr>
          <a:xfrm>
            <a:off x="4672584" y="1170431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d60_ic23"/>
          <p:cNvSpPr/>
          <p:nvPr/>
        </p:nvSpPr>
        <p:spPr>
          <a:xfrm>
            <a:off x="4837176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d60_ict24"/>
          <p:cNvSpPr txBox="1"/>
          <p:nvPr/>
        </p:nvSpPr>
        <p:spPr>
          <a:xfrm>
            <a:off x="4837176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a3ud90_ct25"/>
          <p:cNvSpPr txBox="1"/>
          <p:nvPr/>
        </p:nvSpPr>
        <p:spPr>
          <a:xfrm>
            <a:off x="4837176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workhorses</a:t>
            </a:r>
          </a:p>
        </p:txBody>
      </p:sp>
      <p:sp>
        <p:nvSpPr>
          <p:cNvPr id="27" name="a3ud120_cs26"/>
          <p:cNvSpPr txBox="1"/>
          <p:nvPr/>
        </p:nvSpPr>
        <p:spPr>
          <a:xfrm>
            <a:off x="4837176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|&gt;  &amp;  in</a:t>
            </a:r>
          </a:p>
        </p:txBody>
      </p:sp>
      <p:sp>
        <p:nvSpPr>
          <p:cNvPr id="28" name="a3ud150_cb27"/>
          <p:cNvSpPr txBox="1"/>
          <p:nvPr/>
        </p:nvSpPr>
        <p:spPr>
          <a:xfrm>
            <a:off x="4837176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pipe operator</a:t>
            </a:r>
          </a:p>
        </p:txBody>
      </p:sp>
      <p:sp>
        <p:nvSpPr>
          <p:cNvPr id="29" name="a3ud220_cb28"/>
          <p:cNvSpPr txBox="1"/>
          <p:nvPr/>
        </p:nvSpPr>
        <p:spPr>
          <a:xfrm>
            <a:off x="4837176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capture operator</a:t>
            </a:r>
          </a:p>
        </p:txBody>
      </p:sp>
      <p:sp>
        <p:nvSpPr>
          <p:cNvPr id="30" name="a3ud290_cb29"/>
          <p:cNvSpPr txBox="1"/>
          <p:nvPr/>
        </p:nvSpPr>
        <p:spPr>
          <a:xfrm>
            <a:off x="4837176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Access and ranges</a:t>
            </a:r>
          </a:p>
        </p:txBody>
      </p:sp>
      <p:sp>
        <p:nvSpPr>
          <p:cNvPr id="31" name="a4u_card30"/>
          <p:cNvSpPr/>
          <p:nvPr/>
        </p:nvSpPr>
        <p:spPr>
          <a:xfrm>
            <a:off x="6780276" y="1170431"/>
            <a:ext cx="1906524" cy="2450592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4u_acc31"/>
          <p:cNvSpPr/>
          <p:nvPr/>
        </p:nvSpPr>
        <p:spPr>
          <a:xfrm>
            <a:off x="6780276" y="1170431"/>
            <a:ext cx="1906524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ud60_ic32"/>
          <p:cNvSpPr/>
          <p:nvPr/>
        </p:nvSpPr>
        <p:spPr>
          <a:xfrm>
            <a:off x="6944868" y="1371599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4ud60_ict33"/>
          <p:cNvSpPr txBox="1"/>
          <p:nvPr/>
        </p:nvSpPr>
        <p:spPr>
          <a:xfrm>
            <a:off x="6944868" y="137159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a4ud90_ct34"/>
          <p:cNvSpPr txBox="1"/>
          <p:nvPr/>
        </p:nvSpPr>
        <p:spPr>
          <a:xfrm>
            <a:off x="6944868" y="1847087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traps</a:t>
            </a:r>
          </a:p>
        </p:txBody>
      </p:sp>
      <p:sp>
        <p:nvSpPr>
          <p:cNvPr id="36" name="a4ud120_cs35"/>
          <p:cNvSpPr txBox="1"/>
          <p:nvPr/>
        </p:nvSpPr>
        <p:spPr>
          <a:xfrm>
            <a:off x="6944868" y="2121407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0533"/>
                </a:solidFill>
                <a:latin typeface="Courier New"/>
              </a:rPr>
              <a:t>precedence</a:t>
            </a:r>
          </a:p>
        </p:txBody>
      </p:sp>
      <p:sp>
        <p:nvSpPr>
          <p:cNvPr id="37" name="a4ud150_cb36"/>
          <p:cNvSpPr txBox="1"/>
          <p:nvPr/>
        </p:nvSpPr>
        <p:spPr>
          <a:xfrm>
            <a:off x="6944868" y="2377439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What binds tighter</a:t>
            </a:r>
          </a:p>
        </p:txBody>
      </p:sp>
      <p:sp>
        <p:nvSpPr>
          <p:cNvPr id="38" name="a4ud220_cb37"/>
          <p:cNvSpPr txBox="1"/>
          <p:nvPr/>
        </p:nvSpPr>
        <p:spPr>
          <a:xfrm>
            <a:off x="6944868" y="2761487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What associates which way</a:t>
            </a:r>
          </a:p>
        </p:txBody>
      </p:sp>
      <p:sp>
        <p:nvSpPr>
          <p:cNvPr id="39" name="a4ud290_cb38"/>
          <p:cNvSpPr txBox="1"/>
          <p:nvPr/>
        </p:nvSpPr>
        <p:spPr>
          <a:xfrm>
            <a:off x="6944868" y="3145535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Deprecated symbols</a:t>
            </a:r>
          </a:p>
        </p:txBody>
      </p:sp>
      <p:sp>
        <p:nvSpPr>
          <p:cNvPr id="40" name="a5f_nb39"/>
          <p:cNvSpPr/>
          <p:nvPr/>
        </p:nvSpPr>
        <p:spPr>
          <a:xfrm>
            <a:off x="457200" y="376732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5f_nacc40"/>
          <p:cNvSpPr/>
          <p:nvPr/>
        </p:nvSpPr>
        <p:spPr>
          <a:xfrm>
            <a:off x="457200" y="3767328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5f_nt41"/>
          <p:cNvSpPr txBox="1"/>
          <p:nvPr/>
        </p:nvSpPr>
        <p:spPr>
          <a:xfrm>
            <a:off x="658368" y="3767328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through-line: there is no operator table hard-wired into the compiler that you have to memorise. There is a precedence table, and then there are functions — which is why you can pipe into them, capture them and write your own.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Operators are functions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Not syntax the compiler treats specially.
Just functions with a symbol for a name.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Kernel.+/2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&amp;+/2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defining one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OPERATORS ARE FUNCTIONS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+ b is literally +(a, b)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parser turns every operator into a normal function call.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84632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4517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probe_operators.exs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quote do: 1 + 2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{:+, [context: Elixir,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    imports: [{1, Kernel}, {2, Kernel}]],</a:t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[1, 2]}</a:t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425_code11"/>
          <p:cNvSpPr txBox="1"/>
          <p:nvPr/>
        </p:nvSpPr>
        <p:spPr>
          <a:xfrm>
            <a:off x="621792" y="2894076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Kernel.+(1, 2)            #=&gt; 3</a:t>
            </a:r>
          </a:p>
        </p:txBody>
      </p:sp>
      <p:sp>
        <p:nvSpPr>
          <p:cNvPr id="13" name="a1wd510_code12"/>
          <p:cNvSpPr txBox="1"/>
          <p:nvPr/>
        </p:nvSpPr>
        <p:spPr>
          <a:xfrm>
            <a:off x="621792" y="3108960"/>
            <a:ext cx="45171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apply(Kernel, :+, [1, 2]) #=&gt; 3</a:t>
            </a:r>
          </a:p>
        </p:txBody>
      </p:sp>
      <p:sp>
        <p:nvSpPr>
          <p:cNvPr id="14" name="a2u_dot13"/>
          <p:cNvSpPr/>
          <p:nvPr/>
        </p:nvSpPr>
        <p:spPr>
          <a:xfrm>
            <a:off x="5440680" y="151790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b14"/>
          <p:cNvSpPr txBox="1"/>
          <p:nvPr/>
        </p:nvSpPr>
        <p:spPr>
          <a:xfrm>
            <a:off x="5660136" y="1417319"/>
            <a:ext cx="30266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The symbol is the function name  </a:t>
            </a:r>
            <a:r>
              <a:rPr sz="1100" b="0">
                <a:solidFill>
                  <a:srgbClr val="334155"/>
                </a:solidFill>
                <a:latin typeface="Calibri"/>
              </a:rPr>
              <a:t>+ is the atom :+, imported from Kernel</a:t>
            </a:r>
          </a:p>
        </p:txBody>
      </p:sp>
      <p:sp>
        <p:nvSpPr>
          <p:cNvPr id="16" name="a2ud180_dot15"/>
          <p:cNvSpPr/>
          <p:nvPr/>
        </p:nvSpPr>
        <p:spPr>
          <a:xfrm>
            <a:off x="5440680" y="219455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180_b16"/>
          <p:cNvSpPr txBox="1"/>
          <p:nvPr/>
        </p:nvSpPr>
        <p:spPr>
          <a:xfrm>
            <a:off x="5660136" y="2093975"/>
            <a:ext cx="30266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So you can capture it  </a:t>
            </a:r>
            <a:r>
              <a:rPr sz="1100" b="0">
                <a:solidFill>
                  <a:srgbClr val="334155"/>
                </a:solidFill>
                <a:latin typeface="Calibri"/>
              </a:rPr>
              <a:t>&amp;+/2 is a two-argument function like any other</a:t>
            </a:r>
          </a:p>
        </p:txBody>
      </p:sp>
      <p:sp>
        <p:nvSpPr>
          <p:cNvPr id="18" name="a2ud360_dot17"/>
          <p:cNvSpPr/>
          <p:nvPr/>
        </p:nvSpPr>
        <p:spPr>
          <a:xfrm>
            <a:off x="5440680" y="287121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360_b18"/>
          <p:cNvSpPr txBox="1"/>
          <p:nvPr/>
        </p:nvSpPr>
        <p:spPr>
          <a:xfrm>
            <a:off x="5660136" y="2770632"/>
            <a:ext cx="30266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And you can shadow it  </a:t>
            </a:r>
            <a:r>
              <a:rPr sz="1100" b="0">
                <a:solidFill>
                  <a:srgbClr val="334155"/>
                </a:solidFill>
                <a:latin typeface="Calibri"/>
              </a:rPr>
              <a:t>import Kernel, except: [+: 2]</a:t>
            </a:r>
          </a:p>
        </p:txBody>
      </p:sp>
      <p:sp>
        <p:nvSpPr>
          <p:cNvPr id="20" name="a3f_codebg19"/>
          <p:cNvSpPr/>
          <p:nvPr/>
        </p:nvSpPr>
        <p:spPr>
          <a:xfrm>
            <a:off x="457200" y="3721608"/>
            <a:ext cx="8229600" cy="758952"/>
          </a:xfrm>
          <a:prstGeom prst="roundRect">
            <a:avLst>
              <a:gd name="adj" fmla="val 96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w_code20"/>
          <p:cNvSpPr txBox="1"/>
          <p:nvPr/>
        </p:nvSpPr>
        <p:spPr>
          <a:xfrm>
            <a:off x="621792" y="388620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Enum.reduce([1, 2, 3, 4], 0, &amp;+/2)    #=&gt; 10</a:t>
            </a:r>
          </a:p>
        </p:txBody>
      </p:sp>
      <p:sp>
        <p:nvSpPr>
          <p:cNvPr id="22" name="a3wd110_code21"/>
          <p:cNvSpPr txBox="1"/>
          <p:nvPr/>
        </p:nvSpPr>
        <p:spPr>
          <a:xfrm>
            <a:off x="621792" y="410108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(&amp;Kernel.+/2).(1, 2)                  #=&gt; 3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MAP OF THE DECK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families, at a glance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15568"/>
            <a:ext cx="1691640" cy="27889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15568"/>
            <a:ext cx="1581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6" name="a1wd85_td5"/>
          <p:cNvSpPr/>
          <p:nvPr/>
        </p:nvSpPr>
        <p:spPr>
          <a:xfrm>
            <a:off x="457200" y="1394460"/>
            <a:ext cx="1691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85_tdt6"/>
          <p:cNvSpPr txBox="1"/>
          <p:nvPr/>
        </p:nvSpPr>
        <p:spPr>
          <a:xfrm>
            <a:off x="530352" y="1394460"/>
            <a:ext cx="1581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arithmetic</a:t>
            </a:r>
          </a:p>
        </p:txBody>
      </p:sp>
      <p:sp>
        <p:nvSpPr>
          <p:cNvPr id="8" name="a1wd170_td7"/>
          <p:cNvSpPr/>
          <p:nvPr/>
        </p:nvSpPr>
        <p:spPr>
          <a:xfrm>
            <a:off x="457200" y="1673352"/>
            <a:ext cx="1691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70_tdt8"/>
          <p:cNvSpPr txBox="1"/>
          <p:nvPr/>
        </p:nvSpPr>
        <p:spPr>
          <a:xfrm>
            <a:off x="530352" y="1673352"/>
            <a:ext cx="1581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comparison</a:t>
            </a:r>
          </a:p>
        </p:txBody>
      </p:sp>
      <p:sp>
        <p:nvSpPr>
          <p:cNvPr id="10" name="a1wd255_td9"/>
          <p:cNvSpPr/>
          <p:nvPr/>
        </p:nvSpPr>
        <p:spPr>
          <a:xfrm>
            <a:off x="457200" y="1952243"/>
            <a:ext cx="1691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55_tdt10"/>
          <p:cNvSpPr txBox="1"/>
          <p:nvPr/>
        </p:nvSpPr>
        <p:spPr>
          <a:xfrm>
            <a:off x="530352" y="1952243"/>
            <a:ext cx="1581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boolean</a:t>
            </a:r>
          </a:p>
        </p:txBody>
      </p:sp>
      <p:sp>
        <p:nvSpPr>
          <p:cNvPr id="12" name="a1wd340_td11"/>
          <p:cNvSpPr/>
          <p:nvPr/>
        </p:nvSpPr>
        <p:spPr>
          <a:xfrm>
            <a:off x="457200" y="2231136"/>
            <a:ext cx="1691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40_tdt12"/>
          <p:cNvSpPr txBox="1"/>
          <p:nvPr/>
        </p:nvSpPr>
        <p:spPr>
          <a:xfrm>
            <a:off x="530352" y="2231136"/>
            <a:ext cx="1581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data</a:t>
            </a:r>
          </a:p>
        </p:txBody>
      </p:sp>
      <p:sp>
        <p:nvSpPr>
          <p:cNvPr id="14" name="a1wd425_td13"/>
          <p:cNvSpPr/>
          <p:nvPr/>
        </p:nvSpPr>
        <p:spPr>
          <a:xfrm>
            <a:off x="457200" y="2510028"/>
            <a:ext cx="1691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25_tdt14"/>
          <p:cNvSpPr txBox="1"/>
          <p:nvPr/>
        </p:nvSpPr>
        <p:spPr>
          <a:xfrm>
            <a:off x="530352" y="2510028"/>
            <a:ext cx="1581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access</a:t>
            </a:r>
          </a:p>
        </p:txBody>
      </p:sp>
      <p:sp>
        <p:nvSpPr>
          <p:cNvPr id="16" name="a1wd510_td15"/>
          <p:cNvSpPr/>
          <p:nvPr/>
        </p:nvSpPr>
        <p:spPr>
          <a:xfrm>
            <a:off x="457200" y="2788920"/>
            <a:ext cx="1691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510_tdt16"/>
          <p:cNvSpPr txBox="1"/>
          <p:nvPr/>
        </p:nvSpPr>
        <p:spPr>
          <a:xfrm>
            <a:off x="530352" y="2788920"/>
            <a:ext cx="1581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function</a:t>
            </a:r>
          </a:p>
        </p:txBody>
      </p:sp>
      <p:sp>
        <p:nvSpPr>
          <p:cNvPr id="18" name="a1wd595_td17"/>
          <p:cNvSpPr/>
          <p:nvPr/>
        </p:nvSpPr>
        <p:spPr>
          <a:xfrm>
            <a:off x="457200" y="3067811"/>
            <a:ext cx="1691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595_tdt18"/>
          <p:cNvSpPr txBox="1"/>
          <p:nvPr/>
        </p:nvSpPr>
        <p:spPr>
          <a:xfrm>
            <a:off x="530352" y="3067811"/>
            <a:ext cx="1581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bitwise</a:t>
            </a:r>
          </a:p>
        </p:txBody>
      </p:sp>
      <p:sp>
        <p:nvSpPr>
          <p:cNvPr id="20" name="a1wd680_td19"/>
          <p:cNvSpPr/>
          <p:nvPr/>
        </p:nvSpPr>
        <p:spPr>
          <a:xfrm>
            <a:off x="457200" y="3346704"/>
            <a:ext cx="1691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680_tdt20"/>
          <p:cNvSpPr txBox="1"/>
          <p:nvPr/>
        </p:nvSpPr>
        <p:spPr>
          <a:xfrm>
            <a:off x="530352" y="3346704"/>
            <a:ext cx="1581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match</a:t>
            </a:r>
          </a:p>
        </p:txBody>
      </p:sp>
      <p:sp>
        <p:nvSpPr>
          <p:cNvPr id="22" name="a1f_th21"/>
          <p:cNvSpPr/>
          <p:nvPr/>
        </p:nvSpPr>
        <p:spPr>
          <a:xfrm>
            <a:off x="2148840" y="1115568"/>
            <a:ext cx="3703320" cy="27889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f_tht22"/>
          <p:cNvSpPr txBox="1"/>
          <p:nvPr/>
        </p:nvSpPr>
        <p:spPr>
          <a:xfrm>
            <a:off x="2221992" y="1115568"/>
            <a:ext cx="3593591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Operators</a:t>
            </a:r>
          </a:p>
        </p:txBody>
      </p:sp>
      <p:sp>
        <p:nvSpPr>
          <p:cNvPr id="24" name="a1wd85_td23"/>
          <p:cNvSpPr/>
          <p:nvPr/>
        </p:nvSpPr>
        <p:spPr>
          <a:xfrm>
            <a:off x="2148840" y="1394460"/>
            <a:ext cx="370332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85_tdt24"/>
          <p:cNvSpPr txBox="1"/>
          <p:nvPr/>
        </p:nvSpPr>
        <p:spPr>
          <a:xfrm>
            <a:off x="2221992" y="1394460"/>
            <a:ext cx="3593591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+  -  *  /  **  div  rem</a:t>
            </a:r>
          </a:p>
        </p:txBody>
      </p:sp>
      <p:sp>
        <p:nvSpPr>
          <p:cNvPr id="26" name="a1wd170_td25"/>
          <p:cNvSpPr/>
          <p:nvPr/>
        </p:nvSpPr>
        <p:spPr>
          <a:xfrm>
            <a:off x="2148840" y="1673352"/>
            <a:ext cx="370332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170_tdt26"/>
          <p:cNvSpPr txBox="1"/>
          <p:nvPr/>
        </p:nvSpPr>
        <p:spPr>
          <a:xfrm>
            <a:off x="2221992" y="1673352"/>
            <a:ext cx="3593591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==  ===  !=  !==  &lt;  &gt;  &lt;=  &gt;=</a:t>
            </a:r>
          </a:p>
        </p:txBody>
      </p:sp>
      <p:sp>
        <p:nvSpPr>
          <p:cNvPr id="28" name="a1wd255_td27"/>
          <p:cNvSpPr/>
          <p:nvPr/>
        </p:nvSpPr>
        <p:spPr>
          <a:xfrm>
            <a:off x="2148840" y="1952243"/>
            <a:ext cx="370332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255_tdt28"/>
          <p:cNvSpPr txBox="1"/>
          <p:nvPr/>
        </p:nvSpPr>
        <p:spPr>
          <a:xfrm>
            <a:off x="2221992" y="1952243"/>
            <a:ext cx="3593591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and  or  not  &amp;&amp;  ||  !</a:t>
            </a:r>
          </a:p>
        </p:txBody>
      </p:sp>
      <p:sp>
        <p:nvSpPr>
          <p:cNvPr id="30" name="a1wd340_td29"/>
          <p:cNvSpPr/>
          <p:nvPr/>
        </p:nvSpPr>
        <p:spPr>
          <a:xfrm>
            <a:off x="2148840" y="2231136"/>
            <a:ext cx="370332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340_tdt30"/>
          <p:cNvSpPr txBox="1"/>
          <p:nvPr/>
        </p:nvSpPr>
        <p:spPr>
          <a:xfrm>
            <a:off x="2221992" y="2231136"/>
            <a:ext cx="3593591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&lt;&gt;  ++  --  in  ..  ..//</a:t>
            </a:r>
          </a:p>
        </p:txBody>
      </p:sp>
      <p:sp>
        <p:nvSpPr>
          <p:cNvPr id="32" name="a1wd425_td31"/>
          <p:cNvSpPr/>
          <p:nvPr/>
        </p:nvSpPr>
        <p:spPr>
          <a:xfrm>
            <a:off x="2148840" y="2510028"/>
            <a:ext cx="370332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425_tdt32"/>
          <p:cNvSpPr txBox="1"/>
          <p:nvPr/>
        </p:nvSpPr>
        <p:spPr>
          <a:xfrm>
            <a:off x="2221992" y="2510028"/>
            <a:ext cx="3593591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.  []  get_in</a:t>
            </a:r>
          </a:p>
        </p:txBody>
      </p:sp>
      <p:sp>
        <p:nvSpPr>
          <p:cNvPr id="34" name="a1wd510_td33"/>
          <p:cNvSpPr/>
          <p:nvPr/>
        </p:nvSpPr>
        <p:spPr>
          <a:xfrm>
            <a:off x="2148840" y="2788920"/>
            <a:ext cx="370332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510_tdt34"/>
          <p:cNvSpPr txBox="1"/>
          <p:nvPr/>
        </p:nvSpPr>
        <p:spPr>
          <a:xfrm>
            <a:off x="2221992" y="2788920"/>
            <a:ext cx="3593591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|&gt;  &amp;  .()</a:t>
            </a:r>
          </a:p>
        </p:txBody>
      </p:sp>
      <p:sp>
        <p:nvSpPr>
          <p:cNvPr id="36" name="a1wd595_td35"/>
          <p:cNvSpPr/>
          <p:nvPr/>
        </p:nvSpPr>
        <p:spPr>
          <a:xfrm>
            <a:off x="2148840" y="3067811"/>
            <a:ext cx="370332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595_tdt36"/>
          <p:cNvSpPr txBox="1"/>
          <p:nvPr/>
        </p:nvSpPr>
        <p:spPr>
          <a:xfrm>
            <a:off x="2221992" y="3067811"/>
            <a:ext cx="3593591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&amp;&amp;&amp;  |||  &lt;&lt;&lt;  &gt;&gt;&gt;  bxor</a:t>
            </a:r>
          </a:p>
        </p:txBody>
      </p:sp>
      <p:sp>
        <p:nvSpPr>
          <p:cNvPr id="38" name="a1wd680_td37"/>
          <p:cNvSpPr/>
          <p:nvPr/>
        </p:nvSpPr>
        <p:spPr>
          <a:xfrm>
            <a:off x="2148840" y="3346704"/>
            <a:ext cx="370332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680_tdt38"/>
          <p:cNvSpPr txBox="1"/>
          <p:nvPr/>
        </p:nvSpPr>
        <p:spPr>
          <a:xfrm>
            <a:off x="2221992" y="3346704"/>
            <a:ext cx="3593591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=  ^  =~</a:t>
            </a:r>
          </a:p>
        </p:txBody>
      </p:sp>
      <p:sp>
        <p:nvSpPr>
          <p:cNvPr id="40" name="a1f_th39"/>
          <p:cNvSpPr/>
          <p:nvPr/>
        </p:nvSpPr>
        <p:spPr>
          <a:xfrm>
            <a:off x="5852160" y="1115568"/>
            <a:ext cx="2834640" cy="27889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f_tht40"/>
          <p:cNvSpPr txBox="1"/>
          <p:nvPr/>
        </p:nvSpPr>
        <p:spPr>
          <a:xfrm>
            <a:off x="5925312" y="1115568"/>
            <a:ext cx="2724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Watch out for</a:t>
            </a:r>
          </a:p>
        </p:txBody>
      </p:sp>
      <p:sp>
        <p:nvSpPr>
          <p:cNvPr id="42" name="a1wd85_td41"/>
          <p:cNvSpPr/>
          <p:nvPr/>
        </p:nvSpPr>
        <p:spPr>
          <a:xfrm>
            <a:off x="5852160" y="1394460"/>
            <a:ext cx="2834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85_tdt42"/>
          <p:cNvSpPr txBox="1"/>
          <p:nvPr/>
        </p:nvSpPr>
        <p:spPr>
          <a:xfrm>
            <a:off x="5925312" y="1394460"/>
            <a:ext cx="2724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 always gives a float</a:t>
            </a:r>
          </a:p>
        </p:txBody>
      </p:sp>
      <p:sp>
        <p:nvSpPr>
          <p:cNvPr id="44" name="a1wd170_td43"/>
          <p:cNvSpPr/>
          <p:nvPr/>
        </p:nvSpPr>
        <p:spPr>
          <a:xfrm>
            <a:off x="5852160" y="1673352"/>
            <a:ext cx="2834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170_tdt44"/>
          <p:cNvSpPr txBox="1"/>
          <p:nvPr/>
        </p:nvSpPr>
        <p:spPr>
          <a:xfrm>
            <a:off x="5925312" y="1673352"/>
            <a:ext cx="2724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any two terms compare</a:t>
            </a:r>
          </a:p>
        </p:txBody>
      </p:sp>
      <p:sp>
        <p:nvSpPr>
          <p:cNvPr id="46" name="a1wd255_td45"/>
          <p:cNvSpPr/>
          <p:nvPr/>
        </p:nvSpPr>
        <p:spPr>
          <a:xfrm>
            <a:off x="5852160" y="1952243"/>
            <a:ext cx="2834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255_tdt46"/>
          <p:cNvSpPr txBox="1"/>
          <p:nvPr/>
        </p:nvSpPr>
        <p:spPr>
          <a:xfrm>
            <a:off x="5925312" y="1952243"/>
            <a:ext cx="2724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two families, different rules</a:t>
            </a:r>
          </a:p>
        </p:txBody>
      </p:sp>
      <p:sp>
        <p:nvSpPr>
          <p:cNvPr id="48" name="a1wd340_td47"/>
          <p:cNvSpPr/>
          <p:nvPr/>
        </p:nvSpPr>
        <p:spPr>
          <a:xfrm>
            <a:off x="5852160" y="2231136"/>
            <a:ext cx="2834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340_tdt48"/>
          <p:cNvSpPr txBox="1"/>
          <p:nvPr/>
        </p:nvSpPr>
        <p:spPr>
          <a:xfrm>
            <a:off x="5925312" y="2231136"/>
            <a:ext cx="2724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++ copies its left list</a:t>
            </a:r>
          </a:p>
        </p:txBody>
      </p:sp>
      <p:sp>
        <p:nvSpPr>
          <p:cNvPr id="50" name="a1wd425_td49"/>
          <p:cNvSpPr/>
          <p:nvPr/>
        </p:nvSpPr>
        <p:spPr>
          <a:xfrm>
            <a:off x="5852160" y="2510028"/>
            <a:ext cx="2834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425_tdt50"/>
          <p:cNvSpPr txBox="1"/>
          <p:nvPr/>
        </p:nvSpPr>
        <p:spPr>
          <a:xfrm>
            <a:off x="5925312" y="2510028"/>
            <a:ext cx="2724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. raises, [] returns nil</a:t>
            </a:r>
          </a:p>
        </p:txBody>
      </p:sp>
      <p:sp>
        <p:nvSpPr>
          <p:cNvPr id="52" name="a1wd510_td51"/>
          <p:cNvSpPr/>
          <p:nvPr/>
        </p:nvSpPr>
        <p:spPr>
          <a:xfrm>
            <a:off x="5852160" y="2788920"/>
            <a:ext cx="2834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510_tdt52"/>
          <p:cNvSpPr txBox="1"/>
          <p:nvPr/>
        </p:nvSpPr>
        <p:spPr>
          <a:xfrm>
            <a:off x="5925312" y="2788920"/>
            <a:ext cx="2724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pipe passes the FIRST argument</a:t>
            </a:r>
          </a:p>
        </p:txBody>
      </p:sp>
      <p:sp>
        <p:nvSpPr>
          <p:cNvPr id="54" name="a1wd595_td53"/>
          <p:cNvSpPr/>
          <p:nvPr/>
        </p:nvSpPr>
        <p:spPr>
          <a:xfrm>
            <a:off x="5852160" y="3067811"/>
            <a:ext cx="2834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595_tdt54"/>
          <p:cNvSpPr txBox="1"/>
          <p:nvPr/>
        </p:nvSpPr>
        <p:spPr>
          <a:xfrm>
            <a:off x="5925312" y="3067811"/>
            <a:ext cx="2724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needs import Bitwise</a:t>
            </a:r>
          </a:p>
        </p:txBody>
      </p:sp>
      <p:sp>
        <p:nvSpPr>
          <p:cNvPr id="56" name="a1wd680_td55"/>
          <p:cNvSpPr/>
          <p:nvPr/>
        </p:nvSpPr>
        <p:spPr>
          <a:xfrm>
            <a:off x="5852160" y="3346704"/>
            <a:ext cx="2834640" cy="2788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680_tdt56"/>
          <p:cNvSpPr txBox="1"/>
          <p:nvPr/>
        </p:nvSpPr>
        <p:spPr>
          <a:xfrm>
            <a:off x="5925312" y="3346704"/>
            <a:ext cx="2724912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covered in deck 3</a:t>
            </a:r>
          </a:p>
        </p:txBody>
      </p:sp>
      <p:sp>
        <p:nvSpPr>
          <p:cNvPr id="58" name="a2f_nb57"/>
          <p:cNvSpPr/>
          <p:nvPr/>
        </p:nvSpPr>
        <p:spPr>
          <a:xfrm>
            <a:off x="457200" y="373532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2f_nacc58"/>
          <p:cNvSpPr/>
          <p:nvPr/>
        </p:nvSpPr>
        <p:spPr>
          <a:xfrm>
            <a:off x="457200" y="3735324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2f_nt59"/>
          <p:cNvSpPr txBox="1"/>
          <p:nvPr/>
        </p:nvSpPr>
        <p:spPr>
          <a:xfrm>
            <a:off x="658368" y="373532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Nine families, about thirty symbols. The only one with no equivalent in C, Java or Python is the pipe — and it is the one you will use most.</a:t>
            </a:r>
          </a:p>
        </p:txBody>
      </p:sp>
      <p:sp>
        <p:nvSpPr>
          <p:cNvPr id="61" name="ft6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62" name="ft6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Arithmetic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Two kinds of division, and one
operator that surprises everybody.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/ vs div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rem vs mod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**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ARITHMETIC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There are two divisions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/ is float division. div/2 is integer division. They are different functions.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16052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7 / 2        #=&gt; 3.5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4 / 2        #=&gt; 2.0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             # float, even when exact</a:t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div(7, 2)    #=&gt; 3</a:t>
            </a:r>
          </a:p>
        </p:txBody>
      </p:sp>
      <p:sp>
        <p:nvSpPr>
          <p:cNvPr id="12" name="a1wd425_code11"/>
          <p:cNvSpPr txBox="1"/>
          <p:nvPr/>
        </p:nvSpPr>
        <p:spPr>
          <a:xfrm>
            <a:off x="621792" y="289407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rem(7, 2)    #=&gt; 1</a:t>
            </a:r>
          </a:p>
        </p:txBody>
      </p:sp>
      <p:sp>
        <p:nvSpPr>
          <p:cNvPr id="13" name="a2f_codebg12"/>
          <p:cNvSpPr/>
          <p:nvPr/>
        </p:nvSpPr>
        <p:spPr>
          <a:xfrm>
            <a:off x="4754880" y="1380744"/>
            <a:ext cx="393192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f_codeh13"/>
          <p:cNvSpPr txBox="1"/>
          <p:nvPr/>
        </p:nvSpPr>
        <p:spPr>
          <a:xfrm>
            <a:off x="4919472" y="1435608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neither gives you infinity</a:t>
            </a:r>
          </a:p>
        </p:txBody>
      </p:sp>
      <p:sp>
        <p:nvSpPr>
          <p:cNvPr id="15" name="a2w_code14"/>
          <p:cNvSpPr txBox="1"/>
          <p:nvPr/>
        </p:nvSpPr>
        <p:spPr>
          <a:xfrm>
            <a:off x="4919472" y="181965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4 / 0</a:t>
            </a:r>
          </a:p>
        </p:txBody>
      </p:sp>
      <p:sp>
        <p:nvSpPr>
          <p:cNvPr id="16" name="a2wd85_code15"/>
          <p:cNvSpPr txBox="1"/>
          <p:nvPr/>
        </p:nvSpPr>
        <p:spPr>
          <a:xfrm>
            <a:off x="4919472" y="203454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** (ArithmeticError) bad argument</a:t>
            </a:r>
          </a:p>
        </p:txBody>
      </p:sp>
      <p:sp>
        <p:nvSpPr>
          <p:cNvPr id="17" name="a2wd170_code16"/>
          <p:cNvSpPr txBox="1"/>
          <p:nvPr/>
        </p:nvSpPr>
        <p:spPr>
          <a:xfrm>
            <a:off x="4919472" y="2249424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   in arithmetic expression</a:t>
            </a:r>
          </a:p>
        </p:txBody>
      </p:sp>
      <p:sp>
        <p:nvSpPr>
          <p:cNvPr id="18" name="a2wd255_code17"/>
          <p:cNvSpPr txBox="1"/>
          <p:nvPr/>
        </p:nvSpPr>
        <p:spPr>
          <a:xfrm>
            <a:off x="4919472" y="2464308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9" name="a2wd340_code18"/>
          <p:cNvSpPr txBox="1"/>
          <p:nvPr/>
        </p:nvSpPr>
        <p:spPr>
          <a:xfrm>
            <a:off x="4919472" y="2679191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div(4, 0)</a:t>
            </a:r>
          </a:p>
        </p:txBody>
      </p:sp>
      <p:sp>
        <p:nvSpPr>
          <p:cNvPr id="20" name="a2wd425_code19"/>
          <p:cNvSpPr txBox="1"/>
          <p:nvPr/>
        </p:nvSpPr>
        <p:spPr>
          <a:xfrm>
            <a:off x="4919472" y="289407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** (ArithmeticError) ...</a:t>
            </a:r>
          </a:p>
        </p:txBody>
      </p:sp>
      <p:sp>
        <p:nvSpPr>
          <p:cNvPr id="21" name="a3u_dot20"/>
          <p:cNvSpPr/>
          <p:nvPr/>
        </p:nvSpPr>
        <p:spPr>
          <a:xfrm>
            <a:off x="457200" y="350215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_b21"/>
          <p:cNvSpPr txBox="1"/>
          <p:nvPr/>
        </p:nvSpPr>
        <p:spPr>
          <a:xfrm>
            <a:off x="676656" y="3401568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4 / 2 is 2.0, not 2  </a:t>
            </a:r>
            <a:r>
              <a:rPr sz="1150" b="0">
                <a:solidFill>
                  <a:srgbClr val="334155"/>
                </a:solidFill>
                <a:latin typeface="Calibri"/>
              </a:rPr>
              <a:t>if you needed an integer you wanted div/2 — this is the single most common beginner bug</a:t>
            </a:r>
          </a:p>
        </p:txBody>
      </p:sp>
      <p:sp>
        <p:nvSpPr>
          <p:cNvPr id="23" name="a3ud180_dot22"/>
          <p:cNvSpPr/>
          <p:nvPr/>
        </p:nvSpPr>
        <p:spPr>
          <a:xfrm>
            <a:off x="457200" y="395935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d180_b23"/>
          <p:cNvSpPr txBox="1"/>
          <p:nvPr/>
        </p:nvSpPr>
        <p:spPr>
          <a:xfrm>
            <a:off x="676656" y="3858768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div and rem are functions, not symbols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there is no % operator in Elixir; rem/2 is the one you want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ARITHMETIC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Negative numbers: four functions, four answers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div truncates toward zero. floor_div rounds down. They disagree on negatives.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44168"/>
            <a:ext cx="77724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44168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7" name="a1wd130_td6"/>
          <p:cNvSpPr/>
          <p:nvPr/>
        </p:nvSpPr>
        <p:spPr>
          <a:xfrm>
            <a:off x="457200" y="1673352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30_tdt7"/>
          <p:cNvSpPr txBox="1"/>
          <p:nvPr/>
        </p:nvSpPr>
        <p:spPr>
          <a:xfrm>
            <a:off x="530352" y="1673352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7</a:t>
            </a:r>
          </a:p>
        </p:txBody>
      </p:sp>
      <p:sp>
        <p:nvSpPr>
          <p:cNvPr id="9" name="a1wd260_td8"/>
          <p:cNvSpPr/>
          <p:nvPr/>
        </p:nvSpPr>
        <p:spPr>
          <a:xfrm>
            <a:off x="457200" y="2002536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60_tdt9"/>
          <p:cNvSpPr txBox="1"/>
          <p:nvPr/>
        </p:nvSpPr>
        <p:spPr>
          <a:xfrm>
            <a:off x="530352" y="2002536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-7</a:t>
            </a:r>
          </a:p>
        </p:txBody>
      </p:sp>
      <p:sp>
        <p:nvSpPr>
          <p:cNvPr id="11" name="a1wd390_td10"/>
          <p:cNvSpPr/>
          <p:nvPr/>
        </p:nvSpPr>
        <p:spPr>
          <a:xfrm>
            <a:off x="457200" y="2331720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90_tdt11"/>
          <p:cNvSpPr txBox="1"/>
          <p:nvPr/>
        </p:nvSpPr>
        <p:spPr>
          <a:xfrm>
            <a:off x="530352" y="2331720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7</a:t>
            </a:r>
          </a:p>
        </p:txBody>
      </p:sp>
      <p:sp>
        <p:nvSpPr>
          <p:cNvPr id="13" name="a1wd520_td12"/>
          <p:cNvSpPr/>
          <p:nvPr/>
        </p:nvSpPr>
        <p:spPr>
          <a:xfrm>
            <a:off x="457200" y="2660904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520_tdt13"/>
          <p:cNvSpPr txBox="1"/>
          <p:nvPr/>
        </p:nvSpPr>
        <p:spPr>
          <a:xfrm>
            <a:off x="530352" y="2660904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-7</a:t>
            </a:r>
          </a:p>
        </p:txBody>
      </p:sp>
      <p:sp>
        <p:nvSpPr>
          <p:cNvPr id="15" name="a1f_th14"/>
          <p:cNvSpPr/>
          <p:nvPr/>
        </p:nvSpPr>
        <p:spPr>
          <a:xfrm>
            <a:off x="1234440" y="1344168"/>
            <a:ext cx="77724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f_tht15"/>
          <p:cNvSpPr txBox="1"/>
          <p:nvPr/>
        </p:nvSpPr>
        <p:spPr>
          <a:xfrm>
            <a:off x="1307592" y="1344168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7" name="a1wd130_td16"/>
          <p:cNvSpPr/>
          <p:nvPr/>
        </p:nvSpPr>
        <p:spPr>
          <a:xfrm>
            <a:off x="1234440" y="1673352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130_tdt17"/>
          <p:cNvSpPr txBox="1"/>
          <p:nvPr/>
        </p:nvSpPr>
        <p:spPr>
          <a:xfrm>
            <a:off x="1307592" y="1673352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</a:t>
            </a:r>
          </a:p>
        </p:txBody>
      </p:sp>
      <p:sp>
        <p:nvSpPr>
          <p:cNvPr id="19" name="a1wd260_td18"/>
          <p:cNvSpPr/>
          <p:nvPr/>
        </p:nvSpPr>
        <p:spPr>
          <a:xfrm>
            <a:off x="1234440" y="2002536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260_tdt19"/>
          <p:cNvSpPr txBox="1"/>
          <p:nvPr/>
        </p:nvSpPr>
        <p:spPr>
          <a:xfrm>
            <a:off x="1307592" y="2002536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</a:t>
            </a:r>
          </a:p>
        </p:txBody>
      </p:sp>
      <p:sp>
        <p:nvSpPr>
          <p:cNvPr id="21" name="a1wd390_td20"/>
          <p:cNvSpPr/>
          <p:nvPr/>
        </p:nvSpPr>
        <p:spPr>
          <a:xfrm>
            <a:off x="1234440" y="2331720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390_tdt21"/>
          <p:cNvSpPr txBox="1"/>
          <p:nvPr/>
        </p:nvSpPr>
        <p:spPr>
          <a:xfrm>
            <a:off x="1307592" y="2331720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-2</a:t>
            </a:r>
          </a:p>
        </p:txBody>
      </p:sp>
      <p:sp>
        <p:nvSpPr>
          <p:cNvPr id="23" name="a1wd520_td22"/>
          <p:cNvSpPr/>
          <p:nvPr/>
        </p:nvSpPr>
        <p:spPr>
          <a:xfrm>
            <a:off x="1234440" y="2660904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520_tdt23"/>
          <p:cNvSpPr txBox="1"/>
          <p:nvPr/>
        </p:nvSpPr>
        <p:spPr>
          <a:xfrm>
            <a:off x="1307592" y="2660904"/>
            <a:ext cx="667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-2</a:t>
            </a:r>
          </a:p>
        </p:txBody>
      </p:sp>
      <p:sp>
        <p:nvSpPr>
          <p:cNvPr id="25" name="a1f_th24"/>
          <p:cNvSpPr/>
          <p:nvPr/>
        </p:nvSpPr>
        <p:spPr>
          <a:xfrm>
            <a:off x="2011680" y="1344168"/>
            <a:ext cx="1508760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f_tht25"/>
          <p:cNvSpPr txBox="1"/>
          <p:nvPr/>
        </p:nvSpPr>
        <p:spPr>
          <a:xfrm>
            <a:off x="2084832" y="1344168"/>
            <a:ext cx="1399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div(a,b)</a:t>
            </a:r>
          </a:p>
        </p:txBody>
      </p:sp>
      <p:sp>
        <p:nvSpPr>
          <p:cNvPr id="27" name="a1wd130_td26"/>
          <p:cNvSpPr/>
          <p:nvPr/>
        </p:nvSpPr>
        <p:spPr>
          <a:xfrm>
            <a:off x="2011680" y="1673352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130_tdt27"/>
          <p:cNvSpPr txBox="1"/>
          <p:nvPr/>
        </p:nvSpPr>
        <p:spPr>
          <a:xfrm>
            <a:off x="2084832" y="1673352"/>
            <a:ext cx="1399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29" name="a1wd260_td28"/>
          <p:cNvSpPr/>
          <p:nvPr/>
        </p:nvSpPr>
        <p:spPr>
          <a:xfrm>
            <a:off x="2011680" y="2002536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260_tdt29"/>
          <p:cNvSpPr txBox="1"/>
          <p:nvPr/>
        </p:nvSpPr>
        <p:spPr>
          <a:xfrm>
            <a:off x="2084832" y="2002536"/>
            <a:ext cx="1399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-3</a:t>
            </a:r>
          </a:p>
        </p:txBody>
      </p:sp>
      <p:sp>
        <p:nvSpPr>
          <p:cNvPr id="31" name="a1wd390_td30"/>
          <p:cNvSpPr/>
          <p:nvPr/>
        </p:nvSpPr>
        <p:spPr>
          <a:xfrm>
            <a:off x="2011680" y="2331720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390_tdt31"/>
          <p:cNvSpPr txBox="1"/>
          <p:nvPr/>
        </p:nvSpPr>
        <p:spPr>
          <a:xfrm>
            <a:off x="2084832" y="2331720"/>
            <a:ext cx="1399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-3</a:t>
            </a:r>
          </a:p>
        </p:txBody>
      </p:sp>
      <p:sp>
        <p:nvSpPr>
          <p:cNvPr id="33" name="a1wd520_td32"/>
          <p:cNvSpPr/>
          <p:nvPr/>
        </p:nvSpPr>
        <p:spPr>
          <a:xfrm>
            <a:off x="2011680" y="2660904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520_tdt33"/>
          <p:cNvSpPr txBox="1"/>
          <p:nvPr/>
        </p:nvSpPr>
        <p:spPr>
          <a:xfrm>
            <a:off x="2084832" y="2660904"/>
            <a:ext cx="1399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35" name="a1f_th34"/>
          <p:cNvSpPr/>
          <p:nvPr/>
        </p:nvSpPr>
        <p:spPr>
          <a:xfrm>
            <a:off x="3520440" y="1344168"/>
            <a:ext cx="1508760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f_tht35"/>
          <p:cNvSpPr txBox="1"/>
          <p:nvPr/>
        </p:nvSpPr>
        <p:spPr>
          <a:xfrm>
            <a:off x="3593592" y="1344168"/>
            <a:ext cx="1399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rem(a,b)</a:t>
            </a:r>
          </a:p>
        </p:txBody>
      </p:sp>
      <p:sp>
        <p:nvSpPr>
          <p:cNvPr id="37" name="a1wd130_td36"/>
          <p:cNvSpPr/>
          <p:nvPr/>
        </p:nvSpPr>
        <p:spPr>
          <a:xfrm>
            <a:off x="3520440" y="1673352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130_tdt37"/>
          <p:cNvSpPr txBox="1"/>
          <p:nvPr/>
        </p:nvSpPr>
        <p:spPr>
          <a:xfrm>
            <a:off x="3593592" y="1673352"/>
            <a:ext cx="1399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</a:t>
            </a:r>
          </a:p>
        </p:txBody>
      </p:sp>
      <p:sp>
        <p:nvSpPr>
          <p:cNvPr id="39" name="a1wd260_td38"/>
          <p:cNvSpPr/>
          <p:nvPr/>
        </p:nvSpPr>
        <p:spPr>
          <a:xfrm>
            <a:off x="3520440" y="2002536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260_tdt39"/>
          <p:cNvSpPr txBox="1"/>
          <p:nvPr/>
        </p:nvSpPr>
        <p:spPr>
          <a:xfrm>
            <a:off x="3593592" y="2002536"/>
            <a:ext cx="1399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-1</a:t>
            </a:r>
          </a:p>
        </p:txBody>
      </p:sp>
      <p:sp>
        <p:nvSpPr>
          <p:cNvPr id="41" name="a1wd390_td40"/>
          <p:cNvSpPr/>
          <p:nvPr/>
        </p:nvSpPr>
        <p:spPr>
          <a:xfrm>
            <a:off x="3520440" y="2331720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390_tdt41"/>
          <p:cNvSpPr txBox="1"/>
          <p:nvPr/>
        </p:nvSpPr>
        <p:spPr>
          <a:xfrm>
            <a:off x="3593592" y="2331720"/>
            <a:ext cx="1399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</a:t>
            </a:r>
          </a:p>
        </p:txBody>
      </p:sp>
      <p:sp>
        <p:nvSpPr>
          <p:cNvPr id="43" name="a1wd520_td42"/>
          <p:cNvSpPr/>
          <p:nvPr/>
        </p:nvSpPr>
        <p:spPr>
          <a:xfrm>
            <a:off x="3520440" y="2660904"/>
            <a:ext cx="1508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520_tdt43"/>
          <p:cNvSpPr txBox="1"/>
          <p:nvPr/>
        </p:nvSpPr>
        <p:spPr>
          <a:xfrm>
            <a:off x="3593592" y="2660904"/>
            <a:ext cx="13990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-1</a:t>
            </a:r>
          </a:p>
        </p:txBody>
      </p:sp>
      <p:sp>
        <p:nvSpPr>
          <p:cNvPr id="45" name="a1f_th44"/>
          <p:cNvSpPr/>
          <p:nvPr/>
        </p:nvSpPr>
        <p:spPr>
          <a:xfrm>
            <a:off x="5029200" y="1344168"/>
            <a:ext cx="1920240" cy="3291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f_tht45"/>
          <p:cNvSpPr txBox="1"/>
          <p:nvPr/>
        </p:nvSpPr>
        <p:spPr>
          <a:xfrm>
            <a:off x="5102352" y="1344168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Integer.floor_div</a:t>
            </a:r>
          </a:p>
        </p:txBody>
      </p:sp>
      <p:sp>
        <p:nvSpPr>
          <p:cNvPr id="47" name="a1wd130_td46"/>
          <p:cNvSpPr/>
          <p:nvPr/>
        </p:nvSpPr>
        <p:spPr>
          <a:xfrm>
            <a:off x="5029200" y="1673352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wd130_tdt47"/>
          <p:cNvSpPr txBox="1"/>
          <p:nvPr/>
        </p:nvSpPr>
        <p:spPr>
          <a:xfrm>
            <a:off x="5102352" y="1673352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49" name="a1wd260_td48"/>
          <p:cNvSpPr/>
          <p:nvPr/>
        </p:nvSpPr>
        <p:spPr>
          <a:xfrm>
            <a:off x="5029200" y="2002536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260_tdt49"/>
          <p:cNvSpPr txBox="1"/>
          <p:nvPr/>
        </p:nvSpPr>
        <p:spPr>
          <a:xfrm>
            <a:off x="5102352" y="2002536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-4</a:t>
            </a:r>
          </a:p>
        </p:txBody>
      </p:sp>
      <p:sp>
        <p:nvSpPr>
          <p:cNvPr id="51" name="a1wd390_td50"/>
          <p:cNvSpPr/>
          <p:nvPr/>
        </p:nvSpPr>
        <p:spPr>
          <a:xfrm>
            <a:off x="5029200" y="2331720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390_tdt51"/>
          <p:cNvSpPr txBox="1"/>
          <p:nvPr/>
        </p:nvSpPr>
        <p:spPr>
          <a:xfrm>
            <a:off x="5102352" y="2331720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-4</a:t>
            </a:r>
          </a:p>
        </p:txBody>
      </p:sp>
      <p:sp>
        <p:nvSpPr>
          <p:cNvPr id="53" name="a1wd520_td52"/>
          <p:cNvSpPr/>
          <p:nvPr/>
        </p:nvSpPr>
        <p:spPr>
          <a:xfrm>
            <a:off x="5029200" y="2660904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wd520_tdt53"/>
          <p:cNvSpPr txBox="1"/>
          <p:nvPr/>
        </p:nvSpPr>
        <p:spPr>
          <a:xfrm>
            <a:off x="5102352" y="2660904"/>
            <a:ext cx="18105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3</a:t>
            </a:r>
          </a:p>
        </p:txBody>
      </p:sp>
      <p:sp>
        <p:nvSpPr>
          <p:cNvPr id="55" name="a1f_th54"/>
          <p:cNvSpPr/>
          <p:nvPr/>
        </p:nvSpPr>
        <p:spPr>
          <a:xfrm>
            <a:off x="6949440" y="1344168"/>
            <a:ext cx="1737360" cy="3291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1f_tht55"/>
          <p:cNvSpPr txBox="1"/>
          <p:nvPr/>
        </p:nvSpPr>
        <p:spPr>
          <a:xfrm>
            <a:off x="7022592" y="1344168"/>
            <a:ext cx="16276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Integer.mod</a:t>
            </a:r>
          </a:p>
        </p:txBody>
      </p:sp>
      <p:sp>
        <p:nvSpPr>
          <p:cNvPr id="57" name="a1wd130_td56"/>
          <p:cNvSpPr/>
          <p:nvPr/>
        </p:nvSpPr>
        <p:spPr>
          <a:xfrm>
            <a:off x="6949440" y="1673352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1wd130_tdt57"/>
          <p:cNvSpPr txBox="1"/>
          <p:nvPr/>
        </p:nvSpPr>
        <p:spPr>
          <a:xfrm>
            <a:off x="7022592" y="1673352"/>
            <a:ext cx="16276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</a:t>
            </a:r>
          </a:p>
        </p:txBody>
      </p:sp>
      <p:sp>
        <p:nvSpPr>
          <p:cNvPr id="59" name="a1wd260_td58"/>
          <p:cNvSpPr/>
          <p:nvPr/>
        </p:nvSpPr>
        <p:spPr>
          <a:xfrm>
            <a:off x="6949440" y="2002536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1wd260_tdt59"/>
          <p:cNvSpPr txBox="1"/>
          <p:nvPr/>
        </p:nvSpPr>
        <p:spPr>
          <a:xfrm>
            <a:off x="7022592" y="2002536"/>
            <a:ext cx="16276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</a:t>
            </a:r>
          </a:p>
        </p:txBody>
      </p:sp>
      <p:sp>
        <p:nvSpPr>
          <p:cNvPr id="61" name="a1wd390_td60"/>
          <p:cNvSpPr/>
          <p:nvPr/>
        </p:nvSpPr>
        <p:spPr>
          <a:xfrm>
            <a:off x="6949440" y="2331720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1wd390_tdt61"/>
          <p:cNvSpPr txBox="1"/>
          <p:nvPr/>
        </p:nvSpPr>
        <p:spPr>
          <a:xfrm>
            <a:off x="7022592" y="2331720"/>
            <a:ext cx="16276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-1</a:t>
            </a:r>
          </a:p>
        </p:txBody>
      </p:sp>
      <p:sp>
        <p:nvSpPr>
          <p:cNvPr id="63" name="a1wd520_td62"/>
          <p:cNvSpPr/>
          <p:nvPr/>
        </p:nvSpPr>
        <p:spPr>
          <a:xfrm>
            <a:off x="6949440" y="2660904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1wd520_tdt63"/>
          <p:cNvSpPr txBox="1"/>
          <p:nvPr/>
        </p:nvSpPr>
        <p:spPr>
          <a:xfrm>
            <a:off x="7022592" y="2660904"/>
            <a:ext cx="16276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-1</a:t>
            </a:r>
          </a:p>
        </p:txBody>
      </p:sp>
      <p:sp>
        <p:nvSpPr>
          <p:cNvPr id="65" name="a2u_dot64"/>
          <p:cNvSpPr/>
          <p:nvPr/>
        </p:nvSpPr>
        <p:spPr>
          <a:xfrm>
            <a:off x="457200" y="321868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2u_b65"/>
          <p:cNvSpPr txBox="1"/>
          <p:nvPr/>
        </p:nvSpPr>
        <p:spPr>
          <a:xfrm>
            <a:off x="676656" y="3118103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rem takes the sign of the LEFT number  </a:t>
            </a:r>
            <a:r>
              <a:rPr sz="1150" b="0">
                <a:solidFill>
                  <a:srgbClr val="334155"/>
                </a:solidFill>
                <a:latin typeface="Calibri"/>
              </a:rPr>
              <a:t>so rem(-7, 2) is -1, which is not what “remainder” means in maths</a:t>
            </a:r>
          </a:p>
        </p:txBody>
      </p:sp>
      <p:sp>
        <p:nvSpPr>
          <p:cNvPr id="67" name="a2ud180_dot66"/>
          <p:cNvSpPr/>
          <p:nvPr/>
        </p:nvSpPr>
        <p:spPr>
          <a:xfrm>
            <a:off x="457200" y="367588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2ud180_b67"/>
          <p:cNvSpPr txBox="1"/>
          <p:nvPr/>
        </p:nvSpPr>
        <p:spPr>
          <a:xfrm>
            <a:off x="676656" y="3575303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Integer.mod takes the sign of the RIGHT  </a:t>
            </a:r>
            <a:r>
              <a:rPr sz="1150" b="0">
                <a:solidFill>
                  <a:srgbClr val="334155"/>
                </a:solidFill>
                <a:latin typeface="Calibri"/>
              </a:rPr>
              <a:t>mod(-7, 2) is 1 — use this one for clock arithmetic and hashing</a:t>
            </a:r>
          </a:p>
        </p:txBody>
      </p:sp>
      <p:sp>
        <p:nvSpPr>
          <p:cNvPr id="69" name="ft6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70" name="ft6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ARITHMETIC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** — and its two surprises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Measured on this machine, because both answers are easy to remember wrongly.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16052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2 ** 3       #=&gt; 8      integer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2.0 ** 3     #=&gt; 8.0    float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2 ** -1      #=&gt; 0.5    float</a:t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2 ** 0.5     #=&gt; 1.4142135623730951</a:t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425_code11"/>
          <p:cNvSpPr txBox="1"/>
          <p:nvPr/>
        </p:nvSpPr>
        <p:spPr>
          <a:xfrm>
            <a:off x="621792" y="289407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Integer.pow(2, 10)  #=&gt; 1024</a:t>
            </a:r>
          </a:p>
        </p:txBody>
      </p:sp>
      <p:sp>
        <p:nvSpPr>
          <p:cNvPr id="13" name="a2f_codebg12"/>
          <p:cNvSpPr/>
          <p:nvPr/>
        </p:nvSpPr>
        <p:spPr>
          <a:xfrm>
            <a:off x="4754880" y="1380744"/>
            <a:ext cx="393192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f_codeh13"/>
          <p:cNvSpPr txBox="1"/>
          <p:nvPr/>
        </p:nvSpPr>
        <p:spPr>
          <a:xfrm>
            <a:off x="4919472" y="1435608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not what maths would give you</a:t>
            </a:r>
          </a:p>
        </p:txBody>
      </p:sp>
      <p:sp>
        <p:nvSpPr>
          <p:cNvPr id="15" name="a2w_code14"/>
          <p:cNvSpPr txBox="1"/>
          <p:nvPr/>
        </p:nvSpPr>
        <p:spPr>
          <a:xfrm>
            <a:off x="4919472" y="181965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surprise 1: it is LEFT associative</a:t>
            </a:r>
          </a:p>
        </p:txBody>
      </p:sp>
      <p:sp>
        <p:nvSpPr>
          <p:cNvPr id="16" name="a2wd85_code15"/>
          <p:cNvSpPr txBox="1"/>
          <p:nvPr/>
        </p:nvSpPr>
        <p:spPr>
          <a:xfrm>
            <a:off x="4919472" y="203454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2 ** 3 ** 2     #=&gt; 64</a:t>
            </a:r>
          </a:p>
        </p:txBody>
      </p:sp>
      <p:sp>
        <p:nvSpPr>
          <p:cNvPr id="17" name="a2wd170_code16"/>
          <p:cNvSpPr txBox="1"/>
          <p:nvPr/>
        </p:nvSpPr>
        <p:spPr>
          <a:xfrm>
            <a:off x="4919472" y="2249424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(2 ** 3) ** 2   #=&gt; 64</a:t>
            </a:r>
          </a:p>
        </p:txBody>
      </p:sp>
      <p:sp>
        <p:nvSpPr>
          <p:cNvPr id="18" name="a2wd255_code17"/>
          <p:cNvSpPr txBox="1"/>
          <p:nvPr/>
        </p:nvSpPr>
        <p:spPr>
          <a:xfrm>
            <a:off x="4919472" y="2464308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2 ** (3 ** 2)   #=&gt; 512</a:t>
            </a:r>
          </a:p>
        </p:txBody>
      </p:sp>
      <p:sp>
        <p:nvSpPr>
          <p:cNvPr id="19" name="a2wd340_code18"/>
          <p:cNvSpPr txBox="1"/>
          <p:nvPr/>
        </p:nvSpPr>
        <p:spPr>
          <a:xfrm>
            <a:off x="4919472" y="2679191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0" name="a2wd425_code19"/>
          <p:cNvSpPr txBox="1"/>
          <p:nvPr/>
        </p:nvSpPr>
        <p:spPr>
          <a:xfrm>
            <a:off x="4919472" y="289407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surprise 2: unary - binds tighter</a:t>
            </a:r>
          </a:p>
        </p:txBody>
      </p:sp>
      <p:sp>
        <p:nvSpPr>
          <p:cNvPr id="21" name="a2wd510_code20"/>
          <p:cNvSpPr txBox="1"/>
          <p:nvPr/>
        </p:nvSpPr>
        <p:spPr>
          <a:xfrm>
            <a:off x="4919472" y="310896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x = 2; -x ** 2  #=&gt; 4</a:t>
            </a:r>
          </a:p>
        </p:txBody>
      </p:sp>
      <p:sp>
        <p:nvSpPr>
          <p:cNvPr id="22" name="a2wd595_code21"/>
          <p:cNvSpPr txBox="1"/>
          <p:nvPr/>
        </p:nvSpPr>
        <p:spPr>
          <a:xfrm>
            <a:off x="4919472" y="3323844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x = 2; -(x ** 2) #=&gt; -4</a:t>
            </a:r>
          </a:p>
        </p:txBody>
      </p:sp>
      <p:sp>
        <p:nvSpPr>
          <p:cNvPr id="23" name="a3f_nb22"/>
          <p:cNvSpPr/>
          <p:nvPr/>
        </p:nvSpPr>
        <p:spPr>
          <a:xfrm>
            <a:off x="457200" y="384962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f_nacc23"/>
          <p:cNvSpPr/>
          <p:nvPr/>
        </p:nvSpPr>
        <p:spPr>
          <a:xfrm>
            <a:off x="457200" y="3849624"/>
            <a:ext cx="50292" cy="603504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f_nt24"/>
          <p:cNvSpPr txBox="1"/>
          <p:nvPr/>
        </p:nvSpPr>
        <p:spPr>
          <a:xfrm>
            <a:off x="658368" y="3849624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90533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In mathematics 2^3^2 means 2^(3^2) = 512. On this machine Elixir answers 64. If you mean a tower of powers, bracket it — and bracket -(x ** 2) too. Measure, do not remember.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Comparison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Two kinds of equality, and a
global order over every value.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== vs ===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term order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sorting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COMPARISON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== compares values. === also compares types.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only difference between them is integers against floats.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069080" cy="1677923"/>
          </a:xfrm>
          <a:prstGeom prst="roundRect">
            <a:avLst>
              <a:gd name="adj" fmla="val 43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1 == 1.0     #=&gt; true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1 === 1.0    #=&gt; false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1 != 1.0     #=&gt; false</a:t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1 !== 1.0    #=&gt; true</a:t>
            </a:r>
          </a:p>
        </p:txBody>
      </p:sp>
      <p:sp>
        <p:nvSpPr>
          <p:cNvPr id="12" name="a2f_codebg11"/>
          <p:cNvSpPr/>
          <p:nvPr/>
        </p:nvSpPr>
        <p:spPr>
          <a:xfrm>
            <a:off x="4617720" y="1380744"/>
            <a:ext cx="4069080" cy="1677923"/>
          </a:xfrm>
          <a:prstGeom prst="roundRect">
            <a:avLst>
              <a:gd name="adj" fmla="val 43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f_codeh12"/>
          <p:cNvSpPr txBox="1"/>
          <p:nvPr/>
        </p:nvSpPr>
        <p:spPr>
          <a:xfrm>
            <a:off x="4782312" y="143560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14" name="a2w_code13"/>
          <p:cNvSpPr txBox="1"/>
          <p:nvPr/>
        </p:nvSpPr>
        <p:spPr>
          <a:xfrm>
            <a:off x="4782312" y="18196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# everything else is structural</a:t>
            </a:r>
          </a:p>
        </p:txBody>
      </p:sp>
      <p:sp>
        <p:nvSpPr>
          <p:cNvPr id="15" name="a2wd85_code14"/>
          <p:cNvSpPr txBox="1"/>
          <p:nvPr/>
        </p:nvSpPr>
        <p:spPr>
          <a:xfrm>
            <a:off x="4782312" y="2034540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"a" == "a"        #=&gt; true</a:t>
            </a:r>
          </a:p>
        </p:txBody>
      </p:sp>
      <p:sp>
        <p:nvSpPr>
          <p:cNvPr id="16" name="a2wd170_code15"/>
          <p:cNvSpPr txBox="1"/>
          <p:nvPr/>
        </p:nvSpPr>
        <p:spPr>
          <a:xfrm>
            <a:off x="4782312" y="22494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[1, 2] == [1, 2]  #=&gt; true</a:t>
            </a:r>
          </a:p>
        </p:txBody>
      </p:sp>
      <p:sp>
        <p:nvSpPr>
          <p:cNvPr id="17" name="a2wd255_code16"/>
          <p:cNvSpPr txBox="1"/>
          <p:nvPr/>
        </p:nvSpPr>
        <p:spPr>
          <a:xfrm>
            <a:off x="4782312" y="24643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%{a: 1} == %{a: 1} #=&gt; true</a:t>
            </a:r>
          </a:p>
        </p:txBody>
      </p:sp>
      <p:sp>
        <p:nvSpPr>
          <p:cNvPr id="18" name="a2wd340_code17"/>
          <p:cNvSpPr txBox="1"/>
          <p:nvPr/>
        </p:nvSpPr>
        <p:spPr>
          <a:xfrm>
            <a:off x="4782312" y="2679191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# by value, never by reference</a:t>
            </a:r>
          </a:p>
        </p:txBody>
      </p:sp>
      <p:sp>
        <p:nvSpPr>
          <p:cNvPr id="19" name="a3u_dot18"/>
          <p:cNvSpPr/>
          <p:nvPr/>
        </p:nvSpPr>
        <p:spPr>
          <a:xfrm>
            <a:off x="457200" y="328726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3u_b19"/>
          <p:cNvSpPr txBox="1"/>
          <p:nvPr/>
        </p:nvSpPr>
        <p:spPr>
          <a:xfrm>
            <a:off x="676656" y="3186684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Use == almost always  </a:t>
            </a:r>
            <a:r>
              <a:rPr sz="1150" b="0">
                <a:solidFill>
                  <a:srgbClr val="334155"/>
                </a:solidFill>
                <a:latin typeface="Calibri"/>
              </a:rPr>
              <a:t>=== matters only when 1 and 1.0 must be told apart</a:t>
            </a:r>
          </a:p>
        </p:txBody>
      </p:sp>
      <p:sp>
        <p:nvSpPr>
          <p:cNvPr id="21" name="a3ud180_dot20"/>
          <p:cNvSpPr/>
          <p:nvPr/>
        </p:nvSpPr>
        <p:spPr>
          <a:xfrm>
            <a:off x="457200" y="374446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d180_b21"/>
          <p:cNvSpPr txBox="1"/>
          <p:nvPr/>
        </p:nvSpPr>
        <p:spPr>
          <a:xfrm>
            <a:off x="676656" y="3643884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There is no reference equality  </a:t>
            </a:r>
            <a:r>
              <a:rPr sz="1150" b="0">
                <a:solidFill>
                  <a:srgbClr val="334155"/>
                </a:solidFill>
                <a:latin typeface="Calibri"/>
              </a:rPr>
              <a:t>two separately built maps with the same contents are equal, full stop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COMPARISON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Any two values can be compared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&lt; and &gt; never raise. That is a feature, and it is also a trap.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29768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9684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1 &lt; :atom        #=&gt; true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:atom &lt; "str"    #=&gt; true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[1] &gt; {1}        #=&gt; true</a:t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Enum.sort([:b, 2, "a", [1], {1}, %{}])</a:t>
            </a:r>
          </a:p>
        </p:txBody>
      </p:sp>
      <p:sp>
        <p:nvSpPr>
          <p:cNvPr id="12" name="a1wd425_code11"/>
          <p:cNvSpPr txBox="1"/>
          <p:nvPr/>
        </p:nvSpPr>
        <p:spPr>
          <a:xfrm>
            <a:off x="621792" y="2894076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[2, :b, {1}, %{}, [1], "a"]</a:t>
            </a:r>
          </a:p>
        </p:txBody>
      </p:sp>
      <p:sp>
        <p:nvSpPr>
          <p:cNvPr id="13" name="a2f_ord12"/>
          <p:cNvSpPr txBox="1"/>
          <p:nvPr/>
        </p:nvSpPr>
        <p:spPr>
          <a:xfrm>
            <a:off x="4892040" y="1417319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4B275F"/>
                </a:solidFill>
                <a:latin typeface="Calibri"/>
              </a:rPr>
              <a:t>THE GLOBAL ORDER</a:t>
            </a:r>
          </a:p>
        </p:txBody>
      </p:sp>
      <p:sp>
        <p:nvSpPr>
          <p:cNvPr id="14" name="a2u_pill13"/>
          <p:cNvSpPr/>
          <p:nvPr/>
        </p:nvSpPr>
        <p:spPr>
          <a:xfrm>
            <a:off x="4892040" y="1709928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4B275F"/>
                </a:solidFill>
                <a:latin typeface="Courier New"/>
              </a:rPr>
              <a:t>number</a:t>
            </a:r>
          </a:p>
        </p:txBody>
      </p:sp>
      <p:sp>
        <p:nvSpPr>
          <p:cNvPr id="15" name="a2ud80_pill14"/>
          <p:cNvSpPr/>
          <p:nvPr/>
        </p:nvSpPr>
        <p:spPr>
          <a:xfrm>
            <a:off x="6135624" y="1709928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4B275F"/>
                </a:solidFill>
                <a:latin typeface="Courier New"/>
              </a:rPr>
              <a:t>atom</a:t>
            </a:r>
          </a:p>
        </p:txBody>
      </p:sp>
      <p:sp>
        <p:nvSpPr>
          <p:cNvPr id="16" name="a2ud160_pill15"/>
          <p:cNvSpPr/>
          <p:nvPr/>
        </p:nvSpPr>
        <p:spPr>
          <a:xfrm>
            <a:off x="7379208" y="1709928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4B275F"/>
                </a:solidFill>
                <a:latin typeface="Courier New"/>
              </a:rPr>
              <a:t>reference</a:t>
            </a:r>
          </a:p>
        </p:txBody>
      </p:sp>
      <p:sp>
        <p:nvSpPr>
          <p:cNvPr id="17" name="a2ud240_pill16"/>
          <p:cNvSpPr/>
          <p:nvPr/>
        </p:nvSpPr>
        <p:spPr>
          <a:xfrm>
            <a:off x="4892040" y="205740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4B275F"/>
                </a:solidFill>
                <a:latin typeface="Courier New"/>
              </a:rPr>
              <a:t>function</a:t>
            </a:r>
          </a:p>
        </p:txBody>
      </p:sp>
      <p:sp>
        <p:nvSpPr>
          <p:cNvPr id="18" name="a2ud320_pill17"/>
          <p:cNvSpPr/>
          <p:nvPr/>
        </p:nvSpPr>
        <p:spPr>
          <a:xfrm>
            <a:off x="6135624" y="205740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4B275F"/>
                </a:solidFill>
                <a:latin typeface="Courier New"/>
              </a:rPr>
              <a:t>port</a:t>
            </a:r>
          </a:p>
        </p:txBody>
      </p:sp>
      <p:sp>
        <p:nvSpPr>
          <p:cNvPr id="19" name="a2ud400_pill18"/>
          <p:cNvSpPr/>
          <p:nvPr/>
        </p:nvSpPr>
        <p:spPr>
          <a:xfrm>
            <a:off x="7379208" y="205740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4B275F"/>
                </a:solidFill>
                <a:latin typeface="Courier New"/>
              </a:rPr>
              <a:t>pid</a:t>
            </a:r>
          </a:p>
        </p:txBody>
      </p:sp>
      <p:sp>
        <p:nvSpPr>
          <p:cNvPr id="20" name="a2ud480_pill19"/>
          <p:cNvSpPr/>
          <p:nvPr/>
        </p:nvSpPr>
        <p:spPr>
          <a:xfrm>
            <a:off x="4892040" y="2404872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4B275F"/>
                </a:solidFill>
                <a:latin typeface="Courier New"/>
              </a:rPr>
              <a:t>tuple</a:t>
            </a:r>
          </a:p>
        </p:txBody>
      </p:sp>
      <p:sp>
        <p:nvSpPr>
          <p:cNvPr id="21" name="a2ud560_pill20"/>
          <p:cNvSpPr/>
          <p:nvPr/>
        </p:nvSpPr>
        <p:spPr>
          <a:xfrm>
            <a:off x="6135624" y="2404872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4B275F"/>
                </a:solidFill>
                <a:latin typeface="Courier New"/>
              </a:rPr>
              <a:t>map</a:t>
            </a:r>
          </a:p>
        </p:txBody>
      </p:sp>
      <p:sp>
        <p:nvSpPr>
          <p:cNvPr id="22" name="a2ud640_pill21"/>
          <p:cNvSpPr/>
          <p:nvPr/>
        </p:nvSpPr>
        <p:spPr>
          <a:xfrm>
            <a:off x="7379208" y="2404872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4B275F"/>
                </a:solidFill>
                <a:latin typeface="Courier New"/>
              </a:rPr>
              <a:t>list</a:t>
            </a:r>
          </a:p>
        </p:txBody>
      </p:sp>
      <p:sp>
        <p:nvSpPr>
          <p:cNvPr id="23" name="a2ud720_pill22"/>
          <p:cNvSpPr/>
          <p:nvPr/>
        </p:nvSpPr>
        <p:spPr>
          <a:xfrm>
            <a:off x="4892040" y="2752344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4B275F"/>
                </a:solidFill>
                <a:latin typeface="Courier New"/>
              </a:rPr>
              <a:t>bitstring</a:t>
            </a:r>
          </a:p>
        </p:txBody>
      </p:sp>
      <p:sp>
        <p:nvSpPr>
          <p:cNvPr id="24" name="a3f_nb23"/>
          <p:cNvSpPr/>
          <p:nvPr/>
        </p:nvSpPr>
        <p:spPr>
          <a:xfrm>
            <a:off x="457200" y="3438144"/>
            <a:ext cx="8229600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f_nacc24"/>
          <p:cNvSpPr/>
          <p:nvPr/>
        </p:nvSpPr>
        <p:spPr>
          <a:xfrm>
            <a:off x="457200" y="3438144"/>
            <a:ext cx="50292" cy="640080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f_nt25"/>
          <p:cNvSpPr txBox="1"/>
          <p:nvPr/>
        </p:nvSpPr>
        <p:spPr>
          <a:xfrm>
            <a:off x="658368" y="3438144"/>
            <a:ext cx="782726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90533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Every number sorts before every atom, every atom before every string, and so on. That is why a guard written as when x &gt; 10 also accepts "hello", [1, 2] and %{} — put the type check first.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Booleans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Two families of boolean operator,
and only two falsy values.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and or not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&amp;&amp; || !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truthiness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BOOLEANS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Two families, different rules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and/or/not demand a boolean. &amp;&amp;/||/! accept anything.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16052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the strict family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true and false   #=&gt; false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not true         #=&gt; false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1 and true</a:t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** (BadBooleanError) expected a</a:t>
            </a:r>
          </a:p>
        </p:txBody>
      </p:sp>
      <p:sp>
        <p:nvSpPr>
          <p:cNvPr id="12" name="a1wd425_code11"/>
          <p:cNvSpPr txBox="1"/>
          <p:nvPr/>
        </p:nvSpPr>
        <p:spPr>
          <a:xfrm>
            <a:off x="621792" y="289407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   boolean on left-side of "and",</a:t>
            </a:r>
          </a:p>
        </p:txBody>
      </p:sp>
      <p:sp>
        <p:nvSpPr>
          <p:cNvPr id="13" name="a1wd510_code12"/>
          <p:cNvSpPr txBox="1"/>
          <p:nvPr/>
        </p:nvSpPr>
        <p:spPr>
          <a:xfrm>
            <a:off x="621792" y="310896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   got: 1</a:t>
            </a:r>
          </a:p>
        </p:txBody>
      </p:sp>
      <p:sp>
        <p:nvSpPr>
          <p:cNvPr id="14" name="a2f_codebg13"/>
          <p:cNvSpPr/>
          <p:nvPr/>
        </p:nvSpPr>
        <p:spPr>
          <a:xfrm>
            <a:off x="4754880" y="1380744"/>
            <a:ext cx="393192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f_codeh14"/>
          <p:cNvSpPr txBox="1"/>
          <p:nvPr/>
        </p:nvSpPr>
        <p:spPr>
          <a:xfrm>
            <a:off x="4919472" y="1435608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the loose family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4919472" y="181965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1 &amp;&amp; true        #=&gt; true</a:t>
            </a:r>
          </a:p>
        </p:txBody>
      </p:sp>
      <p:sp>
        <p:nvSpPr>
          <p:cNvPr id="17" name="a2wd85_code16"/>
          <p:cNvSpPr txBox="1"/>
          <p:nvPr/>
        </p:nvSpPr>
        <p:spPr>
          <a:xfrm>
            <a:off x="4919472" y="203454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nil || :dflt     #=&gt; :dflt</a:t>
            </a:r>
          </a:p>
        </p:txBody>
      </p:sp>
      <p:sp>
        <p:nvSpPr>
          <p:cNvPr id="18" name="a2wd170_code17"/>
          <p:cNvSpPr txBox="1"/>
          <p:nvPr/>
        </p:nvSpPr>
        <p:spPr>
          <a:xfrm>
            <a:off x="4919472" y="2249424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false || 0       #=&gt; 0</a:t>
            </a:r>
          </a:p>
        </p:txBody>
      </p:sp>
      <p:sp>
        <p:nvSpPr>
          <p:cNvPr id="19" name="a2wd255_code18"/>
          <p:cNvSpPr txBox="1"/>
          <p:nvPr/>
        </p:nvSpPr>
        <p:spPr>
          <a:xfrm>
            <a:off x="4919472" y="2464308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0" name="a2wd340_code19"/>
          <p:cNvSpPr txBox="1"/>
          <p:nvPr/>
        </p:nvSpPr>
        <p:spPr>
          <a:xfrm>
            <a:off x="4919472" y="2679191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:a &amp;&amp; :b         #=&gt; :b</a:t>
            </a:r>
          </a:p>
        </p:txBody>
      </p:sp>
      <p:sp>
        <p:nvSpPr>
          <p:cNvPr id="21" name="a2wd425_code20"/>
          <p:cNvSpPr txBox="1"/>
          <p:nvPr/>
        </p:nvSpPr>
        <p:spPr>
          <a:xfrm>
            <a:off x="4919472" y="289407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it returns an OPERAND,</a:t>
            </a:r>
          </a:p>
        </p:txBody>
      </p:sp>
      <p:sp>
        <p:nvSpPr>
          <p:cNvPr id="22" name="a2wd510_code21"/>
          <p:cNvSpPr txBox="1"/>
          <p:nvPr/>
        </p:nvSpPr>
        <p:spPr>
          <a:xfrm>
            <a:off x="4919472" y="310896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not a boolean</a:t>
            </a:r>
          </a:p>
        </p:txBody>
      </p:sp>
      <p:sp>
        <p:nvSpPr>
          <p:cNvPr id="23" name="a3u_dot22"/>
          <p:cNvSpPr/>
          <p:nvPr/>
        </p:nvSpPr>
        <p:spPr>
          <a:xfrm>
            <a:off x="457200" y="37170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b23"/>
          <p:cNvSpPr txBox="1"/>
          <p:nvPr/>
        </p:nvSpPr>
        <p:spPr>
          <a:xfrm>
            <a:off x="676656" y="3616451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Prefer and/or/not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they are allowed in guards, and they make the compiler check you really have a boolean</a:t>
            </a:r>
          </a:p>
        </p:txBody>
      </p:sp>
      <p:sp>
        <p:nvSpPr>
          <p:cNvPr id="25" name="a3ud180_dot24"/>
          <p:cNvSpPr/>
          <p:nvPr/>
        </p:nvSpPr>
        <p:spPr>
          <a:xfrm>
            <a:off x="457200" y="41742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180_b25"/>
          <p:cNvSpPr txBox="1"/>
          <p:nvPr/>
        </p:nvSpPr>
        <p:spPr>
          <a:xfrm>
            <a:off x="676656" y="4073652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Reach for &amp;&amp;/|| when nil is legitimate  </a:t>
            </a:r>
            <a:r>
              <a:rPr sz="1150" b="0">
                <a:solidFill>
                  <a:srgbClr val="334155"/>
                </a:solidFill>
                <a:latin typeface="Calibri"/>
              </a:rPr>
              <a:t>config[:timeout] || 5000 is the idiom they exist for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BOOLEANS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Only false and nil are falsy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15568"/>
            <a:ext cx="1417320" cy="29718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15568"/>
            <a:ext cx="1307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Value</a:t>
            </a:r>
          </a:p>
        </p:txBody>
      </p:sp>
      <p:sp>
        <p:nvSpPr>
          <p:cNvPr id="6" name="a1wd95_td5"/>
          <p:cNvSpPr/>
          <p:nvPr/>
        </p:nvSpPr>
        <p:spPr>
          <a:xfrm>
            <a:off x="457200" y="1412748"/>
            <a:ext cx="1417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95_tdt6"/>
          <p:cNvSpPr txBox="1"/>
          <p:nvPr/>
        </p:nvSpPr>
        <p:spPr>
          <a:xfrm>
            <a:off x="530352" y="1412748"/>
            <a:ext cx="1307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true</a:t>
            </a:r>
          </a:p>
        </p:txBody>
      </p:sp>
      <p:sp>
        <p:nvSpPr>
          <p:cNvPr id="8" name="a1wd190_td7"/>
          <p:cNvSpPr/>
          <p:nvPr/>
        </p:nvSpPr>
        <p:spPr>
          <a:xfrm>
            <a:off x="457200" y="1709928"/>
            <a:ext cx="1417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90_tdt8"/>
          <p:cNvSpPr txBox="1"/>
          <p:nvPr/>
        </p:nvSpPr>
        <p:spPr>
          <a:xfrm>
            <a:off x="530352" y="1709928"/>
            <a:ext cx="1307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false</a:t>
            </a:r>
          </a:p>
        </p:txBody>
      </p:sp>
      <p:sp>
        <p:nvSpPr>
          <p:cNvPr id="10" name="a1wd285_td9"/>
          <p:cNvSpPr/>
          <p:nvPr/>
        </p:nvSpPr>
        <p:spPr>
          <a:xfrm>
            <a:off x="457200" y="2007108"/>
            <a:ext cx="1417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85_tdt10"/>
          <p:cNvSpPr txBox="1"/>
          <p:nvPr/>
        </p:nvSpPr>
        <p:spPr>
          <a:xfrm>
            <a:off x="530352" y="2007108"/>
            <a:ext cx="1307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nil</a:t>
            </a:r>
          </a:p>
        </p:txBody>
      </p:sp>
      <p:sp>
        <p:nvSpPr>
          <p:cNvPr id="12" name="a1wd380_td11"/>
          <p:cNvSpPr/>
          <p:nvPr/>
        </p:nvSpPr>
        <p:spPr>
          <a:xfrm>
            <a:off x="457200" y="2304288"/>
            <a:ext cx="1417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80_tdt12"/>
          <p:cNvSpPr txBox="1"/>
          <p:nvPr/>
        </p:nvSpPr>
        <p:spPr>
          <a:xfrm>
            <a:off x="530352" y="2304288"/>
            <a:ext cx="1307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0</a:t>
            </a:r>
          </a:p>
        </p:txBody>
      </p:sp>
      <p:sp>
        <p:nvSpPr>
          <p:cNvPr id="14" name="a1wd475_td13"/>
          <p:cNvSpPr/>
          <p:nvPr/>
        </p:nvSpPr>
        <p:spPr>
          <a:xfrm>
            <a:off x="457200" y="2601468"/>
            <a:ext cx="1417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75_tdt14"/>
          <p:cNvSpPr txBox="1"/>
          <p:nvPr/>
        </p:nvSpPr>
        <p:spPr>
          <a:xfrm>
            <a:off x="530352" y="2601468"/>
            <a:ext cx="1307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""</a:t>
            </a:r>
          </a:p>
        </p:txBody>
      </p:sp>
      <p:sp>
        <p:nvSpPr>
          <p:cNvPr id="16" name="a1wd570_td15"/>
          <p:cNvSpPr/>
          <p:nvPr/>
        </p:nvSpPr>
        <p:spPr>
          <a:xfrm>
            <a:off x="457200" y="2898648"/>
            <a:ext cx="1417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570_tdt16"/>
          <p:cNvSpPr txBox="1"/>
          <p:nvPr/>
        </p:nvSpPr>
        <p:spPr>
          <a:xfrm>
            <a:off x="530352" y="2898648"/>
            <a:ext cx="1307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[]</a:t>
            </a:r>
          </a:p>
        </p:txBody>
      </p:sp>
      <p:sp>
        <p:nvSpPr>
          <p:cNvPr id="18" name="a1f_th17"/>
          <p:cNvSpPr/>
          <p:nvPr/>
        </p:nvSpPr>
        <p:spPr>
          <a:xfrm>
            <a:off x="1874519" y="1115568"/>
            <a:ext cx="1280160" cy="29718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f_tht18"/>
          <p:cNvSpPr txBox="1"/>
          <p:nvPr/>
        </p:nvSpPr>
        <p:spPr>
          <a:xfrm>
            <a:off x="1947672" y="1115568"/>
            <a:ext cx="11704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 an if</a:t>
            </a:r>
          </a:p>
        </p:txBody>
      </p:sp>
      <p:sp>
        <p:nvSpPr>
          <p:cNvPr id="20" name="a1wd95_td19"/>
          <p:cNvSpPr/>
          <p:nvPr/>
        </p:nvSpPr>
        <p:spPr>
          <a:xfrm>
            <a:off x="1874519" y="1412748"/>
            <a:ext cx="1280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95_tdt20"/>
          <p:cNvSpPr txBox="1"/>
          <p:nvPr/>
        </p:nvSpPr>
        <p:spPr>
          <a:xfrm>
            <a:off x="1947672" y="1412748"/>
            <a:ext cx="11704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truthy</a:t>
            </a:r>
          </a:p>
        </p:txBody>
      </p:sp>
      <p:sp>
        <p:nvSpPr>
          <p:cNvPr id="22" name="a1wd190_td21"/>
          <p:cNvSpPr/>
          <p:nvPr/>
        </p:nvSpPr>
        <p:spPr>
          <a:xfrm>
            <a:off x="1874519" y="1709928"/>
            <a:ext cx="1280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190_tdt22"/>
          <p:cNvSpPr txBox="1"/>
          <p:nvPr/>
        </p:nvSpPr>
        <p:spPr>
          <a:xfrm>
            <a:off x="1947672" y="1709928"/>
            <a:ext cx="11704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falsy</a:t>
            </a:r>
          </a:p>
        </p:txBody>
      </p:sp>
      <p:sp>
        <p:nvSpPr>
          <p:cNvPr id="24" name="a1wd285_td23"/>
          <p:cNvSpPr/>
          <p:nvPr/>
        </p:nvSpPr>
        <p:spPr>
          <a:xfrm>
            <a:off x="1874519" y="2007108"/>
            <a:ext cx="1280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285_tdt24"/>
          <p:cNvSpPr txBox="1"/>
          <p:nvPr/>
        </p:nvSpPr>
        <p:spPr>
          <a:xfrm>
            <a:off x="1947672" y="2007108"/>
            <a:ext cx="11704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falsy</a:t>
            </a:r>
          </a:p>
        </p:txBody>
      </p:sp>
      <p:sp>
        <p:nvSpPr>
          <p:cNvPr id="26" name="a1wd380_td25"/>
          <p:cNvSpPr/>
          <p:nvPr/>
        </p:nvSpPr>
        <p:spPr>
          <a:xfrm>
            <a:off x="1874519" y="2304288"/>
            <a:ext cx="1280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380_tdt26"/>
          <p:cNvSpPr txBox="1"/>
          <p:nvPr/>
        </p:nvSpPr>
        <p:spPr>
          <a:xfrm>
            <a:off x="1947672" y="2304288"/>
            <a:ext cx="11704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truthy</a:t>
            </a:r>
          </a:p>
        </p:txBody>
      </p:sp>
      <p:sp>
        <p:nvSpPr>
          <p:cNvPr id="28" name="a1wd475_td27"/>
          <p:cNvSpPr/>
          <p:nvPr/>
        </p:nvSpPr>
        <p:spPr>
          <a:xfrm>
            <a:off x="1874519" y="2601468"/>
            <a:ext cx="1280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475_tdt28"/>
          <p:cNvSpPr txBox="1"/>
          <p:nvPr/>
        </p:nvSpPr>
        <p:spPr>
          <a:xfrm>
            <a:off x="1947672" y="2601468"/>
            <a:ext cx="11704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truthy</a:t>
            </a:r>
          </a:p>
        </p:txBody>
      </p:sp>
      <p:sp>
        <p:nvSpPr>
          <p:cNvPr id="30" name="a1wd570_td29"/>
          <p:cNvSpPr/>
          <p:nvPr/>
        </p:nvSpPr>
        <p:spPr>
          <a:xfrm>
            <a:off x="1874519" y="2898648"/>
            <a:ext cx="1280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570_tdt30"/>
          <p:cNvSpPr txBox="1"/>
          <p:nvPr/>
        </p:nvSpPr>
        <p:spPr>
          <a:xfrm>
            <a:off x="1947672" y="2898648"/>
            <a:ext cx="117043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truthy</a:t>
            </a:r>
          </a:p>
        </p:txBody>
      </p:sp>
      <p:sp>
        <p:nvSpPr>
          <p:cNvPr id="32" name="a1f_th31"/>
          <p:cNvSpPr/>
          <p:nvPr/>
        </p:nvSpPr>
        <p:spPr>
          <a:xfrm>
            <a:off x="3154679" y="1115568"/>
            <a:ext cx="274320" cy="2971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f_tht32"/>
          <p:cNvSpPr txBox="1"/>
          <p:nvPr/>
        </p:nvSpPr>
        <p:spPr>
          <a:xfrm>
            <a:off x="3227832" y="1115568"/>
            <a:ext cx="164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a1wd95_td33"/>
          <p:cNvSpPr/>
          <p:nvPr/>
        </p:nvSpPr>
        <p:spPr>
          <a:xfrm>
            <a:off x="3154679" y="1412748"/>
            <a:ext cx="274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95_tdt34"/>
          <p:cNvSpPr txBox="1"/>
          <p:nvPr/>
        </p:nvSpPr>
        <p:spPr>
          <a:xfrm>
            <a:off x="3227832" y="1412748"/>
            <a:ext cx="164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36" name="a1wd190_td35"/>
          <p:cNvSpPr/>
          <p:nvPr/>
        </p:nvSpPr>
        <p:spPr>
          <a:xfrm>
            <a:off x="3154679" y="1709928"/>
            <a:ext cx="274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190_tdt36"/>
          <p:cNvSpPr txBox="1"/>
          <p:nvPr/>
        </p:nvSpPr>
        <p:spPr>
          <a:xfrm>
            <a:off x="3227832" y="1709928"/>
            <a:ext cx="164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38" name="a1wd285_td37"/>
          <p:cNvSpPr/>
          <p:nvPr/>
        </p:nvSpPr>
        <p:spPr>
          <a:xfrm>
            <a:off x="3154679" y="2007108"/>
            <a:ext cx="274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285_tdt38"/>
          <p:cNvSpPr txBox="1"/>
          <p:nvPr/>
        </p:nvSpPr>
        <p:spPr>
          <a:xfrm>
            <a:off x="3227832" y="2007108"/>
            <a:ext cx="164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40" name="a1wd380_td39"/>
          <p:cNvSpPr/>
          <p:nvPr/>
        </p:nvSpPr>
        <p:spPr>
          <a:xfrm>
            <a:off x="3154679" y="2304288"/>
            <a:ext cx="274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380_tdt40"/>
          <p:cNvSpPr txBox="1"/>
          <p:nvPr/>
        </p:nvSpPr>
        <p:spPr>
          <a:xfrm>
            <a:off x="3227832" y="2304288"/>
            <a:ext cx="164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42" name="a1wd475_td41"/>
          <p:cNvSpPr/>
          <p:nvPr/>
        </p:nvSpPr>
        <p:spPr>
          <a:xfrm>
            <a:off x="3154679" y="2601468"/>
            <a:ext cx="274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475_tdt42"/>
          <p:cNvSpPr txBox="1"/>
          <p:nvPr/>
        </p:nvSpPr>
        <p:spPr>
          <a:xfrm>
            <a:off x="3227832" y="2601468"/>
            <a:ext cx="164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44" name="a1wd570_td43"/>
          <p:cNvSpPr/>
          <p:nvPr/>
        </p:nvSpPr>
        <p:spPr>
          <a:xfrm>
            <a:off x="3154679" y="2898648"/>
            <a:ext cx="2743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570_tdt44"/>
          <p:cNvSpPr txBox="1"/>
          <p:nvPr/>
        </p:nvSpPr>
        <p:spPr>
          <a:xfrm>
            <a:off x="3227832" y="2898648"/>
            <a:ext cx="16459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46" name="a1f_th45"/>
          <p:cNvSpPr/>
          <p:nvPr/>
        </p:nvSpPr>
        <p:spPr>
          <a:xfrm>
            <a:off x="3428999" y="1115568"/>
            <a:ext cx="2331720" cy="2971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f_tht46"/>
          <p:cNvSpPr txBox="1"/>
          <p:nvPr/>
        </p:nvSpPr>
        <p:spPr>
          <a:xfrm>
            <a:off x="3502151" y="1115568"/>
            <a:ext cx="222199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Expression</a:t>
            </a:r>
          </a:p>
        </p:txBody>
      </p:sp>
      <p:sp>
        <p:nvSpPr>
          <p:cNvPr id="48" name="a1wd95_td47"/>
          <p:cNvSpPr/>
          <p:nvPr/>
        </p:nvSpPr>
        <p:spPr>
          <a:xfrm>
            <a:off x="3428999" y="1412748"/>
            <a:ext cx="2331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95_tdt48"/>
          <p:cNvSpPr txBox="1"/>
          <p:nvPr/>
        </p:nvSpPr>
        <p:spPr>
          <a:xfrm>
            <a:off x="3502151" y="1412748"/>
            <a:ext cx="222199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!nil</a:t>
            </a:r>
          </a:p>
        </p:txBody>
      </p:sp>
      <p:sp>
        <p:nvSpPr>
          <p:cNvPr id="50" name="a1wd190_td49"/>
          <p:cNvSpPr/>
          <p:nvPr/>
        </p:nvSpPr>
        <p:spPr>
          <a:xfrm>
            <a:off x="3428999" y="1709928"/>
            <a:ext cx="2331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190_tdt50"/>
          <p:cNvSpPr txBox="1"/>
          <p:nvPr/>
        </p:nvSpPr>
        <p:spPr>
          <a:xfrm>
            <a:off x="3502151" y="1709928"/>
            <a:ext cx="222199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!0</a:t>
            </a:r>
          </a:p>
        </p:txBody>
      </p:sp>
      <p:sp>
        <p:nvSpPr>
          <p:cNvPr id="52" name="a1wd285_td51"/>
          <p:cNvSpPr/>
          <p:nvPr/>
        </p:nvSpPr>
        <p:spPr>
          <a:xfrm>
            <a:off x="3428999" y="2007108"/>
            <a:ext cx="2331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285_tdt52"/>
          <p:cNvSpPr txBox="1"/>
          <p:nvPr/>
        </p:nvSpPr>
        <p:spPr>
          <a:xfrm>
            <a:off x="3502151" y="2007108"/>
            <a:ext cx="222199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!""</a:t>
            </a:r>
          </a:p>
        </p:txBody>
      </p:sp>
      <p:sp>
        <p:nvSpPr>
          <p:cNvPr id="54" name="a1wd380_td53"/>
          <p:cNvSpPr/>
          <p:nvPr/>
        </p:nvSpPr>
        <p:spPr>
          <a:xfrm>
            <a:off x="3428999" y="2304288"/>
            <a:ext cx="2331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380_tdt54"/>
          <p:cNvSpPr txBox="1"/>
          <p:nvPr/>
        </p:nvSpPr>
        <p:spPr>
          <a:xfrm>
            <a:off x="3502151" y="2304288"/>
            <a:ext cx="222199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false and raise("boom")</a:t>
            </a:r>
          </a:p>
        </p:txBody>
      </p:sp>
      <p:sp>
        <p:nvSpPr>
          <p:cNvPr id="56" name="a1wd475_td55"/>
          <p:cNvSpPr/>
          <p:nvPr/>
        </p:nvSpPr>
        <p:spPr>
          <a:xfrm>
            <a:off x="3428999" y="2601468"/>
            <a:ext cx="2331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475_tdt56"/>
          <p:cNvSpPr txBox="1"/>
          <p:nvPr/>
        </p:nvSpPr>
        <p:spPr>
          <a:xfrm>
            <a:off x="3502151" y="2601468"/>
            <a:ext cx="222199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nil || :dflt</a:t>
            </a:r>
          </a:p>
        </p:txBody>
      </p:sp>
      <p:sp>
        <p:nvSpPr>
          <p:cNvPr id="58" name="a1wd570_td57"/>
          <p:cNvSpPr/>
          <p:nvPr/>
        </p:nvSpPr>
        <p:spPr>
          <a:xfrm>
            <a:off x="3428999" y="2898648"/>
            <a:ext cx="233172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570_tdt58"/>
          <p:cNvSpPr txBox="1"/>
          <p:nvPr/>
        </p:nvSpPr>
        <p:spPr>
          <a:xfrm>
            <a:off x="3502151" y="2898648"/>
            <a:ext cx="2221991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true or raise("boom")</a:t>
            </a:r>
          </a:p>
        </p:txBody>
      </p:sp>
      <p:sp>
        <p:nvSpPr>
          <p:cNvPr id="60" name="a1f_th59"/>
          <p:cNvSpPr/>
          <p:nvPr/>
        </p:nvSpPr>
        <p:spPr>
          <a:xfrm>
            <a:off x="5760719" y="1115568"/>
            <a:ext cx="2926080" cy="2971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f_tht60"/>
          <p:cNvSpPr txBox="1"/>
          <p:nvPr/>
        </p:nvSpPr>
        <p:spPr>
          <a:xfrm>
            <a:off x="5833871" y="1115568"/>
            <a:ext cx="281635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Result</a:t>
            </a:r>
          </a:p>
        </p:txBody>
      </p:sp>
      <p:sp>
        <p:nvSpPr>
          <p:cNvPr id="62" name="a1wd95_td61"/>
          <p:cNvSpPr/>
          <p:nvPr/>
        </p:nvSpPr>
        <p:spPr>
          <a:xfrm>
            <a:off x="5760719" y="1412748"/>
            <a:ext cx="29260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95_tdt62"/>
          <p:cNvSpPr txBox="1"/>
          <p:nvPr/>
        </p:nvSpPr>
        <p:spPr>
          <a:xfrm>
            <a:off x="5833871" y="1412748"/>
            <a:ext cx="281635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true</a:t>
            </a:r>
          </a:p>
        </p:txBody>
      </p:sp>
      <p:sp>
        <p:nvSpPr>
          <p:cNvPr id="64" name="a1wd190_td63"/>
          <p:cNvSpPr/>
          <p:nvPr/>
        </p:nvSpPr>
        <p:spPr>
          <a:xfrm>
            <a:off x="5760719" y="1709928"/>
            <a:ext cx="29260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190_tdt64"/>
          <p:cNvSpPr txBox="1"/>
          <p:nvPr/>
        </p:nvSpPr>
        <p:spPr>
          <a:xfrm>
            <a:off x="5833871" y="1709928"/>
            <a:ext cx="281635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false</a:t>
            </a:r>
          </a:p>
        </p:txBody>
      </p:sp>
      <p:sp>
        <p:nvSpPr>
          <p:cNvPr id="66" name="a1wd285_td65"/>
          <p:cNvSpPr/>
          <p:nvPr/>
        </p:nvSpPr>
        <p:spPr>
          <a:xfrm>
            <a:off x="5760719" y="2007108"/>
            <a:ext cx="29260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285_tdt66"/>
          <p:cNvSpPr txBox="1"/>
          <p:nvPr/>
        </p:nvSpPr>
        <p:spPr>
          <a:xfrm>
            <a:off x="5833871" y="2007108"/>
            <a:ext cx="281635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false</a:t>
            </a:r>
          </a:p>
        </p:txBody>
      </p:sp>
      <p:sp>
        <p:nvSpPr>
          <p:cNvPr id="68" name="a1wd380_td67"/>
          <p:cNvSpPr/>
          <p:nvPr/>
        </p:nvSpPr>
        <p:spPr>
          <a:xfrm>
            <a:off x="5760719" y="2304288"/>
            <a:ext cx="29260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380_tdt68"/>
          <p:cNvSpPr txBox="1"/>
          <p:nvPr/>
        </p:nvSpPr>
        <p:spPr>
          <a:xfrm>
            <a:off x="5833871" y="2304288"/>
            <a:ext cx="281635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false — never raises</a:t>
            </a:r>
          </a:p>
        </p:txBody>
      </p:sp>
      <p:sp>
        <p:nvSpPr>
          <p:cNvPr id="70" name="a1wd475_td69"/>
          <p:cNvSpPr/>
          <p:nvPr/>
        </p:nvSpPr>
        <p:spPr>
          <a:xfrm>
            <a:off x="5760719" y="2601468"/>
            <a:ext cx="29260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1wd475_tdt70"/>
          <p:cNvSpPr txBox="1"/>
          <p:nvPr/>
        </p:nvSpPr>
        <p:spPr>
          <a:xfrm>
            <a:off x="5833871" y="2601468"/>
            <a:ext cx="281635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:dflt</a:t>
            </a:r>
          </a:p>
        </p:txBody>
      </p:sp>
      <p:sp>
        <p:nvSpPr>
          <p:cNvPr id="72" name="a1wd570_td71"/>
          <p:cNvSpPr/>
          <p:nvPr/>
        </p:nvSpPr>
        <p:spPr>
          <a:xfrm>
            <a:off x="5760719" y="2898648"/>
            <a:ext cx="29260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1wd570_tdt72"/>
          <p:cNvSpPr txBox="1"/>
          <p:nvPr/>
        </p:nvSpPr>
        <p:spPr>
          <a:xfrm>
            <a:off x="5833871" y="2898648"/>
            <a:ext cx="2816352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true — never raises</a:t>
            </a:r>
          </a:p>
        </p:txBody>
      </p:sp>
      <p:sp>
        <p:nvSpPr>
          <p:cNvPr id="74" name="a2u_dot73"/>
          <p:cNvSpPr/>
          <p:nvPr/>
        </p:nvSpPr>
        <p:spPr>
          <a:xfrm>
            <a:off x="457200" y="342442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2u_b74"/>
          <p:cNvSpPr txBox="1"/>
          <p:nvPr/>
        </p:nvSpPr>
        <p:spPr>
          <a:xfrm>
            <a:off x="676656" y="3323844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Zero and the empty string are TRUTHY  </a:t>
            </a:r>
            <a:r>
              <a:rPr sz="1150" b="0">
                <a:solidFill>
                  <a:srgbClr val="334155"/>
                </a:solidFill>
                <a:latin typeface="Calibri"/>
              </a:rPr>
              <a:t>measured for all seven values — this catches out everyone arriving from Python or JavaScript</a:t>
            </a:r>
          </a:p>
        </p:txBody>
      </p:sp>
      <p:sp>
        <p:nvSpPr>
          <p:cNvPr id="76" name="a2ud180_dot75"/>
          <p:cNvSpPr/>
          <p:nvPr/>
        </p:nvSpPr>
        <p:spPr>
          <a:xfrm>
            <a:off x="457200" y="388162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2ud180_b76"/>
          <p:cNvSpPr txBox="1"/>
          <p:nvPr/>
        </p:nvSpPr>
        <p:spPr>
          <a:xfrm>
            <a:off x="676656" y="3781044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All four short-circuit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right side is not even evaluated if the left already decides the answer</a:t>
            </a:r>
          </a:p>
        </p:txBody>
      </p:sp>
      <p:sp>
        <p:nvSpPr>
          <p:cNvPr id="78" name="ft7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79" name="ft7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05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Operators over data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Joining, removing, membership,
ranges and access.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&lt;&gt;  ++  --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in  ..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.  []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DATA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&lt;&gt; joins binaries. ++ joins lists.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different operators, because a string and a list are different things.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16052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"Hello, " &lt;&gt; "world"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"Hello, world"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&lt;&lt;1, 2&gt;&gt; &lt;&gt; &lt;&lt;3&gt;&gt;   #=&gt; &lt;&lt;1, 2, 3&gt;&gt;</a:t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"a" &lt;&gt; 1</a:t>
            </a:r>
          </a:p>
        </p:txBody>
      </p:sp>
      <p:sp>
        <p:nvSpPr>
          <p:cNvPr id="12" name="a1wd425_code11"/>
          <p:cNvSpPr txBox="1"/>
          <p:nvPr/>
        </p:nvSpPr>
        <p:spPr>
          <a:xfrm>
            <a:off x="621792" y="289407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** (ArgumentError) expected binary</a:t>
            </a:r>
          </a:p>
        </p:txBody>
      </p:sp>
      <p:sp>
        <p:nvSpPr>
          <p:cNvPr id="13" name="a1wd510_code12"/>
          <p:cNvSpPr txBox="1"/>
          <p:nvPr/>
        </p:nvSpPr>
        <p:spPr>
          <a:xfrm>
            <a:off x="621792" y="310896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   argument in &lt;&gt; operator but got: 1</a:t>
            </a:r>
          </a:p>
        </p:txBody>
      </p:sp>
      <p:sp>
        <p:nvSpPr>
          <p:cNvPr id="14" name="a2f_codebg13"/>
          <p:cNvSpPr/>
          <p:nvPr/>
        </p:nvSpPr>
        <p:spPr>
          <a:xfrm>
            <a:off x="4754880" y="1380744"/>
            <a:ext cx="393192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f_codeh14"/>
          <p:cNvSpPr txBox="1"/>
          <p:nvPr/>
        </p:nvSpPr>
        <p:spPr>
          <a:xfrm>
            <a:off x="4919472" y="1435608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4919472" y="181965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[1, 2] ++ [3, 4]  #=&gt; [1, 2, 3, 4]</a:t>
            </a:r>
          </a:p>
        </p:txBody>
      </p:sp>
      <p:sp>
        <p:nvSpPr>
          <p:cNvPr id="17" name="a2wd85_code16"/>
          <p:cNvSpPr txBox="1"/>
          <p:nvPr/>
        </p:nvSpPr>
        <p:spPr>
          <a:xfrm>
            <a:off x="4919472" y="203454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8" name="a2wd170_code17"/>
          <p:cNvSpPr txBox="1"/>
          <p:nvPr/>
        </p:nvSpPr>
        <p:spPr>
          <a:xfrm>
            <a:off x="4919472" y="2249424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[1,2,3,2] -- [2]  #=&gt; [1, 3, 2]</a:t>
            </a:r>
          </a:p>
        </p:txBody>
      </p:sp>
      <p:sp>
        <p:nvSpPr>
          <p:cNvPr id="19" name="a2wd255_code18"/>
          <p:cNvSpPr txBox="1"/>
          <p:nvPr/>
        </p:nvSpPr>
        <p:spPr>
          <a:xfrm>
            <a:off x="4919472" y="2464308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-- removes the FIRST match only</a:t>
            </a:r>
          </a:p>
        </p:txBody>
      </p:sp>
      <p:sp>
        <p:nvSpPr>
          <p:cNvPr id="20" name="a2wd340_code19"/>
          <p:cNvSpPr txBox="1"/>
          <p:nvPr/>
        </p:nvSpPr>
        <p:spPr>
          <a:xfrm>
            <a:off x="4919472" y="2679191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[1,2,3,2] -- [2,2] #=&gt; [1, 3]</a:t>
            </a:r>
          </a:p>
        </p:txBody>
      </p:sp>
      <p:sp>
        <p:nvSpPr>
          <p:cNvPr id="21" name="a2wd425_code20"/>
          <p:cNvSpPr txBox="1"/>
          <p:nvPr/>
        </p:nvSpPr>
        <p:spPr>
          <a:xfrm>
            <a:off x="4919472" y="289407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[1, 2] -- [9]     #=&gt; [1, 2]</a:t>
            </a:r>
          </a:p>
        </p:txBody>
      </p:sp>
      <p:sp>
        <p:nvSpPr>
          <p:cNvPr id="22" name="a2wd510_code21"/>
          <p:cNvSpPr txBox="1"/>
          <p:nvPr/>
        </p:nvSpPr>
        <p:spPr>
          <a:xfrm>
            <a:off x="4919472" y="310896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missing items are just ignored</a:t>
            </a:r>
          </a:p>
        </p:txBody>
      </p:sp>
      <p:sp>
        <p:nvSpPr>
          <p:cNvPr id="23" name="a3f_nb22"/>
          <p:cNvSpPr/>
          <p:nvPr/>
        </p:nvSpPr>
        <p:spPr>
          <a:xfrm>
            <a:off x="457200" y="3634739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f_nacc23"/>
          <p:cNvSpPr/>
          <p:nvPr/>
        </p:nvSpPr>
        <p:spPr>
          <a:xfrm>
            <a:off x="457200" y="3634739"/>
            <a:ext cx="50292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f_nt24"/>
          <p:cNvSpPr txBox="1"/>
          <p:nvPr/>
        </p:nvSpPr>
        <p:spPr>
          <a:xfrm>
            <a:off x="658368" y="3634739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[1, 2] ++ 3 gives [1, 2 | 3] — an improper list. It does not raise, and it is almost always a bug: you meant ++ [3].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DATA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++ copies its left-hand list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Which makes building a list with ++ quadratic. Measured on this machine.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8229600" cy="1677923"/>
          </a:xfrm>
          <a:prstGeom prst="roundRect">
            <a:avLst>
              <a:gd name="adj" fmla="val 43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:timer.tc on 20,000 elements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B3E8"/>
                </a:solidFill>
                <a:latin typeface="Courier New"/>
              </a:rPr>
              <a:t>Enum.reduce(1..20_000, [], fn i, acc -&gt; acc ++ [i] end)</a:t>
            </a:r>
          </a:p>
        </p:txBody>
      </p:sp>
      <p:sp>
        <p:nvSpPr>
          <p:cNvPr id="8" name="a1wd110_code7"/>
          <p:cNvSpPr txBox="1"/>
          <p:nvPr/>
        </p:nvSpPr>
        <p:spPr>
          <a:xfrm>
            <a:off x="621792" y="203454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FCA5A5"/>
                </a:solidFill>
                <a:latin typeface="Courier New"/>
              </a:rPr>
              <a:t>#=&gt; 1840 ms</a:t>
            </a:r>
          </a:p>
        </p:txBody>
      </p:sp>
      <p:sp>
        <p:nvSpPr>
          <p:cNvPr id="9" name="a1wd220_code8"/>
          <p:cNvSpPr txBox="1"/>
          <p:nvPr/>
        </p:nvSpPr>
        <p:spPr>
          <a:xfrm>
            <a:off x="621792" y="224942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330_code9"/>
          <p:cNvSpPr txBox="1"/>
          <p:nvPr/>
        </p:nvSpPr>
        <p:spPr>
          <a:xfrm>
            <a:off x="621792" y="246430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B3E8"/>
                </a:solidFill>
                <a:latin typeface="Courier New"/>
              </a:rPr>
              <a:t>Enum.reduce(1..20_000, [], fn i, acc -&gt; [i | acc] end)</a:t>
            </a:r>
          </a:p>
        </p:txBody>
      </p:sp>
      <p:sp>
        <p:nvSpPr>
          <p:cNvPr id="11" name="a1wd440_code10"/>
          <p:cNvSpPr txBox="1"/>
          <p:nvPr/>
        </p:nvSpPr>
        <p:spPr>
          <a:xfrm>
            <a:off x="621792" y="2679191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6EFAC"/>
                </a:solidFill>
                <a:latin typeface="Courier New"/>
              </a:rPr>
              <a:t>#=&gt; 204 microseconds</a:t>
            </a:r>
          </a:p>
        </p:txBody>
      </p:sp>
      <p:sp>
        <p:nvSpPr>
          <p:cNvPr id="12" name="a2u_dot11"/>
          <p:cNvSpPr/>
          <p:nvPr/>
        </p:nvSpPr>
        <p:spPr>
          <a:xfrm>
            <a:off x="457200" y="330555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b12"/>
          <p:cNvSpPr txBox="1"/>
          <p:nvPr/>
        </p:nvSpPr>
        <p:spPr>
          <a:xfrm>
            <a:off x="676656" y="3204972"/>
            <a:ext cx="8010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That is about 9,000x  </a:t>
            </a:r>
            <a:r>
              <a:rPr sz="1150" b="0">
                <a:solidFill>
                  <a:srgbClr val="334155"/>
                </a:solidFill>
                <a:latin typeface="Calibri"/>
              </a:rPr>
              <a:t>not a micro-optimisation — a different complexity class</a:t>
            </a:r>
          </a:p>
        </p:txBody>
      </p:sp>
      <p:sp>
        <p:nvSpPr>
          <p:cNvPr id="14" name="a2ud180_dot13"/>
          <p:cNvSpPr/>
          <p:nvPr/>
        </p:nvSpPr>
        <p:spPr>
          <a:xfrm>
            <a:off x="457200" y="379933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180_b14"/>
          <p:cNvSpPr txBox="1"/>
          <p:nvPr/>
        </p:nvSpPr>
        <p:spPr>
          <a:xfrm>
            <a:off x="676656" y="3698748"/>
            <a:ext cx="8010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The idiom: prepend, then reverse  </a:t>
            </a:r>
            <a:r>
              <a:rPr sz="1150" b="0">
                <a:solidFill>
                  <a:srgbClr val="334155"/>
                </a:solidFill>
                <a:latin typeface="Calibri"/>
              </a:rPr>
              <a:t>build with [h | t] and finish with Enum.reverse/1, which is one pass</a:t>
            </a:r>
          </a:p>
        </p:txBody>
      </p:sp>
      <p:sp>
        <p:nvSpPr>
          <p:cNvPr id="16" name="a2ud360_dot15"/>
          <p:cNvSpPr/>
          <p:nvPr/>
        </p:nvSpPr>
        <p:spPr>
          <a:xfrm>
            <a:off x="457200" y="429310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360_b16"/>
          <p:cNvSpPr txBox="1"/>
          <p:nvPr/>
        </p:nvSpPr>
        <p:spPr>
          <a:xfrm>
            <a:off x="676656" y="4192524"/>
            <a:ext cx="8010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Short left side is fine  </a:t>
            </a:r>
            <a:r>
              <a:rPr sz="1150" b="0">
                <a:solidFill>
                  <a:srgbClr val="334155"/>
                </a:solidFill>
                <a:latin typeface="Calibri"/>
              </a:rPr>
              <a:t>small ++ big costs the size of the LEFT list only</a:t>
            </a:r>
          </a:p>
        </p:txBody>
      </p:sp>
      <p:sp>
        <p:nvSpPr>
          <p:cNvPr id="18" name="ft1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DATA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in, and the range operators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15568"/>
            <a:ext cx="4160520" cy="1677923"/>
          </a:xfrm>
          <a:prstGeom prst="roundRect">
            <a:avLst>
              <a:gd name="adj" fmla="val 43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70432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5448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3 in [1, 2, 3]     #=&gt; true</a:t>
            </a:r>
          </a:p>
        </p:txBody>
      </p:sp>
      <p:sp>
        <p:nvSpPr>
          <p:cNvPr id="7" name="a1wd85_code6"/>
          <p:cNvSpPr txBox="1"/>
          <p:nvPr/>
        </p:nvSpPr>
        <p:spPr>
          <a:xfrm>
            <a:off x="621792" y="176936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3 not in [1, 2]    #=&gt; true</a:t>
            </a:r>
          </a:p>
        </p:txBody>
      </p:sp>
      <p:sp>
        <p:nvSpPr>
          <p:cNvPr id="8" name="a1wd170_code7"/>
          <p:cNvSpPr txBox="1"/>
          <p:nvPr/>
        </p:nvSpPr>
        <p:spPr>
          <a:xfrm>
            <a:off x="621792" y="1984248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5 in 1..10         #=&gt; true</a:t>
            </a:r>
          </a:p>
        </p:txBody>
      </p:sp>
      <p:sp>
        <p:nvSpPr>
          <p:cNvPr id="9" name="a1wd255_code8"/>
          <p:cNvSpPr txBox="1"/>
          <p:nvPr/>
        </p:nvSpPr>
        <p:spPr>
          <a:xfrm>
            <a:off x="621792" y="2199132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"b" in ["a", "b"]  #=&gt; true</a:t>
            </a:r>
          </a:p>
        </p:txBody>
      </p:sp>
      <p:sp>
        <p:nvSpPr>
          <p:cNvPr id="10" name="a1wd340_code9"/>
          <p:cNvSpPr txBox="1"/>
          <p:nvPr/>
        </p:nvSpPr>
        <p:spPr>
          <a:xfrm>
            <a:off x="621792" y="2414015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?e in ~c"hello"    #=&gt; true</a:t>
            </a:r>
          </a:p>
        </p:txBody>
      </p:sp>
      <p:sp>
        <p:nvSpPr>
          <p:cNvPr id="11" name="a2f_codebg10"/>
          <p:cNvSpPr/>
          <p:nvPr/>
        </p:nvSpPr>
        <p:spPr>
          <a:xfrm>
            <a:off x="4754880" y="1115568"/>
            <a:ext cx="393192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f_codeh11"/>
          <p:cNvSpPr txBox="1"/>
          <p:nvPr/>
        </p:nvSpPr>
        <p:spPr>
          <a:xfrm>
            <a:off x="4919472" y="1170432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13" name="a2w_code12"/>
          <p:cNvSpPr txBox="1"/>
          <p:nvPr/>
        </p:nvSpPr>
        <p:spPr>
          <a:xfrm>
            <a:off x="4919472" y="155448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Enum.to_list(1..5)</a:t>
            </a:r>
          </a:p>
        </p:txBody>
      </p:sp>
      <p:sp>
        <p:nvSpPr>
          <p:cNvPr id="14" name="a2wd85_code13"/>
          <p:cNvSpPr txBox="1"/>
          <p:nvPr/>
        </p:nvSpPr>
        <p:spPr>
          <a:xfrm>
            <a:off x="4919472" y="1769364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[1, 2, 3, 4, 5]</a:t>
            </a:r>
          </a:p>
        </p:txBody>
      </p:sp>
      <p:sp>
        <p:nvSpPr>
          <p:cNvPr id="15" name="a2wd170_code14"/>
          <p:cNvSpPr txBox="1"/>
          <p:nvPr/>
        </p:nvSpPr>
        <p:spPr>
          <a:xfrm>
            <a:off x="4919472" y="1984248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Enum.to_list(1..10//3)</a:t>
            </a:r>
          </a:p>
        </p:txBody>
      </p:sp>
      <p:sp>
        <p:nvSpPr>
          <p:cNvPr id="16" name="a2wd255_code15"/>
          <p:cNvSpPr txBox="1"/>
          <p:nvPr/>
        </p:nvSpPr>
        <p:spPr>
          <a:xfrm>
            <a:off x="4919472" y="2199132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[1, 4, 7, 10]</a:t>
            </a:r>
          </a:p>
        </p:txBody>
      </p:sp>
      <p:sp>
        <p:nvSpPr>
          <p:cNvPr id="17" name="a2wd340_code16"/>
          <p:cNvSpPr txBox="1"/>
          <p:nvPr/>
        </p:nvSpPr>
        <p:spPr>
          <a:xfrm>
            <a:off x="4919472" y="2414015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Enum.to_list(5..1//-1)</a:t>
            </a:r>
          </a:p>
        </p:txBody>
      </p:sp>
      <p:sp>
        <p:nvSpPr>
          <p:cNvPr id="18" name="a2wd425_code17"/>
          <p:cNvSpPr txBox="1"/>
          <p:nvPr/>
        </p:nvSpPr>
        <p:spPr>
          <a:xfrm>
            <a:off x="4919472" y="262890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[5, 4, 3, 2, 1]</a:t>
            </a:r>
          </a:p>
        </p:txBody>
      </p:sp>
      <p:sp>
        <p:nvSpPr>
          <p:cNvPr id="19" name="a3f_codebg18"/>
          <p:cNvSpPr/>
          <p:nvPr/>
        </p:nvSpPr>
        <p:spPr>
          <a:xfrm>
            <a:off x="457200" y="3154680"/>
            <a:ext cx="8229600" cy="818387"/>
          </a:xfrm>
          <a:prstGeom prst="roundRect">
            <a:avLst>
              <a:gd name="adj" fmla="val 89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3f_codeh19"/>
          <p:cNvSpPr txBox="1"/>
          <p:nvPr/>
        </p:nvSpPr>
        <p:spPr>
          <a:xfrm>
            <a:off x="621792" y="3209544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WARNING · a descending range now needs its step</a:t>
            </a:r>
          </a:p>
        </p:txBody>
      </p:sp>
      <p:sp>
        <p:nvSpPr>
          <p:cNvPr id="21" name="a3w_code20"/>
          <p:cNvSpPr txBox="1"/>
          <p:nvPr/>
        </p:nvSpPr>
        <p:spPr>
          <a:xfrm>
            <a:off x="621792" y="359359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warning: 5..1 has a default step of -1, please write 5..1//-1 instead</a:t>
            </a:r>
          </a:p>
        </p:txBody>
      </p:sp>
      <p:sp>
        <p:nvSpPr>
          <p:cNvPr id="22" name="a4f_nb21"/>
          <p:cNvSpPr/>
          <p:nvPr/>
        </p:nvSpPr>
        <p:spPr>
          <a:xfrm>
            <a:off x="457200" y="4101083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4f_nacc22"/>
          <p:cNvSpPr/>
          <p:nvPr/>
        </p:nvSpPr>
        <p:spPr>
          <a:xfrm>
            <a:off x="457200" y="4101083"/>
            <a:ext cx="50292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4f_nt23"/>
          <p:cNvSpPr txBox="1"/>
          <p:nvPr/>
        </p:nvSpPr>
        <p:spPr>
          <a:xfrm>
            <a:off x="658368" y="4101083"/>
            <a:ext cx="78272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in is allowed in a guard as long as the right-hand side is a literal list or range. A range is a struct with first, last and step — it never holds the elements.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DATA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map.key raises. map[:key] returns nil.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Choosing between them is choosing what should happen when the key is missing.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29768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9684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m = %{name: "Ada", age: 36}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m.name       #=&gt; "Ada"</a:t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m[:name]     #=&gt; "Ada"</a:t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425_code11"/>
          <p:cNvSpPr txBox="1"/>
          <p:nvPr/>
        </p:nvSpPr>
        <p:spPr>
          <a:xfrm>
            <a:off x="621792" y="2894076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m.missing</a:t>
            </a:r>
          </a:p>
        </p:txBody>
      </p:sp>
      <p:sp>
        <p:nvSpPr>
          <p:cNvPr id="13" name="a1wd510_code12"/>
          <p:cNvSpPr txBox="1"/>
          <p:nvPr/>
        </p:nvSpPr>
        <p:spPr>
          <a:xfrm>
            <a:off x="621792" y="3108960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** (KeyError) key :missing not found</a:t>
            </a:r>
          </a:p>
        </p:txBody>
      </p:sp>
      <p:sp>
        <p:nvSpPr>
          <p:cNvPr id="14" name="a1wd595_code13"/>
          <p:cNvSpPr txBox="1"/>
          <p:nvPr/>
        </p:nvSpPr>
        <p:spPr>
          <a:xfrm>
            <a:off x="621792" y="3323844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m[:missing]  #=&gt; nil</a:t>
            </a:r>
          </a:p>
        </p:txBody>
      </p:sp>
      <p:sp>
        <p:nvSpPr>
          <p:cNvPr id="15" name="a2f_codebg14"/>
          <p:cNvSpPr/>
          <p:nvPr/>
        </p:nvSpPr>
        <p:spPr>
          <a:xfrm>
            <a:off x="4892040" y="1380744"/>
            <a:ext cx="379476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f_codeh15"/>
          <p:cNvSpPr txBox="1"/>
          <p:nvPr/>
        </p:nvSpPr>
        <p:spPr>
          <a:xfrm>
            <a:off x="5056631" y="1435608"/>
            <a:ext cx="3465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17" name="a2w_code16"/>
          <p:cNvSpPr txBox="1"/>
          <p:nvPr/>
        </p:nvSpPr>
        <p:spPr>
          <a:xfrm>
            <a:off x="5056631" y="1819656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kw = [a: 1, b: 2]</a:t>
            </a:r>
          </a:p>
        </p:txBody>
      </p:sp>
      <p:sp>
        <p:nvSpPr>
          <p:cNvPr id="18" name="a2wd85_code17"/>
          <p:cNvSpPr txBox="1"/>
          <p:nvPr/>
        </p:nvSpPr>
        <p:spPr>
          <a:xfrm>
            <a:off x="5056631" y="2034540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kw[:a]       #=&gt; 1</a:t>
            </a:r>
          </a:p>
        </p:txBody>
      </p:sp>
      <p:sp>
        <p:nvSpPr>
          <p:cNvPr id="19" name="a2wd170_code18"/>
          <p:cNvSpPr txBox="1"/>
          <p:nvPr/>
        </p:nvSpPr>
        <p:spPr>
          <a:xfrm>
            <a:off x="5056631" y="2249424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kw.a</a:t>
            </a:r>
          </a:p>
        </p:txBody>
      </p:sp>
      <p:sp>
        <p:nvSpPr>
          <p:cNvPr id="20" name="a2wd255_code19"/>
          <p:cNvSpPr txBox="1"/>
          <p:nvPr/>
        </p:nvSpPr>
        <p:spPr>
          <a:xfrm>
            <a:off x="5056631" y="2464308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** (BadMapError) expected a map</a:t>
            </a:r>
          </a:p>
        </p:txBody>
      </p:sp>
      <p:sp>
        <p:nvSpPr>
          <p:cNvPr id="21" name="a2wd340_code20"/>
          <p:cNvSpPr txBox="1"/>
          <p:nvPr/>
        </p:nvSpPr>
        <p:spPr>
          <a:xfrm>
            <a:off x="5056631" y="2679191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2" name="a2wd425_code21"/>
          <p:cNvSpPr txBox="1"/>
          <p:nvPr/>
        </p:nvSpPr>
        <p:spPr>
          <a:xfrm>
            <a:off x="5056631" y="2894076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get_in(nested,</a:t>
            </a:r>
          </a:p>
        </p:txBody>
      </p:sp>
      <p:sp>
        <p:nvSpPr>
          <p:cNvPr id="23" name="a2wd510_code22"/>
          <p:cNvSpPr txBox="1"/>
          <p:nvPr/>
        </p:nvSpPr>
        <p:spPr>
          <a:xfrm>
            <a:off x="5056631" y="3108960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[:user, :address, :city])</a:t>
            </a:r>
          </a:p>
        </p:txBody>
      </p:sp>
      <p:sp>
        <p:nvSpPr>
          <p:cNvPr id="24" name="a2wd595_code23"/>
          <p:cNvSpPr txBox="1"/>
          <p:nvPr/>
        </p:nvSpPr>
        <p:spPr>
          <a:xfrm>
            <a:off x="5056631" y="3323844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"Pune"</a:t>
            </a:r>
          </a:p>
        </p:txBody>
      </p:sp>
      <p:sp>
        <p:nvSpPr>
          <p:cNvPr id="25" name="a3u_dot24"/>
          <p:cNvSpPr/>
          <p:nvPr/>
        </p:nvSpPr>
        <p:spPr>
          <a:xfrm>
            <a:off x="457200" y="393192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_b25"/>
          <p:cNvSpPr txBox="1"/>
          <p:nvPr/>
        </p:nvSpPr>
        <p:spPr>
          <a:xfrm>
            <a:off x="676656" y="3831336"/>
            <a:ext cx="8010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Use the dot when the key MUST be there  </a:t>
            </a:r>
            <a:r>
              <a:rPr sz="1150" b="0">
                <a:solidFill>
                  <a:srgbClr val="334155"/>
                </a:solidFill>
                <a:latin typeface="Calibri"/>
              </a:rPr>
              <a:t>a KeyError at the point of the mistake beats a nil three layers away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06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Pipe and capture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 two operators that make Elixir
look like Elixir.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|&gt;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&amp;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&amp;1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PIPE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|&gt; passes the value as the FIRST argument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x |&gt; f(y) is exactly f(x, y). That is the whole rule.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29768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9684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"  hi " |&gt; String.trim()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        |&gt; String.upcase()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"HI"</a:t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[1, 2, 3]</a:t>
            </a:r>
          </a:p>
        </p:txBody>
      </p:sp>
      <p:sp>
        <p:nvSpPr>
          <p:cNvPr id="12" name="a1wd425_code11"/>
          <p:cNvSpPr txBox="1"/>
          <p:nvPr/>
        </p:nvSpPr>
        <p:spPr>
          <a:xfrm>
            <a:off x="621792" y="2894076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|&gt; Enum.map(&amp;(&amp;1 * 2))</a:t>
            </a:r>
          </a:p>
        </p:txBody>
      </p:sp>
      <p:sp>
        <p:nvSpPr>
          <p:cNvPr id="13" name="a1wd510_code12"/>
          <p:cNvSpPr txBox="1"/>
          <p:nvPr/>
        </p:nvSpPr>
        <p:spPr>
          <a:xfrm>
            <a:off x="621792" y="3108960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|&gt; Enum.sum()</a:t>
            </a:r>
          </a:p>
        </p:txBody>
      </p:sp>
      <p:sp>
        <p:nvSpPr>
          <p:cNvPr id="14" name="a1wd595_code13"/>
          <p:cNvSpPr txBox="1"/>
          <p:nvPr/>
        </p:nvSpPr>
        <p:spPr>
          <a:xfrm>
            <a:off x="621792" y="3323844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12</a:t>
            </a:r>
          </a:p>
        </p:txBody>
      </p:sp>
      <p:sp>
        <p:nvSpPr>
          <p:cNvPr id="15" name="a2u_dot14"/>
          <p:cNvSpPr/>
          <p:nvPr/>
        </p:nvSpPr>
        <p:spPr>
          <a:xfrm>
            <a:off x="4892040" y="151790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_b15"/>
          <p:cNvSpPr txBox="1"/>
          <p:nvPr/>
        </p:nvSpPr>
        <p:spPr>
          <a:xfrm>
            <a:off x="5111496" y="1417319"/>
            <a:ext cx="357530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Read it left to right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nested version reads inside-out, which is why pipes win</a:t>
            </a:r>
          </a:p>
        </p:txBody>
      </p:sp>
      <p:sp>
        <p:nvSpPr>
          <p:cNvPr id="17" name="a2ud180_dot16"/>
          <p:cNvSpPr/>
          <p:nvPr/>
        </p:nvSpPr>
        <p:spPr>
          <a:xfrm>
            <a:off x="4892040" y="22311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d180_b17"/>
          <p:cNvSpPr txBox="1"/>
          <p:nvPr/>
        </p:nvSpPr>
        <p:spPr>
          <a:xfrm>
            <a:off x="5111496" y="2130551"/>
            <a:ext cx="357530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This is why the subject comes first  </a:t>
            </a:r>
            <a:r>
              <a:rPr sz="1100" b="0">
                <a:solidFill>
                  <a:srgbClr val="334155"/>
                </a:solidFill>
                <a:latin typeface="Calibri"/>
              </a:rPr>
              <a:t>Enum.map(list, fun), String.trim(text) — the whole standard library is built for it</a:t>
            </a:r>
          </a:p>
        </p:txBody>
      </p:sp>
      <p:sp>
        <p:nvSpPr>
          <p:cNvPr id="19" name="a2ud360_dot18"/>
          <p:cNvSpPr/>
          <p:nvPr/>
        </p:nvSpPr>
        <p:spPr>
          <a:xfrm>
            <a:off x="4892040" y="294436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d360_b19"/>
          <p:cNvSpPr txBox="1"/>
          <p:nvPr/>
        </p:nvSpPr>
        <p:spPr>
          <a:xfrm>
            <a:off x="5111496" y="2843784"/>
            <a:ext cx="357530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It is an operator, so it has precedence  </a:t>
            </a:r>
            <a:r>
              <a:rPr sz="1100" b="0">
                <a:solidFill>
                  <a:srgbClr val="334155"/>
                </a:solidFill>
                <a:latin typeface="Calibri"/>
              </a:rPr>
              <a:t>and that is where people get caught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PIPE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Three things the pipe does that surprise people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15568"/>
            <a:ext cx="822960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704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parse trees from Code.string_to_quoted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5448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1 + 2 |&gt; to_string()      parses as   (1 + 2) |&gt; to_string()</a:t>
            </a:r>
          </a:p>
        </p:txBody>
      </p:sp>
      <p:sp>
        <p:nvSpPr>
          <p:cNvPr id="7" name="a1wd95_code6"/>
          <p:cNvSpPr txBox="1"/>
          <p:nvPr/>
        </p:nvSpPr>
        <p:spPr>
          <a:xfrm>
            <a:off x="621792" y="176936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#=&gt; "3"    the pipe binds LOOSER than arithmetic, so this works by luck</a:t>
            </a:r>
          </a:p>
        </p:txBody>
      </p:sp>
      <p:sp>
        <p:nvSpPr>
          <p:cNvPr id="8" name="a1wd190_code7"/>
          <p:cNvSpPr txBox="1"/>
          <p:nvPr/>
        </p:nvSpPr>
        <p:spPr>
          <a:xfrm>
            <a:off x="621792" y="198424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9" name="a1wd285_code8"/>
          <p:cNvSpPr txBox="1"/>
          <p:nvPr/>
        </p:nvSpPr>
        <p:spPr>
          <a:xfrm>
            <a:off x="621792" y="219913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2 |&gt; (fn x -&gt; x * 3 end).()   #=&gt; 6   an anonymous function needs .()</a:t>
            </a:r>
          </a:p>
        </p:txBody>
      </p:sp>
      <p:sp>
        <p:nvSpPr>
          <p:cNvPr id="10" name="a1wd380_code9"/>
          <p:cNvSpPr txBox="1"/>
          <p:nvPr/>
        </p:nvSpPr>
        <p:spPr>
          <a:xfrm>
            <a:off x="621792" y="2414015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2 |&gt; (&amp;(&amp;1 * 3)).()           #=&gt; 6   so does a capture</a:t>
            </a:r>
          </a:p>
        </p:txBody>
      </p:sp>
      <p:sp>
        <p:nvSpPr>
          <p:cNvPr id="11" name="a1wd475_code10"/>
          <p:cNvSpPr txBox="1"/>
          <p:nvPr/>
        </p:nvSpPr>
        <p:spPr>
          <a:xfrm>
            <a:off x="621792" y="262890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570_code11"/>
          <p:cNvSpPr txBox="1"/>
          <p:nvPr/>
        </p:nvSpPr>
        <p:spPr>
          <a:xfrm>
            <a:off x="621792" y="284378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[3,1,2] |&gt; Enum.sort |&gt; hd    #=&gt; 1   bare names work, but always write ()</a:t>
            </a:r>
          </a:p>
        </p:txBody>
      </p:sp>
      <p:sp>
        <p:nvSpPr>
          <p:cNvPr id="13" name="a2u_dot12"/>
          <p:cNvSpPr/>
          <p:nvPr/>
        </p:nvSpPr>
        <p:spPr>
          <a:xfrm>
            <a:off x="457200" y="347014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_b13"/>
          <p:cNvSpPr txBox="1"/>
          <p:nvPr/>
        </p:nvSpPr>
        <p:spPr>
          <a:xfrm>
            <a:off x="676656" y="3369563"/>
            <a:ext cx="80101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Never start a pipe with an expression  </a:t>
            </a:r>
            <a:r>
              <a:rPr sz="1150" b="0">
                <a:solidFill>
                  <a:srgbClr val="334155"/>
                </a:solidFill>
                <a:latin typeface="Calibri"/>
              </a:rPr>
              <a:t>start it with a plain value or variable, and the precedence question disappears</a:t>
            </a:r>
          </a:p>
        </p:txBody>
      </p:sp>
      <p:sp>
        <p:nvSpPr>
          <p:cNvPr id="15" name="a2ud180_dot14"/>
          <p:cNvSpPr/>
          <p:nvPr/>
        </p:nvSpPr>
        <p:spPr>
          <a:xfrm>
            <a:off x="457200" y="39456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180_b15"/>
          <p:cNvSpPr txBox="1"/>
          <p:nvPr/>
        </p:nvSpPr>
        <p:spPr>
          <a:xfrm>
            <a:off x="676656" y="3845052"/>
            <a:ext cx="80101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Always write the parentheses  </a:t>
            </a:r>
            <a:r>
              <a:rPr sz="1150" b="0">
                <a:solidFill>
                  <a:srgbClr val="334155"/>
                </a:solidFill>
                <a:latin typeface="Calibri"/>
              </a:rPr>
              <a:t>|&gt; Enum.sort() not |&gt; Enum.sort — the compiler warns, and it reads as a function</a:t>
            </a:r>
          </a:p>
        </p:txBody>
      </p:sp>
      <p:sp>
        <p:nvSpPr>
          <p:cNvPr id="17" name="ft1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18" name="ft1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CAPTURE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&amp; builds a function without writing fn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forms: capture a named function, or write a short body with &amp;1, &amp;2.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16052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form 1: capture by name/arity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&amp;to_string/1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&amp;Kernel.max/2</a:t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&amp;Enum.map/2</a:t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425_code11"/>
          <p:cNvSpPr txBox="1"/>
          <p:nvPr/>
        </p:nvSpPr>
        <p:spPr>
          <a:xfrm>
            <a:off x="621792" y="289407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Enum.map([1,2,3], &amp;to_string/1)</a:t>
            </a:r>
          </a:p>
        </p:txBody>
      </p:sp>
      <p:sp>
        <p:nvSpPr>
          <p:cNvPr id="13" name="a1wd510_code12"/>
          <p:cNvSpPr txBox="1"/>
          <p:nvPr/>
        </p:nvSpPr>
        <p:spPr>
          <a:xfrm>
            <a:off x="621792" y="310896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["1", "2", "3"]</a:t>
            </a:r>
          </a:p>
        </p:txBody>
      </p:sp>
      <p:sp>
        <p:nvSpPr>
          <p:cNvPr id="14" name="a2f_codebg13"/>
          <p:cNvSpPr/>
          <p:nvPr/>
        </p:nvSpPr>
        <p:spPr>
          <a:xfrm>
            <a:off x="4754880" y="1380744"/>
            <a:ext cx="393192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f_codeh14"/>
          <p:cNvSpPr txBox="1"/>
          <p:nvPr/>
        </p:nvSpPr>
        <p:spPr>
          <a:xfrm>
            <a:off x="4919472" y="1435608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4919472" y="181965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form 2: a body using &amp;1, &amp;2</a:t>
            </a:r>
          </a:p>
        </p:txBody>
      </p:sp>
      <p:sp>
        <p:nvSpPr>
          <p:cNvPr id="17" name="a2wd85_code16"/>
          <p:cNvSpPr txBox="1"/>
          <p:nvPr/>
        </p:nvSpPr>
        <p:spPr>
          <a:xfrm>
            <a:off x="4919472" y="203454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double = &amp;(&amp;1 * 2)</a:t>
            </a:r>
          </a:p>
        </p:txBody>
      </p:sp>
      <p:sp>
        <p:nvSpPr>
          <p:cNvPr id="18" name="a2wd170_code17"/>
          <p:cNvSpPr txBox="1"/>
          <p:nvPr/>
        </p:nvSpPr>
        <p:spPr>
          <a:xfrm>
            <a:off x="4919472" y="2249424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double.(21)        #=&gt; 42</a:t>
            </a:r>
          </a:p>
        </p:txBody>
      </p:sp>
      <p:sp>
        <p:nvSpPr>
          <p:cNvPr id="19" name="a2wd255_code18"/>
          <p:cNvSpPr txBox="1"/>
          <p:nvPr/>
        </p:nvSpPr>
        <p:spPr>
          <a:xfrm>
            <a:off x="4919472" y="2464308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0" name="a2wd340_code19"/>
          <p:cNvSpPr txBox="1"/>
          <p:nvPr/>
        </p:nvSpPr>
        <p:spPr>
          <a:xfrm>
            <a:off x="4919472" y="2679191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add = &amp;(&amp;1 + &amp;2)</a:t>
            </a:r>
          </a:p>
        </p:txBody>
      </p:sp>
      <p:sp>
        <p:nvSpPr>
          <p:cNvPr id="21" name="a2wd425_code20"/>
          <p:cNvSpPr txBox="1"/>
          <p:nvPr/>
        </p:nvSpPr>
        <p:spPr>
          <a:xfrm>
            <a:off x="4919472" y="289407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add.(3, 4)         #=&gt; 7</a:t>
            </a:r>
          </a:p>
        </p:txBody>
      </p:sp>
      <p:sp>
        <p:nvSpPr>
          <p:cNvPr id="22" name="a2wd510_code21"/>
          <p:cNvSpPr txBox="1"/>
          <p:nvPr/>
        </p:nvSpPr>
        <p:spPr>
          <a:xfrm>
            <a:off x="4919472" y="310896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(&amp;[&amp;1, &amp;2]).(1, 2) #=&gt; [1, 2]</a:t>
            </a:r>
          </a:p>
        </p:txBody>
      </p:sp>
      <p:sp>
        <p:nvSpPr>
          <p:cNvPr id="23" name="a3f_nb22"/>
          <p:cNvSpPr/>
          <p:nvPr/>
        </p:nvSpPr>
        <p:spPr>
          <a:xfrm>
            <a:off x="457200" y="3634739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f_nacc23"/>
          <p:cNvSpPr/>
          <p:nvPr/>
        </p:nvSpPr>
        <p:spPr>
          <a:xfrm>
            <a:off x="457200" y="3634739"/>
            <a:ext cx="50292" cy="53035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f_nt24"/>
          <p:cNvSpPr txBox="1"/>
          <p:nvPr/>
        </p:nvSpPr>
        <p:spPr>
          <a:xfrm>
            <a:off x="658368" y="3634739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arity of &amp;(...) is the highest &amp;n you use. Note the dot: a captured function is an anonymous function, so you call it with double.(21), not double(21).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CAPTURE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&amp; refuses to do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Both of these are compile errors, and both messages tell you exactly why.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822960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a capture with no &amp;1 is not a function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&amp;(1 + 2)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2016252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error: invalid args for &amp;, expected one of: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2231136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  * &amp;Mod.fun/arity to capture a remote function, such as &amp;Enum.map/2</a:t>
            </a:r>
          </a:p>
        </p:txBody>
      </p:sp>
      <p:sp>
        <p:nvSpPr>
          <p:cNvPr id="10" name="a1wd270_code9"/>
          <p:cNvSpPr txBox="1"/>
          <p:nvPr/>
        </p:nvSpPr>
        <p:spPr>
          <a:xfrm>
            <a:off x="621792" y="2446020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  * &amp;fun/arity to capture a local or imported function, such as &amp;is_atom/1</a:t>
            </a:r>
          </a:p>
        </p:txBody>
      </p:sp>
      <p:sp>
        <p:nvSpPr>
          <p:cNvPr id="11" name="a1wd360_code10"/>
          <p:cNvSpPr txBox="1"/>
          <p:nvPr/>
        </p:nvSpPr>
        <p:spPr>
          <a:xfrm>
            <a:off x="621792" y="266090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  * &amp;some_code(&amp;1, ...) containing at least one argument as &amp;1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75787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Got: 1 + 2</a:t>
            </a:r>
          </a:p>
        </p:txBody>
      </p:sp>
      <p:sp>
        <p:nvSpPr>
          <p:cNvPr id="13" name="a2f_codebg12"/>
          <p:cNvSpPr/>
          <p:nvPr/>
        </p:nvSpPr>
        <p:spPr>
          <a:xfrm>
            <a:off x="457200" y="3401568"/>
            <a:ext cx="8229600" cy="1033271"/>
          </a:xfrm>
          <a:prstGeom prst="roundRect">
            <a:avLst>
              <a:gd name="adj" fmla="val 70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f_codeh13"/>
          <p:cNvSpPr txBox="1"/>
          <p:nvPr/>
        </p:nvSpPr>
        <p:spPr>
          <a:xfrm>
            <a:off x="621792" y="3456432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· &amp;(&amp;1 + (&amp;(&amp;1)).(2))</a:t>
            </a:r>
          </a:p>
        </p:txBody>
      </p:sp>
      <p:sp>
        <p:nvSpPr>
          <p:cNvPr id="15" name="a2w_code14"/>
          <p:cNvSpPr txBox="1"/>
          <p:nvPr/>
        </p:nvSpPr>
        <p:spPr>
          <a:xfrm>
            <a:off x="621792" y="3840479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error: nested captures are not allowed. You cannot define a function using</a:t>
            </a:r>
          </a:p>
        </p:txBody>
      </p:sp>
      <p:sp>
        <p:nvSpPr>
          <p:cNvPr id="16" name="a2wd90_code15"/>
          <p:cNvSpPr txBox="1"/>
          <p:nvPr/>
        </p:nvSpPr>
        <p:spPr>
          <a:xfrm>
            <a:off x="621792" y="4055363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the capture operator &amp; inside another function defined via &amp;.</a:t>
            </a:r>
          </a:p>
        </p:txBody>
      </p:sp>
      <p:sp>
        <p:nvSpPr>
          <p:cNvPr id="17" name="a3f_nb16"/>
          <p:cNvSpPr/>
          <p:nvPr/>
        </p:nvSpPr>
        <p:spPr>
          <a:xfrm>
            <a:off x="457200" y="458114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f_nacc17"/>
          <p:cNvSpPr/>
          <p:nvPr/>
        </p:nvSpPr>
        <p:spPr>
          <a:xfrm>
            <a:off x="457200" y="4581144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3f_nt18"/>
          <p:cNvSpPr txBox="1"/>
          <p:nvPr/>
        </p:nvSpPr>
        <p:spPr>
          <a:xfrm>
            <a:off x="658368" y="458114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When a capture starts to feel cramped, stop and write fn x -&gt; ... end. It is not less idiomatic — it is clearer, and the compiler is telling you so.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07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Bitwise and text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Operators that are not imported
by default, and one for strings.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import Bitwise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deprecations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=~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BITWISE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Bitwise operators need an import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They are not in Kernel, and two of them are now deprecated.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4160520" cy="2537459"/>
          </a:xfrm>
          <a:prstGeom prst="roundRect">
            <a:avLst>
              <a:gd name="adj" fmla="val 2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5 &amp;&amp;&amp; 3        # without the import:</a:t>
            </a:r>
          </a:p>
        </p:txBody>
      </p:sp>
      <p:sp>
        <p:nvSpPr>
          <p:cNvPr id="8" name="a1wd80_code7"/>
          <p:cNvSpPr txBox="1"/>
          <p:nvPr/>
        </p:nvSpPr>
        <p:spPr>
          <a:xfrm>
            <a:off x="621792" y="2016252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error: undefined function &amp;&amp;&amp;/2</a:t>
            </a:r>
          </a:p>
        </p:txBody>
      </p:sp>
      <p:sp>
        <p:nvSpPr>
          <p:cNvPr id="9" name="a1wd160_code8"/>
          <p:cNvSpPr txBox="1"/>
          <p:nvPr/>
        </p:nvSpPr>
        <p:spPr>
          <a:xfrm>
            <a:off x="621792" y="223113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   (there is no such import)</a:t>
            </a:r>
          </a:p>
        </p:txBody>
      </p:sp>
      <p:sp>
        <p:nvSpPr>
          <p:cNvPr id="10" name="a1wd240_code9"/>
          <p:cNvSpPr txBox="1"/>
          <p:nvPr/>
        </p:nvSpPr>
        <p:spPr>
          <a:xfrm>
            <a:off x="621792" y="244602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320_code10"/>
          <p:cNvSpPr txBox="1"/>
          <p:nvPr/>
        </p:nvSpPr>
        <p:spPr>
          <a:xfrm>
            <a:off x="621792" y="266090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import Bitwise</a:t>
            </a:r>
          </a:p>
        </p:txBody>
      </p:sp>
      <p:sp>
        <p:nvSpPr>
          <p:cNvPr id="12" name="a1wd400_code11"/>
          <p:cNvSpPr txBox="1"/>
          <p:nvPr/>
        </p:nvSpPr>
        <p:spPr>
          <a:xfrm>
            <a:off x="621792" y="2875787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5 &amp;&amp;&amp; 3   #=&gt; 1      0101 &amp; 0011</a:t>
            </a:r>
          </a:p>
        </p:txBody>
      </p:sp>
      <p:sp>
        <p:nvSpPr>
          <p:cNvPr id="13" name="a1wd480_code12"/>
          <p:cNvSpPr txBox="1"/>
          <p:nvPr/>
        </p:nvSpPr>
        <p:spPr>
          <a:xfrm>
            <a:off x="621792" y="3090672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5 ||| 3   #=&gt; 7      0101 | 0011</a:t>
            </a:r>
          </a:p>
        </p:txBody>
      </p:sp>
      <p:sp>
        <p:nvSpPr>
          <p:cNvPr id="14" name="a1wd560_code13"/>
          <p:cNvSpPr txBox="1"/>
          <p:nvPr/>
        </p:nvSpPr>
        <p:spPr>
          <a:xfrm>
            <a:off x="621792" y="330555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5 &lt;&lt;&lt; 1   #=&gt; 10     shift left</a:t>
            </a:r>
          </a:p>
        </p:txBody>
      </p:sp>
      <p:sp>
        <p:nvSpPr>
          <p:cNvPr id="15" name="a1wd640_code14"/>
          <p:cNvSpPr txBox="1"/>
          <p:nvPr/>
        </p:nvSpPr>
        <p:spPr>
          <a:xfrm>
            <a:off x="621792" y="3520439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5 &gt;&gt;&gt; 1   #=&gt; 2      shift right</a:t>
            </a:r>
          </a:p>
        </p:txBody>
      </p:sp>
      <p:sp>
        <p:nvSpPr>
          <p:cNvPr id="16" name="a2f_codebg15"/>
          <p:cNvSpPr/>
          <p:nvPr/>
        </p:nvSpPr>
        <p:spPr>
          <a:xfrm>
            <a:off x="4754880" y="1362456"/>
            <a:ext cx="393192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codeh16"/>
          <p:cNvSpPr txBox="1"/>
          <p:nvPr/>
        </p:nvSpPr>
        <p:spPr>
          <a:xfrm>
            <a:off x="4919472" y="1417320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WARNINGS · Elixir 1.20.4</a:t>
            </a:r>
          </a:p>
        </p:txBody>
      </p:sp>
      <p:sp>
        <p:nvSpPr>
          <p:cNvPr id="18" name="a2w_code17"/>
          <p:cNvSpPr txBox="1"/>
          <p:nvPr/>
        </p:nvSpPr>
        <p:spPr>
          <a:xfrm>
            <a:off x="4919472" y="1801368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warning: ~~~ is deprecated.</a:t>
            </a:r>
          </a:p>
        </p:txBody>
      </p:sp>
      <p:sp>
        <p:nvSpPr>
          <p:cNvPr id="19" name="a2wd80_code18"/>
          <p:cNvSpPr txBox="1"/>
          <p:nvPr/>
        </p:nvSpPr>
        <p:spPr>
          <a:xfrm>
            <a:off x="4919472" y="2016252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Use Bitwise.bnot/1 instead</a:t>
            </a:r>
          </a:p>
        </p:txBody>
      </p:sp>
      <p:sp>
        <p:nvSpPr>
          <p:cNvPr id="20" name="a2wd160_code19"/>
          <p:cNvSpPr txBox="1"/>
          <p:nvPr/>
        </p:nvSpPr>
        <p:spPr>
          <a:xfrm>
            <a:off x="4919472" y="223113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for clarity</a:t>
            </a:r>
          </a:p>
        </p:txBody>
      </p:sp>
      <p:sp>
        <p:nvSpPr>
          <p:cNvPr id="21" name="a2wd240_code20"/>
          <p:cNvSpPr txBox="1"/>
          <p:nvPr/>
        </p:nvSpPr>
        <p:spPr>
          <a:xfrm>
            <a:off x="4919472" y="244602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2" name="a2wd320_code21"/>
          <p:cNvSpPr txBox="1"/>
          <p:nvPr/>
        </p:nvSpPr>
        <p:spPr>
          <a:xfrm>
            <a:off x="4919472" y="2660904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warning: ^^^ is deprecated. It is</a:t>
            </a:r>
          </a:p>
        </p:txBody>
      </p:sp>
      <p:sp>
        <p:nvSpPr>
          <p:cNvPr id="23" name="a2wd400_code22"/>
          <p:cNvSpPr txBox="1"/>
          <p:nvPr/>
        </p:nvSpPr>
        <p:spPr>
          <a:xfrm>
            <a:off x="4919472" y="2875787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typically used as xor but it has the</a:t>
            </a:r>
          </a:p>
        </p:txBody>
      </p:sp>
      <p:sp>
        <p:nvSpPr>
          <p:cNvPr id="24" name="a2wd480_code23"/>
          <p:cNvSpPr txBox="1"/>
          <p:nvPr/>
        </p:nvSpPr>
        <p:spPr>
          <a:xfrm>
            <a:off x="4919472" y="3090672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CA5A5"/>
                </a:solidFill>
                <a:latin typeface="Courier New"/>
              </a:rPr>
              <a:t>WRONG PRECEDENCE, use Bitwise.bxor/2</a:t>
            </a:r>
          </a:p>
        </p:txBody>
      </p:sp>
      <p:sp>
        <p:nvSpPr>
          <p:cNvPr id="25" name="a3f_nb24"/>
          <p:cNvSpPr/>
          <p:nvPr/>
        </p:nvSpPr>
        <p:spPr>
          <a:xfrm>
            <a:off x="457200" y="40462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f_nacc25"/>
          <p:cNvSpPr/>
          <p:nvPr/>
        </p:nvSpPr>
        <p:spPr>
          <a:xfrm>
            <a:off x="457200" y="4046220"/>
            <a:ext cx="50292" cy="5303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f_nt26"/>
          <p:cNvSpPr txBox="1"/>
          <p:nvPr/>
        </p:nvSpPr>
        <p:spPr>
          <a:xfrm>
            <a:off x="658368" y="4046220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Use the named functions: bnot/1, bxor/2, band/2, bor/2, bsl/2, bsr/2. They read better, they are not deprecated, and bxor does not carry a precedence that surprises you.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TEXT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=~ asks “does this text match?”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right side may be a plain string or a regular expression.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80744"/>
            <a:ext cx="4160520" cy="1892807"/>
          </a:xfrm>
          <a:prstGeom prst="roundRect">
            <a:avLst>
              <a:gd name="adj" fmla="val 38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35608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1965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"hello" =~ "ell"    #=&gt; true</a:t>
            </a:r>
          </a:p>
        </p:txBody>
      </p:sp>
      <p:sp>
        <p:nvSpPr>
          <p:cNvPr id="8" name="a1wd85_code7"/>
          <p:cNvSpPr txBox="1"/>
          <p:nvPr/>
        </p:nvSpPr>
        <p:spPr>
          <a:xfrm>
            <a:off x="621792" y="2034540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#   plain string = substring test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49424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255_code9"/>
          <p:cNvSpPr txBox="1"/>
          <p:nvPr/>
        </p:nvSpPr>
        <p:spPr>
          <a:xfrm>
            <a:off x="621792" y="2464308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"hello" =~ ~r/l+/   #=&gt; true</a:t>
            </a:r>
          </a:p>
        </p:txBody>
      </p:sp>
      <p:sp>
        <p:nvSpPr>
          <p:cNvPr id="11" name="a1wd340_code10"/>
          <p:cNvSpPr txBox="1"/>
          <p:nvPr/>
        </p:nvSpPr>
        <p:spPr>
          <a:xfrm>
            <a:off x="621792" y="2679191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"hello" =~ ~r/^h/   #=&gt; true</a:t>
            </a:r>
          </a:p>
        </p:txBody>
      </p:sp>
      <p:sp>
        <p:nvSpPr>
          <p:cNvPr id="12" name="a1wd425_code11"/>
          <p:cNvSpPr txBox="1"/>
          <p:nvPr/>
        </p:nvSpPr>
        <p:spPr>
          <a:xfrm>
            <a:off x="621792" y="2894076"/>
            <a:ext cx="3831335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"hello" =~ ~r/^H/   #=&gt; false</a:t>
            </a:r>
          </a:p>
        </p:txBody>
      </p:sp>
      <p:sp>
        <p:nvSpPr>
          <p:cNvPr id="13" name="a2f_codebg12"/>
          <p:cNvSpPr/>
          <p:nvPr/>
        </p:nvSpPr>
        <p:spPr>
          <a:xfrm>
            <a:off x="4754880" y="1380744"/>
            <a:ext cx="3931920" cy="1677923"/>
          </a:xfrm>
          <a:prstGeom prst="roundRect">
            <a:avLst>
              <a:gd name="adj" fmla="val 43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f_codeh13"/>
          <p:cNvSpPr txBox="1"/>
          <p:nvPr/>
        </p:nvSpPr>
        <p:spPr>
          <a:xfrm>
            <a:off x="4919472" y="1435608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15" name="a2w_code14"/>
          <p:cNvSpPr txBox="1"/>
          <p:nvPr/>
        </p:nvSpPr>
        <p:spPr>
          <a:xfrm>
            <a:off x="4919472" y="1819656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1 =~ "a"</a:t>
            </a:r>
          </a:p>
        </p:txBody>
      </p:sp>
      <p:sp>
        <p:nvSpPr>
          <p:cNvPr id="16" name="a2wd85_code15"/>
          <p:cNvSpPr txBox="1"/>
          <p:nvPr/>
        </p:nvSpPr>
        <p:spPr>
          <a:xfrm>
            <a:off x="4919472" y="203454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** (FunctionClauseError) no function</a:t>
            </a:r>
          </a:p>
        </p:txBody>
      </p:sp>
      <p:sp>
        <p:nvSpPr>
          <p:cNvPr id="17" name="a2wd170_code16"/>
          <p:cNvSpPr txBox="1"/>
          <p:nvPr/>
        </p:nvSpPr>
        <p:spPr>
          <a:xfrm>
            <a:off x="4919472" y="2249424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CA5A5"/>
                </a:solidFill>
                <a:latin typeface="Courier New"/>
              </a:rPr>
              <a:t>   clause matching in Kernel.=~/2</a:t>
            </a:r>
          </a:p>
        </p:txBody>
      </p:sp>
      <p:sp>
        <p:nvSpPr>
          <p:cNvPr id="18" name="a2wd255_code17"/>
          <p:cNvSpPr txBox="1"/>
          <p:nvPr/>
        </p:nvSpPr>
        <p:spPr>
          <a:xfrm>
            <a:off x="4919472" y="2464308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9" name="a2wd340_code18"/>
          <p:cNvSpPr txBox="1"/>
          <p:nvPr/>
        </p:nvSpPr>
        <p:spPr>
          <a:xfrm>
            <a:off x="4919472" y="2679191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ourier New"/>
              </a:rPr>
              <a:t># the LEFT side must be a string</a:t>
            </a:r>
          </a:p>
        </p:txBody>
      </p:sp>
      <p:sp>
        <p:nvSpPr>
          <p:cNvPr id="20" name="a3u_dot19"/>
          <p:cNvSpPr/>
          <p:nvPr/>
        </p:nvSpPr>
        <p:spPr>
          <a:xfrm>
            <a:off x="457200" y="350215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b20"/>
          <p:cNvSpPr txBox="1"/>
          <p:nvPr/>
        </p:nvSpPr>
        <p:spPr>
          <a:xfrm>
            <a:off x="676656" y="3401568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It only answers true or false  </a:t>
            </a:r>
            <a:r>
              <a:rPr sz="1150" b="0">
                <a:solidFill>
                  <a:srgbClr val="334155"/>
                </a:solidFill>
                <a:latin typeface="Calibri"/>
              </a:rPr>
              <a:t>to pull values out, use Regex.run/2 or Regex.named_captures/2</a:t>
            </a:r>
          </a:p>
        </p:txBody>
      </p:sp>
      <p:sp>
        <p:nvSpPr>
          <p:cNvPr id="22" name="a3ud180_dot21"/>
          <p:cNvSpPr/>
          <p:nvPr/>
        </p:nvSpPr>
        <p:spPr>
          <a:xfrm>
            <a:off x="457200" y="395935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180_b22"/>
          <p:cNvSpPr txBox="1"/>
          <p:nvPr/>
        </p:nvSpPr>
        <p:spPr>
          <a:xfrm>
            <a:off x="676656" y="3858768"/>
            <a:ext cx="80101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Do not reach for it first  </a:t>
            </a:r>
            <a:r>
              <a:rPr sz="1150" b="0">
                <a:solidFill>
                  <a:srgbClr val="334155"/>
                </a:solidFill>
                <a:latin typeface="Calibri"/>
              </a:rPr>
              <a:t>String.contains?/2, starts_with?/2 and ends_with?/2 say what they mean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08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Precedence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What binds tighter than what,
and which way things associate.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the table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associativity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the traps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PRECEDENCE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Ask the parser, do not guess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Code.string_to_quoted/1 will tell you exactly how your line was read.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44168"/>
            <a:ext cx="3246120" cy="31546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44168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You write</a:t>
            </a:r>
          </a:p>
        </p:txBody>
      </p:sp>
      <p:sp>
        <p:nvSpPr>
          <p:cNvPr id="7" name="a1wd110_td6"/>
          <p:cNvSpPr/>
          <p:nvPr/>
        </p:nvSpPr>
        <p:spPr>
          <a:xfrm>
            <a:off x="457200" y="1659636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110_tdt7"/>
          <p:cNvSpPr txBox="1"/>
          <p:nvPr/>
        </p:nvSpPr>
        <p:spPr>
          <a:xfrm>
            <a:off x="530352" y="1659636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 + 2 * 3</a:t>
            </a:r>
          </a:p>
        </p:txBody>
      </p:sp>
      <p:sp>
        <p:nvSpPr>
          <p:cNvPr id="9" name="a1wd220_td8"/>
          <p:cNvSpPr/>
          <p:nvPr/>
        </p:nvSpPr>
        <p:spPr>
          <a:xfrm>
            <a:off x="457200" y="1975104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220_tdt9"/>
          <p:cNvSpPr txBox="1"/>
          <p:nvPr/>
        </p:nvSpPr>
        <p:spPr>
          <a:xfrm>
            <a:off x="530352" y="1975104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a and b or c</a:t>
            </a:r>
          </a:p>
        </p:txBody>
      </p:sp>
      <p:sp>
        <p:nvSpPr>
          <p:cNvPr id="11" name="a1wd330_td10"/>
          <p:cNvSpPr/>
          <p:nvPr/>
        </p:nvSpPr>
        <p:spPr>
          <a:xfrm>
            <a:off x="457200" y="2290572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330_tdt11"/>
          <p:cNvSpPr txBox="1"/>
          <p:nvPr/>
        </p:nvSpPr>
        <p:spPr>
          <a:xfrm>
            <a:off x="530352" y="2290572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a || b &amp;&amp; c</a:t>
            </a:r>
          </a:p>
        </p:txBody>
      </p:sp>
      <p:sp>
        <p:nvSpPr>
          <p:cNvPr id="13" name="a1wd440_td12"/>
          <p:cNvSpPr/>
          <p:nvPr/>
        </p:nvSpPr>
        <p:spPr>
          <a:xfrm>
            <a:off x="457200" y="2606039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440_tdt13"/>
          <p:cNvSpPr txBox="1"/>
          <p:nvPr/>
        </p:nvSpPr>
        <p:spPr>
          <a:xfrm>
            <a:off x="530352" y="2606039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 + 2 |&gt; to_string()</a:t>
            </a:r>
          </a:p>
        </p:txBody>
      </p:sp>
      <p:sp>
        <p:nvSpPr>
          <p:cNvPr id="15" name="a1wd550_td14"/>
          <p:cNvSpPr/>
          <p:nvPr/>
        </p:nvSpPr>
        <p:spPr>
          <a:xfrm>
            <a:off x="457200" y="2921508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550_tdt15"/>
          <p:cNvSpPr txBox="1"/>
          <p:nvPr/>
        </p:nvSpPr>
        <p:spPr>
          <a:xfrm>
            <a:off x="530352" y="2921508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-x ** 2</a:t>
            </a:r>
          </a:p>
        </p:txBody>
      </p:sp>
      <p:sp>
        <p:nvSpPr>
          <p:cNvPr id="17" name="a1wd660_td16"/>
          <p:cNvSpPr/>
          <p:nvPr/>
        </p:nvSpPr>
        <p:spPr>
          <a:xfrm>
            <a:off x="457200" y="3236976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660_tdt17"/>
          <p:cNvSpPr txBox="1"/>
          <p:nvPr/>
        </p:nvSpPr>
        <p:spPr>
          <a:xfrm>
            <a:off x="530352" y="3236976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2 ** 3 ** 2</a:t>
            </a:r>
          </a:p>
        </p:txBody>
      </p:sp>
      <p:sp>
        <p:nvSpPr>
          <p:cNvPr id="19" name="a1f_th18"/>
          <p:cNvSpPr/>
          <p:nvPr/>
        </p:nvSpPr>
        <p:spPr>
          <a:xfrm>
            <a:off x="3703320" y="1344168"/>
            <a:ext cx="3246120" cy="3154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f_tht19"/>
          <p:cNvSpPr txBox="1"/>
          <p:nvPr/>
        </p:nvSpPr>
        <p:spPr>
          <a:xfrm>
            <a:off x="3776472" y="1344168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Elixir reads</a:t>
            </a:r>
          </a:p>
        </p:txBody>
      </p:sp>
      <p:sp>
        <p:nvSpPr>
          <p:cNvPr id="21" name="a1wd110_td20"/>
          <p:cNvSpPr/>
          <p:nvPr/>
        </p:nvSpPr>
        <p:spPr>
          <a:xfrm>
            <a:off x="3703320" y="1659636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110_tdt21"/>
          <p:cNvSpPr txBox="1"/>
          <p:nvPr/>
        </p:nvSpPr>
        <p:spPr>
          <a:xfrm>
            <a:off x="3776472" y="1659636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1 + (2 * 3)</a:t>
            </a:r>
          </a:p>
        </p:txBody>
      </p:sp>
      <p:sp>
        <p:nvSpPr>
          <p:cNvPr id="23" name="a1wd220_td22"/>
          <p:cNvSpPr/>
          <p:nvPr/>
        </p:nvSpPr>
        <p:spPr>
          <a:xfrm>
            <a:off x="3703320" y="1975104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220_tdt23"/>
          <p:cNvSpPr txBox="1"/>
          <p:nvPr/>
        </p:nvSpPr>
        <p:spPr>
          <a:xfrm>
            <a:off x="3776472" y="1975104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(a and b) or c</a:t>
            </a:r>
          </a:p>
        </p:txBody>
      </p:sp>
      <p:sp>
        <p:nvSpPr>
          <p:cNvPr id="25" name="a1wd330_td24"/>
          <p:cNvSpPr/>
          <p:nvPr/>
        </p:nvSpPr>
        <p:spPr>
          <a:xfrm>
            <a:off x="3703320" y="2290572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330_tdt25"/>
          <p:cNvSpPr txBox="1"/>
          <p:nvPr/>
        </p:nvSpPr>
        <p:spPr>
          <a:xfrm>
            <a:off x="3776472" y="2290572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a || (b &amp;&amp; c)</a:t>
            </a:r>
          </a:p>
        </p:txBody>
      </p:sp>
      <p:sp>
        <p:nvSpPr>
          <p:cNvPr id="27" name="a1wd440_td26"/>
          <p:cNvSpPr/>
          <p:nvPr/>
        </p:nvSpPr>
        <p:spPr>
          <a:xfrm>
            <a:off x="3703320" y="2606039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440_tdt27"/>
          <p:cNvSpPr txBox="1"/>
          <p:nvPr/>
        </p:nvSpPr>
        <p:spPr>
          <a:xfrm>
            <a:off x="3776472" y="2606039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(1 + 2) |&gt; to_string()</a:t>
            </a:r>
          </a:p>
        </p:txBody>
      </p:sp>
      <p:sp>
        <p:nvSpPr>
          <p:cNvPr id="29" name="a1wd550_td28"/>
          <p:cNvSpPr/>
          <p:nvPr/>
        </p:nvSpPr>
        <p:spPr>
          <a:xfrm>
            <a:off x="3703320" y="2921508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550_tdt29"/>
          <p:cNvSpPr txBox="1"/>
          <p:nvPr/>
        </p:nvSpPr>
        <p:spPr>
          <a:xfrm>
            <a:off x="3776472" y="2921508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(-x) ** 2</a:t>
            </a:r>
          </a:p>
        </p:txBody>
      </p:sp>
      <p:sp>
        <p:nvSpPr>
          <p:cNvPr id="31" name="a1wd660_td30"/>
          <p:cNvSpPr/>
          <p:nvPr/>
        </p:nvSpPr>
        <p:spPr>
          <a:xfrm>
            <a:off x="3703320" y="3236976"/>
            <a:ext cx="324612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660_tdt31"/>
          <p:cNvSpPr txBox="1"/>
          <p:nvPr/>
        </p:nvSpPr>
        <p:spPr>
          <a:xfrm>
            <a:off x="3776472" y="3236976"/>
            <a:ext cx="313639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(2 ** 3) ** 2</a:t>
            </a:r>
          </a:p>
        </p:txBody>
      </p:sp>
      <p:sp>
        <p:nvSpPr>
          <p:cNvPr id="33" name="a1f_th32"/>
          <p:cNvSpPr/>
          <p:nvPr/>
        </p:nvSpPr>
        <p:spPr>
          <a:xfrm>
            <a:off x="6949440" y="1344168"/>
            <a:ext cx="1737360" cy="3154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f_tht33"/>
          <p:cNvSpPr txBox="1"/>
          <p:nvPr/>
        </p:nvSpPr>
        <p:spPr>
          <a:xfrm>
            <a:off x="7022592" y="1344168"/>
            <a:ext cx="162763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35" name="a1wd110_td34"/>
          <p:cNvSpPr/>
          <p:nvPr/>
        </p:nvSpPr>
        <p:spPr>
          <a:xfrm>
            <a:off x="6949440" y="1659636"/>
            <a:ext cx="173736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110_tdt35"/>
          <p:cNvSpPr txBox="1"/>
          <p:nvPr/>
        </p:nvSpPr>
        <p:spPr>
          <a:xfrm>
            <a:off x="7022592" y="1659636"/>
            <a:ext cx="162763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as expected</a:t>
            </a:r>
          </a:p>
        </p:txBody>
      </p:sp>
      <p:sp>
        <p:nvSpPr>
          <p:cNvPr id="37" name="a1wd220_td36"/>
          <p:cNvSpPr/>
          <p:nvPr/>
        </p:nvSpPr>
        <p:spPr>
          <a:xfrm>
            <a:off x="6949440" y="1975104"/>
            <a:ext cx="173736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220_tdt37"/>
          <p:cNvSpPr txBox="1"/>
          <p:nvPr/>
        </p:nvSpPr>
        <p:spPr>
          <a:xfrm>
            <a:off x="7022592" y="1975104"/>
            <a:ext cx="162763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as expected</a:t>
            </a:r>
          </a:p>
        </p:txBody>
      </p:sp>
      <p:sp>
        <p:nvSpPr>
          <p:cNvPr id="39" name="a1wd330_td38"/>
          <p:cNvSpPr/>
          <p:nvPr/>
        </p:nvSpPr>
        <p:spPr>
          <a:xfrm>
            <a:off x="6949440" y="2290572"/>
            <a:ext cx="173736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330_tdt39"/>
          <p:cNvSpPr txBox="1"/>
          <p:nvPr/>
        </p:nvSpPr>
        <p:spPr>
          <a:xfrm>
            <a:off x="7022592" y="2290572"/>
            <a:ext cx="162763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&amp;&amp; is tighter</a:t>
            </a:r>
          </a:p>
        </p:txBody>
      </p:sp>
      <p:sp>
        <p:nvSpPr>
          <p:cNvPr id="41" name="a1wd440_td40"/>
          <p:cNvSpPr/>
          <p:nvPr/>
        </p:nvSpPr>
        <p:spPr>
          <a:xfrm>
            <a:off x="6949440" y="2606039"/>
            <a:ext cx="173736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440_tdt41"/>
          <p:cNvSpPr txBox="1"/>
          <p:nvPr/>
        </p:nvSpPr>
        <p:spPr>
          <a:xfrm>
            <a:off x="7022592" y="2606039"/>
            <a:ext cx="162763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|&gt; is looser</a:t>
            </a:r>
          </a:p>
        </p:txBody>
      </p:sp>
      <p:sp>
        <p:nvSpPr>
          <p:cNvPr id="43" name="a1wd550_td42"/>
          <p:cNvSpPr/>
          <p:nvPr/>
        </p:nvSpPr>
        <p:spPr>
          <a:xfrm>
            <a:off x="6949440" y="2921508"/>
            <a:ext cx="173736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550_tdt43"/>
          <p:cNvSpPr txBox="1"/>
          <p:nvPr/>
        </p:nvSpPr>
        <p:spPr>
          <a:xfrm>
            <a:off x="7022592" y="2921508"/>
            <a:ext cx="162763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SURPRISE</a:t>
            </a:r>
          </a:p>
        </p:txBody>
      </p:sp>
      <p:sp>
        <p:nvSpPr>
          <p:cNvPr id="45" name="a1wd660_td44"/>
          <p:cNvSpPr/>
          <p:nvPr/>
        </p:nvSpPr>
        <p:spPr>
          <a:xfrm>
            <a:off x="6949440" y="3236976"/>
            <a:ext cx="1737360" cy="3154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660_tdt45"/>
          <p:cNvSpPr txBox="1"/>
          <p:nvPr/>
        </p:nvSpPr>
        <p:spPr>
          <a:xfrm>
            <a:off x="7022592" y="3236976"/>
            <a:ext cx="1627631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SURPRISE</a:t>
            </a:r>
          </a:p>
        </p:txBody>
      </p:sp>
      <p:sp>
        <p:nvSpPr>
          <p:cNvPr id="47" name="a2f_codebg46"/>
          <p:cNvSpPr/>
          <p:nvPr/>
        </p:nvSpPr>
        <p:spPr>
          <a:xfrm>
            <a:off x="457200" y="3698748"/>
            <a:ext cx="8229600" cy="1033271"/>
          </a:xfrm>
          <a:prstGeom prst="roundRect">
            <a:avLst>
              <a:gd name="adj" fmla="val 70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f_codeh47"/>
          <p:cNvSpPr txBox="1"/>
          <p:nvPr/>
        </p:nvSpPr>
        <p:spPr>
          <a:xfrm>
            <a:off x="621792" y="3753611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HOW EVERY ROW ABOVE WAS PRODUCED</a:t>
            </a:r>
          </a:p>
        </p:txBody>
      </p:sp>
      <p:sp>
        <p:nvSpPr>
          <p:cNvPr id="49" name="a2w_code48"/>
          <p:cNvSpPr txBox="1"/>
          <p:nvPr/>
        </p:nvSpPr>
        <p:spPr>
          <a:xfrm>
            <a:off x="621792" y="4137659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9B3E8"/>
                </a:solidFill>
                <a:latin typeface="Courier New"/>
              </a:rPr>
              <a:t>Code.string_to_quoted!("a || b &amp;&amp; c") |&gt; Macro.to_string()</a:t>
            </a:r>
          </a:p>
        </p:txBody>
      </p:sp>
      <p:sp>
        <p:nvSpPr>
          <p:cNvPr id="50" name="a2wd110_code49"/>
          <p:cNvSpPr txBox="1"/>
          <p:nvPr/>
        </p:nvSpPr>
        <p:spPr>
          <a:xfrm>
            <a:off x="621792" y="4352544"/>
            <a:ext cx="790041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"a || (b &amp;&amp; c)"</a:t>
            </a:r>
          </a:p>
        </p:txBody>
      </p:sp>
      <p:sp>
        <p:nvSpPr>
          <p:cNvPr id="51" name="ft5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52" name="ft5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PRECEDENCE · REFERENCE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precedence table, tightest first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Derived by parsing every pair of operators — not copied from a book.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07592"/>
            <a:ext cx="4846320" cy="21031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07592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Operators</a:t>
            </a:r>
          </a:p>
        </p:txBody>
      </p:sp>
      <p:sp>
        <p:nvSpPr>
          <p:cNvPr id="7" name="a1wd60_td6"/>
          <p:cNvSpPr/>
          <p:nvPr/>
        </p:nvSpPr>
        <p:spPr>
          <a:xfrm>
            <a:off x="457200" y="1517904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60_tdt7"/>
          <p:cNvSpPr txBox="1"/>
          <p:nvPr/>
        </p:nvSpPr>
        <p:spPr>
          <a:xfrm>
            <a:off x="530352" y="1517904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.   and unary  + - ! ^ not</a:t>
            </a:r>
          </a:p>
        </p:txBody>
      </p:sp>
      <p:sp>
        <p:nvSpPr>
          <p:cNvPr id="9" name="a1wd120_td8"/>
          <p:cNvSpPr/>
          <p:nvPr/>
        </p:nvSpPr>
        <p:spPr>
          <a:xfrm>
            <a:off x="457200" y="1728216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120_tdt9"/>
          <p:cNvSpPr txBox="1"/>
          <p:nvPr/>
        </p:nvSpPr>
        <p:spPr>
          <a:xfrm>
            <a:off x="530352" y="1728216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**</a:t>
            </a:r>
          </a:p>
        </p:txBody>
      </p:sp>
      <p:sp>
        <p:nvSpPr>
          <p:cNvPr id="11" name="a1wd180_td10"/>
          <p:cNvSpPr/>
          <p:nvPr/>
        </p:nvSpPr>
        <p:spPr>
          <a:xfrm>
            <a:off x="457200" y="1938528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180_tdt11"/>
          <p:cNvSpPr txBox="1"/>
          <p:nvPr/>
        </p:nvSpPr>
        <p:spPr>
          <a:xfrm>
            <a:off x="530352" y="1938528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*  /</a:t>
            </a:r>
          </a:p>
        </p:txBody>
      </p:sp>
      <p:sp>
        <p:nvSpPr>
          <p:cNvPr id="13" name="a1wd240_td12"/>
          <p:cNvSpPr/>
          <p:nvPr/>
        </p:nvSpPr>
        <p:spPr>
          <a:xfrm>
            <a:off x="457200" y="2148840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240_tdt13"/>
          <p:cNvSpPr txBox="1"/>
          <p:nvPr/>
        </p:nvSpPr>
        <p:spPr>
          <a:xfrm>
            <a:off x="530352" y="2148840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+  -</a:t>
            </a:r>
          </a:p>
        </p:txBody>
      </p:sp>
      <p:sp>
        <p:nvSpPr>
          <p:cNvPr id="15" name="a1wd300_td14"/>
          <p:cNvSpPr/>
          <p:nvPr/>
        </p:nvSpPr>
        <p:spPr>
          <a:xfrm>
            <a:off x="457200" y="2359152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300_tdt15"/>
          <p:cNvSpPr txBox="1"/>
          <p:nvPr/>
        </p:nvSpPr>
        <p:spPr>
          <a:xfrm>
            <a:off x="530352" y="2359152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++  --  ..  &lt;&gt;</a:t>
            </a:r>
          </a:p>
        </p:txBody>
      </p:sp>
      <p:sp>
        <p:nvSpPr>
          <p:cNvPr id="17" name="a1wd360_td16"/>
          <p:cNvSpPr/>
          <p:nvPr/>
        </p:nvSpPr>
        <p:spPr>
          <a:xfrm>
            <a:off x="457200" y="2569464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360_tdt17"/>
          <p:cNvSpPr txBox="1"/>
          <p:nvPr/>
        </p:nvSpPr>
        <p:spPr>
          <a:xfrm>
            <a:off x="530352" y="2569464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in   not in</a:t>
            </a:r>
          </a:p>
        </p:txBody>
      </p:sp>
      <p:sp>
        <p:nvSpPr>
          <p:cNvPr id="19" name="a1wd420_td18"/>
          <p:cNvSpPr/>
          <p:nvPr/>
        </p:nvSpPr>
        <p:spPr>
          <a:xfrm>
            <a:off x="457200" y="2779776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420_tdt19"/>
          <p:cNvSpPr txBox="1"/>
          <p:nvPr/>
        </p:nvSpPr>
        <p:spPr>
          <a:xfrm>
            <a:off x="530352" y="2779776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|&gt;  &lt;&lt;&lt;  &gt;&gt;&gt;  &lt;~  ~&gt;  &lt;~&gt;</a:t>
            </a:r>
          </a:p>
        </p:txBody>
      </p:sp>
      <p:sp>
        <p:nvSpPr>
          <p:cNvPr id="21" name="a1wd480_td20"/>
          <p:cNvSpPr/>
          <p:nvPr/>
        </p:nvSpPr>
        <p:spPr>
          <a:xfrm>
            <a:off x="457200" y="2990088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480_tdt21"/>
          <p:cNvSpPr txBox="1"/>
          <p:nvPr/>
        </p:nvSpPr>
        <p:spPr>
          <a:xfrm>
            <a:off x="530352" y="2990088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&lt;  &gt;  &lt;=  &gt;=</a:t>
            </a:r>
          </a:p>
        </p:txBody>
      </p:sp>
      <p:sp>
        <p:nvSpPr>
          <p:cNvPr id="23" name="a1wd540_td22"/>
          <p:cNvSpPr/>
          <p:nvPr/>
        </p:nvSpPr>
        <p:spPr>
          <a:xfrm>
            <a:off x="457200" y="3200400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540_tdt23"/>
          <p:cNvSpPr txBox="1"/>
          <p:nvPr/>
        </p:nvSpPr>
        <p:spPr>
          <a:xfrm>
            <a:off x="530352" y="3200400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==  !=  ===  !==  =~</a:t>
            </a:r>
          </a:p>
        </p:txBody>
      </p:sp>
      <p:sp>
        <p:nvSpPr>
          <p:cNvPr id="25" name="a1wd600_td24"/>
          <p:cNvSpPr/>
          <p:nvPr/>
        </p:nvSpPr>
        <p:spPr>
          <a:xfrm>
            <a:off x="457200" y="3410712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600_tdt25"/>
          <p:cNvSpPr txBox="1"/>
          <p:nvPr/>
        </p:nvSpPr>
        <p:spPr>
          <a:xfrm>
            <a:off x="530352" y="3410712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&amp;&amp;  &amp;&amp;&amp;  and</a:t>
            </a:r>
          </a:p>
        </p:txBody>
      </p:sp>
      <p:sp>
        <p:nvSpPr>
          <p:cNvPr id="27" name="a1wd660_td26"/>
          <p:cNvSpPr/>
          <p:nvPr/>
        </p:nvSpPr>
        <p:spPr>
          <a:xfrm>
            <a:off x="457200" y="3621024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660_tdt27"/>
          <p:cNvSpPr txBox="1"/>
          <p:nvPr/>
        </p:nvSpPr>
        <p:spPr>
          <a:xfrm>
            <a:off x="530352" y="3621024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||  |||  or</a:t>
            </a:r>
          </a:p>
        </p:txBody>
      </p:sp>
      <p:sp>
        <p:nvSpPr>
          <p:cNvPr id="29" name="a1wd720_td28"/>
          <p:cNvSpPr/>
          <p:nvPr/>
        </p:nvSpPr>
        <p:spPr>
          <a:xfrm>
            <a:off x="457200" y="3831336"/>
            <a:ext cx="484632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720_tdt29"/>
          <p:cNvSpPr txBox="1"/>
          <p:nvPr/>
        </p:nvSpPr>
        <p:spPr>
          <a:xfrm>
            <a:off x="530352" y="3831336"/>
            <a:ext cx="4736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=</a:t>
            </a:r>
          </a:p>
        </p:txBody>
      </p:sp>
      <p:sp>
        <p:nvSpPr>
          <p:cNvPr id="31" name="a1f_th30"/>
          <p:cNvSpPr/>
          <p:nvPr/>
        </p:nvSpPr>
        <p:spPr>
          <a:xfrm>
            <a:off x="5303520" y="1307592"/>
            <a:ext cx="3383280" cy="210312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f_tht31"/>
          <p:cNvSpPr txBox="1"/>
          <p:nvPr/>
        </p:nvSpPr>
        <p:spPr>
          <a:xfrm>
            <a:off x="5376672" y="1307592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Associativity</a:t>
            </a:r>
          </a:p>
        </p:txBody>
      </p:sp>
      <p:sp>
        <p:nvSpPr>
          <p:cNvPr id="33" name="a1wd60_td32"/>
          <p:cNvSpPr/>
          <p:nvPr/>
        </p:nvSpPr>
        <p:spPr>
          <a:xfrm>
            <a:off x="5303520" y="1517904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60_tdt33"/>
          <p:cNvSpPr txBox="1"/>
          <p:nvPr/>
        </p:nvSpPr>
        <p:spPr>
          <a:xfrm>
            <a:off x="5376672" y="1517904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tightest of all</a:t>
            </a:r>
          </a:p>
        </p:txBody>
      </p:sp>
      <p:sp>
        <p:nvSpPr>
          <p:cNvPr id="35" name="a1wd120_td34"/>
          <p:cNvSpPr/>
          <p:nvPr/>
        </p:nvSpPr>
        <p:spPr>
          <a:xfrm>
            <a:off x="5303520" y="1728216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120_tdt35"/>
          <p:cNvSpPr txBox="1"/>
          <p:nvPr/>
        </p:nvSpPr>
        <p:spPr>
          <a:xfrm>
            <a:off x="5376672" y="1728216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left</a:t>
            </a:r>
          </a:p>
        </p:txBody>
      </p:sp>
      <p:sp>
        <p:nvSpPr>
          <p:cNvPr id="37" name="a1wd180_td36"/>
          <p:cNvSpPr/>
          <p:nvPr/>
        </p:nvSpPr>
        <p:spPr>
          <a:xfrm>
            <a:off x="5303520" y="1938528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wd180_tdt37"/>
          <p:cNvSpPr txBox="1"/>
          <p:nvPr/>
        </p:nvSpPr>
        <p:spPr>
          <a:xfrm>
            <a:off x="5376672" y="1938528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left</a:t>
            </a:r>
          </a:p>
        </p:txBody>
      </p:sp>
      <p:sp>
        <p:nvSpPr>
          <p:cNvPr id="39" name="a1wd240_td38"/>
          <p:cNvSpPr/>
          <p:nvPr/>
        </p:nvSpPr>
        <p:spPr>
          <a:xfrm>
            <a:off x="5303520" y="2148840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240_tdt39"/>
          <p:cNvSpPr txBox="1"/>
          <p:nvPr/>
        </p:nvSpPr>
        <p:spPr>
          <a:xfrm>
            <a:off x="5376672" y="2148840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left</a:t>
            </a:r>
          </a:p>
        </p:txBody>
      </p:sp>
      <p:sp>
        <p:nvSpPr>
          <p:cNvPr id="41" name="a1wd300_td40"/>
          <p:cNvSpPr/>
          <p:nvPr/>
        </p:nvSpPr>
        <p:spPr>
          <a:xfrm>
            <a:off x="5303520" y="2359152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300_tdt41"/>
          <p:cNvSpPr txBox="1"/>
          <p:nvPr/>
        </p:nvSpPr>
        <p:spPr>
          <a:xfrm>
            <a:off x="5376672" y="2359152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right</a:t>
            </a:r>
          </a:p>
        </p:txBody>
      </p:sp>
      <p:sp>
        <p:nvSpPr>
          <p:cNvPr id="43" name="a1wd360_td42"/>
          <p:cNvSpPr/>
          <p:nvPr/>
        </p:nvSpPr>
        <p:spPr>
          <a:xfrm>
            <a:off x="5303520" y="2569464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360_tdt43"/>
          <p:cNvSpPr txBox="1"/>
          <p:nvPr/>
        </p:nvSpPr>
        <p:spPr>
          <a:xfrm>
            <a:off x="5376672" y="2569464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left</a:t>
            </a:r>
          </a:p>
        </p:txBody>
      </p:sp>
      <p:sp>
        <p:nvSpPr>
          <p:cNvPr id="45" name="a1wd420_td44"/>
          <p:cNvSpPr/>
          <p:nvPr/>
        </p:nvSpPr>
        <p:spPr>
          <a:xfrm>
            <a:off x="5303520" y="2779776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420_tdt45"/>
          <p:cNvSpPr txBox="1"/>
          <p:nvPr/>
        </p:nvSpPr>
        <p:spPr>
          <a:xfrm>
            <a:off x="5376672" y="2779776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left</a:t>
            </a:r>
          </a:p>
        </p:txBody>
      </p:sp>
      <p:sp>
        <p:nvSpPr>
          <p:cNvPr id="47" name="a1wd480_td46"/>
          <p:cNvSpPr/>
          <p:nvPr/>
        </p:nvSpPr>
        <p:spPr>
          <a:xfrm>
            <a:off x="5303520" y="2990088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wd480_tdt47"/>
          <p:cNvSpPr txBox="1"/>
          <p:nvPr/>
        </p:nvSpPr>
        <p:spPr>
          <a:xfrm>
            <a:off x="5376672" y="2990088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left</a:t>
            </a:r>
          </a:p>
        </p:txBody>
      </p:sp>
      <p:sp>
        <p:nvSpPr>
          <p:cNvPr id="49" name="a1wd540_td48"/>
          <p:cNvSpPr/>
          <p:nvPr/>
        </p:nvSpPr>
        <p:spPr>
          <a:xfrm>
            <a:off x="5303520" y="3200400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540_tdt49"/>
          <p:cNvSpPr txBox="1"/>
          <p:nvPr/>
        </p:nvSpPr>
        <p:spPr>
          <a:xfrm>
            <a:off x="5376672" y="3200400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left</a:t>
            </a:r>
          </a:p>
        </p:txBody>
      </p:sp>
      <p:sp>
        <p:nvSpPr>
          <p:cNvPr id="51" name="a1wd600_td50"/>
          <p:cNvSpPr/>
          <p:nvPr/>
        </p:nvSpPr>
        <p:spPr>
          <a:xfrm>
            <a:off x="5303520" y="3410712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600_tdt51"/>
          <p:cNvSpPr txBox="1"/>
          <p:nvPr/>
        </p:nvSpPr>
        <p:spPr>
          <a:xfrm>
            <a:off x="5376672" y="3410712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left</a:t>
            </a:r>
          </a:p>
        </p:txBody>
      </p:sp>
      <p:sp>
        <p:nvSpPr>
          <p:cNvPr id="53" name="a1wd660_td52"/>
          <p:cNvSpPr/>
          <p:nvPr/>
        </p:nvSpPr>
        <p:spPr>
          <a:xfrm>
            <a:off x="5303520" y="3621024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wd660_tdt53"/>
          <p:cNvSpPr txBox="1"/>
          <p:nvPr/>
        </p:nvSpPr>
        <p:spPr>
          <a:xfrm>
            <a:off x="5376672" y="3621024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left</a:t>
            </a:r>
          </a:p>
        </p:txBody>
      </p:sp>
      <p:sp>
        <p:nvSpPr>
          <p:cNvPr id="55" name="a1wd720_td54"/>
          <p:cNvSpPr/>
          <p:nvPr/>
        </p:nvSpPr>
        <p:spPr>
          <a:xfrm>
            <a:off x="5303520" y="3831336"/>
            <a:ext cx="338328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1wd720_tdt55"/>
          <p:cNvSpPr txBox="1"/>
          <p:nvPr/>
        </p:nvSpPr>
        <p:spPr>
          <a:xfrm>
            <a:off x="5376672" y="3831336"/>
            <a:ext cx="327355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right</a:t>
            </a:r>
          </a:p>
        </p:txBody>
      </p:sp>
      <p:sp>
        <p:nvSpPr>
          <p:cNvPr id="57" name="a2f_nb56"/>
          <p:cNvSpPr/>
          <p:nvPr/>
        </p:nvSpPr>
        <p:spPr>
          <a:xfrm>
            <a:off x="457200" y="4151376"/>
            <a:ext cx="8229600" cy="438912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2f_nacc57"/>
          <p:cNvSpPr/>
          <p:nvPr/>
        </p:nvSpPr>
        <p:spPr>
          <a:xfrm>
            <a:off x="457200" y="4151376"/>
            <a:ext cx="50292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2f_nt58"/>
          <p:cNvSpPr txBox="1"/>
          <p:nvPr/>
        </p:nvSpPr>
        <p:spPr>
          <a:xfrm>
            <a:off x="658368" y="4151376"/>
            <a:ext cx="782726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✓  </a:t>
            </a:r>
            <a:r>
              <a:rPr sz="1050" b="0">
                <a:solidFill>
                  <a:srgbClr val="334155"/>
                </a:solidFill>
                <a:latin typeface="Calibri"/>
              </a:rPr>
              <a:t>Three to remember: = is the loosest and associates right; ** is the tightest; and |&gt; sits in the middle — looser than ++ and arithmetic, tighter than comparison.</a:t>
            </a:r>
          </a:p>
        </p:txBody>
      </p:sp>
      <p:sp>
        <p:nvSpPr>
          <p:cNvPr id="60" name="ft5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61" name="ft6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09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Your own operators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 small set of symbols is reserved
for you. The rest are not.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~&gt;  +++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redefining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what is impossible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CUSTOM OPERATORS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Defining an operator is defining a function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name is the symbol. Everything else is an ordinary def.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62456"/>
            <a:ext cx="4297680" cy="2752344"/>
          </a:xfrm>
          <a:prstGeom prst="roundRect">
            <a:avLst>
              <a:gd name="adj" fmla="val 265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417320"/>
            <a:ext cx="39684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801368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defmodule Money do</a:t>
            </a:r>
          </a:p>
        </p:txBody>
      </p:sp>
      <p:sp>
        <p:nvSpPr>
          <p:cNvPr id="8" name="a1wd80_code7"/>
          <p:cNvSpPr txBox="1"/>
          <p:nvPr/>
        </p:nvSpPr>
        <p:spPr>
          <a:xfrm>
            <a:off x="621792" y="2016252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defstruct [:amount, :currency]</a:t>
            </a:r>
          </a:p>
        </p:txBody>
      </p:sp>
      <p:sp>
        <p:nvSpPr>
          <p:cNvPr id="9" name="a1wd160_code8"/>
          <p:cNvSpPr txBox="1"/>
          <p:nvPr/>
        </p:nvSpPr>
        <p:spPr>
          <a:xfrm>
            <a:off x="621792" y="2231136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240_code9"/>
          <p:cNvSpPr txBox="1"/>
          <p:nvPr/>
        </p:nvSpPr>
        <p:spPr>
          <a:xfrm>
            <a:off x="621792" y="2446020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a ~&gt; b,</a:t>
            </a:r>
          </a:p>
        </p:txBody>
      </p:sp>
      <p:sp>
        <p:nvSpPr>
          <p:cNvPr id="11" name="a1wd320_code10"/>
          <p:cNvSpPr txBox="1"/>
          <p:nvPr/>
        </p:nvSpPr>
        <p:spPr>
          <a:xfrm>
            <a:off x="621792" y="2660904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do: %Money{amount: a, currency: b}</a:t>
            </a:r>
          </a:p>
        </p:txBody>
      </p:sp>
      <p:sp>
        <p:nvSpPr>
          <p:cNvPr id="12" name="a1wd400_code11"/>
          <p:cNvSpPr txBox="1"/>
          <p:nvPr/>
        </p:nvSpPr>
        <p:spPr>
          <a:xfrm>
            <a:off x="621792" y="2875787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480_code12"/>
          <p:cNvSpPr txBox="1"/>
          <p:nvPr/>
        </p:nvSpPr>
        <p:spPr>
          <a:xfrm>
            <a:off x="621792" y="3090672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def a +++ b,</a:t>
            </a:r>
          </a:p>
        </p:txBody>
      </p:sp>
      <p:sp>
        <p:nvSpPr>
          <p:cNvPr id="14" name="a1wd560_code13"/>
          <p:cNvSpPr txBox="1"/>
          <p:nvPr/>
        </p:nvSpPr>
        <p:spPr>
          <a:xfrm>
            <a:off x="621792" y="3305556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do: %Money{amount: a.amount + b.amount,</a:t>
            </a:r>
          </a:p>
        </p:txBody>
      </p:sp>
      <p:sp>
        <p:nvSpPr>
          <p:cNvPr id="15" name="a1wd640_code14"/>
          <p:cNvSpPr txBox="1"/>
          <p:nvPr/>
        </p:nvSpPr>
        <p:spPr>
          <a:xfrm>
            <a:off x="621792" y="3520439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              currency: a.currency}</a:t>
            </a:r>
          </a:p>
        </p:txBody>
      </p:sp>
      <p:sp>
        <p:nvSpPr>
          <p:cNvPr id="16" name="a1wd720_code15"/>
          <p:cNvSpPr txBox="1"/>
          <p:nvPr/>
        </p:nvSpPr>
        <p:spPr>
          <a:xfrm>
            <a:off x="621792" y="3735324"/>
            <a:ext cx="39684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17" name="a2f_codebg16"/>
          <p:cNvSpPr/>
          <p:nvPr/>
        </p:nvSpPr>
        <p:spPr>
          <a:xfrm>
            <a:off x="4892040" y="1362456"/>
            <a:ext cx="3794760" cy="2537459"/>
          </a:xfrm>
          <a:prstGeom prst="roundRect">
            <a:avLst>
              <a:gd name="adj" fmla="val 2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codeh17"/>
          <p:cNvSpPr txBox="1"/>
          <p:nvPr/>
        </p:nvSpPr>
        <p:spPr>
          <a:xfrm>
            <a:off x="5056631" y="1417320"/>
            <a:ext cx="3465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19" name="a2w_code18"/>
          <p:cNvSpPr txBox="1"/>
          <p:nvPr/>
        </p:nvSpPr>
        <p:spPr>
          <a:xfrm>
            <a:off x="5056631" y="1801368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import Money</a:t>
            </a:r>
          </a:p>
        </p:txBody>
      </p:sp>
      <p:sp>
        <p:nvSpPr>
          <p:cNvPr id="20" name="a2wd80_code19"/>
          <p:cNvSpPr txBox="1"/>
          <p:nvPr/>
        </p:nvSpPr>
        <p:spPr>
          <a:xfrm>
            <a:off x="5056631" y="2016252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1" name="a2wd160_code20"/>
          <p:cNvSpPr txBox="1"/>
          <p:nvPr/>
        </p:nvSpPr>
        <p:spPr>
          <a:xfrm>
            <a:off x="5056631" y="2231136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5 ~&gt; :inr</a:t>
            </a:r>
          </a:p>
        </p:txBody>
      </p:sp>
      <p:sp>
        <p:nvSpPr>
          <p:cNvPr id="22" name="a2wd240_code21"/>
          <p:cNvSpPr txBox="1"/>
          <p:nvPr/>
        </p:nvSpPr>
        <p:spPr>
          <a:xfrm>
            <a:off x="5056631" y="2446020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%Money{amount: 5,</a:t>
            </a:r>
          </a:p>
        </p:txBody>
      </p:sp>
      <p:sp>
        <p:nvSpPr>
          <p:cNvPr id="23" name="a2wd320_code22"/>
          <p:cNvSpPr txBox="1"/>
          <p:nvPr/>
        </p:nvSpPr>
        <p:spPr>
          <a:xfrm>
            <a:off x="5056631" y="2660904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          currency: :inr}</a:t>
            </a:r>
          </a:p>
        </p:txBody>
      </p:sp>
      <p:sp>
        <p:nvSpPr>
          <p:cNvPr id="24" name="a2wd400_code23"/>
          <p:cNvSpPr txBox="1"/>
          <p:nvPr/>
        </p:nvSpPr>
        <p:spPr>
          <a:xfrm>
            <a:off x="5056631" y="2875787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5" name="a2wd480_code24"/>
          <p:cNvSpPr txBox="1"/>
          <p:nvPr/>
        </p:nvSpPr>
        <p:spPr>
          <a:xfrm>
            <a:off x="5056631" y="3090672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(5 ~&gt; :inr) +++ (10 ~&gt; :inr)</a:t>
            </a:r>
          </a:p>
        </p:txBody>
      </p:sp>
      <p:sp>
        <p:nvSpPr>
          <p:cNvPr id="26" name="a2wd560_code25"/>
          <p:cNvSpPr txBox="1"/>
          <p:nvPr/>
        </p:nvSpPr>
        <p:spPr>
          <a:xfrm>
            <a:off x="5056631" y="3305556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%Money{amount: 15,</a:t>
            </a:r>
          </a:p>
        </p:txBody>
      </p:sp>
      <p:sp>
        <p:nvSpPr>
          <p:cNvPr id="27" name="a2wd640_code26"/>
          <p:cNvSpPr txBox="1"/>
          <p:nvPr/>
        </p:nvSpPr>
        <p:spPr>
          <a:xfrm>
            <a:off x="5056631" y="3520439"/>
            <a:ext cx="34655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          currency: :inr}</a:t>
            </a:r>
          </a:p>
        </p:txBody>
      </p:sp>
      <p:sp>
        <p:nvSpPr>
          <p:cNvPr id="28" name="a3f_nb27"/>
          <p:cNvSpPr/>
          <p:nvPr/>
        </p:nvSpPr>
        <p:spPr>
          <a:xfrm>
            <a:off x="457200" y="426110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f_nacc28"/>
          <p:cNvSpPr/>
          <p:nvPr/>
        </p:nvSpPr>
        <p:spPr>
          <a:xfrm>
            <a:off x="457200" y="4261104"/>
            <a:ext cx="50292" cy="47548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f_nt29"/>
          <p:cNvSpPr txBox="1"/>
          <p:nvPr/>
        </p:nvSpPr>
        <p:spPr>
          <a:xfrm>
            <a:off x="658368" y="426110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You cannot choose its precedence. Each symbol already sits at a fixed place in the table, so pick one whose precedence suits the meaning you want.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CUSTOM OPERATORS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you may and may not do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33856"/>
            <a:ext cx="2609088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33856"/>
            <a:ext cx="2609088" cy="502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90_ct5"/>
          <p:cNvSpPr txBox="1"/>
          <p:nvPr/>
        </p:nvSpPr>
        <p:spPr>
          <a:xfrm>
            <a:off x="621792" y="1335024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Free to define</a:t>
            </a:r>
          </a:p>
        </p:txBody>
      </p:sp>
      <p:sp>
        <p:nvSpPr>
          <p:cNvPr id="7" name="a1ud120_cs6"/>
          <p:cNvSpPr txBox="1"/>
          <p:nvPr/>
        </p:nvSpPr>
        <p:spPr>
          <a:xfrm>
            <a:off x="621792" y="1609344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5803D"/>
                </a:solidFill>
                <a:latin typeface="Courier New"/>
              </a:rPr>
              <a:t>~&gt;  &lt;~  +++  ---</a:t>
            </a:r>
          </a:p>
        </p:txBody>
      </p:sp>
      <p:sp>
        <p:nvSpPr>
          <p:cNvPr id="8" name="a1ud150_cb7"/>
          <p:cNvSpPr txBox="1"/>
          <p:nvPr/>
        </p:nvSpPr>
        <p:spPr>
          <a:xfrm>
            <a:off x="621792" y="1865376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5803D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Also &lt;&lt;~ ~&gt;&gt; &lt;~&gt; |||</a:t>
            </a:r>
          </a:p>
        </p:txBody>
      </p:sp>
      <p:sp>
        <p:nvSpPr>
          <p:cNvPr id="9" name="a1ud220_cb8"/>
          <p:cNvSpPr txBox="1"/>
          <p:nvPr/>
        </p:nvSpPr>
        <p:spPr>
          <a:xfrm>
            <a:off x="621792" y="2249424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5803D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Some clash with Bitwise</a:t>
            </a:r>
          </a:p>
        </p:txBody>
      </p:sp>
      <p:sp>
        <p:nvSpPr>
          <p:cNvPr id="10" name="a2u_card9"/>
          <p:cNvSpPr/>
          <p:nvPr/>
        </p:nvSpPr>
        <p:spPr>
          <a:xfrm>
            <a:off x="3267456" y="1133856"/>
            <a:ext cx="2609088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u_acc10"/>
          <p:cNvSpPr/>
          <p:nvPr/>
        </p:nvSpPr>
        <p:spPr>
          <a:xfrm>
            <a:off x="3267456" y="1133856"/>
            <a:ext cx="2609088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ud90_ct11"/>
          <p:cNvSpPr txBox="1"/>
          <p:nvPr/>
        </p:nvSpPr>
        <p:spPr>
          <a:xfrm>
            <a:off x="3432048" y="1335024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Redefinable</a:t>
            </a:r>
          </a:p>
        </p:txBody>
      </p:sp>
      <p:sp>
        <p:nvSpPr>
          <p:cNvPr id="13" name="a2ud120_cs12"/>
          <p:cNvSpPr txBox="1"/>
          <p:nvPr/>
        </p:nvSpPr>
        <p:spPr>
          <a:xfrm>
            <a:off x="3432048" y="1609344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import Kernel, except:</a:t>
            </a:r>
          </a:p>
        </p:txBody>
      </p:sp>
      <p:sp>
        <p:nvSpPr>
          <p:cNvPr id="14" name="a2ud150_cb13"/>
          <p:cNvSpPr txBox="1"/>
          <p:nvPr/>
        </p:nvSpPr>
        <p:spPr>
          <a:xfrm>
            <a:off x="3432048" y="1865376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Only inside that module</a:t>
            </a:r>
          </a:p>
        </p:txBody>
      </p:sp>
      <p:sp>
        <p:nvSpPr>
          <p:cNvPr id="15" name="a2ud220_cb14"/>
          <p:cNvSpPr txBox="1"/>
          <p:nvPr/>
        </p:nvSpPr>
        <p:spPr>
          <a:xfrm>
            <a:off x="3432048" y="2249424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Almost always a bad idea</a:t>
            </a:r>
          </a:p>
        </p:txBody>
      </p:sp>
      <p:sp>
        <p:nvSpPr>
          <p:cNvPr id="16" name="a3u_card15"/>
          <p:cNvSpPr/>
          <p:nvPr/>
        </p:nvSpPr>
        <p:spPr>
          <a:xfrm>
            <a:off x="6077712" y="1133856"/>
            <a:ext cx="2609088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u_acc16"/>
          <p:cNvSpPr/>
          <p:nvPr/>
        </p:nvSpPr>
        <p:spPr>
          <a:xfrm>
            <a:off x="6077712" y="1133856"/>
            <a:ext cx="2609088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ud90_ct17"/>
          <p:cNvSpPr txBox="1"/>
          <p:nvPr/>
        </p:nvSpPr>
        <p:spPr>
          <a:xfrm>
            <a:off x="6242304" y="1335024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Impossible</a:t>
            </a:r>
          </a:p>
        </p:txBody>
      </p:sp>
      <p:sp>
        <p:nvSpPr>
          <p:cNvPr id="19" name="a3ud120_cs18"/>
          <p:cNvSpPr txBox="1"/>
          <p:nvPr/>
        </p:nvSpPr>
        <p:spPr>
          <a:xfrm>
            <a:off x="6242304" y="1609344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0533"/>
                </a:solidFill>
                <a:latin typeface="Courier New"/>
              </a:rPr>
              <a:t>def a &lt;-&gt; b</a:t>
            </a:r>
          </a:p>
        </p:txBody>
      </p:sp>
      <p:sp>
        <p:nvSpPr>
          <p:cNvPr id="20" name="a3ud150_cb19"/>
          <p:cNvSpPr txBox="1"/>
          <p:nvPr/>
        </p:nvSpPr>
        <p:spPr>
          <a:xfrm>
            <a:off x="6242304" y="1865376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** (SyntaxError)</a:t>
            </a:r>
          </a:p>
        </p:txBody>
      </p:sp>
      <p:sp>
        <p:nvSpPr>
          <p:cNvPr id="21" name="a3ud220_cb20"/>
          <p:cNvSpPr txBox="1"/>
          <p:nvPr/>
        </p:nvSpPr>
        <p:spPr>
          <a:xfrm>
            <a:off x="6242304" y="2249424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You cannot invent symbols</a:t>
            </a:r>
          </a:p>
        </p:txBody>
      </p:sp>
      <p:sp>
        <p:nvSpPr>
          <p:cNvPr id="22" name="a4f_codebg21"/>
          <p:cNvSpPr/>
          <p:nvPr/>
        </p:nvSpPr>
        <p:spPr>
          <a:xfrm>
            <a:off x="457200" y="2871216"/>
            <a:ext cx="8229600" cy="1755648"/>
          </a:xfrm>
          <a:prstGeom prst="roundRect">
            <a:avLst>
              <a:gd name="adj" fmla="val 416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4f_codeh22"/>
          <p:cNvSpPr txBox="1"/>
          <p:nvPr/>
        </p:nvSpPr>
        <p:spPr>
          <a:xfrm>
            <a:off x="621792" y="2926080"/>
            <a:ext cx="7900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shadowing is module-local</a:t>
            </a:r>
          </a:p>
        </p:txBody>
      </p:sp>
      <p:sp>
        <p:nvSpPr>
          <p:cNvPr id="24" name="a4w_code23"/>
          <p:cNvSpPr txBox="1"/>
          <p:nvPr/>
        </p:nvSpPr>
        <p:spPr>
          <a:xfrm>
            <a:off x="621792" y="3310128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defmodule Weird do</a:t>
            </a:r>
          </a:p>
        </p:txBody>
      </p:sp>
      <p:sp>
        <p:nvSpPr>
          <p:cNvPr id="25" name="a4wd85_code24"/>
          <p:cNvSpPr txBox="1"/>
          <p:nvPr/>
        </p:nvSpPr>
        <p:spPr>
          <a:xfrm>
            <a:off x="621792" y="3502152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import Kernel, except: [+: 2]</a:t>
            </a:r>
          </a:p>
        </p:txBody>
      </p:sp>
      <p:sp>
        <p:nvSpPr>
          <p:cNvPr id="26" name="a4wd170_code25"/>
          <p:cNvSpPr txBox="1"/>
          <p:nvPr/>
        </p:nvSpPr>
        <p:spPr>
          <a:xfrm>
            <a:off x="621792" y="3694176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  def a + b, do: "I refuse to add #{inspect(a)} and #{inspect(b)}"</a:t>
            </a:r>
          </a:p>
        </p:txBody>
      </p:sp>
      <p:sp>
        <p:nvSpPr>
          <p:cNvPr id="27" name="a4wd255_code26"/>
          <p:cNvSpPr txBox="1"/>
          <p:nvPr/>
        </p:nvSpPr>
        <p:spPr>
          <a:xfrm>
            <a:off x="621792" y="3886200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9B3E8"/>
                </a:solidFill>
                <a:latin typeface="Courier New"/>
              </a:rPr>
              <a:t>end</a:t>
            </a:r>
          </a:p>
        </p:txBody>
      </p:sp>
      <p:sp>
        <p:nvSpPr>
          <p:cNvPr id="28" name="a4wd340_code27"/>
          <p:cNvSpPr txBox="1"/>
          <p:nvPr/>
        </p:nvSpPr>
        <p:spPr>
          <a:xfrm>
            <a:off x="621792" y="4078224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Weird.demo   #=&gt; "I refuse to add 1 and 2"</a:t>
            </a:r>
          </a:p>
        </p:txBody>
      </p:sp>
      <p:sp>
        <p:nvSpPr>
          <p:cNvPr id="29" name="a4wd425_code28"/>
          <p:cNvSpPr txBox="1"/>
          <p:nvPr/>
        </p:nvSpPr>
        <p:spPr>
          <a:xfrm>
            <a:off x="621792" y="4270248"/>
            <a:ext cx="7900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1 + 2        #=&gt; 3   everywhere else, Kernel.+ is untouched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IDIOM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Four habits worth forming now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52144"/>
            <a:ext cx="1906524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52144"/>
            <a:ext cx="1906524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90_ct5"/>
          <p:cNvSpPr txBox="1"/>
          <p:nvPr/>
        </p:nvSpPr>
        <p:spPr>
          <a:xfrm>
            <a:off x="621792" y="1353312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Pipe from a value</a:t>
            </a:r>
          </a:p>
        </p:txBody>
      </p:sp>
      <p:sp>
        <p:nvSpPr>
          <p:cNvPr id="7" name="a1ud120_cs6"/>
          <p:cNvSpPr txBox="1"/>
          <p:nvPr/>
        </p:nvSpPr>
        <p:spPr>
          <a:xfrm>
            <a:off x="621792" y="1627632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not an expression</a:t>
            </a:r>
          </a:p>
        </p:txBody>
      </p:sp>
      <p:sp>
        <p:nvSpPr>
          <p:cNvPr id="8" name="a1ud150_cb7"/>
          <p:cNvSpPr txBox="1"/>
          <p:nvPr/>
        </p:nvSpPr>
        <p:spPr>
          <a:xfrm>
            <a:off x="621792" y="188366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list |&gt; Enum.map(...)</a:t>
            </a:r>
          </a:p>
        </p:txBody>
      </p:sp>
      <p:sp>
        <p:nvSpPr>
          <p:cNvPr id="9" name="a1ud220_cb8"/>
          <p:cNvSpPr txBox="1"/>
          <p:nvPr/>
        </p:nvSpPr>
        <p:spPr>
          <a:xfrm>
            <a:off x="621792" y="226771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Never 1 + 2 |&gt; f()</a:t>
            </a:r>
          </a:p>
        </p:txBody>
      </p:sp>
      <p:sp>
        <p:nvSpPr>
          <p:cNvPr id="10" name="a2u_card9"/>
          <p:cNvSpPr/>
          <p:nvPr/>
        </p:nvSpPr>
        <p:spPr>
          <a:xfrm>
            <a:off x="2564892" y="1152144"/>
            <a:ext cx="1906524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u_acc10"/>
          <p:cNvSpPr/>
          <p:nvPr/>
        </p:nvSpPr>
        <p:spPr>
          <a:xfrm>
            <a:off x="2564892" y="1152144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ud90_ct11"/>
          <p:cNvSpPr txBox="1"/>
          <p:nvPr/>
        </p:nvSpPr>
        <p:spPr>
          <a:xfrm>
            <a:off x="2729484" y="1353312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div, not /</a:t>
            </a:r>
          </a:p>
        </p:txBody>
      </p:sp>
      <p:sp>
        <p:nvSpPr>
          <p:cNvPr id="13" name="a2ud120_cs12"/>
          <p:cNvSpPr txBox="1"/>
          <p:nvPr/>
        </p:nvSpPr>
        <p:spPr>
          <a:xfrm>
            <a:off x="2729484" y="1627632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/ is always a float</a:t>
            </a:r>
          </a:p>
        </p:txBody>
      </p:sp>
      <p:sp>
        <p:nvSpPr>
          <p:cNvPr id="14" name="a2ud150_cb13"/>
          <p:cNvSpPr txBox="1"/>
          <p:nvPr/>
        </p:nvSpPr>
        <p:spPr>
          <a:xfrm>
            <a:off x="2729484" y="188366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4 / 2 is 2.0</a:t>
            </a:r>
          </a:p>
        </p:txBody>
      </p:sp>
      <p:sp>
        <p:nvSpPr>
          <p:cNvPr id="15" name="a2ud220_cb14"/>
          <p:cNvSpPr txBox="1"/>
          <p:nvPr/>
        </p:nvSpPr>
        <p:spPr>
          <a:xfrm>
            <a:off x="2729484" y="226771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div(4, 2) is 2</a:t>
            </a:r>
          </a:p>
        </p:txBody>
      </p:sp>
      <p:sp>
        <p:nvSpPr>
          <p:cNvPr id="16" name="a3u_card15"/>
          <p:cNvSpPr/>
          <p:nvPr/>
        </p:nvSpPr>
        <p:spPr>
          <a:xfrm>
            <a:off x="4672584" y="1152144"/>
            <a:ext cx="1906524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u_acc16"/>
          <p:cNvSpPr/>
          <p:nvPr/>
        </p:nvSpPr>
        <p:spPr>
          <a:xfrm>
            <a:off x="4672584" y="1152144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ud90_ct17"/>
          <p:cNvSpPr txBox="1"/>
          <p:nvPr/>
        </p:nvSpPr>
        <p:spPr>
          <a:xfrm>
            <a:off x="4837176" y="1353312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Type check first</a:t>
            </a:r>
          </a:p>
        </p:txBody>
      </p:sp>
      <p:sp>
        <p:nvSpPr>
          <p:cNvPr id="19" name="a3ud120_cs18"/>
          <p:cNvSpPr txBox="1"/>
          <p:nvPr/>
        </p:nvSpPr>
        <p:spPr>
          <a:xfrm>
            <a:off x="4837176" y="1627632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is_integer(x) and x &gt; 10</a:t>
            </a:r>
          </a:p>
        </p:txBody>
      </p:sp>
      <p:sp>
        <p:nvSpPr>
          <p:cNvPr id="20" name="a3ud150_cb19"/>
          <p:cNvSpPr txBox="1"/>
          <p:nvPr/>
        </p:nvSpPr>
        <p:spPr>
          <a:xfrm>
            <a:off x="4837176" y="188366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Any two terms compare</a:t>
            </a:r>
          </a:p>
        </p:txBody>
      </p:sp>
      <p:sp>
        <p:nvSpPr>
          <p:cNvPr id="21" name="a3ud220_cb20"/>
          <p:cNvSpPr txBox="1"/>
          <p:nvPr/>
        </p:nvSpPr>
        <p:spPr>
          <a:xfrm>
            <a:off x="4837176" y="226771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bare &gt; accepts anything</a:t>
            </a:r>
          </a:p>
        </p:txBody>
      </p:sp>
      <p:sp>
        <p:nvSpPr>
          <p:cNvPr id="22" name="a4u_card21"/>
          <p:cNvSpPr/>
          <p:nvPr/>
        </p:nvSpPr>
        <p:spPr>
          <a:xfrm>
            <a:off x="6780276" y="1152144"/>
            <a:ext cx="1906524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4u_acc22"/>
          <p:cNvSpPr/>
          <p:nvPr/>
        </p:nvSpPr>
        <p:spPr>
          <a:xfrm>
            <a:off x="6780276" y="1152144"/>
            <a:ext cx="1906524" cy="50292"/>
          </a:xfrm>
          <a:prstGeom prst="rect">
            <a:avLst/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4ud90_ct23"/>
          <p:cNvSpPr txBox="1"/>
          <p:nvPr/>
        </p:nvSpPr>
        <p:spPr>
          <a:xfrm>
            <a:off x="6944868" y="1353312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Bracket surprises</a:t>
            </a:r>
          </a:p>
        </p:txBody>
      </p:sp>
      <p:sp>
        <p:nvSpPr>
          <p:cNvPr id="25" name="a4ud120_cs24"/>
          <p:cNvSpPr txBox="1"/>
          <p:nvPr/>
        </p:nvSpPr>
        <p:spPr>
          <a:xfrm>
            <a:off x="6944868" y="1627632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90533"/>
                </a:solidFill>
                <a:latin typeface="Courier New"/>
              </a:rPr>
              <a:t>-(x ** 2)</a:t>
            </a:r>
          </a:p>
        </p:txBody>
      </p:sp>
      <p:sp>
        <p:nvSpPr>
          <p:cNvPr id="26" name="a4ud150_cb25"/>
          <p:cNvSpPr txBox="1"/>
          <p:nvPr/>
        </p:nvSpPr>
        <p:spPr>
          <a:xfrm>
            <a:off x="6944868" y="188366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** is left associative here</a:t>
            </a:r>
          </a:p>
        </p:txBody>
      </p:sp>
      <p:sp>
        <p:nvSpPr>
          <p:cNvPr id="27" name="a4ud220_cb26"/>
          <p:cNvSpPr txBox="1"/>
          <p:nvPr/>
        </p:nvSpPr>
        <p:spPr>
          <a:xfrm>
            <a:off x="6944868" y="226771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90533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Unary minus binds tighter</a:t>
            </a:r>
          </a:p>
        </p:txBody>
      </p:sp>
      <p:sp>
        <p:nvSpPr>
          <p:cNvPr id="28" name="a5f_nb27"/>
          <p:cNvSpPr/>
          <p:nvPr/>
        </p:nvSpPr>
        <p:spPr>
          <a:xfrm>
            <a:off x="457200" y="288950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5f_nacc28"/>
          <p:cNvSpPr/>
          <p:nvPr/>
        </p:nvSpPr>
        <p:spPr>
          <a:xfrm>
            <a:off x="457200" y="2889504"/>
            <a:ext cx="50292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5f_nt29"/>
          <p:cNvSpPr txBox="1"/>
          <p:nvPr/>
        </p:nvSpPr>
        <p:spPr>
          <a:xfrm>
            <a:off x="658368" y="2889504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And one to unlearn: defining your own operator is rarely the readable choice. ~&gt; tells a reader nothing; to_money/2 tells them everything. Reserve custom operators for a domain where the symbol is already standard notation.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REFERENCE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Cheat sheet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Print this one.</a:t>
            </a:r>
          </a:p>
        </p:txBody>
      </p:sp>
      <p:sp>
        <p:nvSpPr>
          <p:cNvPr id="5" name="a1f_th4"/>
          <p:cNvSpPr/>
          <p:nvPr/>
        </p:nvSpPr>
        <p:spPr>
          <a:xfrm>
            <a:off x="457200" y="1307592"/>
            <a:ext cx="1691640" cy="20574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tht5"/>
          <p:cNvSpPr txBox="1"/>
          <p:nvPr/>
        </p:nvSpPr>
        <p:spPr>
          <a:xfrm>
            <a:off x="530352" y="130759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Operator</a:t>
            </a:r>
          </a:p>
        </p:txBody>
      </p:sp>
      <p:sp>
        <p:nvSpPr>
          <p:cNvPr id="7" name="a1wd45_td6"/>
          <p:cNvSpPr/>
          <p:nvPr/>
        </p:nvSpPr>
        <p:spPr>
          <a:xfrm>
            <a:off x="457200" y="151333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45_tdt7"/>
          <p:cNvSpPr txBox="1"/>
          <p:nvPr/>
        </p:nvSpPr>
        <p:spPr>
          <a:xfrm>
            <a:off x="530352" y="151333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+ - *</a:t>
            </a:r>
          </a:p>
        </p:txBody>
      </p:sp>
      <p:sp>
        <p:nvSpPr>
          <p:cNvPr id="9" name="a1wd90_td8"/>
          <p:cNvSpPr/>
          <p:nvPr/>
        </p:nvSpPr>
        <p:spPr>
          <a:xfrm>
            <a:off x="457200" y="171907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90_tdt9"/>
          <p:cNvSpPr txBox="1"/>
          <p:nvPr/>
        </p:nvSpPr>
        <p:spPr>
          <a:xfrm>
            <a:off x="530352" y="171907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/</a:t>
            </a:r>
          </a:p>
        </p:txBody>
      </p:sp>
      <p:sp>
        <p:nvSpPr>
          <p:cNvPr id="11" name="a1wd135_td10"/>
          <p:cNvSpPr/>
          <p:nvPr/>
        </p:nvSpPr>
        <p:spPr>
          <a:xfrm>
            <a:off x="457200" y="192481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135_tdt11"/>
          <p:cNvSpPr txBox="1"/>
          <p:nvPr/>
        </p:nvSpPr>
        <p:spPr>
          <a:xfrm>
            <a:off x="530352" y="192481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div  rem</a:t>
            </a:r>
          </a:p>
        </p:txBody>
      </p:sp>
      <p:sp>
        <p:nvSpPr>
          <p:cNvPr id="13" name="a1wd180_td12"/>
          <p:cNvSpPr/>
          <p:nvPr/>
        </p:nvSpPr>
        <p:spPr>
          <a:xfrm>
            <a:off x="457200" y="213055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180_tdt13"/>
          <p:cNvSpPr txBox="1"/>
          <p:nvPr/>
        </p:nvSpPr>
        <p:spPr>
          <a:xfrm>
            <a:off x="530352" y="213055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**</a:t>
            </a:r>
          </a:p>
        </p:txBody>
      </p:sp>
      <p:sp>
        <p:nvSpPr>
          <p:cNvPr id="15" name="a1wd225_td14"/>
          <p:cNvSpPr/>
          <p:nvPr/>
        </p:nvSpPr>
        <p:spPr>
          <a:xfrm>
            <a:off x="457200" y="2336291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225_tdt15"/>
          <p:cNvSpPr txBox="1"/>
          <p:nvPr/>
        </p:nvSpPr>
        <p:spPr>
          <a:xfrm>
            <a:off x="530352" y="2336291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==  ===</a:t>
            </a:r>
          </a:p>
        </p:txBody>
      </p:sp>
      <p:sp>
        <p:nvSpPr>
          <p:cNvPr id="17" name="a1wd270_td16"/>
          <p:cNvSpPr/>
          <p:nvPr/>
        </p:nvSpPr>
        <p:spPr>
          <a:xfrm>
            <a:off x="457200" y="254203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270_tdt17"/>
          <p:cNvSpPr txBox="1"/>
          <p:nvPr/>
        </p:nvSpPr>
        <p:spPr>
          <a:xfrm>
            <a:off x="530352" y="254203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&lt;  &gt;  &lt;=  &gt;=</a:t>
            </a:r>
          </a:p>
        </p:txBody>
      </p:sp>
      <p:sp>
        <p:nvSpPr>
          <p:cNvPr id="19" name="a1wd315_td18"/>
          <p:cNvSpPr/>
          <p:nvPr/>
        </p:nvSpPr>
        <p:spPr>
          <a:xfrm>
            <a:off x="457200" y="274777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315_tdt19"/>
          <p:cNvSpPr txBox="1"/>
          <p:nvPr/>
        </p:nvSpPr>
        <p:spPr>
          <a:xfrm>
            <a:off x="530352" y="274777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and or not</a:t>
            </a:r>
          </a:p>
        </p:txBody>
      </p:sp>
      <p:sp>
        <p:nvSpPr>
          <p:cNvPr id="21" name="a1wd360_td20"/>
          <p:cNvSpPr/>
          <p:nvPr/>
        </p:nvSpPr>
        <p:spPr>
          <a:xfrm>
            <a:off x="457200" y="295351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360_tdt21"/>
          <p:cNvSpPr txBox="1"/>
          <p:nvPr/>
        </p:nvSpPr>
        <p:spPr>
          <a:xfrm>
            <a:off x="530352" y="295351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&amp;&amp;  ||  !</a:t>
            </a:r>
          </a:p>
        </p:txBody>
      </p:sp>
      <p:sp>
        <p:nvSpPr>
          <p:cNvPr id="23" name="a1wd405_td22"/>
          <p:cNvSpPr/>
          <p:nvPr/>
        </p:nvSpPr>
        <p:spPr>
          <a:xfrm>
            <a:off x="457200" y="315925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405_tdt23"/>
          <p:cNvSpPr txBox="1"/>
          <p:nvPr/>
        </p:nvSpPr>
        <p:spPr>
          <a:xfrm>
            <a:off x="530352" y="315925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&lt;&gt;</a:t>
            </a:r>
          </a:p>
        </p:txBody>
      </p:sp>
      <p:sp>
        <p:nvSpPr>
          <p:cNvPr id="25" name="a1wd450_td24"/>
          <p:cNvSpPr/>
          <p:nvPr/>
        </p:nvSpPr>
        <p:spPr>
          <a:xfrm>
            <a:off x="457200" y="3364991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450_tdt25"/>
          <p:cNvSpPr txBox="1"/>
          <p:nvPr/>
        </p:nvSpPr>
        <p:spPr>
          <a:xfrm>
            <a:off x="530352" y="3364991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++  --</a:t>
            </a:r>
          </a:p>
        </p:txBody>
      </p:sp>
      <p:sp>
        <p:nvSpPr>
          <p:cNvPr id="27" name="a1wd495_td26"/>
          <p:cNvSpPr/>
          <p:nvPr/>
        </p:nvSpPr>
        <p:spPr>
          <a:xfrm>
            <a:off x="457200" y="357073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495_tdt27"/>
          <p:cNvSpPr txBox="1"/>
          <p:nvPr/>
        </p:nvSpPr>
        <p:spPr>
          <a:xfrm>
            <a:off x="530352" y="357073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in</a:t>
            </a:r>
          </a:p>
        </p:txBody>
      </p:sp>
      <p:sp>
        <p:nvSpPr>
          <p:cNvPr id="29" name="a1wd540_td28"/>
          <p:cNvSpPr/>
          <p:nvPr/>
        </p:nvSpPr>
        <p:spPr>
          <a:xfrm>
            <a:off x="457200" y="377647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540_tdt29"/>
          <p:cNvSpPr txBox="1"/>
          <p:nvPr/>
        </p:nvSpPr>
        <p:spPr>
          <a:xfrm>
            <a:off x="530352" y="377647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..  ..//</a:t>
            </a:r>
          </a:p>
        </p:txBody>
      </p:sp>
      <p:sp>
        <p:nvSpPr>
          <p:cNvPr id="31" name="a1wd585_td30"/>
          <p:cNvSpPr/>
          <p:nvPr/>
        </p:nvSpPr>
        <p:spPr>
          <a:xfrm>
            <a:off x="457200" y="398221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585_tdt31"/>
          <p:cNvSpPr txBox="1"/>
          <p:nvPr/>
        </p:nvSpPr>
        <p:spPr>
          <a:xfrm>
            <a:off x="530352" y="398221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.   []</a:t>
            </a:r>
          </a:p>
        </p:txBody>
      </p:sp>
      <p:sp>
        <p:nvSpPr>
          <p:cNvPr id="33" name="a1wd630_td32"/>
          <p:cNvSpPr/>
          <p:nvPr/>
        </p:nvSpPr>
        <p:spPr>
          <a:xfrm>
            <a:off x="457200" y="418795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630_tdt33"/>
          <p:cNvSpPr txBox="1"/>
          <p:nvPr/>
        </p:nvSpPr>
        <p:spPr>
          <a:xfrm>
            <a:off x="530352" y="418795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|&gt;</a:t>
            </a:r>
          </a:p>
        </p:txBody>
      </p:sp>
      <p:sp>
        <p:nvSpPr>
          <p:cNvPr id="35" name="a1wd675_td34"/>
          <p:cNvSpPr/>
          <p:nvPr/>
        </p:nvSpPr>
        <p:spPr>
          <a:xfrm>
            <a:off x="457200" y="4393692"/>
            <a:ext cx="169164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675_tdt35"/>
          <p:cNvSpPr txBox="1"/>
          <p:nvPr/>
        </p:nvSpPr>
        <p:spPr>
          <a:xfrm>
            <a:off x="530352" y="4393692"/>
            <a:ext cx="158191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&amp;</a:t>
            </a:r>
          </a:p>
        </p:txBody>
      </p:sp>
      <p:sp>
        <p:nvSpPr>
          <p:cNvPr id="37" name="a1f_th36"/>
          <p:cNvSpPr/>
          <p:nvPr/>
        </p:nvSpPr>
        <p:spPr>
          <a:xfrm>
            <a:off x="2148840" y="1307592"/>
            <a:ext cx="2971800" cy="20574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1f_tht37"/>
          <p:cNvSpPr txBox="1"/>
          <p:nvPr/>
        </p:nvSpPr>
        <p:spPr>
          <a:xfrm>
            <a:off x="2221992" y="130759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39" name="a1wd45_td38"/>
          <p:cNvSpPr/>
          <p:nvPr/>
        </p:nvSpPr>
        <p:spPr>
          <a:xfrm>
            <a:off x="2148840" y="151333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1wd45_tdt39"/>
          <p:cNvSpPr txBox="1"/>
          <p:nvPr/>
        </p:nvSpPr>
        <p:spPr>
          <a:xfrm>
            <a:off x="2221992" y="151333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arithmetic</a:t>
            </a:r>
          </a:p>
        </p:txBody>
      </p:sp>
      <p:sp>
        <p:nvSpPr>
          <p:cNvPr id="41" name="a1wd90_td40"/>
          <p:cNvSpPr/>
          <p:nvPr/>
        </p:nvSpPr>
        <p:spPr>
          <a:xfrm>
            <a:off x="2148840" y="171907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1wd90_tdt41"/>
          <p:cNvSpPr txBox="1"/>
          <p:nvPr/>
        </p:nvSpPr>
        <p:spPr>
          <a:xfrm>
            <a:off x="2221992" y="171907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float division</a:t>
            </a:r>
          </a:p>
        </p:txBody>
      </p:sp>
      <p:sp>
        <p:nvSpPr>
          <p:cNvPr id="43" name="a1wd135_td42"/>
          <p:cNvSpPr/>
          <p:nvPr/>
        </p:nvSpPr>
        <p:spPr>
          <a:xfrm>
            <a:off x="2148840" y="192481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1wd135_tdt43"/>
          <p:cNvSpPr txBox="1"/>
          <p:nvPr/>
        </p:nvSpPr>
        <p:spPr>
          <a:xfrm>
            <a:off x="2221992" y="192481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integer division</a:t>
            </a:r>
          </a:p>
        </p:txBody>
      </p:sp>
      <p:sp>
        <p:nvSpPr>
          <p:cNvPr id="45" name="a1wd180_td44"/>
          <p:cNvSpPr/>
          <p:nvPr/>
        </p:nvSpPr>
        <p:spPr>
          <a:xfrm>
            <a:off x="2148840" y="213055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1wd180_tdt45"/>
          <p:cNvSpPr txBox="1"/>
          <p:nvPr/>
        </p:nvSpPr>
        <p:spPr>
          <a:xfrm>
            <a:off x="2221992" y="213055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power</a:t>
            </a:r>
          </a:p>
        </p:txBody>
      </p:sp>
      <p:sp>
        <p:nvSpPr>
          <p:cNvPr id="47" name="a1wd225_td46"/>
          <p:cNvSpPr/>
          <p:nvPr/>
        </p:nvSpPr>
        <p:spPr>
          <a:xfrm>
            <a:off x="2148840" y="2336291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1wd225_tdt47"/>
          <p:cNvSpPr txBox="1"/>
          <p:nvPr/>
        </p:nvSpPr>
        <p:spPr>
          <a:xfrm>
            <a:off x="2221992" y="2336291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equal / equal and same type</a:t>
            </a:r>
          </a:p>
        </p:txBody>
      </p:sp>
      <p:sp>
        <p:nvSpPr>
          <p:cNvPr id="49" name="a1wd270_td48"/>
          <p:cNvSpPr/>
          <p:nvPr/>
        </p:nvSpPr>
        <p:spPr>
          <a:xfrm>
            <a:off x="2148840" y="254203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1wd270_tdt49"/>
          <p:cNvSpPr txBox="1"/>
          <p:nvPr/>
        </p:nvSpPr>
        <p:spPr>
          <a:xfrm>
            <a:off x="2221992" y="254203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ordering</a:t>
            </a:r>
          </a:p>
        </p:txBody>
      </p:sp>
      <p:sp>
        <p:nvSpPr>
          <p:cNvPr id="51" name="a1wd315_td50"/>
          <p:cNvSpPr/>
          <p:nvPr/>
        </p:nvSpPr>
        <p:spPr>
          <a:xfrm>
            <a:off x="2148840" y="274777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1wd315_tdt51"/>
          <p:cNvSpPr txBox="1"/>
          <p:nvPr/>
        </p:nvSpPr>
        <p:spPr>
          <a:xfrm>
            <a:off x="2221992" y="274777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strict booleans</a:t>
            </a:r>
          </a:p>
        </p:txBody>
      </p:sp>
      <p:sp>
        <p:nvSpPr>
          <p:cNvPr id="53" name="a1wd360_td52"/>
          <p:cNvSpPr/>
          <p:nvPr/>
        </p:nvSpPr>
        <p:spPr>
          <a:xfrm>
            <a:off x="2148840" y="295351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1wd360_tdt53"/>
          <p:cNvSpPr txBox="1"/>
          <p:nvPr/>
        </p:nvSpPr>
        <p:spPr>
          <a:xfrm>
            <a:off x="2221992" y="295351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truthy booleans</a:t>
            </a:r>
          </a:p>
        </p:txBody>
      </p:sp>
      <p:sp>
        <p:nvSpPr>
          <p:cNvPr id="55" name="a1wd405_td54"/>
          <p:cNvSpPr/>
          <p:nvPr/>
        </p:nvSpPr>
        <p:spPr>
          <a:xfrm>
            <a:off x="2148840" y="315925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1wd405_tdt55"/>
          <p:cNvSpPr txBox="1"/>
          <p:nvPr/>
        </p:nvSpPr>
        <p:spPr>
          <a:xfrm>
            <a:off x="2221992" y="315925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join binaries</a:t>
            </a:r>
          </a:p>
        </p:txBody>
      </p:sp>
      <p:sp>
        <p:nvSpPr>
          <p:cNvPr id="57" name="a1wd450_td56"/>
          <p:cNvSpPr/>
          <p:nvPr/>
        </p:nvSpPr>
        <p:spPr>
          <a:xfrm>
            <a:off x="2148840" y="3364991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1wd450_tdt57"/>
          <p:cNvSpPr txBox="1"/>
          <p:nvPr/>
        </p:nvSpPr>
        <p:spPr>
          <a:xfrm>
            <a:off x="2221992" y="3364991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join / remove list items</a:t>
            </a:r>
          </a:p>
        </p:txBody>
      </p:sp>
      <p:sp>
        <p:nvSpPr>
          <p:cNvPr id="59" name="a1wd495_td58"/>
          <p:cNvSpPr/>
          <p:nvPr/>
        </p:nvSpPr>
        <p:spPr>
          <a:xfrm>
            <a:off x="2148840" y="357073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1wd495_tdt59"/>
          <p:cNvSpPr txBox="1"/>
          <p:nvPr/>
        </p:nvSpPr>
        <p:spPr>
          <a:xfrm>
            <a:off x="2221992" y="357073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membership</a:t>
            </a:r>
          </a:p>
        </p:txBody>
      </p:sp>
      <p:sp>
        <p:nvSpPr>
          <p:cNvPr id="61" name="a1wd540_td60"/>
          <p:cNvSpPr/>
          <p:nvPr/>
        </p:nvSpPr>
        <p:spPr>
          <a:xfrm>
            <a:off x="2148840" y="377647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1wd540_tdt61"/>
          <p:cNvSpPr txBox="1"/>
          <p:nvPr/>
        </p:nvSpPr>
        <p:spPr>
          <a:xfrm>
            <a:off x="2221992" y="377647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range</a:t>
            </a:r>
          </a:p>
        </p:txBody>
      </p:sp>
      <p:sp>
        <p:nvSpPr>
          <p:cNvPr id="63" name="a1wd585_td62"/>
          <p:cNvSpPr/>
          <p:nvPr/>
        </p:nvSpPr>
        <p:spPr>
          <a:xfrm>
            <a:off x="2148840" y="398221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1wd585_tdt63"/>
          <p:cNvSpPr txBox="1"/>
          <p:nvPr/>
        </p:nvSpPr>
        <p:spPr>
          <a:xfrm>
            <a:off x="2221992" y="398221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access</a:t>
            </a:r>
          </a:p>
        </p:txBody>
      </p:sp>
      <p:sp>
        <p:nvSpPr>
          <p:cNvPr id="65" name="a1wd630_td64"/>
          <p:cNvSpPr/>
          <p:nvPr/>
        </p:nvSpPr>
        <p:spPr>
          <a:xfrm>
            <a:off x="2148840" y="418795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1wd630_tdt65"/>
          <p:cNvSpPr txBox="1"/>
          <p:nvPr/>
        </p:nvSpPr>
        <p:spPr>
          <a:xfrm>
            <a:off x="2221992" y="418795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pipe</a:t>
            </a:r>
          </a:p>
        </p:txBody>
      </p:sp>
      <p:sp>
        <p:nvSpPr>
          <p:cNvPr id="67" name="a1wd675_td66"/>
          <p:cNvSpPr/>
          <p:nvPr/>
        </p:nvSpPr>
        <p:spPr>
          <a:xfrm>
            <a:off x="2148840" y="4393692"/>
            <a:ext cx="297180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1wd675_tdt67"/>
          <p:cNvSpPr txBox="1"/>
          <p:nvPr/>
        </p:nvSpPr>
        <p:spPr>
          <a:xfrm>
            <a:off x="2221992" y="4393692"/>
            <a:ext cx="286207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capture</a:t>
            </a:r>
          </a:p>
        </p:txBody>
      </p:sp>
      <p:sp>
        <p:nvSpPr>
          <p:cNvPr id="69" name="a1f_th68"/>
          <p:cNvSpPr/>
          <p:nvPr/>
        </p:nvSpPr>
        <p:spPr>
          <a:xfrm>
            <a:off x="5120640" y="1307592"/>
            <a:ext cx="3566160" cy="20574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1f_tht69"/>
          <p:cNvSpPr txBox="1"/>
          <p:nvPr/>
        </p:nvSpPr>
        <p:spPr>
          <a:xfrm>
            <a:off x="5193792" y="130759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71" name="a1wd45_td70"/>
          <p:cNvSpPr/>
          <p:nvPr/>
        </p:nvSpPr>
        <p:spPr>
          <a:xfrm>
            <a:off x="5120640" y="151333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1wd45_tdt71"/>
          <p:cNvSpPr txBox="1"/>
          <p:nvPr/>
        </p:nvSpPr>
        <p:spPr>
          <a:xfrm>
            <a:off x="5193792" y="151333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integers stay integers</a:t>
            </a:r>
          </a:p>
        </p:txBody>
      </p:sp>
      <p:sp>
        <p:nvSpPr>
          <p:cNvPr id="73" name="a1wd90_td72"/>
          <p:cNvSpPr/>
          <p:nvPr/>
        </p:nvSpPr>
        <p:spPr>
          <a:xfrm>
            <a:off x="5120640" y="171907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a1wd90_tdt73"/>
          <p:cNvSpPr txBox="1"/>
          <p:nvPr/>
        </p:nvSpPr>
        <p:spPr>
          <a:xfrm>
            <a:off x="5193792" y="171907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ALWAYS a float</a:t>
            </a:r>
          </a:p>
        </p:txBody>
      </p:sp>
      <p:sp>
        <p:nvSpPr>
          <p:cNvPr id="75" name="a1wd135_td74"/>
          <p:cNvSpPr/>
          <p:nvPr/>
        </p:nvSpPr>
        <p:spPr>
          <a:xfrm>
            <a:off x="5120640" y="192481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a1wd135_tdt75"/>
          <p:cNvSpPr txBox="1"/>
          <p:nvPr/>
        </p:nvSpPr>
        <p:spPr>
          <a:xfrm>
            <a:off x="5193792" y="192481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functions, not symbols</a:t>
            </a:r>
          </a:p>
        </p:txBody>
      </p:sp>
      <p:sp>
        <p:nvSpPr>
          <p:cNvPr id="77" name="a1wd180_td76"/>
          <p:cNvSpPr/>
          <p:nvPr/>
        </p:nvSpPr>
        <p:spPr>
          <a:xfrm>
            <a:off x="5120640" y="213055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1wd180_tdt77"/>
          <p:cNvSpPr txBox="1"/>
          <p:nvPr/>
        </p:nvSpPr>
        <p:spPr>
          <a:xfrm>
            <a:off x="5193792" y="213055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left associative here</a:t>
            </a:r>
          </a:p>
        </p:txBody>
      </p:sp>
      <p:sp>
        <p:nvSpPr>
          <p:cNvPr id="79" name="a1wd225_td78"/>
          <p:cNvSpPr/>
          <p:nvPr/>
        </p:nvSpPr>
        <p:spPr>
          <a:xfrm>
            <a:off x="5120640" y="2336291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a1wd225_tdt79"/>
          <p:cNvSpPr txBox="1"/>
          <p:nvPr/>
        </p:nvSpPr>
        <p:spPr>
          <a:xfrm>
            <a:off x="5193792" y="2336291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1 == 1.0 but 1 !== 1.0</a:t>
            </a:r>
          </a:p>
        </p:txBody>
      </p:sp>
      <p:sp>
        <p:nvSpPr>
          <p:cNvPr id="81" name="a1wd270_td80"/>
          <p:cNvSpPr/>
          <p:nvPr/>
        </p:nvSpPr>
        <p:spPr>
          <a:xfrm>
            <a:off x="5120640" y="254203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a1wd270_tdt81"/>
          <p:cNvSpPr txBox="1"/>
          <p:nvPr/>
        </p:nvSpPr>
        <p:spPr>
          <a:xfrm>
            <a:off x="5193792" y="254203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never raises, any two terms</a:t>
            </a:r>
          </a:p>
        </p:txBody>
      </p:sp>
      <p:sp>
        <p:nvSpPr>
          <p:cNvPr id="83" name="a1wd315_td82"/>
          <p:cNvSpPr/>
          <p:nvPr/>
        </p:nvSpPr>
        <p:spPr>
          <a:xfrm>
            <a:off x="5120640" y="274777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a1wd315_tdt83"/>
          <p:cNvSpPr txBox="1"/>
          <p:nvPr/>
        </p:nvSpPr>
        <p:spPr>
          <a:xfrm>
            <a:off x="5193792" y="274777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allowed in guards</a:t>
            </a:r>
          </a:p>
        </p:txBody>
      </p:sp>
      <p:sp>
        <p:nvSpPr>
          <p:cNvPr id="85" name="a1wd360_td84"/>
          <p:cNvSpPr/>
          <p:nvPr/>
        </p:nvSpPr>
        <p:spPr>
          <a:xfrm>
            <a:off x="5120640" y="295351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a1wd360_tdt85"/>
          <p:cNvSpPr txBox="1"/>
          <p:nvPr/>
        </p:nvSpPr>
        <p:spPr>
          <a:xfrm>
            <a:off x="5193792" y="295351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returns an operand</a:t>
            </a:r>
          </a:p>
        </p:txBody>
      </p:sp>
      <p:sp>
        <p:nvSpPr>
          <p:cNvPr id="87" name="a1wd405_td86"/>
          <p:cNvSpPr/>
          <p:nvPr/>
        </p:nvSpPr>
        <p:spPr>
          <a:xfrm>
            <a:off x="5120640" y="315925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a1wd405_tdt87"/>
          <p:cNvSpPr txBox="1"/>
          <p:nvPr/>
        </p:nvSpPr>
        <p:spPr>
          <a:xfrm>
            <a:off x="5193792" y="315925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strings only</a:t>
            </a:r>
          </a:p>
        </p:txBody>
      </p:sp>
      <p:sp>
        <p:nvSpPr>
          <p:cNvPr id="89" name="a1wd450_td88"/>
          <p:cNvSpPr/>
          <p:nvPr/>
        </p:nvSpPr>
        <p:spPr>
          <a:xfrm>
            <a:off x="5120640" y="3364991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a1wd450_tdt89"/>
          <p:cNvSpPr txBox="1"/>
          <p:nvPr/>
        </p:nvSpPr>
        <p:spPr>
          <a:xfrm>
            <a:off x="5193792" y="3364991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++ copies the left list</a:t>
            </a:r>
          </a:p>
        </p:txBody>
      </p:sp>
      <p:sp>
        <p:nvSpPr>
          <p:cNvPr id="91" name="a1wd495_td90"/>
          <p:cNvSpPr/>
          <p:nvPr/>
        </p:nvSpPr>
        <p:spPr>
          <a:xfrm>
            <a:off x="5120640" y="357073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a1wd495_tdt91"/>
          <p:cNvSpPr txBox="1"/>
          <p:nvPr/>
        </p:nvSpPr>
        <p:spPr>
          <a:xfrm>
            <a:off x="5193792" y="357073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guard-safe on literals</a:t>
            </a:r>
          </a:p>
        </p:txBody>
      </p:sp>
      <p:sp>
        <p:nvSpPr>
          <p:cNvPr id="93" name="a1wd540_td92"/>
          <p:cNvSpPr/>
          <p:nvPr/>
        </p:nvSpPr>
        <p:spPr>
          <a:xfrm>
            <a:off x="5120640" y="377647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a1wd540_tdt93"/>
          <p:cNvSpPr txBox="1"/>
          <p:nvPr/>
        </p:nvSpPr>
        <p:spPr>
          <a:xfrm>
            <a:off x="5193792" y="377647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 struct, not a list</a:t>
            </a:r>
          </a:p>
        </p:txBody>
      </p:sp>
      <p:sp>
        <p:nvSpPr>
          <p:cNvPr id="95" name="a1wd585_td94"/>
          <p:cNvSpPr/>
          <p:nvPr/>
        </p:nvSpPr>
        <p:spPr>
          <a:xfrm>
            <a:off x="5120640" y="398221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a1wd585_tdt95"/>
          <p:cNvSpPr txBox="1"/>
          <p:nvPr/>
        </p:nvSpPr>
        <p:spPr>
          <a:xfrm>
            <a:off x="5193792" y="398221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dot raises, [] gives nil</a:t>
            </a:r>
          </a:p>
        </p:txBody>
      </p:sp>
      <p:sp>
        <p:nvSpPr>
          <p:cNvPr id="97" name="a1wd630_td96"/>
          <p:cNvSpPr/>
          <p:nvPr/>
        </p:nvSpPr>
        <p:spPr>
          <a:xfrm>
            <a:off x="5120640" y="418795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a1wd630_tdt97"/>
          <p:cNvSpPr txBox="1"/>
          <p:nvPr/>
        </p:nvSpPr>
        <p:spPr>
          <a:xfrm>
            <a:off x="5193792" y="418795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value becomes arg 1</a:t>
            </a:r>
          </a:p>
        </p:txBody>
      </p:sp>
      <p:sp>
        <p:nvSpPr>
          <p:cNvPr id="99" name="a1wd675_td98"/>
          <p:cNvSpPr/>
          <p:nvPr/>
        </p:nvSpPr>
        <p:spPr>
          <a:xfrm>
            <a:off x="5120640" y="4393692"/>
            <a:ext cx="35661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a1wd675_tdt99"/>
          <p:cNvSpPr txBox="1"/>
          <p:nvPr/>
        </p:nvSpPr>
        <p:spPr>
          <a:xfrm>
            <a:off x="5193792" y="4393692"/>
            <a:ext cx="3456432" cy="205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call it with .()</a:t>
            </a:r>
          </a:p>
        </p:txBody>
      </p:sp>
      <p:sp>
        <p:nvSpPr>
          <p:cNvPr id="101" name="ft10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every value, warning and parse tree on these slides is real output</a:t>
            </a:r>
          </a:p>
        </p:txBody>
      </p:sp>
      <p:sp>
        <p:nvSpPr>
          <p:cNvPr id="102" name="ft10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to take away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Every operator is a function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 + b is +(a, b), so you can capture it, pipe into it and define your own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There are two of almost everything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two divisions, two equalities, two boolean families — pick by what you want on the edge case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Any two values compare, and only false and nil are falsy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both rules are why a careless guard or if accepts input you never meant to allow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When precedence matters, ask the parser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Code.string_to_quoted/1 settles it in one line — and ** will surprise you</a:t>
            </a:r>
          </a:p>
        </p:txBody>
      </p:sp>
      <p:sp>
        <p:nvSpPr>
          <p:cNvPr id="15" name="a2u_next14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_nextt15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9B72CF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Enum, Stream and the pipeline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