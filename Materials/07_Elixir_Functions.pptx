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FUNCTIONS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Functions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Named, anonymous, captured and composed — and the two abstractions built out of them.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def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fn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&amp;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|&gt;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Session 7 · deck 6 declared them; this deck says what they mean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5029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426464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20_tdt6"/>
          <p:cNvSpPr txBox="1"/>
          <p:nvPr/>
        </p:nvSpPr>
        <p:spPr>
          <a:xfrm>
            <a:off x="530352" y="1426464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01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755648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40_tdt8"/>
          <p:cNvSpPr txBox="1"/>
          <p:nvPr/>
        </p:nvSpPr>
        <p:spPr>
          <a:xfrm>
            <a:off x="530352" y="1755648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02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084832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60_tdt10"/>
          <p:cNvSpPr txBox="1"/>
          <p:nvPr/>
        </p:nvSpPr>
        <p:spPr>
          <a:xfrm>
            <a:off x="530352" y="2084832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03</a:t>
            </a:r>
          </a:p>
        </p:txBody>
      </p:sp>
      <p:sp>
        <p:nvSpPr>
          <p:cNvPr id="12" name="a1wd480_td11"/>
          <p:cNvSpPr/>
          <p:nvPr/>
        </p:nvSpPr>
        <p:spPr>
          <a:xfrm>
            <a:off x="457200" y="2414015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80_tdt12"/>
          <p:cNvSpPr txBox="1"/>
          <p:nvPr/>
        </p:nvSpPr>
        <p:spPr>
          <a:xfrm>
            <a:off x="530352" y="2414015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04</a:t>
            </a:r>
          </a:p>
        </p:txBody>
      </p:sp>
      <p:sp>
        <p:nvSpPr>
          <p:cNvPr id="14" name="a1wd600_td13"/>
          <p:cNvSpPr/>
          <p:nvPr/>
        </p:nvSpPr>
        <p:spPr>
          <a:xfrm>
            <a:off x="457200" y="2743200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600_tdt14"/>
          <p:cNvSpPr txBox="1"/>
          <p:nvPr/>
        </p:nvSpPr>
        <p:spPr>
          <a:xfrm>
            <a:off x="530352" y="2743200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05</a:t>
            </a:r>
          </a:p>
        </p:txBody>
      </p:sp>
      <p:sp>
        <p:nvSpPr>
          <p:cNvPr id="16" name="a1wd720_td15"/>
          <p:cNvSpPr/>
          <p:nvPr/>
        </p:nvSpPr>
        <p:spPr>
          <a:xfrm>
            <a:off x="457200" y="3072384"/>
            <a:ext cx="502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720_tdt16"/>
          <p:cNvSpPr txBox="1"/>
          <p:nvPr/>
        </p:nvSpPr>
        <p:spPr>
          <a:xfrm>
            <a:off x="530352" y="3072384"/>
            <a:ext cx="393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06</a:t>
            </a:r>
          </a:p>
        </p:txBody>
      </p:sp>
      <p:sp>
        <p:nvSpPr>
          <p:cNvPr id="18" name="a1f_th17"/>
          <p:cNvSpPr/>
          <p:nvPr/>
        </p:nvSpPr>
        <p:spPr>
          <a:xfrm>
            <a:off x="960120" y="1097280"/>
            <a:ext cx="21488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1033272" y="1097280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20" name="a1wd120_td19"/>
          <p:cNvSpPr/>
          <p:nvPr/>
        </p:nvSpPr>
        <p:spPr>
          <a:xfrm>
            <a:off x="960120" y="142646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20_tdt20"/>
          <p:cNvSpPr txBox="1"/>
          <p:nvPr/>
        </p:nvSpPr>
        <p:spPr>
          <a:xfrm>
            <a:off x="1033272" y="1426464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Named functions</a:t>
            </a:r>
          </a:p>
        </p:txBody>
      </p:sp>
      <p:sp>
        <p:nvSpPr>
          <p:cNvPr id="22" name="a1wd240_td21"/>
          <p:cNvSpPr/>
          <p:nvPr/>
        </p:nvSpPr>
        <p:spPr>
          <a:xfrm>
            <a:off x="960120" y="175564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40_tdt22"/>
          <p:cNvSpPr txBox="1"/>
          <p:nvPr/>
        </p:nvSpPr>
        <p:spPr>
          <a:xfrm>
            <a:off x="1033272" y="1755648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Clauses and guards</a:t>
            </a:r>
          </a:p>
        </p:txBody>
      </p:sp>
      <p:sp>
        <p:nvSpPr>
          <p:cNvPr id="24" name="a1wd360_td23"/>
          <p:cNvSpPr/>
          <p:nvPr/>
        </p:nvSpPr>
        <p:spPr>
          <a:xfrm>
            <a:off x="960120" y="2084832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60_tdt24"/>
          <p:cNvSpPr txBox="1"/>
          <p:nvPr/>
        </p:nvSpPr>
        <p:spPr>
          <a:xfrm>
            <a:off x="1033272" y="2084832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Functions as values</a:t>
            </a:r>
          </a:p>
        </p:txBody>
      </p:sp>
      <p:sp>
        <p:nvSpPr>
          <p:cNvPr id="26" name="a1wd480_td25"/>
          <p:cNvSpPr/>
          <p:nvPr/>
        </p:nvSpPr>
        <p:spPr>
          <a:xfrm>
            <a:off x="960120" y="2414015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80_tdt26"/>
          <p:cNvSpPr txBox="1"/>
          <p:nvPr/>
        </p:nvSpPr>
        <p:spPr>
          <a:xfrm>
            <a:off x="1033272" y="2414015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Working with them</a:t>
            </a:r>
          </a:p>
        </p:txBody>
      </p:sp>
      <p:sp>
        <p:nvSpPr>
          <p:cNvPr id="28" name="a1wd600_td27"/>
          <p:cNvSpPr/>
          <p:nvPr/>
        </p:nvSpPr>
        <p:spPr>
          <a:xfrm>
            <a:off x="960120" y="2743200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600_tdt28"/>
          <p:cNvSpPr txBox="1"/>
          <p:nvPr/>
        </p:nvSpPr>
        <p:spPr>
          <a:xfrm>
            <a:off x="1033272" y="2743200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Recursion</a:t>
            </a:r>
          </a:p>
        </p:txBody>
      </p:sp>
      <p:sp>
        <p:nvSpPr>
          <p:cNvPr id="30" name="a1wd720_td29"/>
          <p:cNvSpPr/>
          <p:nvPr/>
        </p:nvSpPr>
        <p:spPr>
          <a:xfrm>
            <a:off x="960120" y="307238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720_tdt30"/>
          <p:cNvSpPr txBox="1"/>
          <p:nvPr/>
        </p:nvSpPr>
        <p:spPr>
          <a:xfrm>
            <a:off x="1033272" y="3072384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Protocols &amp; behaviours</a:t>
            </a:r>
          </a:p>
        </p:txBody>
      </p:sp>
      <p:sp>
        <p:nvSpPr>
          <p:cNvPr id="32" name="a1f_th31"/>
          <p:cNvSpPr/>
          <p:nvPr/>
        </p:nvSpPr>
        <p:spPr>
          <a:xfrm>
            <a:off x="3108960" y="1097280"/>
            <a:ext cx="36576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3182112" y="1097280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answers</a:t>
            </a:r>
          </a:p>
        </p:txBody>
      </p:sp>
      <p:sp>
        <p:nvSpPr>
          <p:cNvPr id="34" name="a1wd120_td33"/>
          <p:cNvSpPr/>
          <p:nvPr/>
        </p:nvSpPr>
        <p:spPr>
          <a:xfrm>
            <a:off x="3108960" y="1426464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20_tdt34"/>
          <p:cNvSpPr txBox="1"/>
          <p:nvPr/>
        </p:nvSpPr>
        <p:spPr>
          <a:xfrm>
            <a:off x="3182112" y="1426464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is a function's real name, and who may call it?</a:t>
            </a:r>
          </a:p>
        </p:txBody>
      </p:sp>
      <p:sp>
        <p:nvSpPr>
          <p:cNvPr id="36" name="a1wd240_td35"/>
          <p:cNvSpPr/>
          <p:nvPr/>
        </p:nvSpPr>
        <p:spPr>
          <a:xfrm>
            <a:off x="3108960" y="1755648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40_tdt36"/>
          <p:cNvSpPr txBox="1"/>
          <p:nvPr/>
        </p:nvSpPr>
        <p:spPr>
          <a:xfrm>
            <a:off x="3182112" y="1755648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Which clause runs, and what happens when none does?</a:t>
            </a:r>
          </a:p>
        </p:txBody>
      </p:sp>
      <p:sp>
        <p:nvSpPr>
          <p:cNvPr id="38" name="a1wd360_td37"/>
          <p:cNvSpPr/>
          <p:nvPr/>
        </p:nvSpPr>
        <p:spPr>
          <a:xfrm>
            <a:off x="3108960" y="2084832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60_tdt38"/>
          <p:cNvSpPr txBox="1"/>
          <p:nvPr/>
        </p:nvSpPr>
        <p:spPr>
          <a:xfrm>
            <a:off x="3182112" y="2084832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pass, store and return behaviour?</a:t>
            </a:r>
          </a:p>
        </p:txBody>
      </p:sp>
      <p:sp>
        <p:nvSpPr>
          <p:cNvPr id="40" name="a1wd480_td39"/>
          <p:cNvSpPr/>
          <p:nvPr/>
        </p:nvSpPr>
        <p:spPr>
          <a:xfrm>
            <a:off x="3108960" y="2414015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80_tdt40"/>
          <p:cNvSpPr txBox="1"/>
          <p:nvPr/>
        </p:nvSpPr>
        <p:spPr>
          <a:xfrm>
            <a:off x="3182112" y="2414015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functions combine into a program?</a:t>
            </a:r>
          </a:p>
        </p:txBody>
      </p:sp>
      <p:sp>
        <p:nvSpPr>
          <p:cNvPr id="42" name="a1wd600_td41"/>
          <p:cNvSpPr/>
          <p:nvPr/>
        </p:nvSpPr>
        <p:spPr>
          <a:xfrm>
            <a:off x="3108960" y="2743200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00_tdt42"/>
          <p:cNvSpPr txBox="1"/>
          <p:nvPr/>
        </p:nvSpPr>
        <p:spPr>
          <a:xfrm>
            <a:off x="3182112" y="2743200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loop without a loop?</a:t>
            </a:r>
          </a:p>
        </p:txBody>
      </p:sp>
      <p:sp>
        <p:nvSpPr>
          <p:cNvPr id="44" name="a1wd720_td43"/>
          <p:cNvSpPr/>
          <p:nvPr/>
        </p:nvSpPr>
        <p:spPr>
          <a:xfrm>
            <a:off x="3108960" y="3072384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720_tdt44"/>
          <p:cNvSpPr txBox="1"/>
          <p:nvPr/>
        </p:nvSpPr>
        <p:spPr>
          <a:xfrm>
            <a:off x="3182112" y="3072384"/>
            <a:ext cx="3547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abstract over many implementations?</a:t>
            </a:r>
          </a:p>
        </p:txBody>
      </p:sp>
      <p:sp>
        <p:nvSpPr>
          <p:cNvPr id="46" name="a1f_th45"/>
          <p:cNvSpPr/>
          <p:nvPr/>
        </p:nvSpPr>
        <p:spPr>
          <a:xfrm>
            <a:off x="6766560" y="1097280"/>
            <a:ext cx="19202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f_tht46"/>
          <p:cNvSpPr txBox="1"/>
          <p:nvPr/>
        </p:nvSpPr>
        <p:spPr>
          <a:xfrm>
            <a:off x="6839712" y="1097280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Keywords</a:t>
            </a:r>
          </a:p>
        </p:txBody>
      </p:sp>
      <p:sp>
        <p:nvSpPr>
          <p:cNvPr id="48" name="a1wd120_td47"/>
          <p:cNvSpPr/>
          <p:nvPr/>
        </p:nvSpPr>
        <p:spPr>
          <a:xfrm>
            <a:off x="6766560" y="142646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20_tdt48"/>
          <p:cNvSpPr txBox="1"/>
          <p:nvPr/>
        </p:nvSpPr>
        <p:spPr>
          <a:xfrm>
            <a:off x="6839712" y="1426464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def defp / \\</a:t>
            </a:r>
          </a:p>
        </p:txBody>
      </p:sp>
      <p:sp>
        <p:nvSpPr>
          <p:cNvPr id="50" name="a1wd240_td49"/>
          <p:cNvSpPr/>
          <p:nvPr/>
        </p:nvSpPr>
        <p:spPr>
          <a:xfrm>
            <a:off x="6766560" y="175564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40_tdt50"/>
          <p:cNvSpPr txBox="1"/>
          <p:nvPr/>
        </p:nvSpPr>
        <p:spPr>
          <a:xfrm>
            <a:off x="6839712" y="1755648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patterns when</a:t>
            </a:r>
          </a:p>
        </p:txBody>
      </p:sp>
      <p:sp>
        <p:nvSpPr>
          <p:cNvPr id="52" name="a1wd360_td51"/>
          <p:cNvSpPr/>
          <p:nvPr/>
        </p:nvSpPr>
        <p:spPr>
          <a:xfrm>
            <a:off x="6766560" y="208483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60_tdt52"/>
          <p:cNvSpPr txBox="1"/>
          <p:nvPr/>
        </p:nvSpPr>
        <p:spPr>
          <a:xfrm>
            <a:off x="6839712" y="2084832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fn &amp; closures</a:t>
            </a:r>
          </a:p>
        </p:txBody>
      </p:sp>
      <p:sp>
        <p:nvSpPr>
          <p:cNvPr id="54" name="a1wd480_td53"/>
          <p:cNvSpPr/>
          <p:nvPr/>
        </p:nvSpPr>
        <p:spPr>
          <a:xfrm>
            <a:off x="6766560" y="2414015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80_tdt54"/>
          <p:cNvSpPr txBox="1"/>
          <p:nvPr/>
        </p:nvSpPr>
        <p:spPr>
          <a:xfrm>
            <a:off x="6839712" y="2414015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 |&gt; apply</a:t>
            </a:r>
          </a:p>
        </p:txBody>
      </p:sp>
      <p:sp>
        <p:nvSpPr>
          <p:cNvPr id="56" name="a1wd600_td55"/>
          <p:cNvSpPr/>
          <p:nvPr/>
        </p:nvSpPr>
        <p:spPr>
          <a:xfrm>
            <a:off x="6766560" y="274320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600_tdt56"/>
          <p:cNvSpPr txBox="1"/>
          <p:nvPr/>
        </p:nvSpPr>
        <p:spPr>
          <a:xfrm>
            <a:off x="6839712" y="2743200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tail calls</a:t>
            </a:r>
          </a:p>
        </p:txBody>
      </p:sp>
      <p:sp>
        <p:nvSpPr>
          <p:cNvPr id="58" name="a1wd720_td57"/>
          <p:cNvSpPr/>
          <p:nvPr/>
        </p:nvSpPr>
        <p:spPr>
          <a:xfrm>
            <a:off x="6766560" y="307238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720_tdt58"/>
          <p:cNvSpPr txBox="1"/>
          <p:nvPr/>
        </p:nvSpPr>
        <p:spPr>
          <a:xfrm>
            <a:off x="6839712" y="3072384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@callback defimpl</a:t>
            </a:r>
          </a:p>
        </p:txBody>
      </p:sp>
      <p:sp>
        <p:nvSpPr>
          <p:cNvPr id="60" name="a2f_nb59"/>
          <p:cNvSpPr/>
          <p:nvPr/>
        </p:nvSpPr>
        <p:spPr>
          <a:xfrm>
            <a:off x="457200" y="35661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2f_nacc60"/>
          <p:cNvSpPr/>
          <p:nvPr/>
        </p:nvSpPr>
        <p:spPr>
          <a:xfrm>
            <a:off x="457200" y="3566160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2f_nt61"/>
          <p:cNvSpPr txBox="1"/>
          <p:nvPr/>
        </p:nvSpPr>
        <p:spPr>
          <a:xfrm>
            <a:off x="658368" y="356616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Elixir has no classes and no methods. A program is modules full of functions, functions passed to other functions, and two ways — behaviours and protocols — to say "any module that can do this" or "any data that can do this".</a:t>
            </a:r>
          </a:p>
        </p:txBody>
      </p:sp>
      <p:sp>
        <p:nvSpPr>
          <p:cNvPr id="63" name="ft6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64" name="ft6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Named functions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function lives in a module and is
named by its name AND its arity.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 · defp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name/arity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\\ defaults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NAMED FUNCTIONS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 and defp — and the real name of a function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hello/1 and hello/2 share a word. They are two unrelated functions.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615184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Greet do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659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hello(name), do: "hello " &lt;&gt; name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488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hello(name, greeting), do: greeting &lt;&gt; " " &lt;&gt; name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317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shout(name), do: name |&gt; hello() |&gt; up()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51460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defp up(s), do: String.upcase(s)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974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803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0632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Greet.__info__(:functions)            #=&gt; [hello: 1, hello: 2, shout: 1]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2461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function_exported?(Greet, :hello, 3)  #=&gt; false</a:t>
            </a:r>
          </a:p>
        </p:txBody>
      </p:sp>
      <p:sp>
        <p:nvSpPr>
          <p:cNvPr id="16" name="a1wd585_code15"/>
          <p:cNvSpPr txBox="1"/>
          <p:nvPr/>
        </p:nvSpPr>
        <p:spPr>
          <a:xfrm>
            <a:off x="621792" y="342900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Greet.up("x")</a:t>
            </a:r>
          </a:p>
        </p:txBody>
      </p:sp>
      <p:sp>
        <p:nvSpPr>
          <p:cNvPr id="17" name="a1wd650_code16"/>
          <p:cNvSpPr txBox="1"/>
          <p:nvPr/>
        </p:nvSpPr>
        <p:spPr>
          <a:xfrm>
            <a:off x="621792" y="36118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(UndefinedFunctionError) function Greet.up/1 is undefined or private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4087368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4087368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4087368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documentation writes a function as name/arity for exactly this reason. up/1 is private, so it is in no listing at all — and the error cannot tell "private" from "does not exist", which is deliberate: from outside, there is no difference.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NAMED FUNCTIONS · PRIVATE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defp: what the compiler tells you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private function is checked at compile time — and forgotten at run time.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compile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Unused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9796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a, do: 1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21284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defp never_called(x), do: x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427732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642615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85750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function never_called/1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307238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         is unused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800600" y="1344168"/>
            <a:ext cx="3886200" cy="2290572"/>
          </a:xfrm>
          <a:prstGeom prst="roundRect">
            <a:avLst>
              <a:gd name="adj" fmla="val 31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run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965192" y="1783080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Priv do</a:t>
            </a:r>
          </a:p>
        </p:txBody>
      </p:sp>
      <p:sp>
        <p:nvSpPr>
          <p:cNvPr id="17" name="a2wd60_code16"/>
          <p:cNvSpPr txBox="1"/>
          <p:nvPr/>
        </p:nvSpPr>
        <p:spPr>
          <a:xfrm>
            <a:off x="4965192" y="1970531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defp secret, do: 42</a:t>
            </a:r>
          </a:p>
        </p:txBody>
      </p:sp>
      <p:sp>
        <p:nvSpPr>
          <p:cNvPr id="18" name="a2wd120_code17"/>
          <p:cNvSpPr txBox="1"/>
          <p:nvPr/>
        </p:nvSpPr>
        <p:spPr>
          <a:xfrm>
            <a:off x="4965192" y="2157984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ok, do: secret()</a:t>
            </a:r>
          </a:p>
        </p:txBody>
      </p:sp>
      <p:sp>
        <p:nvSpPr>
          <p:cNvPr id="19" name="a2wd180_code18"/>
          <p:cNvSpPr txBox="1"/>
          <p:nvPr/>
        </p:nvSpPr>
        <p:spPr>
          <a:xfrm>
            <a:off x="4965192" y="2345436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0" name="a2wd240_code19"/>
          <p:cNvSpPr txBox="1"/>
          <p:nvPr/>
        </p:nvSpPr>
        <p:spPr>
          <a:xfrm>
            <a:off x="4965192" y="2532888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Priv.ok()      #=&gt; 42</a:t>
            </a:r>
          </a:p>
        </p:txBody>
      </p:sp>
      <p:sp>
        <p:nvSpPr>
          <p:cNvPr id="21" name="a2wd300_code20"/>
          <p:cNvSpPr txBox="1"/>
          <p:nvPr/>
        </p:nvSpPr>
        <p:spPr>
          <a:xfrm>
            <a:off x="4965192" y="2720339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Priv.secret()</a:t>
            </a:r>
          </a:p>
        </p:txBody>
      </p:sp>
      <p:sp>
        <p:nvSpPr>
          <p:cNvPr id="22" name="a2wd360_code21"/>
          <p:cNvSpPr txBox="1"/>
          <p:nvPr/>
        </p:nvSpPr>
        <p:spPr>
          <a:xfrm>
            <a:off x="4965192" y="2907791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(UndefinedFunctionError)</a:t>
            </a:r>
          </a:p>
        </p:txBody>
      </p:sp>
      <p:sp>
        <p:nvSpPr>
          <p:cNvPr id="23" name="a2wd420_code22"/>
          <p:cNvSpPr txBox="1"/>
          <p:nvPr/>
        </p:nvSpPr>
        <p:spPr>
          <a:xfrm>
            <a:off x="4965192" y="3095244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function Priv.secret/0 is</a:t>
            </a:r>
          </a:p>
        </p:txBody>
      </p:sp>
      <p:sp>
        <p:nvSpPr>
          <p:cNvPr id="24" name="a2wd480_code23"/>
          <p:cNvSpPr txBox="1"/>
          <p:nvPr/>
        </p:nvSpPr>
        <p:spPr>
          <a:xfrm>
            <a:off x="4965192" y="3282696"/>
            <a:ext cx="35570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undefined or private</a:t>
            </a:r>
          </a:p>
        </p:txBody>
      </p:sp>
      <p:sp>
        <p:nvSpPr>
          <p:cNvPr id="25" name="a3u_dot24"/>
          <p:cNvSpPr/>
          <p:nvPr/>
        </p:nvSpPr>
        <p:spPr>
          <a:xfrm>
            <a:off x="457200" y="386333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_b25"/>
          <p:cNvSpPr txBox="1"/>
          <p:nvPr/>
        </p:nvSpPr>
        <p:spPr>
          <a:xfrm>
            <a:off x="676656" y="3762756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An unused defp is a warning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compiler knows every caller, because they are all in this module</a:t>
            </a:r>
          </a:p>
        </p:txBody>
      </p:sp>
      <p:sp>
        <p:nvSpPr>
          <p:cNvPr id="27" name="a3ud200_dot26"/>
          <p:cNvSpPr/>
          <p:nvPr/>
        </p:nvSpPr>
        <p:spPr>
          <a:xfrm>
            <a:off x="457200" y="428396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d200_b27"/>
          <p:cNvSpPr txBox="1"/>
          <p:nvPr/>
        </p:nvSpPr>
        <p:spPr>
          <a:xfrm>
            <a:off x="676656" y="4183380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defp is not in the .beam's export table  </a:t>
            </a:r>
            <a:r>
              <a:rPr sz="1150" b="0">
                <a:solidFill>
                  <a:srgbClr val="334155"/>
                </a:solidFill>
                <a:latin typeface="Calibri"/>
              </a:rPr>
              <a:t>so there is nothing for another module to call — not hidden, absent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NAMED FUNCTIONS · \\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Default arguments generate functions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definition with two defaults is three public functions.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167128"/>
          </a:xfrm>
          <a:prstGeom prst="roundRect">
            <a:avLst>
              <a:gd name="adj" fmla="val 33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Defaults do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5681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greet(name, greeting \\ "hello", punct \\ "!") do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305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  greeting &lt;&gt; " " &lt;&gt; name &lt;&gt; punct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0428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47802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5176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Defaults.__info__(:functions)   #=&gt; [greet: 1, greet: 2, greet: 3]</a:t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2549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greet("ada")                    #=&gt; "hello ada!"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299923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greet("ada", "hi")              #=&gt; "hi ada!"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17296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greet("ada", "hi", "?")         #=&gt; "hi ada?"</a:t>
            </a:r>
          </a:p>
        </p:txBody>
      </p:sp>
      <p:sp>
        <p:nvSpPr>
          <p:cNvPr id="16" name="a2u_dot15"/>
          <p:cNvSpPr/>
          <p:nvPr/>
        </p:nvSpPr>
        <p:spPr>
          <a:xfrm>
            <a:off x="457200" y="373989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676656" y="3639312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Defaults fill from the left  </a:t>
            </a:r>
            <a:r>
              <a:rPr sz="1150" b="0">
                <a:solidFill>
                  <a:srgbClr val="334155"/>
                </a:solidFill>
                <a:latin typeface="Calibri"/>
              </a:rPr>
              <a:t>greet/2 means name and greeting — you cannot skip greeting and give punct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457200" y="41056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80_b18"/>
          <p:cNvSpPr txBox="1"/>
          <p:nvPr/>
        </p:nvSpPr>
        <p:spPr>
          <a:xfrm>
            <a:off x="676656" y="4005072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default is evaluated per call  </a:t>
            </a:r>
            <a:r>
              <a:rPr sz="1150" b="0">
                <a:solidFill>
                  <a:srgbClr val="334155"/>
                </a:solidFill>
                <a:latin typeface="Calibri"/>
              </a:rPr>
              <a:t>def stamp(t \\ :erlang.unique_integer()) returned two different values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457200" y="447141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60_b20"/>
          <p:cNvSpPr txBox="1"/>
          <p:nvPr/>
        </p:nvSpPr>
        <p:spPr>
          <a:xfrm>
            <a:off x="676656" y="4370832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Unlike an attribute  </a:t>
            </a:r>
            <a:r>
              <a:rPr sz="1150" b="0">
                <a:solidFill>
                  <a:srgbClr val="334155"/>
                </a:solidFill>
                <a:latin typeface="Calibri"/>
              </a:rPr>
              <a:t>@t :erlang.unique_integer() would freeze one value at compile time — deck 6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NAMED FUNCTIONS · THE HEAD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Defaults with several clauses need a head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Declare the default once, on a clause with no body.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34340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the error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fmt(n, unit \\ "kg")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6596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when is_integer(n), do: ...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4884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fmt(n, unit \\ "kg")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3172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when is_float(n), do: ...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1460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9748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def fmt/2 defines defaults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8036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multiple times. Elixir allows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6324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defaults to be declared once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4612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per definition.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983480" y="1344168"/>
            <a:ext cx="370332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5148072" y="1399032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the fix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5148072" y="178308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fmt(n, unit \\ "kg")</a:t>
            </a:r>
          </a:p>
        </p:txBody>
      </p:sp>
      <p:sp>
        <p:nvSpPr>
          <p:cNvPr id="19" name="a2wd60_code18"/>
          <p:cNvSpPr txBox="1"/>
          <p:nvPr/>
        </p:nvSpPr>
        <p:spPr>
          <a:xfrm>
            <a:off x="5148072" y="196596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fmt(n, unit) when is_integer(n),</a:t>
            </a:r>
          </a:p>
        </p:txBody>
      </p:sp>
      <p:sp>
        <p:nvSpPr>
          <p:cNvPr id="20" name="a2wd120_code19"/>
          <p:cNvSpPr txBox="1"/>
          <p:nvPr/>
        </p:nvSpPr>
        <p:spPr>
          <a:xfrm>
            <a:off x="5148072" y="214884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"#{n} #{unit}"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148072" y="233172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fmt(n, unit) when is_float(n),</a:t>
            </a:r>
          </a:p>
        </p:txBody>
      </p:sp>
      <p:sp>
        <p:nvSpPr>
          <p:cNvPr id="22" name="a2wd240_code21"/>
          <p:cNvSpPr txBox="1"/>
          <p:nvPr/>
        </p:nvSpPr>
        <p:spPr>
          <a:xfrm>
            <a:off x="5148072" y="251460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"#{Float.round(n, 1)} #{unit}"</a:t>
            </a:r>
          </a:p>
        </p:txBody>
      </p:sp>
      <p:sp>
        <p:nvSpPr>
          <p:cNvPr id="23" name="a2wd300_code22"/>
          <p:cNvSpPr txBox="1"/>
          <p:nvPr/>
        </p:nvSpPr>
        <p:spPr>
          <a:xfrm>
            <a:off x="5148072" y="269748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4" name="a2wd360_code23"/>
          <p:cNvSpPr txBox="1"/>
          <p:nvPr/>
        </p:nvSpPr>
        <p:spPr>
          <a:xfrm>
            <a:off x="5148072" y="288036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fmt(3)            #=&gt; "3 kg"</a:t>
            </a:r>
          </a:p>
        </p:txBody>
      </p:sp>
      <p:sp>
        <p:nvSpPr>
          <p:cNvPr id="25" name="a2wd420_code24"/>
          <p:cNvSpPr txBox="1"/>
          <p:nvPr/>
        </p:nvSpPr>
        <p:spPr>
          <a:xfrm>
            <a:off x="5148072" y="306324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fmt(2.25, "lb")   #=&gt; "2.3 lb"</a:t>
            </a:r>
          </a:p>
        </p:txBody>
      </p:sp>
      <p:sp>
        <p:nvSpPr>
          <p:cNvPr id="26" name="a2wd480_code25"/>
          <p:cNvSpPr txBox="1"/>
          <p:nvPr/>
        </p:nvSpPr>
        <p:spPr>
          <a:xfrm>
            <a:off x="5148072" y="324612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__info__ #=&gt; [fmt: 1, fmt: 2]</a:t>
            </a:r>
          </a:p>
        </p:txBody>
      </p:sp>
      <p:sp>
        <p:nvSpPr>
          <p:cNvPr id="27" name="a3f_nb26"/>
          <p:cNvSpPr/>
          <p:nvPr/>
        </p:nvSpPr>
        <p:spPr>
          <a:xfrm>
            <a:off x="457200" y="3721607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f_nacc27"/>
          <p:cNvSpPr/>
          <p:nvPr/>
        </p:nvSpPr>
        <p:spPr>
          <a:xfrm>
            <a:off x="457200" y="3721607"/>
            <a:ext cx="50292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nt28"/>
          <p:cNvSpPr txBox="1"/>
          <p:nvPr/>
        </p:nvSpPr>
        <p:spPr>
          <a:xfrm>
            <a:off x="658368" y="3721607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And a default can collide: def f(a) followed by def f(a, b \\ 0) generates a second f/1, and the compiler says so — "this clause for f/1 cannot match because a previous clause at line 2 always matches".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Clauses and guards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function is a list of clauses.
The first one that matches runs.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patterns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when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FunctionClauseError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CLAUSES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Pattern matching in the function head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Session 3's patterns, moved into the parameter list.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tuples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Shape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659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area({:square, s}), do: s * s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488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area({:rect, w, h}), do: w * h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317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area({:circle, r}),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5146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Float.round(3.14159*r*r, 2)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974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803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632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area({:square, 3})   #=&gt; 9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2461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area({:rect, 2, 5})  #=&gt; 10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4290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area({:circle, 1})   #=&gt; 3.14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800600" y="1344168"/>
            <a:ext cx="38862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maps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4965192" y="17830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status(%{status: 200, body: b}),</a:t>
            </a:r>
          </a:p>
        </p:txBody>
      </p:sp>
      <p:sp>
        <p:nvSpPr>
          <p:cNvPr id="20" name="a2wd55_code19"/>
          <p:cNvSpPr txBox="1"/>
          <p:nvPr/>
        </p:nvSpPr>
        <p:spPr>
          <a:xfrm>
            <a:off x="4965192" y="19659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{:ok, b}</a:t>
            </a:r>
          </a:p>
        </p:txBody>
      </p:sp>
      <p:sp>
        <p:nvSpPr>
          <p:cNvPr id="21" name="a2wd110_code20"/>
          <p:cNvSpPr txBox="1"/>
          <p:nvPr/>
        </p:nvSpPr>
        <p:spPr>
          <a:xfrm>
            <a:off x="4965192" y="21488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status(%{status: c})</a:t>
            </a:r>
          </a:p>
        </p:txBody>
      </p:sp>
      <p:sp>
        <p:nvSpPr>
          <p:cNvPr id="22" name="a2wd165_code21"/>
          <p:cNvSpPr txBox="1"/>
          <p:nvPr/>
        </p:nvSpPr>
        <p:spPr>
          <a:xfrm>
            <a:off x="4965192" y="23317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when c in 400..499,</a:t>
            </a:r>
          </a:p>
        </p:txBody>
      </p:sp>
      <p:sp>
        <p:nvSpPr>
          <p:cNvPr id="23" name="a2wd220_code22"/>
          <p:cNvSpPr txBox="1"/>
          <p:nvPr/>
        </p:nvSpPr>
        <p:spPr>
          <a:xfrm>
            <a:off x="4965192" y="25146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{:client_error, c}</a:t>
            </a:r>
          </a:p>
        </p:txBody>
      </p:sp>
      <p:sp>
        <p:nvSpPr>
          <p:cNvPr id="24" name="a2wd275_code23"/>
          <p:cNvSpPr txBox="1"/>
          <p:nvPr/>
        </p:nvSpPr>
        <p:spPr>
          <a:xfrm>
            <a:off x="4965192" y="26974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status(%{status: c}) when c &gt;= 500,</a:t>
            </a:r>
          </a:p>
        </p:txBody>
      </p:sp>
      <p:sp>
        <p:nvSpPr>
          <p:cNvPr id="25" name="a2wd330_code24"/>
          <p:cNvSpPr txBox="1"/>
          <p:nvPr/>
        </p:nvSpPr>
        <p:spPr>
          <a:xfrm>
            <a:off x="4965192" y="28803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{:server_error, c}</a:t>
            </a:r>
          </a:p>
        </p:txBody>
      </p:sp>
      <p:sp>
        <p:nvSpPr>
          <p:cNvPr id="26" name="a2wd385_code25"/>
          <p:cNvSpPr txBox="1"/>
          <p:nvPr/>
        </p:nvSpPr>
        <p:spPr>
          <a:xfrm>
            <a:off x="4965192" y="30632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7" name="a2wd440_code26"/>
          <p:cNvSpPr txBox="1"/>
          <p:nvPr/>
        </p:nvSpPr>
        <p:spPr>
          <a:xfrm>
            <a:off x="4965192" y="32461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status(%{status: 404})</a:t>
            </a:r>
          </a:p>
        </p:txBody>
      </p:sp>
      <p:sp>
        <p:nvSpPr>
          <p:cNvPr id="28" name="a2wd495_code27"/>
          <p:cNvSpPr txBox="1"/>
          <p:nvPr/>
        </p:nvSpPr>
        <p:spPr>
          <a:xfrm>
            <a:off x="4965192" y="34290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{:client_error, 404}</a:t>
            </a:r>
          </a:p>
        </p:txBody>
      </p:sp>
      <p:sp>
        <p:nvSpPr>
          <p:cNvPr id="29" name="a3f_nb28"/>
          <p:cNvSpPr/>
          <p:nvPr/>
        </p:nvSpPr>
        <p:spPr>
          <a:xfrm>
            <a:off x="457200" y="390448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nacc29"/>
          <p:cNvSpPr/>
          <p:nvPr/>
        </p:nvSpPr>
        <p:spPr>
          <a:xfrm>
            <a:off x="457200" y="3904487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t30"/>
          <p:cNvSpPr txBox="1"/>
          <p:nvPr/>
        </p:nvSpPr>
        <p:spPr>
          <a:xfrm>
            <a:off x="658368" y="390448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pattern does two jobs at once: it chooses the clause and it pulls the pieces out. There is no if-tree inside area/1 because the head already did the deciding.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CLAUSES · ORDER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Top to bottom, first match wins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Put a catch-all first and Elixir 1.20 warns you twice.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386584"/>
          </a:xfrm>
          <a:prstGeom prst="roundRect">
            <a:avLst>
              <a:gd name="adj" fmla="val 3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Order do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4310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kind(_), do: :anything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2140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kind(0), do: :zero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299715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47802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Order.kind(0)   #=&gt; :anything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5633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34639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this clause for kind/1 cannot match because a previous clause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01294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at line 2 always matches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191256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the following clause is redundant: def kind(0)  it has type:</a:t>
            </a:r>
          </a:p>
        </p:txBody>
      </p:sp>
      <p:sp>
        <p:nvSpPr>
          <p:cNvPr id="16" name="a1wd585_code15"/>
          <p:cNvSpPr txBox="1"/>
          <p:nvPr/>
        </p:nvSpPr>
        <p:spPr>
          <a:xfrm>
            <a:off x="621792" y="336956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integer()  previous clauses have already matched on: term()</a:t>
            </a:r>
          </a:p>
        </p:txBody>
      </p:sp>
      <p:sp>
        <p:nvSpPr>
          <p:cNvPr id="17" name="a2u_dot16"/>
          <p:cNvSpPr/>
          <p:nvPr/>
        </p:nvSpPr>
        <p:spPr>
          <a:xfrm>
            <a:off x="457200" y="394106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b17"/>
          <p:cNvSpPr txBox="1"/>
          <p:nvPr/>
        </p:nvSpPr>
        <p:spPr>
          <a:xfrm>
            <a:off x="676656" y="3840480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second warning is the new type checker  </a:t>
            </a:r>
            <a:r>
              <a:rPr sz="1150" b="0">
                <a:solidFill>
                  <a:srgbClr val="334155"/>
                </a:solidFill>
                <a:latin typeface="Calibri"/>
              </a:rPr>
              <a:t>it reasons about types, not just patterns — integer() is inside term()</a:t>
            </a:r>
          </a:p>
        </p:txBody>
      </p:sp>
      <p:sp>
        <p:nvSpPr>
          <p:cNvPr id="19" name="a2ud200_dot18"/>
          <p:cNvSpPr/>
          <p:nvPr/>
        </p:nvSpPr>
        <p:spPr>
          <a:xfrm>
            <a:off x="457200" y="43799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d200_b19"/>
          <p:cNvSpPr txBox="1"/>
          <p:nvPr/>
        </p:nvSpPr>
        <p:spPr>
          <a:xfrm>
            <a:off x="676656" y="4279392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Keep clauses of one function together  </a:t>
            </a:r>
            <a:r>
              <a:rPr sz="1150" b="0">
                <a:solidFill>
                  <a:srgbClr val="334155"/>
                </a:solidFill>
                <a:latin typeface="Calibri"/>
              </a:rPr>
              <a:t>split them and you get "clauses with the same name and arity ... should be grouped together"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CLAUSES · THE ERROR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When no clause matches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FunctionClauseError shows you the arguments. Read them first.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 child VM, exactly as printed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Shape.area({:hex, 1})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659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488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(FunctionClauseError) no function clause matching in Shape.area/1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317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51460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  The following arguments were given to Shape.area/1: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974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803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      # 1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0632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      {:hex, 1}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2461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6" name="a1wd585_code15"/>
          <p:cNvSpPr txBox="1"/>
          <p:nvPr/>
        </p:nvSpPr>
        <p:spPr>
          <a:xfrm>
            <a:off x="621792" y="342900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    Shape.area/1</a:t>
            </a:r>
          </a:p>
        </p:txBody>
      </p:sp>
      <p:sp>
        <p:nvSpPr>
          <p:cNvPr id="17" name="a2f_nb16"/>
          <p:cNvSpPr/>
          <p:nvPr/>
        </p:nvSpPr>
        <p:spPr>
          <a:xfrm>
            <a:off x="457200" y="3904487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nacc17"/>
          <p:cNvSpPr/>
          <p:nvPr/>
        </p:nvSpPr>
        <p:spPr>
          <a:xfrm>
            <a:off x="457200" y="3904487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t18"/>
          <p:cNvSpPr txBox="1"/>
          <p:nvPr/>
        </p:nvSpPr>
        <p:spPr>
          <a:xfrm>
            <a:off x="658368" y="3904487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is usually the RIGHT outcome. A shape you never planned for should crash loudly at the boundary, not be quietly turned into 0 by a catch-all clause. Add a catch-all only when you can say what the right answer is.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GUARDS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Guards: when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guard refines a pattern with a condition the pattern cannot express.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983480" cy="2016252"/>
          </a:xfrm>
          <a:prstGeom prst="roundRect">
            <a:avLst>
              <a:gd name="adj" fmla="val 36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21792" y="1490472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classify(n) when is_integer(n) and n &lt; 0,</a:t>
            </a:r>
          </a:p>
        </p:txBody>
      </p:sp>
      <p:sp>
        <p:nvSpPr>
          <p:cNvPr id="7" name="a1wd55_code6"/>
          <p:cNvSpPr txBox="1"/>
          <p:nvPr/>
        </p:nvSpPr>
        <p:spPr>
          <a:xfrm>
            <a:off x="621792" y="1677924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:negative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621792" y="1865376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classify(0), do: :zero</a:t>
            </a:r>
          </a:p>
        </p:txBody>
      </p:sp>
      <p:sp>
        <p:nvSpPr>
          <p:cNvPr id="9" name="a1wd165_code8"/>
          <p:cNvSpPr txBox="1"/>
          <p:nvPr/>
        </p:nvSpPr>
        <p:spPr>
          <a:xfrm>
            <a:off x="621792" y="2052828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classify(n) when is_integer(n),</a:t>
            </a:r>
          </a:p>
        </p:txBody>
      </p:sp>
      <p:sp>
        <p:nvSpPr>
          <p:cNvPr id="10" name="a1wd220_code9"/>
          <p:cNvSpPr txBox="1"/>
          <p:nvPr/>
        </p:nvSpPr>
        <p:spPr>
          <a:xfrm>
            <a:off x="621792" y="2240279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:positive</a:t>
            </a:r>
          </a:p>
        </p:txBody>
      </p:sp>
      <p:sp>
        <p:nvSpPr>
          <p:cNvPr id="11" name="a1wd275_code10"/>
          <p:cNvSpPr txBox="1"/>
          <p:nvPr/>
        </p:nvSpPr>
        <p:spPr>
          <a:xfrm>
            <a:off x="621792" y="2427732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classify(x) when is_float(x)</a:t>
            </a:r>
          </a:p>
        </p:txBody>
      </p:sp>
      <p:sp>
        <p:nvSpPr>
          <p:cNvPr id="12" name="a1wd330_code11"/>
          <p:cNvSpPr txBox="1"/>
          <p:nvPr/>
        </p:nvSpPr>
        <p:spPr>
          <a:xfrm>
            <a:off x="621792" y="2615184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    when is_binary(x),</a:t>
            </a:r>
          </a:p>
        </p:txBody>
      </p:sp>
      <p:sp>
        <p:nvSpPr>
          <p:cNvPr id="13" name="a1wd385_code12"/>
          <p:cNvSpPr txBox="1"/>
          <p:nvPr/>
        </p:nvSpPr>
        <p:spPr>
          <a:xfrm>
            <a:off x="621792" y="2802635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:float_or_string</a:t>
            </a:r>
          </a:p>
        </p:txBody>
      </p:sp>
      <p:sp>
        <p:nvSpPr>
          <p:cNvPr id="14" name="a1wd440_code13"/>
          <p:cNvSpPr txBox="1"/>
          <p:nvPr/>
        </p:nvSpPr>
        <p:spPr>
          <a:xfrm>
            <a:off x="621792" y="2990087"/>
            <a:ext cx="46542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classify(_), do: :other</a:t>
            </a:r>
          </a:p>
        </p:txBody>
      </p:sp>
      <p:sp>
        <p:nvSpPr>
          <p:cNvPr id="15" name="a2f_codebg14"/>
          <p:cNvSpPr/>
          <p:nvPr/>
        </p:nvSpPr>
        <p:spPr>
          <a:xfrm>
            <a:off x="5577840" y="13258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codeh15"/>
          <p:cNvSpPr txBox="1"/>
          <p:nvPr/>
        </p:nvSpPr>
        <p:spPr>
          <a:xfrm>
            <a:off x="5742431" y="1380744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5742431" y="1764792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classify(-5)    #=&gt; :negative</a:t>
            </a:r>
          </a:p>
        </p:txBody>
      </p:sp>
      <p:sp>
        <p:nvSpPr>
          <p:cNvPr id="18" name="a2wd55_code17"/>
          <p:cNvSpPr txBox="1"/>
          <p:nvPr/>
        </p:nvSpPr>
        <p:spPr>
          <a:xfrm>
            <a:off x="5742431" y="1952243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classify(0)     #=&gt; :zero</a:t>
            </a:r>
          </a:p>
        </p:txBody>
      </p:sp>
      <p:sp>
        <p:nvSpPr>
          <p:cNvPr id="19" name="a2wd110_code18"/>
          <p:cNvSpPr txBox="1"/>
          <p:nvPr/>
        </p:nvSpPr>
        <p:spPr>
          <a:xfrm>
            <a:off x="5742431" y="2139696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classify(7)     #=&gt; :positive</a:t>
            </a:r>
          </a:p>
        </p:txBody>
      </p:sp>
      <p:sp>
        <p:nvSpPr>
          <p:cNvPr id="20" name="a2wd165_code19"/>
          <p:cNvSpPr txBox="1"/>
          <p:nvPr/>
        </p:nvSpPr>
        <p:spPr>
          <a:xfrm>
            <a:off x="5742431" y="2327148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classify(1.5)</a:t>
            </a:r>
          </a:p>
        </p:txBody>
      </p:sp>
      <p:sp>
        <p:nvSpPr>
          <p:cNvPr id="21" name="a2wd220_code20"/>
          <p:cNvSpPr txBox="1"/>
          <p:nvPr/>
        </p:nvSpPr>
        <p:spPr>
          <a:xfrm>
            <a:off x="5742431" y="2514600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#=&gt; :float_or_string</a:t>
            </a:r>
          </a:p>
        </p:txBody>
      </p:sp>
      <p:sp>
        <p:nvSpPr>
          <p:cNvPr id="22" name="a2wd275_code21"/>
          <p:cNvSpPr txBox="1"/>
          <p:nvPr/>
        </p:nvSpPr>
        <p:spPr>
          <a:xfrm>
            <a:off x="5742431" y="2702052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classify("s")</a:t>
            </a:r>
          </a:p>
        </p:txBody>
      </p:sp>
      <p:sp>
        <p:nvSpPr>
          <p:cNvPr id="23" name="a2wd330_code22"/>
          <p:cNvSpPr txBox="1"/>
          <p:nvPr/>
        </p:nvSpPr>
        <p:spPr>
          <a:xfrm>
            <a:off x="5742431" y="2889504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#=&gt; :float_or_string</a:t>
            </a:r>
          </a:p>
        </p:txBody>
      </p:sp>
      <p:sp>
        <p:nvSpPr>
          <p:cNvPr id="24" name="a2wd385_code23"/>
          <p:cNvSpPr txBox="1"/>
          <p:nvPr/>
        </p:nvSpPr>
        <p:spPr>
          <a:xfrm>
            <a:off x="5742431" y="3076956"/>
            <a:ext cx="27797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classify(:atom) #=&gt; :other</a:t>
            </a:r>
          </a:p>
        </p:txBody>
      </p:sp>
      <p:sp>
        <p:nvSpPr>
          <p:cNvPr id="25" name="a3u_dot24"/>
          <p:cNvSpPr/>
          <p:nvPr/>
        </p:nvSpPr>
        <p:spPr>
          <a:xfrm>
            <a:off x="457200" y="36576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_b25"/>
          <p:cNvSpPr txBox="1"/>
          <p:nvPr/>
        </p:nvSpPr>
        <p:spPr>
          <a:xfrm>
            <a:off x="676656" y="3557016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Two when clauses mean OR  </a:t>
            </a:r>
            <a:r>
              <a:rPr sz="1150" b="0">
                <a:solidFill>
                  <a:srgbClr val="334155"/>
                </a:solidFill>
                <a:latin typeface="Calibri"/>
              </a:rPr>
              <a:t>when is_float(x) when is_binary(x) — either one lets the clause run</a:t>
            </a:r>
          </a:p>
        </p:txBody>
      </p:sp>
      <p:sp>
        <p:nvSpPr>
          <p:cNvPr id="27" name="a3ud200_dot26"/>
          <p:cNvSpPr/>
          <p:nvPr/>
        </p:nvSpPr>
        <p:spPr>
          <a:xfrm>
            <a:off x="457200" y="405993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d200_b27"/>
          <p:cNvSpPr txBox="1"/>
          <p:nvPr/>
        </p:nvSpPr>
        <p:spPr>
          <a:xfrm>
            <a:off x="676656" y="3959352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and / or / not inside one when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strict boolean operators, because a guard must be boolean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GUARDS · THE RULES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guard that raises just fails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And only a closed set of functions may appear in a guard at all.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safe(x) when hd(x) &gt; 0,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659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:positive_head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488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safe(_), do: :fallback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317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5146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safe([1])   #=&gt; :positive_head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974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safe([])    #=&gt; :fallback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803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safe(:x)    #=&gt; :fallback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632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2461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hd([]) raised - inside a guard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4290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that just means "no match"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800600" y="1344168"/>
            <a:ext cx="38862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4965192" y="17830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f(s) when String.length(s) &gt; 3,</a:t>
            </a:r>
          </a:p>
        </p:txBody>
      </p:sp>
      <p:sp>
        <p:nvSpPr>
          <p:cNvPr id="20" name="a2wd55_code19"/>
          <p:cNvSpPr txBox="1"/>
          <p:nvPr/>
        </p:nvSpPr>
        <p:spPr>
          <a:xfrm>
            <a:off x="4965192" y="19659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do: :long</a:t>
            </a:r>
          </a:p>
        </p:txBody>
      </p:sp>
      <p:sp>
        <p:nvSpPr>
          <p:cNvPr id="21" name="a2wd110_code20"/>
          <p:cNvSpPr txBox="1"/>
          <p:nvPr/>
        </p:nvSpPr>
        <p:spPr>
          <a:xfrm>
            <a:off x="4965192" y="21488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2" name="a2wd165_code21"/>
          <p:cNvSpPr txBox="1"/>
          <p:nvPr/>
        </p:nvSpPr>
        <p:spPr>
          <a:xfrm>
            <a:off x="4965192" y="23317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cannot invoke remote</a:t>
            </a:r>
          </a:p>
        </p:txBody>
      </p:sp>
      <p:sp>
        <p:nvSpPr>
          <p:cNvPr id="23" name="a2wd220_code22"/>
          <p:cNvSpPr txBox="1"/>
          <p:nvPr/>
        </p:nvSpPr>
        <p:spPr>
          <a:xfrm>
            <a:off x="4965192" y="25146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function String.length/1</a:t>
            </a:r>
          </a:p>
        </p:txBody>
      </p:sp>
      <p:sp>
        <p:nvSpPr>
          <p:cNvPr id="24" name="a2wd275_code23"/>
          <p:cNvSpPr txBox="1"/>
          <p:nvPr/>
        </p:nvSpPr>
        <p:spPr>
          <a:xfrm>
            <a:off x="4965192" y="26974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inside a guard</a:t>
            </a:r>
          </a:p>
        </p:txBody>
      </p:sp>
      <p:sp>
        <p:nvSpPr>
          <p:cNvPr id="25" name="a2wd330_code24"/>
          <p:cNvSpPr txBox="1"/>
          <p:nvPr/>
        </p:nvSpPr>
        <p:spPr>
          <a:xfrm>
            <a:off x="4965192" y="28803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6" name="a2wd385_code25"/>
          <p:cNvSpPr txBox="1"/>
          <p:nvPr/>
        </p:nvSpPr>
        <p:spPr>
          <a:xfrm>
            <a:off x="4965192" y="30632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the guard-safe version counts</a:t>
            </a:r>
          </a:p>
        </p:txBody>
      </p:sp>
      <p:sp>
        <p:nvSpPr>
          <p:cNvPr id="27" name="a2wd440_code26"/>
          <p:cNvSpPr txBox="1"/>
          <p:nvPr/>
        </p:nvSpPr>
        <p:spPr>
          <a:xfrm>
            <a:off x="4965192" y="32461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BYTES, not characters:</a:t>
            </a:r>
          </a:p>
        </p:txBody>
      </p:sp>
      <p:sp>
        <p:nvSpPr>
          <p:cNvPr id="28" name="a2wd495_code27"/>
          <p:cNvSpPr txBox="1"/>
          <p:nvPr/>
        </p:nvSpPr>
        <p:spPr>
          <a:xfrm>
            <a:off x="4965192" y="34290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when byte_size(s) &gt; 3</a:t>
            </a:r>
          </a:p>
        </p:txBody>
      </p:sp>
      <p:sp>
        <p:nvSpPr>
          <p:cNvPr id="29" name="a3f_nb28"/>
          <p:cNvSpPr/>
          <p:nvPr/>
        </p:nvSpPr>
        <p:spPr>
          <a:xfrm>
            <a:off x="457200" y="390448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nacc29"/>
          <p:cNvSpPr/>
          <p:nvPr/>
        </p:nvSpPr>
        <p:spPr>
          <a:xfrm>
            <a:off x="457200" y="3904487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t30"/>
          <p:cNvSpPr txBox="1"/>
          <p:nvPr/>
        </p:nvSpPr>
        <p:spPr>
          <a:xfrm>
            <a:off x="658368" y="390448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Guards must be side-effect free and fast, so only Kernel's guard-safe functions are allowed — is_*, arithmetic, comparisons, byte_size, map_size, elem, hd, in. Deck 3 has the full list, and defguard for naming your own out of those.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Functions as values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fn, the capture operator, closures —
and functions that take functions.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fn -&gt; end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&amp;String.upcase/1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closures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ANONYMOUS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Anonymous functions: fn -&gt; end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value like any other — with an arity, and called with a dot.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564891"/>
          </a:xfrm>
          <a:prstGeom prst="roundRect">
            <a:avLst>
              <a:gd name="adj" fmla="val 28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add = fn a, b -&gt; a + b end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4310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2140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add.(2, 3)                        #=&gt; 5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99715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is_function(add)                  #=&gt; true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is_function(add, 2)               #=&gt; true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633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is_function(add, 1)               #=&gt; false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34639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:erlang.fun_info(add, :arity)     #=&gt; {:arity, 2}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1294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91256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add.(1)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6956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(BadArityError) #Function&lt;8.89106574 in file:probe_functions.exs&gt;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4787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 with arity 2 called with 1 argument (1)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40005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4000500"/>
            <a:ext cx="50292" cy="5486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4000500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An anonymous function has exactly one arity — there is no fn with defaults and no fn with clauses of different arity. Calling it with the wrong number of arguments is a BadArityError, not a FunctionClauseError: the count was wrong before any pattern ran.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ANONYMOUS · THE DOT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Why the dot — and fn with clauses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Variables and named functions live in different namespaces.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688336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two compile errors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add = fn a, b -&gt; a + b end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5681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add(1, 2)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30552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04288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undefined function add/2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78024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(there is no such import)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51760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2549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f = fn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99232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a -&gt; a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72968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a, b -&gt; a + b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46704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20439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cannot mix clauses with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69417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different arities in anonymous functions</a:t>
            </a:r>
          </a:p>
        </p:txBody>
      </p:sp>
      <p:sp>
        <p:nvSpPr>
          <p:cNvPr id="19" name="a2f_codebg18"/>
          <p:cNvSpPr/>
          <p:nvPr/>
        </p:nvSpPr>
        <p:spPr>
          <a:xfrm>
            <a:off x="4800600" y="1344168"/>
            <a:ext cx="3886200" cy="2167128"/>
          </a:xfrm>
          <a:prstGeom prst="roundRect">
            <a:avLst>
              <a:gd name="adj" fmla="val 33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codeh19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clauses and guards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4965192" y="1783080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sign = fn</a:t>
            </a:r>
          </a:p>
        </p:txBody>
      </p:sp>
      <p:sp>
        <p:nvSpPr>
          <p:cNvPr id="22" name="a2wd55_code21"/>
          <p:cNvSpPr txBox="1"/>
          <p:nvPr/>
        </p:nvSpPr>
        <p:spPr>
          <a:xfrm>
            <a:off x="4965192" y="1956816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0 -&gt; :zero</a:t>
            </a:r>
          </a:p>
        </p:txBody>
      </p:sp>
      <p:sp>
        <p:nvSpPr>
          <p:cNvPr id="23" name="a2wd110_code22"/>
          <p:cNvSpPr txBox="1"/>
          <p:nvPr/>
        </p:nvSpPr>
        <p:spPr>
          <a:xfrm>
            <a:off x="4965192" y="2130552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n when n &lt; 0 -&gt; :negative</a:t>
            </a:r>
          </a:p>
        </p:txBody>
      </p:sp>
      <p:sp>
        <p:nvSpPr>
          <p:cNvPr id="24" name="a2wd165_code23"/>
          <p:cNvSpPr txBox="1"/>
          <p:nvPr/>
        </p:nvSpPr>
        <p:spPr>
          <a:xfrm>
            <a:off x="4965192" y="2304288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_ -&gt; :positive</a:t>
            </a:r>
          </a:p>
        </p:txBody>
      </p:sp>
      <p:sp>
        <p:nvSpPr>
          <p:cNvPr id="25" name="a2wd220_code24"/>
          <p:cNvSpPr txBox="1"/>
          <p:nvPr/>
        </p:nvSpPr>
        <p:spPr>
          <a:xfrm>
            <a:off x="4965192" y="2478024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6" name="a2wd275_code25"/>
          <p:cNvSpPr txBox="1"/>
          <p:nvPr/>
        </p:nvSpPr>
        <p:spPr>
          <a:xfrm>
            <a:off x="4965192" y="2651760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7" name="a2wd330_code26"/>
          <p:cNvSpPr txBox="1"/>
          <p:nvPr/>
        </p:nvSpPr>
        <p:spPr>
          <a:xfrm>
            <a:off x="4965192" y="2825496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sign.(0)    #=&gt; :zero</a:t>
            </a:r>
          </a:p>
        </p:txBody>
      </p:sp>
      <p:sp>
        <p:nvSpPr>
          <p:cNvPr id="28" name="a2wd385_code27"/>
          <p:cNvSpPr txBox="1"/>
          <p:nvPr/>
        </p:nvSpPr>
        <p:spPr>
          <a:xfrm>
            <a:off x="4965192" y="2999232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sign.(-3)   #=&gt; :negative</a:t>
            </a:r>
          </a:p>
        </p:txBody>
      </p:sp>
      <p:sp>
        <p:nvSpPr>
          <p:cNvPr id="29" name="a2wd440_code28"/>
          <p:cNvSpPr txBox="1"/>
          <p:nvPr/>
        </p:nvSpPr>
        <p:spPr>
          <a:xfrm>
            <a:off x="4965192" y="3172968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sign.(9)    #=&gt; :positive</a:t>
            </a:r>
          </a:p>
        </p:txBody>
      </p:sp>
      <p:sp>
        <p:nvSpPr>
          <p:cNvPr id="30" name="a3f_nb29"/>
          <p:cNvSpPr/>
          <p:nvPr/>
        </p:nvSpPr>
        <p:spPr>
          <a:xfrm>
            <a:off x="457200" y="416052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acc30"/>
          <p:cNvSpPr/>
          <p:nvPr/>
        </p:nvSpPr>
        <p:spPr>
          <a:xfrm>
            <a:off x="457200" y="4160520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nt31"/>
          <p:cNvSpPr txBox="1"/>
          <p:nvPr/>
        </p:nvSpPr>
        <p:spPr>
          <a:xfrm>
            <a:off x="658368" y="416052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add(1, 2) asks the compiler for a NAMED function add/2 in this module or an import. add.(1, 2) asks for the value in the variable add. The dot is how you tell them apart.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FIRST-CLASS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First-class: store it, pass it, return it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Anywhere a value can go, a function can go.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ops = %{add: &amp;+/2, sub: &amp;-/2, mul: &amp;*/2}          # stored in a map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659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ops[:mul].(6, 7)                                  #=&gt; 42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488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317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Enum.map(ops, fn {k, f} -&gt; {k, f.(10, 2)} end)    # passed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51460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#=&gt; [add: 12, sub: 8, mul: 20]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974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803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make_adder = fn n -&gt; fn x -&gt; x + n end end        # returned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0632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add5 = make_adder.(5)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2461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add5.(1)                                          #=&gt; 6</a:t>
            </a:r>
          </a:p>
        </p:txBody>
      </p:sp>
      <p:sp>
        <p:nvSpPr>
          <p:cNvPr id="16" name="a2u_dot15"/>
          <p:cNvSpPr/>
          <p:nvPr/>
        </p:nvSpPr>
        <p:spPr>
          <a:xfrm>
            <a:off x="457200" y="38221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676656" y="3721608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 map of functions is a dispatch table  </a:t>
            </a:r>
            <a:r>
              <a:rPr sz="1150" b="0">
                <a:solidFill>
                  <a:srgbClr val="334155"/>
                </a:solidFill>
                <a:latin typeface="Calibri"/>
              </a:rPr>
              <a:t>no case statement, and adding an operation is adding a key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457200" y="4169663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80_b18"/>
          <p:cNvSpPr txBox="1"/>
          <p:nvPr/>
        </p:nvSpPr>
        <p:spPr>
          <a:xfrm>
            <a:off x="676656" y="4069080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&amp;+/2 is the + operator as a function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 operator is a Kernel function — deck 4 — so it can be captured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457200" y="451713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60_b20"/>
          <p:cNvSpPr txBox="1"/>
          <p:nvPr/>
        </p:nvSpPr>
        <p:spPr>
          <a:xfrm>
            <a:off x="676656" y="4416552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 function that returns a function  </a:t>
            </a:r>
            <a:r>
              <a:rPr sz="1150" b="0">
                <a:solidFill>
                  <a:srgbClr val="334155"/>
                </a:solidFill>
                <a:latin typeface="Calibri"/>
              </a:rPr>
              <a:t>is a factory: make_adder builds a new adder for each n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CAPTURE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capture operator: &amp;Mod.fun/arity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Turn a named function into a value — no wrapper fn needed.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up = &amp;String.upcase/1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476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up.("elixir")                          #=&gt; "ELIXIR"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Enum.map(["a", "b"], &amp;String.upcase/1) #=&gt; ["A", "B"]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134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963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inspect(up)                     #=&gt; &amp;String.upcase/1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79191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inspect(add)                    #=&gt; #Function&lt;8.89106574 in file:...&gt;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620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:erlang.fun_info(up, :type)     #=&gt; {:type, :external}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449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:erlang.fun_info(add, :type)    #=&gt; {:type, :local}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278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&amp;String.upcase/1 == &amp;String.upcase/1   #=&gt; true</a:t>
            </a:r>
          </a:p>
        </p:txBody>
      </p:sp>
      <p:sp>
        <p:nvSpPr>
          <p:cNvPr id="16" name="a2u_dot15"/>
          <p:cNvSpPr/>
          <p:nvPr/>
        </p:nvSpPr>
        <p:spPr>
          <a:xfrm>
            <a:off x="457200" y="380390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676656" y="3703320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 remote capture is a name, not code  </a:t>
            </a:r>
            <a:r>
              <a:rPr sz="1150" b="0">
                <a:solidFill>
                  <a:srgbClr val="334155"/>
                </a:solidFill>
                <a:latin typeface="Calibri"/>
              </a:rPr>
              <a:t>type :external — it looks String.upcase/1 up at call time, by name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457200" y="41513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80_b18"/>
          <p:cNvSpPr txBox="1"/>
          <p:nvPr/>
        </p:nvSpPr>
        <p:spPr>
          <a:xfrm>
            <a:off x="676656" y="4050792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It works for local and private functions too  </a:t>
            </a:r>
            <a:r>
              <a:rPr sz="1150" b="0">
                <a:solidFill>
                  <a:srgbClr val="334155"/>
                </a:solidFill>
                <a:latin typeface="Calibri"/>
              </a:rPr>
              <a:t>inside a module, Enum.map(list, &amp;triple/1) calls a defp — measured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457200" y="44988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60_b20"/>
          <p:cNvSpPr txBox="1"/>
          <p:nvPr/>
        </p:nvSpPr>
        <p:spPr>
          <a:xfrm>
            <a:off x="676656" y="4398264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Nothing checks it exists  </a:t>
            </a:r>
            <a:r>
              <a:rPr sz="1150" b="0">
                <a:solidFill>
                  <a:srgbClr val="334155"/>
                </a:solidFill>
                <a:latin typeface="Calibri"/>
              </a:rPr>
              <a:t>&amp;String.upcase/3 is created happily; calling it raises "Did you mean: upcase/1, upcase/2"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CAPTURE · SHORTHAND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shorthand: &amp;(&amp;1 + &amp;2)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&amp;1, &amp;2 ... are the arguments. The arity is the highest one you use.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800600" cy="2290572"/>
          </a:xfrm>
          <a:prstGeom prst="roundRect">
            <a:avLst>
              <a:gd name="adj" fmla="val 31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471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sum  = &amp;(&amp;1 + &amp;2)      sum.(2, 3)   #=&gt; 5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70531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pair = &amp;{&amp;1, &amp;2}       pair.(:a, 1) #=&gt; {:a, 1}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57984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lst  = &amp;[&amp;1, &amp;1 * 2]   lst.(5)     #=&gt; [5, 10]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45436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ok   = &amp;{:ok, &amp;1}      ok.(42)     #=&gt; {:ok, 42}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32888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720339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is_function(sum, 2)    #=&gt; true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907791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95244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Enum.map([1, 2, 3], &amp;(&amp;1 * 10))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82696"/>
            <a:ext cx="4471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[10, 20, 30]</a:t>
            </a:r>
          </a:p>
        </p:txBody>
      </p:sp>
      <p:sp>
        <p:nvSpPr>
          <p:cNvPr id="16" name="a2u_dot15"/>
          <p:cNvSpPr/>
          <p:nvPr/>
        </p:nvSpPr>
        <p:spPr>
          <a:xfrm>
            <a:off x="5440680" y="149961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5660136" y="1399031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It is only sugar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compiles to an ordinary fn — is_function(sum, 2) is true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5440680" y="22128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80_b18"/>
          <p:cNvSpPr txBox="1"/>
          <p:nvPr/>
        </p:nvSpPr>
        <p:spPr>
          <a:xfrm>
            <a:off x="5660136" y="2112264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Tuples and lists need no parens  </a:t>
            </a:r>
            <a:r>
              <a:rPr sz="1100" b="0">
                <a:solidFill>
                  <a:srgbClr val="334155"/>
                </a:solidFill>
                <a:latin typeface="Calibri"/>
              </a:rPr>
              <a:t>&amp;{:ok, &amp;1} and &amp;[&amp;1] are already one expression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5440680" y="29260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60_b20"/>
          <p:cNvSpPr txBox="1"/>
          <p:nvPr/>
        </p:nvSpPr>
        <p:spPr>
          <a:xfrm>
            <a:off x="5660136" y="2825496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Use it for one short expression  </a:t>
            </a:r>
            <a:r>
              <a:rPr sz="1100" b="0">
                <a:solidFill>
                  <a:srgbClr val="334155"/>
                </a:solidFill>
                <a:latin typeface="Calibri"/>
              </a:rPr>
              <a:t>anything longer reads better as fn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CAPTURE · THE RULES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Three captures that do not compile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Each one is a rule the shorthand enforces — all three measured.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 child VM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f = &amp;(&amp;2 + 1)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2024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error: capture argument &amp;2 cannot be defined without &amp;1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09397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(you cannot skip arguments, all arguments must be numbered)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6771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4144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f = &amp;Enum.map(&amp;1, &amp;(&amp;1 * 2))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1518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error: nested captures are not allowed. You cannot define a function using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78892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the capture operator &amp; inside another function defined via &amp;.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6265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36391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f = &amp;(1 + 2)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1012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error: invalid args for &amp;, expected one of: &amp;Mod.fun/arity, &amp;fun/arity,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483863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&amp;some_code(&amp;1, ...) containing at least one argument as &amp;1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393192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3931920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393192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nested one is the one you will hit. The fix is to make the outer function an ordinary fn: fn list -&gt; Enum.map(list, &amp;(&amp;1 * 2)) end. Then &amp;1 has only one meaning.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CLOSURES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Closures capture values, not variables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function remembers what its free variables were worth when it was made.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34340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factor = 3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6596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times = fn x -&gt; x * factor end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4884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times.(10)   #=&gt; 30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3172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1460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factor = 100       # rebind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9748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times.(10)   #=&gt; 30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8036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6324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still 3: the fn holds the VALUE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4612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the name factor was only rebound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983480" y="1344168"/>
            <a:ext cx="370332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5148072" y="1399032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5148072" y="178308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make_adder = fn n -&gt;</a:t>
            </a:r>
          </a:p>
        </p:txBody>
      </p:sp>
      <p:sp>
        <p:nvSpPr>
          <p:cNvPr id="19" name="a2wd60_code18"/>
          <p:cNvSpPr txBox="1"/>
          <p:nvPr/>
        </p:nvSpPr>
        <p:spPr>
          <a:xfrm>
            <a:off x="5148072" y="196596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fn x -&gt; x + n end</a:t>
            </a:r>
          </a:p>
        </p:txBody>
      </p:sp>
      <p:sp>
        <p:nvSpPr>
          <p:cNvPr id="20" name="a2wd120_code19"/>
          <p:cNvSpPr txBox="1"/>
          <p:nvPr/>
        </p:nvSpPr>
        <p:spPr>
          <a:xfrm>
            <a:off x="5148072" y="214884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148072" y="233172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add5  = make_adder.(5)</a:t>
            </a:r>
          </a:p>
        </p:txBody>
      </p:sp>
      <p:sp>
        <p:nvSpPr>
          <p:cNvPr id="22" name="a2wd240_code21"/>
          <p:cNvSpPr txBox="1"/>
          <p:nvPr/>
        </p:nvSpPr>
        <p:spPr>
          <a:xfrm>
            <a:off x="5148072" y="251460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add10 = make_adder.(10)</a:t>
            </a:r>
          </a:p>
        </p:txBody>
      </p:sp>
      <p:sp>
        <p:nvSpPr>
          <p:cNvPr id="23" name="a2wd300_code22"/>
          <p:cNvSpPr txBox="1"/>
          <p:nvPr/>
        </p:nvSpPr>
        <p:spPr>
          <a:xfrm>
            <a:off x="5148072" y="269748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add5.(1)    #=&gt; 6</a:t>
            </a:r>
          </a:p>
        </p:txBody>
      </p:sp>
      <p:sp>
        <p:nvSpPr>
          <p:cNvPr id="24" name="a2wd360_code23"/>
          <p:cNvSpPr txBox="1"/>
          <p:nvPr/>
        </p:nvSpPr>
        <p:spPr>
          <a:xfrm>
            <a:off x="5148072" y="288036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add10.(1)   #=&gt; 11</a:t>
            </a:r>
          </a:p>
        </p:txBody>
      </p:sp>
      <p:sp>
        <p:nvSpPr>
          <p:cNvPr id="25" name="a2wd420_code24"/>
          <p:cNvSpPr txBox="1"/>
          <p:nvPr/>
        </p:nvSpPr>
        <p:spPr>
          <a:xfrm>
            <a:off x="5148072" y="306324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6" name="a2wd480_code25"/>
          <p:cNvSpPr txBox="1"/>
          <p:nvPr/>
        </p:nvSpPr>
        <p:spPr>
          <a:xfrm>
            <a:off x="5148072" y="324612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:erlang.fun_info(add5, :env)</a:t>
            </a:r>
          </a:p>
        </p:txBody>
      </p:sp>
      <p:sp>
        <p:nvSpPr>
          <p:cNvPr id="27" name="a2wd540_code26"/>
          <p:cNvSpPr txBox="1"/>
          <p:nvPr/>
        </p:nvSpPr>
        <p:spPr>
          <a:xfrm>
            <a:off x="5148072" y="342900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{:env, [5]}</a:t>
            </a:r>
          </a:p>
        </p:txBody>
      </p:sp>
      <p:sp>
        <p:nvSpPr>
          <p:cNvPr id="28" name="a3f_nb27"/>
          <p:cNvSpPr/>
          <p:nvPr/>
        </p:nvSpPr>
        <p:spPr>
          <a:xfrm>
            <a:off x="457200" y="390448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nacc28"/>
          <p:cNvSpPr/>
          <p:nvPr/>
        </p:nvSpPr>
        <p:spPr>
          <a:xfrm>
            <a:off x="457200" y="3904487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nt29"/>
          <p:cNvSpPr txBox="1"/>
          <p:nvPr/>
        </p:nvSpPr>
        <p:spPr>
          <a:xfrm>
            <a:off x="658368" y="390448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That env list is the closure, literally: the same code with a different captured value. Data is immutable, so a closure can never see a later change — there is no later change to see.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CLOSURES · COST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a closure carries — and what it cannot do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It copies what it captures. It cannot change anything outside itself.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475488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Function</a:t>
            </a:r>
          </a:p>
        </p:txBody>
      </p:sp>
      <p:sp>
        <p:nvSpPr>
          <p:cNvPr id="7" name="a1wd140_td6"/>
          <p:cNvSpPr/>
          <p:nvPr/>
        </p:nvSpPr>
        <p:spPr>
          <a:xfrm>
            <a:off x="457200" y="1618488"/>
            <a:ext cx="4754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40_tdt7"/>
          <p:cNvSpPr txBox="1"/>
          <p:nvPr/>
        </p:nvSpPr>
        <p:spPr>
          <a:xfrm>
            <a:off x="530352" y="1618488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fn x -&gt; x end</a:t>
            </a:r>
          </a:p>
        </p:txBody>
      </p:sp>
      <p:sp>
        <p:nvSpPr>
          <p:cNvPr id="9" name="a1wd280_td8"/>
          <p:cNvSpPr/>
          <p:nvPr/>
        </p:nvSpPr>
        <p:spPr>
          <a:xfrm>
            <a:off x="457200" y="1911095"/>
            <a:ext cx="4754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80_tdt9"/>
          <p:cNvSpPr txBox="1"/>
          <p:nvPr/>
        </p:nvSpPr>
        <p:spPr>
          <a:xfrm>
            <a:off x="530352" y="1911095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&amp;String.upcase/1</a:t>
            </a:r>
          </a:p>
        </p:txBody>
      </p:sp>
      <p:sp>
        <p:nvSpPr>
          <p:cNvPr id="11" name="a1wd420_td10"/>
          <p:cNvSpPr/>
          <p:nvPr/>
        </p:nvSpPr>
        <p:spPr>
          <a:xfrm>
            <a:off x="457200" y="2203704"/>
            <a:ext cx="4754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420_tdt11"/>
          <p:cNvSpPr txBox="1"/>
          <p:nvPr/>
        </p:nvSpPr>
        <p:spPr>
          <a:xfrm>
            <a:off x="530352" y="2203704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make_adder.(5)</a:t>
            </a:r>
          </a:p>
        </p:txBody>
      </p:sp>
      <p:sp>
        <p:nvSpPr>
          <p:cNvPr id="13" name="a1wd560_td12"/>
          <p:cNvSpPr/>
          <p:nvPr/>
        </p:nvSpPr>
        <p:spPr>
          <a:xfrm>
            <a:off x="457200" y="2496312"/>
            <a:ext cx="4754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560_tdt13"/>
          <p:cNvSpPr txBox="1"/>
          <p:nvPr/>
        </p:nvSpPr>
        <p:spPr>
          <a:xfrm>
            <a:off x="530352" y="2496312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fn -&gt; length(big) end, big = 1000-element list</a:t>
            </a:r>
          </a:p>
        </p:txBody>
      </p:sp>
      <p:sp>
        <p:nvSpPr>
          <p:cNvPr id="15" name="a1f_th14"/>
          <p:cNvSpPr/>
          <p:nvPr/>
        </p:nvSpPr>
        <p:spPr>
          <a:xfrm>
            <a:off x="5212080" y="1325880"/>
            <a:ext cx="17373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f_tht15"/>
          <p:cNvSpPr txBox="1"/>
          <p:nvPr/>
        </p:nvSpPr>
        <p:spPr>
          <a:xfrm>
            <a:off x="5285232" y="1325880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:erts_debug.size</a:t>
            </a:r>
          </a:p>
        </p:txBody>
      </p:sp>
      <p:sp>
        <p:nvSpPr>
          <p:cNvPr id="17" name="a1wd140_td16"/>
          <p:cNvSpPr/>
          <p:nvPr/>
        </p:nvSpPr>
        <p:spPr>
          <a:xfrm>
            <a:off x="5212080" y="1618488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140_tdt17"/>
          <p:cNvSpPr txBox="1"/>
          <p:nvPr/>
        </p:nvSpPr>
        <p:spPr>
          <a:xfrm>
            <a:off x="5285232" y="1618488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 words</a:t>
            </a:r>
          </a:p>
        </p:txBody>
      </p:sp>
      <p:sp>
        <p:nvSpPr>
          <p:cNvPr id="19" name="a1wd280_td18"/>
          <p:cNvSpPr/>
          <p:nvPr/>
        </p:nvSpPr>
        <p:spPr>
          <a:xfrm>
            <a:off x="5212080" y="1911095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280_tdt19"/>
          <p:cNvSpPr txBox="1"/>
          <p:nvPr/>
        </p:nvSpPr>
        <p:spPr>
          <a:xfrm>
            <a:off x="5285232" y="1911095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 words</a:t>
            </a:r>
          </a:p>
        </p:txBody>
      </p:sp>
      <p:sp>
        <p:nvSpPr>
          <p:cNvPr id="21" name="a1wd420_td20"/>
          <p:cNvSpPr/>
          <p:nvPr/>
        </p:nvSpPr>
        <p:spPr>
          <a:xfrm>
            <a:off x="5212080" y="220370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20_tdt21"/>
          <p:cNvSpPr txBox="1"/>
          <p:nvPr/>
        </p:nvSpPr>
        <p:spPr>
          <a:xfrm>
            <a:off x="5285232" y="2203704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 words</a:t>
            </a:r>
          </a:p>
        </p:txBody>
      </p:sp>
      <p:sp>
        <p:nvSpPr>
          <p:cNvPr id="23" name="a1wd560_td22"/>
          <p:cNvSpPr/>
          <p:nvPr/>
        </p:nvSpPr>
        <p:spPr>
          <a:xfrm>
            <a:off x="5212080" y="24963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60_tdt23"/>
          <p:cNvSpPr txBox="1"/>
          <p:nvPr/>
        </p:nvSpPr>
        <p:spPr>
          <a:xfrm>
            <a:off x="5285232" y="2496312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2003 words</a:t>
            </a:r>
          </a:p>
        </p:txBody>
      </p:sp>
      <p:sp>
        <p:nvSpPr>
          <p:cNvPr id="25" name="a1f_th24"/>
          <p:cNvSpPr/>
          <p:nvPr/>
        </p:nvSpPr>
        <p:spPr>
          <a:xfrm>
            <a:off x="6949440" y="1325880"/>
            <a:ext cx="173736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7022592" y="1325880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27" name="a1wd140_td26"/>
          <p:cNvSpPr/>
          <p:nvPr/>
        </p:nvSpPr>
        <p:spPr>
          <a:xfrm>
            <a:off x="6949440" y="1618488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40_tdt27"/>
          <p:cNvSpPr txBox="1"/>
          <p:nvPr/>
        </p:nvSpPr>
        <p:spPr>
          <a:xfrm>
            <a:off x="7022592" y="1618488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 environment</a:t>
            </a:r>
          </a:p>
        </p:txBody>
      </p:sp>
      <p:sp>
        <p:nvSpPr>
          <p:cNvPr id="29" name="a1wd280_td28"/>
          <p:cNvSpPr/>
          <p:nvPr/>
        </p:nvSpPr>
        <p:spPr>
          <a:xfrm>
            <a:off x="6949440" y="1911095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80_tdt29"/>
          <p:cNvSpPr txBox="1"/>
          <p:nvPr/>
        </p:nvSpPr>
        <p:spPr>
          <a:xfrm>
            <a:off x="7022592" y="1911095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just a name</a:t>
            </a:r>
          </a:p>
        </p:txBody>
      </p:sp>
      <p:sp>
        <p:nvSpPr>
          <p:cNvPr id="31" name="a1wd420_td30"/>
          <p:cNvSpPr/>
          <p:nvPr/>
        </p:nvSpPr>
        <p:spPr>
          <a:xfrm>
            <a:off x="6949440" y="220370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20_tdt31"/>
          <p:cNvSpPr txBox="1"/>
          <p:nvPr/>
        </p:nvSpPr>
        <p:spPr>
          <a:xfrm>
            <a:off x="7022592" y="2203704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one integer</a:t>
            </a:r>
          </a:p>
        </p:txBody>
      </p:sp>
      <p:sp>
        <p:nvSpPr>
          <p:cNvPr id="33" name="a1wd560_td32"/>
          <p:cNvSpPr/>
          <p:nvPr/>
        </p:nvSpPr>
        <p:spPr>
          <a:xfrm>
            <a:off x="6949440" y="24963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560_tdt33"/>
          <p:cNvSpPr txBox="1"/>
          <p:nvPr/>
        </p:nvSpPr>
        <p:spPr>
          <a:xfrm>
            <a:off x="7022592" y="2496312"/>
            <a:ext cx="16276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whole list</a:t>
            </a:r>
          </a:p>
        </p:txBody>
      </p:sp>
      <p:sp>
        <p:nvSpPr>
          <p:cNvPr id="35" name="a2f_codebg34"/>
          <p:cNvSpPr/>
          <p:nvPr/>
        </p:nvSpPr>
        <p:spPr>
          <a:xfrm>
            <a:off x="457200" y="2953512"/>
            <a:ext cx="8229600" cy="1335024"/>
          </a:xfrm>
          <a:prstGeom prst="roundRect">
            <a:avLst>
              <a:gd name="adj" fmla="val 54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f_codeh35"/>
          <p:cNvSpPr txBox="1"/>
          <p:nvPr/>
        </p:nvSpPr>
        <p:spPr>
          <a:xfrm>
            <a:off x="621792" y="300837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the counter that does not count</a:t>
            </a:r>
          </a:p>
        </p:txBody>
      </p:sp>
      <p:sp>
        <p:nvSpPr>
          <p:cNvPr id="37" name="a2w_code36"/>
          <p:cNvSpPr txBox="1"/>
          <p:nvPr/>
        </p:nvSpPr>
        <p:spPr>
          <a:xfrm>
            <a:off x="621792" y="339242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count = 0</a:t>
            </a:r>
          </a:p>
        </p:txBody>
      </p:sp>
      <p:sp>
        <p:nvSpPr>
          <p:cNvPr id="38" name="a2wd80_code37"/>
          <p:cNvSpPr txBox="1"/>
          <p:nvPr/>
        </p:nvSpPr>
        <p:spPr>
          <a:xfrm>
            <a:off x="621792" y="357530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inc = fn -&gt; count = count + 1 end</a:t>
            </a:r>
          </a:p>
        </p:txBody>
      </p:sp>
      <p:sp>
        <p:nvSpPr>
          <p:cNvPr id="39" name="a2wd160_code38"/>
          <p:cNvSpPr txBox="1"/>
          <p:nvPr/>
        </p:nvSpPr>
        <p:spPr>
          <a:xfrm>
            <a:off x="621792" y="375818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inc.(); inc.()</a:t>
            </a:r>
          </a:p>
        </p:txBody>
      </p:sp>
      <p:sp>
        <p:nvSpPr>
          <p:cNvPr id="40" name="a2wd240_code39"/>
          <p:cNvSpPr txBox="1"/>
          <p:nvPr/>
        </p:nvSpPr>
        <p:spPr>
          <a:xfrm>
            <a:off x="621792" y="394106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count   #=&gt; 0      warning: variable "count" is unused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HIGHER-ORDER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Higher-order functions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function that takes a function, returns one, or both.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290572"/>
          </a:xfrm>
          <a:prstGeom prst="roundRect">
            <a:avLst>
              <a:gd name="adj" fmla="val 31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twice = fn f, x -&gt; f.(f.(x)) end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52243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twice.(&amp;(&amp;1 * 3), 2)                 #=&gt; 18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39696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27148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compose = fn f, g -&gt; fn x -&gt; g.(f.(x)) end end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514600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compose.(&amp;String.trim/1, &amp;String.upcase/1).("  hi ")    #=&gt; "HI"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702052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89504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steps = [&amp;String.trim/1, &amp;String.downcase/1, &amp;String.replace(&amp;1, " ", "-")]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076956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slug  = fn s -&gt; Enum.reduce(steps, s, fn f, acc -&gt; f.(acc) end) end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264408"/>
            <a:ext cx="7900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slug.("  Hello World  ")             #=&gt; "hello-world"</a:t>
            </a:r>
          </a:p>
        </p:txBody>
      </p:sp>
      <p:sp>
        <p:nvSpPr>
          <p:cNvPr id="16" name="a2f_nb15"/>
          <p:cNvSpPr/>
          <p:nvPr/>
        </p:nvSpPr>
        <p:spPr>
          <a:xfrm>
            <a:off x="457200" y="374446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nacc16"/>
          <p:cNvSpPr/>
          <p:nvPr/>
        </p:nvSpPr>
        <p:spPr>
          <a:xfrm>
            <a:off x="457200" y="3744468"/>
            <a:ext cx="50292" cy="5486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nt17"/>
          <p:cNvSpPr txBox="1"/>
          <p:nvPr/>
        </p:nvSpPr>
        <p:spPr>
          <a:xfrm>
            <a:off x="658368" y="374446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last one is the pattern to remember: a LIST of functions, folded over a value. Every validation pipeline, middleware stack and pricing-rule engine is that line — lab 10 builds one.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Working with functions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Enum's big three, the pipe,
composition and dynamic calls.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map · filter · reduce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|&gt;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apply/3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Enum.map, filter and reduce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higher-order functions that replace almost every loop.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1993391"/>
          </a:xfrm>
          <a:prstGeom prst="roundRect">
            <a:avLst>
              <a:gd name="adj" fmla="val 36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Enum.map([1, 2, 3], fn x -&gt; x * x end)    #=&gt; [1, 4, 9]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3852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Enum.filter(1..10, &amp;(rem(&amp;1, 2) == 0))    #=&gt; [2, 4, 6, 8, 10]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1226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Enum.reject(1..10, &amp;(rem(&amp;1, 2) == 0))    #=&gt; [1, 3, 5, 7, 9]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8600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Enum.reduce([1, 2, 3, 4], 0, &amp;+/2)        #=&gt; 10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5973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Enum.reduce([1, 2, 3, 4], &amp;*/2)           #=&gt; 24   first element is the acc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3347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Enum.reduce([], &amp;+/2)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0720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(Enum.EmptyError) empty error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8094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Enum.reduce([], 0, &amp;+/2)                  #=&gt; 0</a:t>
            </a:r>
          </a:p>
        </p:txBody>
      </p:sp>
      <p:sp>
        <p:nvSpPr>
          <p:cNvPr id="15" name="a2f_th14"/>
          <p:cNvSpPr/>
          <p:nvPr/>
        </p:nvSpPr>
        <p:spPr>
          <a:xfrm>
            <a:off x="457200" y="3465576"/>
            <a:ext cx="1554480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tht15"/>
          <p:cNvSpPr txBox="1"/>
          <p:nvPr/>
        </p:nvSpPr>
        <p:spPr>
          <a:xfrm>
            <a:off x="530352" y="3465576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Function</a:t>
            </a:r>
          </a:p>
        </p:txBody>
      </p:sp>
      <p:sp>
        <p:nvSpPr>
          <p:cNvPr id="17" name="a2wd140_td16"/>
          <p:cNvSpPr/>
          <p:nvPr/>
        </p:nvSpPr>
        <p:spPr>
          <a:xfrm>
            <a:off x="457200" y="3721608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wd140_tdt17"/>
          <p:cNvSpPr txBox="1"/>
          <p:nvPr/>
        </p:nvSpPr>
        <p:spPr>
          <a:xfrm>
            <a:off x="530352" y="3721608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map</a:t>
            </a:r>
          </a:p>
        </p:txBody>
      </p:sp>
      <p:sp>
        <p:nvSpPr>
          <p:cNvPr id="19" name="a2wd280_td18"/>
          <p:cNvSpPr/>
          <p:nvPr/>
        </p:nvSpPr>
        <p:spPr>
          <a:xfrm>
            <a:off x="457200" y="3977639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d280_tdt19"/>
          <p:cNvSpPr txBox="1"/>
          <p:nvPr/>
        </p:nvSpPr>
        <p:spPr>
          <a:xfrm>
            <a:off x="530352" y="3977639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filter</a:t>
            </a:r>
          </a:p>
        </p:txBody>
      </p:sp>
      <p:sp>
        <p:nvSpPr>
          <p:cNvPr id="21" name="a2wd420_td20"/>
          <p:cNvSpPr/>
          <p:nvPr/>
        </p:nvSpPr>
        <p:spPr>
          <a:xfrm>
            <a:off x="457200" y="4233672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420_tdt21"/>
          <p:cNvSpPr txBox="1"/>
          <p:nvPr/>
        </p:nvSpPr>
        <p:spPr>
          <a:xfrm>
            <a:off x="530352" y="4233672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reduce</a:t>
            </a:r>
          </a:p>
        </p:txBody>
      </p:sp>
      <p:sp>
        <p:nvSpPr>
          <p:cNvPr id="23" name="a2f_th22"/>
          <p:cNvSpPr/>
          <p:nvPr/>
        </p:nvSpPr>
        <p:spPr>
          <a:xfrm>
            <a:off x="2011680" y="3465576"/>
            <a:ext cx="3200400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f_tht23"/>
          <p:cNvSpPr txBox="1"/>
          <p:nvPr/>
        </p:nvSpPr>
        <p:spPr>
          <a:xfrm>
            <a:off x="2084832" y="3465576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 → out</a:t>
            </a:r>
          </a:p>
        </p:txBody>
      </p:sp>
      <p:sp>
        <p:nvSpPr>
          <p:cNvPr id="25" name="a2wd140_td24"/>
          <p:cNvSpPr/>
          <p:nvPr/>
        </p:nvSpPr>
        <p:spPr>
          <a:xfrm>
            <a:off x="2011680" y="3721608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140_tdt25"/>
          <p:cNvSpPr txBox="1"/>
          <p:nvPr/>
        </p:nvSpPr>
        <p:spPr>
          <a:xfrm>
            <a:off x="2084832" y="372160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 elements → n elements</a:t>
            </a:r>
          </a:p>
        </p:txBody>
      </p:sp>
      <p:sp>
        <p:nvSpPr>
          <p:cNvPr id="27" name="a2wd280_td26"/>
          <p:cNvSpPr/>
          <p:nvPr/>
        </p:nvSpPr>
        <p:spPr>
          <a:xfrm>
            <a:off x="2011680" y="3977639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d280_tdt27"/>
          <p:cNvSpPr txBox="1"/>
          <p:nvPr/>
        </p:nvSpPr>
        <p:spPr>
          <a:xfrm>
            <a:off x="2084832" y="3977639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 elements → up to n</a:t>
            </a:r>
          </a:p>
        </p:txBody>
      </p:sp>
      <p:sp>
        <p:nvSpPr>
          <p:cNvPr id="29" name="a2wd420_td28"/>
          <p:cNvSpPr/>
          <p:nvPr/>
        </p:nvSpPr>
        <p:spPr>
          <a:xfrm>
            <a:off x="2011680" y="4233672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420_tdt29"/>
          <p:cNvSpPr txBox="1"/>
          <p:nvPr/>
        </p:nvSpPr>
        <p:spPr>
          <a:xfrm>
            <a:off x="2084832" y="4233672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 elements → one value, of any shape</a:t>
            </a:r>
          </a:p>
        </p:txBody>
      </p:sp>
      <p:sp>
        <p:nvSpPr>
          <p:cNvPr id="31" name="a2f_th30"/>
          <p:cNvSpPr/>
          <p:nvPr/>
        </p:nvSpPr>
        <p:spPr>
          <a:xfrm>
            <a:off x="5212080" y="3465576"/>
            <a:ext cx="3474720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f_tht31"/>
          <p:cNvSpPr txBox="1"/>
          <p:nvPr/>
        </p:nvSpPr>
        <p:spPr>
          <a:xfrm>
            <a:off x="5285232" y="3465576"/>
            <a:ext cx="33649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function you pass</a:t>
            </a:r>
          </a:p>
        </p:txBody>
      </p:sp>
      <p:sp>
        <p:nvSpPr>
          <p:cNvPr id="33" name="a2wd140_td32"/>
          <p:cNvSpPr/>
          <p:nvPr/>
        </p:nvSpPr>
        <p:spPr>
          <a:xfrm>
            <a:off x="5212080" y="372160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d140_tdt33"/>
          <p:cNvSpPr txBox="1"/>
          <p:nvPr/>
        </p:nvSpPr>
        <p:spPr>
          <a:xfrm>
            <a:off x="5285232" y="3721608"/>
            <a:ext cx="33649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fn element -&gt; new_element end</a:t>
            </a:r>
          </a:p>
        </p:txBody>
      </p:sp>
      <p:sp>
        <p:nvSpPr>
          <p:cNvPr id="35" name="a2wd280_td34"/>
          <p:cNvSpPr/>
          <p:nvPr/>
        </p:nvSpPr>
        <p:spPr>
          <a:xfrm>
            <a:off x="5212080" y="3977639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280_tdt35"/>
          <p:cNvSpPr txBox="1"/>
          <p:nvPr/>
        </p:nvSpPr>
        <p:spPr>
          <a:xfrm>
            <a:off x="5285232" y="3977639"/>
            <a:ext cx="33649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fn element -&gt; truthy or not end</a:t>
            </a:r>
          </a:p>
        </p:txBody>
      </p:sp>
      <p:sp>
        <p:nvSpPr>
          <p:cNvPr id="37" name="a2wd420_td36"/>
          <p:cNvSpPr/>
          <p:nvPr/>
        </p:nvSpPr>
        <p:spPr>
          <a:xfrm>
            <a:off x="5212080" y="423367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wd420_tdt37"/>
          <p:cNvSpPr txBox="1"/>
          <p:nvPr/>
        </p:nvSpPr>
        <p:spPr>
          <a:xfrm>
            <a:off x="5285232" y="4233672"/>
            <a:ext cx="33649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fn element, acc -&gt; new_acc end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 · REDUCE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reduce builds anything — and map returns a list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things that surprise people, both measured.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words = ~w(apple avocado banana blueberry cherry)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476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Enum.reduce(words, %{}, fn w, acc -&gt;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Map.update(acc, String.first(w), [w], &amp;[w | &amp;1])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134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end)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963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%{"a" =&gt; ["avocado", "apple"], "b" =&gt; ["blueberry", "banana"], ...}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79191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Enum.group_by(words, &amp;String.first/1)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620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%{"a" =&gt; ["apple", "avocado"], "b" =&gt; ["banana", "blueberry"], ...}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449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278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Enum.map(%{a: 1, b: 2}, fn {k, v} -&gt; {k, v * 10} end)   #=&gt; [a: 10, b: 20]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4107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Map.new(%{a: 1, b: 2}, fn {k, v} -&gt; {k, v * 10} end)    #=&gt; %{a: 10, b: 20}</a:t>
            </a:r>
          </a:p>
        </p:txBody>
      </p:sp>
      <p:sp>
        <p:nvSpPr>
          <p:cNvPr id="17" name="a2u_dot16"/>
          <p:cNvSpPr/>
          <p:nvPr/>
        </p:nvSpPr>
        <p:spPr>
          <a:xfrm>
            <a:off x="457200" y="398678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b17"/>
          <p:cNvSpPr txBox="1"/>
          <p:nvPr/>
        </p:nvSpPr>
        <p:spPr>
          <a:xfrm>
            <a:off x="676656" y="3886200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Prepending reverses the order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hand-rolled reduce gives avocado before apple; group_by keeps input order</a:t>
            </a:r>
          </a:p>
        </p:txBody>
      </p:sp>
      <p:sp>
        <p:nvSpPr>
          <p:cNvPr id="19" name="a2ud200_dot18"/>
          <p:cNvSpPr/>
          <p:nvPr/>
        </p:nvSpPr>
        <p:spPr>
          <a:xfrm>
            <a:off x="457200" y="44074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d200_b19"/>
          <p:cNvSpPr txBox="1"/>
          <p:nvPr/>
        </p:nvSpPr>
        <p:spPr>
          <a:xfrm>
            <a:off x="676656" y="4306824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Enum always returns a list  </a:t>
            </a:r>
            <a:r>
              <a:rPr sz="1150" b="0">
                <a:solidFill>
                  <a:srgbClr val="334155"/>
                </a:solidFill>
                <a:latin typeface="Calibri"/>
              </a:rPr>
              <a:t>a map goes in as {k, v} tuples and comes out as a keyword list — use Map.new/2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 · UNDERNEATH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map and filter are both reduce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Which is why reduce is the one worth understanding properly.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8229600" cy="2464308"/>
          </a:xfrm>
          <a:prstGeom prst="roundRect">
            <a:avLst>
              <a:gd name="adj" fmla="val 29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my_map = fn list, f -&gt;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70531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list |&gt; Enum.reduce([], fn x, acc -&gt; [f.(x) | acc] end) |&gt; Enum.reverse()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9696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8860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my_filter = fn list, p -&gt;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47188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list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16352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|&gt; Enum.reduce([], fn x, acc -&gt; if p.(x), do: [x | acc], else: acc end)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85515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|&gt; Enum.reverse()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54680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2384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my_map.([1, 2, 3], &amp;(&amp;1 * 2))         #=&gt; [2, 4, 6]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493008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my_filter.([1, 2, 3, 4], &amp;(&amp;1 &gt; 2))   #=&gt; [3, 4]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395478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3954780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395478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Build by prepending — [x | acc] is O(1), appending is O(n) — then reverse once at the end. That shape, accumulate backwards and reverse, is the same one tail recursion uses in part 05.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PIPE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pipe: |&gt;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x |&gt; f(a) is f(x, a). That is the whole feature.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167128"/>
          </a:xfrm>
          <a:prstGeom prst="roundRect">
            <a:avLst>
              <a:gd name="adj" fmla="val 33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"  The Quick Brown Fox  "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5681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|&gt; String.trim()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305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|&gt; String.downcase()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0428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|&gt; String.split()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47802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|&gt; Enum.map(&amp;String.capitalize/1)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5176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|&gt; Enum.join(" ")</a:t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2549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#=&gt; "The Quick Brown Fox"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299923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Macro.expand_once(quote(do: x |&gt; f(a)), __ENV__) |&gt; Macro.to_string()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17296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#=&gt; "f(x, a)"</a:t>
            </a:r>
          </a:p>
        </p:txBody>
      </p:sp>
      <p:sp>
        <p:nvSpPr>
          <p:cNvPr id="16" name="a2u_dot15"/>
          <p:cNvSpPr/>
          <p:nvPr/>
        </p:nvSpPr>
        <p:spPr>
          <a:xfrm>
            <a:off x="457200" y="373989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676656" y="3639312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It is a macro, gone at compile time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expansion is an ordinary nested call — no run-time cost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457200" y="408736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80_b18"/>
          <p:cNvSpPr txBox="1"/>
          <p:nvPr/>
        </p:nvSpPr>
        <p:spPr>
          <a:xfrm>
            <a:off x="676656" y="3986784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It fills the FIRST argument  </a:t>
            </a:r>
            <a:r>
              <a:rPr sz="1150" b="0">
                <a:solidFill>
                  <a:srgbClr val="334155"/>
                </a:solidFill>
                <a:latin typeface="Calibri"/>
              </a:rPr>
              <a:t>which is why Elixir's libraries put the data being transformed first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457200" y="44348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60_b20"/>
          <p:cNvSpPr txBox="1"/>
          <p:nvPr/>
        </p:nvSpPr>
        <p:spPr>
          <a:xfrm>
            <a:off x="676656" y="4334256"/>
            <a:ext cx="8010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Read it as "and then"  </a:t>
            </a:r>
            <a:r>
              <a:rPr sz="1150" b="0">
                <a:solidFill>
                  <a:srgbClr val="334155"/>
                </a:solidFill>
                <a:latin typeface="Calibri"/>
              </a:rPr>
              <a:t>trim, and then downcase, and then split — in the order it happens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PIPE · TRAPS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Three pipe traps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 anonymous function, the wrong argument, and a look along the way.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2688336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sq = fn x -&gt; x * x end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2024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|&gt; sq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09397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error: undefined function sq/1 (there is no such import)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6771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5 |&gt; sq.()                 #=&gt; 25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4144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5 |&gt; then(&amp;(&amp;1 * &amp;1))      #=&gt; 25    then/2 is made for this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1518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78892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3 |&gt; String.duplicate("x")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6265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(ArgumentError) 1st argument: not a binary  2nd argument: not an integer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36391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3 |&gt; then(&amp;String.duplicate("x", &amp;1))           #=&gt; "xxx"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1012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483863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[3, 1, 2] |&gt; Enum.sort() |&gt; tap(&amp;IO.inspect(&amp;1, label: "sorted")) |&gt; hd()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65760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sorted: [1, 2, 3]          ... and the pipe continues with the list: 1</a:t>
            </a:r>
          </a:p>
        </p:txBody>
      </p:sp>
      <p:sp>
        <p:nvSpPr>
          <p:cNvPr id="19" name="a2f_nb18"/>
          <p:cNvSpPr/>
          <p:nvPr/>
        </p:nvSpPr>
        <p:spPr>
          <a:xfrm>
            <a:off x="457200" y="4105656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acc19"/>
          <p:cNvSpPr/>
          <p:nvPr/>
        </p:nvSpPr>
        <p:spPr>
          <a:xfrm>
            <a:off x="457200" y="4105656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nt20"/>
          <p:cNvSpPr txBox="1"/>
          <p:nvPr/>
        </p:nvSpPr>
        <p:spPr>
          <a:xfrm>
            <a:off x="658368" y="4105656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then/2 passes the value to a function and returns what that returns. tap/2 passes it to a function and returns the ORIGINAL — for logging in the middle of a pipeline.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COMPOSITION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Function composition patterns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Elixir has no compose operator. It has three idioms instead.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62456"/>
            <a:ext cx="260908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62456"/>
            <a:ext cx="2609088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6"/>
          <p:cNvSpPr/>
          <p:nvPr/>
        </p:nvSpPr>
        <p:spPr>
          <a:xfrm>
            <a:off x="621792" y="156362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ict7"/>
          <p:cNvSpPr txBox="1"/>
          <p:nvPr/>
        </p:nvSpPr>
        <p:spPr>
          <a:xfrm>
            <a:off x="621792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a1ud90_ct8"/>
          <p:cNvSpPr txBox="1"/>
          <p:nvPr/>
        </p:nvSpPr>
        <p:spPr>
          <a:xfrm>
            <a:off x="621792" y="20391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pipe</a:t>
            </a:r>
          </a:p>
        </p:txBody>
      </p:sp>
      <p:sp>
        <p:nvSpPr>
          <p:cNvPr id="10" name="a1ud120_cs9"/>
          <p:cNvSpPr txBox="1"/>
          <p:nvPr/>
        </p:nvSpPr>
        <p:spPr>
          <a:xfrm>
            <a:off x="621792" y="2313432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x |&gt; f() |&gt; g()</a:t>
            </a:r>
          </a:p>
        </p:txBody>
      </p:sp>
      <p:sp>
        <p:nvSpPr>
          <p:cNvPr id="11" name="a1ud150_cb10"/>
          <p:cNvSpPr txBox="1"/>
          <p:nvPr/>
        </p:nvSpPr>
        <p:spPr>
          <a:xfrm>
            <a:off x="621792" y="2569463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Fixed steps, known now</a:t>
            </a:r>
          </a:p>
        </p:txBody>
      </p:sp>
      <p:sp>
        <p:nvSpPr>
          <p:cNvPr id="12" name="a1ud220_cb11"/>
          <p:cNvSpPr txBox="1"/>
          <p:nvPr/>
        </p:nvSpPr>
        <p:spPr>
          <a:xfrm>
            <a:off x="621792" y="2953511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Reads top to bottom</a:t>
            </a:r>
          </a:p>
        </p:txBody>
      </p:sp>
      <p:sp>
        <p:nvSpPr>
          <p:cNvPr id="13" name="a1ud290_cb12"/>
          <p:cNvSpPr txBox="1"/>
          <p:nvPr/>
        </p:nvSpPr>
        <p:spPr>
          <a:xfrm>
            <a:off x="621792" y="3337559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everyday one</a:t>
            </a:r>
          </a:p>
        </p:txBody>
      </p:sp>
      <p:sp>
        <p:nvSpPr>
          <p:cNvPr id="14" name="a2u_card13"/>
          <p:cNvSpPr/>
          <p:nvPr/>
        </p:nvSpPr>
        <p:spPr>
          <a:xfrm>
            <a:off x="3267456" y="1362456"/>
            <a:ext cx="260908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3267456" y="1362456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15"/>
          <p:cNvSpPr/>
          <p:nvPr/>
        </p:nvSpPr>
        <p:spPr>
          <a:xfrm>
            <a:off x="3432048" y="156362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ict16"/>
          <p:cNvSpPr txBox="1"/>
          <p:nvPr/>
        </p:nvSpPr>
        <p:spPr>
          <a:xfrm>
            <a:off x="3432048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a2ud90_ct17"/>
          <p:cNvSpPr txBox="1"/>
          <p:nvPr/>
        </p:nvSpPr>
        <p:spPr>
          <a:xfrm>
            <a:off x="3432048" y="20391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 list, reduced</a:t>
            </a:r>
          </a:p>
        </p:txBody>
      </p:sp>
      <p:sp>
        <p:nvSpPr>
          <p:cNvPr id="19" name="a2ud120_cs18"/>
          <p:cNvSpPr txBox="1"/>
          <p:nvPr/>
        </p:nvSpPr>
        <p:spPr>
          <a:xfrm>
            <a:off x="3432048" y="2313432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Enum.reduce(fs, x, ...)</a:t>
            </a:r>
          </a:p>
        </p:txBody>
      </p:sp>
      <p:sp>
        <p:nvSpPr>
          <p:cNvPr id="20" name="a2ud150_cb19"/>
          <p:cNvSpPr txBox="1"/>
          <p:nvPr/>
        </p:nvSpPr>
        <p:spPr>
          <a:xfrm>
            <a:off x="3432048" y="2569463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Steps chosen at run time</a:t>
            </a:r>
          </a:p>
        </p:txBody>
      </p:sp>
      <p:sp>
        <p:nvSpPr>
          <p:cNvPr id="21" name="a2ud220_cb20"/>
          <p:cNvSpPr txBox="1"/>
          <p:nvPr/>
        </p:nvSpPr>
        <p:spPr>
          <a:xfrm>
            <a:off x="3432048" y="2953511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From config or a user</a:t>
            </a:r>
          </a:p>
        </p:txBody>
      </p:sp>
      <p:sp>
        <p:nvSpPr>
          <p:cNvPr id="22" name="a2ud290_cb21"/>
          <p:cNvSpPr txBox="1"/>
          <p:nvPr/>
        </p:nvSpPr>
        <p:spPr>
          <a:xfrm>
            <a:off x="3432048" y="3337559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Rules, middleware</a:t>
            </a:r>
          </a:p>
        </p:txBody>
      </p:sp>
      <p:sp>
        <p:nvSpPr>
          <p:cNvPr id="23" name="a3u_card22"/>
          <p:cNvSpPr/>
          <p:nvPr/>
        </p:nvSpPr>
        <p:spPr>
          <a:xfrm>
            <a:off x="6077712" y="1362456"/>
            <a:ext cx="260908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acc23"/>
          <p:cNvSpPr/>
          <p:nvPr/>
        </p:nvSpPr>
        <p:spPr>
          <a:xfrm>
            <a:off x="6077712" y="1362456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24"/>
          <p:cNvSpPr/>
          <p:nvPr/>
        </p:nvSpPr>
        <p:spPr>
          <a:xfrm>
            <a:off x="6242304" y="156362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60_ict25"/>
          <p:cNvSpPr txBox="1"/>
          <p:nvPr/>
        </p:nvSpPr>
        <p:spPr>
          <a:xfrm>
            <a:off x="6242304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a3ud90_ct26"/>
          <p:cNvSpPr txBox="1"/>
          <p:nvPr/>
        </p:nvSpPr>
        <p:spPr>
          <a:xfrm>
            <a:off x="6242304" y="20391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 returned fn</a:t>
            </a:r>
          </a:p>
        </p:txBody>
      </p:sp>
      <p:sp>
        <p:nvSpPr>
          <p:cNvPr id="28" name="a3ud120_cs27"/>
          <p:cNvSpPr txBox="1"/>
          <p:nvPr/>
        </p:nvSpPr>
        <p:spPr>
          <a:xfrm>
            <a:off x="6242304" y="2313432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fn x -&gt; g.(f.(x)) end</a:t>
            </a:r>
          </a:p>
        </p:txBody>
      </p:sp>
      <p:sp>
        <p:nvSpPr>
          <p:cNvPr id="29" name="a3ud150_cb28"/>
          <p:cNvSpPr txBox="1"/>
          <p:nvPr/>
        </p:nvSpPr>
        <p:spPr>
          <a:xfrm>
            <a:off x="6242304" y="2569463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Build once, call later</a:t>
            </a:r>
          </a:p>
        </p:txBody>
      </p:sp>
      <p:sp>
        <p:nvSpPr>
          <p:cNvPr id="30" name="a3ud220_cb29"/>
          <p:cNvSpPr txBox="1"/>
          <p:nvPr/>
        </p:nvSpPr>
        <p:spPr>
          <a:xfrm>
            <a:off x="6242304" y="2953511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closure over f and g</a:t>
            </a:r>
          </a:p>
        </p:txBody>
      </p:sp>
      <p:sp>
        <p:nvSpPr>
          <p:cNvPr id="31" name="a3ud290_cb30"/>
          <p:cNvSpPr txBox="1"/>
          <p:nvPr/>
        </p:nvSpPr>
        <p:spPr>
          <a:xfrm>
            <a:off x="6242304" y="3337559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Factories, handlers</a:t>
            </a:r>
          </a:p>
        </p:txBody>
      </p:sp>
      <p:sp>
        <p:nvSpPr>
          <p:cNvPr id="32" name="a4f_nb31"/>
          <p:cNvSpPr/>
          <p:nvPr/>
        </p:nvSpPr>
        <p:spPr>
          <a:xfrm>
            <a:off x="457200" y="3941063"/>
            <a:ext cx="8229600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f_nacc32"/>
          <p:cNvSpPr/>
          <p:nvPr/>
        </p:nvSpPr>
        <p:spPr>
          <a:xfrm>
            <a:off x="457200" y="3941063"/>
            <a:ext cx="50292" cy="6400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f_nt33"/>
          <p:cNvSpPr txBox="1"/>
          <p:nvPr/>
        </p:nvSpPr>
        <p:spPr>
          <a:xfrm>
            <a:off x="658368" y="3941063"/>
            <a:ext cx="78272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When a step can FAIL, compose over {:ok, value} | {:error, reason}: each step pattern matches {:ok, v} and passes {:error, _} straight through. Lab 7 builds a signup validator this way, and `with` (deck 3) is the same idea written as syntax.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APPLY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Dynamic calls: apply/3 and mod.fun()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When the module or the function name is only known at run time.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probe_functions.exs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apply(String, :upcase, ["hi"])         #=&gt; "HI"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476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apply(Enum, :join, [[1, 2, 3], "-"])    #=&gt; "1-2-3"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apply(&amp;(&amp;1 + &amp;2), [1, 2])               #=&gt; 3        apply/2 takes a fn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134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963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mod = String; fun = :reverse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79191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mod.reverse("abc")                      #=&gt; "cba"    module in a variable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620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apply(mod, fun, ["abc"])                #=&gt; "cba"    function name too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449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278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apply(String, :nope, [1])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4107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(UndefinedFunctionError) function String.nope/1 is undefined or private</a:t>
            </a:r>
          </a:p>
        </p:txBody>
      </p:sp>
      <p:sp>
        <p:nvSpPr>
          <p:cNvPr id="17" name="a2u_dot16"/>
          <p:cNvSpPr/>
          <p:nvPr/>
        </p:nvSpPr>
        <p:spPr>
          <a:xfrm>
            <a:off x="457200" y="398678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b17"/>
          <p:cNvSpPr txBox="1"/>
          <p:nvPr/>
        </p:nvSpPr>
        <p:spPr>
          <a:xfrm>
            <a:off x="676656" y="3886200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arguments are a LIST  </a:t>
            </a:r>
            <a:r>
              <a:rPr sz="1150" b="0">
                <a:solidFill>
                  <a:srgbClr val="334155"/>
                </a:solidFill>
                <a:latin typeface="Calibri"/>
              </a:rPr>
              <a:t>apply(String, :upcase, "hi") is an ArgumentError — the list is the arity</a:t>
            </a:r>
          </a:p>
        </p:txBody>
      </p:sp>
      <p:sp>
        <p:nvSpPr>
          <p:cNvPr id="19" name="a2ud200_dot18"/>
          <p:cNvSpPr/>
          <p:nvPr/>
        </p:nvSpPr>
        <p:spPr>
          <a:xfrm>
            <a:off x="457200" y="44074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d200_b19"/>
          <p:cNvSpPr txBox="1"/>
          <p:nvPr/>
        </p:nvSpPr>
        <p:spPr>
          <a:xfrm>
            <a:off x="676656" y="4306824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mod.fun(x) needs the name at compile time  </a:t>
            </a:r>
            <a:r>
              <a:rPr sz="1150" b="0">
                <a:solidFill>
                  <a:srgbClr val="334155"/>
                </a:solidFill>
                <a:latin typeface="Calibri"/>
              </a:rPr>
              <a:t>apply/3 is for when the function name is data too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APPLY · SAFELY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Dispatch safely — and know what it costs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Never turn user input into a function name. Look it up in a map you wrote.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617720" cy="2587752"/>
          </a:xfrm>
          <a:prstGeom prst="roundRect">
            <a:avLst>
              <a:gd name="adj" fmla="val 2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21792" y="147218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@ops %{"add" =&gt; :add, "neg" =&gt; :neg}</a:t>
            </a:r>
          </a:p>
        </p:txBody>
      </p:sp>
      <p:sp>
        <p:nvSpPr>
          <p:cNvPr id="7" name="a1wd45_code6"/>
          <p:cNvSpPr txBox="1"/>
          <p:nvPr/>
        </p:nvSpPr>
        <p:spPr>
          <a:xfrm>
            <a:off x="621792" y="1645919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run(name, args) do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819655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with {:ok, f} &lt;- Map.fetch(@ops, name),</a:t>
            </a:r>
          </a:p>
        </p:txBody>
      </p:sp>
      <p:sp>
        <p:nvSpPr>
          <p:cNvPr id="9" name="a1wd135_code8"/>
          <p:cNvSpPr txBox="1"/>
          <p:nvPr/>
        </p:nvSpPr>
        <p:spPr>
          <a:xfrm>
            <a:off x="621792" y="1993391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true &lt;- function_exported?(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16712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__MODULE__, f, length(args)) do</a:t>
            </a:r>
          </a:p>
        </p:txBody>
      </p:sp>
      <p:sp>
        <p:nvSpPr>
          <p:cNvPr id="11" name="a1wd225_code10"/>
          <p:cNvSpPr txBox="1"/>
          <p:nvPr/>
        </p:nvSpPr>
        <p:spPr>
          <a:xfrm>
            <a:off x="621792" y="2340863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{:ok, apply(__MODULE__, f, args)}</a:t>
            </a:r>
          </a:p>
        </p:txBody>
      </p:sp>
      <p:sp>
        <p:nvSpPr>
          <p:cNvPr id="12" name="a1wd270_code11"/>
          <p:cNvSpPr txBox="1"/>
          <p:nvPr/>
        </p:nvSpPr>
        <p:spPr>
          <a:xfrm>
            <a:off x="621792" y="251460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else</a:t>
            </a:r>
          </a:p>
        </p:txBody>
      </p:sp>
      <p:sp>
        <p:nvSpPr>
          <p:cNvPr id="13" name="a1wd315_code12"/>
          <p:cNvSpPr txBox="1"/>
          <p:nvPr/>
        </p:nvSpPr>
        <p:spPr>
          <a:xfrm>
            <a:off x="621792" y="268833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:error -&gt; {:error, :unknown_op}</a:t>
            </a:r>
          </a:p>
        </p:txBody>
      </p:sp>
      <p:sp>
        <p:nvSpPr>
          <p:cNvPr id="14" name="a1wd360_code13"/>
          <p:cNvSpPr txBox="1"/>
          <p:nvPr/>
        </p:nvSpPr>
        <p:spPr>
          <a:xfrm>
            <a:off x="621792" y="286207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false -&gt; {:error, :bad_arity}</a:t>
            </a:r>
          </a:p>
        </p:txBody>
      </p:sp>
      <p:sp>
        <p:nvSpPr>
          <p:cNvPr id="15" name="a1wd405_code14"/>
          <p:cNvSpPr txBox="1"/>
          <p:nvPr/>
        </p:nvSpPr>
        <p:spPr>
          <a:xfrm>
            <a:off x="621792" y="303580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0954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7" name="a1wd495_code16"/>
          <p:cNvSpPr txBox="1"/>
          <p:nvPr/>
        </p:nvSpPr>
        <p:spPr>
          <a:xfrm>
            <a:off x="621792" y="3383279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run("add", [2, 3])  #=&gt; {:ok, 5}</a:t>
            </a:r>
          </a:p>
        </p:txBody>
      </p:sp>
      <p:sp>
        <p:nvSpPr>
          <p:cNvPr id="18" name="a1wd540_code17"/>
          <p:cNvSpPr txBox="1"/>
          <p:nvPr/>
        </p:nvSpPr>
        <p:spPr>
          <a:xfrm>
            <a:off x="621792" y="355701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run("halt", [])     #=&gt; {:error, :unknown_op}</a:t>
            </a:r>
          </a:p>
        </p:txBody>
      </p:sp>
      <p:sp>
        <p:nvSpPr>
          <p:cNvPr id="19" name="a2f_tl18"/>
          <p:cNvSpPr txBox="1"/>
          <p:nvPr/>
        </p:nvSpPr>
        <p:spPr>
          <a:xfrm>
            <a:off x="5257800" y="1307592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4B275F"/>
                </a:solidFill>
                <a:latin typeface="Calibri"/>
              </a:rPr>
              <a:t>REAL · best of 5</a:t>
            </a:r>
          </a:p>
        </p:txBody>
      </p:sp>
      <p:sp>
        <p:nvSpPr>
          <p:cNvPr id="20" name="a2f_th19"/>
          <p:cNvSpPr/>
          <p:nvPr/>
        </p:nvSpPr>
        <p:spPr>
          <a:xfrm>
            <a:off x="5257800" y="1581912"/>
            <a:ext cx="178308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tht20"/>
          <p:cNvSpPr txBox="1"/>
          <p:nvPr/>
        </p:nvSpPr>
        <p:spPr>
          <a:xfrm>
            <a:off x="5330952" y="1581912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10M calls</a:t>
            </a:r>
          </a:p>
        </p:txBody>
      </p:sp>
      <p:sp>
        <p:nvSpPr>
          <p:cNvPr id="22" name="a2wd120_td21"/>
          <p:cNvSpPr/>
          <p:nvPr/>
        </p:nvSpPr>
        <p:spPr>
          <a:xfrm>
            <a:off x="5257800" y="1856231"/>
            <a:ext cx="1783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120_tdt22"/>
          <p:cNvSpPr txBox="1"/>
          <p:nvPr/>
        </p:nvSpPr>
        <p:spPr>
          <a:xfrm>
            <a:off x="5330952" y="1856231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local id(n)</a:t>
            </a:r>
          </a:p>
        </p:txBody>
      </p:sp>
      <p:sp>
        <p:nvSpPr>
          <p:cNvPr id="24" name="a2wd240_td23"/>
          <p:cNvSpPr/>
          <p:nvPr/>
        </p:nvSpPr>
        <p:spPr>
          <a:xfrm>
            <a:off x="5257800" y="2130552"/>
            <a:ext cx="1783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240_tdt24"/>
          <p:cNvSpPr txBox="1"/>
          <p:nvPr/>
        </p:nvSpPr>
        <p:spPr>
          <a:xfrm>
            <a:off x="5330952" y="2130552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mod.id(n)</a:t>
            </a:r>
          </a:p>
        </p:txBody>
      </p:sp>
      <p:sp>
        <p:nvSpPr>
          <p:cNvPr id="26" name="a2wd360_td25"/>
          <p:cNvSpPr/>
          <p:nvPr/>
        </p:nvSpPr>
        <p:spPr>
          <a:xfrm>
            <a:off x="5257800" y="2404872"/>
            <a:ext cx="1783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360_tdt26"/>
          <p:cNvSpPr txBox="1"/>
          <p:nvPr/>
        </p:nvSpPr>
        <p:spPr>
          <a:xfrm>
            <a:off x="5330952" y="2404872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apply(m, :id, [n])</a:t>
            </a:r>
          </a:p>
        </p:txBody>
      </p:sp>
      <p:sp>
        <p:nvSpPr>
          <p:cNvPr id="28" name="a2wd480_td27"/>
          <p:cNvSpPr/>
          <p:nvPr/>
        </p:nvSpPr>
        <p:spPr>
          <a:xfrm>
            <a:off x="5257800" y="2679191"/>
            <a:ext cx="1783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480_tdt28"/>
          <p:cNvSpPr txBox="1"/>
          <p:nvPr/>
        </p:nvSpPr>
        <p:spPr>
          <a:xfrm>
            <a:off x="5330952" y="2679191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(&amp;Bench.id/1).(n)</a:t>
            </a:r>
          </a:p>
        </p:txBody>
      </p:sp>
      <p:sp>
        <p:nvSpPr>
          <p:cNvPr id="30" name="a2wd600_td29"/>
          <p:cNvSpPr/>
          <p:nvPr/>
        </p:nvSpPr>
        <p:spPr>
          <a:xfrm>
            <a:off x="5257800" y="2953512"/>
            <a:ext cx="1783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600_tdt30"/>
          <p:cNvSpPr txBox="1"/>
          <p:nvPr/>
        </p:nvSpPr>
        <p:spPr>
          <a:xfrm>
            <a:off x="5330952" y="2953512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(fn x -&gt; x end).(n)</a:t>
            </a:r>
          </a:p>
        </p:txBody>
      </p:sp>
      <p:sp>
        <p:nvSpPr>
          <p:cNvPr id="32" name="a2f_th31"/>
          <p:cNvSpPr/>
          <p:nvPr/>
        </p:nvSpPr>
        <p:spPr>
          <a:xfrm>
            <a:off x="7040880" y="1581912"/>
            <a:ext cx="73152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f_tht32"/>
          <p:cNvSpPr txBox="1"/>
          <p:nvPr/>
        </p:nvSpPr>
        <p:spPr>
          <a:xfrm>
            <a:off x="7114032" y="1581912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34" name="a2wd120_td33"/>
          <p:cNvSpPr/>
          <p:nvPr/>
        </p:nvSpPr>
        <p:spPr>
          <a:xfrm>
            <a:off x="7040880" y="1856231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120_tdt34"/>
          <p:cNvSpPr txBox="1"/>
          <p:nvPr/>
        </p:nvSpPr>
        <p:spPr>
          <a:xfrm>
            <a:off x="7114032" y="1856231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43.9</a:t>
            </a:r>
          </a:p>
        </p:txBody>
      </p:sp>
      <p:sp>
        <p:nvSpPr>
          <p:cNvPr id="36" name="a2wd240_td35"/>
          <p:cNvSpPr/>
          <p:nvPr/>
        </p:nvSpPr>
        <p:spPr>
          <a:xfrm>
            <a:off x="7040880" y="2130552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240_tdt36"/>
          <p:cNvSpPr txBox="1"/>
          <p:nvPr/>
        </p:nvSpPr>
        <p:spPr>
          <a:xfrm>
            <a:off x="7114032" y="2130552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285.8</a:t>
            </a:r>
          </a:p>
        </p:txBody>
      </p:sp>
      <p:sp>
        <p:nvSpPr>
          <p:cNvPr id="38" name="a2wd360_td37"/>
          <p:cNvSpPr/>
          <p:nvPr/>
        </p:nvSpPr>
        <p:spPr>
          <a:xfrm>
            <a:off x="7040880" y="2404872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360_tdt38"/>
          <p:cNvSpPr txBox="1"/>
          <p:nvPr/>
        </p:nvSpPr>
        <p:spPr>
          <a:xfrm>
            <a:off x="7114032" y="2404872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252.8</a:t>
            </a:r>
          </a:p>
        </p:txBody>
      </p:sp>
      <p:sp>
        <p:nvSpPr>
          <p:cNvPr id="40" name="a2wd480_td39"/>
          <p:cNvSpPr/>
          <p:nvPr/>
        </p:nvSpPr>
        <p:spPr>
          <a:xfrm>
            <a:off x="7040880" y="2679191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480_tdt40"/>
          <p:cNvSpPr txBox="1"/>
          <p:nvPr/>
        </p:nvSpPr>
        <p:spPr>
          <a:xfrm>
            <a:off x="7114032" y="2679191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111.7</a:t>
            </a:r>
          </a:p>
        </p:txBody>
      </p:sp>
      <p:sp>
        <p:nvSpPr>
          <p:cNvPr id="42" name="a2wd600_td41"/>
          <p:cNvSpPr/>
          <p:nvPr/>
        </p:nvSpPr>
        <p:spPr>
          <a:xfrm>
            <a:off x="7040880" y="2953512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600_tdt42"/>
          <p:cNvSpPr txBox="1"/>
          <p:nvPr/>
        </p:nvSpPr>
        <p:spPr>
          <a:xfrm>
            <a:off x="7114032" y="2953512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112.9</a:t>
            </a:r>
          </a:p>
        </p:txBody>
      </p:sp>
      <p:sp>
        <p:nvSpPr>
          <p:cNvPr id="44" name="a2f_th43"/>
          <p:cNvSpPr/>
          <p:nvPr/>
        </p:nvSpPr>
        <p:spPr>
          <a:xfrm>
            <a:off x="7772400" y="1581912"/>
            <a:ext cx="91440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f_tht44"/>
          <p:cNvSpPr txBox="1"/>
          <p:nvPr/>
        </p:nvSpPr>
        <p:spPr>
          <a:xfrm>
            <a:off x="7845552" y="1581912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46" name="a2wd120_td45"/>
          <p:cNvSpPr/>
          <p:nvPr/>
        </p:nvSpPr>
        <p:spPr>
          <a:xfrm>
            <a:off x="7772400" y="1856231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120_tdt46"/>
          <p:cNvSpPr txBox="1"/>
          <p:nvPr/>
        </p:nvSpPr>
        <p:spPr>
          <a:xfrm>
            <a:off x="7845552" y="1856231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1.00</a:t>
            </a:r>
          </a:p>
        </p:txBody>
      </p:sp>
      <p:sp>
        <p:nvSpPr>
          <p:cNvPr id="48" name="a2wd240_td47"/>
          <p:cNvSpPr/>
          <p:nvPr/>
        </p:nvSpPr>
        <p:spPr>
          <a:xfrm>
            <a:off x="7772400" y="213055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wd240_tdt48"/>
          <p:cNvSpPr txBox="1"/>
          <p:nvPr/>
        </p:nvSpPr>
        <p:spPr>
          <a:xfrm>
            <a:off x="7845552" y="2130552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6.51</a:t>
            </a:r>
          </a:p>
        </p:txBody>
      </p:sp>
      <p:sp>
        <p:nvSpPr>
          <p:cNvPr id="50" name="a2wd360_td49"/>
          <p:cNvSpPr/>
          <p:nvPr/>
        </p:nvSpPr>
        <p:spPr>
          <a:xfrm>
            <a:off x="7772400" y="240487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2wd360_tdt50"/>
          <p:cNvSpPr txBox="1"/>
          <p:nvPr/>
        </p:nvSpPr>
        <p:spPr>
          <a:xfrm>
            <a:off x="7845552" y="2404872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5.76</a:t>
            </a:r>
          </a:p>
        </p:txBody>
      </p:sp>
      <p:sp>
        <p:nvSpPr>
          <p:cNvPr id="52" name="a2wd480_td51"/>
          <p:cNvSpPr/>
          <p:nvPr/>
        </p:nvSpPr>
        <p:spPr>
          <a:xfrm>
            <a:off x="7772400" y="2679191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wd480_tdt52"/>
          <p:cNvSpPr txBox="1"/>
          <p:nvPr/>
        </p:nvSpPr>
        <p:spPr>
          <a:xfrm>
            <a:off x="7845552" y="2679191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2.54</a:t>
            </a:r>
          </a:p>
        </p:txBody>
      </p:sp>
      <p:sp>
        <p:nvSpPr>
          <p:cNvPr id="54" name="a2wd600_td53"/>
          <p:cNvSpPr/>
          <p:nvPr/>
        </p:nvSpPr>
        <p:spPr>
          <a:xfrm>
            <a:off x="7772400" y="29535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wd600_tdt54"/>
          <p:cNvSpPr txBox="1"/>
          <p:nvPr/>
        </p:nvSpPr>
        <p:spPr>
          <a:xfrm>
            <a:off x="7845552" y="2953512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2.57</a:t>
            </a:r>
          </a:p>
        </p:txBody>
      </p:sp>
      <p:sp>
        <p:nvSpPr>
          <p:cNvPr id="56" name="a2fd600_tn55"/>
          <p:cNvSpPr txBox="1"/>
          <p:nvPr/>
        </p:nvSpPr>
        <p:spPr>
          <a:xfrm>
            <a:off x="5257800" y="3319272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About 25 to 29 ns per dynamic call against 4 ns for a local one. Only worth avoiding in a loop that runs millions of times.</a:t>
            </a:r>
          </a:p>
        </p:txBody>
      </p:sp>
      <p:sp>
        <p:nvSpPr>
          <p:cNvPr id="57" name="ft5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58" name="ft5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APPLY · THE ATTRIBUTE TRAP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dispatch table in an attribute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 attribute is inlined into code, and an anonymous fn cannot be.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 child VM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Ops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852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@ops %{"double" =&gt; &amp;(&amp;1 * 2)}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1226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run(name, x), do: @ops[name].(x)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8600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5973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(ArgumentError) cannot inject attribute @ops into function/macro because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3347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cannot escape #Function&lt;0.52474312 ...&gt;. The supported values are: lists, tuples,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0720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maps, atoms, numbers, bitstrings, PIDs and remote functions in the format &amp;Mod.fun/arity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8094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546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@ops %{"up" =&gt; &amp;String.upcase/1, "double" =&gt; &amp;__MODULE__.double/1}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28415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double(x), do: x * 2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021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Ops.run("up", "ok")   #=&gt; "OK"        Ops.run("double", 21)   #=&gt; 42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3950208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3950208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3950208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A remote capture is a name — module, function, arity — so it can be written into the compiled code. An anonymous fn is code plus an environment, and has nowhere to go. Name the function and capture it with &amp;__MODULE__.name/arity.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05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Recursion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There is no for loop that mutates.
There is a function that calls itself.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base case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accumulator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tail call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RECURSION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Recursion: a base case and a step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clause for the empty case, a clause for the rest.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34340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body recursion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sum([]), do: 0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6596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sum([h | t]), do: h + sum(t)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4884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3172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fact(0), do: 1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1460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fact(n) when n &gt; 0,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9748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do: n * fact(n - 1)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8036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6324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sum([1, 2, 3, 4])  #=&gt; 10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46120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fact(20) #=&gt; 2432902008176640000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983480" y="1344168"/>
            <a:ext cx="3703320" cy="1883664"/>
          </a:xfrm>
          <a:prstGeom prst="roundRect">
            <a:avLst>
              <a:gd name="adj" fmla="val 388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5148072" y="1399032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tail recursion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5148072" y="178308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sum_tail(list),</a:t>
            </a:r>
          </a:p>
        </p:txBody>
      </p:sp>
      <p:sp>
        <p:nvSpPr>
          <p:cNvPr id="19" name="a2wd60_code18"/>
          <p:cNvSpPr txBox="1"/>
          <p:nvPr/>
        </p:nvSpPr>
        <p:spPr>
          <a:xfrm>
            <a:off x="5148072" y="196596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do: sum_tail(list, 0)</a:t>
            </a:r>
          </a:p>
        </p:txBody>
      </p:sp>
      <p:sp>
        <p:nvSpPr>
          <p:cNvPr id="20" name="a2wd120_code19"/>
          <p:cNvSpPr txBox="1"/>
          <p:nvPr/>
        </p:nvSpPr>
        <p:spPr>
          <a:xfrm>
            <a:off x="5148072" y="214884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sum_tail([], acc), do: acc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148072" y="233172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sum_tail([h | t], acc),</a:t>
            </a:r>
          </a:p>
        </p:txBody>
      </p:sp>
      <p:sp>
        <p:nvSpPr>
          <p:cNvPr id="22" name="a2wd240_code21"/>
          <p:cNvSpPr txBox="1"/>
          <p:nvPr/>
        </p:nvSpPr>
        <p:spPr>
          <a:xfrm>
            <a:off x="5148072" y="251460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do: sum_tail(t, acc + h)</a:t>
            </a:r>
          </a:p>
        </p:txBody>
      </p:sp>
      <p:sp>
        <p:nvSpPr>
          <p:cNvPr id="23" name="a2wd300_code22"/>
          <p:cNvSpPr txBox="1"/>
          <p:nvPr/>
        </p:nvSpPr>
        <p:spPr>
          <a:xfrm>
            <a:off x="5148072" y="269748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4" name="a2wd360_code23"/>
          <p:cNvSpPr txBox="1"/>
          <p:nvPr/>
        </p:nvSpPr>
        <p:spPr>
          <a:xfrm>
            <a:off x="5148072" y="2880360"/>
            <a:ext cx="33741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sum_tail([1, 2, 3, 4]) #=&gt; 10</a:t>
            </a:r>
          </a:p>
        </p:txBody>
      </p:sp>
      <p:sp>
        <p:nvSpPr>
          <p:cNvPr id="25" name="a3f_nb24"/>
          <p:cNvSpPr/>
          <p:nvPr/>
        </p:nvSpPr>
        <p:spPr>
          <a:xfrm>
            <a:off x="457200" y="3721607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f_nacc25"/>
          <p:cNvSpPr/>
          <p:nvPr/>
        </p:nvSpPr>
        <p:spPr>
          <a:xfrm>
            <a:off x="457200" y="3721607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f_nt26"/>
          <p:cNvSpPr txBox="1"/>
          <p:nvPr/>
        </p:nvSpPr>
        <p:spPr>
          <a:xfrm>
            <a:off x="658368" y="3721607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fact(30) is 265252859812191058636308480000000 — integers are bignums (deck 2), so the recursion never overflows a number. What it CAN overflow is memory, and that is the whole difference between the left column and the right.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TAIL RECURSION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tail call is the LAST thing a function does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Then there is nothing to come back to, so the stack frame is reused.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28346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1,000,000-element list</a:t>
            </a:r>
          </a:p>
        </p:txBody>
      </p:sp>
      <p:sp>
        <p:nvSpPr>
          <p:cNvPr id="7" name="a1wd160_td6"/>
          <p:cNvSpPr/>
          <p:nvPr/>
        </p:nvSpPr>
        <p:spPr>
          <a:xfrm>
            <a:off x="457200" y="1655064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60_tdt7"/>
          <p:cNvSpPr txBox="1"/>
          <p:nvPr/>
        </p:nvSpPr>
        <p:spPr>
          <a:xfrm>
            <a:off x="530352" y="1655064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sum([h | t]) = h + sum(t)</a:t>
            </a:r>
          </a:p>
        </p:txBody>
      </p:sp>
      <p:sp>
        <p:nvSpPr>
          <p:cNvPr id="9" name="a1wd320_td8"/>
          <p:cNvSpPr/>
          <p:nvPr/>
        </p:nvSpPr>
        <p:spPr>
          <a:xfrm>
            <a:off x="457200" y="1984248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320_tdt9"/>
          <p:cNvSpPr txBox="1"/>
          <p:nvPr/>
        </p:nvSpPr>
        <p:spPr>
          <a:xfrm>
            <a:off x="530352" y="1984248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sum_tail(t, acc + h)</a:t>
            </a:r>
          </a:p>
        </p:txBody>
      </p:sp>
      <p:sp>
        <p:nvSpPr>
          <p:cNvPr id="11" name="a1f_th10"/>
          <p:cNvSpPr/>
          <p:nvPr/>
        </p:nvSpPr>
        <p:spPr>
          <a:xfrm>
            <a:off x="3291840" y="1325880"/>
            <a:ext cx="21031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f_tht11"/>
          <p:cNvSpPr txBox="1"/>
          <p:nvPr/>
        </p:nvSpPr>
        <p:spPr>
          <a:xfrm>
            <a:off x="3364992" y="1325880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Last call</a:t>
            </a:r>
          </a:p>
        </p:txBody>
      </p:sp>
      <p:sp>
        <p:nvSpPr>
          <p:cNvPr id="13" name="a1wd160_td12"/>
          <p:cNvSpPr/>
          <p:nvPr/>
        </p:nvSpPr>
        <p:spPr>
          <a:xfrm>
            <a:off x="3291840" y="1655064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60_tdt13"/>
          <p:cNvSpPr txBox="1"/>
          <p:nvPr/>
        </p:nvSpPr>
        <p:spPr>
          <a:xfrm>
            <a:off x="3364992" y="1655064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+ , after sum returns</a:t>
            </a:r>
          </a:p>
        </p:txBody>
      </p:sp>
      <p:sp>
        <p:nvSpPr>
          <p:cNvPr id="15" name="a1wd320_td14"/>
          <p:cNvSpPr/>
          <p:nvPr/>
        </p:nvSpPr>
        <p:spPr>
          <a:xfrm>
            <a:off x="3291840" y="1984248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320_tdt15"/>
          <p:cNvSpPr txBox="1"/>
          <p:nvPr/>
        </p:nvSpPr>
        <p:spPr>
          <a:xfrm>
            <a:off x="3364992" y="1984248"/>
            <a:ext cx="1993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sum_tail itself</a:t>
            </a:r>
          </a:p>
        </p:txBody>
      </p:sp>
      <p:sp>
        <p:nvSpPr>
          <p:cNvPr id="17" name="a1f_th16"/>
          <p:cNvSpPr/>
          <p:nvPr/>
        </p:nvSpPr>
        <p:spPr>
          <a:xfrm>
            <a:off x="5394960" y="1325880"/>
            <a:ext cx="16459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f_tht17"/>
          <p:cNvSpPr txBox="1"/>
          <p:nvPr/>
        </p:nvSpPr>
        <p:spPr>
          <a:xfrm>
            <a:off x="5468112" y="1325880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Peak stack</a:t>
            </a:r>
          </a:p>
        </p:txBody>
      </p:sp>
      <p:sp>
        <p:nvSpPr>
          <p:cNvPr id="19" name="a1wd160_td18"/>
          <p:cNvSpPr/>
          <p:nvPr/>
        </p:nvSpPr>
        <p:spPr>
          <a:xfrm>
            <a:off x="5394960" y="1655064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160_tdt19"/>
          <p:cNvSpPr txBox="1"/>
          <p:nvPr/>
        </p:nvSpPr>
        <p:spPr>
          <a:xfrm>
            <a:off x="5468112" y="1655064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1,999,301 words</a:t>
            </a:r>
          </a:p>
        </p:txBody>
      </p:sp>
      <p:sp>
        <p:nvSpPr>
          <p:cNvPr id="21" name="a1wd320_td20"/>
          <p:cNvSpPr/>
          <p:nvPr/>
        </p:nvSpPr>
        <p:spPr>
          <a:xfrm>
            <a:off x="5394960" y="1984248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320_tdt21"/>
          <p:cNvSpPr txBox="1"/>
          <p:nvPr/>
        </p:nvSpPr>
        <p:spPr>
          <a:xfrm>
            <a:off x="5468112" y="1984248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3 words</a:t>
            </a:r>
          </a:p>
        </p:txBody>
      </p:sp>
      <p:sp>
        <p:nvSpPr>
          <p:cNvPr id="23" name="a1f_th22"/>
          <p:cNvSpPr/>
          <p:nvPr/>
        </p:nvSpPr>
        <p:spPr>
          <a:xfrm>
            <a:off x="7040880" y="1325880"/>
            <a:ext cx="16459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f_tht23"/>
          <p:cNvSpPr txBox="1"/>
          <p:nvPr/>
        </p:nvSpPr>
        <p:spPr>
          <a:xfrm>
            <a:off x="7114032" y="1325880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Process memory</a:t>
            </a:r>
          </a:p>
        </p:txBody>
      </p:sp>
      <p:sp>
        <p:nvSpPr>
          <p:cNvPr id="25" name="a1wd160_td24"/>
          <p:cNvSpPr/>
          <p:nvPr/>
        </p:nvSpPr>
        <p:spPr>
          <a:xfrm>
            <a:off x="7040880" y="1655064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160_tdt25"/>
          <p:cNvSpPr txBox="1"/>
          <p:nvPr/>
        </p:nvSpPr>
        <p:spPr>
          <a:xfrm>
            <a:off x="7114032" y="1655064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36,482,616 B</a:t>
            </a:r>
          </a:p>
        </p:txBody>
      </p:sp>
      <p:sp>
        <p:nvSpPr>
          <p:cNvPr id="27" name="a1wd320_td26"/>
          <p:cNvSpPr/>
          <p:nvPr/>
        </p:nvSpPr>
        <p:spPr>
          <a:xfrm>
            <a:off x="7040880" y="1984248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320_tdt27"/>
          <p:cNvSpPr txBox="1"/>
          <p:nvPr/>
        </p:nvSpPr>
        <p:spPr>
          <a:xfrm>
            <a:off x="7114032" y="1984248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16,583,424 B</a:t>
            </a:r>
          </a:p>
        </p:txBody>
      </p:sp>
      <p:sp>
        <p:nvSpPr>
          <p:cNvPr id="29" name="a2u_dot28"/>
          <p:cNvSpPr/>
          <p:nvPr/>
        </p:nvSpPr>
        <p:spPr>
          <a:xfrm>
            <a:off x="457200" y="25786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_b29"/>
          <p:cNvSpPr txBox="1"/>
          <p:nvPr/>
        </p:nvSpPr>
        <p:spPr>
          <a:xfrm>
            <a:off x="676656" y="2478024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Two words of stack per element  </a:t>
            </a:r>
            <a:r>
              <a:rPr sz="1150" b="0">
                <a:solidFill>
                  <a:srgbClr val="334155"/>
                </a:solidFill>
                <a:latin typeface="Calibri"/>
              </a:rPr>
              <a:t>each pending h + ... waits on the stack; 1M elements, ~2M words, ~16 MB</a:t>
            </a:r>
          </a:p>
        </p:txBody>
      </p:sp>
      <p:sp>
        <p:nvSpPr>
          <p:cNvPr id="31" name="a2ud180_dot30"/>
          <p:cNvSpPr/>
          <p:nvPr/>
        </p:nvSpPr>
        <p:spPr>
          <a:xfrm>
            <a:off x="457200" y="299923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ud180_b31"/>
          <p:cNvSpPr txBox="1"/>
          <p:nvPr/>
        </p:nvSpPr>
        <p:spPr>
          <a:xfrm>
            <a:off x="676656" y="2898648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tail version holds three words, whatever the length  </a:t>
            </a:r>
            <a:r>
              <a:rPr sz="1150" b="0">
                <a:solidFill>
                  <a:srgbClr val="334155"/>
                </a:solidFill>
                <a:latin typeface="Calibri"/>
              </a:rPr>
              <a:t>count_down(100_000_000) runs to :done in constant space</a:t>
            </a:r>
          </a:p>
        </p:txBody>
      </p:sp>
      <p:sp>
        <p:nvSpPr>
          <p:cNvPr id="33" name="a2ud360_dot32"/>
          <p:cNvSpPr/>
          <p:nvPr/>
        </p:nvSpPr>
        <p:spPr>
          <a:xfrm>
            <a:off x="457200" y="34198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d360_b33"/>
          <p:cNvSpPr txBox="1"/>
          <p:nvPr/>
        </p:nvSpPr>
        <p:spPr>
          <a:xfrm>
            <a:off x="676656" y="3319272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16.6 MB is the list itself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tail process holds only its input; the body one holds the input and the stack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TAIL RECURSION · HONESTLY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Is tail recursion always faster? Measured: no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1M elements, each run in a fresh process, best of 9, eleven separate runs.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07592"/>
            <a:ext cx="237744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0759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Reducing to one number</a:t>
            </a:r>
          </a:p>
        </p:txBody>
      </p:sp>
      <p:sp>
        <p:nvSpPr>
          <p:cNvPr id="7" name="a1wd140_td6"/>
          <p:cNvSpPr/>
          <p:nvPr/>
        </p:nvSpPr>
        <p:spPr>
          <a:xfrm>
            <a:off x="457200" y="1600200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40_tdt7"/>
          <p:cNvSpPr txBox="1"/>
          <p:nvPr/>
        </p:nvSpPr>
        <p:spPr>
          <a:xfrm>
            <a:off x="530352" y="160020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body sum</a:t>
            </a:r>
          </a:p>
        </p:txBody>
      </p:sp>
      <p:sp>
        <p:nvSpPr>
          <p:cNvPr id="9" name="a1wd280_td8"/>
          <p:cNvSpPr/>
          <p:nvPr/>
        </p:nvSpPr>
        <p:spPr>
          <a:xfrm>
            <a:off x="457200" y="1892807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80_tdt9"/>
          <p:cNvSpPr txBox="1"/>
          <p:nvPr/>
        </p:nvSpPr>
        <p:spPr>
          <a:xfrm>
            <a:off x="530352" y="1892807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tail sum</a:t>
            </a:r>
          </a:p>
        </p:txBody>
      </p:sp>
      <p:sp>
        <p:nvSpPr>
          <p:cNvPr id="11" name="a1wd420_td10"/>
          <p:cNvSpPr/>
          <p:nvPr/>
        </p:nvSpPr>
        <p:spPr>
          <a:xfrm>
            <a:off x="457200" y="2185415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420_tdt11"/>
          <p:cNvSpPr txBox="1"/>
          <p:nvPr/>
        </p:nvSpPr>
        <p:spPr>
          <a:xfrm>
            <a:off x="530352" y="2185415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Enum.sum</a:t>
            </a:r>
          </a:p>
        </p:txBody>
      </p:sp>
      <p:sp>
        <p:nvSpPr>
          <p:cNvPr id="13" name="a1wd560_td12"/>
          <p:cNvSpPr/>
          <p:nvPr/>
        </p:nvSpPr>
        <p:spPr>
          <a:xfrm>
            <a:off x="457200" y="2478024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560_tdt13"/>
          <p:cNvSpPr txBox="1"/>
          <p:nvPr/>
        </p:nvSpPr>
        <p:spPr>
          <a:xfrm>
            <a:off x="530352" y="2478024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Enum.reduce</a:t>
            </a:r>
          </a:p>
        </p:txBody>
      </p:sp>
      <p:sp>
        <p:nvSpPr>
          <p:cNvPr id="15" name="a1f_th14"/>
          <p:cNvSpPr/>
          <p:nvPr/>
        </p:nvSpPr>
        <p:spPr>
          <a:xfrm>
            <a:off x="2834640" y="1307592"/>
            <a:ext cx="146304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f_tht15"/>
          <p:cNvSpPr txBox="1"/>
          <p:nvPr/>
        </p:nvSpPr>
        <p:spPr>
          <a:xfrm>
            <a:off x="2907792" y="1307592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17" name="a1wd140_td16"/>
          <p:cNvSpPr/>
          <p:nvPr/>
        </p:nvSpPr>
        <p:spPr>
          <a:xfrm>
            <a:off x="2834640" y="1600200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140_tdt17"/>
          <p:cNvSpPr txBox="1"/>
          <p:nvPr/>
        </p:nvSpPr>
        <p:spPr>
          <a:xfrm>
            <a:off x="2907792" y="1600200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30 – 69</a:t>
            </a:r>
          </a:p>
        </p:txBody>
      </p:sp>
      <p:sp>
        <p:nvSpPr>
          <p:cNvPr id="19" name="a1wd280_td18"/>
          <p:cNvSpPr/>
          <p:nvPr/>
        </p:nvSpPr>
        <p:spPr>
          <a:xfrm>
            <a:off x="2834640" y="1892807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280_tdt19"/>
          <p:cNvSpPr txBox="1"/>
          <p:nvPr/>
        </p:nvSpPr>
        <p:spPr>
          <a:xfrm>
            <a:off x="2907792" y="1892807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11 – 14</a:t>
            </a:r>
          </a:p>
        </p:txBody>
      </p:sp>
      <p:sp>
        <p:nvSpPr>
          <p:cNvPr id="21" name="a1wd420_td20"/>
          <p:cNvSpPr/>
          <p:nvPr/>
        </p:nvSpPr>
        <p:spPr>
          <a:xfrm>
            <a:off x="2834640" y="2185415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20_tdt21"/>
          <p:cNvSpPr txBox="1"/>
          <p:nvPr/>
        </p:nvSpPr>
        <p:spPr>
          <a:xfrm>
            <a:off x="2907792" y="2185415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11 – 13</a:t>
            </a:r>
          </a:p>
        </p:txBody>
      </p:sp>
      <p:sp>
        <p:nvSpPr>
          <p:cNvPr id="23" name="a1wd560_td22"/>
          <p:cNvSpPr/>
          <p:nvPr/>
        </p:nvSpPr>
        <p:spPr>
          <a:xfrm>
            <a:off x="2834640" y="2478024"/>
            <a:ext cx="1463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60_tdt23"/>
          <p:cNvSpPr txBox="1"/>
          <p:nvPr/>
        </p:nvSpPr>
        <p:spPr>
          <a:xfrm>
            <a:off x="2907792" y="2478024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14 – 19</a:t>
            </a:r>
          </a:p>
        </p:txBody>
      </p:sp>
      <p:sp>
        <p:nvSpPr>
          <p:cNvPr id="25" name="a1f_th24"/>
          <p:cNvSpPr/>
          <p:nvPr/>
        </p:nvSpPr>
        <p:spPr>
          <a:xfrm>
            <a:off x="4297680" y="1307592"/>
            <a:ext cx="27432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4370832" y="130759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a1wd140_td26"/>
          <p:cNvSpPr/>
          <p:nvPr/>
        </p:nvSpPr>
        <p:spPr>
          <a:xfrm>
            <a:off x="4297680" y="1600200"/>
            <a:ext cx="274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40_tdt27"/>
          <p:cNvSpPr txBox="1"/>
          <p:nvPr/>
        </p:nvSpPr>
        <p:spPr>
          <a:xfrm>
            <a:off x="4370832" y="1600200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9" name="a1wd280_td28"/>
          <p:cNvSpPr/>
          <p:nvPr/>
        </p:nvSpPr>
        <p:spPr>
          <a:xfrm>
            <a:off x="4297680" y="1892807"/>
            <a:ext cx="274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80_tdt29"/>
          <p:cNvSpPr txBox="1"/>
          <p:nvPr/>
        </p:nvSpPr>
        <p:spPr>
          <a:xfrm>
            <a:off x="4370832" y="1892807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1" name="a1wd420_td30"/>
          <p:cNvSpPr/>
          <p:nvPr/>
        </p:nvSpPr>
        <p:spPr>
          <a:xfrm>
            <a:off x="4297680" y="2185415"/>
            <a:ext cx="274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20_tdt31"/>
          <p:cNvSpPr txBox="1"/>
          <p:nvPr/>
        </p:nvSpPr>
        <p:spPr>
          <a:xfrm>
            <a:off x="4370832" y="2185415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3" name="a1wd560_td32"/>
          <p:cNvSpPr/>
          <p:nvPr/>
        </p:nvSpPr>
        <p:spPr>
          <a:xfrm>
            <a:off x="4297680" y="2478024"/>
            <a:ext cx="274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560_tdt33"/>
          <p:cNvSpPr txBox="1"/>
          <p:nvPr/>
        </p:nvSpPr>
        <p:spPr>
          <a:xfrm>
            <a:off x="4370832" y="2478024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5" name="a1f_th34"/>
          <p:cNvSpPr/>
          <p:nvPr/>
        </p:nvSpPr>
        <p:spPr>
          <a:xfrm>
            <a:off x="4572000" y="1307592"/>
            <a:ext cx="246888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f_tht35"/>
          <p:cNvSpPr txBox="1"/>
          <p:nvPr/>
        </p:nvSpPr>
        <p:spPr>
          <a:xfrm>
            <a:off x="4645152" y="1307592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Building a new list</a:t>
            </a:r>
          </a:p>
        </p:txBody>
      </p:sp>
      <p:sp>
        <p:nvSpPr>
          <p:cNvPr id="37" name="a1wd140_td36"/>
          <p:cNvSpPr/>
          <p:nvPr/>
        </p:nvSpPr>
        <p:spPr>
          <a:xfrm>
            <a:off x="4572000" y="1600200"/>
            <a:ext cx="2468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40_tdt37"/>
          <p:cNvSpPr txBox="1"/>
          <p:nvPr/>
        </p:nvSpPr>
        <p:spPr>
          <a:xfrm>
            <a:off x="4645152" y="1600200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body map</a:t>
            </a:r>
          </a:p>
        </p:txBody>
      </p:sp>
      <p:sp>
        <p:nvSpPr>
          <p:cNvPr id="39" name="a1wd280_td38"/>
          <p:cNvSpPr/>
          <p:nvPr/>
        </p:nvSpPr>
        <p:spPr>
          <a:xfrm>
            <a:off x="4572000" y="1892807"/>
            <a:ext cx="2468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80_tdt39"/>
          <p:cNvSpPr txBox="1"/>
          <p:nvPr/>
        </p:nvSpPr>
        <p:spPr>
          <a:xfrm>
            <a:off x="4645152" y="1892807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tail + Enum.reverse</a:t>
            </a:r>
          </a:p>
        </p:txBody>
      </p:sp>
      <p:sp>
        <p:nvSpPr>
          <p:cNvPr id="41" name="a1wd420_td40"/>
          <p:cNvSpPr/>
          <p:nvPr/>
        </p:nvSpPr>
        <p:spPr>
          <a:xfrm>
            <a:off x="4572000" y="2185415"/>
            <a:ext cx="2468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420_tdt41"/>
          <p:cNvSpPr txBox="1"/>
          <p:nvPr/>
        </p:nvSpPr>
        <p:spPr>
          <a:xfrm>
            <a:off x="4645152" y="2185415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Enum.map</a:t>
            </a:r>
          </a:p>
        </p:txBody>
      </p:sp>
      <p:sp>
        <p:nvSpPr>
          <p:cNvPr id="43" name="a1wd560_td42"/>
          <p:cNvSpPr/>
          <p:nvPr/>
        </p:nvSpPr>
        <p:spPr>
          <a:xfrm>
            <a:off x="4572000" y="2478024"/>
            <a:ext cx="2468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60_tdt43"/>
          <p:cNvSpPr txBox="1"/>
          <p:nvPr/>
        </p:nvSpPr>
        <p:spPr>
          <a:xfrm>
            <a:off x="4645152" y="2478024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/>
            </a:r>
          </a:p>
        </p:txBody>
      </p:sp>
      <p:sp>
        <p:nvSpPr>
          <p:cNvPr id="45" name="a1f_th44"/>
          <p:cNvSpPr/>
          <p:nvPr/>
        </p:nvSpPr>
        <p:spPr>
          <a:xfrm>
            <a:off x="7040880" y="1307592"/>
            <a:ext cx="164592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f_tht45"/>
          <p:cNvSpPr txBox="1"/>
          <p:nvPr/>
        </p:nvSpPr>
        <p:spPr>
          <a:xfrm>
            <a:off x="7114032" y="13075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47" name="a1wd140_td46"/>
          <p:cNvSpPr/>
          <p:nvPr/>
        </p:nvSpPr>
        <p:spPr>
          <a:xfrm>
            <a:off x="7040880" y="1600200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140_tdt47"/>
          <p:cNvSpPr txBox="1"/>
          <p:nvPr/>
        </p:nvSpPr>
        <p:spPr>
          <a:xfrm>
            <a:off x="7114032" y="1600200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61 – 80</a:t>
            </a:r>
          </a:p>
        </p:txBody>
      </p:sp>
      <p:sp>
        <p:nvSpPr>
          <p:cNvPr id="49" name="a1wd280_td48"/>
          <p:cNvSpPr/>
          <p:nvPr/>
        </p:nvSpPr>
        <p:spPr>
          <a:xfrm>
            <a:off x="7040880" y="1892807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280_tdt49"/>
          <p:cNvSpPr txBox="1"/>
          <p:nvPr/>
        </p:nvSpPr>
        <p:spPr>
          <a:xfrm>
            <a:off x="7114032" y="1892807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52 – 69</a:t>
            </a:r>
          </a:p>
        </p:txBody>
      </p:sp>
      <p:sp>
        <p:nvSpPr>
          <p:cNvPr id="51" name="a1wd420_td50"/>
          <p:cNvSpPr/>
          <p:nvPr/>
        </p:nvSpPr>
        <p:spPr>
          <a:xfrm>
            <a:off x="7040880" y="2185415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420_tdt51"/>
          <p:cNvSpPr txBox="1"/>
          <p:nvPr/>
        </p:nvSpPr>
        <p:spPr>
          <a:xfrm>
            <a:off x="7114032" y="2185415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64 – 79</a:t>
            </a:r>
          </a:p>
        </p:txBody>
      </p:sp>
      <p:sp>
        <p:nvSpPr>
          <p:cNvPr id="53" name="a1wd560_td52"/>
          <p:cNvSpPr/>
          <p:nvPr/>
        </p:nvSpPr>
        <p:spPr>
          <a:xfrm>
            <a:off x="7040880" y="2478024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560_tdt53"/>
          <p:cNvSpPr txBox="1"/>
          <p:nvPr/>
        </p:nvSpPr>
        <p:spPr>
          <a:xfrm>
            <a:off x="7114032" y="2478024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55" name="a2u_dot54"/>
          <p:cNvSpPr/>
          <p:nvPr/>
        </p:nvSpPr>
        <p:spPr>
          <a:xfrm>
            <a:off x="457200" y="30358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2u_b55"/>
          <p:cNvSpPr txBox="1"/>
          <p:nvPr/>
        </p:nvSpPr>
        <p:spPr>
          <a:xfrm>
            <a:off x="676656" y="2935224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Reducing: tail wins, 3 to 5 times over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body version has to grow its stack, and growing means copying</a:t>
            </a:r>
          </a:p>
        </p:txBody>
      </p:sp>
      <p:sp>
        <p:nvSpPr>
          <p:cNvPr id="57" name="a2ud180_dot56"/>
          <p:cNvSpPr/>
          <p:nvPr/>
        </p:nvSpPr>
        <p:spPr>
          <a:xfrm>
            <a:off x="457200" y="343814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2ud180_b57"/>
          <p:cNvSpPr txBox="1"/>
          <p:nvPr/>
        </p:nvSpPr>
        <p:spPr>
          <a:xfrm>
            <a:off x="676656" y="3337560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Building a list: close to a draw  </a:t>
            </a:r>
            <a:r>
              <a:rPr sz="1150" b="0">
                <a:solidFill>
                  <a:srgbClr val="334155"/>
                </a:solidFill>
                <a:latin typeface="Calibri"/>
              </a:rPr>
              <a:t>tail must reverse at the end, which spends most of what it saved</a:t>
            </a:r>
          </a:p>
        </p:txBody>
      </p:sp>
      <p:sp>
        <p:nvSpPr>
          <p:cNvPr id="59" name="a2ud360_dot58"/>
          <p:cNvSpPr/>
          <p:nvPr/>
        </p:nvSpPr>
        <p:spPr>
          <a:xfrm>
            <a:off x="457200" y="3840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ud360_b59"/>
          <p:cNvSpPr txBox="1"/>
          <p:nvPr/>
        </p:nvSpPr>
        <p:spPr>
          <a:xfrm>
            <a:off x="676656" y="3739896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Enum.map is body-recursive, on purpose  </a:t>
            </a:r>
            <a:r>
              <a:rPr sz="1150" b="0">
                <a:solidFill>
                  <a:srgbClr val="334155"/>
                </a:solidFill>
                <a:latin typeface="Calibri"/>
              </a:rPr>
              <a:t>and it lands with the hand-written body map — the runtime is built for it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06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Protocols &amp; behaviours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Two ways to write one call
that many implementations answer.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@callback · @impl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defprotocol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GenServer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CHOICE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Two abstractions, built from functions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They answer different questions. Pick by what varies.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18288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5506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10_tdt7"/>
          <p:cNvSpPr txBox="1"/>
          <p:nvPr/>
        </p:nvSpPr>
        <p:spPr>
          <a:xfrm>
            <a:off x="530352" y="1655064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Dispatches on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198424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20_tdt9"/>
          <p:cNvSpPr txBox="1"/>
          <p:nvPr/>
        </p:nvSpPr>
        <p:spPr>
          <a:xfrm>
            <a:off x="530352" y="1984248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Declared with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31343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30_tdt11"/>
          <p:cNvSpPr txBox="1"/>
          <p:nvPr/>
        </p:nvSpPr>
        <p:spPr>
          <a:xfrm>
            <a:off x="530352" y="2313432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Implemented with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642615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40_tdt13"/>
          <p:cNvSpPr txBox="1"/>
          <p:nvPr/>
        </p:nvSpPr>
        <p:spPr>
          <a:xfrm>
            <a:off x="530352" y="2642615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call looks like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97180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50_tdt15"/>
          <p:cNvSpPr txBox="1"/>
          <p:nvPr/>
        </p:nvSpPr>
        <p:spPr>
          <a:xfrm>
            <a:off x="530352" y="297180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Checked when</a:t>
            </a:r>
          </a:p>
        </p:txBody>
      </p:sp>
      <p:sp>
        <p:nvSpPr>
          <p:cNvPr id="17" name="a1wd660_td16"/>
          <p:cNvSpPr/>
          <p:nvPr/>
        </p:nvSpPr>
        <p:spPr>
          <a:xfrm>
            <a:off x="457200" y="330098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60_tdt17"/>
          <p:cNvSpPr txBox="1"/>
          <p:nvPr/>
        </p:nvSpPr>
        <p:spPr>
          <a:xfrm>
            <a:off x="530352" y="3300984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You already use</a:t>
            </a:r>
          </a:p>
        </p:txBody>
      </p:sp>
      <p:sp>
        <p:nvSpPr>
          <p:cNvPr id="19" name="a1f_th18"/>
          <p:cNvSpPr/>
          <p:nvPr/>
        </p:nvSpPr>
        <p:spPr>
          <a:xfrm>
            <a:off x="2286000" y="1325880"/>
            <a:ext cx="32004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f_tht19"/>
          <p:cNvSpPr txBox="1"/>
          <p:nvPr/>
        </p:nvSpPr>
        <p:spPr>
          <a:xfrm>
            <a:off x="2359152" y="1325880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21" name="a1wd110_td20"/>
          <p:cNvSpPr/>
          <p:nvPr/>
        </p:nvSpPr>
        <p:spPr>
          <a:xfrm>
            <a:off x="2286000" y="165506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10_tdt21"/>
          <p:cNvSpPr txBox="1"/>
          <p:nvPr/>
        </p:nvSpPr>
        <p:spPr>
          <a:xfrm>
            <a:off x="2359152" y="1655064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 module you pass in</a:t>
            </a:r>
          </a:p>
        </p:txBody>
      </p:sp>
      <p:sp>
        <p:nvSpPr>
          <p:cNvPr id="23" name="a1wd220_td22"/>
          <p:cNvSpPr/>
          <p:nvPr/>
        </p:nvSpPr>
        <p:spPr>
          <a:xfrm>
            <a:off x="2286000" y="198424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220_tdt23"/>
          <p:cNvSpPr txBox="1"/>
          <p:nvPr/>
        </p:nvSpPr>
        <p:spPr>
          <a:xfrm>
            <a:off x="2359152" y="1984248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@callback in a module</a:t>
            </a:r>
          </a:p>
        </p:txBody>
      </p:sp>
      <p:sp>
        <p:nvSpPr>
          <p:cNvPr id="25" name="a1wd330_td24"/>
          <p:cNvSpPr/>
          <p:nvPr/>
        </p:nvSpPr>
        <p:spPr>
          <a:xfrm>
            <a:off x="2286000" y="231343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330_tdt25"/>
          <p:cNvSpPr txBox="1"/>
          <p:nvPr/>
        </p:nvSpPr>
        <p:spPr>
          <a:xfrm>
            <a:off x="2359152" y="2313432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@behaviour + @impl in a module</a:t>
            </a:r>
          </a:p>
        </p:txBody>
      </p:sp>
      <p:sp>
        <p:nvSpPr>
          <p:cNvPr id="27" name="a1wd440_td26"/>
          <p:cNvSpPr/>
          <p:nvPr/>
        </p:nvSpPr>
        <p:spPr>
          <a:xfrm>
            <a:off x="2286000" y="2642615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440_tdt27"/>
          <p:cNvSpPr txBox="1"/>
          <p:nvPr/>
        </p:nvSpPr>
        <p:spPr>
          <a:xfrm>
            <a:off x="2359152" y="2642615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impl.send(to, msg)</a:t>
            </a:r>
          </a:p>
        </p:txBody>
      </p:sp>
      <p:sp>
        <p:nvSpPr>
          <p:cNvPr id="29" name="a1wd550_td28"/>
          <p:cNvSpPr/>
          <p:nvPr/>
        </p:nvSpPr>
        <p:spPr>
          <a:xfrm>
            <a:off x="2286000" y="297180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550_tdt29"/>
          <p:cNvSpPr txBox="1"/>
          <p:nvPr/>
        </p:nvSpPr>
        <p:spPr>
          <a:xfrm>
            <a:off x="2359152" y="2971800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time — missing callback warns</a:t>
            </a:r>
          </a:p>
        </p:txBody>
      </p:sp>
      <p:sp>
        <p:nvSpPr>
          <p:cNvPr id="31" name="a1wd660_td30"/>
          <p:cNvSpPr/>
          <p:nvPr/>
        </p:nvSpPr>
        <p:spPr>
          <a:xfrm>
            <a:off x="2286000" y="330098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660_tdt31"/>
          <p:cNvSpPr txBox="1"/>
          <p:nvPr/>
        </p:nvSpPr>
        <p:spPr>
          <a:xfrm>
            <a:off x="2359152" y="3300984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GenServer, Supervisor, Plug</a:t>
            </a:r>
          </a:p>
        </p:txBody>
      </p:sp>
      <p:sp>
        <p:nvSpPr>
          <p:cNvPr id="33" name="a1f_th32"/>
          <p:cNvSpPr/>
          <p:nvPr/>
        </p:nvSpPr>
        <p:spPr>
          <a:xfrm>
            <a:off x="5486400" y="1325880"/>
            <a:ext cx="32004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f_tht33"/>
          <p:cNvSpPr txBox="1"/>
          <p:nvPr/>
        </p:nvSpPr>
        <p:spPr>
          <a:xfrm>
            <a:off x="5559552" y="1325880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35" name="a1wd110_td34"/>
          <p:cNvSpPr/>
          <p:nvPr/>
        </p:nvSpPr>
        <p:spPr>
          <a:xfrm>
            <a:off x="5486400" y="165506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10_tdt35"/>
          <p:cNvSpPr txBox="1"/>
          <p:nvPr/>
        </p:nvSpPr>
        <p:spPr>
          <a:xfrm>
            <a:off x="5559552" y="1655064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type of the first argument</a:t>
            </a:r>
          </a:p>
        </p:txBody>
      </p:sp>
      <p:sp>
        <p:nvSpPr>
          <p:cNvPr id="37" name="a1wd220_td36"/>
          <p:cNvSpPr/>
          <p:nvPr/>
        </p:nvSpPr>
        <p:spPr>
          <a:xfrm>
            <a:off x="5486400" y="198424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220_tdt37"/>
          <p:cNvSpPr txBox="1"/>
          <p:nvPr/>
        </p:nvSpPr>
        <p:spPr>
          <a:xfrm>
            <a:off x="5559552" y="1984248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defprotocol</a:t>
            </a:r>
          </a:p>
        </p:txBody>
      </p:sp>
      <p:sp>
        <p:nvSpPr>
          <p:cNvPr id="39" name="a1wd330_td38"/>
          <p:cNvSpPr/>
          <p:nvPr/>
        </p:nvSpPr>
        <p:spPr>
          <a:xfrm>
            <a:off x="5486400" y="231343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30_tdt39"/>
          <p:cNvSpPr txBox="1"/>
          <p:nvPr/>
        </p:nvSpPr>
        <p:spPr>
          <a:xfrm>
            <a:off x="5559552" y="2313432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defimpl ..., for: Type</a:t>
            </a:r>
          </a:p>
        </p:txBody>
      </p:sp>
      <p:sp>
        <p:nvSpPr>
          <p:cNvPr id="41" name="a1wd440_td40"/>
          <p:cNvSpPr/>
          <p:nvPr/>
        </p:nvSpPr>
        <p:spPr>
          <a:xfrm>
            <a:off x="5486400" y="2642615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440_tdt41"/>
          <p:cNvSpPr txBox="1"/>
          <p:nvPr/>
        </p:nvSpPr>
        <p:spPr>
          <a:xfrm>
            <a:off x="5559552" y="2642615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Describe.describe(value)</a:t>
            </a:r>
          </a:p>
        </p:txBody>
      </p:sp>
      <p:sp>
        <p:nvSpPr>
          <p:cNvPr id="43" name="a1wd550_td42"/>
          <p:cNvSpPr/>
          <p:nvPr/>
        </p:nvSpPr>
        <p:spPr>
          <a:xfrm>
            <a:off x="5486400" y="297180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50_tdt43"/>
          <p:cNvSpPr txBox="1"/>
          <p:nvPr/>
        </p:nvSpPr>
        <p:spPr>
          <a:xfrm>
            <a:off x="5559552" y="2971800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 time — Protocol.UndefinedError</a:t>
            </a:r>
          </a:p>
        </p:txBody>
      </p:sp>
      <p:sp>
        <p:nvSpPr>
          <p:cNvPr id="45" name="a1wd660_td44"/>
          <p:cNvSpPr/>
          <p:nvPr/>
        </p:nvSpPr>
        <p:spPr>
          <a:xfrm>
            <a:off x="5486400" y="330098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660_tdt45"/>
          <p:cNvSpPr txBox="1"/>
          <p:nvPr/>
        </p:nvSpPr>
        <p:spPr>
          <a:xfrm>
            <a:off x="5559552" y="3300984"/>
            <a:ext cx="3090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Enumerable, String.Chars, Inspect</a:t>
            </a:r>
          </a:p>
        </p:txBody>
      </p:sp>
      <p:sp>
        <p:nvSpPr>
          <p:cNvPr id="47" name="a2f_nb46"/>
          <p:cNvSpPr/>
          <p:nvPr/>
        </p:nvSpPr>
        <p:spPr>
          <a:xfrm>
            <a:off x="457200" y="3776472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f_nacc47"/>
          <p:cNvSpPr/>
          <p:nvPr/>
        </p:nvSpPr>
        <p:spPr>
          <a:xfrm>
            <a:off x="457200" y="3776472"/>
            <a:ext cx="50292" cy="47548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f_nt48"/>
          <p:cNvSpPr txBox="1"/>
          <p:nvPr/>
        </p:nvSpPr>
        <p:spPr>
          <a:xfrm>
            <a:off x="658368" y="3776472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Rule of thumb: if the CALLER picks the implementation — which notifier, which storage — it is a behaviour. If the DATA picks it — whatever this value happens to be — it is a protocol.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behaviour: a contract on a module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Deck 6 showed @behaviour as an attribute. Here is what it is for.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617720" cy="3108960"/>
          </a:xfrm>
          <a:prstGeom prst="roundRect">
            <a:avLst>
              <a:gd name="adj" fmla="val 2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21792" y="147218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Notifier do</a:t>
            </a:r>
          </a:p>
        </p:txBody>
      </p:sp>
      <p:sp>
        <p:nvSpPr>
          <p:cNvPr id="7" name="a1wd40_code6"/>
          <p:cNvSpPr txBox="1"/>
          <p:nvPr/>
        </p:nvSpPr>
        <p:spPr>
          <a:xfrm>
            <a:off x="621792" y="1645919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@callback send(to :: String.t(),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1819655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     msg :: String.t())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1993391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:: {:ok, term()} | {:error, term()}</a:t>
            </a:r>
          </a:p>
        </p:txBody>
      </p:sp>
      <p:sp>
        <p:nvSpPr>
          <p:cNvPr id="10" name="a1wd160_code9"/>
          <p:cNvSpPr txBox="1"/>
          <p:nvPr/>
        </p:nvSpPr>
        <p:spPr>
          <a:xfrm>
            <a:off x="621792" y="216712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@callback name() :: String.t()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621792" y="2340863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2" name="a1wd240_code11"/>
          <p:cNvSpPr txBox="1"/>
          <p:nvPr/>
        </p:nvSpPr>
        <p:spPr>
          <a:xfrm>
            <a:off x="621792" y="251460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280_code12"/>
          <p:cNvSpPr txBox="1"/>
          <p:nvPr/>
        </p:nvSpPr>
        <p:spPr>
          <a:xfrm>
            <a:off x="621792" y="268833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Notifier.Sms do</a:t>
            </a:r>
          </a:p>
        </p:txBody>
      </p:sp>
      <p:sp>
        <p:nvSpPr>
          <p:cNvPr id="14" name="a1wd320_code13"/>
          <p:cNvSpPr txBox="1"/>
          <p:nvPr/>
        </p:nvSpPr>
        <p:spPr>
          <a:xfrm>
            <a:off x="621792" y="286207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@behaviour Notifier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621792" y="303580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@impl Notifier</a:t>
            </a:r>
          </a:p>
        </p:txBody>
      </p:sp>
      <p:sp>
        <p:nvSpPr>
          <p:cNvPr id="16" name="a1wd400_code15"/>
          <p:cNvSpPr txBox="1"/>
          <p:nvPr/>
        </p:nvSpPr>
        <p:spPr>
          <a:xfrm>
            <a:off x="621792" y="320954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send(to, msg) when byte_size(msg) &lt;= 20,</a:t>
            </a:r>
          </a:p>
        </p:txBody>
      </p:sp>
      <p:sp>
        <p:nvSpPr>
          <p:cNvPr id="17" name="a1wd440_code16"/>
          <p:cNvSpPr txBox="1"/>
          <p:nvPr/>
        </p:nvSpPr>
        <p:spPr>
          <a:xfrm>
            <a:off x="621792" y="3383279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{:ok, "sms to #{to}: #{msg}"}</a:t>
            </a:r>
          </a:p>
        </p:txBody>
      </p:sp>
      <p:sp>
        <p:nvSpPr>
          <p:cNvPr id="18" name="a1wd480_code17"/>
          <p:cNvSpPr txBox="1"/>
          <p:nvPr/>
        </p:nvSpPr>
        <p:spPr>
          <a:xfrm>
            <a:off x="621792" y="355701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send(_to, _msg), do: {:error, :too_long}</a:t>
            </a:r>
          </a:p>
        </p:txBody>
      </p:sp>
      <p:sp>
        <p:nvSpPr>
          <p:cNvPr id="19" name="a1wd520_code18"/>
          <p:cNvSpPr txBox="1"/>
          <p:nvPr/>
        </p:nvSpPr>
        <p:spPr>
          <a:xfrm>
            <a:off x="621792" y="373075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@impl Notifier</a:t>
            </a:r>
          </a:p>
        </p:txBody>
      </p:sp>
      <p:sp>
        <p:nvSpPr>
          <p:cNvPr id="20" name="a1wd560_code19"/>
          <p:cNvSpPr txBox="1"/>
          <p:nvPr/>
        </p:nvSpPr>
        <p:spPr>
          <a:xfrm>
            <a:off x="621792" y="3904487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name, do: "sms"</a:t>
            </a:r>
          </a:p>
        </p:txBody>
      </p:sp>
      <p:sp>
        <p:nvSpPr>
          <p:cNvPr id="21" name="a1wd600_code20"/>
          <p:cNvSpPr txBox="1"/>
          <p:nvPr/>
        </p:nvSpPr>
        <p:spPr>
          <a:xfrm>
            <a:off x="621792" y="407822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2" name="a2f_codebg21"/>
          <p:cNvSpPr/>
          <p:nvPr/>
        </p:nvSpPr>
        <p:spPr>
          <a:xfrm>
            <a:off x="5257800" y="1307592"/>
            <a:ext cx="3429000" cy="3035808"/>
          </a:xfrm>
          <a:prstGeom prst="roundRect">
            <a:avLst>
              <a:gd name="adj" fmla="val 24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codeh22"/>
          <p:cNvSpPr txBox="1"/>
          <p:nvPr/>
        </p:nvSpPr>
        <p:spPr>
          <a:xfrm>
            <a:off x="5422392" y="1362456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4" name="a2w_code23"/>
          <p:cNvSpPr txBox="1"/>
          <p:nvPr/>
        </p:nvSpPr>
        <p:spPr>
          <a:xfrm>
            <a:off x="5422392" y="1746504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notify = fn impl, to, msg -&gt;</a:t>
            </a:r>
          </a:p>
        </p:txBody>
      </p:sp>
      <p:sp>
        <p:nvSpPr>
          <p:cNvPr id="25" name="a2wd45_code24"/>
          <p:cNvSpPr txBox="1"/>
          <p:nvPr/>
        </p:nvSpPr>
        <p:spPr>
          <a:xfrm>
            <a:off x="5422392" y="1920240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impl.send(to, msg)</a:t>
            </a:r>
          </a:p>
        </p:txBody>
      </p:sp>
      <p:sp>
        <p:nvSpPr>
          <p:cNvPr id="26" name="a2wd90_code25"/>
          <p:cNvSpPr txBox="1"/>
          <p:nvPr/>
        </p:nvSpPr>
        <p:spPr>
          <a:xfrm>
            <a:off x="5422392" y="2093976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7" name="a2wd135_code26"/>
          <p:cNvSpPr txBox="1"/>
          <p:nvPr/>
        </p:nvSpPr>
        <p:spPr>
          <a:xfrm>
            <a:off x="5422392" y="2267712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8" name="a2wd180_code27"/>
          <p:cNvSpPr txBox="1"/>
          <p:nvPr/>
        </p:nvSpPr>
        <p:spPr>
          <a:xfrm>
            <a:off x="5422392" y="2441448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notify.(Notifier.Email,</a:t>
            </a:r>
          </a:p>
        </p:txBody>
      </p:sp>
      <p:sp>
        <p:nvSpPr>
          <p:cNvPr id="29" name="a2wd225_code28"/>
          <p:cNvSpPr txBox="1"/>
          <p:nvPr/>
        </p:nvSpPr>
        <p:spPr>
          <a:xfrm>
            <a:off x="5422392" y="2615184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      "ada", "build passed")</a:t>
            </a:r>
          </a:p>
        </p:txBody>
      </p:sp>
      <p:sp>
        <p:nvSpPr>
          <p:cNvPr id="30" name="a2wd270_code29"/>
          <p:cNvSpPr txBox="1"/>
          <p:nvPr/>
        </p:nvSpPr>
        <p:spPr>
          <a:xfrm>
            <a:off x="5422392" y="2788920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{:ok, "email to ada: ...}</a:t>
            </a:r>
          </a:p>
        </p:txBody>
      </p:sp>
      <p:sp>
        <p:nvSpPr>
          <p:cNvPr id="31" name="a2wd315_code30"/>
          <p:cNvSpPr txBox="1"/>
          <p:nvPr/>
        </p:nvSpPr>
        <p:spPr>
          <a:xfrm>
            <a:off x="5422392" y="2962656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notify.(Notifier.Sms, "ada",</a:t>
            </a:r>
          </a:p>
        </p:txBody>
      </p:sp>
      <p:sp>
        <p:nvSpPr>
          <p:cNvPr id="32" name="a2wd360_code31"/>
          <p:cNvSpPr txBox="1"/>
          <p:nvPr/>
        </p:nvSpPr>
        <p:spPr>
          <a:xfrm>
            <a:off x="5422392" y="3136391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 "far too long for sms ...")</a:t>
            </a:r>
          </a:p>
        </p:txBody>
      </p:sp>
      <p:sp>
        <p:nvSpPr>
          <p:cNvPr id="33" name="a2wd405_code32"/>
          <p:cNvSpPr txBox="1"/>
          <p:nvPr/>
        </p:nvSpPr>
        <p:spPr>
          <a:xfrm>
            <a:off x="5422392" y="3310128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{:error, :too_long}</a:t>
            </a:r>
          </a:p>
        </p:txBody>
      </p:sp>
      <p:sp>
        <p:nvSpPr>
          <p:cNvPr id="34" name="a2wd450_code33"/>
          <p:cNvSpPr txBox="1"/>
          <p:nvPr/>
        </p:nvSpPr>
        <p:spPr>
          <a:xfrm>
            <a:off x="5422392" y="3483863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5" name="a2wd495_code34"/>
          <p:cNvSpPr txBox="1"/>
          <p:nvPr/>
        </p:nvSpPr>
        <p:spPr>
          <a:xfrm>
            <a:off x="5422392" y="3657600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Notifier.behaviour_info(</a:t>
            </a:r>
          </a:p>
        </p:txBody>
      </p:sp>
      <p:sp>
        <p:nvSpPr>
          <p:cNvPr id="36" name="a2wd540_code35"/>
          <p:cNvSpPr txBox="1"/>
          <p:nvPr/>
        </p:nvSpPr>
        <p:spPr>
          <a:xfrm>
            <a:off x="5422392" y="3831336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:callbacks)</a:t>
            </a:r>
          </a:p>
        </p:txBody>
      </p:sp>
      <p:sp>
        <p:nvSpPr>
          <p:cNvPr id="37" name="a2wd585_code36"/>
          <p:cNvSpPr txBox="1"/>
          <p:nvPr/>
        </p:nvSpPr>
        <p:spPr>
          <a:xfrm>
            <a:off x="5422392" y="4005072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[send: 2, name: 0]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CHECKED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compiler checks the contract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warnings — one for a missing callback, one for a missing @impl.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578608"/>
          </a:xfrm>
          <a:prstGeom prst="roundRect">
            <a:avLst>
              <a:gd name="adj" fmla="val 2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 child VM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Notifier.Push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47672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@behaviour Notifier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12264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@impl true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76856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send(_to, msg), do: {:ok, msg}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41448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06039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warning: function name/0 required by behaviour Notifier is not implemented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770632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(in module Notifier.Push)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35224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099815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Notifier.Half: @impl true on send/2, nothing on name/0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264408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warning: module attribute @impl was not set for function name/0 callback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429000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(specified in Notifier). This either means you forgot to add the "@impl true"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593591"/>
            <a:ext cx="79004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annotation before the definition or that you are accidentally overriding this callback</a:t>
            </a:r>
          </a:p>
        </p:txBody>
      </p:sp>
      <p:sp>
        <p:nvSpPr>
          <p:cNvPr id="19" name="a2f_nb18"/>
          <p:cNvSpPr/>
          <p:nvPr/>
        </p:nvSpPr>
        <p:spPr>
          <a:xfrm>
            <a:off x="457200" y="4050791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acc19"/>
          <p:cNvSpPr/>
          <p:nvPr/>
        </p:nvSpPr>
        <p:spPr>
          <a:xfrm>
            <a:off x="457200" y="4050791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nt20"/>
          <p:cNvSpPr txBox="1"/>
          <p:nvPr/>
        </p:nvSpPr>
        <p:spPr>
          <a:xfrm>
            <a:off x="658368" y="4050791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Once one function in a module says @impl, the compiler expects every callback to say it. That is the point: @impl turns "I meant to implement this" into something the compiler can check, in both directions.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BEHAVIOURS · OTP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OTP is built on behaviours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GenServer is the one you will implement most — and it is only callbacks.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617720" cy="2587752"/>
          </a:xfrm>
          <a:prstGeom prst="roundRect">
            <a:avLst>
              <a:gd name="adj" fmla="val 2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21792" y="150876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Counter do</a:t>
            </a:r>
          </a:p>
        </p:txBody>
      </p:sp>
      <p:sp>
        <p:nvSpPr>
          <p:cNvPr id="7" name="a1wd45_code6"/>
          <p:cNvSpPr txBox="1"/>
          <p:nvPr/>
        </p:nvSpPr>
        <p:spPr>
          <a:xfrm>
            <a:off x="621792" y="1682495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use GenServer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856231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135_code8"/>
          <p:cNvSpPr txBox="1"/>
          <p:nvPr/>
        </p:nvSpPr>
        <p:spPr>
          <a:xfrm>
            <a:off x="621792" y="2029967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start_link(n),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0370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GenServer.start_link(__MODULE__, n)</a:t>
            </a:r>
          </a:p>
        </p:txBody>
      </p:sp>
      <p:sp>
        <p:nvSpPr>
          <p:cNvPr id="11" name="a1wd225_code10"/>
          <p:cNvSpPr txBox="1"/>
          <p:nvPr/>
        </p:nvSpPr>
        <p:spPr>
          <a:xfrm>
            <a:off x="621792" y="2377439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bump(pid), do: GenServer.call(pid, :bump)</a:t>
            </a:r>
          </a:p>
        </p:txBody>
      </p:sp>
      <p:sp>
        <p:nvSpPr>
          <p:cNvPr id="12" name="a1wd270_code11"/>
          <p:cNvSpPr txBox="1"/>
          <p:nvPr/>
        </p:nvSpPr>
        <p:spPr>
          <a:xfrm>
            <a:off x="621792" y="255117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15_code12"/>
          <p:cNvSpPr txBox="1"/>
          <p:nvPr/>
        </p:nvSpPr>
        <p:spPr>
          <a:xfrm>
            <a:off x="621792" y="272491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@impl true</a:t>
            </a:r>
          </a:p>
        </p:txBody>
      </p:sp>
      <p:sp>
        <p:nvSpPr>
          <p:cNvPr id="14" name="a1wd360_code13"/>
          <p:cNvSpPr txBox="1"/>
          <p:nvPr/>
        </p:nvSpPr>
        <p:spPr>
          <a:xfrm>
            <a:off x="621792" y="289864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init(n), do: {:ok, n}</a:t>
            </a:r>
          </a:p>
        </p:txBody>
      </p:sp>
      <p:sp>
        <p:nvSpPr>
          <p:cNvPr id="15" name="a1wd405_code14"/>
          <p:cNvSpPr txBox="1"/>
          <p:nvPr/>
        </p:nvSpPr>
        <p:spPr>
          <a:xfrm>
            <a:off x="621792" y="307238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@impl true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4612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handle_call(:bump, _from, n),</a:t>
            </a:r>
          </a:p>
        </p:txBody>
      </p:sp>
      <p:sp>
        <p:nvSpPr>
          <p:cNvPr id="17" name="a1wd495_code16"/>
          <p:cNvSpPr txBox="1"/>
          <p:nvPr/>
        </p:nvSpPr>
        <p:spPr>
          <a:xfrm>
            <a:off x="621792" y="341985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{:reply, n + 1, n + 1}</a:t>
            </a:r>
          </a:p>
        </p:txBody>
      </p:sp>
      <p:sp>
        <p:nvSpPr>
          <p:cNvPr id="18" name="a1wd540_code17"/>
          <p:cNvSpPr txBox="1"/>
          <p:nvPr/>
        </p:nvSpPr>
        <p:spPr>
          <a:xfrm>
            <a:off x="621792" y="359359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9" name="a2f_codebg18"/>
          <p:cNvSpPr/>
          <p:nvPr/>
        </p:nvSpPr>
        <p:spPr>
          <a:xfrm>
            <a:off x="5257800" y="1344168"/>
            <a:ext cx="3429000" cy="1993391"/>
          </a:xfrm>
          <a:prstGeom prst="roundRect">
            <a:avLst>
              <a:gd name="adj" fmla="val 36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codeh19"/>
          <p:cNvSpPr txBox="1"/>
          <p:nvPr/>
        </p:nvSpPr>
        <p:spPr>
          <a:xfrm>
            <a:off x="5422392" y="1399032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5422392" y="1783080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{:ok, pid} = Counter.start_link(10)</a:t>
            </a:r>
          </a:p>
        </p:txBody>
      </p:sp>
      <p:sp>
        <p:nvSpPr>
          <p:cNvPr id="22" name="a2wd45_code21"/>
          <p:cNvSpPr txBox="1"/>
          <p:nvPr/>
        </p:nvSpPr>
        <p:spPr>
          <a:xfrm>
            <a:off x="5422392" y="1956816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Counter.bump(pid)   #=&gt; 11</a:t>
            </a:r>
          </a:p>
        </p:txBody>
      </p:sp>
      <p:sp>
        <p:nvSpPr>
          <p:cNvPr id="23" name="a2wd90_code22"/>
          <p:cNvSpPr txBox="1"/>
          <p:nvPr/>
        </p:nvSpPr>
        <p:spPr>
          <a:xfrm>
            <a:off x="5422392" y="2130552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Counter.bump(pid)   #=&gt; 12</a:t>
            </a:r>
          </a:p>
        </p:txBody>
      </p:sp>
      <p:sp>
        <p:nvSpPr>
          <p:cNvPr id="24" name="a2wd135_code23"/>
          <p:cNvSpPr txBox="1"/>
          <p:nvPr/>
        </p:nvSpPr>
        <p:spPr>
          <a:xfrm>
            <a:off x="5422392" y="2304288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5" name="a2wd180_code24"/>
          <p:cNvSpPr txBox="1"/>
          <p:nvPr/>
        </p:nvSpPr>
        <p:spPr>
          <a:xfrm>
            <a:off x="5422392" y="2478024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GenServer.behaviour_info(</a:t>
            </a:r>
          </a:p>
        </p:txBody>
      </p:sp>
      <p:sp>
        <p:nvSpPr>
          <p:cNvPr id="26" name="a2wd225_code25"/>
          <p:cNvSpPr txBox="1"/>
          <p:nvPr/>
        </p:nvSpPr>
        <p:spPr>
          <a:xfrm>
            <a:off x="5422392" y="2651760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:callbacks)  -&gt; 9 callbacks</a:t>
            </a:r>
          </a:p>
        </p:txBody>
      </p:sp>
      <p:sp>
        <p:nvSpPr>
          <p:cNvPr id="27" name="a2wd270_code26"/>
          <p:cNvSpPr txBox="1"/>
          <p:nvPr/>
        </p:nvSpPr>
        <p:spPr>
          <a:xfrm>
            <a:off x="5422392" y="2825496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optional     -&gt; 8 of them</a:t>
            </a:r>
          </a:p>
        </p:txBody>
      </p:sp>
      <p:sp>
        <p:nvSpPr>
          <p:cNvPr id="28" name="a2wd315_code27"/>
          <p:cNvSpPr txBox="1"/>
          <p:nvPr/>
        </p:nvSpPr>
        <p:spPr>
          <a:xfrm>
            <a:off x="5422392" y="2999232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required     -&gt; init/1 only</a:t>
            </a:r>
          </a:p>
        </p:txBody>
      </p:sp>
      <p:sp>
        <p:nvSpPr>
          <p:cNvPr id="29" name="a3f_nb28"/>
          <p:cNvSpPr/>
          <p:nvPr/>
        </p:nvSpPr>
        <p:spPr>
          <a:xfrm>
            <a:off x="457200" y="4059935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nacc29"/>
          <p:cNvSpPr/>
          <p:nvPr/>
        </p:nvSpPr>
        <p:spPr>
          <a:xfrm>
            <a:off x="457200" y="4059935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t30"/>
          <p:cNvSpPr txBox="1"/>
          <p:nvPr/>
        </p:nvSpPr>
        <p:spPr>
          <a:xfrm>
            <a:off x="658368" y="4059935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GenServer owns the process, the loop and the messages; your module supplies what to do at each step. use GenServer also injected child_spec/1 and defaults for four of the optional callbacks — Counter.__info__(:functions) lists them.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protocol: dispatch on the data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function name; the implementation is chosen by the argument's type.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343400" cy="2587752"/>
          </a:xfrm>
          <a:prstGeom prst="roundRect">
            <a:avLst>
              <a:gd name="adj" fmla="val 282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21792" y="147218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defprotocol Describe do</a:t>
            </a:r>
          </a:p>
        </p:txBody>
      </p:sp>
      <p:sp>
        <p:nvSpPr>
          <p:cNvPr id="7" name="a1wd45_code6"/>
          <p:cNvSpPr txBox="1"/>
          <p:nvPr/>
        </p:nvSpPr>
        <p:spPr>
          <a:xfrm>
            <a:off x="621792" y="1645919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describe(term)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819655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9" name="a1wd135_code8"/>
          <p:cNvSpPr txBox="1"/>
          <p:nvPr/>
        </p:nvSpPr>
        <p:spPr>
          <a:xfrm>
            <a:off x="621792" y="1993391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16712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defimpl Describe, for: Integer do</a:t>
            </a:r>
          </a:p>
        </p:txBody>
      </p:sp>
      <p:sp>
        <p:nvSpPr>
          <p:cNvPr id="11" name="a1wd225_code10"/>
          <p:cNvSpPr txBox="1"/>
          <p:nvPr/>
        </p:nvSpPr>
        <p:spPr>
          <a:xfrm>
            <a:off x="621792" y="2340863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describe(n), do: "the integer #{n}"</a:t>
            </a:r>
          </a:p>
        </p:txBody>
      </p:sp>
      <p:sp>
        <p:nvSpPr>
          <p:cNvPr id="12" name="a1wd270_code11"/>
          <p:cNvSpPr txBox="1"/>
          <p:nvPr/>
        </p:nvSpPr>
        <p:spPr>
          <a:xfrm>
            <a:off x="621792" y="251460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3" name="a1wd315_code12"/>
          <p:cNvSpPr txBox="1"/>
          <p:nvPr/>
        </p:nvSpPr>
        <p:spPr>
          <a:xfrm>
            <a:off x="621792" y="268833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defimpl Describe, for: BitString do ...</a:t>
            </a:r>
          </a:p>
        </p:txBody>
      </p:sp>
      <p:sp>
        <p:nvSpPr>
          <p:cNvPr id="14" name="a1wd360_code13"/>
          <p:cNvSpPr txBox="1"/>
          <p:nvPr/>
        </p:nvSpPr>
        <p:spPr>
          <a:xfrm>
            <a:off x="621792" y="286207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defimpl Describe, for: List do ...</a:t>
            </a:r>
          </a:p>
        </p:txBody>
      </p:sp>
      <p:sp>
        <p:nvSpPr>
          <p:cNvPr id="15" name="a1wd405_code14"/>
          <p:cNvSpPr txBox="1"/>
          <p:nvPr/>
        </p:nvSpPr>
        <p:spPr>
          <a:xfrm>
            <a:off x="621792" y="303580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defimpl Describe, for: User do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0954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describe(%User{name: n}),</a:t>
            </a:r>
          </a:p>
        </p:txBody>
      </p:sp>
      <p:sp>
        <p:nvSpPr>
          <p:cNvPr id="17" name="a1wd495_code16"/>
          <p:cNvSpPr txBox="1"/>
          <p:nvPr/>
        </p:nvSpPr>
        <p:spPr>
          <a:xfrm>
            <a:off x="621792" y="3383279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"user #{n}"</a:t>
            </a:r>
          </a:p>
        </p:txBody>
      </p:sp>
      <p:sp>
        <p:nvSpPr>
          <p:cNvPr id="18" name="a1wd540_code17"/>
          <p:cNvSpPr txBox="1"/>
          <p:nvPr/>
        </p:nvSpPr>
        <p:spPr>
          <a:xfrm>
            <a:off x="621792" y="355701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9" name="a2f_codebg18"/>
          <p:cNvSpPr/>
          <p:nvPr/>
        </p:nvSpPr>
        <p:spPr>
          <a:xfrm>
            <a:off x="4983480" y="1307592"/>
            <a:ext cx="3703320" cy="2688336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codeh19"/>
          <p:cNvSpPr txBox="1"/>
          <p:nvPr/>
        </p:nvSpPr>
        <p:spPr>
          <a:xfrm>
            <a:off x="5148072" y="1362456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5148072" y="174650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describe(42)</a:t>
            </a:r>
          </a:p>
        </p:txBody>
      </p:sp>
      <p:sp>
        <p:nvSpPr>
          <p:cNvPr id="22" name="a2wd45_code21"/>
          <p:cNvSpPr txBox="1"/>
          <p:nvPr/>
        </p:nvSpPr>
        <p:spPr>
          <a:xfrm>
            <a:off x="5148072" y="192024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"the integer 42"</a:t>
            </a:r>
          </a:p>
        </p:txBody>
      </p:sp>
      <p:sp>
        <p:nvSpPr>
          <p:cNvPr id="23" name="a2wd90_code22"/>
          <p:cNvSpPr txBox="1"/>
          <p:nvPr/>
        </p:nvSpPr>
        <p:spPr>
          <a:xfrm>
            <a:off x="5148072" y="209397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describe("héllo")</a:t>
            </a:r>
          </a:p>
        </p:txBody>
      </p:sp>
      <p:sp>
        <p:nvSpPr>
          <p:cNvPr id="24" name="a2wd135_code23"/>
          <p:cNvSpPr txBox="1"/>
          <p:nvPr/>
        </p:nvSpPr>
        <p:spPr>
          <a:xfrm>
            <a:off x="5148072" y="226771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"a string of 5 characters"</a:t>
            </a:r>
          </a:p>
        </p:txBody>
      </p:sp>
      <p:sp>
        <p:nvSpPr>
          <p:cNvPr id="25" name="a2wd180_code24"/>
          <p:cNvSpPr txBox="1"/>
          <p:nvPr/>
        </p:nvSpPr>
        <p:spPr>
          <a:xfrm>
            <a:off x="5148072" y="244144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describe(%User{name: "ada"})</a:t>
            </a:r>
          </a:p>
        </p:txBody>
      </p:sp>
      <p:sp>
        <p:nvSpPr>
          <p:cNvPr id="26" name="a2wd225_code25"/>
          <p:cNvSpPr txBox="1"/>
          <p:nvPr/>
        </p:nvSpPr>
        <p:spPr>
          <a:xfrm>
            <a:off x="5148072" y="261518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"user ada"</a:t>
            </a:r>
          </a:p>
        </p:txBody>
      </p:sp>
      <p:sp>
        <p:nvSpPr>
          <p:cNvPr id="27" name="a2wd270_code26"/>
          <p:cNvSpPr txBox="1"/>
          <p:nvPr/>
        </p:nvSpPr>
        <p:spPr>
          <a:xfrm>
            <a:off x="5148072" y="278892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describe(:atom)</a:t>
            </a:r>
          </a:p>
        </p:txBody>
      </p:sp>
      <p:sp>
        <p:nvSpPr>
          <p:cNvPr id="28" name="a2wd315_code27"/>
          <p:cNvSpPr txBox="1"/>
          <p:nvPr/>
        </p:nvSpPr>
        <p:spPr>
          <a:xfrm>
            <a:off x="5148072" y="296265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** (Protocol.UndefinedError)</a:t>
            </a:r>
          </a:p>
        </p:txBody>
      </p:sp>
      <p:sp>
        <p:nvSpPr>
          <p:cNvPr id="29" name="a2wd360_code28"/>
          <p:cNvSpPr txBox="1"/>
          <p:nvPr/>
        </p:nvSpPr>
        <p:spPr>
          <a:xfrm>
            <a:off x="5148072" y="3136391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protocol Describe not</a:t>
            </a:r>
          </a:p>
        </p:txBody>
      </p:sp>
      <p:sp>
        <p:nvSpPr>
          <p:cNvPr id="30" name="a2wd405_code29"/>
          <p:cNvSpPr txBox="1"/>
          <p:nvPr/>
        </p:nvSpPr>
        <p:spPr>
          <a:xfrm>
            <a:off x="5148072" y="331012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implemented for Atom</a:t>
            </a:r>
          </a:p>
        </p:txBody>
      </p:sp>
      <p:sp>
        <p:nvSpPr>
          <p:cNvPr id="31" name="a2wd450_code30"/>
          <p:cNvSpPr txBox="1"/>
          <p:nvPr/>
        </p:nvSpPr>
        <p:spPr>
          <a:xfrm>
            <a:off x="5148072" y="3483863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Describe.impl_for(42)</a:t>
            </a:r>
          </a:p>
        </p:txBody>
      </p:sp>
      <p:sp>
        <p:nvSpPr>
          <p:cNvPr id="32" name="a2wd495_code31"/>
          <p:cNvSpPr txBox="1"/>
          <p:nvPr/>
        </p:nvSpPr>
        <p:spPr>
          <a:xfrm>
            <a:off x="5148072" y="365760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Describe.Integer</a:t>
            </a:r>
          </a:p>
        </p:txBody>
      </p:sp>
      <p:sp>
        <p:nvSpPr>
          <p:cNvPr id="33" name="a3f_nb32"/>
          <p:cNvSpPr/>
          <p:nvPr/>
        </p:nvSpPr>
        <p:spPr>
          <a:xfrm>
            <a:off x="457200" y="4105656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f_nacc33"/>
          <p:cNvSpPr/>
          <p:nvPr/>
        </p:nvSpPr>
        <p:spPr>
          <a:xfrm>
            <a:off x="457200" y="4105656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f_nt34"/>
          <p:cNvSpPr txBox="1"/>
          <p:nvPr/>
        </p:nvSpPr>
        <p:spPr>
          <a:xfrm>
            <a:off x="658368" y="4105656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Each defimpl is a module — Describe.Integer is an atom like any other — and the protocol's describe/1 is a function that picks one by looking at its argument.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PROTOCOLS · STRUCTS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Structs, Any, and the protocols you already use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struct is a map — but it does not get the Map implementation.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343400" cy="3072383"/>
          </a:xfrm>
          <a:prstGeom prst="roundRect">
            <a:avLst>
              <a:gd name="adj" fmla="val 23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@derive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defprotocol Label do</a:t>
            </a:r>
          </a:p>
        </p:txBody>
      </p:sp>
      <p:sp>
        <p:nvSpPr>
          <p:cNvPr id="8" name="a1wd45_code7"/>
          <p:cNvSpPr txBox="1"/>
          <p:nvPr/>
        </p:nvSpPr>
        <p:spPr>
          <a:xfrm>
            <a:off x="621792" y="1911095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label(term)</a:t>
            </a:r>
          </a:p>
        </p:txBody>
      </p:sp>
      <p:sp>
        <p:nvSpPr>
          <p:cNvPr id="9" name="a1wd90_code8"/>
          <p:cNvSpPr txBox="1"/>
          <p:nvPr/>
        </p:nvSpPr>
        <p:spPr>
          <a:xfrm>
            <a:off x="621792" y="2075688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135_code9"/>
          <p:cNvSpPr txBox="1"/>
          <p:nvPr/>
        </p:nvSpPr>
        <p:spPr>
          <a:xfrm>
            <a:off x="621792" y="2240280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defimpl Label, for: Any do ... end</a:t>
            </a:r>
          </a:p>
        </p:txBody>
      </p:sp>
      <p:sp>
        <p:nvSpPr>
          <p:cNvPr id="11" name="a1wd180_code10"/>
          <p:cNvSpPr txBox="1"/>
          <p:nvPr/>
        </p:nvSpPr>
        <p:spPr>
          <a:xfrm>
            <a:off x="621792" y="2404872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225_code11"/>
          <p:cNvSpPr txBox="1"/>
          <p:nvPr/>
        </p:nvSpPr>
        <p:spPr>
          <a:xfrm>
            <a:off x="621792" y="2569463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Label.label(%Plain{})</a:t>
            </a:r>
          </a:p>
        </p:txBody>
      </p:sp>
      <p:sp>
        <p:nvSpPr>
          <p:cNvPr id="13" name="a1wd270_code12"/>
          <p:cNvSpPr txBox="1"/>
          <p:nvPr/>
        </p:nvSpPr>
        <p:spPr>
          <a:xfrm>
            <a:off x="621792" y="2734056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** (Protocol.UndefinedError) protocol</a:t>
            </a:r>
          </a:p>
        </p:txBody>
      </p:sp>
      <p:sp>
        <p:nvSpPr>
          <p:cNvPr id="14" name="a1wd315_code13"/>
          <p:cNvSpPr txBox="1"/>
          <p:nvPr/>
        </p:nvSpPr>
        <p:spPr>
          <a:xfrm>
            <a:off x="621792" y="2898648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Label not implemented for Plain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621792" y="3063239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(a struct)</a:t>
            </a:r>
          </a:p>
        </p:txBody>
      </p:sp>
      <p:sp>
        <p:nvSpPr>
          <p:cNvPr id="16" name="a1wd405_code15"/>
          <p:cNvSpPr txBox="1"/>
          <p:nvPr/>
        </p:nvSpPr>
        <p:spPr>
          <a:xfrm>
            <a:off x="621792" y="3227832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a1wd450_code16"/>
          <p:cNvSpPr txBox="1"/>
          <p:nvPr/>
        </p:nvSpPr>
        <p:spPr>
          <a:xfrm>
            <a:off x="621792" y="3392424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Derived do</a:t>
            </a:r>
          </a:p>
        </p:txBody>
      </p:sp>
      <p:sp>
        <p:nvSpPr>
          <p:cNvPr id="18" name="a1wd495_code17"/>
          <p:cNvSpPr txBox="1"/>
          <p:nvPr/>
        </p:nvSpPr>
        <p:spPr>
          <a:xfrm>
            <a:off x="621792" y="3557015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@derive Label</a:t>
            </a:r>
          </a:p>
        </p:txBody>
      </p:sp>
      <p:sp>
        <p:nvSpPr>
          <p:cNvPr id="19" name="a1wd540_code18"/>
          <p:cNvSpPr txBox="1"/>
          <p:nvPr/>
        </p:nvSpPr>
        <p:spPr>
          <a:xfrm>
            <a:off x="621792" y="3721608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defstruct [:a]</a:t>
            </a:r>
          </a:p>
        </p:txBody>
      </p:sp>
      <p:sp>
        <p:nvSpPr>
          <p:cNvPr id="20" name="a1wd585_code19"/>
          <p:cNvSpPr txBox="1"/>
          <p:nvPr/>
        </p:nvSpPr>
        <p:spPr>
          <a:xfrm>
            <a:off x="621792" y="3886200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1" name="a1wd630_code20"/>
          <p:cNvSpPr txBox="1"/>
          <p:nvPr/>
        </p:nvSpPr>
        <p:spPr>
          <a:xfrm>
            <a:off x="621792" y="4050791"/>
            <a:ext cx="401421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Label.label(%Derived{})   #=&gt; "a Derived"</a:t>
            </a:r>
          </a:p>
        </p:txBody>
      </p:sp>
      <p:sp>
        <p:nvSpPr>
          <p:cNvPr id="22" name="a2f_codebg21"/>
          <p:cNvSpPr/>
          <p:nvPr/>
        </p:nvSpPr>
        <p:spPr>
          <a:xfrm>
            <a:off x="4983480" y="1307592"/>
            <a:ext cx="3703320" cy="3072383"/>
          </a:xfrm>
          <a:prstGeom prst="roundRect">
            <a:avLst>
              <a:gd name="adj" fmla="val 23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codeh22"/>
          <p:cNvSpPr txBox="1"/>
          <p:nvPr/>
        </p:nvSpPr>
        <p:spPr>
          <a:xfrm>
            <a:off x="5148072" y="1362456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built-ins</a:t>
            </a:r>
          </a:p>
        </p:txBody>
      </p:sp>
      <p:sp>
        <p:nvSpPr>
          <p:cNvPr id="24" name="a2w_code23"/>
          <p:cNvSpPr txBox="1"/>
          <p:nvPr/>
        </p:nvSpPr>
        <p:spPr>
          <a:xfrm>
            <a:off x="5148072" y="1746504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Enumerable.impl_for(1..3)</a:t>
            </a:r>
          </a:p>
        </p:txBody>
      </p:sp>
      <p:sp>
        <p:nvSpPr>
          <p:cNvPr id="25" name="a2wd45_code24"/>
          <p:cNvSpPr txBox="1"/>
          <p:nvPr/>
        </p:nvSpPr>
        <p:spPr>
          <a:xfrm>
            <a:off x="5148072" y="1911095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Enumerable.Range</a:t>
            </a:r>
          </a:p>
        </p:txBody>
      </p:sp>
      <p:sp>
        <p:nvSpPr>
          <p:cNvPr id="26" name="a2wd90_code25"/>
          <p:cNvSpPr txBox="1"/>
          <p:nvPr/>
        </p:nvSpPr>
        <p:spPr>
          <a:xfrm>
            <a:off x="5148072" y="2075688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Enumerable.impl_for(%{})</a:t>
            </a:r>
          </a:p>
        </p:txBody>
      </p:sp>
      <p:sp>
        <p:nvSpPr>
          <p:cNvPr id="27" name="a2wd135_code26"/>
          <p:cNvSpPr txBox="1"/>
          <p:nvPr/>
        </p:nvSpPr>
        <p:spPr>
          <a:xfrm>
            <a:off x="5148072" y="2240280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Enumerable.Map</a:t>
            </a:r>
          </a:p>
        </p:txBody>
      </p:sp>
      <p:sp>
        <p:nvSpPr>
          <p:cNvPr id="28" name="a2wd180_code27"/>
          <p:cNvSpPr txBox="1"/>
          <p:nvPr/>
        </p:nvSpPr>
        <p:spPr>
          <a:xfrm>
            <a:off x="5148072" y="2404872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Enumerable.impl_for(%User{})</a:t>
            </a:r>
          </a:p>
        </p:txBody>
      </p:sp>
      <p:sp>
        <p:nvSpPr>
          <p:cNvPr id="29" name="a2wd225_code28"/>
          <p:cNvSpPr txBox="1"/>
          <p:nvPr/>
        </p:nvSpPr>
        <p:spPr>
          <a:xfrm>
            <a:off x="5148072" y="2569463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nil</a:t>
            </a:r>
          </a:p>
        </p:txBody>
      </p:sp>
      <p:sp>
        <p:nvSpPr>
          <p:cNvPr id="30" name="a2wd270_code29"/>
          <p:cNvSpPr txBox="1"/>
          <p:nvPr/>
        </p:nvSpPr>
        <p:spPr>
          <a:xfrm>
            <a:off x="5148072" y="2734056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1" name="a2wd315_code30"/>
          <p:cNvSpPr txBox="1"/>
          <p:nvPr/>
        </p:nvSpPr>
        <p:spPr>
          <a:xfrm>
            <a:off x="5148072" y="2898648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Enum.map(%User{name: 1}, &amp; &amp;1)</a:t>
            </a:r>
          </a:p>
        </p:txBody>
      </p:sp>
      <p:sp>
        <p:nvSpPr>
          <p:cNvPr id="32" name="a2wd360_code31"/>
          <p:cNvSpPr txBox="1"/>
          <p:nvPr/>
        </p:nvSpPr>
        <p:spPr>
          <a:xfrm>
            <a:off x="5148072" y="3063239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** (Protocol.UndefinedError)</a:t>
            </a:r>
          </a:p>
        </p:txBody>
      </p:sp>
      <p:sp>
        <p:nvSpPr>
          <p:cNvPr id="33" name="a2wd405_code32"/>
          <p:cNvSpPr txBox="1"/>
          <p:nvPr/>
        </p:nvSpPr>
        <p:spPr>
          <a:xfrm>
            <a:off x="5148072" y="3227832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protocol Enumerable not</a:t>
            </a:r>
          </a:p>
        </p:txBody>
      </p:sp>
      <p:sp>
        <p:nvSpPr>
          <p:cNvPr id="34" name="a2wd450_code33"/>
          <p:cNvSpPr txBox="1"/>
          <p:nvPr/>
        </p:nvSpPr>
        <p:spPr>
          <a:xfrm>
            <a:off x="5148072" y="3392424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implemented for User (a struct)</a:t>
            </a:r>
          </a:p>
        </p:txBody>
      </p:sp>
      <p:sp>
        <p:nvSpPr>
          <p:cNvPr id="35" name="a2wd495_code34"/>
          <p:cNvSpPr txBox="1"/>
          <p:nvPr/>
        </p:nvSpPr>
        <p:spPr>
          <a:xfrm>
            <a:off x="5148072" y="3557015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6" name="a2wd540_code35"/>
          <p:cNvSpPr txBox="1"/>
          <p:nvPr/>
        </p:nvSpPr>
        <p:spPr>
          <a:xfrm>
            <a:off x="5148072" y="3721608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defimpl String.Chars, for: User</a:t>
            </a:r>
          </a:p>
        </p:txBody>
      </p:sp>
      <p:sp>
        <p:nvSpPr>
          <p:cNvPr id="37" name="a2wd585_code36"/>
          <p:cNvSpPr txBox="1"/>
          <p:nvPr/>
        </p:nvSpPr>
        <p:spPr>
          <a:xfrm>
            <a:off x="5148072" y="3886200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"#{%User{name: "ada"}}"</a:t>
            </a:r>
          </a:p>
        </p:txBody>
      </p:sp>
      <p:sp>
        <p:nvSpPr>
          <p:cNvPr id="38" name="a2wd630_code37"/>
          <p:cNvSpPr txBox="1"/>
          <p:nvPr/>
        </p:nvSpPr>
        <p:spPr>
          <a:xfrm>
            <a:off x="5148072" y="4050791"/>
            <a:ext cx="337413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"User(ada)"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COMMON MISTAKES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goes wrong, and what it looks like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2514600" cy="338328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You wrote</a:t>
            </a:r>
          </a:p>
        </p:txBody>
      </p:sp>
      <p:sp>
        <p:nvSpPr>
          <p:cNvPr id="6" name="a1wd65_td5"/>
          <p:cNvSpPr/>
          <p:nvPr/>
        </p:nvSpPr>
        <p:spPr>
          <a:xfrm>
            <a:off x="457200" y="1417319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65_tdt6"/>
          <p:cNvSpPr txBox="1"/>
          <p:nvPr/>
        </p:nvSpPr>
        <p:spPr>
          <a:xfrm>
            <a:off x="530352" y="1417319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add(1, 2) for a fn</a:t>
            </a:r>
          </a:p>
        </p:txBody>
      </p:sp>
      <p:sp>
        <p:nvSpPr>
          <p:cNvPr id="8" name="a1wd130_td7"/>
          <p:cNvSpPr/>
          <p:nvPr/>
        </p:nvSpPr>
        <p:spPr>
          <a:xfrm>
            <a:off x="457200" y="1755648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30_tdt8"/>
          <p:cNvSpPr txBox="1"/>
          <p:nvPr/>
        </p:nvSpPr>
        <p:spPr>
          <a:xfrm>
            <a:off x="530352" y="1755648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5 |&gt; sq</a:t>
            </a:r>
          </a:p>
        </p:txBody>
      </p:sp>
      <p:sp>
        <p:nvSpPr>
          <p:cNvPr id="10" name="a1wd195_td9"/>
          <p:cNvSpPr/>
          <p:nvPr/>
        </p:nvSpPr>
        <p:spPr>
          <a:xfrm>
            <a:off x="457200" y="2093976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95_tdt10"/>
          <p:cNvSpPr txBox="1"/>
          <p:nvPr/>
        </p:nvSpPr>
        <p:spPr>
          <a:xfrm>
            <a:off x="530352" y="2093976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defaults on two clauses</a:t>
            </a:r>
          </a:p>
        </p:txBody>
      </p:sp>
      <p:sp>
        <p:nvSpPr>
          <p:cNvPr id="12" name="a1wd260_td11"/>
          <p:cNvSpPr/>
          <p:nvPr/>
        </p:nvSpPr>
        <p:spPr>
          <a:xfrm>
            <a:off x="457200" y="2432304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60_tdt12"/>
          <p:cNvSpPr txBox="1"/>
          <p:nvPr/>
        </p:nvSpPr>
        <p:spPr>
          <a:xfrm>
            <a:off x="530352" y="2432304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catch-all clause first</a:t>
            </a:r>
          </a:p>
        </p:txBody>
      </p:sp>
      <p:sp>
        <p:nvSpPr>
          <p:cNvPr id="14" name="a1wd325_td13"/>
          <p:cNvSpPr/>
          <p:nvPr/>
        </p:nvSpPr>
        <p:spPr>
          <a:xfrm>
            <a:off x="457200" y="2770632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25_tdt14"/>
          <p:cNvSpPr txBox="1"/>
          <p:nvPr/>
        </p:nvSpPr>
        <p:spPr>
          <a:xfrm>
            <a:off x="530352" y="2770632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String.length/1 in a guard</a:t>
            </a:r>
          </a:p>
        </p:txBody>
      </p:sp>
      <p:sp>
        <p:nvSpPr>
          <p:cNvPr id="16" name="a1wd390_td15"/>
          <p:cNvSpPr/>
          <p:nvPr/>
        </p:nvSpPr>
        <p:spPr>
          <a:xfrm>
            <a:off x="457200" y="3108959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90_tdt16"/>
          <p:cNvSpPr txBox="1"/>
          <p:nvPr/>
        </p:nvSpPr>
        <p:spPr>
          <a:xfrm>
            <a:off x="530352" y="3108959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&amp;Enum.map(&amp;1, &amp;(&amp;1 * 2))</a:t>
            </a:r>
          </a:p>
        </p:txBody>
      </p:sp>
      <p:sp>
        <p:nvSpPr>
          <p:cNvPr id="18" name="a1wd455_td17"/>
          <p:cNvSpPr/>
          <p:nvPr/>
        </p:nvSpPr>
        <p:spPr>
          <a:xfrm>
            <a:off x="457200" y="3447287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55_tdt18"/>
          <p:cNvSpPr txBox="1"/>
          <p:nvPr/>
        </p:nvSpPr>
        <p:spPr>
          <a:xfrm>
            <a:off x="530352" y="3447287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@ops %{"x" =&gt; &amp;(&amp;1 * 2)}</a:t>
            </a:r>
          </a:p>
        </p:txBody>
      </p:sp>
      <p:sp>
        <p:nvSpPr>
          <p:cNvPr id="20" name="a1wd520_td19"/>
          <p:cNvSpPr/>
          <p:nvPr/>
        </p:nvSpPr>
        <p:spPr>
          <a:xfrm>
            <a:off x="457200" y="3785615"/>
            <a:ext cx="2514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20_tdt20"/>
          <p:cNvSpPr txBox="1"/>
          <p:nvPr/>
        </p:nvSpPr>
        <p:spPr>
          <a:xfrm>
            <a:off x="530352" y="3785615"/>
            <a:ext cx="24048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defp max(list, best)</a:t>
            </a:r>
          </a:p>
        </p:txBody>
      </p:sp>
      <p:sp>
        <p:nvSpPr>
          <p:cNvPr id="22" name="a1f_th21"/>
          <p:cNvSpPr/>
          <p:nvPr/>
        </p:nvSpPr>
        <p:spPr>
          <a:xfrm>
            <a:off x="2971800" y="1078992"/>
            <a:ext cx="3246120" cy="338328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f_tht22"/>
          <p:cNvSpPr txBox="1"/>
          <p:nvPr/>
        </p:nvSpPr>
        <p:spPr>
          <a:xfrm>
            <a:off x="3044952" y="1078992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You get</a:t>
            </a:r>
          </a:p>
        </p:txBody>
      </p:sp>
      <p:sp>
        <p:nvSpPr>
          <p:cNvPr id="24" name="a1wd65_td23"/>
          <p:cNvSpPr/>
          <p:nvPr/>
        </p:nvSpPr>
        <p:spPr>
          <a:xfrm>
            <a:off x="2971800" y="1417319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65_tdt24"/>
          <p:cNvSpPr txBox="1"/>
          <p:nvPr/>
        </p:nvSpPr>
        <p:spPr>
          <a:xfrm>
            <a:off x="3044952" y="1417319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undefined function add/2 (there is no such import)</a:t>
            </a:r>
          </a:p>
        </p:txBody>
      </p:sp>
      <p:sp>
        <p:nvSpPr>
          <p:cNvPr id="26" name="a1wd130_td25"/>
          <p:cNvSpPr/>
          <p:nvPr/>
        </p:nvSpPr>
        <p:spPr>
          <a:xfrm>
            <a:off x="2971800" y="1755648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30_tdt26"/>
          <p:cNvSpPr txBox="1"/>
          <p:nvPr/>
        </p:nvSpPr>
        <p:spPr>
          <a:xfrm>
            <a:off x="3044952" y="1755648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undefined function sq/1</a:t>
            </a:r>
          </a:p>
        </p:txBody>
      </p:sp>
      <p:sp>
        <p:nvSpPr>
          <p:cNvPr id="28" name="a1wd195_td27"/>
          <p:cNvSpPr/>
          <p:nvPr/>
        </p:nvSpPr>
        <p:spPr>
          <a:xfrm>
            <a:off x="2971800" y="2093976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195_tdt28"/>
          <p:cNvSpPr txBox="1"/>
          <p:nvPr/>
        </p:nvSpPr>
        <p:spPr>
          <a:xfrm>
            <a:off x="3044952" y="2093976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def fmt/2 defines defaults multiple times</a:t>
            </a:r>
          </a:p>
        </p:txBody>
      </p:sp>
      <p:sp>
        <p:nvSpPr>
          <p:cNvPr id="30" name="a1wd260_td29"/>
          <p:cNvSpPr/>
          <p:nvPr/>
        </p:nvSpPr>
        <p:spPr>
          <a:xfrm>
            <a:off x="2971800" y="2432304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260_tdt30"/>
          <p:cNvSpPr txBox="1"/>
          <p:nvPr/>
        </p:nvSpPr>
        <p:spPr>
          <a:xfrm>
            <a:off x="3044952" y="2432304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this clause ... cannot match</a:t>
            </a:r>
          </a:p>
        </p:txBody>
      </p:sp>
      <p:sp>
        <p:nvSpPr>
          <p:cNvPr id="32" name="a1wd325_td31"/>
          <p:cNvSpPr/>
          <p:nvPr/>
        </p:nvSpPr>
        <p:spPr>
          <a:xfrm>
            <a:off x="2971800" y="2770632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25_tdt32"/>
          <p:cNvSpPr txBox="1"/>
          <p:nvPr/>
        </p:nvSpPr>
        <p:spPr>
          <a:xfrm>
            <a:off x="3044952" y="2770632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cannot invoke remote function ... inside a guard</a:t>
            </a:r>
          </a:p>
        </p:txBody>
      </p:sp>
      <p:sp>
        <p:nvSpPr>
          <p:cNvPr id="34" name="a1wd390_td33"/>
          <p:cNvSpPr/>
          <p:nvPr/>
        </p:nvSpPr>
        <p:spPr>
          <a:xfrm>
            <a:off x="2971800" y="3108959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90_tdt34"/>
          <p:cNvSpPr txBox="1"/>
          <p:nvPr/>
        </p:nvSpPr>
        <p:spPr>
          <a:xfrm>
            <a:off x="3044952" y="3108959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nested captures are not allowed</a:t>
            </a:r>
          </a:p>
        </p:txBody>
      </p:sp>
      <p:sp>
        <p:nvSpPr>
          <p:cNvPr id="36" name="a1wd455_td35"/>
          <p:cNvSpPr/>
          <p:nvPr/>
        </p:nvSpPr>
        <p:spPr>
          <a:xfrm>
            <a:off x="2971800" y="3447287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55_tdt36"/>
          <p:cNvSpPr txBox="1"/>
          <p:nvPr/>
        </p:nvSpPr>
        <p:spPr>
          <a:xfrm>
            <a:off x="3044952" y="3447287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cannot escape #Function&lt;...&gt;</a:t>
            </a:r>
          </a:p>
        </p:txBody>
      </p:sp>
      <p:sp>
        <p:nvSpPr>
          <p:cNvPr id="38" name="a1wd520_td37"/>
          <p:cNvSpPr/>
          <p:nvPr/>
        </p:nvSpPr>
        <p:spPr>
          <a:xfrm>
            <a:off x="2971800" y="3785615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20_tdt38"/>
          <p:cNvSpPr txBox="1"/>
          <p:nvPr/>
        </p:nvSpPr>
        <p:spPr>
          <a:xfrm>
            <a:off x="3044952" y="3785615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imported Kernel.max/2 conflicts with local function</a:t>
            </a:r>
          </a:p>
        </p:txBody>
      </p:sp>
      <p:sp>
        <p:nvSpPr>
          <p:cNvPr id="40" name="a1f_th39"/>
          <p:cNvSpPr/>
          <p:nvPr/>
        </p:nvSpPr>
        <p:spPr>
          <a:xfrm>
            <a:off x="6217920" y="1078992"/>
            <a:ext cx="2468880" cy="338328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6291072" y="1078992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42" name="a1wd65_td41"/>
          <p:cNvSpPr/>
          <p:nvPr/>
        </p:nvSpPr>
        <p:spPr>
          <a:xfrm>
            <a:off x="6217920" y="1417319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5_tdt42"/>
          <p:cNvSpPr txBox="1"/>
          <p:nvPr/>
        </p:nvSpPr>
        <p:spPr>
          <a:xfrm>
            <a:off x="6291072" y="1417319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add.(1, 2)</a:t>
            </a:r>
          </a:p>
        </p:txBody>
      </p:sp>
      <p:sp>
        <p:nvSpPr>
          <p:cNvPr id="44" name="a1wd130_td43"/>
          <p:cNvSpPr/>
          <p:nvPr/>
        </p:nvSpPr>
        <p:spPr>
          <a:xfrm>
            <a:off x="6217920" y="1755648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130_tdt44"/>
          <p:cNvSpPr txBox="1"/>
          <p:nvPr/>
        </p:nvSpPr>
        <p:spPr>
          <a:xfrm>
            <a:off x="6291072" y="1755648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 |&gt; sq.()  or  then(sq)</a:t>
            </a:r>
          </a:p>
        </p:txBody>
      </p:sp>
      <p:sp>
        <p:nvSpPr>
          <p:cNvPr id="46" name="a1wd195_td45"/>
          <p:cNvSpPr/>
          <p:nvPr/>
        </p:nvSpPr>
        <p:spPr>
          <a:xfrm>
            <a:off x="6217920" y="2093976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195_tdt46"/>
          <p:cNvSpPr txBox="1"/>
          <p:nvPr/>
        </p:nvSpPr>
        <p:spPr>
          <a:xfrm>
            <a:off x="6291072" y="2093976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bodiless head</a:t>
            </a:r>
          </a:p>
        </p:txBody>
      </p:sp>
      <p:sp>
        <p:nvSpPr>
          <p:cNvPr id="48" name="a1wd260_td47"/>
          <p:cNvSpPr/>
          <p:nvPr/>
        </p:nvSpPr>
        <p:spPr>
          <a:xfrm>
            <a:off x="6217920" y="2432304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260_tdt48"/>
          <p:cNvSpPr txBox="1"/>
          <p:nvPr/>
        </p:nvSpPr>
        <p:spPr>
          <a:xfrm>
            <a:off x="6291072" y="2432304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most specific first</a:t>
            </a:r>
          </a:p>
        </p:txBody>
      </p:sp>
      <p:sp>
        <p:nvSpPr>
          <p:cNvPr id="50" name="a1wd325_td49"/>
          <p:cNvSpPr/>
          <p:nvPr/>
        </p:nvSpPr>
        <p:spPr>
          <a:xfrm>
            <a:off x="6217920" y="2770632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325_tdt50"/>
          <p:cNvSpPr txBox="1"/>
          <p:nvPr/>
        </p:nvSpPr>
        <p:spPr>
          <a:xfrm>
            <a:off x="6291072" y="2770632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byte_size/1, or move it into the body</a:t>
            </a:r>
          </a:p>
        </p:txBody>
      </p:sp>
      <p:sp>
        <p:nvSpPr>
          <p:cNvPr id="52" name="a1wd390_td51"/>
          <p:cNvSpPr/>
          <p:nvPr/>
        </p:nvSpPr>
        <p:spPr>
          <a:xfrm>
            <a:off x="6217920" y="3108959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90_tdt52"/>
          <p:cNvSpPr txBox="1"/>
          <p:nvPr/>
        </p:nvSpPr>
        <p:spPr>
          <a:xfrm>
            <a:off x="6291072" y="3108959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outer fn, inner &amp;</a:t>
            </a:r>
          </a:p>
        </p:txBody>
      </p:sp>
      <p:sp>
        <p:nvSpPr>
          <p:cNvPr id="54" name="a1wd455_td53"/>
          <p:cNvSpPr/>
          <p:nvPr/>
        </p:nvSpPr>
        <p:spPr>
          <a:xfrm>
            <a:off x="6217920" y="3447287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55_tdt54"/>
          <p:cNvSpPr txBox="1"/>
          <p:nvPr/>
        </p:nvSpPr>
        <p:spPr>
          <a:xfrm>
            <a:off x="6291072" y="3447287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&amp;__MODULE__.name/1</a:t>
            </a:r>
          </a:p>
        </p:txBody>
      </p:sp>
      <p:sp>
        <p:nvSpPr>
          <p:cNvPr id="56" name="a1wd520_td55"/>
          <p:cNvSpPr/>
          <p:nvPr/>
        </p:nvSpPr>
        <p:spPr>
          <a:xfrm>
            <a:off x="6217920" y="3785615"/>
            <a:ext cx="2468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520_tdt56"/>
          <p:cNvSpPr txBox="1"/>
          <p:nvPr/>
        </p:nvSpPr>
        <p:spPr>
          <a:xfrm>
            <a:off x="6291072" y="3785615"/>
            <a:ext cx="235915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rename it, or import Kernel, except:</a:t>
            </a:r>
          </a:p>
        </p:txBody>
      </p:sp>
      <p:sp>
        <p:nvSpPr>
          <p:cNvPr id="58" name="ft5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warning, value and timing on these slides is measured output</a:t>
            </a:r>
          </a:p>
        </p:txBody>
      </p:sp>
      <p:sp>
        <p:nvSpPr>
          <p:cNvPr id="59" name="ft5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function's name is name/arity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greet/1 and greet/2 are unrelated; defaults generate the shorter ones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Clauses and guards do the deciding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first match wins; when nothing matches, crashing is usually right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Functions are values, closures copy values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fn, &amp;Mod.fun/arity and &amp;(&amp;1) all make one; pipes and reduce combine them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Behaviours dispatch on a module, protocols on data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GenServer is a behaviour; Enumerable is a protocol</a:t>
            </a:r>
          </a:p>
        </p:txBody>
      </p:sp>
      <p:sp>
        <p:nvSpPr>
          <p:cNvPr id="15" name="a2u_next14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nextt15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9B72CF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Session 8 — macros:
quote, unquote, and
writing your own __using__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